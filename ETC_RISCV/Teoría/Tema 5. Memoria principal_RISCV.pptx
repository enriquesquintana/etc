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6" r:id="rId1"/>
  </p:sldMasterIdLst>
  <p:notesMasterIdLst>
    <p:notesMasterId r:id="rId150"/>
  </p:notesMasterIdLst>
  <p:handoutMasterIdLst>
    <p:handoutMasterId r:id="rId151"/>
  </p:handoutMasterIdLst>
  <p:sldIdLst>
    <p:sldId id="630" r:id="rId2"/>
    <p:sldId id="631" r:id="rId3"/>
    <p:sldId id="972" r:id="rId4"/>
    <p:sldId id="652" r:id="rId5"/>
    <p:sldId id="973" r:id="rId6"/>
    <p:sldId id="789" r:id="rId7"/>
    <p:sldId id="636" r:id="rId8"/>
    <p:sldId id="790" r:id="rId9"/>
    <p:sldId id="791" r:id="rId10"/>
    <p:sldId id="792" r:id="rId11"/>
    <p:sldId id="777" r:id="rId12"/>
    <p:sldId id="778" r:id="rId13"/>
    <p:sldId id="974" r:id="rId14"/>
    <p:sldId id="654" r:id="rId15"/>
    <p:sldId id="975" r:id="rId16"/>
    <p:sldId id="655" r:id="rId17"/>
    <p:sldId id="739" r:id="rId18"/>
    <p:sldId id="740" r:id="rId19"/>
    <p:sldId id="741" r:id="rId20"/>
    <p:sldId id="743" r:id="rId21"/>
    <p:sldId id="744" r:id="rId22"/>
    <p:sldId id="746" r:id="rId23"/>
    <p:sldId id="976" r:id="rId24"/>
    <p:sldId id="662" r:id="rId25"/>
    <p:sldId id="663" r:id="rId26"/>
    <p:sldId id="664" r:id="rId27"/>
    <p:sldId id="666" r:id="rId28"/>
    <p:sldId id="667" r:id="rId29"/>
    <p:sldId id="668" r:id="rId30"/>
    <p:sldId id="977" r:id="rId31"/>
    <p:sldId id="802" r:id="rId32"/>
    <p:sldId id="803" r:id="rId33"/>
    <p:sldId id="806" r:id="rId34"/>
    <p:sldId id="804" r:id="rId35"/>
    <p:sldId id="870" r:id="rId36"/>
    <p:sldId id="805" r:id="rId37"/>
    <p:sldId id="978" r:id="rId38"/>
    <p:sldId id="538" r:id="rId39"/>
    <p:sldId id="504" r:id="rId40"/>
    <p:sldId id="505" r:id="rId41"/>
    <p:sldId id="496" r:id="rId42"/>
    <p:sldId id="979" r:id="rId43"/>
    <p:sldId id="670" r:id="rId44"/>
    <p:sldId id="671" r:id="rId45"/>
    <p:sldId id="980" r:id="rId46"/>
    <p:sldId id="779" r:id="rId47"/>
    <p:sldId id="981" r:id="rId48"/>
    <p:sldId id="748" r:id="rId49"/>
    <p:sldId id="917" r:id="rId50"/>
    <p:sldId id="747" r:id="rId51"/>
    <p:sldId id="750" r:id="rId52"/>
    <p:sldId id="676" r:id="rId53"/>
    <p:sldId id="751" r:id="rId54"/>
    <p:sldId id="752" r:id="rId55"/>
    <p:sldId id="735" r:id="rId56"/>
    <p:sldId id="982" r:id="rId57"/>
    <p:sldId id="814" r:id="rId58"/>
    <p:sldId id="815" r:id="rId59"/>
    <p:sldId id="817" r:id="rId60"/>
    <p:sldId id="983" r:id="rId61"/>
    <p:sldId id="646" r:id="rId62"/>
    <p:sldId id="957" r:id="rId63"/>
    <p:sldId id="677" r:id="rId64"/>
    <p:sldId id="753" r:id="rId65"/>
    <p:sldId id="754" r:id="rId66"/>
    <p:sldId id="755" r:id="rId67"/>
    <p:sldId id="756" r:id="rId68"/>
    <p:sldId id="757" r:id="rId69"/>
    <p:sldId id="758" r:id="rId70"/>
    <p:sldId id="762" r:id="rId71"/>
    <p:sldId id="760" r:id="rId72"/>
    <p:sldId id="761" r:id="rId73"/>
    <p:sldId id="763" r:id="rId74"/>
    <p:sldId id="968" r:id="rId75"/>
    <p:sldId id="971" r:id="rId76"/>
    <p:sldId id="919" r:id="rId77"/>
    <p:sldId id="920" r:id="rId78"/>
    <p:sldId id="921" r:id="rId79"/>
    <p:sldId id="922" r:id="rId80"/>
    <p:sldId id="923" r:id="rId81"/>
    <p:sldId id="924" r:id="rId82"/>
    <p:sldId id="769" r:id="rId83"/>
    <p:sldId id="771" r:id="rId84"/>
    <p:sldId id="770" r:id="rId85"/>
    <p:sldId id="772" r:id="rId86"/>
    <p:sldId id="861" r:id="rId87"/>
    <p:sldId id="860" r:id="rId88"/>
    <p:sldId id="862" r:id="rId89"/>
    <p:sldId id="848" r:id="rId90"/>
    <p:sldId id="697" r:id="rId91"/>
    <p:sldId id="984" r:id="rId92"/>
    <p:sldId id="648" r:id="rId93"/>
    <p:sldId id="649" r:id="rId94"/>
    <p:sldId id="801" r:id="rId95"/>
    <p:sldId id="650" r:id="rId96"/>
    <p:sldId id="926" r:id="rId97"/>
    <p:sldId id="985" r:id="rId98"/>
    <p:sldId id="774" r:id="rId99"/>
    <p:sldId id="780" r:id="rId100"/>
    <p:sldId id="875" r:id="rId101"/>
    <p:sldId id="773" r:id="rId102"/>
    <p:sldId id="879" r:id="rId103"/>
    <p:sldId id="782" r:id="rId104"/>
    <p:sldId id="874" r:id="rId105"/>
    <p:sldId id="689" r:id="rId106"/>
    <p:sldId id="784" r:id="rId107"/>
    <p:sldId id="781" r:id="rId108"/>
    <p:sldId id="986" r:id="rId109"/>
    <p:sldId id="937" r:id="rId110"/>
    <p:sldId id="938" r:id="rId111"/>
    <p:sldId id="700" r:id="rId112"/>
    <p:sldId id="939" r:id="rId113"/>
    <p:sldId id="702" r:id="rId114"/>
    <p:sldId id="940" r:id="rId115"/>
    <p:sldId id="705" r:id="rId116"/>
    <p:sldId id="701" r:id="rId117"/>
    <p:sldId id="885" r:id="rId118"/>
    <p:sldId id="704" r:id="rId119"/>
    <p:sldId id="706" r:id="rId120"/>
    <p:sldId id="707" r:id="rId121"/>
    <p:sldId id="708" r:id="rId122"/>
    <p:sldId id="709" r:id="rId123"/>
    <p:sldId id="710" r:id="rId124"/>
    <p:sldId id="711" r:id="rId125"/>
    <p:sldId id="712" r:id="rId126"/>
    <p:sldId id="987" r:id="rId127"/>
    <p:sldId id="714" r:id="rId128"/>
    <p:sldId id="894" r:id="rId129"/>
    <p:sldId id="896" r:id="rId130"/>
    <p:sldId id="716" r:id="rId131"/>
    <p:sldId id="717" r:id="rId132"/>
    <p:sldId id="718" r:id="rId133"/>
    <p:sldId id="775" r:id="rId134"/>
    <p:sldId id="776" r:id="rId135"/>
    <p:sldId id="720" r:id="rId136"/>
    <p:sldId id="721" r:id="rId137"/>
    <p:sldId id="722" r:id="rId138"/>
    <p:sldId id="988" r:id="rId139"/>
    <p:sldId id="724" r:id="rId140"/>
    <p:sldId id="725" r:id="rId141"/>
    <p:sldId id="726" r:id="rId142"/>
    <p:sldId id="727" r:id="rId143"/>
    <p:sldId id="729" r:id="rId144"/>
    <p:sldId id="730" r:id="rId145"/>
    <p:sldId id="731" r:id="rId146"/>
    <p:sldId id="732" r:id="rId147"/>
    <p:sldId id="733" r:id="rId148"/>
    <p:sldId id="734" r:id="rId149"/>
  </p:sldIdLst>
  <p:sldSz cx="9144000" cy="6858000" type="screen4x3"/>
  <p:notesSz cx="7104063" cy="10234613"/>
  <p:custShowLst>
    <p:custShow name="Ejemplo 1 - Termometro" id="0">
      <p:sldLst/>
    </p:custShow>
    <p:custShow name="Ejemplo 2: Termo y visualizador" id="1">
      <p:sldLst/>
    </p:custShow>
  </p:custShowLst>
  <p:defaultTextStyle>
    <a:defPPr>
      <a:defRPr lang="en-US"/>
    </a:defPPr>
    <a:lvl1pPr algn="ctr" rtl="0" eaLnBrk="0" fontAlgn="base" hangingPunct="0">
      <a:spcBef>
        <a:spcPct val="20000"/>
      </a:spcBef>
      <a:spcAft>
        <a:spcPct val="0"/>
      </a:spcAft>
      <a:buFont typeface="Wingdings" pitchFamily="2" charset="2"/>
      <a:defRPr sz="2000" kern="1200">
        <a:solidFill>
          <a:schemeClr val="tx1"/>
        </a:solidFill>
        <a:latin typeface="Arial" pitchFamily="34" charset="0"/>
        <a:ea typeface="ＭＳ Ｐゴシック" pitchFamily="34" charset="-128"/>
        <a:cs typeface="+mn-cs"/>
      </a:defRPr>
    </a:lvl1pPr>
    <a:lvl2pPr marL="457200" algn="ctr" rtl="0" eaLnBrk="0" fontAlgn="base" hangingPunct="0">
      <a:spcBef>
        <a:spcPct val="20000"/>
      </a:spcBef>
      <a:spcAft>
        <a:spcPct val="0"/>
      </a:spcAft>
      <a:buFont typeface="Wingdings" pitchFamily="2" charset="2"/>
      <a:defRPr sz="2000" kern="1200">
        <a:solidFill>
          <a:schemeClr val="tx1"/>
        </a:solidFill>
        <a:latin typeface="Arial" pitchFamily="34" charset="0"/>
        <a:ea typeface="ＭＳ Ｐゴシック" pitchFamily="34" charset="-128"/>
        <a:cs typeface="+mn-cs"/>
      </a:defRPr>
    </a:lvl2pPr>
    <a:lvl3pPr marL="914400" algn="ctr" rtl="0" eaLnBrk="0" fontAlgn="base" hangingPunct="0">
      <a:spcBef>
        <a:spcPct val="20000"/>
      </a:spcBef>
      <a:spcAft>
        <a:spcPct val="0"/>
      </a:spcAft>
      <a:buFont typeface="Wingdings" pitchFamily="2" charset="2"/>
      <a:defRPr sz="2000" kern="1200">
        <a:solidFill>
          <a:schemeClr val="tx1"/>
        </a:solidFill>
        <a:latin typeface="Arial" pitchFamily="34" charset="0"/>
        <a:ea typeface="ＭＳ Ｐゴシック" pitchFamily="34" charset="-128"/>
        <a:cs typeface="+mn-cs"/>
      </a:defRPr>
    </a:lvl3pPr>
    <a:lvl4pPr marL="1371600" algn="ctr" rtl="0" eaLnBrk="0" fontAlgn="base" hangingPunct="0">
      <a:spcBef>
        <a:spcPct val="20000"/>
      </a:spcBef>
      <a:spcAft>
        <a:spcPct val="0"/>
      </a:spcAft>
      <a:buFont typeface="Wingdings" pitchFamily="2" charset="2"/>
      <a:defRPr sz="2000" kern="1200">
        <a:solidFill>
          <a:schemeClr val="tx1"/>
        </a:solidFill>
        <a:latin typeface="Arial" pitchFamily="34" charset="0"/>
        <a:ea typeface="ＭＳ Ｐゴシック" pitchFamily="34" charset="-128"/>
        <a:cs typeface="+mn-cs"/>
      </a:defRPr>
    </a:lvl4pPr>
    <a:lvl5pPr marL="1828800" algn="ctr" rtl="0" eaLnBrk="0" fontAlgn="base" hangingPunct="0">
      <a:spcBef>
        <a:spcPct val="20000"/>
      </a:spcBef>
      <a:spcAft>
        <a:spcPct val="0"/>
      </a:spcAft>
      <a:buFont typeface="Wingdings" pitchFamily="2" charset="2"/>
      <a:defRPr sz="20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0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0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0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0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4319">
          <p15:clr>
            <a:srgbClr val="A4A3A4"/>
          </p15:clr>
        </p15:guide>
        <p15:guide id="2">
          <p15:clr>
            <a:srgbClr val="A4A3A4"/>
          </p15:clr>
        </p15:guide>
      </p15:sldGuideLst>
    </p:ext>
    <p:ext uri="{2D200454-40CA-4A62-9FC3-DE9A4176ACB9}">
      <p15:notesGuideLst xmlns:p15="http://schemas.microsoft.com/office/powerpoint/2012/main">
        <p15:guide id="1" orient="horz" pos="3348" userDrawn="1">
          <p15:clr>
            <a:srgbClr val="A4A3A4"/>
          </p15:clr>
        </p15:guide>
        <p15:guide id="2" pos="2337" userDrawn="1">
          <p15:clr>
            <a:srgbClr val="A4A3A4"/>
          </p15:clr>
        </p15:guide>
        <p15:guide id="3" orient="horz" pos="3224" userDrawn="1">
          <p15:clr>
            <a:srgbClr val="A4A3A4"/>
          </p15:clr>
        </p15:guide>
        <p15:guide id="4"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CC3300"/>
    <a:srgbClr val="D6F7FE"/>
    <a:srgbClr val="FFF4D9"/>
    <a:srgbClr val="26697A"/>
    <a:srgbClr val="00CC00"/>
    <a:srgbClr val="FFFFFF"/>
    <a:srgbClr val="CCFFCC"/>
    <a:srgbClr val="9999FF"/>
    <a:srgbClr val="008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97" autoAdjust="0"/>
    <p:restoredTop sz="93808" autoAdjust="0"/>
  </p:normalViewPr>
  <p:slideViewPr>
    <p:cSldViewPr>
      <p:cViewPr varScale="1">
        <p:scale>
          <a:sx n="155" d="100"/>
          <a:sy n="155" d="100"/>
        </p:scale>
        <p:origin x="208" y="632"/>
      </p:cViewPr>
      <p:guideLst>
        <p:guide orient="horz" pos="4319"/>
        <p:guide/>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2" d="100"/>
          <a:sy n="62" d="100"/>
        </p:scale>
        <p:origin x="-1902" y="-102"/>
      </p:cViewPr>
      <p:guideLst>
        <p:guide orient="horz" pos="3348"/>
        <p:guide pos="2337"/>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_rels/viewProps.xml.rels><?xml version="1.0" encoding="UTF-8" standalone="yes"?>
<Relationships xmlns="http://schemas.openxmlformats.org/package/2006/relationships"><Relationship Id="rId8" Type="http://schemas.openxmlformats.org/officeDocument/2006/relationships/slide" Target="slides/slide123.xml"/><Relationship Id="rId3" Type="http://schemas.openxmlformats.org/officeDocument/2006/relationships/slide" Target="slides/slide61.xml"/><Relationship Id="rId7" Type="http://schemas.openxmlformats.org/officeDocument/2006/relationships/slide" Target="slides/slide118.xml"/><Relationship Id="rId2" Type="http://schemas.openxmlformats.org/officeDocument/2006/relationships/slide" Target="slides/slide14.xml"/><Relationship Id="rId1" Type="http://schemas.openxmlformats.org/officeDocument/2006/relationships/slide" Target="slides/slide4.xml"/><Relationship Id="rId6" Type="http://schemas.openxmlformats.org/officeDocument/2006/relationships/slide" Target="slides/slide94.xml"/><Relationship Id="rId5" Type="http://schemas.openxmlformats.org/officeDocument/2006/relationships/slide" Target="slides/slide93.xml"/><Relationship Id="rId10" Type="http://schemas.openxmlformats.org/officeDocument/2006/relationships/slide" Target="slides/slide125.xml"/><Relationship Id="rId4" Type="http://schemas.openxmlformats.org/officeDocument/2006/relationships/slide" Target="slides/slide92.xml"/><Relationship Id="rId9" Type="http://schemas.openxmlformats.org/officeDocument/2006/relationships/slide" Target="slides/slide1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1" y="135301"/>
            <a:ext cx="3102468" cy="280262"/>
          </a:xfrm>
          <a:prstGeom prst="rect">
            <a:avLst/>
          </a:prstGeom>
          <a:noFill/>
          <a:ln w="9525">
            <a:noFill/>
            <a:miter lim="800000"/>
            <a:headEnd/>
            <a:tailEnd/>
          </a:ln>
          <a:effectLst/>
        </p:spPr>
        <p:txBody>
          <a:bodyPr vert="horz" wrap="square" lIns="94676" tIns="47336" rIns="94676" bIns="47336" numCol="1" anchor="ctr" anchorCtr="0" compatLnSpc="1">
            <a:prstTxWarp prst="textNoShape">
              <a:avLst/>
            </a:prstTxWarp>
            <a:spAutoFit/>
          </a:bodyPr>
          <a:lstStyle>
            <a:lvl1pPr algn="l" defTabSz="947921">
              <a:buFontTx/>
              <a:buNone/>
              <a:defRPr sz="1200" b="1">
                <a:solidFill>
                  <a:schemeClr val="bg1"/>
                </a:solidFill>
                <a:latin typeface="Arial" charset="0"/>
                <a:ea typeface="ＭＳ Ｐゴシック" pitchFamily="48" charset="-128"/>
              </a:defRPr>
            </a:lvl1pPr>
          </a:lstStyle>
          <a:p>
            <a:pPr>
              <a:defRPr/>
            </a:pPr>
            <a:endParaRPr lang="es-ES_tradnl"/>
          </a:p>
        </p:txBody>
      </p:sp>
      <p:sp>
        <p:nvSpPr>
          <p:cNvPr id="49155" name="Rectangle 3"/>
          <p:cNvSpPr>
            <a:spLocks noGrp="1" noChangeArrowheads="1"/>
          </p:cNvSpPr>
          <p:nvPr>
            <p:ph type="dt" sz="quarter" idx="1"/>
          </p:nvPr>
        </p:nvSpPr>
        <p:spPr bwMode="auto">
          <a:xfrm>
            <a:off x="4063550" y="135301"/>
            <a:ext cx="3023039" cy="280262"/>
          </a:xfrm>
          <a:prstGeom prst="rect">
            <a:avLst/>
          </a:prstGeom>
          <a:noFill/>
          <a:ln w="9525">
            <a:noFill/>
            <a:miter lim="800000"/>
            <a:headEnd/>
            <a:tailEnd/>
          </a:ln>
          <a:effectLst/>
        </p:spPr>
        <p:txBody>
          <a:bodyPr vert="horz" wrap="square" lIns="94676" tIns="47336" rIns="94676" bIns="47336" numCol="1" anchor="ctr" anchorCtr="0" compatLnSpc="1">
            <a:prstTxWarp prst="textNoShape">
              <a:avLst/>
            </a:prstTxWarp>
            <a:spAutoFit/>
          </a:bodyPr>
          <a:lstStyle>
            <a:lvl1pPr algn="r" defTabSz="947921">
              <a:buFontTx/>
              <a:buNone/>
              <a:defRPr sz="1200" b="1">
                <a:solidFill>
                  <a:schemeClr val="bg1"/>
                </a:solidFill>
                <a:latin typeface="Arial" charset="0"/>
                <a:ea typeface="ＭＳ Ｐゴシック" pitchFamily="48" charset="-128"/>
              </a:defRPr>
            </a:lvl1pPr>
          </a:lstStyle>
          <a:p>
            <a:pPr>
              <a:defRPr/>
            </a:pPr>
            <a:endParaRPr lang="es-ES_tradnl"/>
          </a:p>
        </p:txBody>
      </p:sp>
      <p:sp>
        <p:nvSpPr>
          <p:cNvPr id="49156" name="Rectangle 4"/>
          <p:cNvSpPr>
            <a:spLocks noGrp="1" noChangeArrowheads="1"/>
          </p:cNvSpPr>
          <p:nvPr>
            <p:ph type="ftr" sz="quarter" idx="2"/>
          </p:nvPr>
        </p:nvSpPr>
        <p:spPr bwMode="auto">
          <a:xfrm>
            <a:off x="1" y="9932126"/>
            <a:ext cx="3102468" cy="280262"/>
          </a:xfrm>
          <a:prstGeom prst="rect">
            <a:avLst/>
          </a:prstGeom>
          <a:noFill/>
          <a:ln w="9525">
            <a:noFill/>
            <a:miter lim="800000"/>
            <a:headEnd/>
            <a:tailEnd/>
          </a:ln>
          <a:effectLst/>
        </p:spPr>
        <p:txBody>
          <a:bodyPr vert="horz" wrap="square" lIns="94676" tIns="47336" rIns="94676" bIns="47336" numCol="1" anchor="b" anchorCtr="0" compatLnSpc="1">
            <a:prstTxWarp prst="textNoShape">
              <a:avLst/>
            </a:prstTxWarp>
            <a:spAutoFit/>
          </a:bodyPr>
          <a:lstStyle>
            <a:lvl1pPr algn="l" defTabSz="947921">
              <a:buFontTx/>
              <a:buNone/>
              <a:defRPr sz="1200" b="1">
                <a:solidFill>
                  <a:schemeClr val="bg1"/>
                </a:solidFill>
                <a:latin typeface="Arial" charset="0"/>
                <a:ea typeface="ＭＳ Ｐゴシック" pitchFamily="48" charset="-128"/>
              </a:defRPr>
            </a:lvl1pPr>
          </a:lstStyle>
          <a:p>
            <a:pPr>
              <a:defRPr/>
            </a:pPr>
            <a:endParaRPr lang="es-ES_tradnl"/>
          </a:p>
        </p:txBody>
      </p:sp>
      <p:sp>
        <p:nvSpPr>
          <p:cNvPr id="49157" name="Rectangle 5"/>
          <p:cNvSpPr>
            <a:spLocks noGrp="1" noChangeArrowheads="1"/>
          </p:cNvSpPr>
          <p:nvPr>
            <p:ph type="sldNum" sz="quarter" idx="3"/>
          </p:nvPr>
        </p:nvSpPr>
        <p:spPr bwMode="auto">
          <a:xfrm>
            <a:off x="4063550" y="9932126"/>
            <a:ext cx="3023039" cy="280262"/>
          </a:xfrm>
          <a:prstGeom prst="rect">
            <a:avLst/>
          </a:prstGeom>
          <a:noFill/>
          <a:ln w="9525">
            <a:noFill/>
            <a:miter lim="800000"/>
            <a:headEnd/>
            <a:tailEnd/>
          </a:ln>
          <a:effectLst/>
        </p:spPr>
        <p:txBody>
          <a:bodyPr vert="horz" wrap="square" lIns="94676" tIns="47336" rIns="94676" bIns="47336" numCol="1" anchor="b" anchorCtr="0" compatLnSpc="1">
            <a:prstTxWarp prst="textNoShape">
              <a:avLst/>
            </a:prstTxWarp>
            <a:spAutoFit/>
          </a:bodyPr>
          <a:lstStyle>
            <a:lvl1pPr algn="r" defTabSz="947921">
              <a:buFontTx/>
              <a:buNone/>
              <a:defRPr sz="1200" b="1">
                <a:solidFill>
                  <a:schemeClr val="bg1"/>
                </a:solidFill>
                <a:latin typeface="Arial" charset="0"/>
                <a:ea typeface="ＭＳ Ｐゴシック" pitchFamily="48" charset="-128"/>
              </a:defRPr>
            </a:lvl1pPr>
          </a:lstStyle>
          <a:p>
            <a:pPr>
              <a:defRPr/>
            </a:pPr>
            <a:fld id="{E2AEC8A5-E10B-4D8C-B8C5-EBD3EC80F16F}" type="slidenum">
              <a:rPr lang="es-ES_tradnl"/>
              <a:pPr>
                <a:defRPr/>
              </a:pPr>
              <a:t>‹Nº›</a:t>
            </a:fld>
            <a:endParaRPr lang="es-ES_tradnl" dirty="0"/>
          </a:p>
        </p:txBody>
      </p:sp>
    </p:spTree>
    <p:extLst>
      <p:ext uri="{BB962C8B-B14F-4D97-AF65-F5344CB8AC3E}">
        <p14:creationId xmlns:p14="http://schemas.microsoft.com/office/powerpoint/2010/main" val="27057781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1"/>
            <a:ext cx="3077051" cy="511175"/>
          </a:xfrm>
          <a:prstGeom prst="rect">
            <a:avLst/>
          </a:prstGeom>
          <a:noFill/>
          <a:ln w="9525">
            <a:noFill/>
            <a:miter lim="800000"/>
            <a:headEnd/>
            <a:tailEnd/>
          </a:ln>
          <a:effectLst/>
        </p:spPr>
        <p:txBody>
          <a:bodyPr vert="horz" wrap="square" lIns="94676" tIns="47336" rIns="94676" bIns="47336" numCol="1" anchor="t" anchorCtr="0" compatLnSpc="1">
            <a:prstTxWarp prst="textNoShape">
              <a:avLst/>
            </a:prstTxWarp>
          </a:bodyPr>
          <a:lstStyle>
            <a:lvl1pPr algn="l" defTabSz="947921">
              <a:spcBef>
                <a:spcPct val="0"/>
              </a:spcBef>
              <a:buFontTx/>
              <a:buNone/>
              <a:defRPr sz="1200">
                <a:latin typeface="Times New Roman" pitchFamily="48" charset="0"/>
                <a:ea typeface="ＭＳ Ｐゴシック" pitchFamily="48" charset="-128"/>
              </a:defRPr>
            </a:lvl1pPr>
          </a:lstStyle>
          <a:p>
            <a:pPr>
              <a:defRPr/>
            </a:pPr>
            <a:endParaRPr lang="es-ES_tradnl"/>
          </a:p>
        </p:txBody>
      </p:sp>
      <p:sp>
        <p:nvSpPr>
          <p:cNvPr id="8195" name="Rectangle 3"/>
          <p:cNvSpPr>
            <a:spLocks noGrp="1" noChangeArrowheads="1"/>
          </p:cNvSpPr>
          <p:nvPr>
            <p:ph type="dt" idx="1"/>
          </p:nvPr>
        </p:nvSpPr>
        <p:spPr bwMode="auto">
          <a:xfrm>
            <a:off x="4027014" y="1"/>
            <a:ext cx="3077050" cy="511175"/>
          </a:xfrm>
          <a:prstGeom prst="rect">
            <a:avLst/>
          </a:prstGeom>
          <a:noFill/>
          <a:ln w="9525">
            <a:noFill/>
            <a:miter lim="800000"/>
            <a:headEnd/>
            <a:tailEnd/>
          </a:ln>
          <a:effectLst/>
        </p:spPr>
        <p:txBody>
          <a:bodyPr vert="horz" wrap="square" lIns="94676" tIns="47336" rIns="94676" bIns="47336" numCol="1" anchor="t" anchorCtr="0" compatLnSpc="1">
            <a:prstTxWarp prst="textNoShape">
              <a:avLst/>
            </a:prstTxWarp>
          </a:bodyPr>
          <a:lstStyle>
            <a:lvl1pPr algn="r" defTabSz="947921">
              <a:spcBef>
                <a:spcPct val="0"/>
              </a:spcBef>
              <a:buFontTx/>
              <a:buNone/>
              <a:defRPr sz="1200">
                <a:latin typeface="Times New Roman" pitchFamily="48" charset="0"/>
                <a:ea typeface="ＭＳ Ｐゴシック" pitchFamily="48" charset="-128"/>
              </a:defRPr>
            </a:lvl1pPr>
          </a:lstStyle>
          <a:p>
            <a:pPr>
              <a:defRPr/>
            </a:pPr>
            <a:endParaRPr lang="es-ES_tradnl"/>
          </a:p>
        </p:txBody>
      </p:sp>
      <p:sp>
        <p:nvSpPr>
          <p:cNvPr id="39940" name="Rectangle 4"/>
          <p:cNvSpPr>
            <a:spLocks noGrp="1" noRot="1" noChangeAspect="1" noChangeArrowheads="1" noTextEdit="1"/>
          </p:cNvSpPr>
          <p:nvPr>
            <p:ph type="sldImg" idx="2"/>
          </p:nvPr>
        </p:nvSpPr>
        <p:spPr bwMode="auto">
          <a:xfrm>
            <a:off x="995363" y="768350"/>
            <a:ext cx="5114925" cy="3836988"/>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46786" y="4860925"/>
            <a:ext cx="5210493" cy="4605338"/>
          </a:xfrm>
          <a:prstGeom prst="rect">
            <a:avLst/>
          </a:prstGeom>
          <a:noFill/>
          <a:ln w="9525">
            <a:noFill/>
            <a:miter lim="800000"/>
            <a:headEnd/>
            <a:tailEnd/>
          </a:ln>
          <a:effectLst/>
        </p:spPr>
        <p:txBody>
          <a:bodyPr vert="horz" wrap="square" lIns="94676" tIns="47336" rIns="94676" bIns="47336" numCol="1" anchor="t" anchorCtr="0" compatLnSpc="1">
            <a:prstTxWarp prst="textNoShape">
              <a:avLst/>
            </a:prstTxWarp>
          </a:bodyPr>
          <a:lstStyle/>
          <a:p>
            <a:pPr lvl="0"/>
            <a:r>
              <a:rPr lang="es-ES_tradnl" noProof="0"/>
              <a:t>Haga clic para modificar el estilo de texto del patrón</a:t>
            </a:r>
          </a:p>
          <a:p>
            <a:pPr lvl="1"/>
            <a:r>
              <a:rPr lang="es-ES_tradnl" noProof="0"/>
              <a:t>Segundo nivel</a:t>
            </a:r>
          </a:p>
          <a:p>
            <a:pPr lvl="2"/>
            <a:r>
              <a:rPr lang="es-ES_tradnl" noProof="0"/>
              <a:t>Tercer nivel</a:t>
            </a:r>
          </a:p>
          <a:p>
            <a:pPr lvl="3"/>
            <a:r>
              <a:rPr lang="es-ES_tradnl" noProof="0"/>
              <a:t>Cuarto nivel</a:t>
            </a:r>
          </a:p>
          <a:p>
            <a:pPr lvl="4"/>
            <a:r>
              <a:rPr lang="es-ES_tradnl" noProof="0"/>
              <a:t>Quinto nivel</a:t>
            </a:r>
          </a:p>
        </p:txBody>
      </p:sp>
      <p:sp>
        <p:nvSpPr>
          <p:cNvPr id="8198" name="Rectangle 6"/>
          <p:cNvSpPr>
            <a:spLocks noGrp="1" noChangeArrowheads="1"/>
          </p:cNvSpPr>
          <p:nvPr>
            <p:ph type="ftr" sz="quarter" idx="4"/>
          </p:nvPr>
        </p:nvSpPr>
        <p:spPr bwMode="auto">
          <a:xfrm>
            <a:off x="0" y="9723438"/>
            <a:ext cx="3077051" cy="511175"/>
          </a:xfrm>
          <a:prstGeom prst="rect">
            <a:avLst/>
          </a:prstGeom>
          <a:noFill/>
          <a:ln w="9525">
            <a:noFill/>
            <a:miter lim="800000"/>
            <a:headEnd/>
            <a:tailEnd/>
          </a:ln>
          <a:effectLst/>
        </p:spPr>
        <p:txBody>
          <a:bodyPr vert="horz" wrap="square" lIns="94676" tIns="47336" rIns="94676" bIns="47336" numCol="1" anchor="b" anchorCtr="0" compatLnSpc="1">
            <a:prstTxWarp prst="textNoShape">
              <a:avLst/>
            </a:prstTxWarp>
          </a:bodyPr>
          <a:lstStyle>
            <a:lvl1pPr algn="l" defTabSz="947921">
              <a:spcBef>
                <a:spcPct val="0"/>
              </a:spcBef>
              <a:buFontTx/>
              <a:buNone/>
              <a:defRPr sz="1200">
                <a:latin typeface="Times New Roman" pitchFamily="48" charset="0"/>
                <a:ea typeface="ＭＳ Ｐゴシック" pitchFamily="48" charset="-128"/>
              </a:defRPr>
            </a:lvl1pPr>
          </a:lstStyle>
          <a:p>
            <a:pPr>
              <a:defRPr/>
            </a:pPr>
            <a:endParaRPr lang="es-ES_tradnl"/>
          </a:p>
        </p:txBody>
      </p:sp>
      <p:sp>
        <p:nvSpPr>
          <p:cNvPr id="8199" name="Rectangle 7"/>
          <p:cNvSpPr>
            <a:spLocks noGrp="1" noChangeArrowheads="1"/>
          </p:cNvSpPr>
          <p:nvPr>
            <p:ph type="sldNum" sz="quarter" idx="5"/>
          </p:nvPr>
        </p:nvSpPr>
        <p:spPr bwMode="auto">
          <a:xfrm>
            <a:off x="4027014" y="9723438"/>
            <a:ext cx="3077050" cy="511175"/>
          </a:xfrm>
          <a:prstGeom prst="rect">
            <a:avLst/>
          </a:prstGeom>
          <a:noFill/>
          <a:ln w="9525">
            <a:noFill/>
            <a:miter lim="800000"/>
            <a:headEnd/>
            <a:tailEnd/>
          </a:ln>
          <a:effectLst/>
        </p:spPr>
        <p:txBody>
          <a:bodyPr vert="horz" wrap="square" lIns="94676" tIns="47336" rIns="94676" bIns="47336" numCol="1" anchor="b" anchorCtr="0" compatLnSpc="1">
            <a:prstTxWarp prst="textNoShape">
              <a:avLst/>
            </a:prstTxWarp>
          </a:bodyPr>
          <a:lstStyle>
            <a:lvl1pPr algn="r" defTabSz="947921">
              <a:spcBef>
                <a:spcPct val="0"/>
              </a:spcBef>
              <a:buFontTx/>
              <a:buNone/>
              <a:defRPr sz="1200">
                <a:latin typeface="Times New Roman" pitchFamily="48" charset="0"/>
                <a:ea typeface="ＭＳ Ｐゴシック" pitchFamily="48" charset="-128"/>
              </a:defRPr>
            </a:lvl1pPr>
          </a:lstStyle>
          <a:p>
            <a:pPr>
              <a:defRPr/>
            </a:pPr>
            <a:fld id="{AB90BAE6-DC3E-4CE4-BA88-EF7C5446036B}" type="slidenum">
              <a:rPr lang="es-ES_tradnl"/>
              <a:pPr>
                <a:defRPr/>
              </a:pPr>
              <a:t>‹Nº›</a:t>
            </a:fld>
            <a:endParaRPr lang="es-ES_tradnl" dirty="0"/>
          </a:p>
        </p:txBody>
      </p:sp>
    </p:spTree>
    <p:extLst>
      <p:ext uri="{BB962C8B-B14F-4D97-AF65-F5344CB8AC3E}">
        <p14:creationId xmlns:p14="http://schemas.microsoft.com/office/powerpoint/2010/main" val="38255465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31" charset="0"/>
        <a:ea typeface="ＭＳ Ｐゴシック" pitchFamily="48"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31" charset="0"/>
        <a:ea typeface="ＭＳ Ｐゴシック" pitchFamily="3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31" charset="0"/>
        <a:ea typeface="ＭＳ Ｐゴシック" pitchFamily="3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31" charset="0"/>
        <a:ea typeface="ＭＳ Ｐゴシック" pitchFamily="3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31" charset="0"/>
        <a:ea typeface="ＭＳ Ｐゴシック" pitchFamily="3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pPr defTabSz="939981"/>
            <a:fld id="{3BAFBF1F-B40E-4E22-9B72-E2A67A775E22}" type="slidenum">
              <a:rPr lang="es-ES" smtClean="0"/>
              <a:pPr defTabSz="939981"/>
              <a:t>1</a:t>
            </a:fld>
            <a:endParaRPr lang="es-ES"/>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939057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pPr defTabSz="939981"/>
            <a:fld id="{166FE1C4-5023-48A5-AB97-D3439612FDDE}" type="slidenum">
              <a:rPr lang="es-ES" smtClean="0"/>
              <a:pPr defTabSz="939981"/>
              <a:t>2</a:t>
            </a:fld>
            <a:endParaRPr lang="es-E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3181078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pPr defTabSz="939981"/>
            <a:fld id="{89511569-ED76-40E7-83A8-624F60E9B592}" type="slidenum">
              <a:rPr lang="es-ES" smtClean="0"/>
              <a:pPr defTabSz="939981"/>
              <a:t>4</a:t>
            </a:fld>
            <a:endParaRPr lang="es-ES"/>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63125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pPr defTabSz="939981"/>
            <a:fld id="{78F3B976-E363-4FB5-8E66-48E04B16B55B}" type="slidenum">
              <a:rPr lang="es-ES" smtClean="0"/>
              <a:pPr defTabSz="939981"/>
              <a:t>7</a:t>
            </a:fld>
            <a:endParaRPr lang="es-ES"/>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723001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pPr defTabSz="939981"/>
            <a:fld id="{2ED01C8D-3472-43E7-A35A-E0D09C8FB25B}" type="slidenum">
              <a:rPr lang="es-ES_tradnl" smtClean="0"/>
              <a:pPr defTabSz="939981"/>
              <a:t>9</a:t>
            </a:fld>
            <a:endParaRPr lang="es-ES_tradnl"/>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w="9525"/>
        </p:spPr>
        <p:txBody>
          <a:bodyPr lIns="94696" tIns="47347" rIns="94696" bIns="47347"/>
          <a:lstStyle/>
          <a:p>
            <a:endParaRPr lang="es-ES_tradnl"/>
          </a:p>
        </p:txBody>
      </p:sp>
    </p:spTree>
    <p:extLst>
      <p:ext uri="{BB962C8B-B14F-4D97-AF65-F5344CB8AC3E}">
        <p14:creationId xmlns:p14="http://schemas.microsoft.com/office/powerpoint/2010/main" val="2813211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pPr defTabSz="939981"/>
            <a:fld id="{2ED01C8D-3472-43E7-A35A-E0D09C8FB25B}" type="slidenum">
              <a:rPr lang="es-ES_tradnl" smtClean="0"/>
              <a:pPr defTabSz="939981"/>
              <a:t>10</a:t>
            </a:fld>
            <a:endParaRPr lang="es-ES_tradnl"/>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w="9525"/>
        </p:spPr>
        <p:txBody>
          <a:bodyPr lIns="94696" tIns="47347" rIns="94696" bIns="47347"/>
          <a:lstStyle/>
          <a:p>
            <a:endParaRPr lang="es-ES_tradnl"/>
          </a:p>
        </p:txBody>
      </p:sp>
    </p:spTree>
    <p:extLst>
      <p:ext uri="{BB962C8B-B14F-4D97-AF65-F5344CB8AC3E}">
        <p14:creationId xmlns:p14="http://schemas.microsoft.com/office/powerpoint/2010/main" val="3422137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pPr defTabSz="939981"/>
            <a:fld id="{069A9490-6009-4674-93D7-95AA36739C32}" type="slidenum">
              <a:rPr lang="es-ES" smtClean="0"/>
              <a:pPr defTabSz="939981"/>
              <a:t>14</a:t>
            </a:fld>
            <a:endParaRPr lang="es-ES"/>
          </a:p>
        </p:txBody>
      </p:sp>
      <p:sp>
        <p:nvSpPr>
          <p:cNvPr id="131075" name="Rectangle 2"/>
          <p:cNvSpPr>
            <a:spLocks noGrp="1" noRot="1" noChangeAspect="1" noChangeArrowheads="1" noTextEdit="1"/>
          </p:cNvSpPr>
          <p:nvPr>
            <p:ph type="sldImg"/>
          </p:nvPr>
        </p:nvSpPr>
        <p:spPr>
          <a:solidFill>
            <a:srgbClr val="FFFFFF"/>
          </a:solidFill>
          <a:ln/>
        </p:spPr>
      </p:sp>
      <p:sp>
        <p:nvSpPr>
          <p:cNvPr id="131076" name="Rectangle 3"/>
          <p:cNvSpPr>
            <a:spLocks noGrp="1" noChangeArrowheads="1"/>
          </p:cNvSpPr>
          <p:nvPr>
            <p:ph type="body" idx="1"/>
          </p:nvPr>
        </p:nvSpPr>
        <p:spPr>
          <a:solidFill>
            <a:srgbClr val="FFFFFF"/>
          </a:solidFill>
          <a:ln>
            <a:solidFill>
              <a:srgbClr val="000000"/>
            </a:solidFill>
          </a:ln>
        </p:spPr>
        <p:txBody>
          <a:bodyPr/>
          <a:lstStyle/>
          <a:p>
            <a:endParaRPr lang="es-ES_tradnl"/>
          </a:p>
        </p:txBody>
      </p:sp>
    </p:spTree>
    <p:extLst>
      <p:ext uri="{BB962C8B-B14F-4D97-AF65-F5344CB8AC3E}">
        <p14:creationId xmlns:p14="http://schemas.microsoft.com/office/powerpoint/2010/main" val="2938801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pPr defTabSz="939981"/>
            <a:fld id="{5BA056E0-DD39-4999-989B-5EFA9C07FF60}" type="slidenum">
              <a:rPr lang="es-ES" smtClean="0"/>
              <a:pPr defTabSz="939981"/>
              <a:t>16</a:t>
            </a:fld>
            <a:endParaRPr lang="es-ES"/>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903429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pPr defTabSz="939981"/>
            <a:fld id="{52194793-477D-4552-A51A-D04DC8F49DB4}" type="slidenum">
              <a:rPr lang="es-ES" smtClean="0">
                <a:solidFill>
                  <a:prstClr val="black"/>
                </a:solidFill>
              </a:rPr>
              <a:pPr defTabSz="939981"/>
              <a:t>22</a:t>
            </a:fld>
            <a:endParaRPr lang="es-ES">
              <a:solidFill>
                <a:prstClr val="black"/>
              </a:solidFill>
            </a:endParaRPr>
          </a:p>
        </p:txBody>
      </p:sp>
      <p:sp>
        <p:nvSpPr>
          <p:cNvPr id="149507" name="Rectangle 2"/>
          <p:cNvSpPr>
            <a:spLocks noGrp="1" noRot="1" noChangeAspect="1" noChangeArrowheads="1" noTextEdit="1"/>
          </p:cNvSpPr>
          <p:nvPr>
            <p:ph type="sldImg"/>
          </p:nvPr>
        </p:nvSpPr>
        <p:spPr>
          <a:xfrm>
            <a:off x="1019175" y="809625"/>
            <a:ext cx="5067300" cy="3800475"/>
          </a:xfrm>
          <a:ln/>
        </p:spPr>
      </p:sp>
      <p:sp>
        <p:nvSpPr>
          <p:cNvPr id="149508" name="Rectangle 3"/>
          <p:cNvSpPr>
            <a:spLocks noGrp="1" noChangeArrowheads="1"/>
          </p:cNvSpPr>
          <p:nvPr>
            <p:ph type="body" idx="1"/>
          </p:nvPr>
        </p:nvSpPr>
        <p:spPr>
          <a:xfrm>
            <a:off x="946786" y="4868863"/>
            <a:ext cx="5210493" cy="4603750"/>
          </a:xfrm>
          <a:noFill/>
          <a:ln w="9525"/>
        </p:spPr>
        <p:txBody>
          <a:bodyPr/>
          <a:lstStyle/>
          <a:p>
            <a:endParaRPr lang="es-ES_tradn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pPr defTabSz="939981"/>
            <a:fld id="{1786DF79-D4D7-4B2D-94C0-7E7070C083F0}" type="slidenum">
              <a:rPr lang="es-ES" smtClean="0"/>
              <a:pPr defTabSz="939981"/>
              <a:t>24</a:t>
            </a:fld>
            <a:endParaRPr lang="es-ES"/>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3744043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p>
            <a:pPr defTabSz="939981"/>
            <a:fld id="{26E07EF9-CF33-4ABE-8E46-444004E44AF2}" type="slidenum">
              <a:rPr lang="es-ES" smtClean="0"/>
              <a:pPr defTabSz="939981"/>
              <a:t>25</a:t>
            </a:fld>
            <a:endParaRPr lang="es-ES"/>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133258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pPr defTabSz="939981"/>
            <a:fld id="{41DD389C-71E7-4508-92F1-DCC3649FEA20}" type="slidenum">
              <a:rPr lang="es-ES" smtClean="0"/>
              <a:pPr defTabSz="939981"/>
              <a:t>27</a:t>
            </a:fld>
            <a:endParaRPr lang="es-ES"/>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103506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pPr defTabSz="939981"/>
            <a:fld id="{DE9D29C1-F6EE-4705-9763-B8F65F413CA8}" type="slidenum">
              <a:rPr lang="es-ES" smtClean="0"/>
              <a:pPr defTabSz="939981"/>
              <a:t>28</a:t>
            </a:fld>
            <a:endParaRPr lang="es-ES"/>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368700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29</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20976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31</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19651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32</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801903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33</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987437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34</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640237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35</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518572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36</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316058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FD3C9E25-0D4C-F4DF-CAEA-9104CA78A7C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defTabSz="939800">
              <a:defRPr sz="2000">
                <a:solidFill>
                  <a:schemeClr val="tx1"/>
                </a:solidFill>
                <a:latin typeface="Arial" panose="020B0604020202020204" pitchFamily="34" charset="0"/>
              </a:defRPr>
            </a:lvl1pPr>
            <a:lvl2pPr marL="742950" indent="-285750" defTabSz="939800">
              <a:defRPr sz="2000">
                <a:solidFill>
                  <a:schemeClr val="tx1"/>
                </a:solidFill>
                <a:latin typeface="Arial" panose="020B0604020202020204" pitchFamily="34" charset="0"/>
              </a:defRPr>
            </a:lvl2pPr>
            <a:lvl3pPr marL="1143000" indent="-228600" defTabSz="939800">
              <a:defRPr sz="2000">
                <a:solidFill>
                  <a:schemeClr val="tx1"/>
                </a:solidFill>
                <a:latin typeface="Arial" panose="020B0604020202020204" pitchFamily="34" charset="0"/>
              </a:defRPr>
            </a:lvl3pPr>
            <a:lvl4pPr marL="1600200" indent="-228600" defTabSz="939800">
              <a:defRPr sz="2000">
                <a:solidFill>
                  <a:schemeClr val="tx1"/>
                </a:solidFill>
                <a:latin typeface="Arial" panose="020B0604020202020204" pitchFamily="34" charset="0"/>
              </a:defRPr>
            </a:lvl4pPr>
            <a:lvl5pPr marL="2057400" indent="-228600" defTabSz="939800">
              <a:defRPr sz="2000">
                <a:solidFill>
                  <a:schemeClr val="tx1"/>
                </a:solidFill>
                <a:latin typeface="Arial" panose="020B0604020202020204" pitchFamily="34" charset="0"/>
              </a:defRPr>
            </a:lvl5pPr>
            <a:lvl6pPr marL="2514600" indent="-228600" algn="ctr" defTabSz="939800"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defTabSz="939800"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defTabSz="939800"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defTabSz="939800" eaLnBrk="0" fontAlgn="base" hangingPunct="0">
              <a:spcBef>
                <a:spcPct val="0"/>
              </a:spcBef>
              <a:spcAft>
                <a:spcPct val="0"/>
              </a:spcAft>
              <a:defRPr sz="2000">
                <a:solidFill>
                  <a:schemeClr val="tx1"/>
                </a:solidFill>
                <a:latin typeface="Arial" panose="020B0604020202020204" pitchFamily="34" charset="0"/>
              </a:defRPr>
            </a:lvl9pPr>
          </a:lstStyle>
          <a:p>
            <a:fld id="{A5102770-FA6F-4876-AF87-5D114918B481}" type="slidenum">
              <a:rPr lang="es-ES" altLang="es-ES" sz="1100"/>
              <a:pPr/>
              <a:t>39</a:t>
            </a:fld>
            <a:endParaRPr lang="es-ES" altLang="es-ES" sz="1100"/>
          </a:p>
        </p:txBody>
      </p:sp>
      <p:sp>
        <p:nvSpPr>
          <p:cNvPr id="137219" name="Rectangle 2">
            <a:extLst>
              <a:ext uri="{FF2B5EF4-FFF2-40B4-BE49-F238E27FC236}">
                <a16:creationId xmlns:a16="http://schemas.microsoft.com/office/drawing/2014/main" id="{1B648CBA-801C-8E0D-ABD6-F535AF96358E}"/>
              </a:ext>
            </a:extLst>
          </p:cNvPr>
          <p:cNvSpPr>
            <a:spLocks noGrp="1" noRot="1" noChangeAspect="1" noChangeArrowheads="1" noTextEdit="1"/>
          </p:cNvSpPr>
          <p:nvPr>
            <p:ph type="sldImg"/>
          </p:nvPr>
        </p:nvSpPr>
        <p:spPr>
          <a:ln/>
        </p:spPr>
      </p:sp>
      <p:sp>
        <p:nvSpPr>
          <p:cNvPr id="137220" name="Rectangle 3">
            <a:extLst>
              <a:ext uri="{FF2B5EF4-FFF2-40B4-BE49-F238E27FC236}">
                <a16:creationId xmlns:a16="http://schemas.microsoft.com/office/drawing/2014/main" id="{81EA1A37-506B-B135-E48C-F93A78CB0D2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FE544CFC-32D8-F53E-4595-BAC7B0BC178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defTabSz="939800">
              <a:defRPr sz="2000">
                <a:solidFill>
                  <a:schemeClr val="tx1"/>
                </a:solidFill>
                <a:latin typeface="Arial" panose="020B0604020202020204" pitchFamily="34" charset="0"/>
              </a:defRPr>
            </a:lvl1pPr>
            <a:lvl2pPr marL="742950" indent="-285750" defTabSz="939800">
              <a:defRPr sz="2000">
                <a:solidFill>
                  <a:schemeClr val="tx1"/>
                </a:solidFill>
                <a:latin typeface="Arial" panose="020B0604020202020204" pitchFamily="34" charset="0"/>
              </a:defRPr>
            </a:lvl2pPr>
            <a:lvl3pPr marL="1143000" indent="-228600" defTabSz="939800">
              <a:defRPr sz="2000">
                <a:solidFill>
                  <a:schemeClr val="tx1"/>
                </a:solidFill>
                <a:latin typeface="Arial" panose="020B0604020202020204" pitchFamily="34" charset="0"/>
              </a:defRPr>
            </a:lvl3pPr>
            <a:lvl4pPr marL="1600200" indent="-228600" defTabSz="939800">
              <a:defRPr sz="2000">
                <a:solidFill>
                  <a:schemeClr val="tx1"/>
                </a:solidFill>
                <a:latin typeface="Arial" panose="020B0604020202020204" pitchFamily="34" charset="0"/>
              </a:defRPr>
            </a:lvl4pPr>
            <a:lvl5pPr marL="2057400" indent="-228600" defTabSz="939800">
              <a:defRPr sz="2000">
                <a:solidFill>
                  <a:schemeClr val="tx1"/>
                </a:solidFill>
                <a:latin typeface="Arial" panose="020B0604020202020204" pitchFamily="34" charset="0"/>
              </a:defRPr>
            </a:lvl5pPr>
            <a:lvl6pPr marL="2514600" indent="-228600" algn="ctr" defTabSz="939800"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defTabSz="939800"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defTabSz="939800"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defTabSz="939800" eaLnBrk="0" fontAlgn="base" hangingPunct="0">
              <a:spcBef>
                <a:spcPct val="0"/>
              </a:spcBef>
              <a:spcAft>
                <a:spcPct val="0"/>
              </a:spcAft>
              <a:defRPr sz="2000">
                <a:solidFill>
                  <a:schemeClr val="tx1"/>
                </a:solidFill>
                <a:latin typeface="Arial" panose="020B0604020202020204" pitchFamily="34" charset="0"/>
              </a:defRPr>
            </a:lvl9pPr>
          </a:lstStyle>
          <a:p>
            <a:fld id="{9ED8F16D-DAB0-4791-A218-ADBC87AA7EA7}" type="slidenum">
              <a:rPr lang="es-ES" altLang="es-ES" sz="1100"/>
              <a:pPr/>
              <a:t>40</a:t>
            </a:fld>
            <a:endParaRPr lang="es-ES" altLang="es-ES" sz="1100"/>
          </a:p>
        </p:txBody>
      </p:sp>
      <p:sp>
        <p:nvSpPr>
          <p:cNvPr id="138243" name="Rectangle 2">
            <a:extLst>
              <a:ext uri="{FF2B5EF4-FFF2-40B4-BE49-F238E27FC236}">
                <a16:creationId xmlns:a16="http://schemas.microsoft.com/office/drawing/2014/main" id="{BA934B50-C6B5-6D10-770E-7DE159A255EB}"/>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63665EE7-D1E8-FC5C-A9F6-2DC57B45C95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32591A13-AAA2-98E8-5B7F-71281EB0B0A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defTabSz="939800">
              <a:defRPr sz="2000">
                <a:solidFill>
                  <a:schemeClr val="tx1"/>
                </a:solidFill>
                <a:latin typeface="Arial" panose="020B0604020202020204" pitchFamily="34" charset="0"/>
              </a:defRPr>
            </a:lvl1pPr>
            <a:lvl2pPr marL="742950" indent="-285750" defTabSz="939800">
              <a:defRPr sz="2000">
                <a:solidFill>
                  <a:schemeClr val="tx1"/>
                </a:solidFill>
                <a:latin typeface="Arial" panose="020B0604020202020204" pitchFamily="34" charset="0"/>
              </a:defRPr>
            </a:lvl2pPr>
            <a:lvl3pPr marL="1143000" indent="-228600" defTabSz="939800">
              <a:defRPr sz="2000">
                <a:solidFill>
                  <a:schemeClr val="tx1"/>
                </a:solidFill>
                <a:latin typeface="Arial" panose="020B0604020202020204" pitchFamily="34" charset="0"/>
              </a:defRPr>
            </a:lvl3pPr>
            <a:lvl4pPr marL="1600200" indent="-228600" defTabSz="939800">
              <a:defRPr sz="2000">
                <a:solidFill>
                  <a:schemeClr val="tx1"/>
                </a:solidFill>
                <a:latin typeface="Arial" panose="020B0604020202020204" pitchFamily="34" charset="0"/>
              </a:defRPr>
            </a:lvl4pPr>
            <a:lvl5pPr marL="2057400" indent="-228600" defTabSz="939800">
              <a:defRPr sz="2000">
                <a:solidFill>
                  <a:schemeClr val="tx1"/>
                </a:solidFill>
                <a:latin typeface="Arial" panose="020B0604020202020204" pitchFamily="34" charset="0"/>
              </a:defRPr>
            </a:lvl5pPr>
            <a:lvl6pPr marL="2514600" indent="-228600" algn="ctr" defTabSz="939800"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defTabSz="939800"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defTabSz="939800"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defTabSz="939800" eaLnBrk="0" fontAlgn="base" hangingPunct="0">
              <a:spcBef>
                <a:spcPct val="0"/>
              </a:spcBef>
              <a:spcAft>
                <a:spcPct val="0"/>
              </a:spcAft>
              <a:defRPr sz="2000">
                <a:solidFill>
                  <a:schemeClr val="tx1"/>
                </a:solidFill>
                <a:latin typeface="Arial" panose="020B0604020202020204" pitchFamily="34" charset="0"/>
              </a:defRPr>
            </a:lvl9pPr>
          </a:lstStyle>
          <a:p>
            <a:fld id="{28702DB6-227A-47F1-BA70-24FFC3EF866C}" type="slidenum">
              <a:rPr lang="es-ES" altLang="es-ES" sz="1100"/>
              <a:pPr/>
              <a:t>41</a:t>
            </a:fld>
            <a:endParaRPr lang="es-ES" altLang="es-ES" sz="1100"/>
          </a:p>
        </p:txBody>
      </p:sp>
      <p:sp>
        <p:nvSpPr>
          <p:cNvPr id="141315" name="Rectangle 2">
            <a:extLst>
              <a:ext uri="{FF2B5EF4-FFF2-40B4-BE49-F238E27FC236}">
                <a16:creationId xmlns:a16="http://schemas.microsoft.com/office/drawing/2014/main" id="{562F52F6-13A3-B458-843C-B20D87C3DEB7}"/>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04AD7D4B-E212-C72C-3006-68BCFEE4FA2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pPr defTabSz="939981"/>
            <a:fld id="{405EAE42-C17E-4C4E-AB76-80E54BA8FF45}" type="slidenum">
              <a:rPr lang="es-ES" smtClean="0"/>
              <a:pPr defTabSz="939981"/>
              <a:t>43</a:t>
            </a:fld>
            <a:endParaRPr lang="es-ES"/>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519223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pPr defTabSz="939981"/>
            <a:fld id="{0C13EC4E-C7E0-477B-AAA6-75E5D550C6F4}" type="slidenum">
              <a:rPr lang="es-ES" smtClean="0"/>
              <a:pPr defTabSz="939981"/>
              <a:t>44</a:t>
            </a:fld>
            <a:endParaRPr lang="es-E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w="9525"/>
        </p:spPr>
        <p:txBody>
          <a:bodyPr/>
          <a:lstStyle/>
          <a:p>
            <a:endParaRPr lang="es-ES_tradnl"/>
          </a:p>
        </p:txBody>
      </p:sp>
    </p:spTree>
    <p:extLst>
      <p:ext uri="{BB962C8B-B14F-4D97-AF65-F5344CB8AC3E}">
        <p14:creationId xmlns:p14="http://schemas.microsoft.com/office/powerpoint/2010/main" val="1504394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pPr defTabSz="939981"/>
            <a:fld id="{E1A9DE10-1FCC-4BEE-97EA-3F3F20C1CFCC}" type="slidenum">
              <a:rPr lang="es-ES" smtClean="0">
                <a:solidFill>
                  <a:prstClr val="black"/>
                </a:solidFill>
              </a:rPr>
              <a:pPr defTabSz="939981"/>
              <a:t>48</a:t>
            </a:fld>
            <a:endParaRPr lang="es-ES">
              <a:solidFill>
                <a:prstClr val="black"/>
              </a:solidFill>
            </a:endParaRPr>
          </a:p>
        </p:txBody>
      </p:sp>
      <p:sp>
        <p:nvSpPr>
          <p:cNvPr id="197635" name="Rectangle 2"/>
          <p:cNvSpPr>
            <a:spLocks noGrp="1" noRot="1" noChangeAspect="1" noChangeArrowheads="1" noTextEdit="1"/>
          </p:cNvSpPr>
          <p:nvPr>
            <p:ph type="sldImg"/>
          </p:nvPr>
        </p:nvSpPr>
        <p:spPr>
          <a:xfrm>
            <a:off x="1017588" y="806450"/>
            <a:ext cx="5070475" cy="3803650"/>
          </a:xfrm>
          <a:ln/>
        </p:spPr>
      </p:sp>
      <p:sp>
        <p:nvSpPr>
          <p:cNvPr id="197636" name="Rectangle 3"/>
          <p:cNvSpPr>
            <a:spLocks noGrp="1" noChangeArrowheads="1"/>
          </p:cNvSpPr>
          <p:nvPr>
            <p:ph type="body" idx="1"/>
          </p:nvPr>
        </p:nvSpPr>
        <p:spPr>
          <a:xfrm>
            <a:off x="945197" y="4868863"/>
            <a:ext cx="5213670" cy="4602162"/>
          </a:xfrm>
          <a:noFill/>
          <a:ln w="9525"/>
        </p:spPr>
        <p:txBody>
          <a:bodyPr/>
          <a:lstStyle/>
          <a:p>
            <a:endParaRPr lang="es-ES_tradnl" altLang="es-ES_tradnl"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pPr defTabSz="939981"/>
            <a:fld id="{0C13EC4E-C7E0-477B-AAA6-75E5D550C6F4}" type="slidenum">
              <a:rPr lang="es-ES" smtClean="0">
                <a:solidFill>
                  <a:prstClr val="black"/>
                </a:solidFill>
              </a:rPr>
              <a:pPr defTabSz="939981"/>
              <a:t>49</a:t>
            </a:fld>
            <a:endParaRPr lang="es-ES">
              <a:solidFill>
                <a:prstClr val="black"/>
              </a:solidFill>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w="9525"/>
        </p:spPr>
        <p:txBody>
          <a:bodyPr/>
          <a:lstStyle/>
          <a:p>
            <a:endParaRPr lang="es-ES_tradnl"/>
          </a:p>
        </p:txBody>
      </p:sp>
    </p:spTree>
    <p:extLst>
      <p:ext uri="{BB962C8B-B14F-4D97-AF65-F5344CB8AC3E}">
        <p14:creationId xmlns:p14="http://schemas.microsoft.com/office/powerpoint/2010/main" val="187290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pPr defTabSz="939981"/>
            <a:fld id="{849D06A9-C8A1-4EE7-B911-0F0117D02382}" type="slidenum">
              <a:rPr lang="es-ES" smtClean="0">
                <a:solidFill>
                  <a:prstClr val="black"/>
                </a:solidFill>
              </a:rPr>
              <a:pPr defTabSz="939981"/>
              <a:t>51</a:t>
            </a:fld>
            <a:endParaRPr lang="es-ES">
              <a:solidFill>
                <a:prstClr val="black"/>
              </a:solidFill>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pPr defTabSz="939981"/>
            <a:fld id="{905A2E2E-4E2B-454C-BC26-3BA8E1B4A500}" type="slidenum">
              <a:rPr lang="es-ES" smtClean="0"/>
              <a:pPr defTabSz="939981"/>
              <a:t>52</a:t>
            </a:fld>
            <a:endParaRPr lang="es-ES"/>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192628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pPr defTabSz="939981"/>
            <a:fld id="{849D06A9-C8A1-4EE7-B911-0F0117D02382}" type="slidenum">
              <a:rPr lang="es-ES" smtClean="0"/>
              <a:pPr defTabSz="939981"/>
              <a:t>54</a:t>
            </a:fld>
            <a:endParaRPr lang="es-ES"/>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pPr defTabSz="939981"/>
            <a:fld id="{E1A9DE10-1FCC-4BEE-97EA-3F3F20C1CFCC}" type="slidenum">
              <a:rPr lang="es-ES" smtClean="0"/>
              <a:pPr defTabSz="939981"/>
              <a:t>55</a:t>
            </a:fld>
            <a:endParaRPr lang="es-ES"/>
          </a:p>
        </p:txBody>
      </p:sp>
      <p:sp>
        <p:nvSpPr>
          <p:cNvPr id="197635" name="Rectangle 2"/>
          <p:cNvSpPr>
            <a:spLocks noGrp="1" noRot="1" noChangeAspect="1" noChangeArrowheads="1" noTextEdit="1"/>
          </p:cNvSpPr>
          <p:nvPr>
            <p:ph type="sldImg"/>
          </p:nvPr>
        </p:nvSpPr>
        <p:spPr>
          <a:xfrm>
            <a:off x="1017588" y="806450"/>
            <a:ext cx="5070475" cy="3803650"/>
          </a:xfrm>
          <a:ln/>
        </p:spPr>
      </p:sp>
      <p:sp>
        <p:nvSpPr>
          <p:cNvPr id="197636" name="Rectangle 3"/>
          <p:cNvSpPr>
            <a:spLocks noGrp="1" noChangeArrowheads="1"/>
          </p:cNvSpPr>
          <p:nvPr>
            <p:ph type="body" idx="1"/>
          </p:nvPr>
        </p:nvSpPr>
        <p:spPr>
          <a:xfrm>
            <a:off x="945197" y="4868863"/>
            <a:ext cx="5213670" cy="4602162"/>
          </a:xfrm>
          <a:noFill/>
          <a:ln w="9525"/>
        </p:spPr>
        <p:txBody>
          <a:bodyPr/>
          <a:lstStyle/>
          <a:p>
            <a:endParaRPr lang="es-ES_tradnl" altLang="es-ES_tradnl"/>
          </a:p>
        </p:txBody>
      </p:sp>
    </p:spTree>
    <p:extLst>
      <p:ext uri="{BB962C8B-B14F-4D97-AF65-F5344CB8AC3E}">
        <p14:creationId xmlns:p14="http://schemas.microsoft.com/office/powerpoint/2010/main" val="19212029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57</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243651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58</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5543185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59</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1123773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pPr defTabSz="939981"/>
            <a:fld id="{D7B4780D-184D-4912-BC63-3FDF74B4DD63}" type="slidenum">
              <a:rPr lang="es-ES" smtClean="0"/>
              <a:pPr defTabSz="939981"/>
              <a:t>61</a:t>
            </a:fld>
            <a:endParaRPr lang="es-ES"/>
          </a:p>
        </p:txBody>
      </p:sp>
      <p:sp>
        <p:nvSpPr>
          <p:cNvPr id="132099" name="Rectangle 2"/>
          <p:cNvSpPr>
            <a:spLocks noGrp="1" noRot="1" noChangeAspect="1" noChangeArrowheads="1" noTextEdit="1"/>
          </p:cNvSpPr>
          <p:nvPr>
            <p:ph type="sldImg"/>
          </p:nvPr>
        </p:nvSpPr>
        <p:spPr>
          <a:solidFill>
            <a:srgbClr val="FFFFFF"/>
          </a:solidFill>
          <a:ln/>
        </p:spPr>
      </p:sp>
      <p:sp>
        <p:nvSpPr>
          <p:cNvPr id="132100" name="Rectangle 3"/>
          <p:cNvSpPr>
            <a:spLocks noGrp="1" noChangeArrowheads="1"/>
          </p:cNvSpPr>
          <p:nvPr>
            <p:ph type="body" idx="1"/>
          </p:nvPr>
        </p:nvSpPr>
        <p:spPr>
          <a:solidFill>
            <a:srgbClr val="FFFFFF"/>
          </a:solidFill>
          <a:ln>
            <a:solidFill>
              <a:srgbClr val="000000"/>
            </a:solidFill>
          </a:ln>
        </p:spPr>
        <p:txBody>
          <a:bodyPr/>
          <a:lstStyle/>
          <a:p>
            <a:endParaRPr lang="es-ES_tradnl"/>
          </a:p>
        </p:txBody>
      </p:sp>
    </p:spTree>
    <p:extLst>
      <p:ext uri="{BB962C8B-B14F-4D97-AF65-F5344CB8AC3E}">
        <p14:creationId xmlns:p14="http://schemas.microsoft.com/office/powerpoint/2010/main" val="25161162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pPr defTabSz="939981"/>
            <a:fld id="{02D780A9-225A-4162-82BB-801782919D6C}" type="slidenum">
              <a:rPr lang="es-ES" smtClean="0"/>
              <a:pPr defTabSz="939981"/>
              <a:t>62</a:t>
            </a:fld>
            <a:endParaRPr lang="es-ES"/>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w="9525"/>
        </p:spPr>
        <p:txBody>
          <a:bodyPr/>
          <a:lstStyle/>
          <a:p>
            <a:r>
              <a:rPr lang="es-ES_tradnl" dirty="0"/>
              <a:t>Eliminar</a:t>
            </a:r>
          </a:p>
        </p:txBody>
      </p:sp>
    </p:spTree>
    <p:extLst>
      <p:ext uri="{BB962C8B-B14F-4D97-AF65-F5344CB8AC3E}">
        <p14:creationId xmlns:p14="http://schemas.microsoft.com/office/powerpoint/2010/main" val="16437725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pPr defTabSz="939981"/>
            <a:fld id="{02D780A9-225A-4162-82BB-801782919D6C}" type="slidenum">
              <a:rPr lang="es-ES" smtClean="0"/>
              <a:pPr defTabSz="939981"/>
              <a:t>63</a:t>
            </a:fld>
            <a:endParaRPr lang="es-ES"/>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w="9525"/>
        </p:spPr>
        <p:txBody>
          <a:bodyPr/>
          <a:lstStyle/>
          <a:p>
            <a:r>
              <a:rPr lang="es-ES_tradnl" dirty="0"/>
              <a:t>Eliminar</a:t>
            </a:r>
          </a:p>
        </p:txBody>
      </p:sp>
    </p:spTree>
    <p:extLst>
      <p:ext uri="{BB962C8B-B14F-4D97-AF65-F5344CB8AC3E}">
        <p14:creationId xmlns:p14="http://schemas.microsoft.com/office/powerpoint/2010/main" val="13271038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pPr defTabSz="939981"/>
            <a:fld id="{7F11C39D-99AE-4707-94C5-F690919DB884}" type="slidenum">
              <a:rPr lang="es-ES" smtClean="0"/>
              <a:pPr defTabSz="939981"/>
              <a:t>64</a:t>
            </a:fld>
            <a:endParaRPr lang="es-ES"/>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pPr defTabSz="939981"/>
            <a:fld id="{7F11C39D-99AE-4707-94C5-F690919DB884}" type="slidenum">
              <a:rPr lang="es-ES" smtClean="0"/>
              <a:pPr defTabSz="939981"/>
              <a:t>66</a:t>
            </a:fld>
            <a:endParaRPr lang="es-ES"/>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pPr defTabSz="939981"/>
            <a:fld id="{7F11C39D-99AE-4707-94C5-F690919DB884}" type="slidenum">
              <a:rPr lang="es-ES" smtClean="0"/>
              <a:pPr defTabSz="939981"/>
              <a:t>68</a:t>
            </a:fld>
            <a:endParaRPr lang="es-ES"/>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pPr defTabSz="939981"/>
            <a:fld id="{29DC1669-5283-47A3-B4F8-B14045C8418F}" type="slidenum">
              <a:rPr lang="es-ES" smtClean="0"/>
              <a:pPr defTabSz="939981"/>
              <a:t>70</a:t>
            </a:fld>
            <a:endParaRPr lang="es-ES"/>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pPr defTabSz="939981"/>
            <a:fld id="{719839D8-FF31-457F-A3AD-6B45A923E1F6}" type="slidenum">
              <a:rPr lang="es-ES" smtClean="0"/>
              <a:pPr defTabSz="939981"/>
              <a:t>82</a:t>
            </a:fld>
            <a:endParaRPr lang="es-ES"/>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3653697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pPr defTabSz="902960"/>
            <a:fld id="{719839D8-FF31-457F-A3AD-6B45A923E1F6}" type="slidenum">
              <a:rPr lang="es-ES" smtClean="0"/>
              <a:pPr defTabSz="902960"/>
              <a:t>83</a:t>
            </a:fld>
            <a:endParaRPr lang="es-ES"/>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w="9525"/>
        </p:spPr>
        <p:txBody>
          <a:bodyPr/>
          <a:lstStyle/>
          <a:p>
            <a:endParaRPr lang="es-E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pPr defTabSz="939981"/>
            <a:fld id="{FF0B7F59-0B6E-40DE-942E-1BC383067535}" type="slidenum">
              <a:rPr lang="es-ES" smtClean="0"/>
              <a:pPr defTabSz="939981"/>
              <a:t>84</a:t>
            </a:fld>
            <a:endParaRPr lang="es-ES"/>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9090083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pPr defTabSz="939981"/>
            <a:fld id="{FF0B7F59-0B6E-40DE-942E-1BC383067535}" type="slidenum">
              <a:rPr lang="es-ES" smtClean="0"/>
              <a:pPr defTabSz="939981"/>
              <a:t>85</a:t>
            </a:fld>
            <a:endParaRPr lang="es-ES"/>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9820127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pPr defTabSz="939981"/>
            <a:fld id="{067C553E-22DA-44B6-8916-0DD315F32F89}" type="slidenum">
              <a:rPr lang="es-ES" smtClean="0"/>
              <a:pPr defTabSz="939981"/>
              <a:t>86</a:t>
            </a:fld>
            <a:endParaRPr lang="es-ES"/>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w="9525"/>
        </p:spPr>
        <p:txBody>
          <a:bodyPr/>
          <a:lstStyle/>
          <a:p>
            <a:endParaRPr lang="es-ES" dirty="0"/>
          </a:p>
        </p:txBody>
      </p:sp>
    </p:spTree>
    <p:extLst>
      <p:ext uri="{BB962C8B-B14F-4D97-AF65-F5344CB8AC3E}">
        <p14:creationId xmlns:p14="http://schemas.microsoft.com/office/powerpoint/2010/main" val="42221751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pPr defTabSz="939981"/>
            <a:fld id="{067C553E-22DA-44B6-8916-0DD315F32F89}" type="slidenum">
              <a:rPr lang="es-ES" smtClean="0"/>
              <a:pPr defTabSz="939981"/>
              <a:t>87</a:t>
            </a:fld>
            <a:endParaRPr lang="es-ES"/>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w="9525"/>
        </p:spPr>
        <p:txBody>
          <a:bodyPr/>
          <a:lstStyle/>
          <a:p>
            <a:endParaRPr lang="es-ES" dirty="0"/>
          </a:p>
        </p:txBody>
      </p:sp>
    </p:spTree>
    <p:extLst>
      <p:ext uri="{BB962C8B-B14F-4D97-AF65-F5344CB8AC3E}">
        <p14:creationId xmlns:p14="http://schemas.microsoft.com/office/powerpoint/2010/main" val="32779413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pPr defTabSz="939981"/>
            <a:fld id="{067C553E-22DA-44B6-8916-0DD315F32F89}" type="slidenum">
              <a:rPr lang="es-ES" smtClean="0"/>
              <a:pPr defTabSz="939981"/>
              <a:t>88</a:t>
            </a:fld>
            <a:endParaRPr lang="es-ES"/>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w="9525"/>
        </p:spPr>
        <p:txBody>
          <a:bodyPr/>
          <a:lstStyle/>
          <a:p>
            <a:endParaRPr lang="es-ES" dirty="0"/>
          </a:p>
        </p:txBody>
      </p:sp>
    </p:spTree>
    <p:extLst>
      <p:ext uri="{BB962C8B-B14F-4D97-AF65-F5344CB8AC3E}">
        <p14:creationId xmlns:p14="http://schemas.microsoft.com/office/powerpoint/2010/main" val="39053408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pPr defTabSz="939981"/>
            <a:fld id="{4F903F20-F530-434E-8E09-7B97F05EC683}" type="slidenum">
              <a:rPr lang="es-ES" smtClean="0"/>
              <a:pPr defTabSz="939981"/>
              <a:t>89</a:t>
            </a:fld>
            <a:endParaRPr lang="es-ES"/>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6169360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pPr defTabSz="939981"/>
            <a:fld id="{9FE26634-0BDC-47FE-B333-5CB83F9CA46A}" type="slidenum">
              <a:rPr lang="es-ES" smtClean="0"/>
              <a:pPr defTabSz="939981"/>
              <a:t>90</a:t>
            </a:fld>
            <a:endParaRPr lang="es-ES"/>
          </a:p>
        </p:txBody>
      </p:sp>
      <p:sp>
        <p:nvSpPr>
          <p:cNvPr id="171011" name="Rectangle 2"/>
          <p:cNvSpPr>
            <a:spLocks noGrp="1" noRot="1" noChangeAspect="1" noChangeArrowheads="1" noTextEdit="1"/>
          </p:cNvSpPr>
          <p:nvPr>
            <p:ph type="sldImg"/>
          </p:nvPr>
        </p:nvSpPr>
        <p:spPr>
          <a:xfrm>
            <a:off x="995363" y="769938"/>
            <a:ext cx="5114925" cy="3835400"/>
          </a:xfrm>
          <a:ln/>
        </p:spPr>
      </p:sp>
      <p:sp>
        <p:nvSpPr>
          <p:cNvPr id="171012" name="Rectangle 3"/>
          <p:cNvSpPr>
            <a:spLocks noGrp="1" noChangeArrowheads="1"/>
          </p:cNvSpPr>
          <p:nvPr>
            <p:ph type="body" idx="1"/>
          </p:nvPr>
        </p:nvSpPr>
        <p:spPr>
          <a:xfrm>
            <a:off x="946786" y="4859338"/>
            <a:ext cx="5210493" cy="4606925"/>
          </a:xfrm>
          <a:noFill/>
          <a:ln w="9525"/>
        </p:spPr>
        <p:txBody>
          <a:bodyPr/>
          <a:lstStyle/>
          <a:p>
            <a:endParaRPr lang="es-ES"/>
          </a:p>
        </p:txBody>
      </p:sp>
    </p:spTree>
    <p:extLst>
      <p:ext uri="{BB962C8B-B14F-4D97-AF65-F5344CB8AC3E}">
        <p14:creationId xmlns:p14="http://schemas.microsoft.com/office/powerpoint/2010/main" val="1576087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pPr defTabSz="939981"/>
            <a:fld id="{F89806A1-6689-4B83-96AB-8928E7603357}" type="slidenum">
              <a:rPr lang="es-ES" smtClean="0"/>
              <a:pPr defTabSz="939981"/>
              <a:t>92</a:t>
            </a:fld>
            <a:endParaRPr lang="es-ES"/>
          </a:p>
        </p:txBody>
      </p:sp>
      <p:sp>
        <p:nvSpPr>
          <p:cNvPr id="134147" name="Rectangle 2"/>
          <p:cNvSpPr>
            <a:spLocks noGrp="1" noRot="1" noChangeAspect="1" noChangeArrowheads="1" noTextEdit="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endParaRPr lang="es-ES_tradnl"/>
          </a:p>
        </p:txBody>
      </p:sp>
    </p:spTree>
    <p:extLst>
      <p:ext uri="{BB962C8B-B14F-4D97-AF65-F5344CB8AC3E}">
        <p14:creationId xmlns:p14="http://schemas.microsoft.com/office/powerpoint/2010/main" val="24698794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pPr defTabSz="939981"/>
            <a:fld id="{F89806A1-6689-4B83-96AB-8928E7603357}" type="slidenum">
              <a:rPr lang="es-ES" smtClean="0"/>
              <a:pPr defTabSz="939981"/>
              <a:t>93</a:t>
            </a:fld>
            <a:endParaRPr lang="es-ES"/>
          </a:p>
        </p:txBody>
      </p:sp>
      <p:sp>
        <p:nvSpPr>
          <p:cNvPr id="134147" name="Rectangle 2"/>
          <p:cNvSpPr>
            <a:spLocks noGrp="1" noRot="1" noChangeAspect="1" noChangeArrowheads="1" noTextEdit="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endParaRPr lang="es-ES_tradnl"/>
          </a:p>
        </p:txBody>
      </p:sp>
    </p:spTree>
    <p:extLst>
      <p:ext uri="{BB962C8B-B14F-4D97-AF65-F5344CB8AC3E}">
        <p14:creationId xmlns:p14="http://schemas.microsoft.com/office/powerpoint/2010/main" val="297547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pPr defTabSz="939981"/>
            <a:fld id="{F89806A1-6689-4B83-96AB-8928E7603357}" type="slidenum">
              <a:rPr lang="es-ES" smtClean="0"/>
              <a:pPr defTabSz="939981"/>
              <a:t>94</a:t>
            </a:fld>
            <a:endParaRPr lang="es-ES"/>
          </a:p>
        </p:txBody>
      </p:sp>
      <p:sp>
        <p:nvSpPr>
          <p:cNvPr id="134147" name="Rectangle 2"/>
          <p:cNvSpPr>
            <a:spLocks noGrp="1" noRot="1" noChangeAspect="1" noChangeArrowheads="1" noTextEdit="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endParaRPr lang="es-ES_tradnl"/>
          </a:p>
        </p:txBody>
      </p:sp>
    </p:spTree>
    <p:extLst>
      <p:ext uri="{BB962C8B-B14F-4D97-AF65-F5344CB8AC3E}">
        <p14:creationId xmlns:p14="http://schemas.microsoft.com/office/powerpoint/2010/main" val="37197902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pPr defTabSz="939981"/>
            <a:fld id="{4F1F550F-9626-487D-BC07-5A0B870C7D76}" type="slidenum">
              <a:rPr lang="es-ES" smtClean="0"/>
              <a:pPr defTabSz="939981"/>
              <a:t>95</a:t>
            </a:fld>
            <a:endParaRPr lang="es-ES"/>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35111782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pPr defTabSz="939981"/>
            <a:fld id="{29237FEE-A9CC-452C-9CF6-AC70905A3992}" type="slidenum">
              <a:rPr lang="es-ES" smtClean="0">
                <a:solidFill>
                  <a:prstClr val="black"/>
                </a:solidFill>
              </a:rPr>
              <a:pPr defTabSz="939981"/>
              <a:t>98</a:t>
            </a:fld>
            <a:endParaRPr lang="es-ES">
              <a:solidFill>
                <a:prstClr val="black"/>
              </a:solidFill>
            </a:endParaRPr>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40653777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pPr defTabSz="939981"/>
            <a:fld id="{846EF3E9-EEDE-42D2-9F11-3C21349BF54E}" type="slidenum">
              <a:rPr lang="es-ES" smtClean="0"/>
              <a:pPr defTabSz="939981"/>
              <a:t>101</a:t>
            </a:fld>
            <a:endParaRPr lang="es-ES"/>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w="9525"/>
        </p:spPr>
        <p:txBody>
          <a:bodyPr/>
          <a:lstStyle/>
          <a:p>
            <a:endParaRPr lang="es-ES_tradnl"/>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pPr defTabSz="939981"/>
            <a:fld id="{25AE7B15-6AC6-4895-A238-7DE944A3A673}" type="slidenum">
              <a:rPr lang="es-ES" smtClean="0"/>
              <a:pPr defTabSz="939981"/>
              <a:t>105</a:t>
            </a:fld>
            <a:endParaRPr lang="es-ES"/>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5361829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109</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38923428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pPr defTabSz="939981"/>
            <a:fld id="{0C13EC4E-C7E0-477B-AAA6-75E5D550C6F4}" type="slidenum">
              <a:rPr lang="es-ES" smtClean="0"/>
              <a:pPr defTabSz="939981"/>
              <a:t>110</a:t>
            </a:fld>
            <a:endParaRPr lang="es-E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w="9525"/>
        </p:spPr>
        <p:txBody>
          <a:bodyPr/>
          <a:lstStyle/>
          <a:p>
            <a:endParaRPr lang="es-ES_tradnl"/>
          </a:p>
        </p:txBody>
      </p:sp>
    </p:spTree>
    <p:extLst>
      <p:ext uri="{BB962C8B-B14F-4D97-AF65-F5344CB8AC3E}">
        <p14:creationId xmlns:p14="http://schemas.microsoft.com/office/powerpoint/2010/main" val="39521417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pPr defTabSz="939981"/>
            <a:fld id="{3D138F38-0B99-41F3-95D5-A1C33465D2D3}" type="slidenum">
              <a:rPr lang="es-ES" smtClean="0"/>
              <a:pPr defTabSz="939981"/>
              <a:t>111</a:t>
            </a:fld>
            <a:endParaRPr lang="es-ES"/>
          </a:p>
        </p:txBody>
      </p:sp>
      <p:sp>
        <p:nvSpPr>
          <p:cNvPr id="195587" name="Rectangle 2"/>
          <p:cNvSpPr>
            <a:spLocks noGrp="1" noRot="1" noChangeAspect="1" noChangeArrowheads="1" noTextEdit="1"/>
          </p:cNvSpPr>
          <p:nvPr>
            <p:ph type="sldImg"/>
          </p:nvPr>
        </p:nvSpPr>
        <p:spPr>
          <a:xfrm>
            <a:off x="995363" y="769938"/>
            <a:ext cx="5114925" cy="3835400"/>
          </a:xfrm>
          <a:ln/>
        </p:spPr>
      </p:sp>
      <p:sp>
        <p:nvSpPr>
          <p:cNvPr id="195588" name="Rectangle 3"/>
          <p:cNvSpPr>
            <a:spLocks noGrp="1" noChangeArrowheads="1"/>
          </p:cNvSpPr>
          <p:nvPr>
            <p:ph type="body" idx="1"/>
          </p:nvPr>
        </p:nvSpPr>
        <p:spPr>
          <a:xfrm>
            <a:off x="946786" y="4859338"/>
            <a:ext cx="5210493" cy="4606925"/>
          </a:xfrm>
          <a:noFill/>
          <a:ln w="9525"/>
        </p:spPr>
        <p:txBody>
          <a:bodyPr/>
          <a:lstStyle/>
          <a:p>
            <a:endParaRPr lang="es-ES"/>
          </a:p>
        </p:txBody>
      </p:sp>
    </p:spTree>
    <p:extLst>
      <p:ext uri="{BB962C8B-B14F-4D97-AF65-F5344CB8AC3E}">
        <p14:creationId xmlns:p14="http://schemas.microsoft.com/office/powerpoint/2010/main" val="38446092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112</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9478200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pPr defTabSz="939981"/>
            <a:fld id="{E1A9DE10-1FCC-4BEE-97EA-3F3F20C1CFCC}" type="slidenum">
              <a:rPr lang="es-ES" smtClean="0"/>
              <a:pPr defTabSz="939981"/>
              <a:t>113</a:t>
            </a:fld>
            <a:endParaRPr lang="es-ES"/>
          </a:p>
        </p:txBody>
      </p:sp>
      <p:sp>
        <p:nvSpPr>
          <p:cNvPr id="197635" name="Rectangle 2"/>
          <p:cNvSpPr>
            <a:spLocks noGrp="1" noRot="1" noChangeAspect="1" noChangeArrowheads="1" noTextEdit="1"/>
          </p:cNvSpPr>
          <p:nvPr>
            <p:ph type="sldImg"/>
          </p:nvPr>
        </p:nvSpPr>
        <p:spPr>
          <a:xfrm>
            <a:off x="1017588" y="806450"/>
            <a:ext cx="5070475" cy="3803650"/>
          </a:xfrm>
          <a:ln/>
        </p:spPr>
      </p:sp>
      <p:sp>
        <p:nvSpPr>
          <p:cNvPr id="197636" name="Rectangle 3"/>
          <p:cNvSpPr>
            <a:spLocks noGrp="1" noChangeArrowheads="1"/>
          </p:cNvSpPr>
          <p:nvPr>
            <p:ph type="body" idx="1"/>
          </p:nvPr>
        </p:nvSpPr>
        <p:spPr>
          <a:xfrm>
            <a:off x="945197" y="4868863"/>
            <a:ext cx="5213670" cy="4602162"/>
          </a:xfrm>
          <a:noFill/>
          <a:ln w="9525"/>
        </p:spPr>
        <p:txBody>
          <a:bodyPr/>
          <a:lstStyle/>
          <a:p>
            <a:endParaRPr lang="es-ES_tradnl" altLang="es-ES_tradnl"/>
          </a:p>
        </p:txBody>
      </p:sp>
    </p:spTree>
    <p:extLst>
      <p:ext uri="{BB962C8B-B14F-4D97-AF65-F5344CB8AC3E}">
        <p14:creationId xmlns:p14="http://schemas.microsoft.com/office/powerpoint/2010/main" val="33997836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114</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9617594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pPr defTabSz="939981"/>
            <a:fld id="{82B664E8-5FF2-41B3-827F-87C02752EA1E}" type="slidenum">
              <a:rPr lang="es-ES" smtClean="0"/>
              <a:pPr defTabSz="939981"/>
              <a:t>115</a:t>
            </a:fld>
            <a:endParaRPr lang="es-ES"/>
          </a:p>
        </p:txBody>
      </p:sp>
      <p:sp>
        <p:nvSpPr>
          <p:cNvPr id="200707" name="Rectangle 2"/>
          <p:cNvSpPr>
            <a:spLocks noGrp="1" noRot="1" noChangeAspect="1" noChangeArrowheads="1" noTextEdit="1"/>
          </p:cNvSpPr>
          <p:nvPr>
            <p:ph type="sldImg"/>
          </p:nvPr>
        </p:nvSpPr>
        <p:spPr>
          <a:xfrm>
            <a:off x="1019175" y="809625"/>
            <a:ext cx="5067300" cy="3800475"/>
          </a:xfrm>
          <a:ln/>
        </p:spPr>
      </p:sp>
      <p:sp>
        <p:nvSpPr>
          <p:cNvPr id="200708" name="Rectangle 3"/>
          <p:cNvSpPr>
            <a:spLocks noGrp="1" noChangeArrowheads="1"/>
          </p:cNvSpPr>
          <p:nvPr>
            <p:ph type="body" idx="1"/>
          </p:nvPr>
        </p:nvSpPr>
        <p:spPr>
          <a:xfrm>
            <a:off x="946786" y="4868863"/>
            <a:ext cx="5210493" cy="4603750"/>
          </a:xfrm>
          <a:noFill/>
          <a:ln w="9525"/>
        </p:spPr>
        <p:txBody>
          <a:bodyPr/>
          <a:lstStyle/>
          <a:p>
            <a:endParaRPr lang="es-ES_tradnl"/>
          </a:p>
        </p:txBody>
      </p:sp>
    </p:spTree>
    <p:extLst>
      <p:ext uri="{BB962C8B-B14F-4D97-AF65-F5344CB8AC3E}">
        <p14:creationId xmlns:p14="http://schemas.microsoft.com/office/powerpoint/2010/main" val="29029263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pPr defTabSz="939981"/>
            <a:fld id="{E1A9DE10-1FCC-4BEE-97EA-3F3F20C1CFCC}" type="slidenum">
              <a:rPr lang="es-ES" smtClean="0"/>
              <a:pPr defTabSz="939981"/>
              <a:t>116</a:t>
            </a:fld>
            <a:endParaRPr lang="es-ES"/>
          </a:p>
        </p:txBody>
      </p:sp>
      <p:sp>
        <p:nvSpPr>
          <p:cNvPr id="197635" name="Rectangle 2"/>
          <p:cNvSpPr>
            <a:spLocks noGrp="1" noRot="1" noChangeAspect="1" noChangeArrowheads="1" noTextEdit="1"/>
          </p:cNvSpPr>
          <p:nvPr>
            <p:ph type="sldImg"/>
          </p:nvPr>
        </p:nvSpPr>
        <p:spPr>
          <a:xfrm>
            <a:off x="1017588" y="806450"/>
            <a:ext cx="5070475" cy="3803650"/>
          </a:xfrm>
          <a:ln/>
        </p:spPr>
      </p:sp>
      <p:sp>
        <p:nvSpPr>
          <p:cNvPr id="197636" name="Rectangle 3"/>
          <p:cNvSpPr>
            <a:spLocks noGrp="1" noChangeArrowheads="1"/>
          </p:cNvSpPr>
          <p:nvPr>
            <p:ph type="body" idx="1"/>
          </p:nvPr>
        </p:nvSpPr>
        <p:spPr>
          <a:xfrm>
            <a:off x="945197" y="4868863"/>
            <a:ext cx="5213670" cy="4602162"/>
          </a:xfrm>
          <a:noFill/>
          <a:ln w="9525"/>
        </p:spPr>
        <p:txBody>
          <a:bodyPr/>
          <a:lstStyle/>
          <a:p>
            <a:endParaRPr lang="es-ES_tradnl" altLang="es-ES_tradnl"/>
          </a:p>
        </p:txBody>
      </p:sp>
    </p:spTree>
    <p:extLst>
      <p:ext uri="{BB962C8B-B14F-4D97-AF65-F5344CB8AC3E}">
        <p14:creationId xmlns:p14="http://schemas.microsoft.com/office/powerpoint/2010/main" val="3402885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pPr defTabSz="939981"/>
            <a:fld id="{8A574E48-6994-4094-AD25-275915842B42}" type="slidenum">
              <a:rPr lang="es-ES" smtClean="0"/>
              <a:pPr defTabSz="939981"/>
              <a:t>117</a:t>
            </a:fld>
            <a:endParaRPr lang="es-E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40480878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w="3175"/>
        </p:spPr>
        <p:txBody>
          <a:bodyPr/>
          <a:lstStyle/>
          <a:p>
            <a:pPr defTabSz="946333"/>
            <a:fld id="{76CD7781-F68A-45FF-A46E-D59CF87D5F8D}" type="slidenum">
              <a:rPr lang="es-ES">
                <a:latin typeface="Arial" pitchFamily="34" charset="0"/>
              </a:rPr>
              <a:pPr defTabSz="946333"/>
              <a:t>118</a:t>
            </a:fld>
            <a:endParaRPr lang="es-ES">
              <a:latin typeface="Arial" pitchFamily="3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r>
              <a:rPr lang="es-ES" dirty="0">
                <a:ea typeface="ＭＳ Ｐゴシック" charset="-128"/>
              </a:rPr>
              <a:t>Extraído de TCO para comparar. No tiene mucho</a:t>
            </a:r>
            <a:r>
              <a:rPr lang="es-ES" baseline="0" dirty="0">
                <a:ea typeface="ＭＳ Ｐゴシック" charset="-128"/>
              </a:rPr>
              <a:t> sentido repetir lo misma. Pero </a:t>
            </a:r>
            <a:endParaRPr lang="es-ES" dirty="0">
              <a:ea typeface="ＭＳ Ｐゴシック" charset="-128"/>
            </a:endParaRPr>
          </a:p>
        </p:txBody>
      </p:sp>
    </p:spTree>
    <p:extLst>
      <p:ext uri="{BB962C8B-B14F-4D97-AF65-F5344CB8AC3E}">
        <p14:creationId xmlns:p14="http://schemas.microsoft.com/office/powerpoint/2010/main" val="21340676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pPr defTabSz="939981"/>
            <a:fld id="{481D94A5-54E0-4D71-91E2-636B1434D462}" type="slidenum">
              <a:rPr lang="es-ES" smtClean="0"/>
              <a:pPr defTabSz="939981"/>
              <a:t>119</a:t>
            </a:fld>
            <a:endParaRPr lang="es-ES"/>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0199677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pPr defTabSz="939981"/>
            <a:fld id="{CCADB906-AA93-405B-9323-55175ECBF6AA}" type="slidenum">
              <a:rPr lang="es-ES" smtClean="0"/>
              <a:pPr defTabSz="939981"/>
              <a:t>122</a:t>
            </a:fld>
            <a:endParaRPr lang="es-ES"/>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w="9525"/>
        </p:spPr>
        <p:txBody>
          <a:bodyPr/>
          <a:lstStyle/>
          <a:p>
            <a:r>
              <a:rPr lang="es-ES" dirty="0"/>
              <a:t>DDR3-800; PC3-6400; reloj</a:t>
            </a:r>
            <a:r>
              <a:rPr lang="es-ES" baseline="0" dirty="0"/>
              <a:t> interno memoria 100 MHz</a:t>
            </a:r>
            <a:r>
              <a:rPr lang="es-ES" baseline="0"/>
              <a:t>; reloj IO  400 MHz</a:t>
            </a:r>
            <a:endParaRPr lang="es-ES"/>
          </a:p>
        </p:txBody>
      </p:sp>
    </p:spTree>
    <p:extLst>
      <p:ext uri="{BB962C8B-B14F-4D97-AF65-F5344CB8AC3E}">
        <p14:creationId xmlns:p14="http://schemas.microsoft.com/office/powerpoint/2010/main" val="27109391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Marcador de imagen de diapositiva 1"/>
          <p:cNvSpPr>
            <a:spLocks noGrp="1" noRot="1" noChangeAspect="1" noTextEdit="1"/>
          </p:cNvSpPr>
          <p:nvPr>
            <p:ph type="sldImg"/>
          </p:nvPr>
        </p:nvSpPr>
        <p:spPr>
          <a:ln/>
        </p:spPr>
      </p:sp>
      <p:sp>
        <p:nvSpPr>
          <p:cNvPr id="132099" name="Marcador de notas 2"/>
          <p:cNvSpPr>
            <a:spLocks noGrp="1"/>
          </p:cNvSpPr>
          <p:nvPr>
            <p:ph type="body" idx="1"/>
          </p:nvPr>
        </p:nvSpPr>
        <p:spPr>
          <a:noFill/>
          <a:ln/>
        </p:spPr>
        <p:txBody>
          <a:bodyPr wrap="square"/>
          <a:lstStyle/>
          <a:p>
            <a:pPr>
              <a:lnSpc>
                <a:spcPct val="90000"/>
              </a:lnSpc>
            </a:pPr>
            <a:r>
              <a:rPr lang="es-ES" sz="1100" dirty="0">
                <a:ea typeface="ＭＳ Ｐゴシック" charset="-128"/>
              </a:rPr>
              <a:t>DDR SDRAM</a:t>
            </a:r>
          </a:p>
          <a:p>
            <a:pPr>
              <a:lnSpc>
                <a:spcPct val="90000"/>
              </a:lnSpc>
            </a:pPr>
            <a:r>
              <a:rPr lang="es-ES" sz="1100" dirty="0">
                <a:ea typeface="ＭＳ Ｐゴシック" charset="-128"/>
              </a:rPr>
              <a:t>Memoria síncrona, envía los datos dos veces por cada ciclo de reloj. De este modo trabaja al doble de velocidad del bus del sistema, sin necesidad de aumentar la frecuencia de reloj. DDR (</a:t>
            </a:r>
            <a:r>
              <a:rPr lang="es-ES" sz="1100" dirty="0" err="1">
                <a:ea typeface="ＭＳ Ｐゴシック" charset="-128"/>
              </a:rPr>
              <a:t>Double</a:t>
            </a:r>
            <a:r>
              <a:rPr lang="es-ES" sz="1100" dirty="0">
                <a:ea typeface="ＭＳ Ｐゴシック" charset="-128"/>
              </a:rPr>
              <a:t> Data </a:t>
            </a:r>
            <a:r>
              <a:rPr lang="es-ES" sz="1100" dirty="0" err="1">
                <a:ea typeface="ＭＳ Ｐゴシック" charset="-128"/>
              </a:rPr>
              <a:t>Rate</a:t>
            </a:r>
            <a:r>
              <a:rPr lang="es-ES" sz="1100" dirty="0">
                <a:ea typeface="ＭＳ Ｐゴシック" charset="-128"/>
              </a:rPr>
              <a:t>) significa doble tasa de transferencia de datos en español. Son módulos de memoria RAM compuestos por memorias	síncronas (SDRAM), disponibles en encapsulado DIMM, que permite la transferencia de datos por dos canales distintos simultáneamente en un mismo ciclo de reloj. Los módulos DDR soportan una capacidad máxima de 1 GiB (1.073.741.824 bytes).</a:t>
            </a:r>
          </a:p>
          <a:p>
            <a:pPr>
              <a:lnSpc>
                <a:spcPct val="90000"/>
              </a:lnSpc>
            </a:pPr>
            <a:r>
              <a:rPr lang="es-ES" sz="1100" dirty="0">
                <a:ea typeface="ＭＳ Ｐゴシック" charset="-128"/>
              </a:rPr>
              <a:t>Fueron primero adoptadas en sistemas equipados con procesadores AMD Athlon. Intel con su Pentium 4 en un principio utilizó  únicamente memorias RAMBUS, más costosas. Ante el avance en ventas y buen rendimiento de los sistemas AMD basados en DDR SDRAM, Intel se vio obligado a cambiar su estrategia y utilizar memoria DDR, lo que le permitió competir en precio. Son compatibles con los procesadores de Intel Pentium 4 que disponen de un Front </a:t>
            </a:r>
            <a:r>
              <a:rPr lang="es-ES" sz="1100" dirty="0" err="1">
                <a:ea typeface="ＭＳ Ｐゴシック" charset="-128"/>
              </a:rPr>
              <a:t>Side</a:t>
            </a:r>
            <a:r>
              <a:rPr lang="es-ES" sz="1100" dirty="0">
                <a:ea typeface="ＭＳ Ｐゴシック" charset="-128"/>
              </a:rPr>
              <a:t> Bus (FSB) de 64 bits de datos y frecuencias de reloj desde 200 a 400 MHz.</a:t>
            </a:r>
          </a:p>
          <a:p>
            <a:pPr>
              <a:lnSpc>
                <a:spcPct val="90000"/>
              </a:lnSpc>
            </a:pPr>
            <a:r>
              <a:rPr lang="es-ES" sz="1100" dirty="0">
                <a:ea typeface="ＭＳ Ｐゴシック" charset="-128"/>
              </a:rPr>
              <a:t>También se utiliza la nomenclatura PC1600 a PC4800, ya que pueden transferir un volumen de información de 8 bytes en cada ciclo de reloj a las frecuencias descritas.</a:t>
            </a:r>
          </a:p>
          <a:p>
            <a:pPr>
              <a:lnSpc>
                <a:spcPct val="90000"/>
              </a:lnSpc>
            </a:pPr>
            <a:r>
              <a:rPr lang="es-ES" sz="1100" dirty="0">
                <a:ea typeface="ＭＳ Ｐゴシック" charset="-128"/>
              </a:rPr>
              <a:t>Un ejemplo de calculo para PC-1600: 100 MHz x 2 Datos por Ciclo x 8 B = 1600 MB/s = 1600000000 bytes/s</a:t>
            </a:r>
          </a:p>
          <a:p>
            <a:pPr>
              <a:lnSpc>
                <a:spcPct val="90000"/>
              </a:lnSpc>
            </a:pPr>
            <a:endParaRPr lang="es-ES" sz="1100" dirty="0">
              <a:ea typeface="ＭＳ Ｐゴシック" charset="-128"/>
            </a:endParaRPr>
          </a:p>
          <a:p>
            <a:pPr>
              <a:lnSpc>
                <a:spcPct val="90000"/>
              </a:lnSpc>
            </a:pPr>
            <a:r>
              <a:rPr lang="es-ES" sz="1100" dirty="0">
                <a:ea typeface="ＭＳ Ｐゴシック" charset="-128"/>
              </a:rPr>
              <a:t>Los </a:t>
            </a:r>
            <a:r>
              <a:rPr lang="es-ES" sz="1100" dirty="0" err="1">
                <a:ea typeface="ＭＳ Ｐゴシック" charset="-128"/>
              </a:rPr>
              <a:t>DIMMs</a:t>
            </a:r>
            <a:r>
              <a:rPr lang="es-ES" sz="1100" dirty="0">
                <a:ea typeface="ＭＳ Ｐゴシック" charset="-128"/>
              </a:rPr>
              <a:t> DDR SDRAM tienen 184 </a:t>
            </a:r>
            <a:r>
              <a:rPr lang="es-ES" sz="1100" dirty="0" err="1">
                <a:ea typeface="ＭＳ Ｐゴシック" charset="-128"/>
              </a:rPr>
              <a:t>pin,es</a:t>
            </a:r>
            <a:r>
              <a:rPr lang="es-ES" sz="1100" dirty="0">
                <a:ea typeface="ＭＳ Ｐゴシック" charset="-128"/>
              </a:rPr>
              <a:t> (en comparación con los 168 pines en el SDRAM, o los 240 pines en el DDR2 SDRAM), y pueden ser diferenciados de los </a:t>
            </a:r>
            <a:r>
              <a:rPr lang="es-ES" sz="1100" dirty="0" err="1">
                <a:ea typeface="ＭＳ Ｐゴシック" charset="-128"/>
              </a:rPr>
              <a:t>DIMMs</a:t>
            </a:r>
            <a:r>
              <a:rPr lang="es-ES" sz="1100" dirty="0">
                <a:ea typeface="ＭＳ Ｐゴシック" charset="-128"/>
              </a:rPr>
              <a:t> SDRAM por el número de muescas (el DDR SDRAM tiene una, y el SDRAM tiene dos). El DDR SDRAM funciona con un voltaje de 2,5 V, comparado a 3,3 V para el SDRAM. Esto puede reducir perceptiblemente el consumo de energía. Nota: algunos </a:t>
            </a:r>
            <a:r>
              <a:rPr lang="es-ES" sz="1100" dirty="0" err="1">
                <a:ea typeface="ＭＳ Ｐゴシック" charset="-128"/>
              </a:rPr>
              <a:t>DIMMs</a:t>
            </a:r>
            <a:r>
              <a:rPr lang="es-ES" sz="1100" dirty="0">
                <a:ea typeface="ＭＳ Ｐゴシック" charset="-128"/>
              </a:rPr>
              <a:t> tiene un voltaje nominal de 2,6 o 2,7 V.</a:t>
            </a:r>
          </a:p>
          <a:p>
            <a:pPr>
              <a:lnSpc>
                <a:spcPct val="90000"/>
              </a:lnSpc>
            </a:pPr>
            <a:endParaRPr lang="es-ES" sz="1100" dirty="0">
              <a:ea typeface="ＭＳ Ｐゴシック" charset="-128"/>
            </a:endParaRPr>
          </a:p>
        </p:txBody>
      </p:sp>
      <p:sp>
        <p:nvSpPr>
          <p:cNvPr id="132100" name="Marcador de número de diapositiva 3"/>
          <p:cNvSpPr>
            <a:spLocks noGrp="1"/>
          </p:cNvSpPr>
          <p:nvPr>
            <p:ph type="sldNum" sz="quarter" idx="5"/>
          </p:nvPr>
        </p:nvSpPr>
        <p:spPr>
          <a:noFill/>
        </p:spPr>
        <p:txBody>
          <a:bodyPr/>
          <a:lstStyle/>
          <a:p>
            <a:fld id="{6396EC8C-FC78-4997-BCCC-92DA54FDB39A}" type="slidenum">
              <a:rPr lang="es-ES_tradnl" smtClean="0"/>
              <a:pPr/>
              <a:t>123</a:t>
            </a:fld>
            <a:endParaRPr lang="es-ES_tradnl"/>
          </a:p>
        </p:txBody>
      </p:sp>
    </p:spTree>
    <p:extLst>
      <p:ext uri="{BB962C8B-B14F-4D97-AF65-F5344CB8AC3E}">
        <p14:creationId xmlns:p14="http://schemas.microsoft.com/office/powerpoint/2010/main" val="136622826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Marcador de imagen de diapositiva 1"/>
          <p:cNvSpPr>
            <a:spLocks noGrp="1" noRot="1" noChangeAspect="1" noTextEdit="1"/>
          </p:cNvSpPr>
          <p:nvPr>
            <p:ph type="sldImg"/>
          </p:nvPr>
        </p:nvSpPr>
        <p:spPr>
          <a:ln/>
        </p:spPr>
      </p:sp>
      <p:sp>
        <p:nvSpPr>
          <p:cNvPr id="133123" name="Marcador de notas 2"/>
          <p:cNvSpPr>
            <a:spLocks noGrp="1"/>
          </p:cNvSpPr>
          <p:nvPr>
            <p:ph type="body" idx="1"/>
          </p:nvPr>
        </p:nvSpPr>
        <p:spPr>
          <a:noFill/>
          <a:ln/>
        </p:spPr>
        <p:txBody>
          <a:bodyPr wrap="square"/>
          <a:lstStyle/>
          <a:p>
            <a:r>
              <a:rPr lang="es-ES">
                <a:ea typeface="ＭＳ Ｐゴシック" charset="-128"/>
              </a:rPr>
              <a:t>DDR2 SDRAM</a:t>
            </a:r>
          </a:p>
          <a:p>
            <a:r>
              <a:rPr lang="es-ES">
                <a:ea typeface="ＭＳ Ｐゴシック" charset="-128"/>
              </a:rPr>
              <a:t>Las memorias DDR 2 son una mejora de las memorias DDR (Double Data Rate), que permiten que los búferes de entrada/salida trabajen al doble de la frecuencia del núcleo, permitiendo que durante cada ciclo de reloj se realicen cuatro transferencias. Se presentan en módulos DIMM de 240 contactos.</a:t>
            </a:r>
          </a:p>
          <a:p>
            <a:r>
              <a:rPr lang="es-ES">
                <a:ea typeface="ＭＳ Ｐゴシック" charset="-128"/>
              </a:rPr>
              <a:t>•Operan tanto en el flanco alto del reloj como en el bajo, en los puntos de 0 voltios y 1,8 voltios, lo que reduce el consumo de energía en aproximadamente el 50 por ciento del consumo de las DDR, que trabajaban a 0 voltios y a 2,5.</a:t>
            </a:r>
          </a:p>
          <a:p>
            <a:r>
              <a:rPr lang="es-ES">
                <a:ea typeface="ＭＳ Ｐゴシック" charset="-128"/>
              </a:rPr>
              <a:t>•Terminación de señal de memoria dentro del chip de la memoria ("Terminación integrada" u ODT) para evitar errores de transmisión de señal reflejada.</a:t>
            </a:r>
          </a:p>
          <a:p>
            <a:r>
              <a:rPr lang="es-ES">
                <a:ea typeface="ＭＳ Ｐゴシック" charset="-128"/>
              </a:rPr>
              <a:t>Para usar en PC, las DDR2 SDRAM son suministradas en tarjetas de memoria DIMMs con 240 pines y una localización con una sola ranura. Las tarjetas DIMM son identificadas por su máxima capacidad de transferencia (usualmente llamado ancho de banda).</a:t>
            </a:r>
          </a:p>
          <a:p>
            <a:endParaRPr lang="es-ES">
              <a:ea typeface="ＭＳ Ｐゴシック" charset="-128"/>
            </a:endParaRPr>
          </a:p>
          <a:p>
            <a:r>
              <a:rPr lang="es-ES">
                <a:ea typeface="ＭＳ Ｐゴシック" charset="-128"/>
              </a:rPr>
              <a:t>Nota: DDR2-xxx indica la velocidad de reloj efectiva, mientras que PC2-xxxx indica el ancho de banda teórico (aunque suele estar redondeado). El ancho de banda se calcula multiplicando la velocidad de reloj E/S por ocho, ya que la DDR2 (como la DDR) es una memoria de 64 bits, hay 8 bits en un byte, y 64 es 8 por 8 y por último por 2 (doble tasa de transferencia), esto se empezó a usar para mostrar la velocidad de transferencia frente a las memorias "Rambus" que eran mas rápidas en sus ciclos de reloj operación, pero solo eran de 16 bits</a:t>
            </a:r>
          </a:p>
          <a:p>
            <a:endParaRPr lang="es-ES">
              <a:ea typeface="ＭＳ Ｐゴシック" charset="-128"/>
            </a:endParaRPr>
          </a:p>
        </p:txBody>
      </p:sp>
      <p:sp>
        <p:nvSpPr>
          <p:cNvPr id="133124" name="Marcador de número de diapositiva 3"/>
          <p:cNvSpPr>
            <a:spLocks noGrp="1"/>
          </p:cNvSpPr>
          <p:nvPr>
            <p:ph type="sldNum" sz="quarter" idx="5"/>
          </p:nvPr>
        </p:nvSpPr>
        <p:spPr>
          <a:noFill/>
        </p:spPr>
        <p:txBody>
          <a:bodyPr/>
          <a:lstStyle/>
          <a:p>
            <a:fld id="{18F5A413-40F5-4159-8510-642D47FD6335}" type="slidenum">
              <a:rPr lang="es-ES_tradnl" smtClean="0"/>
              <a:pPr/>
              <a:t>124</a:t>
            </a:fld>
            <a:endParaRPr lang="es-ES_tradnl"/>
          </a:p>
        </p:txBody>
      </p:sp>
    </p:spTree>
    <p:extLst>
      <p:ext uri="{BB962C8B-B14F-4D97-AF65-F5344CB8AC3E}">
        <p14:creationId xmlns:p14="http://schemas.microsoft.com/office/powerpoint/2010/main" val="34856452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Marcador de imagen de diapositiva 1"/>
          <p:cNvSpPr>
            <a:spLocks noGrp="1" noRot="1" noChangeAspect="1" noTextEdit="1"/>
          </p:cNvSpPr>
          <p:nvPr>
            <p:ph type="sldImg"/>
          </p:nvPr>
        </p:nvSpPr>
        <p:spPr>
          <a:ln/>
        </p:spPr>
      </p:sp>
      <p:sp>
        <p:nvSpPr>
          <p:cNvPr id="134147" name="Marcador de notas 2"/>
          <p:cNvSpPr>
            <a:spLocks noGrp="1"/>
          </p:cNvSpPr>
          <p:nvPr>
            <p:ph type="body" idx="1"/>
          </p:nvPr>
        </p:nvSpPr>
        <p:spPr>
          <a:noFill/>
          <a:ln/>
        </p:spPr>
        <p:txBody>
          <a:bodyPr wrap="square"/>
          <a:lstStyle/>
          <a:p>
            <a:pPr>
              <a:lnSpc>
                <a:spcPct val="80000"/>
              </a:lnSpc>
            </a:pPr>
            <a:r>
              <a:rPr lang="fr-FR" sz="1100">
                <a:ea typeface="ＭＳ Ｐゴシック" charset="-128"/>
              </a:rPr>
              <a:t>DDR3 SDRAM</a:t>
            </a:r>
          </a:p>
          <a:p>
            <a:pPr>
              <a:lnSpc>
                <a:spcPct val="80000"/>
              </a:lnSpc>
            </a:pPr>
            <a:r>
              <a:rPr lang="fr-FR" sz="1100">
                <a:ea typeface="ＭＳ Ｐゴシック" charset="-128"/>
              </a:rPr>
              <a:t>Las memorias DDR 3 son una mejora de las memorias DDR 2, proporcionan significantes mejoras en el rendimiento en niveles de bajo voltaje, lo que lleva consigo una disminución del gasto global de consumo. Los módulos DIMM DDR 3 tienen 240 pines, el mismo número que DDR 2; sin embargo, los DIMMs son físicamente incompatibles, debido a una ubicación diferente de la muesca</a:t>
            </a:r>
            <a:endParaRPr lang="es-ES" sz="1100">
              <a:ea typeface="ＭＳ Ｐゴシック" charset="-128"/>
            </a:endParaRPr>
          </a:p>
          <a:p>
            <a:pPr>
              <a:lnSpc>
                <a:spcPct val="80000"/>
              </a:lnSpc>
            </a:pPr>
            <a:endParaRPr lang="es-ES" sz="1100">
              <a:ea typeface="ＭＳ Ｐゴシック" charset="-128"/>
            </a:endParaRPr>
          </a:p>
          <a:p>
            <a:pPr>
              <a:lnSpc>
                <a:spcPct val="80000"/>
              </a:lnSpc>
            </a:pPr>
            <a:r>
              <a:rPr lang="es-ES" sz="1100">
                <a:ea typeface="ＭＳ Ｐゴシック" charset="-128"/>
              </a:rPr>
              <a:t>La principal carácterística diferencial de la DDR3 es la habilidad de hacer transferencias de datos ocho veces más rápido, esto nos permite obtener velocidades pico de transferencia y velocidades de bus más altas que las versiones DDR anteriores. (Sin embargo, no hay una reducción en la latencia, la cual es proporcionalmente más alta). </a:t>
            </a:r>
          </a:p>
          <a:p>
            <a:pPr>
              <a:lnSpc>
                <a:spcPct val="80000"/>
              </a:lnSpc>
            </a:pPr>
            <a:r>
              <a:rPr lang="es-ES" sz="1100">
                <a:ea typeface="ＭＳ Ｐゴシック" charset="-128"/>
              </a:rPr>
              <a:t>Además la DDR3 permite usar integrados de 512 megabits a 8 gigabytes, siendo posible fabricar módulos de hasta 16 Gb.</a:t>
            </a:r>
          </a:p>
          <a:p>
            <a:pPr>
              <a:lnSpc>
                <a:spcPct val="80000"/>
              </a:lnSpc>
            </a:pPr>
            <a:r>
              <a:rPr lang="es-ES" sz="1100">
                <a:ea typeface="ＭＳ Ｐゴシック" charset="-128"/>
              </a:rPr>
              <a:t>Teóricamente, estos módulos pueden transferir datos a una tasa de reloj efectiva de 800-2600 MHz, comparado con el rango actual del DDR2 de 533-1200 MHz ó 200-400 MHz del DDR. Existen módulos de memoria DDR y DDR2 de mayor frecuencia pero no estandarizados por JEDEC.</a:t>
            </a:r>
          </a:p>
          <a:p>
            <a:pPr>
              <a:lnSpc>
                <a:spcPct val="80000"/>
              </a:lnSpc>
            </a:pPr>
            <a:r>
              <a:rPr lang="es-ES" sz="1100">
                <a:ea typeface="ＭＳ Ｐゴシック" charset="-128"/>
              </a:rPr>
              <a:t>Si bien las latencias típicas DDR2 fueron 5-5-5-15 para el estándar JEDEC para dispositivos DDR3 son 7-7-7-20 para DDR3-1066 y 7-7-7-24 para DDR3-1333.</a:t>
            </a:r>
          </a:p>
          <a:p>
            <a:pPr>
              <a:lnSpc>
                <a:spcPct val="80000"/>
              </a:lnSpc>
            </a:pPr>
            <a:endParaRPr lang="es-ES" sz="1100">
              <a:ea typeface="ＭＳ Ｐゴシック" charset="-128"/>
            </a:endParaRPr>
          </a:p>
          <a:p>
            <a:pPr>
              <a:lnSpc>
                <a:spcPct val="80000"/>
              </a:lnSpc>
            </a:pPr>
            <a:r>
              <a:rPr lang="es-ES" sz="1100">
                <a:ea typeface="ＭＳ Ｐゴシック" charset="-128"/>
              </a:rPr>
              <a:t>La memoria GDDR3, con un nombre similar pero con una tecnología completamente distinta, ha sido usada durante varios años en tarjetas gráficas de gama alta como las series GeForce 6x00 ó ATI Radeon X800 Pro, y es la utilizada como memoria principal de la Xbox 360. A veces es incorrectamente citada como "DDR3".</a:t>
            </a:r>
          </a:p>
          <a:p>
            <a:pPr>
              <a:lnSpc>
                <a:spcPct val="80000"/>
              </a:lnSpc>
            </a:pPr>
            <a:endParaRPr lang="es-ES" sz="1100">
              <a:ea typeface="ＭＳ Ｐゴシック" charset="-128"/>
            </a:endParaRPr>
          </a:p>
          <a:p>
            <a:pPr>
              <a:lnSpc>
                <a:spcPct val="80000"/>
              </a:lnSpc>
            </a:pPr>
            <a:r>
              <a:rPr lang="es-ES" sz="1100">
                <a:ea typeface="ＭＳ Ｐゴシック" charset="-128"/>
              </a:rPr>
              <a:t>Considerado el sucesor de la actual memoria estándar DDR2, DDR3 promete proporcionar significativas mejoras en el rendimiento en niveles de bajo voltaje, lo que lleva consigo una disminución del gasto global de consumo.</a:t>
            </a:r>
          </a:p>
        </p:txBody>
      </p:sp>
      <p:sp>
        <p:nvSpPr>
          <p:cNvPr id="134148" name="Marcador de número de diapositiva 3"/>
          <p:cNvSpPr>
            <a:spLocks noGrp="1"/>
          </p:cNvSpPr>
          <p:nvPr>
            <p:ph type="sldNum" sz="quarter" idx="5"/>
          </p:nvPr>
        </p:nvSpPr>
        <p:spPr>
          <a:noFill/>
        </p:spPr>
        <p:txBody>
          <a:bodyPr/>
          <a:lstStyle/>
          <a:p>
            <a:fld id="{609EB48F-19A5-4E24-BCC0-F5EB416DD074}" type="slidenum">
              <a:rPr lang="es-ES_tradnl" smtClean="0"/>
              <a:pPr/>
              <a:t>125</a:t>
            </a:fld>
            <a:endParaRPr lang="es-ES_tradnl"/>
          </a:p>
        </p:txBody>
      </p:sp>
    </p:spTree>
    <p:extLst>
      <p:ext uri="{BB962C8B-B14F-4D97-AF65-F5344CB8AC3E}">
        <p14:creationId xmlns:p14="http://schemas.microsoft.com/office/powerpoint/2010/main" val="4806307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pPr defTabSz="939981"/>
            <a:fld id="{FEFD6C86-3981-4672-AD6F-BBB00AAD4BDE}" type="slidenum">
              <a:rPr lang="es-ES" smtClean="0"/>
              <a:pPr defTabSz="939981"/>
              <a:t>127</a:t>
            </a:fld>
            <a:endParaRPr lang="es-ES"/>
          </a:p>
        </p:txBody>
      </p:sp>
      <p:sp>
        <p:nvSpPr>
          <p:cNvPr id="206851" name="Rectangle 2"/>
          <p:cNvSpPr>
            <a:spLocks noGrp="1" noRot="1" noChangeAspect="1" noChangeArrowheads="1" noTextEdit="1"/>
          </p:cNvSpPr>
          <p:nvPr>
            <p:ph type="sldImg"/>
          </p:nvPr>
        </p:nvSpPr>
        <p:spPr>
          <a:xfrm>
            <a:off x="995363" y="769938"/>
            <a:ext cx="5114925" cy="3835400"/>
          </a:xfrm>
          <a:ln/>
        </p:spPr>
      </p:sp>
      <p:sp>
        <p:nvSpPr>
          <p:cNvPr id="206852" name="Rectangle 3"/>
          <p:cNvSpPr>
            <a:spLocks noGrp="1" noChangeArrowheads="1"/>
          </p:cNvSpPr>
          <p:nvPr>
            <p:ph type="body" idx="1"/>
          </p:nvPr>
        </p:nvSpPr>
        <p:spPr>
          <a:xfrm>
            <a:off x="946786" y="4857751"/>
            <a:ext cx="5210493" cy="4608513"/>
          </a:xfrm>
          <a:noFill/>
          <a:ln w="9525"/>
        </p:spPr>
        <p:txBody>
          <a:bodyPr/>
          <a:lstStyle/>
          <a:p>
            <a:endParaRPr lang="es-ES"/>
          </a:p>
        </p:txBody>
      </p:sp>
    </p:spTree>
    <p:extLst>
      <p:ext uri="{BB962C8B-B14F-4D97-AF65-F5344CB8AC3E}">
        <p14:creationId xmlns:p14="http://schemas.microsoft.com/office/powerpoint/2010/main" val="602850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pPr defTabSz="939981"/>
            <a:fld id="{62F541E8-5731-4CE9-AC1F-DD9396C9BB0C}" type="slidenum">
              <a:rPr lang="es-ES" smtClean="0"/>
              <a:pPr defTabSz="939981"/>
              <a:t>128</a:t>
            </a:fld>
            <a:endParaRPr lang="es-ES"/>
          </a:p>
        </p:txBody>
      </p:sp>
      <p:sp>
        <p:nvSpPr>
          <p:cNvPr id="207875" name="Rectangle 2"/>
          <p:cNvSpPr>
            <a:spLocks noGrp="1" noRot="1" noChangeAspect="1" noChangeArrowheads="1" noTextEdit="1"/>
          </p:cNvSpPr>
          <p:nvPr>
            <p:ph type="sldImg"/>
          </p:nvPr>
        </p:nvSpPr>
        <p:spPr>
          <a:xfrm>
            <a:off x="995363" y="769938"/>
            <a:ext cx="5114925" cy="3835400"/>
          </a:xfrm>
          <a:ln/>
        </p:spPr>
      </p:sp>
      <p:sp>
        <p:nvSpPr>
          <p:cNvPr id="207876" name="Rectangle 3"/>
          <p:cNvSpPr>
            <a:spLocks noGrp="1" noChangeArrowheads="1"/>
          </p:cNvSpPr>
          <p:nvPr>
            <p:ph type="body" idx="1"/>
          </p:nvPr>
        </p:nvSpPr>
        <p:spPr>
          <a:xfrm>
            <a:off x="946786" y="4857751"/>
            <a:ext cx="5210493" cy="4608513"/>
          </a:xfrm>
          <a:noFill/>
          <a:ln w="9525"/>
        </p:spPr>
        <p:txBody>
          <a:bodyPr/>
          <a:lstStyle/>
          <a:p>
            <a:endParaRPr lang="es-ES"/>
          </a:p>
        </p:txBody>
      </p:sp>
    </p:spTree>
    <p:extLst>
      <p:ext uri="{BB962C8B-B14F-4D97-AF65-F5344CB8AC3E}">
        <p14:creationId xmlns:p14="http://schemas.microsoft.com/office/powerpoint/2010/main" val="22506567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pPr defTabSz="939981"/>
            <a:fld id="{62F541E8-5731-4CE9-AC1F-DD9396C9BB0C}" type="slidenum">
              <a:rPr lang="es-ES" smtClean="0"/>
              <a:pPr defTabSz="939981"/>
              <a:t>129</a:t>
            </a:fld>
            <a:endParaRPr lang="es-ES"/>
          </a:p>
        </p:txBody>
      </p:sp>
      <p:sp>
        <p:nvSpPr>
          <p:cNvPr id="207875" name="Rectangle 2"/>
          <p:cNvSpPr>
            <a:spLocks noGrp="1" noRot="1" noChangeAspect="1" noChangeArrowheads="1" noTextEdit="1"/>
          </p:cNvSpPr>
          <p:nvPr>
            <p:ph type="sldImg"/>
          </p:nvPr>
        </p:nvSpPr>
        <p:spPr>
          <a:xfrm>
            <a:off x="995363" y="769938"/>
            <a:ext cx="5114925" cy="3835400"/>
          </a:xfrm>
          <a:ln/>
        </p:spPr>
      </p:sp>
      <p:sp>
        <p:nvSpPr>
          <p:cNvPr id="207876" name="Rectangle 3"/>
          <p:cNvSpPr>
            <a:spLocks noGrp="1" noChangeArrowheads="1"/>
          </p:cNvSpPr>
          <p:nvPr>
            <p:ph type="body" idx="1"/>
          </p:nvPr>
        </p:nvSpPr>
        <p:spPr>
          <a:xfrm>
            <a:off x="946786" y="4857751"/>
            <a:ext cx="5210493" cy="4608513"/>
          </a:xfrm>
          <a:noFill/>
          <a:ln w="9525"/>
        </p:spPr>
        <p:txBody>
          <a:bodyPr/>
          <a:lstStyle/>
          <a:p>
            <a:endParaRPr lang="es-ES" dirty="0"/>
          </a:p>
        </p:txBody>
      </p:sp>
    </p:spTree>
    <p:extLst>
      <p:ext uri="{BB962C8B-B14F-4D97-AF65-F5344CB8AC3E}">
        <p14:creationId xmlns:p14="http://schemas.microsoft.com/office/powerpoint/2010/main" val="14444766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pPr defTabSz="939981"/>
            <a:fld id="{7E29DD2F-3F76-44F9-9C17-C1EED3BF4769}" type="slidenum">
              <a:rPr lang="es-ES" smtClean="0"/>
              <a:pPr defTabSz="939981"/>
              <a:t>130</a:t>
            </a:fld>
            <a:endParaRPr lang="es-ES"/>
          </a:p>
        </p:txBody>
      </p:sp>
      <p:sp>
        <p:nvSpPr>
          <p:cNvPr id="208899" name="Rectangle 2"/>
          <p:cNvSpPr>
            <a:spLocks noGrp="1" noRot="1" noChangeAspect="1" noChangeArrowheads="1" noTextEdit="1"/>
          </p:cNvSpPr>
          <p:nvPr>
            <p:ph type="sldImg"/>
          </p:nvPr>
        </p:nvSpPr>
        <p:spPr>
          <a:xfrm>
            <a:off x="995363" y="769938"/>
            <a:ext cx="5114925" cy="3835400"/>
          </a:xfrm>
          <a:ln/>
        </p:spPr>
      </p:sp>
      <p:sp>
        <p:nvSpPr>
          <p:cNvPr id="208900" name="Rectangle 3"/>
          <p:cNvSpPr>
            <a:spLocks noGrp="1" noChangeArrowheads="1"/>
          </p:cNvSpPr>
          <p:nvPr>
            <p:ph type="body" idx="1"/>
          </p:nvPr>
        </p:nvSpPr>
        <p:spPr>
          <a:xfrm>
            <a:off x="946786" y="4857751"/>
            <a:ext cx="5210493" cy="4608513"/>
          </a:xfrm>
          <a:noFill/>
          <a:ln w="9525"/>
        </p:spPr>
        <p:txBody>
          <a:bodyPr/>
          <a:lstStyle/>
          <a:p>
            <a:endParaRPr lang="es-ES"/>
          </a:p>
        </p:txBody>
      </p:sp>
    </p:spTree>
    <p:extLst>
      <p:ext uri="{BB962C8B-B14F-4D97-AF65-F5344CB8AC3E}">
        <p14:creationId xmlns:p14="http://schemas.microsoft.com/office/powerpoint/2010/main" val="3914395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pPr defTabSz="939981"/>
            <a:fld id="{1964ED90-7FCF-4773-86B8-2DAB4BE8B676}" type="slidenum">
              <a:rPr lang="es-ES" smtClean="0"/>
              <a:pPr defTabSz="939981"/>
              <a:t>131</a:t>
            </a:fld>
            <a:endParaRPr lang="es-ES"/>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2421805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pPr defTabSz="939981"/>
            <a:fld id="{1CB951F0-1110-45D3-9811-935804C99B17}" type="slidenum">
              <a:rPr lang="es-ES" smtClean="0"/>
              <a:pPr defTabSz="939981"/>
              <a:t>132</a:t>
            </a:fld>
            <a:endParaRPr lang="es-ES"/>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74205997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pPr defTabSz="939981"/>
            <a:fld id="{2BF0028D-6604-4405-92F1-17CC54C0AEC3}" type="slidenum">
              <a:rPr lang="es-ES" smtClean="0"/>
              <a:pPr defTabSz="939981"/>
              <a:t>133</a:t>
            </a:fld>
            <a:endParaRPr lang="es-ES"/>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4560657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pPr defTabSz="939981"/>
            <a:fld id="{2BF0028D-6604-4405-92F1-17CC54C0AEC3}" type="slidenum">
              <a:rPr lang="es-ES" smtClean="0"/>
              <a:pPr defTabSz="939981"/>
              <a:t>134</a:t>
            </a:fld>
            <a:endParaRPr lang="es-ES"/>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4560657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pPr defTabSz="939981"/>
            <a:fld id="{3CC41E14-5D99-4C18-833F-CC29BADBFAF6}" type="slidenum">
              <a:rPr lang="es-ES" smtClean="0"/>
              <a:pPr defTabSz="939981"/>
              <a:t>135</a:t>
            </a:fld>
            <a:endParaRPr lang="es-ES"/>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0526356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pPr defTabSz="939981"/>
            <a:fld id="{C657A096-EE8C-43E6-95B3-3D7EEF8BBC3C}" type="slidenum">
              <a:rPr lang="es-ES" smtClean="0"/>
              <a:pPr defTabSz="939981"/>
              <a:t>136</a:t>
            </a:fld>
            <a:endParaRPr lang="es-ES"/>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28426982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pPr defTabSz="939981"/>
            <a:fld id="{D50E04CA-7DCE-46B9-B003-41BA1A3104D2}" type="slidenum">
              <a:rPr lang="es-ES" smtClean="0"/>
              <a:pPr defTabSz="939981"/>
              <a:t>137</a:t>
            </a:fld>
            <a:endParaRPr lang="es-ES"/>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13359581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pPr defTabSz="939981"/>
            <a:fld id="{F5822A1B-4B5A-41F3-90C8-11D9DB249DDB}" type="slidenum">
              <a:rPr lang="es-ES" smtClean="0"/>
              <a:pPr defTabSz="939981"/>
              <a:t>141</a:t>
            </a:fld>
            <a:endParaRPr lang="es-ES"/>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72930957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pPr defTabSz="939981"/>
            <a:fld id="{E1A9DE10-1FCC-4BEE-97EA-3F3F20C1CFCC}" type="slidenum">
              <a:rPr lang="es-ES" smtClean="0"/>
              <a:pPr defTabSz="939981"/>
              <a:t>142</a:t>
            </a:fld>
            <a:endParaRPr lang="es-ES"/>
          </a:p>
        </p:txBody>
      </p:sp>
      <p:sp>
        <p:nvSpPr>
          <p:cNvPr id="197635" name="Rectangle 2"/>
          <p:cNvSpPr>
            <a:spLocks noGrp="1" noRot="1" noChangeAspect="1" noChangeArrowheads="1" noTextEdit="1"/>
          </p:cNvSpPr>
          <p:nvPr>
            <p:ph type="sldImg"/>
          </p:nvPr>
        </p:nvSpPr>
        <p:spPr>
          <a:xfrm>
            <a:off x="1017588" y="806450"/>
            <a:ext cx="5070475" cy="3803650"/>
          </a:xfrm>
          <a:ln/>
        </p:spPr>
      </p:sp>
      <p:sp>
        <p:nvSpPr>
          <p:cNvPr id="197636" name="Rectangle 3"/>
          <p:cNvSpPr>
            <a:spLocks noGrp="1" noChangeArrowheads="1"/>
          </p:cNvSpPr>
          <p:nvPr>
            <p:ph type="body" idx="1"/>
          </p:nvPr>
        </p:nvSpPr>
        <p:spPr>
          <a:xfrm>
            <a:off x="945197" y="4868863"/>
            <a:ext cx="5213670" cy="4602162"/>
          </a:xfrm>
          <a:noFill/>
          <a:ln w="9525"/>
        </p:spPr>
        <p:txBody>
          <a:bodyPr/>
          <a:lstStyle/>
          <a:p>
            <a:endParaRPr lang="es-ES_tradnl" altLang="es-ES_tradnl"/>
          </a:p>
        </p:txBody>
      </p:sp>
    </p:spTree>
    <p:extLst>
      <p:ext uri="{BB962C8B-B14F-4D97-AF65-F5344CB8AC3E}">
        <p14:creationId xmlns:p14="http://schemas.microsoft.com/office/powerpoint/2010/main" val="41713618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pPr defTabSz="939981"/>
            <a:fld id="{9A8AB81C-268F-414B-AF7D-2C11B7370E05}" type="slidenum">
              <a:rPr lang="es-ES" smtClean="0"/>
              <a:pPr defTabSz="939981"/>
              <a:t>143</a:t>
            </a:fld>
            <a:endParaRPr lang="es-ES"/>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9723669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pPr defTabSz="939981"/>
            <a:fld id="{723748D6-F6DB-441F-AAFE-9624B3F2CAE6}" type="slidenum">
              <a:rPr lang="es-ES" smtClean="0"/>
              <a:pPr defTabSz="939981"/>
              <a:t>144</a:t>
            </a:fld>
            <a:endParaRPr lang="es-ES"/>
          </a:p>
        </p:txBody>
      </p:sp>
      <p:sp>
        <p:nvSpPr>
          <p:cNvPr id="219139" name="Rectangle 2"/>
          <p:cNvSpPr>
            <a:spLocks noGrp="1" noRot="1" noChangeAspect="1" noChangeArrowheads="1" noTextEdit="1"/>
          </p:cNvSpPr>
          <p:nvPr>
            <p:ph type="sldImg"/>
          </p:nvPr>
        </p:nvSpPr>
        <p:spPr>
          <a:xfrm>
            <a:off x="995363" y="769938"/>
            <a:ext cx="5114925" cy="3835400"/>
          </a:xfrm>
          <a:ln/>
        </p:spPr>
      </p:sp>
      <p:sp>
        <p:nvSpPr>
          <p:cNvPr id="219140" name="Rectangle 3"/>
          <p:cNvSpPr>
            <a:spLocks noGrp="1" noChangeArrowheads="1"/>
          </p:cNvSpPr>
          <p:nvPr>
            <p:ph type="body" idx="1"/>
          </p:nvPr>
        </p:nvSpPr>
        <p:spPr>
          <a:xfrm>
            <a:off x="946786" y="4859338"/>
            <a:ext cx="5210493" cy="4606925"/>
          </a:xfrm>
          <a:noFill/>
          <a:ln w="9525"/>
        </p:spPr>
        <p:txBody>
          <a:bodyPr/>
          <a:lstStyle/>
          <a:p>
            <a:endParaRPr lang="es-ES"/>
          </a:p>
        </p:txBody>
      </p:sp>
    </p:spTree>
    <p:extLst>
      <p:ext uri="{BB962C8B-B14F-4D97-AF65-F5344CB8AC3E}">
        <p14:creationId xmlns:p14="http://schemas.microsoft.com/office/powerpoint/2010/main" val="16895082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pPr defTabSz="939981"/>
            <a:fld id="{4A61A378-528C-4BAE-A534-B53BCC73F155}" type="slidenum">
              <a:rPr lang="es-ES" smtClean="0"/>
              <a:pPr defTabSz="939981"/>
              <a:t>145</a:t>
            </a:fld>
            <a:endParaRPr lang="es-ES"/>
          </a:p>
        </p:txBody>
      </p:sp>
      <p:sp>
        <p:nvSpPr>
          <p:cNvPr id="220163" name="Rectangle 2"/>
          <p:cNvSpPr>
            <a:spLocks noGrp="1" noRot="1" noChangeAspect="1" noChangeArrowheads="1" noTextEdit="1"/>
          </p:cNvSpPr>
          <p:nvPr>
            <p:ph type="sldImg"/>
          </p:nvPr>
        </p:nvSpPr>
        <p:spPr>
          <a:xfrm>
            <a:off x="995363" y="769938"/>
            <a:ext cx="5114925" cy="3835400"/>
          </a:xfrm>
          <a:ln/>
        </p:spPr>
      </p:sp>
      <p:sp>
        <p:nvSpPr>
          <p:cNvPr id="220164" name="Rectangle 3"/>
          <p:cNvSpPr>
            <a:spLocks noGrp="1" noChangeArrowheads="1"/>
          </p:cNvSpPr>
          <p:nvPr>
            <p:ph type="body" idx="1"/>
          </p:nvPr>
        </p:nvSpPr>
        <p:spPr>
          <a:xfrm>
            <a:off x="946786" y="4859338"/>
            <a:ext cx="5210493" cy="4606925"/>
          </a:xfrm>
          <a:noFill/>
          <a:ln w="9525"/>
        </p:spPr>
        <p:txBody>
          <a:bodyPr/>
          <a:lstStyle/>
          <a:p>
            <a:endParaRPr lang="es-ES"/>
          </a:p>
        </p:txBody>
      </p:sp>
    </p:spTree>
    <p:extLst>
      <p:ext uri="{BB962C8B-B14F-4D97-AF65-F5344CB8AC3E}">
        <p14:creationId xmlns:p14="http://schemas.microsoft.com/office/powerpoint/2010/main" val="7137574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pPr defTabSz="939981"/>
            <a:fld id="{838CE6D0-086E-4E46-A535-9F90BF989AA5}" type="slidenum">
              <a:rPr lang="es-ES" smtClean="0"/>
              <a:pPr defTabSz="939981"/>
              <a:t>146</a:t>
            </a:fld>
            <a:endParaRPr lang="es-ES"/>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a:ln w="9525"/>
        </p:spPr>
        <p:txBody>
          <a:bodyPr/>
          <a:lstStyle/>
          <a:p>
            <a:endParaRPr lang="es-ES"/>
          </a:p>
        </p:txBody>
      </p:sp>
    </p:spTree>
    <p:extLst>
      <p:ext uri="{BB962C8B-B14F-4D97-AF65-F5344CB8AC3E}">
        <p14:creationId xmlns:p14="http://schemas.microsoft.com/office/powerpoint/2010/main" val="50966374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a:defRPr/>
            </a:pPr>
            <a:fld id="{AB90BAE6-DC3E-4CE4-BA88-EF7C5446036B}" type="slidenum">
              <a:rPr lang="es-ES_tradnl" smtClean="0"/>
              <a:pPr>
                <a:defRPr/>
              </a:pPr>
              <a:t>147</a:t>
            </a:fld>
            <a:endParaRPr lang="es-ES_tradnl" dirty="0"/>
          </a:p>
        </p:txBody>
      </p:sp>
    </p:spTree>
    <p:extLst>
      <p:ext uri="{BB962C8B-B14F-4D97-AF65-F5344CB8AC3E}">
        <p14:creationId xmlns:p14="http://schemas.microsoft.com/office/powerpoint/2010/main" val="40289482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p>
            <a:pPr defTabSz="939981"/>
            <a:fld id="{1E86A15A-8A28-45DD-90F3-7C2268995AFE}" type="slidenum">
              <a:rPr lang="es-ES" smtClean="0"/>
              <a:pPr defTabSz="939981"/>
              <a:t>148</a:t>
            </a:fld>
            <a:endParaRPr lang="es-ES"/>
          </a:p>
        </p:txBody>
      </p:sp>
      <p:sp>
        <p:nvSpPr>
          <p:cNvPr id="222211" name="Rectangle 2"/>
          <p:cNvSpPr>
            <a:spLocks noGrp="1" noRot="1" noChangeAspect="1" noChangeArrowheads="1" noTextEdit="1"/>
          </p:cNvSpPr>
          <p:nvPr>
            <p:ph type="sldImg"/>
          </p:nvPr>
        </p:nvSpPr>
        <p:spPr>
          <a:xfrm>
            <a:off x="995363" y="769938"/>
            <a:ext cx="5114925" cy="3835400"/>
          </a:xfrm>
          <a:ln/>
        </p:spPr>
      </p:sp>
      <p:sp>
        <p:nvSpPr>
          <p:cNvPr id="222212" name="Rectangle 3"/>
          <p:cNvSpPr>
            <a:spLocks noGrp="1" noChangeArrowheads="1"/>
          </p:cNvSpPr>
          <p:nvPr>
            <p:ph type="body" idx="1"/>
          </p:nvPr>
        </p:nvSpPr>
        <p:spPr>
          <a:xfrm>
            <a:off x="946786" y="4859338"/>
            <a:ext cx="5210493" cy="4606925"/>
          </a:xfrm>
          <a:noFill/>
          <a:ln w="9525"/>
        </p:spPr>
        <p:txBody>
          <a:bodyPr/>
          <a:lstStyle/>
          <a:p>
            <a:endParaRPr lang="es-ES"/>
          </a:p>
        </p:txBody>
      </p:sp>
    </p:spTree>
    <p:extLst>
      <p:ext uri="{BB962C8B-B14F-4D97-AF65-F5344CB8AC3E}">
        <p14:creationId xmlns:p14="http://schemas.microsoft.com/office/powerpoint/2010/main" val="1637580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Oval 7"/>
          <p:cNvSpPr/>
          <p:nvPr/>
        </p:nvSpPr>
        <p:spPr>
          <a:xfrm>
            <a:off x="755576" y="141277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50000" t="50000" r="100000" b="1250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buFont typeface="Wingdings" pitchFamily="48" charset="2"/>
              <a:buNone/>
              <a:defRPr/>
            </a:pPr>
            <a:endParaRPr lang="es-ES"/>
          </a:p>
        </p:txBody>
      </p:sp>
      <p:sp>
        <p:nvSpPr>
          <p:cNvPr id="5" name="Oval 8"/>
          <p:cNvSpPr/>
          <p:nvPr/>
        </p:nvSpPr>
        <p:spPr>
          <a:xfrm>
            <a:off x="971550" y="12684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buFont typeface="Wingdings" pitchFamily="48" charset="2"/>
              <a:buNone/>
              <a:defRPr/>
            </a:pPr>
            <a:endParaRPr lang="es-ES"/>
          </a:p>
        </p:txBody>
      </p:sp>
      <p:sp>
        <p:nvSpPr>
          <p:cNvPr id="14" name="Title 13"/>
          <p:cNvSpPr>
            <a:spLocks noGrp="1"/>
          </p:cNvSpPr>
          <p:nvPr>
            <p:ph type="ctrTitle"/>
          </p:nvPr>
        </p:nvSpPr>
        <p:spPr>
          <a:xfrm>
            <a:off x="1435608" y="435936"/>
            <a:ext cx="7406640" cy="1472184"/>
          </a:xfrm>
        </p:spPr>
        <p:txBody>
          <a:bodyPr anchor="b"/>
          <a:lstStyle>
            <a:lvl1pPr algn="l" latinLnBrk="0">
              <a:defRPr lang="es-ES"/>
            </a:lvl1pPr>
          </a:lstStyle>
          <a:p>
            <a:r>
              <a:rPr lang="es-ES"/>
              <a:t>Haga clic para modificar el estilo de título del patrón</a:t>
            </a:r>
          </a:p>
        </p:txBody>
      </p:sp>
      <p:sp>
        <p:nvSpPr>
          <p:cNvPr id="22" name="Subtitle 21"/>
          <p:cNvSpPr>
            <a:spLocks noGrp="1"/>
          </p:cNvSpPr>
          <p:nvPr>
            <p:ph type="subTitle" idx="1"/>
          </p:nvPr>
        </p:nvSpPr>
        <p:spPr>
          <a:xfrm>
            <a:off x="1403648" y="2636912"/>
            <a:ext cx="7406640" cy="1752600"/>
          </a:xfrm>
        </p:spPr>
        <p:txBody>
          <a:bodyPr>
            <a:normAutofit/>
          </a:bodyPr>
          <a:lstStyle>
            <a:lvl1pPr marL="73152" indent="0" algn="l" latinLnBrk="0">
              <a:buNone/>
              <a:defRPr lang="es-ES" sz="24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s-ES"/>
              <a:t>Haga clic para modificar el estilo de subtítulo del patrón</a:t>
            </a:r>
          </a:p>
        </p:txBody>
      </p:sp>
      <p:sp>
        <p:nvSpPr>
          <p:cNvPr id="8" name="Slide Number Placeholder 9"/>
          <p:cNvSpPr>
            <a:spLocks noGrp="1"/>
          </p:cNvSpPr>
          <p:nvPr>
            <p:ph type="sldNum" sz="quarter" idx="12"/>
          </p:nvPr>
        </p:nvSpPr>
        <p:spPr/>
        <p:txBody>
          <a:bodyPr/>
          <a:lstStyle>
            <a:lvl1pPr>
              <a:defRPr/>
            </a:lvl1pPr>
          </a:lstStyle>
          <a:p>
            <a:pPr>
              <a:defRPr/>
            </a:pPr>
            <a:fld id="{28694CD1-4EBB-4CC9-A43D-A4D61A4E6E64}" type="slidenum">
              <a:rPr lang="en-US"/>
              <a:pPr>
                <a:defRPr/>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Haga clic para modificar el estilo de título del patrón</a:t>
            </a:r>
          </a:p>
        </p:txBody>
      </p:sp>
      <p:sp>
        <p:nvSpPr>
          <p:cNvPr id="3" name="Content Placeholder 2"/>
          <p:cNvSpPr>
            <a:spLocks noGrp="1"/>
          </p:cNvSpPr>
          <p:nvPr>
            <p:ph idx="1"/>
          </p:nvPr>
        </p:nvSpPr>
        <p:spPr/>
        <p:txBody>
          <a:bodyPr>
            <a:noAutofit/>
          </a:bodyPr>
          <a:lstStyle>
            <a:lvl1pPr>
              <a:buClr>
                <a:schemeClr val="accent2">
                  <a:lumMod val="75000"/>
                </a:schemeClr>
              </a:buClr>
              <a:defRPr/>
            </a:lvl1pPr>
            <a:lvl2pPr>
              <a:buClr>
                <a:schemeClr val="bg2">
                  <a:lumMod val="50000"/>
                </a:schemeClr>
              </a:buClr>
              <a:buFont typeface="Wingdings" pitchFamily="2" charset="2"/>
              <a:buChar char="ü"/>
              <a:defRPr/>
            </a:lvl2pPr>
          </a:lstStyle>
          <a:p>
            <a:pPr lvl="0"/>
            <a:r>
              <a:rPr lang="es-ES" noProof="0" dirty="0"/>
              <a:t>Haga clic para modificar el estilo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6" name="Slide Number Placeholder 5"/>
          <p:cNvSpPr>
            <a:spLocks noGrp="1"/>
          </p:cNvSpPr>
          <p:nvPr>
            <p:ph type="sldNum" sz="quarter" idx="12"/>
          </p:nvPr>
        </p:nvSpPr>
        <p:spPr/>
        <p:txBody>
          <a:bodyPr/>
          <a:lstStyle>
            <a:lvl1pPr>
              <a:defRPr sz="1000"/>
            </a:lvl1pPr>
          </a:lstStyle>
          <a:p>
            <a:pPr>
              <a:defRPr/>
            </a:pPr>
            <a:fld id="{50B7A251-C820-4EFF-8270-C7613E20881F}" type="slidenum">
              <a:rPr lang="en-US" smtClean="0"/>
              <a:pPr>
                <a:defRPr/>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50000" t="50000" r="100000" b="1250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buFont typeface="Wingdings" pitchFamily="48" charset="2"/>
              <a:buNone/>
              <a:defRPr/>
            </a:pPr>
            <a:endParaRPr lang="es-ES" dirty="0"/>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buFont typeface="Wingdings" pitchFamily="48" charset="2"/>
              <a:buNone/>
              <a:defRPr/>
            </a:pPr>
            <a:endParaRPr lang="es-ES" dirty="0"/>
          </a:p>
        </p:txBody>
      </p:sp>
      <p:sp>
        <p:nvSpPr>
          <p:cNvPr id="2" name="Title 1"/>
          <p:cNvSpPr>
            <a:spLocks noGrp="1"/>
          </p:cNvSpPr>
          <p:nvPr>
            <p:ph type="title"/>
          </p:nvPr>
        </p:nvSpPr>
        <p:spPr>
          <a:xfrm>
            <a:off x="2578392" y="2600325"/>
            <a:ext cx="6400800" cy="2286000"/>
          </a:xfrm>
        </p:spPr>
        <p:txBody>
          <a:bodyPr anchor="t"/>
          <a:lstStyle>
            <a:lvl1pPr algn="l" latinLnBrk="0">
              <a:lnSpc>
                <a:spcPts val="4500"/>
              </a:lnSpc>
              <a:buNone/>
              <a:defRPr lang="es-ES" sz="4000" b="1" cap="all"/>
            </a:lvl1pPr>
          </a:lstStyle>
          <a:p>
            <a:r>
              <a:rPr lang="es-ES"/>
              <a:t>Haga clic para modificar el estilo de título del patrón</a:t>
            </a:r>
          </a:p>
        </p:txBody>
      </p:sp>
      <p:sp>
        <p:nvSpPr>
          <p:cNvPr id="3" name="Text Placeholder 2"/>
          <p:cNvSpPr>
            <a:spLocks noGrp="1"/>
          </p:cNvSpPr>
          <p:nvPr>
            <p:ph type="body" idx="1"/>
          </p:nvPr>
        </p:nvSpPr>
        <p:spPr>
          <a:xfrm>
            <a:off x="2578392" y="1100138"/>
            <a:ext cx="6400800" cy="1509712"/>
          </a:xfrm>
        </p:spPr>
        <p:txBody>
          <a:bodyPr anchor="b"/>
          <a:lstStyle>
            <a:lvl1pPr marL="27432" indent="0" latinLnBrk="0">
              <a:lnSpc>
                <a:spcPts val="2300"/>
              </a:lnSpc>
              <a:spcBef>
                <a:spcPts val="0"/>
              </a:spcBef>
              <a:buNone/>
              <a:defRPr lang="es-ES" sz="2000">
                <a:solidFill>
                  <a:schemeClr val="tx2">
                    <a:shade val="30000"/>
                    <a:satMod val="150000"/>
                  </a:schemeClr>
                </a:solidFill>
              </a:defRPr>
            </a:lvl1pPr>
            <a:lvl2pPr>
              <a:buNone/>
              <a:defRPr lang="es-ES" sz="1800">
                <a:solidFill>
                  <a:schemeClr val="tx1">
                    <a:tint val="75000"/>
                  </a:schemeClr>
                </a:solidFill>
              </a:defRPr>
            </a:lvl2pPr>
            <a:lvl3pPr>
              <a:buNone/>
              <a:defRPr lang="es-ES" sz="1600">
                <a:solidFill>
                  <a:schemeClr val="tx1">
                    <a:tint val="75000"/>
                  </a:schemeClr>
                </a:solidFill>
              </a:defRPr>
            </a:lvl3pPr>
            <a:lvl4pPr>
              <a:buNone/>
              <a:defRPr lang="es-ES" sz="1400">
                <a:solidFill>
                  <a:schemeClr val="tx1">
                    <a:tint val="75000"/>
                  </a:schemeClr>
                </a:solidFill>
              </a:defRPr>
            </a:lvl4pPr>
            <a:lvl5pPr>
              <a:buNone/>
              <a:defRPr lang="es-ES" sz="1400">
                <a:solidFill>
                  <a:schemeClr val="tx1">
                    <a:tint val="75000"/>
                  </a:schemeClr>
                </a:solidFill>
              </a:defRPr>
            </a:lvl5pPr>
          </a:lstStyle>
          <a:p>
            <a:pPr lvl="0"/>
            <a:r>
              <a:rPr lang="es-ES"/>
              <a:t>Haga clic para modificar el estilo de texto del patrón</a:t>
            </a:r>
          </a:p>
        </p:txBody>
      </p:sp>
      <p:sp>
        <p:nvSpPr>
          <p:cNvPr id="10" name="Slide Number Placeholder 5"/>
          <p:cNvSpPr>
            <a:spLocks noGrp="1"/>
          </p:cNvSpPr>
          <p:nvPr>
            <p:ph type="sldNum" sz="quarter" idx="12"/>
          </p:nvPr>
        </p:nvSpPr>
        <p:spPr/>
        <p:txBody>
          <a:bodyPr/>
          <a:lstStyle>
            <a:lvl1pPr>
              <a:defRPr/>
            </a:lvl1pPr>
          </a:lstStyle>
          <a:p>
            <a:pPr>
              <a:defRPr/>
            </a:pPr>
            <a:fld id="{0499BF12-8ABE-4E61-9E56-D7A65AFDF1BE}" type="slidenum">
              <a:rPr lang="en-US"/>
              <a:pPr>
                <a:defRPr/>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Contenido dos">
    <p:spTree>
      <p:nvGrpSpPr>
        <p:cNvPr id="1" name=""/>
        <p:cNvGrpSpPr/>
        <p:nvPr/>
      </p:nvGrpSpPr>
      <p:grpSpPr>
        <a:xfrm>
          <a:off x="0" y="0"/>
          <a:ext cx="0" cy="0"/>
          <a:chOff x="0" y="0"/>
          <a:chExt cx="0" cy="0"/>
        </a:xfrm>
      </p:grpSpPr>
      <p:sp>
        <p:nvSpPr>
          <p:cNvPr id="5" name="Pie 8"/>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6" name="Oval 9"/>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7"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85000" t="100000" r="1000000" b="30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8" name="Rectangle 11"/>
          <p:cNvSpPr/>
          <p:nvPr/>
        </p:nvSpPr>
        <p:spPr>
          <a:xfrm>
            <a:off x="539750" y="0"/>
            <a:ext cx="8624888"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2" name="Title 1"/>
          <p:cNvSpPr>
            <a:spLocks noGrp="1"/>
          </p:cNvSpPr>
          <p:nvPr>
            <p:ph type="title"/>
          </p:nvPr>
        </p:nvSpPr>
        <p:spPr>
          <a:xfrm>
            <a:off x="683568" y="116632"/>
            <a:ext cx="8136904" cy="936104"/>
          </a:xfrm>
        </p:spPr>
        <p:txBody>
          <a:bodyPr/>
          <a:lstStyle/>
          <a:p>
            <a:r>
              <a:rPr lang="es-ES" dirty="0"/>
              <a:t>Haga clic para modificar el estilo de título del patrón</a:t>
            </a:r>
          </a:p>
        </p:txBody>
      </p:sp>
      <p:sp>
        <p:nvSpPr>
          <p:cNvPr id="3" name="Content Placeholder 2"/>
          <p:cNvSpPr>
            <a:spLocks noGrp="1"/>
          </p:cNvSpPr>
          <p:nvPr>
            <p:ph sz="half" idx="1"/>
          </p:nvPr>
        </p:nvSpPr>
        <p:spPr>
          <a:xfrm>
            <a:off x="683568" y="1340768"/>
            <a:ext cx="3888432" cy="4824536"/>
          </a:xfrm>
        </p:spPr>
        <p:txBody>
          <a:bodyPr>
            <a:normAutofit/>
          </a:bodyPr>
          <a:lstStyle>
            <a:lvl1pPr latinLnBrk="0">
              <a:defRPr lang="es-ES" sz="2400" kern="1200" noProof="0" dirty="0" smtClean="0">
                <a:solidFill>
                  <a:schemeClr val="tx1"/>
                </a:solidFill>
                <a:latin typeface="+mn-lt"/>
                <a:ea typeface="+mn-ea"/>
                <a:cs typeface="+mn-cs"/>
              </a:defRPr>
            </a:lvl1pPr>
            <a:lvl2pPr>
              <a:defRPr lang="es-ES" sz="2000" kern="1200" noProof="0" dirty="0" smtClean="0">
                <a:solidFill>
                  <a:schemeClr val="tx1"/>
                </a:solidFill>
                <a:latin typeface="+mn-lt"/>
                <a:ea typeface="+mn-ea"/>
                <a:cs typeface="+mn-cs"/>
              </a:defRPr>
            </a:lvl2pPr>
            <a:lvl3pPr>
              <a:defRPr lang="es-ES" sz="1800" kern="1200" noProof="0" dirty="0" smtClean="0">
                <a:solidFill>
                  <a:schemeClr val="tx1"/>
                </a:solidFill>
                <a:latin typeface="+mn-lt"/>
                <a:ea typeface="+mn-ea"/>
                <a:cs typeface="+mn-cs"/>
              </a:defRPr>
            </a:lvl3pPr>
            <a:lvl4pPr>
              <a:defRPr lang="es-ES" sz="1600" kern="1200" noProof="0" dirty="0" smtClean="0">
                <a:solidFill>
                  <a:schemeClr val="tx1"/>
                </a:solidFill>
                <a:latin typeface="+mn-lt"/>
                <a:ea typeface="+mn-ea"/>
                <a:cs typeface="+mn-cs"/>
              </a:defRPr>
            </a:lvl4pPr>
            <a:lvl5pPr>
              <a:defRPr lang="es-ES" sz="1600" kern="1200" noProof="0" dirty="0">
                <a:solidFill>
                  <a:schemeClr val="tx1"/>
                </a:solidFill>
                <a:latin typeface="+mn-lt"/>
                <a:ea typeface="+mn-ea"/>
                <a:cs typeface="+mn-cs"/>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Content Placeholder 3"/>
          <p:cNvSpPr>
            <a:spLocks noGrp="1"/>
          </p:cNvSpPr>
          <p:nvPr>
            <p:ph sz="half" idx="2"/>
          </p:nvPr>
        </p:nvSpPr>
        <p:spPr>
          <a:xfrm>
            <a:off x="4860032" y="1340768"/>
            <a:ext cx="4001648" cy="4824536"/>
          </a:xfrm>
        </p:spPr>
        <p:txBody>
          <a:bodyPr>
            <a:normAutofit/>
          </a:bodyPr>
          <a:lstStyle>
            <a:lvl1pPr algn="l" rtl="0" eaLnBrk="0" fontAlgn="base" latinLnBrk="0" hangingPunct="0">
              <a:spcAft>
                <a:spcPct val="0"/>
              </a:spcAft>
              <a:defRPr lang="es-ES" sz="2400" kern="1200" noProof="0" dirty="0" smtClean="0">
                <a:solidFill>
                  <a:schemeClr val="tx1"/>
                </a:solidFill>
                <a:latin typeface="+mn-lt"/>
                <a:ea typeface="+mn-ea"/>
                <a:cs typeface="+mn-cs"/>
              </a:defRPr>
            </a:lvl1pPr>
            <a:lvl2pPr algn="l" rtl="0" eaLnBrk="0" fontAlgn="base" hangingPunct="0">
              <a:spcAft>
                <a:spcPct val="0"/>
              </a:spcAft>
              <a:defRPr lang="es-ES" sz="2000" kern="1200" noProof="0" dirty="0" smtClean="0">
                <a:solidFill>
                  <a:schemeClr val="tx1"/>
                </a:solidFill>
                <a:latin typeface="+mn-lt"/>
                <a:ea typeface="+mn-ea"/>
                <a:cs typeface="+mn-cs"/>
              </a:defRPr>
            </a:lvl2pPr>
            <a:lvl3pPr algn="l" rtl="0" eaLnBrk="0" fontAlgn="base" hangingPunct="0">
              <a:spcAft>
                <a:spcPct val="0"/>
              </a:spcAft>
              <a:defRPr lang="es-ES" sz="1800" kern="1200" noProof="0" dirty="0" smtClean="0">
                <a:solidFill>
                  <a:schemeClr val="tx1"/>
                </a:solidFill>
                <a:latin typeface="+mn-lt"/>
                <a:ea typeface="+mn-ea"/>
                <a:cs typeface="+mn-cs"/>
              </a:defRPr>
            </a:lvl3pPr>
            <a:lvl4pPr algn="l" rtl="0" eaLnBrk="0" fontAlgn="base" hangingPunct="0">
              <a:spcAft>
                <a:spcPct val="0"/>
              </a:spcAft>
              <a:defRPr lang="es-ES" sz="1600" kern="1200" noProof="0" dirty="0" smtClean="0">
                <a:solidFill>
                  <a:schemeClr val="tx1"/>
                </a:solidFill>
                <a:latin typeface="+mn-lt"/>
                <a:ea typeface="+mn-ea"/>
                <a:cs typeface="+mn-cs"/>
              </a:defRPr>
            </a:lvl4pPr>
            <a:lvl5pPr algn="l" rtl="0" eaLnBrk="0" fontAlgn="base" hangingPunct="0">
              <a:spcAft>
                <a:spcPct val="0"/>
              </a:spcAft>
              <a:defRPr lang="es-ES" sz="1600" kern="1200" noProof="0" dirty="0">
                <a:solidFill>
                  <a:schemeClr val="tx1"/>
                </a:solidFill>
                <a:latin typeface="+mn-lt"/>
                <a:ea typeface="+mn-ea"/>
                <a:cs typeface="+mn-cs"/>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Slide Number Placeholder 6"/>
          <p:cNvSpPr>
            <a:spLocks noGrp="1"/>
          </p:cNvSpPr>
          <p:nvPr>
            <p:ph type="sldNum" sz="quarter" idx="12"/>
          </p:nvPr>
        </p:nvSpPr>
        <p:spPr/>
        <p:txBody>
          <a:bodyPr/>
          <a:lstStyle>
            <a:lvl1pPr>
              <a:defRPr/>
            </a:lvl1pPr>
          </a:lstStyle>
          <a:p>
            <a:pPr>
              <a:defRPr/>
            </a:pPr>
            <a:fld id="{F8CB5AE4-A292-4B6C-BA7D-67E7BB52BE03}" type="slidenum">
              <a:rPr lang="en-US"/>
              <a:pPr>
                <a:defRPr/>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Sólo título">
    <p:spTree>
      <p:nvGrpSpPr>
        <p:cNvPr id="1" name=""/>
        <p:cNvGrpSpPr/>
        <p:nvPr/>
      </p:nvGrpSpPr>
      <p:grpSpPr>
        <a:xfrm>
          <a:off x="0" y="0"/>
          <a:ext cx="0" cy="0"/>
          <a:chOff x="0" y="0"/>
          <a:chExt cx="0" cy="0"/>
        </a:xfrm>
      </p:grpSpPr>
      <p:sp>
        <p:nvSpPr>
          <p:cNvPr id="2" name="Title 1"/>
          <p:cNvSpPr>
            <a:spLocks noGrp="1"/>
          </p:cNvSpPr>
          <p:nvPr>
            <p:ph type="title"/>
          </p:nvPr>
        </p:nvSpPr>
        <p:spPr>
          <a:xfrm>
            <a:off x="683568" y="116632"/>
            <a:ext cx="8250120" cy="864096"/>
          </a:xfrm>
        </p:spPr>
        <p:txBody>
          <a:bodyPr/>
          <a:lstStyle/>
          <a:p>
            <a:r>
              <a:rPr lang="es-ES" dirty="0"/>
              <a:t>Haga clic para modificar el estilo de título del patrón</a:t>
            </a:r>
          </a:p>
        </p:txBody>
      </p:sp>
      <p:sp>
        <p:nvSpPr>
          <p:cNvPr id="5" name="Slide Number Placeholder 4"/>
          <p:cNvSpPr>
            <a:spLocks noGrp="1"/>
          </p:cNvSpPr>
          <p:nvPr>
            <p:ph type="sldNum" sz="quarter" idx="12"/>
          </p:nvPr>
        </p:nvSpPr>
        <p:spPr/>
        <p:txBody>
          <a:bodyPr/>
          <a:lstStyle>
            <a:lvl1pPr>
              <a:defRPr/>
            </a:lvl1pPr>
          </a:lstStyle>
          <a:p>
            <a:pPr>
              <a:defRPr/>
            </a:pPr>
            <a:fld id="{51035083-A155-4028-8A67-2E61E721E30B}" type="slidenum">
              <a:rPr lang="en-US"/>
              <a:pPr>
                <a:defRPr/>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p:cNvSpPr/>
          <p:nvPr/>
        </p:nvSpPr>
        <p:spPr>
          <a:xfrm>
            <a:off x="1" y="0"/>
            <a:ext cx="9144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6" name="Slide Number Placeholder 3"/>
          <p:cNvSpPr>
            <a:spLocks noGrp="1"/>
          </p:cNvSpPr>
          <p:nvPr>
            <p:ph type="sldNum" sz="quarter" idx="12"/>
          </p:nvPr>
        </p:nvSpPr>
        <p:spPr/>
        <p:txBody>
          <a:bodyPr/>
          <a:lstStyle>
            <a:lvl1pPr>
              <a:defRPr/>
            </a:lvl1pPr>
          </a:lstStyle>
          <a:p>
            <a:pPr>
              <a:defRPr/>
            </a:pPr>
            <a:fld id="{263512A6-B289-4C6F-A5FC-D4B27A6C4E6A}" type="slidenum">
              <a:rPr lang="en-US"/>
              <a:pPr>
                <a:defRPr/>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Slide Number Placeholder 5"/>
          <p:cNvSpPr>
            <a:spLocks noGrp="1"/>
          </p:cNvSpPr>
          <p:nvPr>
            <p:ph type="sldNum" sz="quarter" idx="12"/>
          </p:nvPr>
        </p:nvSpPr>
        <p:spPr/>
        <p:txBody>
          <a:bodyPr/>
          <a:lstStyle>
            <a:lvl1pPr>
              <a:defRPr/>
            </a:lvl1pPr>
          </a:lstStyle>
          <a:p>
            <a:pPr>
              <a:defRPr/>
            </a:pPr>
            <a:fld id="{EA7F2BF9-80B0-46AE-B211-BBDCC93C2B41}" type="slidenum">
              <a:rPr lang="en-US"/>
              <a:pPr>
                <a:defRPr/>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1_Título y text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s-ES"/>
              <a:t>Haga clic para modificar el estilo de título del patrón</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Slide Number Placeholder 5"/>
          <p:cNvSpPr>
            <a:spLocks noGrp="1"/>
          </p:cNvSpPr>
          <p:nvPr>
            <p:ph type="sldNum" sz="quarter" idx="12"/>
          </p:nvPr>
        </p:nvSpPr>
        <p:spPr/>
        <p:txBody>
          <a:bodyPr/>
          <a:lstStyle>
            <a:lvl1pPr>
              <a:defRPr/>
            </a:lvl1pPr>
          </a:lstStyle>
          <a:p>
            <a:pPr>
              <a:defRPr/>
            </a:pPr>
            <a:fld id="{798DEDAF-2978-4C4D-95C2-0057A2486415}" type="slidenum">
              <a:rPr lang="en-US"/>
              <a:pPr>
                <a:defRPr/>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cSld name="1_Diapositiva de título">
    <p:spTree>
      <p:nvGrpSpPr>
        <p:cNvPr id="1" name=""/>
        <p:cNvGrpSpPr/>
        <p:nvPr/>
      </p:nvGrpSpPr>
      <p:grpSpPr>
        <a:xfrm>
          <a:off x="0" y="0"/>
          <a:ext cx="0" cy="0"/>
          <a:chOff x="0" y="0"/>
          <a:chExt cx="0" cy="0"/>
        </a:xfrm>
      </p:grpSpPr>
      <p:pic>
        <p:nvPicPr>
          <p:cNvPr id="3" name="Picture 10" descr="logoDISCA"/>
          <p:cNvPicPr>
            <a:picLocks noChangeAspect="1" noChangeArrowheads="1"/>
          </p:cNvPicPr>
          <p:nvPr userDrawn="1"/>
        </p:nvPicPr>
        <p:blipFill>
          <a:blip r:embed="rId2"/>
          <a:srcRect/>
          <a:stretch>
            <a:fillRect/>
          </a:stretch>
        </p:blipFill>
        <p:spPr bwMode="auto">
          <a:xfrm>
            <a:off x="7596188" y="5516563"/>
            <a:ext cx="1436687" cy="581025"/>
          </a:xfrm>
          <a:prstGeom prst="rect">
            <a:avLst/>
          </a:prstGeom>
          <a:noFill/>
          <a:ln w="9525">
            <a:noFill/>
            <a:miter lim="800000"/>
            <a:headEnd/>
            <a:tailEnd/>
          </a:ln>
        </p:spPr>
      </p:pic>
      <p:sp>
        <p:nvSpPr>
          <p:cNvPr id="4" name="Rectangle 2"/>
          <p:cNvSpPr txBox="1">
            <a:spLocks noChangeArrowheads="1"/>
          </p:cNvSpPr>
          <p:nvPr userDrawn="1"/>
        </p:nvSpPr>
        <p:spPr>
          <a:xfrm>
            <a:off x="755650" y="115888"/>
            <a:ext cx="7772400" cy="1676400"/>
          </a:xfrm>
          <a:prstGeom prst="rect">
            <a:avLst/>
          </a:prstGeom>
        </p:spPr>
        <p:txBody>
          <a:bodyPr anchor="ctr"/>
          <a:lstStyle>
            <a:lvl1pPr>
              <a:defRPr sz="4000"/>
            </a:lvl1pPr>
          </a:lstStyle>
          <a:p>
            <a:pPr eaLnBrk="1" fontAlgn="auto" hangingPunct="1">
              <a:spcBef>
                <a:spcPct val="0"/>
              </a:spcBef>
              <a:spcAft>
                <a:spcPts val="0"/>
              </a:spcAft>
              <a:buFontTx/>
              <a:buNone/>
              <a:defRPr/>
            </a:pPr>
            <a:r>
              <a:rPr lang="es-ES"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Estructura de Computadores</a:t>
            </a:r>
            <a:endParaRPr lang="ca-ES"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p:txBody>
      </p:sp>
      <p:sp>
        <p:nvSpPr>
          <p:cNvPr id="5" name="4 CuadroTexto"/>
          <p:cNvSpPr txBox="1"/>
          <p:nvPr userDrawn="1"/>
        </p:nvSpPr>
        <p:spPr>
          <a:xfrm>
            <a:off x="2565400" y="1844675"/>
            <a:ext cx="4152900" cy="904875"/>
          </a:xfrm>
          <a:prstGeom prst="rect">
            <a:avLst/>
          </a:prstGeom>
          <a:noFill/>
        </p:spPr>
        <p:txBody>
          <a:bodyPr wrap="none">
            <a:spAutoFit/>
          </a:bodyPr>
          <a:lstStyle/>
          <a:p>
            <a:pPr>
              <a:defRPr/>
            </a:pPr>
            <a:r>
              <a:rPr lang="es-ES" sz="2400" dirty="0">
                <a:solidFill>
                  <a:schemeClr val="accent1">
                    <a:lumMod val="50000"/>
                  </a:schemeClr>
                </a:solidFill>
                <a:effectLst>
                  <a:outerShdw blurRad="50000" dist="30000" dir="5400000" algn="tl" rotWithShape="0">
                    <a:srgbClr val="000000">
                      <a:alpha val="30000"/>
                    </a:srgbClr>
                  </a:outerShdw>
                </a:effectLst>
                <a:latin typeface="+mj-lt"/>
                <a:ea typeface="+mj-ea"/>
                <a:cs typeface="+mj-cs"/>
              </a:rPr>
              <a:t>Grado de Ingeniería Informática</a:t>
            </a:r>
          </a:p>
          <a:p>
            <a:pPr>
              <a:defRPr/>
            </a:pPr>
            <a:r>
              <a:rPr lang="es-ES" sz="2400" dirty="0">
                <a:solidFill>
                  <a:schemeClr val="accent1">
                    <a:lumMod val="50000"/>
                  </a:schemeClr>
                </a:solidFill>
                <a:effectLst>
                  <a:outerShdw blurRad="50000" dist="30000" dir="5400000" algn="tl" rotWithShape="0">
                    <a:srgbClr val="000000">
                      <a:alpha val="30000"/>
                    </a:srgbClr>
                  </a:outerShdw>
                </a:effectLst>
                <a:latin typeface="+mj-lt"/>
                <a:ea typeface="+mj-ea"/>
                <a:cs typeface="+mj-cs"/>
              </a:rPr>
              <a:t>ETSINF</a:t>
            </a:r>
          </a:p>
        </p:txBody>
      </p:sp>
      <p:sp>
        <p:nvSpPr>
          <p:cNvPr id="7" name="Oval 7"/>
          <p:cNvSpPr/>
          <p:nvPr userDrawn="1"/>
        </p:nvSpPr>
        <p:spPr>
          <a:xfrm>
            <a:off x="204788" y="1844675"/>
            <a:ext cx="1271587" cy="1270000"/>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8" name="Pie 6"/>
          <p:cNvSpPr/>
          <p:nvPr userDrawn="1"/>
        </p:nvSpPr>
        <p:spPr>
          <a:xfrm>
            <a:off x="-1422400" y="-1295400"/>
            <a:ext cx="2844800" cy="25908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9" name="Oval 7"/>
          <p:cNvSpPr/>
          <p:nvPr userDrawn="1"/>
        </p:nvSpPr>
        <p:spPr>
          <a:xfrm>
            <a:off x="7440613" y="1376363"/>
            <a:ext cx="1452562" cy="1450975"/>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0" name="Donut 10"/>
          <p:cNvSpPr/>
          <p:nvPr userDrawn="1"/>
        </p:nvSpPr>
        <p:spPr>
          <a:xfrm rot="2315675">
            <a:off x="7097228" y="2075521"/>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85000" t="100000" r="1000000" b="30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1" name="Donut 10"/>
          <p:cNvSpPr/>
          <p:nvPr userDrawn="1"/>
        </p:nvSpPr>
        <p:spPr>
          <a:xfrm rot="2315675">
            <a:off x="3025756" y="5560002"/>
            <a:ext cx="560076" cy="548587"/>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85000" t="100000" r="1000000" b="30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2" name="11 Arco de bloque"/>
          <p:cNvSpPr/>
          <p:nvPr userDrawn="1"/>
        </p:nvSpPr>
        <p:spPr>
          <a:xfrm rot="5400000">
            <a:off x="-1404144" y="1988344"/>
            <a:ext cx="2808287" cy="2809876"/>
          </a:xfrm>
          <a:prstGeom prst="blockArc">
            <a:avLst>
              <a:gd name="adj1" fmla="val 10800000"/>
              <a:gd name="adj2" fmla="val 21582511"/>
              <a:gd name="adj3" fmla="val 0"/>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3" name="12 Arco de bloque"/>
          <p:cNvSpPr/>
          <p:nvPr userDrawn="1"/>
        </p:nvSpPr>
        <p:spPr>
          <a:xfrm rot="5400000">
            <a:off x="6696075" y="4410075"/>
            <a:ext cx="4895850" cy="4895850"/>
          </a:xfrm>
          <a:prstGeom prst="blockArc">
            <a:avLst>
              <a:gd name="adj1" fmla="val 5434997"/>
              <a:gd name="adj2" fmla="val 10779070"/>
              <a:gd name="adj3" fmla="val 78"/>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02402" name="Rectangle 2"/>
          <p:cNvSpPr>
            <a:spLocks noGrp="1" noChangeArrowheads="1"/>
          </p:cNvSpPr>
          <p:nvPr>
            <p:ph type="ctrTitle"/>
          </p:nvPr>
        </p:nvSpPr>
        <p:spPr>
          <a:xfrm>
            <a:off x="1115616" y="3356992"/>
            <a:ext cx="7412620" cy="1676400"/>
          </a:xfrm>
        </p:spPr>
        <p:txBody>
          <a:bodyPr/>
          <a:lstStyle>
            <a:lvl1pPr algn="ctr">
              <a:defRPr sz="4000"/>
            </a:lvl1pPr>
          </a:lstStyle>
          <a:p>
            <a:r>
              <a:rPr lang="es-ES"/>
              <a:t>Clic para editar estilo título patrón</a:t>
            </a:r>
            <a:endParaRPr lang="ca-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ClipArt">
  <p:cSld name="Título y texto e imágenes prediseñadas">
    <p:spTree>
      <p:nvGrpSpPr>
        <p:cNvPr id="1" name=""/>
        <p:cNvGrpSpPr/>
        <p:nvPr/>
      </p:nvGrpSpPr>
      <p:grpSpPr>
        <a:xfrm>
          <a:off x="0" y="0"/>
          <a:ext cx="0" cy="0"/>
          <a:chOff x="0" y="0"/>
          <a:chExt cx="0" cy="0"/>
        </a:xfrm>
      </p:grpSpPr>
      <p:sp>
        <p:nvSpPr>
          <p:cNvPr id="2" name="1 Título"/>
          <p:cNvSpPr>
            <a:spLocks noGrp="1"/>
          </p:cNvSpPr>
          <p:nvPr>
            <p:ph type="title"/>
          </p:nvPr>
        </p:nvSpPr>
        <p:spPr>
          <a:xfrm>
            <a:off x="533400" y="228600"/>
            <a:ext cx="8305800" cy="609600"/>
          </a:xfrm>
        </p:spPr>
        <p:txBody>
          <a:bodyPr/>
          <a:lstStyle/>
          <a:p>
            <a:r>
              <a:rPr lang="es-ES"/>
              <a:t>Haga clic para modificar el estilo de título del patrón</a:t>
            </a:r>
          </a:p>
        </p:txBody>
      </p:sp>
      <p:sp>
        <p:nvSpPr>
          <p:cNvPr id="3" name="2 Marcador de texto"/>
          <p:cNvSpPr>
            <a:spLocks noGrp="1"/>
          </p:cNvSpPr>
          <p:nvPr>
            <p:ph type="body" sz="half" idx="1"/>
          </p:nvPr>
        </p:nvSpPr>
        <p:spPr>
          <a:xfrm>
            <a:off x="533400" y="1119188"/>
            <a:ext cx="4076700" cy="5334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imágenes prediseñadas"/>
          <p:cNvSpPr>
            <a:spLocks noGrp="1"/>
          </p:cNvSpPr>
          <p:nvPr>
            <p:ph type="clipArt" sz="half" idx="2"/>
          </p:nvPr>
        </p:nvSpPr>
        <p:spPr>
          <a:xfrm>
            <a:off x="4762500" y="1119188"/>
            <a:ext cx="4076700" cy="5334000"/>
          </a:xfrm>
        </p:spPr>
        <p:txBody>
          <a:bodyPr/>
          <a:lstStyle/>
          <a:p>
            <a:pPr lvl="0"/>
            <a:endParaRPr lang="es-ES" noProof="0"/>
          </a:p>
        </p:txBody>
      </p:sp>
      <p:sp>
        <p:nvSpPr>
          <p:cNvPr id="5" name="Rectangle 4"/>
          <p:cNvSpPr>
            <a:spLocks noGrp="1" noChangeArrowheads="1"/>
          </p:cNvSpPr>
          <p:nvPr>
            <p:ph type="sldNum" sz="quarter" idx="10"/>
          </p:nvPr>
        </p:nvSpPr>
        <p:spPr>
          <a:ln/>
        </p:spPr>
        <p:txBody>
          <a:bodyPr/>
          <a:lstStyle>
            <a:lvl1pPr>
              <a:defRPr/>
            </a:lvl1pPr>
          </a:lstStyle>
          <a:p>
            <a:pPr>
              <a:defRPr/>
            </a:pPr>
            <a:fld id="{924C0E46-0DF0-4E12-BC65-6F56F04E4018}" type="slidenum">
              <a:rPr lang="en-US"/>
              <a:pPr>
                <a:defRPr/>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6" name="Oval 7"/>
          <p:cNvSpPr/>
          <p:nvPr userDrawn="1"/>
        </p:nvSpPr>
        <p:spPr>
          <a:xfrm>
            <a:off x="250825" y="5013325"/>
            <a:ext cx="1703388" cy="1701800"/>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85000" t="100000" r="1000000" b="30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a:p>
        </p:txBody>
      </p:sp>
      <p:sp>
        <p:nvSpPr>
          <p:cNvPr id="12" name="Rectangle 11"/>
          <p:cNvSpPr/>
          <p:nvPr/>
        </p:nvSpPr>
        <p:spPr>
          <a:xfrm>
            <a:off x="539750" y="0"/>
            <a:ext cx="860425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buFont typeface="Wingdings" pitchFamily="48" charset="2"/>
              <a:buNone/>
              <a:defRPr/>
            </a:pPr>
            <a:endParaRPr lang="es-ES" dirty="0"/>
          </a:p>
        </p:txBody>
      </p:sp>
      <p:sp>
        <p:nvSpPr>
          <p:cNvPr id="5" name="Title Placeholder 4"/>
          <p:cNvSpPr>
            <a:spLocks noGrp="1"/>
          </p:cNvSpPr>
          <p:nvPr>
            <p:ph type="title"/>
          </p:nvPr>
        </p:nvSpPr>
        <p:spPr>
          <a:xfrm>
            <a:off x="684213" y="115888"/>
            <a:ext cx="8250237" cy="865187"/>
          </a:xfrm>
          <a:prstGeom prst="rect">
            <a:avLst/>
          </a:prstGeom>
        </p:spPr>
        <p:txBody>
          <a:bodyPr anchor="ctr">
            <a:noAutofit/>
          </a:bodyPr>
          <a:lstStyle/>
          <a:p>
            <a:r>
              <a:rPr lang="es-ES" noProof="0"/>
              <a:t>Haga clic el estilo de título del patrón</a:t>
            </a:r>
          </a:p>
        </p:txBody>
      </p:sp>
      <p:sp>
        <p:nvSpPr>
          <p:cNvPr id="9" name="Text Placeholder 8"/>
          <p:cNvSpPr>
            <a:spLocks noGrp="1"/>
          </p:cNvSpPr>
          <p:nvPr>
            <p:ph type="body" idx="1"/>
          </p:nvPr>
        </p:nvSpPr>
        <p:spPr>
          <a:xfrm>
            <a:off x="684213" y="1125538"/>
            <a:ext cx="8250237" cy="5256212"/>
          </a:xfrm>
          <a:prstGeom prst="rect">
            <a:avLst/>
          </a:prstGeom>
        </p:spPr>
        <p:txBody>
          <a:bodyPr>
            <a:normAutofit/>
          </a:bodyPr>
          <a:lstStyle/>
          <a:p>
            <a:pPr lvl="0"/>
            <a:r>
              <a:rPr lang="es-ES" noProof="0"/>
              <a:t>Haga clic para modificar los estilos de título del patrón</a:t>
            </a:r>
          </a:p>
          <a:p>
            <a:pPr lvl="1"/>
            <a:r>
              <a:rPr lang="es-ES" noProof="0"/>
              <a:t>Segundo nivel</a:t>
            </a:r>
          </a:p>
          <a:p>
            <a:pPr lvl="2"/>
            <a:r>
              <a:rPr lang="es-ES" noProof="0"/>
              <a:t>Tercer nivel</a:t>
            </a:r>
          </a:p>
          <a:p>
            <a:pPr lvl="3"/>
            <a:r>
              <a:rPr lang="es-ES" noProof="0"/>
              <a:t>Cuarto nivel</a:t>
            </a:r>
          </a:p>
          <a:p>
            <a:pPr lvl="4"/>
            <a:r>
              <a:rPr lang="es-ES" noProof="0"/>
              <a:t>Quinto nivel</a:t>
            </a:r>
          </a:p>
          <a:p>
            <a:pPr lvl="5"/>
            <a:r>
              <a:rPr lang="es-ES" noProof="0"/>
              <a:t>Sexto nivel</a:t>
            </a:r>
          </a:p>
          <a:p>
            <a:pPr lvl="6"/>
            <a:r>
              <a:rPr lang="es-ES" noProof="0"/>
              <a:t>Séptimo nivel</a:t>
            </a:r>
          </a:p>
          <a:p>
            <a:pPr lvl="7"/>
            <a:r>
              <a:rPr lang="es-ES" noProof="0"/>
              <a:t>Octavo nivel</a:t>
            </a:r>
          </a:p>
          <a:p>
            <a:pPr lvl="8"/>
            <a:r>
              <a:rPr lang="es-ES" noProof="0"/>
              <a:t>Noveno nivel</a:t>
            </a:r>
          </a:p>
        </p:txBody>
      </p:sp>
      <p:sp>
        <p:nvSpPr>
          <p:cNvPr id="24" name="Date Placeholder 23"/>
          <p:cNvSpPr>
            <a:spLocks noGrp="1"/>
          </p:cNvSpPr>
          <p:nvPr>
            <p:ph type="dt" sz="half" idx="2"/>
          </p:nvPr>
        </p:nvSpPr>
        <p:spPr>
          <a:xfrm>
            <a:off x="3635375" y="6529388"/>
            <a:ext cx="2133600" cy="328612"/>
          </a:xfrm>
          <a:prstGeom prst="rect">
            <a:avLst/>
          </a:prstGeom>
        </p:spPr>
        <p:txBody>
          <a:bodyPr anchor="b"/>
          <a:lstStyle>
            <a:lvl1pPr algn="r" latinLnBrk="0">
              <a:buFont typeface="Wingdings" pitchFamily="48" charset="2"/>
              <a:buNone/>
              <a:defRPr lang="es-ES" sz="1100">
                <a:solidFill>
                  <a:schemeClr val="bg2">
                    <a:shade val="50000"/>
                    <a:satMod val="200000"/>
                  </a:schemeClr>
                </a:solidFill>
                <a:latin typeface="Arial" charset="0"/>
                <a:ea typeface="ＭＳ Ｐゴシック" pitchFamily="48" charset="-128"/>
              </a:defRPr>
            </a:lvl1pPr>
          </a:lstStyle>
          <a:p>
            <a:pPr>
              <a:defRPr/>
            </a:pPr>
            <a:fld id="{D3CC5109-EACF-4D29-A965-72F8EF4B326C}" type="datetime1">
              <a:rPr lang="es-ES" smtClean="0"/>
              <a:pPr>
                <a:defRPr/>
              </a:pPr>
              <a:t>9/8/26</a:t>
            </a:fld>
            <a:endParaRPr lang="es-ES">
              <a:solidFill>
                <a:schemeClr val="bg2">
                  <a:shade val="50000"/>
                </a:schemeClr>
              </a:solidFill>
            </a:endParaRPr>
          </a:p>
        </p:txBody>
      </p:sp>
      <p:sp>
        <p:nvSpPr>
          <p:cNvPr id="10" name="Footer Placeholder 9"/>
          <p:cNvSpPr>
            <a:spLocks noGrp="1"/>
          </p:cNvSpPr>
          <p:nvPr>
            <p:ph type="ftr" sz="quarter" idx="3"/>
          </p:nvPr>
        </p:nvSpPr>
        <p:spPr>
          <a:xfrm>
            <a:off x="5795963" y="6529388"/>
            <a:ext cx="2895600" cy="328612"/>
          </a:xfrm>
          <a:prstGeom prst="rect">
            <a:avLst/>
          </a:prstGeom>
        </p:spPr>
        <p:txBody>
          <a:bodyPr anchor="b"/>
          <a:lstStyle>
            <a:lvl1pPr latinLnBrk="0">
              <a:buFont typeface="Wingdings" pitchFamily="48" charset="2"/>
              <a:buNone/>
              <a:defRPr lang="es-ES" sz="1100">
                <a:solidFill>
                  <a:schemeClr val="bg2">
                    <a:shade val="50000"/>
                  </a:schemeClr>
                </a:solidFill>
                <a:effectLst/>
                <a:latin typeface="Arial" charset="0"/>
                <a:ea typeface="ＭＳ Ｐゴシック" pitchFamily="48" charset="-128"/>
              </a:defRPr>
            </a:lvl1pPr>
          </a:lstStyle>
          <a:p>
            <a:pPr>
              <a:defRPr/>
            </a:pPr>
            <a:r>
              <a:rPr lang="es-ES"/>
              <a:t>Curso 2011-2012</a:t>
            </a:r>
          </a:p>
        </p:txBody>
      </p:sp>
      <p:sp>
        <p:nvSpPr>
          <p:cNvPr id="22" name="Slide Number Placeholder 21"/>
          <p:cNvSpPr>
            <a:spLocks noGrp="1"/>
          </p:cNvSpPr>
          <p:nvPr>
            <p:ph type="sldNum" sz="quarter" idx="4"/>
          </p:nvPr>
        </p:nvSpPr>
        <p:spPr>
          <a:xfrm>
            <a:off x="8686800" y="6529388"/>
            <a:ext cx="457200" cy="328612"/>
          </a:xfrm>
          <a:prstGeom prst="rect">
            <a:avLst/>
          </a:prstGeom>
        </p:spPr>
        <p:txBody>
          <a:bodyPr anchor="b"/>
          <a:lstStyle>
            <a:lvl1pPr algn="ctr" latinLnBrk="0">
              <a:buFont typeface="Wingdings" pitchFamily="48" charset="2"/>
              <a:buNone/>
              <a:defRPr lang="es-ES" sz="1000">
                <a:solidFill>
                  <a:schemeClr val="bg2">
                    <a:shade val="50000"/>
                    <a:satMod val="200000"/>
                  </a:schemeClr>
                </a:solidFill>
                <a:effectLst/>
                <a:latin typeface="Arial" charset="0"/>
                <a:ea typeface="ＭＳ Ｐゴシック" pitchFamily="48" charset="-128"/>
              </a:defRPr>
            </a:lvl1pPr>
          </a:lstStyle>
          <a:p>
            <a:pPr>
              <a:defRPr/>
            </a:pPr>
            <a:fld id="{9F24CC15-B2D5-4EA3-B498-48A14C7038C6}" type="slidenum">
              <a:rPr lang="en-US" smtClean="0"/>
              <a:pPr>
                <a:defRPr/>
              </a:pPr>
              <a:t>‹Nº›</a:t>
            </a:fld>
            <a:endParaRPr lang="en-US" dirty="0"/>
          </a:p>
        </p:txBody>
      </p:sp>
      <p:sp>
        <p:nvSpPr>
          <p:cNvPr id="14" name="13 Rectángulo"/>
          <p:cNvSpPr/>
          <p:nvPr userDrawn="1"/>
        </p:nvSpPr>
        <p:spPr>
          <a:xfrm rot="16200000">
            <a:off x="-799306" y="5796756"/>
            <a:ext cx="1860550" cy="261938"/>
          </a:xfrm>
          <a:prstGeom prst="rect">
            <a:avLst/>
          </a:prstGeom>
        </p:spPr>
        <p:txBody>
          <a:bodyPr wrap="none">
            <a:spAutoFit/>
          </a:bodyPr>
          <a:lstStyle/>
          <a:p>
            <a:pPr>
              <a:buFont typeface="Wingdings" pitchFamily="48" charset="2"/>
              <a:buNone/>
              <a:defRPr/>
            </a:pPr>
            <a:r>
              <a:rPr lang="es-ES" sz="11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Estructura de Computadores</a:t>
            </a:r>
          </a:p>
        </p:txBody>
      </p:sp>
    </p:spTree>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8" r:id="rId10"/>
  </p:sldLayoutIdLst>
  <p:hf hdr="0" dt="0"/>
  <p:txStyles>
    <p:title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p:titleStyle>
    <p:bodyStyle>
      <a:lvl1pPr marL="365125" indent="-282575" algn="l" rtl="0" eaLnBrk="0" fontAlgn="base" hangingPunct="0">
        <a:lnSpc>
          <a:spcPts val="3000"/>
        </a:lnSpc>
        <a:spcBef>
          <a:spcPts val="600"/>
        </a:spcBef>
        <a:spcAft>
          <a:spcPct val="0"/>
        </a:spcAft>
        <a:buClr>
          <a:schemeClr val="accent1"/>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rgbClr val="C58D01"/>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p:bodyStyle>
    <p:otherStyle>
      <a:lvl1pPr marL="0" algn="l" rtl="0" eaLnBrk="1" latinLnBrk="0" hangingPunct="1">
        <a:defRPr lang="es-ES" kern="1200">
          <a:solidFill>
            <a:schemeClr val="tx1"/>
          </a:solidFill>
          <a:latin typeface="+mn-lt"/>
          <a:ea typeface="+mn-ea"/>
          <a:cs typeface="+mn-cs"/>
        </a:defRPr>
      </a:lvl1pPr>
      <a:lvl2pPr marL="457200" algn="l" rtl="0" eaLnBrk="1" hangingPunct="1">
        <a:defRPr lang="es-ES" kern="1200">
          <a:solidFill>
            <a:schemeClr val="tx1"/>
          </a:solidFill>
          <a:latin typeface="+mn-lt"/>
          <a:ea typeface="+mn-ea"/>
          <a:cs typeface="+mn-cs"/>
        </a:defRPr>
      </a:lvl2pPr>
      <a:lvl3pPr marL="914400" algn="l" rtl="0" eaLnBrk="1" hangingPunct="1">
        <a:defRPr lang="es-ES" kern="1200">
          <a:solidFill>
            <a:schemeClr val="tx1"/>
          </a:solidFill>
          <a:latin typeface="+mn-lt"/>
          <a:ea typeface="+mn-ea"/>
          <a:cs typeface="+mn-cs"/>
        </a:defRPr>
      </a:lvl3pPr>
      <a:lvl4pPr marL="1371600" algn="l" rtl="0" eaLnBrk="1" hangingPunct="1">
        <a:defRPr lang="es-ES" kern="1200">
          <a:solidFill>
            <a:schemeClr val="tx1"/>
          </a:solidFill>
          <a:latin typeface="+mn-lt"/>
          <a:ea typeface="+mn-ea"/>
          <a:cs typeface="+mn-cs"/>
        </a:defRPr>
      </a:lvl4pPr>
      <a:lvl5pPr marL="1828800" algn="l" rtl="0" eaLnBrk="1" hangingPunct="1">
        <a:defRPr lang="es-ES" kern="1200">
          <a:solidFill>
            <a:schemeClr val="tx1"/>
          </a:solidFill>
          <a:latin typeface="+mn-lt"/>
          <a:ea typeface="+mn-ea"/>
          <a:cs typeface="+mn-cs"/>
        </a:defRPr>
      </a:lvl5pPr>
      <a:lvl6pPr marL="2286000" algn="l" rtl="0" eaLnBrk="1" hangingPunct="1">
        <a:defRPr lang="es-ES" kern="1200">
          <a:solidFill>
            <a:schemeClr val="tx1"/>
          </a:solidFill>
          <a:latin typeface="+mn-lt"/>
          <a:ea typeface="+mn-ea"/>
          <a:cs typeface="+mn-cs"/>
        </a:defRPr>
      </a:lvl6pPr>
      <a:lvl7pPr marL="2743200" algn="l" rtl="0" eaLnBrk="1" hangingPunct="1">
        <a:defRPr lang="es-ES" kern="1200">
          <a:solidFill>
            <a:schemeClr val="tx1"/>
          </a:solidFill>
          <a:latin typeface="+mn-lt"/>
          <a:ea typeface="+mn-ea"/>
          <a:cs typeface="+mn-cs"/>
        </a:defRPr>
      </a:lvl7pPr>
      <a:lvl8pPr marL="3200400" algn="l" rtl="0" eaLnBrk="1" hangingPunct="1">
        <a:defRPr lang="es-ES" kern="1200">
          <a:solidFill>
            <a:schemeClr val="tx1"/>
          </a:solidFill>
          <a:latin typeface="+mn-lt"/>
          <a:ea typeface="+mn-ea"/>
          <a:cs typeface="+mn-cs"/>
        </a:defRPr>
      </a:lvl8pPr>
      <a:lvl9pPr marL="3657600" algn="l" rtl="0" eaLnBrk="1" hangingPunct="1">
        <a:defRPr lang="es-ES"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20.png"/><Relationship Id="rId4" Type="http://schemas.openxmlformats.org/officeDocument/2006/relationships/image" Target="../media/image15.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3.bin"/><Relationship Id="rId4" Type="http://schemas.openxmlformats.org/officeDocument/2006/relationships/image" Target="../media/image16.w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slide" Target="slide110.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6.bin"/><Relationship Id="rId4" Type="http://schemas.openxmlformats.org/officeDocument/2006/relationships/image" Target="../media/image20.wmf"/></Relationships>
</file>

<file path=ppt/slides/_rels/slide1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20.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p:txBody>
          <a:bodyPr/>
          <a:lstStyle/>
          <a:p>
            <a:r>
              <a:rPr lang="es-ES" dirty="0"/>
              <a:t>Tema 5: La memoria principal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s-ES" dirty="0"/>
              <a:t>Objetivos</a:t>
            </a:r>
          </a:p>
        </p:txBody>
      </p:sp>
      <p:sp>
        <p:nvSpPr>
          <p:cNvPr id="8196" name="Rectangle 3"/>
          <p:cNvSpPr>
            <a:spLocks noGrp="1" noChangeArrowheads="1"/>
          </p:cNvSpPr>
          <p:nvPr>
            <p:ph type="body" idx="1"/>
          </p:nvPr>
        </p:nvSpPr>
        <p:spPr>
          <a:xfrm>
            <a:off x="533400" y="1219200"/>
            <a:ext cx="8305800" cy="5089525"/>
          </a:xfrm>
        </p:spPr>
        <p:txBody>
          <a:bodyPr/>
          <a:lstStyle/>
          <a:p>
            <a:r>
              <a:rPr lang="es-ES" sz="2000" dirty="0"/>
              <a:t>Introducción a la jerarquía de memoria</a:t>
            </a:r>
          </a:p>
          <a:p>
            <a:r>
              <a:rPr lang="es-ES" sz="2000" dirty="0"/>
              <a:t>Comprender la organización y acceso a la memoria principal</a:t>
            </a:r>
          </a:p>
          <a:p>
            <a:r>
              <a:rPr lang="es-ES" sz="2000" dirty="0"/>
              <a:t>Describir las características estructurales y funcionales más relevantes de las memorias RAM dinámicas síncronas (SDRAM)</a:t>
            </a:r>
          </a:p>
          <a:p>
            <a:r>
              <a:rPr lang="es-ES" sz="2000" dirty="0"/>
              <a:t>Interpretar los parámetros de temporización de las SDRAM </a:t>
            </a:r>
          </a:p>
          <a:p>
            <a:r>
              <a:rPr lang="es-ES" sz="2000" dirty="0"/>
              <a:t>Comprender la configuración de los módulos de memoria</a:t>
            </a:r>
          </a:p>
          <a:p>
            <a:r>
              <a:rPr lang="es-ES" sz="2000" dirty="0"/>
              <a:t>Definir el concepto de mapa de memoria e introducir el diseño de los sistemas de descodificación</a:t>
            </a:r>
          </a:p>
          <a:p>
            <a:r>
              <a:rPr lang="es-ES" sz="2000" dirty="0"/>
              <a:t>Entender las funciones del controlador de memoria dinámica</a:t>
            </a:r>
          </a:p>
          <a:p>
            <a:endParaRPr lang="es-ES" sz="2000" dirty="0"/>
          </a:p>
        </p:txBody>
      </p:sp>
      <p:sp>
        <p:nvSpPr>
          <p:cNvPr id="2" name="Marcador de número de diapositiva 3">
            <a:extLst>
              <a:ext uri="{FF2B5EF4-FFF2-40B4-BE49-F238E27FC236}">
                <a16:creationId xmlns:a16="http://schemas.microsoft.com/office/drawing/2014/main" id="{7FD8B11E-F807-4CB4-F6AA-A806894DB554}"/>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9204C5-9F1B-FFF3-C139-9685A0A75C14}"/>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D132A3B5-4E5D-4375-7FF0-67C787E83AF4}"/>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DB3273B2-9A64-AB88-327F-3E928B528859}"/>
              </a:ext>
            </a:extLst>
          </p:cNvPr>
          <p:cNvSpPr>
            <a:spLocks noGrp="1"/>
          </p:cNvSpPr>
          <p:nvPr>
            <p:ph type="sldNum" sz="quarter" idx="12"/>
          </p:nvPr>
        </p:nvSpPr>
        <p:spPr/>
        <p:txBody>
          <a:bodyPr/>
          <a:lstStyle/>
          <a:p>
            <a:pPr>
              <a:defRPr/>
            </a:pPr>
            <a:fld id="{50B7A251-C820-4EFF-8270-C7613E20881F}" type="slidenum">
              <a:rPr lang="en-US" smtClean="0"/>
              <a:pPr>
                <a:defRPr/>
              </a:pPr>
              <a:t>3</a:t>
            </a:fld>
            <a:endParaRPr lang="en-US" dirty="0"/>
          </a:p>
        </p:txBody>
      </p:sp>
    </p:spTree>
    <p:extLst>
      <p:ext uri="{BB962C8B-B14F-4D97-AF65-F5344CB8AC3E}">
        <p14:creationId xmlns:p14="http://schemas.microsoft.com/office/powerpoint/2010/main" val="907122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s-ES"/>
              <a:t>Bibliografía</a:t>
            </a:r>
          </a:p>
        </p:txBody>
      </p:sp>
      <p:sp>
        <p:nvSpPr>
          <p:cNvPr id="10244" name="Rectangle 3"/>
          <p:cNvSpPr>
            <a:spLocks noGrp="1" noChangeArrowheads="1"/>
          </p:cNvSpPr>
          <p:nvPr>
            <p:ph type="body" idx="1"/>
          </p:nvPr>
        </p:nvSpPr>
        <p:spPr>
          <a:xfrm>
            <a:off x="533400" y="836712"/>
            <a:ext cx="8610600" cy="5334000"/>
          </a:xfrm>
        </p:spPr>
        <p:txBody>
          <a:bodyPr/>
          <a:lstStyle/>
          <a:p>
            <a:pPr>
              <a:lnSpc>
                <a:spcPct val="100000"/>
              </a:lnSpc>
            </a:pPr>
            <a:r>
              <a:rPr lang="es-ES" dirty="0" err="1"/>
              <a:t>Stallings</a:t>
            </a:r>
            <a:r>
              <a:rPr lang="es-ES" dirty="0"/>
              <a:t>, W. </a:t>
            </a:r>
          </a:p>
          <a:p>
            <a:pPr lvl="1">
              <a:lnSpc>
                <a:spcPct val="100000"/>
              </a:lnSpc>
            </a:pPr>
            <a:r>
              <a:rPr lang="es-ES" dirty="0"/>
              <a:t>Organización y arquitectura de computadores. 7ª edición, Prentice Hall, 2006. Cap.5 (5.3)</a:t>
            </a:r>
          </a:p>
          <a:p>
            <a:pPr>
              <a:lnSpc>
                <a:spcPct val="100000"/>
              </a:lnSpc>
            </a:pPr>
            <a:r>
              <a:rPr lang="es-ES" dirty="0" err="1"/>
              <a:t>Hamacher</a:t>
            </a:r>
            <a:r>
              <a:rPr lang="es-ES" dirty="0"/>
              <a:t>, V.C., </a:t>
            </a:r>
            <a:r>
              <a:rPr lang="es-ES" dirty="0" err="1"/>
              <a:t>Vranesic</a:t>
            </a:r>
            <a:r>
              <a:rPr lang="es-ES" dirty="0"/>
              <a:t>, Z.G., </a:t>
            </a:r>
            <a:r>
              <a:rPr lang="es-ES" dirty="0" err="1"/>
              <a:t>Zaky</a:t>
            </a:r>
            <a:r>
              <a:rPr lang="es-ES" dirty="0"/>
              <a:t>, S.G. </a:t>
            </a:r>
          </a:p>
          <a:p>
            <a:pPr lvl="1">
              <a:lnSpc>
                <a:spcPct val="100000"/>
              </a:lnSpc>
            </a:pPr>
            <a:r>
              <a:rPr lang="es-ES" dirty="0"/>
              <a:t>Organización de computadores. 5ª edición. McGraw Hill, 2002. Cap.5 (5.2.4, 5.2.5, 5.2.6, 5.6.1)</a:t>
            </a:r>
          </a:p>
          <a:p>
            <a:r>
              <a:rPr lang="es-ES" dirty="0"/>
              <a:t>Patterson, D.A., </a:t>
            </a:r>
            <a:r>
              <a:rPr lang="es-ES" dirty="0" err="1"/>
              <a:t>Hennessy</a:t>
            </a:r>
            <a:r>
              <a:rPr lang="es-ES" dirty="0"/>
              <a:t>, J.L. </a:t>
            </a:r>
          </a:p>
          <a:p>
            <a:pPr lvl="1"/>
            <a:r>
              <a:rPr lang="es-ES" dirty="0"/>
              <a:t>Estructura y diseño de computadores. La interfaz hardware/software. 4ª edición. </a:t>
            </a:r>
            <a:r>
              <a:rPr lang="es-ES" dirty="0" err="1"/>
              <a:t>Reverté</a:t>
            </a:r>
            <a:r>
              <a:rPr lang="es-ES" dirty="0"/>
              <a:t>, 2011</a:t>
            </a:r>
          </a:p>
          <a:p>
            <a:pPr>
              <a:lnSpc>
                <a:spcPct val="100000"/>
              </a:lnSpc>
            </a:pPr>
            <a:r>
              <a:rPr lang="es-ES" dirty="0"/>
              <a:t>Páginas web: </a:t>
            </a:r>
          </a:p>
          <a:p>
            <a:pPr lvl="1">
              <a:lnSpc>
                <a:spcPct val="100000"/>
              </a:lnSpc>
            </a:pPr>
            <a:r>
              <a:rPr lang="es-ES" b="1" dirty="0">
                <a:latin typeface="Courier New" pitchFamily="49" charset="0"/>
              </a:rPr>
              <a:t>www.micron.com</a:t>
            </a:r>
            <a:r>
              <a:rPr lang="es-ES" dirty="0">
                <a:latin typeface="Courier New" pitchFamily="49" charset="0"/>
              </a:rPr>
              <a:t> </a:t>
            </a:r>
            <a:r>
              <a:rPr lang="es-ES" dirty="0"/>
              <a:t>(chips)</a:t>
            </a:r>
          </a:p>
          <a:p>
            <a:pPr lvl="1">
              <a:lnSpc>
                <a:spcPct val="100000"/>
              </a:lnSpc>
            </a:pPr>
            <a:r>
              <a:rPr lang="es-ES" b="1" dirty="0">
                <a:latin typeface="Courier New" pitchFamily="49" charset="0"/>
              </a:rPr>
              <a:t>www.kingston.com</a:t>
            </a:r>
            <a:r>
              <a:rPr lang="es-ES" dirty="0">
                <a:latin typeface="Courier New" pitchFamily="49" charset="0"/>
              </a:rPr>
              <a:t> </a:t>
            </a:r>
            <a:r>
              <a:rPr lang="es-ES" dirty="0"/>
              <a:t>(módulos)</a:t>
            </a:r>
          </a:p>
          <a:p>
            <a:pPr lvl="1">
              <a:lnSpc>
                <a:spcPct val="100000"/>
              </a:lnSpc>
            </a:pPr>
            <a:r>
              <a:rPr lang="es-ES" b="1" dirty="0">
                <a:latin typeface="Courier New" pitchFamily="49" charset="0"/>
              </a:rPr>
              <a:t>www.tomshardware.com</a:t>
            </a:r>
            <a:r>
              <a:rPr lang="es-ES" dirty="0">
                <a:latin typeface="Courier New" pitchFamily="49" charset="0"/>
              </a:rPr>
              <a:t> </a:t>
            </a:r>
          </a:p>
        </p:txBody>
      </p:sp>
      <p:sp>
        <p:nvSpPr>
          <p:cNvPr id="2" name="Marcador de número de diapositiva 3">
            <a:extLst>
              <a:ext uri="{FF2B5EF4-FFF2-40B4-BE49-F238E27FC236}">
                <a16:creationId xmlns:a16="http://schemas.microsoft.com/office/drawing/2014/main" id="{CC7DD923-FFC6-D052-7456-1A0AAF782823}"/>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15A7E-57E5-BB6A-785A-A98BA71E83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88F1DF-19F8-C793-50F1-BC7BD83444D2}"/>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EC498CB3-B32F-0BBB-38F1-C2FA0748CE9A}"/>
              </a:ext>
            </a:extLst>
          </p:cNvPr>
          <p:cNvSpPr>
            <a:spLocks noGrp="1"/>
          </p:cNvSpPr>
          <p:nvPr>
            <p:ph idx="1"/>
          </p:nvPr>
        </p:nvSpPr>
        <p:spPr/>
        <p:txBody>
          <a:bodyPr/>
          <a:lstStyle/>
          <a:p>
            <a:pPr marL="82550" indent="0">
              <a:buNone/>
            </a:pPr>
            <a:r>
              <a:rPr lang="es-ES_tradnl" sz="2000" dirty="0">
                <a:solidFill>
                  <a:srgbClr val="FF0000"/>
                </a:solidFill>
                <a:latin typeface="Arial" panose="020B0604020202020204" pitchFamily="34" charset="0"/>
                <a:cs typeface="Arial" panose="020B0604020202020204" pitchFamily="34" charset="0"/>
              </a:rPr>
              <a:t>1 - </a:t>
            </a:r>
            <a:r>
              <a:rPr lang="es-ES" dirty="0">
                <a:solidFill>
                  <a:srgbClr val="FF0000"/>
                </a:solidFill>
              </a:rPr>
              <a:t>El sistema de memoria del computador</a:t>
            </a:r>
          </a:p>
          <a:p>
            <a:pPr marL="731838" lvl="1" indent="-457200">
              <a:lnSpc>
                <a:spcPct val="90000"/>
              </a:lnSpc>
            </a:pPr>
            <a:r>
              <a:rPr lang="es-ES" dirty="0">
                <a:solidFill>
                  <a:srgbClr val="FF0000"/>
                </a:solidFill>
              </a:rPr>
              <a:t>¿Qué es la memoria y dónde se sitúa?</a:t>
            </a:r>
          </a:p>
          <a:p>
            <a:pPr marL="731838" lvl="1" indent="-457200">
              <a:lnSpc>
                <a:spcPct val="90000"/>
              </a:lnSpc>
            </a:pPr>
            <a:r>
              <a:rPr lang="es-ES" dirty="0">
                <a:solidFill>
                  <a:srgbClr val="FF0000"/>
                </a:solidFill>
              </a:rPr>
              <a:t>Jerarquía de memoria</a:t>
            </a:r>
          </a:p>
          <a:p>
            <a:pPr marL="82550" indent="0">
              <a:buNone/>
            </a:pPr>
            <a:r>
              <a:rPr lang="es-ES" dirty="0"/>
              <a:t>2 - Memoria principal</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92E20157-C618-736D-FCF5-A83390B52CB1}"/>
              </a:ext>
            </a:extLst>
          </p:cNvPr>
          <p:cNvSpPr>
            <a:spLocks noGrp="1"/>
          </p:cNvSpPr>
          <p:nvPr>
            <p:ph type="sldNum" sz="quarter" idx="12"/>
          </p:nvPr>
        </p:nvSpPr>
        <p:spPr/>
        <p:txBody>
          <a:bodyPr/>
          <a:lstStyle/>
          <a:p>
            <a:pPr>
              <a:defRPr/>
            </a:pPr>
            <a:fld id="{50B7A251-C820-4EFF-8270-C7613E20881F}" type="slidenum">
              <a:rPr lang="en-US" smtClean="0"/>
              <a:pPr>
                <a:defRPr/>
              </a:pPr>
              <a:t>5</a:t>
            </a:fld>
            <a:endParaRPr lang="en-US" dirty="0"/>
          </a:p>
        </p:txBody>
      </p:sp>
    </p:spTree>
    <p:extLst>
      <p:ext uri="{BB962C8B-B14F-4D97-AF65-F5344CB8AC3E}">
        <p14:creationId xmlns:p14="http://schemas.microsoft.com/office/powerpoint/2010/main" val="1217114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s-ES" dirty="0"/>
              <a:t>¿Qué es y dónde se sitúa la memoria?</a:t>
            </a:r>
            <a:endParaRPr lang="ca-ES" dirty="0"/>
          </a:p>
        </p:txBody>
      </p:sp>
      <p:sp>
        <p:nvSpPr>
          <p:cNvPr id="9220" name="Rectangle 3"/>
          <p:cNvSpPr>
            <a:spLocks noGrp="1" noChangeArrowheads="1"/>
          </p:cNvSpPr>
          <p:nvPr>
            <p:ph type="body" idx="1"/>
          </p:nvPr>
        </p:nvSpPr>
        <p:spPr>
          <a:xfrm>
            <a:off x="533400" y="1191344"/>
            <a:ext cx="8431088" cy="5334000"/>
          </a:xfrm>
        </p:spPr>
        <p:txBody>
          <a:bodyPr/>
          <a:lstStyle/>
          <a:p>
            <a:pPr>
              <a:lnSpc>
                <a:spcPct val="100000"/>
              </a:lnSpc>
            </a:pPr>
            <a:r>
              <a:rPr lang="es-ES" dirty="0"/>
              <a:t>Medio físico capaz de almacenar información de forma temporal o permanente</a:t>
            </a:r>
          </a:p>
        </p:txBody>
      </p:sp>
      <p:sp>
        <p:nvSpPr>
          <p:cNvPr id="7" name="Rectangle 3">
            <a:extLst>
              <a:ext uri="{FF2B5EF4-FFF2-40B4-BE49-F238E27FC236}">
                <a16:creationId xmlns:a16="http://schemas.microsoft.com/office/drawing/2014/main" id="{7B5742D5-C0F0-414B-ABAD-DBFBCF15B51A}"/>
              </a:ext>
            </a:extLst>
          </p:cNvPr>
          <p:cNvSpPr txBox="1">
            <a:spLocks noChangeArrowheads="1"/>
          </p:cNvSpPr>
          <p:nvPr/>
        </p:nvSpPr>
        <p:spPr>
          <a:xfrm>
            <a:off x="533400" y="1916832"/>
            <a:ext cx="8431088" cy="3304421"/>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pPr>
            <a:r>
              <a:rPr lang="es-ES" dirty="0"/>
              <a:t>¿Dónde se sitúa la memoria en un computador?</a:t>
            </a:r>
          </a:p>
          <a:p>
            <a:pPr lvl="1">
              <a:lnSpc>
                <a:spcPct val="100000"/>
              </a:lnSpc>
            </a:pPr>
            <a:r>
              <a:rPr lang="es-ES" dirty="0"/>
              <a:t>Registros del procesador</a:t>
            </a:r>
          </a:p>
          <a:p>
            <a:pPr lvl="1">
              <a:lnSpc>
                <a:spcPct val="100000"/>
              </a:lnSpc>
            </a:pPr>
            <a:r>
              <a:rPr lang="es-ES" dirty="0"/>
              <a:t>Memoria caché</a:t>
            </a:r>
          </a:p>
          <a:p>
            <a:pPr lvl="1">
              <a:lnSpc>
                <a:spcPct val="100000"/>
              </a:lnSpc>
            </a:pPr>
            <a:r>
              <a:rPr lang="es-ES" dirty="0"/>
              <a:t>Memoria principal</a:t>
            </a:r>
          </a:p>
          <a:p>
            <a:pPr lvl="1">
              <a:lnSpc>
                <a:spcPct val="100000"/>
              </a:lnSpc>
            </a:pPr>
            <a:r>
              <a:rPr lang="es-ES" dirty="0"/>
              <a:t>Memoria secundaria</a:t>
            </a:r>
          </a:p>
          <a:p>
            <a:pPr lvl="2">
              <a:lnSpc>
                <a:spcPct val="100000"/>
              </a:lnSpc>
            </a:pPr>
            <a:r>
              <a:rPr lang="es-ES" sz="1800" dirty="0"/>
              <a:t>SSD</a:t>
            </a:r>
          </a:p>
          <a:p>
            <a:pPr lvl="2">
              <a:lnSpc>
                <a:spcPct val="100000"/>
              </a:lnSpc>
            </a:pPr>
            <a:r>
              <a:rPr lang="es-ES" sz="1800" dirty="0"/>
              <a:t>Discos</a:t>
            </a:r>
          </a:p>
          <a:p>
            <a:pPr lvl="2">
              <a:lnSpc>
                <a:spcPct val="100000"/>
              </a:lnSpc>
            </a:pPr>
            <a:r>
              <a:rPr lang="es-ES" sz="1800" dirty="0"/>
              <a:t>Cintas</a:t>
            </a:r>
          </a:p>
          <a:p>
            <a:pPr lvl="2">
              <a:lnSpc>
                <a:spcPct val="100000"/>
              </a:lnSpc>
            </a:pPr>
            <a:r>
              <a:rPr lang="es-ES" sz="1800" dirty="0"/>
              <a:t>Discos ópticos</a:t>
            </a:r>
          </a:p>
        </p:txBody>
      </p:sp>
      <p:grpSp>
        <p:nvGrpSpPr>
          <p:cNvPr id="8" name="Grupo 7">
            <a:extLst>
              <a:ext uri="{FF2B5EF4-FFF2-40B4-BE49-F238E27FC236}">
                <a16:creationId xmlns:a16="http://schemas.microsoft.com/office/drawing/2014/main" id="{9889B457-2604-405E-8477-B41BB2C0045D}"/>
              </a:ext>
            </a:extLst>
          </p:cNvPr>
          <p:cNvGrpSpPr/>
          <p:nvPr/>
        </p:nvGrpSpPr>
        <p:grpSpPr>
          <a:xfrm>
            <a:off x="4419600" y="2514600"/>
            <a:ext cx="4433888" cy="2514600"/>
            <a:chOff x="4419600" y="2514600"/>
            <a:chExt cx="4433888" cy="2514600"/>
          </a:xfrm>
        </p:grpSpPr>
        <p:sp>
          <p:nvSpPr>
            <p:cNvPr id="9" name="AutoShape 4">
              <a:extLst>
                <a:ext uri="{FF2B5EF4-FFF2-40B4-BE49-F238E27FC236}">
                  <a16:creationId xmlns:a16="http://schemas.microsoft.com/office/drawing/2014/main" id="{C09DB59F-92DA-443E-8FF6-735C4BEC18C4}"/>
                </a:ext>
              </a:extLst>
            </p:cNvPr>
            <p:cNvSpPr>
              <a:spLocks/>
            </p:cNvSpPr>
            <p:nvPr/>
          </p:nvSpPr>
          <p:spPr bwMode="auto">
            <a:xfrm>
              <a:off x="4419600" y="2514600"/>
              <a:ext cx="381000" cy="2514600"/>
            </a:xfrm>
            <a:prstGeom prst="rightBrace">
              <a:avLst>
                <a:gd name="adj1" fmla="val 55000"/>
                <a:gd name="adj2" fmla="val 50000"/>
              </a:avLst>
            </a:prstGeom>
            <a:noFill/>
            <a:ln w="28575">
              <a:solidFill>
                <a:schemeClr val="tx1"/>
              </a:solidFill>
              <a:round/>
              <a:headEnd/>
              <a:tailEnd/>
            </a:ln>
          </p:spPr>
          <p:txBody>
            <a:bodyPr wrap="none" anchor="ctr"/>
            <a:lstStyle/>
            <a:p>
              <a:endParaRPr lang="es-ES"/>
            </a:p>
          </p:txBody>
        </p:sp>
        <p:sp>
          <p:nvSpPr>
            <p:cNvPr id="10" name="Text Box 5">
              <a:extLst>
                <a:ext uri="{FF2B5EF4-FFF2-40B4-BE49-F238E27FC236}">
                  <a16:creationId xmlns:a16="http://schemas.microsoft.com/office/drawing/2014/main" id="{0DC2D09C-7B26-46DF-A52E-EF36FECF9CCE}"/>
                </a:ext>
              </a:extLst>
            </p:cNvPr>
            <p:cNvSpPr txBox="1">
              <a:spLocks noChangeArrowheads="1"/>
            </p:cNvSpPr>
            <p:nvPr/>
          </p:nvSpPr>
          <p:spPr bwMode="auto">
            <a:xfrm>
              <a:off x="4800600" y="3356992"/>
              <a:ext cx="4052888" cy="1138773"/>
            </a:xfrm>
            <a:prstGeom prst="rect">
              <a:avLst/>
            </a:prstGeom>
            <a:solidFill>
              <a:srgbClr val="FFFFCC"/>
            </a:solidFill>
            <a:ln w="3175">
              <a:noFill/>
              <a:miter lim="800000"/>
              <a:headEnd/>
              <a:tailEnd/>
            </a:ln>
          </p:spPr>
          <p:txBody>
            <a:bodyPr wrap="square">
              <a:spAutoFit/>
            </a:bodyPr>
            <a:lstStyle/>
            <a:p>
              <a:pPr eaLnBrk="0" hangingPunct="0"/>
              <a:r>
                <a:rPr lang="es-ES" sz="2000" dirty="0">
                  <a:solidFill>
                    <a:srgbClr val="003399"/>
                  </a:solidFill>
                </a:rPr>
                <a:t>Tecnologías diferentes</a:t>
              </a:r>
            </a:p>
            <a:p>
              <a:pPr eaLnBrk="0" hangingPunct="0"/>
              <a:r>
                <a:rPr lang="es-ES" sz="2000" dirty="0">
                  <a:solidFill>
                    <a:srgbClr val="003399"/>
                  </a:solidFill>
                </a:rPr>
                <a:t>Fundamentos físicos diferentes</a:t>
              </a:r>
            </a:p>
            <a:p>
              <a:pPr eaLnBrk="0" hangingPunct="0"/>
              <a:r>
                <a:rPr lang="es-ES" sz="2000" dirty="0">
                  <a:solidFill>
                    <a:srgbClr val="003399"/>
                  </a:solidFill>
                </a:rPr>
                <a:t>Localización en diversos lugares</a:t>
              </a:r>
              <a:endParaRPr lang="ca-ES" sz="2000" dirty="0">
                <a:solidFill>
                  <a:srgbClr val="003399"/>
                </a:solidFill>
              </a:endParaRPr>
            </a:p>
          </p:txBody>
        </p:sp>
      </p:grpSp>
      <p:sp>
        <p:nvSpPr>
          <p:cNvPr id="2" name="Marcador de número de diapositiva 3">
            <a:extLst>
              <a:ext uri="{FF2B5EF4-FFF2-40B4-BE49-F238E27FC236}">
                <a16:creationId xmlns:a16="http://schemas.microsoft.com/office/drawing/2014/main" id="{7B082943-FB63-3A6A-40CA-75F26607CC08}"/>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6</a:t>
            </a:fld>
            <a:endParaRPr lang="en-US" dirty="0"/>
          </a:p>
        </p:txBody>
      </p:sp>
    </p:spTree>
    <p:extLst>
      <p:ext uri="{BB962C8B-B14F-4D97-AF65-F5344CB8AC3E}">
        <p14:creationId xmlns:p14="http://schemas.microsoft.com/office/powerpoint/2010/main" val="218807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36 Disco magnético"/>
          <p:cNvSpPr/>
          <p:nvPr/>
        </p:nvSpPr>
        <p:spPr bwMode="auto">
          <a:xfrm>
            <a:off x="7216503" y="4725144"/>
            <a:ext cx="889249" cy="757825"/>
          </a:xfrm>
          <a:prstGeom prst="flowChartMagneticDisk">
            <a:avLst/>
          </a:prstGeom>
          <a:solidFill>
            <a:srgbClr val="C00000"/>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5" name="4 Rectángulo redondeado"/>
          <p:cNvSpPr/>
          <p:nvPr/>
        </p:nvSpPr>
        <p:spPr bwMode="auto">
          <a:xfrm>
            <a:off x="1387047" y="1196752"/>
            <a:ext cx="1872208" cy="2808312"/>
          </a:xfrm>
          <a:prstGeom prst="roundRect">
            <a:avLst/>
          </a:prstGeom>
          <a:solidFill>
            <a:srgbClr val="FFCC66"/>
          </a:solidFill>
          <a:ln w="19050" cap="flat" cmpd="sng" algn="ctr">
            <a:solidFill>
              <a:srgbClr val="FFFF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dirty="0">
              <a:ln>
                <a:noFill/>
              </a:ln>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s-ES" dirty="0"/>
          </a:p>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dirty="0">
              <a:ln>
                <a:noFill/>
              </a:ln>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s-ES" dirty="0"/>
          </a:p>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dirty="0">
              <a:ln>
                <a:noFill/>
              </a:ln>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s-ES" dirty="0"/>
          </a:p>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dirty="0">
              <a:ln>
                <a:noFill/>
              </a:ln>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s-ES" sz="2800" b="1" i="0" u="none" strike="noStrike" cap="none" normalizeH="0" baseline="0" dirty="0">
                <a:ln>
                  <a:noFill/>
                </a:ln>
                <a:effectLst/>
                <a:latin typeface="Arial" charset="0"/>
              </a:rPr>
              <a:t>CPU</a:t>
            </a:r>
          </a:p>
        </p:txBody>
      </p:sp>
      <p:sp>
        <p:nvSpPr>
          <p:cNvPr id="8" name="7 Rectángulo"/>
          <p:cNvSpPr/>
          <p:nvPr/>
        </p:nvSpPr>
        <p:spPr bwMode="auto">
          <a:xfrm>
            <a:off x="1530896" y="2852936"/>
            <a:ext cx="1296144" cy="216024"/>
          </a:xfrm>
          <a:prstGeom prst="rect">
            <a:avLst/>
          </a:prstGeom>
          <a:solidFill>
            <a:srgbClr val="FF0066"/>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11" name="10 Rectángulo"/>
          <p:cNvSpPr/>
          <p:nvPr/>
        </p:nvSpPr>
        <p:spPr bwMode="auto">
          <a:xfrm>
            <a:off x="4339375" y="2276872"/>
            <a:ext cx="1800200" cy="1728192"/>
          </a:xfrm>
          <a:prstGeom prst="rect">
            <a:avLst/>
          </a:prstGeom>
          <a:solidFill>
            <a:srgbClr val="990099"/>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sz="2000" b="0" i="0" u="none" strike="noStrike" cap="none" normalizeH="0" baseline="0" dirty="0">
                <a:ln>
                  <a:noFill/>
                </a:ln>
                <a:solidFill>
                  <a:schemeClr val="tx1"/>
                </a:solidFill>
                <a:effectLst/>
                <a:latin typeface="Arial" charset="0"/>
              </a:rPr>
              <a:t>Controlador</a:t>
            </a:r>
          </a:p>
          <a:p>
            <a:pPr marL="0" marR="0" indent="0" algn="ctr" defTabSz="914400" rtl="0" eaLnBrk="0" fontAlgn="base" latinLnBrk="0" hangingPunct="0">
              <a:lnSpc>
                <a:spcPct val="100000"/>
              </a:lnSpc>
              <a:spcBef>
                <a:spcPct val="0"/>
              </a:spcBef>
              <a:spcAft>
                <a:spcPct val="0"/>
              </a:spcAft>
              <a:buClrTx/>
              <a:buSzTx/>
              <a:buFontTx/>
              <a:buNone/>
              <a:tabLst/>
            </a:pPr>
            <a:r>
              <a:rPr lang="es-ES" dirty="0"/>
              <a:t>de Memoria</a:t>
            </a:r>
            <a:endParaRPr kumimoji="0" lang="es-ES" sz="2000" b="0" i="0" u="none" strike="noStrike" cap="none" normalizeH="0" baseline="0" dirty="0">
              <a:ln>
                <a:noFill/>
              </a:ln>
              <a:solidFill>
                <a:schemeClr val="tx1"/>
              </a:solidFill>
              <a:effectLst/>
              <a:latin typeface="Arial" charset="0"/>
            </a:endParaRPr>
          </a:p>
        </p:txBody>
      </p:sp>
      <p:grpSp>
        <p:nvGrpSpPr>
          <p:cNvPr id="2" name="14 Grupo"/>
          <p:cNvGrpSpPr/>
          <p:nvPr/>
        </p:nvGrpSpPr>
        <p:grpSpPr>
          <a:xfrm>
            <a:off x="1531063" y="1340768"/>
            <a:ext cx="1440160" cy="1008112"/>
            <a:chOff x="5868144" y="3429000"/>
            <a:chExt cx="1440160" cy="1008112"/>
          </a:xfrm>
        </p:grpSpPr>
        <p:sp>
          <p:nvSpPr>
            <p:cNvPr id="13" name="12 Rectángulo"/>
            <p:cNvSpPr/>
            <p:nvPr/>
          </p:nvSpPr>
          <p:spPr bwMode="auto">
            <a:xfrm>
              <a:off x="5868144" y="3429000"/>
              <a:ext cx="1440160" cy="1008112"/>
            </a:xfrm>
            <a:prstGeom prst="rect">
              <a:avLst/>
            </a:prstGeom>
            <a:solidFill>
              <a:schemeClr val="accent1">
                <a:lumMod val="50000"/>
              </a:schemeClr>
            </a:solidFill>
            <a:ln w="19050" cap="flat" cmpd="sng" algn="ctr">
              <a:solidFill>
                <a:schemeClr val="accent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ts val="6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      </a:t>
              </a:r>
              <a:r>
                <a:rPr kumimoji="0" lang="es-ES" sz="1800" b="0" i="0" u="none" strike="noStrike" cap="none" normalizeH="0" dirty="0">
                  <a:ln>
                    <a:noFill/>
                  </a:ln>
                  <a:solidFill>
                    <a:schemeClr val="tx1"/>
                  </a:solidFill>
                  <a:effectLst/>
                  <a:latin typeface="Arial" charset="0"/>
                </a:rPr>
                <a:t>          </a:t>
              </a:r>
              <a:r>
                <a:rPr kumimoji="0" lang="es-ES" sz="1800" b="0" i="0" u="none" strike="noStrike" cap="none" normalizeH="0" baseline="0" dirty="0">
                  <a:ln>
                    <a:noFill/>
                  </a:ln>
                  <a:solidFill>
                    <a:schemeClr val="tx1"/>
                  </a:solidFill>
                  <a:effectLst/>
                  <a:latin typeface="Arial" charset="0"/>
                </a:rPr>
                <a:t>L3 </a:t>
              </a:r>
            </a:p>
          </p:txBody>
        </p:sp>
        <p:sp>
          <p:nvSpPr>
            <p:cNvPr id="12" name="11 Rectángulo"/>
            <p:cNvSpPr/>
            <p:nvPr/>
          </p:nvSpPr>
          <p:spPr bwMode="auto">
            <a:xfrm>
              <a:off x="5940152" y="3501008"/>
              <a:ext cx="936104" cy="648072"/>
            </a:xfrm>
            <a:prstGeom prst="rect">
              <a:avLst/>
            </a:prstGeom>
            <a:solidFill>
              <a:srgbClr val="0070C0"/>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ts val="12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      </a:t>
              </a:r>
              <a:r>
                <a:rPr kumimoji="0" lang="es-ES" sz="1800" b="0" i="0" u="none" strike="noStrike" cap="none" normalizeH="0" dirty="0">
                  <a:ln>
                    <a:noFill/>
                  </a:ln>
                  <a:solidFill>
                    <a:schemeClr val="tx1"/>
                  </a:solidFill>
                  <a:effectLst/>
                  <a:latin typeface="Arial" charset="0"/>
                </a:rPr>
                <a:t>  </a:t>
              </a:r>
              <a:r>
                <a:rPr kumimoji="0" lang="es-ES" sz="1800" b="0" i="0" u="none" strike="noStrike" cap="none" normalizeH="0" baseline="0" dirty="0">
                  <a:ln>
                    <a:noFill/>
                  </a:ln>
                  <a:solidFill>
                    <a:schemeClr val="tx1"/>
                  </a:solidFill>
                  <a:effectLst/>
                  <a:latin typeface="Arial" charset="0"/>
                </a:rPr>
                <a:t>L2 </a:t>
              </a:r>
            </a:p>
          </p:txBody>
        </p:sp>
        <p:sp>
          <p:nvSpPr>
            <p:cNvPr id="6" name="5 Rectángulo"/>
            <p:cNvSpPr/>
            <p:nvPr/>
          </p:nvSpPr>
          <p:spPr bwMode="auto">
            <a:xfrm>
              <a:off x="6012160" y="3573016"/>
              <a:ext cx="432048" cy="288032"/>
            </a:xfrm>
            <a:prstGeom prst="rect">
              <a:avLst/>
            </a:prstGeom>
            <a:solidFill>
              <a:srgbClr val="C00000"/>
            </a:solidFill>
            <a:ln w="19050" cap="flat" cmpd="sng" algn="ctr">
              <a:solidFill>
                <a:srgbClr val="C0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L1</a:t>
              </a:r>
            </a:p>
          </p:txBody>
        </p:sp>
      </p:grpSp>
      <p:sp>
        <p:nvSpPr>
          <p:cNvPr id="16" name="15 Rectángulo"/>
          <p:cNvSpPr/>
          <p:nvPr/>
        </p:nvSpPr>
        <p:spPr bwMode="auto">
          <a:xfrm>
            <a:off x="1683296" y="3005336"/>
            <a:ext cx="1296144" cy="216024"/>
          </a:xfrm>
          <a:prstGeom prst="rect">
            <a:avLst/>
          </a:prstGeom>
          <a:solidFill>
            <a:srgbClr val="FF0066"/>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17" name="16 Rectángulo"/>
          <p:cNvSpPr/>
          <p:nvPr/>
        </p:nvSpPr>
        <p:spPr bwMode="auto">
          <a:xfrm>
            <a:off x="1835696" y="3157736"/>
            <a:ext cx="1296144" cy="216024"/>
          </a:xfrm>
          <a:prstGeom prst="rect">
            <a:avLst/>
          </a:prstGeom>
          <a:solidFill>
            <a:srgbClr val="FF0066"/>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grpSp>
        <p:nvGrpSpPr>
          <p:cNvPr id="3" name="25 Grupo"/>
          <p:cNvGrpSpPr/>
          <p:nvPr/>
        </p:nvGrpSpPr>
        <p:grpSpPr>
          <a:xfrm flipH="1">
            <a:off x="6931663" y="2467744"/>
            <a:ext cx="1753344" cy="673224"/>
            <a:chOff x="6012160" y="2086000"/>
            <a:chExt cx="1753344" cy="673224"/>
          </a:xfrm>
          <a:solidFill>
            <a:schemeClr val="accent3">
              <a:lumMod val="50000"/>
            </a:schemeClr>
          </a:solidFill>
        </p:grpSpPr>
        <p:sp>
          <p:nvSpPr>
            <p:cNvPr id="18" name="17 Rectángulo"/>
            <p:cNvSpPr/>
            <p:nvPr/>
          </p:nvSpPr>
          <p:spPr bwMode="auto">
            <a:xfrm>
              <a:off x="6012160" y="20860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19" name="18 Rectángulo"/>
            <p:cNvSpPr/>
            <p:nvPr/>
          </p:nvSpPr>
          <p:spPr bwMode="auto">
            <a:xfrm>
              <a:off x="6164560" y="22384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20" name="19 Rectángulo"/>
            <p:cNvSpPr/>
            <p:nvPr/>
          </p:nvSpPr>
          <p:spPr bwMode="auto">
            <a:xfrm>
              <a:off x="6316960" y="23908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21" name="20 Rectángulo"/>
            <p:cNvSpPr/>
            <p:nvPr/>
          </p:nvSpPr>
          <p:spPr bwMode="auto">
            <a:xfrm>
              <a:off x="6469360" y="25432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grpSp>
      <p:grpSp>
        <p:nvGrpSpPr>
          <p:cNvPr id="4" name="26 Grupo"/>
          <p:cNvGrpSpPr/>
          <p:nvPr/>
        </p:nvGrpSpPr>
        <p:grpSpPr>
          <a:xfrm flipH="1">
            <a:off x="6931663" y="3331840"/>
            <a:ext cx="1753344" cy="673224"/>
            <a:chOff x="6012160" y="2086000"/>
            <a:chExt cx="1753344" cy="673224"/>
          </a:xfrm>
          <a:solidFill>
            <a:schemeClr val="accent3">
              <a:lumMod val="50000"/>
            </a:schemeClr>
          </a:solidFill>
        </p:grpSpPr>
        <p:sp>
          <p:nvSpPr>
            <p:cNvPr id="28" name="27 Rectángulo"/>
            <p:cNvSpPr/>
            <p:nvPr/>
          </p:nvSpPr>
          <p:spPr bwMode="auto">
            <a:xfrm>
              <a:off x="6012160" y="20860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29" name="28 Rectángulo"/>
            <p:cNvSpPr/>
            <p:nvPr/>
          </p:nvSpPr>
          <p:spPr bwMode="auto">
            <a:xfrm>
              <a:off x="6164560" y="22384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30" name="29 Rectángulo"/>
            <p:cNvSpPr/>
            <p:nvPr/>
          </p:nvSpPr>
          <p:spPr bwMode="auto">
            <a:xfrm>
              <a:off x="6316960" y="23908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31" name="30 Rectángulo"/>
            <p:cNvSpPr/>
            <p:nvPr/>
          </p:nvSpPr>
          <p:spPr bwMode="auto">
            <a:xfrm>
              <a:off x="6469360" y="2543200"/>
              <a:ext cx="1296144" cy="216024"/>
            </a:xfrm>
            <a:prstGeom prst="rect">
              <a:avLst/>
            </a:prstGeom>
            <a:grp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grpSp>
      <p:grpSp>
        <p:nvGrpSpPr>
          <p:cNvPr id="7" name="53 Grupo"/>
          <p:cNvGrpSpPr/>
          <p:nvPr/>
        </p:nvGrpSpPr>
        <p:grpSpPr>
          <a:xfrm>
            <a:off x="6139575" y="2564904"/>
            <a:ext cx="792088" cy="1152128"/>
            <a:chOff x="5724128" y="2564904"/>
            <a:chExt cx="1080120" cy="1152128"/>
          </a:xfrm>
        </p:grpSpPr>
        <p:sp>
          <p:nvSpPr>
            <p:cNvPr id="32" name="31 Flecha izquierda y derecha"/>
            <p:cNvSpPr/>
            <p:nvPr/>
          </p:nvSpPr>
          <p:spPr bwMode="auto">
            <a:xfrm>
              <a:off x="5724128" y="2564904"/>
              <a:ext cx="1080120" cy="288032"/>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33" name="32 Flecha izquierda y derecha"/>
            <p:cNvSpPr/>
            <p:nvPr/>
          </p:nvSpPr>
          <p:spPr bwMode="auto">
            <a:xfrm>
              <a:off x="5724128" y="3429000"/>
              <a:ext cx="1080120" cy="288032"/>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grpSp>
      <p:sp>
        <p:nvSpPr>
          <p:cNvPr id="34" name="33 Flecha izquierda y derecha"/>
          <p:cNvSpPr/>
          <p:nvPr/>
        </p:nvSpPr>
        <p:spPr bwMode="auto">
          <a:xfrm>
            <a:off x="3259255" y="2852936"/>
            <a:ext cx="1080120" cy="504056"/>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35" name="34 Flecha izquierda y derecha"/>
          <p:cNvSpPr/>
          <p:nvPr/>
        </p:nvSpPr>
        <p:spPr bwMode="auto">
          <a:xfrm rot="5400000">
            <a:off x="4627407" y="4293096"/>
            <a:ext cx="1080120" cy="504056"/>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36" name="35 Rectángulo"/>
          <p:cNvSpPr/>
          <p:nvPr/>
        </p:nvSpPr>
        <p:spPr bwMode="auto">
          <a:xfrm>
            <a:off x="4267367" y="5085184"/>
            <a:ext cx="1800200" cy="648072"/>
          </a:xfrm>
          <a:prstGeom prst="rect">
            <a:avLst/>
          </a:prstGeom>
          <a:solidFill>
            <a:schemeClr val="accent2">
              <a:lumMod val="50000"/>
            </a:schemeClr>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sz="2000" b="0" i="0" u="none" strike="noStrike" cap="none" normalizeH="0" baseline="0" dirty="0">
                <a:ln>
                  <a:noFill/>
                </a:ln>
                <a:solidFill>
                  <a:schemeClr val="tx1"/>
                </a:solidFill>
                <a:effectLst/>
                <a:latin typeface="Arial" charset="0"/>
              </a:rPr>
              <a:t>Controladores</a:t>
            </a:r>
          </a:p>
          <a:p>
            <a:pPr marL="0" marR="0" indent="0" algn="ctr" defTabSz="914400" rtl="0" eaLnBrk="0" fontAlgn="base" latinLnBrk="0" hangingPunct="0">
              <a:lnSpc>
                <a:spcPct val="100000"/>
              </a:lnSpc>
              <a:spcBef>
                <a:spcPct val="0"/>
              </a:spcBef>
              <a:spcAft>
                <a:spcPct val="0"/>
              </a:spcAft>
              <a:buClrTx/>
              <a:buSzTx/>
              <a:buFontTx/>
              <a:buNone/>
              <a:tabLst/>
            </a:pPr>
            <a:r>
              <a:rPr lang="es-ES" dirty="0"/>
              <a:t>Discos</a:t>
            </a:r>
            <a:endParaRPr kumimoji="0" lang="es-ES" sz="2000" b="0" i="0" u="none" strike="noStrike" cap="none" normalizeH="0" baseline="0" dirty="0">
              <a:ln>
                <a:noFill/>
              </a:ln>
              <a:solidFill>
                <a:schemeClr val="tx1"/>
              </a:solidFill>
              <a:effectLst/>
              <a:latin typeface="Arial" charset="0"/>
            </a:endParaRPr>
          </a:p>
        </p:txBody>
      </p:sp>
      <p:sp>
        <p:nvSpPr>
          <p:cNvPr id="40" name="39 Rectángulo"/>
          <p:cNvSpPr/>
          <p:nvPr/>
        </p:nvSpPr>
        <p:spPr bwMode="auto">
          <a:xfrm>
            <a:off x="1891103" y="4797152"/>
            <a:ext cx="1224136" cy="360040"/>
          </a:xfrm>
          <a:prstGeom prst="rect">
            <a:avLst/>
          </a:prstGeom>
          <a:solidFill>
            <a:schemeClr val="tx2">
              <a:lumMod val="50000"/>
            </a:schemeClr>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sp>
        <p:nvSpPr>
          <p:cNvPr id="41" name="40 Rectángulo"/>
          <p:cNvSpPr/>
          <p:nvPr/>
        </p:nvSpPr>
        <p:spPr bwMode="auto">
          <a:xfrm>
            <a:off x="2035119" y="4869160"/>
            <a:ext cx="936104" cy="216024"/>
          </a:xfrm>
          <a:prstGeom prst="rect">
            <a:avLst/>
          </a:prstGeom>
          <a:solidFill>
            <a:srgbClr val="FFC000"/>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sp>
        <p:nvSpPr>
          <p:cNvPr id="44" name="43 Flecha izquierda y derecha"/>
          <p:cNvSpPr/>
          <p:nvPr/>
        </p:nvSpPr>
        <p:spPr bwMode="auto">
          <a:xfrm>
            <a:off x="6067567" y="5079154"/>
            <a:ext cx="1080120" cy="252028"/>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45" name="44 Flecha izquierda y derecha"/>
          <p:cNvSpPr/>
          <p:nvPr/>
        </p:nvSpPr>
        <p:spPr bwMode="auto">
          <a:xfrm>
            <a:off x="3187247" y="5157192"/>
            <a:ext cx="1080120" cy="504056"/>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47" name="46 Rectángulo"/>
          <p:cNvSpPr/>
          <p:nvPr/>
        </p:nvSpPr>
        <p:spPr bwMode="auto">
          <a:xfrm>
            <a:off x="1891103" y="5229200"/>
            <a:ext cx="1224136" cy="360040"/>
          </a:xfrm>
          <a:prstGeom prst="rect">
            <a:avLst/>
          </a:prstGeom>
          <a:solidFill>
            <a:schemeClr val="tx2">
              <a:lumMod val="50000"/>
            </a:schemeClr>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sp>
        <p:nvSpPr>
          <p:cNvPr id="48" name="47 Rectángulo"/>
          <p:cNvSpPr/>
          <p:nvPr/>
        </p:nvSpPr>
        <p:spPr bwMode="auto">
          <a:xfrm>
            <a:off x="2035119" y="5301208"/>
            <a:ext cx="936104" cy="216024"/>
          </a:xfrm>
          <a:prstGeom prst="rect">
            <a:avLst/>
          </a:prstGeom>
          <a:solidFill>
            <a:srgbClr val="FFC000"/>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sp>
        <p:nvSpPr>
          <p:cNvPr id="50" name="49 Rectángulo"/>
          <p:cNvSpPr/>
          <p:nvPr/>
        </p:nvSpPr>
        <p:spPr bwMode="auto">
          <a:xfrm>
            <a:off x="1891103" y="5661248"/>
            <a:ext cx="1224136" cy="360040"/>
          </a:xfrm>
          <a:prstGeom prst="rect">
            <a:avLst/>
          </a:prstGeom>
          <a:solidFill>
            <a:schemeClr val="tx2">
              <a:lumMod val="50000"/>
            </a:schemeClr>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sp>
        <p:nvSpPr>
          <p:cNvPr id="51" name="50 Rectángulo"/>
          <p:cNvSpPr/>
          <p:nvPr/>
        </p:nvSpPr>
        <p:spPr bwMode="auto">
          <a:xfrm>
            <a:off x="2035119" y="5733256"/>
            <a:ext cx="936104" cy="216024"/>
          </a:xfrm>
          <a:prstGeom prst="rect">
            <a:avLst/>
          </a:prstGeom>
          <a:solidFill>
            <a:srgbClr val="FFC000"/>
          </a:solid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sp>
        <p:nvSpPr>
          <p:cNvPr id="52" name="51 CuadroTexto"/>
          <p:cNvSpPr txBox="1"/>
          <p:nvPr/>
        </p:nvSpPr>
        <p:spPr>
          <a:xfrm>
            <a:off x="179345" y="3419708"/>
            <a:ext cx="1159292" cy="369332"/>
          </a:xfrm>
          <a:prstGeom prst="rect">
            <a:avLst/>
          </a:prstGeom>
          <a:noFill/>
        </p:spPr>
        <p:txBody>
          <a:bodyPr wrap="none" rtlCol="0">
            <a:spAutoFit/>
          </a:bodyPr>
          <a:lstStyle/>
          <a:p>
            <a:r>
              <a:rPr lang="es-ES" sz="1800" dirty="0"/>
              <a:t>Registros</a:t>
            </a:r>
          </a:p>
        </p:txBody>
      </p:sp>
      <p:sp>
        <p:nvSpPr>
          <p:cNvPr id="53" name="52 CuadroTexto"/>
          <p:cNvSpPr txBox="1"/>
          <p:nvPr/>
        </p:nvSpPr>
        <p:spPr>
          <a:xfrm>
            <a:off x="225872" y="2060848"/>
            <a:ext cx="1172117" cy="923330"/>
          </a:xfrm>
          <a:prstGeom prst="rect">
            <a:avLst/>
          </a:prstGeom>
          <a:noFill/>
        </p:spPr>
        <p:txBody>
          <a:bodyPr wrap="none" rtlCol="0">
            <a:spAutoFit/>
          </a:bodyPr>
          <a:lstStyle/>
          <a:p>
            <a:r>
              <a:rPr lang="es-ES" sz="1800" dirty="0"/>
              <a:t>Niveles</a:t>
            </a:r>
          </a:p>
          <a:p>
            <a:r>
              <a:rPr lang="es-ES" sz="1800" dirty="0"/>
              <a:t>internos </a:t>
            </a:r>
          </a:p>
          <a:p>
            <a:r>
              <a:rPr lang="es-ES" sz="1800" dirty="0"/>
              <a:t>de Cache</a:t>
            </a:r>
          </a:p>
        </p:txBody>
      </p:sp>
      <p:cxnSp>
        <p:nvCxnSpPr>
          <p:cNvPr id="56" name="55 Conector recto de flecha"/>
          <p:cNvCxnSpPr>
            <a:stCxn id="52" idx="0"/>
          </p:cNvCxnSpPr>
          <p:nvPr/>
        </p:nvCxnSpPr>
        <p:spPr bwMode="auto">
          <a:xfrm rot="5400000" flipH="1" flipV="1">
            <a:off x="1049878" y="2922089"/>
            <a:ext cx="206732" cy="788506"/>
          </a:xfrm>
          <a:prstGeom prst="straightConnector1">
            <a:avLst/>
          </a:prstGeom>
          <a:noFill/>
          <a:ln w="19050" cap="flat" cmpd="sng" algn="ctr">
            <a:solidFill>
              <a:srgbClr val="CC0000"/>
            </a:solidFill>
            <a:prstDash val="solid"/>
            <a:round/>
            <a:headEnd type="none" w="med" len="med"/>
            <a:tailEnd type="arrow"/>
          </a:ln>
          <a:effectLst/>
        </p:spPr>
      </p:cxnSp>
      <p:cxnSp>
        <p:nvCxnSpPr>
          <p:cNvPr id="57" name="56 Conector recto de flecha"/>
          <p:cNvCxnSpPr>
            <a:stCxn id="53" idx="0"/>
          </p:cNvCxnSpPr>
          <p:nvPr/>
        </p:nvCxnSpPr>
        <p:spPr bwMode="auto">
          <a:xfrm rot="5400000" flipH="1" flipV="1">
            <a:off x="999779" y="1512962"/>
            <a:ext cx="360039" cy="735735"/>
          </a:xfrm>
          <a:prstGeom prst="straightConnector1">
            <a:avLst/>
          </a:prstGeom>
          <a:noFill/>
          <a:ln w="19050" cap="flat" cmpd="sng" algn="ctr">
            <a:solidFill>
              <a:srgbClr val="CC0000"/>
            </a:solidFill>
            <a:prstDash val="solid"/>
            <a:round/>
            <a:headEnd type="none" w="med" len="med"/>
            <a:tailEnd type="arrow"/>
          </a:ln>
          <a:effectLst/>
        </p:spPr>
      </p:cxnSp>
      <p:sp>
        <p:nvSpPr>
          <p:cNvPr id="42" name="41 CuadroTexto"/>
          <p:cNvSpPr txBox="1"/>
          <p:nvPr/>
        </p:nvSpPr>
        <p:spPr>
          <a:xfrm>
            <a:off x="280439" y="5662989"/>
            <a:ext cx="1672254" cy="646331"/>
          </a:xfrm>
          <a:prstGeom prst="rect">
            <a:avLst/>
          </a:prstGeom>
          <a:noFill/>
        </p:spPr>
        <p:txBody>
          <a:bodyPr wrap="none" rtlCol="0">
            <a:spAutoFit/>
          </a:bodyPr>
          <a:lstStyle/>
          <a:p>
            <a:r>
              <a:rPr lang="es-ES" sz="1800" dirty="0"/>
              <a:t>Cintas</a:t>
            </a:r>
          </a:p>
          <a:p>
            <a:r>
              <a:rPr lang="es-ES" sz="1800" dirty="0"/>
              <a:t>Discos ópticos</a:t>
            </a:r>
          </a:p>
        </p:txBody>
      </p:sp>
      <p:cxnSp>
        <p:nvCxnSpPr>
          <p:cNvPr id="43" name="42 Conector recto de flecha"/>
          <p:cNvCxnSpPr/>
          <p:nvPr/>
        </p:nvCxnSpPr>
        <p:spPr bwMode="auto">
          <a:xfrm flipV="1">
            <a:off x="1132217" y="5302949"/>
            <a:ext cx="703479" cy="360040"/>
          </a:xfrm>
          <a:prstGeom prst="straightConnector1">
            <a:avLst/>
          </a:prstGeom>
          <a:noFill/>
          <a:ln w="19050" cap="flat" cmpd="sng" algn="ctr">
            <a:solidFill>
              <a:schemeClr val="tx1">
                <a:lumMod val="20000"/>
                <a:lumOff val="80000"/>
              </a:schemeClr>
            </a:solidFill>
            <a:prstDash val="solid"/>
            <a:round/>
            <a:headEnd type="none" w="med" len="med"/>
            <a:tailEnd type="arrow"/>
          </a:ln>
          <a:effectLst/>
        </p:spPr>
      </p:cxnSp>
      <p:sp>
        <p:nvSpPr>
          <p:cNvPr id="46" name="45 CuadroTexto"/>
          <p:cNvSpPr txBox="1"/>
          <p:nvPr/>
        </p:nvSpPr>
        <p:spPr>
          <a:xfrm>
            <a:off x="6300192" y="4293096"/>
            <a:ext cx="1518364" cy="369332"/>
          </a:xfrm>
          <a:prstGeom prst="rect">
            <a:avLst/>
          </a:prstGeom>
          <a:noFill/>
        </p:spPr>
        <p:txBody>
          <a:bodyPr wrap="none" rtlCol="0">
            <a:spAutoFit/>
          </a:bodyPr>
          <a:lstStyle/>
          <a:p>
            <a:r>
              <a:rPr lang="es-ES" sz="1800" dirty="0"/>
              <a:t>Discos duros</a:t>
            </a:r>
          </a:p>
        </p:txBody>
      </p:sp>
      <p:cxnSp>
        <p:nvCxnSpPr>
          <p:cNvPr id="49" name="48 Conector recto de flecha"/>
          <p:cNvCxnSpPr/>
          <p:nvPr/>
        </p:nvCxnSpPr>
        <p:spPr bwMode="auto">
          <a:xfrm>
            <a:off x="7236296" y="4653136"/>
            <a:ext cx="576064" cy="288032"/>
          </a:xfrm>
          <a:prstGeom prst="straightConnector1">
            <a:avLst/>
          </a:prstGeom>
          <a:noFill/>
          <a:ln w="19050" cap="flat" cmpd="sng" algn="ctr">
            <a:solidFill>
              <a:schemeClr val="tx1">
                <a:lumMod val="20000"/>
                <a:lumOff val="80000"/>
              </a:schemeClr>
            </a:solidFill>
            <a:prstDash val="solid"/>
            <a:round/>
            <a:headEnd type="none" w="med" len="med"/>
            <a:tailEnd type="arrow"/>
          </a:ln>
          <a:effectLst/>
        </p:spPr>
      </p:cxnSp>
      <p:sp>
        <p:nvSpPr>
          <p:cNvPr id="55" name="54 CuadroTexto"/>
          <p:cNvSpPr txBox="1"/>
          <p:nvPr/>
        </p:nvSpPr>
        <p:spPr>
          <a:xfrm>
            <a:off x="7848197" y="1196752"/>
            <a:ext cx="1082348" cy="923330"/>
          </a:xfrm>
          <a:prstGeom prst="rect">
            <a:avLst/>
          </a:prstGeom>
          <a:noFill/>
        </p:spPr>
        <p:txBody>
          <a:bodyPr wrap="none" rtlCol="0">
            <a:spAutoFit/>
          </a:bodyPr>
          <a:lstStyle/>
          <a:p>
            <a:r>
              <a:rPr lang="es-ES" sz="1800" dirty="0"/>
              <a:t>Módulos</a:t>
            </a:r>
          </a:p>
          <a:p>
            <a:r>
              <a:rPr lang="es-ES" sz="1800" dirty="0"/>
              <a:t>Memoria</a:t>
            </a:r>
          </a:p>
          <a:p>
            <a:r>
              <a:rPr lang="es-ES" sz="1800" dirty="0"/>
              <a:t>Principal</a:t>
            </a:r>
          </a:p>
        </p:txBody>
      </p:sp>
      <p:cxnSp>
        <p:nvCxnSpPr>
          <p:cNvPr id="58" name="57 Conector recto de flecha"/>
          <p:cNvCxnSpPr>
            <a:endCxn id="18" idx="0"/>
          </p:cNvCxnSpPr>
          <p:nvPr/>
        </p:nvCxnSpPr>
        <p:spPr bwMode="auto">
          <a:xfrm rot="10800000" flipV="1">
            <a:off x="8036936" y="2132856"/>
            <a:ext cx="334889" cy="334888"/>
          </a:xfrm>
          <a:prstGeom prst="straightConnector1">
            <a:avLst/>
          </a:prstGeom>
          <a:noFill/>
          <a:ln w="19050" cap="flat" cmpd="sng" algn="ctr">
            <a:solidFill>
              <a:schemeClr val="tx1">
                <a:lumMod val="20000"/>
                <a:lumOff val="80000"/>
              </a:schemeClr>
            </a:solidFill>
            <a:prstDash val="solid"/>
            <a:round/>
            <a:headEnd type="none" w="med" len="med"/>
            <a:tailEnd type="arrow"/>
          </a:ln>
          <a:effectLst/>
        </p:spPr>
      </p:cxnSp>
      <p:cxnSp>
        <p:nvCxnSpPr>
          <p:cNvPr id="59" name="58 Conector recto de flecha"/>
          <p:cNvCxnSpPr>
            <a:stCxn id="55" idx="2"/>
            <a:endCxn id="28" idx="0"/>
          </p:cNvCxnSpPr>
          <p:nvPr/>
        </p:nvCxnSpPr>
        <p:spPr bwMode="auto">
          <a:xfrm rot="5400000">
            <a:off x="7607274" y="2549743"/>
            <a:ext cx="1211758" cy="352436"/>
          </a:xfrm>
          <a:prstGeom prst="straightConnector1">
            <a:avLst/>
          </a:prstGeom>
          <a:noFill/>
          <a:ln w="19050" cap="flat" cmpd="sng" algn="ctr">
            <a:solidFill>
              <a:schemeClr val="tx1">
                <a:lumMod val="20000"/>
                <a:lumOff val="80000"/>
              </a:schemeClr>
            </a:solidFill>
            <a:prstDash val="solid"/>
            <a:round/>
            <a:headEnd type="none" w="med" len="med"/>
            <a:tailEnd type="arrow"/>
          </a:ln>
          <a:effectLst/>
        </p:spPr>
      </p:cxnSp>
      <p:sp>
        <p:nvSpPr>
          <p:cNvPr id="67" name="66 CuadroTexto"/>
          <p:cNvSpPr txBox="1"/>
          <p:nvPr/>
        </p:nvSpPr>
        <p:spPr>
          <a:xfrm>
            <a:off x="3524624" y="6011996"/>
            <a:ext cx="3134192" cy="646331"/>
          </a:xfrm>
          <a:prstGeom prst="rect">
            <a:avLst/>
          </a:prstGeom>
          <a:noFill/>
        </p:spPr>
        <p:txBody>
          <a:bodyPr wrap="none" rtlCol="0">
            <a:spAutoFit/>
          </a:bodyPr>
          <a:lstStyle/>
          <a:p>
            <a:r>
              <a:rPr lang="es-ES" sz="1800" dirty="0"/>
              <a:t>Dispositivos de </a:t>
            </a:r>
          </a:p>
          <a:p>
            <a:r>
              <a:rPr lang="es-ES" sz="1800" dirty="0"/>
              <a:t>Almacenamiento Secundario</a:t>
            </a:r>
          </a:p>
        </p:txBody>
      </p:sp>
      <p:cxnSp>
        <p:nvCxnSpPr>
          <p:cNvPr id="68" name="67 Conector recto de flecha"/>
          <p:cNvCxnSpPr/>
          <p:nvPr/>
        </p:nvCxnSpPr>
        <p:spPr bwMode="auto">
          <a:xfrm flipV="1">
            <a:off x="6084168" y="5877272"/>
            <a:ext cx="1008112" cy="360040"/>
          </a:xfrm>
          <a:prstGeom prst="straightConnector1">
            <a:avLst/>
          </a:prstGeom>
          <a:noFill/>
          <a:ln w="19050" cap="flat" cmpd="sng" algn="ctr">
            <a:solidFill>
              <a:schemeClr val="tx1">
                <a:lumMod val="20000"/>
                <a:lumOff val="80000"/>
              </a:schemeClr>
            </a:solidFill>
            <a:prstDash val="solid"/>
            <a:round/>
            <a:headEnd type="none" w="med" len="med"/>
            <a:tailEnd type="arrow"/>
          </a:ln>
          <a:effectLst/>
        </p:spPr>
      </p:cxnSp>
      <p:cxnSp>
        <p:nvCxnSpPr>
          <p:cNvPr id="71" name="70 Conector recto de flecha"/>
          <p:cNvCxnSpPr/>
          <p:nvPr/>
        </p:nvCxnSpPr>
        <p:spPr bwMode="auto">
          <a:xfrm rot="10800000">
            <a:off x="3203848" y="5805264"/>
            <a:ext cx="864096" cy="360040"/>
          </a:xfrm>
          <a:prstGeom prst="straightConnector1">
            <a:avLst/>
          </a:prstGeom>
          <a:noFill/>
          <a:ln w="19050" cap="flat" cmpd="sng" algn="ctr">
            <a:solidFill>
              <a:schemeClr val="tx1">
                <a:lumMod val="20000"/>
                <a:lumOff val="80000"/>
              </a:schemeClr>
            </a:solidFill>
            <a:prstDash val="solid"/>
            <a:round/>
            <a:headEnd type="none" w="med" len="med"/>
            <a:tailEnd type="arrow"/>
          </a:ln>
          <a:effectLst/>
        </p:spPr>
      </p:cxnSp>
      <p:sp>
        <p:nvSpPr>
          <p:cNvPr id="75" name="74 Flecha izquierda y derecha"/>
          <p:cNvSpPr/>
          <p:nvPr/>
        </p:nvSpPr>
        <p:spPr bwMode="auto">
          <a:xfrm>
            <a:off x="3275856" y="1556792"/>
            <a:ext cx="576064" cy="288032"/>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78" name="77 Rectángulo"/>
          <p:cNvSpPr/>
          <p:nvPr/>
        </p:nvSpPr>
        <p:spPr bwMode="auto">
          <a:xfrm>
            <a:off x="3851920" y="1340768"/>
            <a:ext cx="936104" cy="648072"/>
          </a:xfrm>
          <a:prstGeom prst="rect">
            <a:avLst/>
          </a:prstGeom>
          <a:solidFill>
            <a:srgbClr val="336600"/>
          </a:solid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ts val="12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 </a:t>
            </a:r>
            <a:r>
              <a:rPr kumimoji="0" lang="es-ES" b="0" i="0" u="none" strike="noStrike" cap="none" normalizeH="0" baseline="0" dirty="0">
                <a:ln>
                  <a:noFill/>
                </a:ln>
                <a:solidFill>
                  <a:schemeClr val="tx1"/>
                </a:solidFill>
                <a:effectLst/>
                <a:latin typeface="Arial" charset="0"/>
              </a:rPr>
              <a:t>L4</a:t>
            </a:r>
            <a:r>
              <a:rPr kumimoji="0" lang="es-ES" sz="1800" b="0" i="0" u="none" strike="noStrike" cap="none" normalizeH="0" baseline="0" dirty="0">
                <a:ln>
                  <a:noFill/>
                </a:ln>
                <a:solidFill>
                  <a:schemeClr val="tx1"/>
                </a:solidFill>
                <a:effectLst/>
                <a:latin typeface="Arial" charset="0"/>
              </a:rPr>
              <a:t> </a:t>
            </a:r>
          </a:p>
        </p:txBody>
      </p:sp>
      <p:sp>
        <p:nvSpPr>
          <p:cNvPr id="79" name="78 CuadroTexto"/>
          <p:cNvSpPr txBox="1"/>
          <p:nvPr/>
        </p:nvSpPr>
        <p:spPr>
          <a:xfrm>
            <a:off x="5087619" y="1196752"/>
            <a:ext cx="1685077" cy="646331"/>
          </a:xfrm>
          <a:prstGeom prst="rect">
            <a:avLst/>
          </a:prstGeom>
          <a:noFill/>
        </p:spPr>
        <p:txBody>
          <a:bodyPr wrap="none" rtlCol="0">
            <a:spAutoFit/>
          </a:bodyPr>
          <a:lstStyle/>
          <a:p>
            <a:r>
              <a:rPr lang="es-ES" sz="1800" dirty="0"/>
              <a:t>Cache externa</a:t>
            </a:r>
          </a:p>
          <a:p>
            <a:r>
              <a:rPr lang="es-ES" sz="1800" dirty="0"/>
              <a:t>(opcional)</a:t>
            </a:r>
          </a:p>
        </p:txBody>
      </p:sp>
      <p:cxnSp>
        <p:nvCxnSpPr>
          <p:cNvPr id="80" name="79 Conector recto de flecha"/>
          <p:cNvCxnSpPr>
            <a:endCxn id="78" idx="3"/>
          </p:cNvCxnSpPr>
          <p:nvPr/>
        </p:nvCxnSpPr>
        <p:spPr bwMode="auto">
          <a:xfrm rot="10800000" flipV="1">
            <a:off x="4788024" y="1556792"/>
            <a:ext cx="550914" cy="108011"/>
          </a:xfrm>
          <a:prstGeom prst="straightConnector1">
            <a:avLst/>
          </a:prstGeom>
          <a:noFill/>
          <a:ln w="19050" cap="flat" cmpd="sng" algn="ctr">
            <a:solidFill>
              <a:srgbClr val="CC0000"/>
            </a:solidFill>
            <a:prstDash val="solid"/>
            <a:round/>
            <a:headEnd type="none" w="med" len="med"/>
            <a:tailEnd type="arrow"/>
          </a:ln>
          <a:effectLst/>
        </p:spPr>
      </p:cxnSp>
      <p:sp>
        <p:nvSpPr>
          <p:cNvPr id="82" name="Rectangle 2"/>
          <p:cNvSpPr txBox="1">
            <a:spLocks noChangeArrowheads="1"/>
          </p:cNvSpPr>
          <p:nvPr/>
        </p:nvSpPr>
        <p:spPr>
          <a:xfrm>
            <a:off x="533400" y="228600"/>
            <a:ext cx="8305800" cy="6096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ES" sz="2800" b="1" i="0" u="none" strike="noStrike" kern="0" cap="none" spc="0" normalizeH="0" baseline="0" noProof="0" dirty="0">
                <a:ln>
                  <a:noFill/>
                </a:ln>
                <a:solidFill>
                  <a:schemeClr val="tx2"/>
                </a:solidFill>
                <a:effectLst/>
                <a:uLnTx/>
                <a:uFillTx/>
                <a:latin typeface="+mj-lt"/>
                <a:ea typeface="+mj-ea"/>
                <a:cs typeface="+mj-cs"/>
              </a:rPr>
              <a:t>Sistema de memoria</a:t>
            </a:r>
            <a:r>
              <a:rPr kumimoji="0" lang="es-ES" sz="2800" b="1" i="0" u="none" strike="noStrike" kern="0" cap="none" spc="0" normalizeH="0" noProof="0" dirty="0">
                <a:ln>
                  <a:noFill/>
                </a:ln>
                <a:solidFill>
                  <a:schemeClr val="tx2"/>
                </a:solidFill>
                <a:effectLst/>
                <a:uLnTx/>
                <a:uFillTx/>
                <a:latin typeface="+mj-lt"/>
                <a:ea typeface="+mj-ea"/>
                <a:cs typeface="+mj-cs"/>
              </a:rPr>
              <a:t> de un computador</a:t>
            </a:r>
            <a:endParaRPr kumimoji="0" lang="ca-ES" sz="2800" b="1" i="0" u="none" strike="noStrike" kern="0" cap="none" spc="0" normalizeH="0" baseline="0" noProof="0" dirty="0">
              <a:ln>
                <a:noFill/>
              </a:ln>
              <a:solidFill>
                <a:schemeClr val="tx2"/>
              </a:solidFill>
              <a:effectLst/>
              <a:uLnTx/>
              <a:uFillTx/>
              <a:latin typeface="+mj-lt"/>
              <a:ea typeface="+mj-ea"/>
              <a:cs typeface="+mj-cs"/>
            </a:endParaRPr>
          </a:p>
        </p:txBody>
      </p:sp>
      <p:sp>
        <p:nvSpPr>
          <p:cNvPr id="60" name="59 Flecha izquierda y derecha"/>
          <p:cNvSpPr/>
          <p:nvPr/>
        </p:nvSpPr>
        <p:spPr bwMode="auto">
          <a:xfrm>
            <a:off x="6067567" y="5553236"/>
            <a:ext cx="1080120" cy="252028"/>
          </a:xfrm>
          <a:prstGeom prst="leftRightArrow">
            <a:avLst/>
          </a:prstGeom>
          <a:noFill/>
          <a:ln w="19050"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pic>
        <p:nvPicPr>
          <p:cNvPr id="61" name="Picture 27" descr="SS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6503" y="5553262"/>
            <a:ext cx="775487" cy="516526"/>
          </a:xfrm>
          <a:prstGeom prst="rect">
            <a:avLst/>
          </a:prstGeom>
          <a:noFill/>
          <a:extLst>
            <a:ext uri="{909E8E84-426E-40DD-AFC4-6F175D3DCCD1}">
              <a14:hiddenFill xmlns:a14="http://schemas.microsoft.com/office/drawing/2010/main">
                <a:solidFill>
                  <a:srgbClr val="FFFFFF"/>
                </a:solidFill>
              </a14:hiddenFill>
            </a:ext>
          </a:extLst>
        </p:spPr>
      </p:pic>
      <p:sp>
        <p:nvSpPr>
          <p:cNvPr id="62" name="61 CuadroTexto"/>
          <p:cNvSpPr txBox="1"/>
          <p:nvPr/>
        </p:nvSpPr>
        <p:spPr>
          <a:xfrm>
            <a:off x="7295157" y="6069788"/>
            <a:ext cx="659155" cy="369332"/>
          </a:xfrm>
          <a:prstGeom prst="rect">
            <a:avLst/>
          </a:prstGeom>
          <a:noFill/>
        </p:spPr>
        <p:txBody>
          <a:bodyPr wrap="none" rtlCol="0">
            <a:spAutoFit/>
          </a:bodyPr>
          <a:lstStyle/>
          <a:p>
            <a:r>
              <a:rPr lang="es-ES" sz="1800" dirty="0"/>
              <a:t>SSD</a:t>
            </a:r>
          </a:p>
        </p:txBody>
      </p:sp>
      <p:sp>
        <p:nvSpPr>
          <p:cNvPr id="9" name="CuadroTexto 8">
            <a:extLst>
              <a:ext uri="{FF2B5EF4-FFF2-40B4-BE49-F238E27FC236}">
                <a16:creationId xmlns:a16="http://schemas.microsoft.com/office/drawing/2014/main" id="{9A893AC4-F7A4-4185-8E50-527F28BE3242}"/>
              </a:ext>
            </a:extLst>
          </p:cNvPr>
          <p:cNvSpPr txBox="1"/>
          <p:nvPr/>
        </p:nvSpPr>
        <p:spPr>
          <a:xfrm>
            <a:off x="811931" y="4149080"/>
            <a:ext cx="3256013" cy="523220"/>
          </a:xfrm>
          <a:prstGeom prst="rect">
            <a:avLst/>
          </a:prstGeom>
          <a:noFill/>
        </p:spPr>
        <p:txBody>
          <a:bodyPr wrap="square" rtlCol="0">
            <a:spAutoFit/>
          </a:bodyPr>
          <a:lstStyle/>
          <a:p>
            <a:r>
              <a:rPr lang="es-ES" sz="1400" dirty="0">
                <a:solidFill>
                  <a:schemeClr val="accent1">
                    <a:lumMod val="75000"/>
                  </a:schemeClr>
                </a:solidFill>
              </a:rPr>
              <a:t>Capacidades y Velocidades DIFERENTES</a:t>
            </a:r>
          </a:p>
        </p:txBody>
      </p:sp>
      <p:sp>
        <p:nvSpPr>
          <p:cNvPr id="10" name="Marcador de número de diapositiva 3">
            <a:extLst>
              <a:ext uri="{FF2B5EF4-FFF2-40B4-BE49-F238E27FC236}">
                <a16:creationId xmlns:a16="http://schemas.microsoft.com/office/drawing/2014/main" id="{1E2BA4C5-3553-AA31-749D-9A5BB81A522B}"/>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s-ES" dirty="0"/>
              <a:t>¿Qué es y dónde se sitúa la memoria?</a:t>
            </a:r>
            <a:endParaRPr lang="ca-ES" dirty="0"/>
          </a:p>
        </p:txBody>
      </p:sp>
      <p:sp>
        <p:nvSpPr>
          <p:cNvPr id="9220" name="Rectangle 3"/>
          <p:cNvSpPr>
            <a:spLocks noGrp="1" noChangeArrowheads="1"/>
          </p:cNvSpPr>
          <p:nvPr>
            <p:ph type="body" idx="1"/>
          </p:nvPr>
        </p:nvSpPr>
        <p:spPr>
          <a:xfrm>
            <a:off x="533400" y="1191344"/>
            <a:ext cx="8431088" cy="5334000"/>
          </a:xfrm>
        </p:spPr>
        <p:txBody>
          <a:bodyPr/>
          <a:lstStyle/>
          <a:p>
            <a:pPr>
              <a:lnSpc>
                <a:spcPct val="100000"/>
              </a:lnSpc>
            </a:pPr>
            <a:r>
              <a:rPr lang="es-ES" dirty="0"/>
              <a:t>Medio físico capaz de almacenar información de forma temporal o permanente</a:t>
            </a:r>
          </a:p>
        </p:txBody>
      </p:sp>
      <p:sp>
        <p:nvSpPr>
          <p:cNvPr id="7" name="Rectangle 3">
            <a:extLst>
              <a:ext uri="{FF2B5EF4-FFF2-40B4-BE49-F238E27FC236}">
                <a16:creationId xmlns:a16="http://schemas.microsoft.com/office/drawing/2014/main" id="{7B5742D5-C0F0-414B-ABAD-DBFBCF15B51A}"/>
              </a:ext>
            </a:extLst>
          </p:cNvPr>
          <p:cNvSpPr txBox="1">
            <a:spLocks noChangeArrowheads="1"/>
          </p:cNvSpPr>
          <p:nvPr/>
        </p:nvSpPr>
        <p:spPr>
          <a:xfrm>
            <a:off x="533400" y="1916832"/>
            <a:ext cx="8431088" cy="3304421"/>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pPr>
            <a:r>
              <a:rPr lang="es-ES" dirty="0"/>
              <a:t>¿Dónde se sitúa la memoria en un computador?</a:t>
            </a:r>
          </a:p>
          <a:p>
            <a:pPr lvl="1">
              <a:lnSpc>
                <a:spcPct val="100000"/>
              </a:lnSpc>
            </a:pPr>
            <a:r>
              <a:rPr lang="es-ES" dirty="0"/>
              <a:t>Registros del procesador</a:t>
            </a:r>
          </a:p>
          <a:p>
            <a:pPr lvl="1">
              <a:lnSpc>
                <a:spcPct val="100000"/>
              </a:lnSpc>
            </a:pPr>
            <a:r>
              <a:rPr lang="es-ES" dirty="0"/>
              <a:t>Memoria caché</a:t>
            </a:r>
          </a:p>
          <a:p>
            <a:pPr lvl="1">
              <a:lnSpc>
                <a:spcPct val="100000"/>
              </a:lnSpc>
            </a:pPr>
            <a:r>
              <a:rPr lang="es-ES" dirty="0"/>
              <a:t>Memoria principal</a:t>
            </a:r>
          </a:p>
          <a:p>
            <a:pPr lvl="1">
              <a:lnSpc>
                <a:spcPct val="100000"/>
              </a:lnSpc>
            </a:pPr>
            <a:r>
              <a:rPr lang="es-ES" dirty="0"/>
              <a:t>Memoria secundaria</a:t>
            </a:r>
          </a:p>
          <a:p>
            <a:pPr lvl="2">
              <a:lnSpc>
                <a:spcPct val="100000"/>
              </a:lnSpc>
            </a:pPr>
            <a:r>
              <a:rPr lang="es-ES" sz="1800" dirty="0"/>
              <a:t>SSD</a:t>
            </a:r>
          </a:p>
          <a:p>
            <a:pPr lvl="2">
              <a:lnSpc>
                <a:spcPct val="100000"/>
              </a:lnSpc>
            </a:pPr>
            <a:r>
              <a:rPr lang="es-ES" sz="1800" dirty="0"/>
              <a:t>Discos</a:t>
            </a:r>
          </a:p>
          <a:p>
            <a:pPr lvl="2">
              <a:lnSpc>
                <a:spcPct val="100000"/>
              </a:lnSpc>
            </a:pPr>
            <a:r>
              <a:rPr lang="es-ES" sz="1800" dirty="0"/>
              <a:t>Cintas</a:t>
            </a:r>
          </a:p>
          <a:p>
            <a:pPr lvl="2">
              <a:lnSpc>
                <a:spcPct val="100000"/>
              </a:lnSpc>
            </a:pPr>
            <a:r>
              <a:rPr lang="es-ES" sz="1800" dirty="0"/>
              <a:t>Discos ópticos</a:t>
            </a:r>
          </a:p>
        </p:txBody>
      </p:sp>
      <p:grpSp>
        <p:nvGrpSpPr>
          <p:cNvPr id="8" name="Grupo 7">
            <a:extLst>
              <a:ext uri="{FF2B5EF4-FFF2-40B4-BE49-F238E27FC236}">
                <a16:creationId xmlns:a16="http://schemas.microsoft.com/office/drawing/2014/main" id="{9889B457-2604-405E-8477-B41BB2C0045D}"/>
              </a:ext>
            </a:extLst>
          </p:cNvPr>
          <p:cNvGrpSpPr/>
          <p:nvPr/>
        </p:nvGrpSpPr>
        <p:grpSpPr>
          <a:xfrm>
            <a:off x="4419600" y="2514600"/>
            <a:ext cx="4433888" cy="2514600"/>
            <a:chOff x="4419600" y="2514600"/>
            <a:chExt cx="4433888" cy="2514600"/>
          </a:xfrm>
        </p:grpSpPr>
        <p:sp>
          <p:nvSpPr>
            <p:cNvPr id="9" name="AutoShape 4">
              <a:extLst>
                <a:ext uri="{FF2B5EF4-FFF2-40B4-BE49-F238E27FC236}">
                  <a16:creationId xmlns:a16="http://schemas.microsoft.com/office/drawing/2014/main" id="{C09DB59F-92DA-443E-8FF6-735C4BEC18C4}"/>
                </a:ext>
              </a:extLst>
            </p:cNvPr>
            <p:cNvSpPr>
              <a:spLocks/>
            </p:cNvSpPr>
            <p:nvPr/>
          </p:nvSpPr>
          <p:spPr bwMode="auto">
            <a:xfrm>
              <a:off x="4419600" y="2514600"/>
              <a:ext cx="381000" cy="2514600"/>
            </a:xfrm>
            <a:prstGeom prst="rightBrace">
              <a:avLst>
                <a:gd name="adj1" fmla="val 55000"/>
                <a:gd name="adj2" fmla="val 50000"/>
              </a:avLst>
            </a:prstGeom>
            <a:noFill/>
            <a:ln w="28575">
              <a:solidFill>
                <a:schemeClr val="tx1"/>
              </a:solidFill>
              <a:round/>
              <a:headEnd/>
              <a:tailEnd/>
            </a:ln>
          </p:spPr>
          <p:txBody>
            <a:bodyPr wrap="none" anchor="ctr"/>
            <a:lstStyle/>
            <a:p>
              <a:endParaRPr lang="es-ES"/>
            </a:p>
          </p:txBody>
        </p:sp>
        <p:sp>
          <p:nvSpPr>
            <p:cNvPr id="10" name="Text Box 5">
              <a:extLst>
                <a:ext uri="{FF2B5EF4-FFF2-40B4-BE49-F238E27FC236}">
                  <a16:creationId xmlns:a16="http://schemas.microsoft.com/office/drawing/2014/main" id="{0DC2D09C-7B26-46DF-A52E-EF36FECF9CCE}"/>
                </a:ext>
              </a:extLst>
            </p:cNvPr>
            <p:cNvSpPr txBox="1">
              <a:spLocks noChangeArrowheads="1"/>
            </p:cNvSpPr>
            <p:nvPr/>
          </p:nvSpPr>
          <p:spPr bwMode="auto">
            <a:xfrm>
              <a:off x="4800600" y="3356992"/>
              <a:ext cx="4052888" cy="1138773"/>
            </a:xfrm>
            <a:prstGeom prst="rect">
              <a:avLst/>
            </a:prstGeom>
            <a:solidFill>
              <a:srgbClr val="FFFFCC"/>
            </a:solidFill>
            <a:ln w="3175">
              <a:noFill/>
              <a:miter lim="800000"/>
              <a:headEnd/>
              <a:tailEnd/>
            </a:ln>
          </p:spPr>
          <p:txBody>
            <a:bodyPr wrap="square">
              <a:spAutoFit/>
            </a:bodyPr>
            <a:lstStyle/>
            <a:p>
              <a:pPr eaLnBrk="0" hangingPunct="0"/>
              <a:r>
                <a:rPr lang="es-ES" sz="2000" dirty="0">
                  <a:solidFill>
                    <a:srgbClr val="003399"/>
                  </a:solidFill>
                </a:rPr>
                <a:t>Tecnologías diferentes</a:t>
              </a:r>
            </a:p>
            <a:p>
              <a:pPr eaLnBrk="0" hangingPunct="0"/>
              <a:r>
                <a:rPr lang="es-ES" sz="2000" dirty="0">
                  <a:solidFill>
                    <a:srgbClr val="003399"/>
                  </a:solidFill>
                </a:rPr>
                <a:t>Fundamentos físicos diferentes</a:t>
              </a:r>
            </a:p>
            <a:p>
              <a:pPr eaLnBrk="0" hangingPunct="0"/>
              <a:r>
                <a:rPr lang="es-ES" sz="2000" dirty="0">
                  <a:solidFill>
                    <a:srgbClr val="003399"/>
                  </a:solidFill>
                </a:rPr>
                <a:t>Localización en diversos lugares</a:t>
              </a:r>
              <a:endParaRPr lang="ca-ES" sz="2000" dirty="0">
                <a:solidFill>
                  <a:srgbClr val="003399"/>
                </a:solidFill>
              </a:endParaRPr>
            </a:p>
          </p:txBody>
        </p:sp>
      </p:grpSp>
      <p:sp>
        <p:nvSpPr>
          <p:cNvPr id="11" name="Rectangle 3">
            <a:extLst>
              <a:ext uri="{FF2B5EF4-FFF2-40B4-BE49-F238E27FC236}">
                <a16:creationId xmlns:a16="http://schemas.microsoft.com/office/drawing/2014/main" id="{49A5D8B4-16BE-47E9-8353-02D1FA7AA86C}"/>
              </a:ext>
            </a:extLst>
          </p:cNvPr>
          <p:cNvSpPr txBox="1">
            <a:spLocks noChangeArrowheads="1"/>
          </p:cNvSpPr>
          <p:nvPr/>
        </p:nvSpPr>
        <p:spPr>
          <a:xfrm>
            <a:off x="712912" y="5239469"/>
            <a:ext cx="8431088" cy="865187"/>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pPr>
            <a:r>
              <a:rPr lang="es-ES" dirty="0">
                <a:solidFill>
                  <a:srgbClr val="FF0000"/>
                </a:solidFill>
              </a:rPr>
              <a:t>Objetivo: diseñar una memoria con capacidad elevada y tiempo de acceso pequeño</a:t>
            </a:r>
          </a:p>
        </p:txBody>
      </p:sp>
      <p:sp>
        <p:nvSpPr>
          <p:cNvPr id="12" name="Rectangle 3">
            <a:extLst>
              <a:ext uri="{FF2B5EF4-FFF2-40B4-BE49-F238E27FC236}">
                <a16:creationId xmlns:a16="http://schemas.microsoft.com/office/drawing/2014/main" id="{1CE45FEA-A985-428E-8114-F909D4185E9E}"/>
              </a:ext>
            </a:extLst>
          </p:cNvPr>
          <p:cNvSpPr txBox="1">
            <a:spLocks noChangeArrowheads="1"/>
          </p:cNvSpPr>
          <p:nvPr/>
        </p:nvSpPr>
        <p:spPr>
          <a:xfrm>
            <a:off x="712912" y="6017299"/>
            <a:ext cx="8431088" cy="445604"/>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pPr>
            <a:r>
              <a:rPr lang="es-ES" dirty="0"/>
              <a:t>Ello se posibilita mediante el concepto de </a:t>
            </a:r>
            <a:r>
              <a:rPr lang="es-ES" dirty="0">
                <a:solidFill>
                  <a:schemeClr val="tx1">
                    <a:lumMod val="75000"/>
                  </a:schemeClr>
                </a:solidFill>
              </a:rPr>
              <a:t>Jerarquía de Memoria</a:t>
            </a:r>
          </a:p>
        </p:txBody>
      </p:sp>
      <p:sp>
        <p:nvSpPr>
          <p:cNvPr id="2" name="Marcador de número de diapositiva 3">
            <a:extLst>
              <a:ext uri="{FF2B5EF4-FFF2-40B4-BE49-F238E27FC236}">
                <a16:creationId xmlns:a16="http://schemas.microsoft.com/office/drawing/2014/main" id="{CA097A3D-2D72-914A-78C6-A5F0252BD279}"/>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8</a:t>
            </a:fld>
            <a:endParaRPr lang="en-US" dirty="0"/>
          </a:p>
        </p:txBody>
      </p:sp>
    </p:spTree>
    <p:extLst>
      <p:ext uri="{BB962C8B-B14F-4D97-AF65-F5344CB8AC3E}">
        <p14:creationId xmlns:p14="http://schemas.microsoft.com/office/powerpoint/2010/main" val="1535476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4 Marcador de número de diapositiva"/>
          <p:cNvSpPr>
            <a:spLocks noGrp="1"/>
          </p:cNvSpPr>
          <p:nvPr>
            <p:ph type="sldNum" sz="quarter" idx="10"/>
          </p:nvPr>
        </p:nvSpPr>
        <p:spPr>
          <a:noFill/>
        </p:spPr>
        <p:txBody>
          <a:bodyPr/>
          <a:lstStyle/>
          <a:p>
            <a:fld id="{6205B3E2-84ED-4223-A5E9-65FEAE8C568A}" type="slidenum">
              <a:rPr lang="en-US" smtClean="0"/>
              <a:pPr/>
              <a:t>9</a:t>
            </a:fld>
            <a:endParaRPr lang="en-US"/>
          </a:p>
        </p:txBody>
      </p:sp>
      <p:sp>
        <p:nvSpPr>
          <p:cNvPr id="23555" name="Rectangle 2050"/>
          <p:cNvSpPr>
            <a:spLocks noGrp="1" noChangeArrowheads="1"/>
          </p:cNvSpPr>
          <p:nvPr>
            <p:ph type="title"/>
          </p:nvPr>
        </p:nvSpPr>
        <p:spPr/>
        <p:txBody>
          <a:bodyPr/>
          <a:lstStyle/>
          <a:p>
            <a:r>
              <a:rPr lang="es-ES"/>
              <a:t>Jerarquía de memoria: ¿qué es?</a:t>
            </a:r>
            <a:endParaRPr lang="ca-ES"/>
          </a:p>
        </p:txBody>
      </p:sp>
      <p:sp>
        <p:nvSpPr>
          <p:cNvPr id="23556" name="Rectangle 2051"/>
          <p:cNvSpPr>
            <a:spLocks noGrp="1" noChangeArrowheads="1"/>
          </p:cNvSpPr>
          <p:nvPr>
            <p:ph type="body" sz="half" idx="1"/>
          </p:nvPr>
        </p:nvSpPr>
        <p:spPr>
          <a:xfrm>
            <a:off x="533400" y="1119188"/>
            <a:ext cx="4076700" cy="920207"/>
          </a:xfrm>
        </p:spPr>
        <p:txBody>
          <a:bodyPr/>
          <a:lstStyle/>
          <a:p>
            <a:r>
              <a:rPr lang="es-ES" sz="2000" dirty="0"/>
              <a:t>Situación ideal: disponer memoria rápida y barata de gran capacidad</a:t>
            </a:r>
          </a:p>
          <a:p>
            <a:endParaRPr lang="es-ES" sz="2000" dirty="0"/>
          </a:p>
          <a:p>
            <a:pPr lvl="1"/>
            <a:endParaRPr lang="ca-ES" sz="1800" dirty="0"/>
          </a:p>
        </p:txBody>
      </p:sp>
      <p:grpSp>
        <p:nvGrpSpPr>
          <p:cNvPr id="2" name="Group 2052"/>
          <p:cNvGrpSpPr>
            <a:grpSpLocks/>
          </p:cNvGrpSpPr>
          <p:nvPr/>
        </p:nvGrpSpPr>
        <p:grpSpPr bwMode="auto">
          <a:xfrm>
            <a:off x="3458368" y="1371600"/>
            <a:ext cx="5129213" cy="4649788"/>
            <a:chOff x="1248" y="240"/>
            <a:chExt cx="4176" cy="3600"/>
          </a:xfrm>
        </p:grpSpPr>
        <p:sp>
          <p:nvSpPr>
            <p:cNvPr id="23565" name="Pyr1"/>
            <p:cNvSpPr>
              <a:spLocks noEditPoints="1" noChangeArrowheads="1"/>
            </p:cNvSpPr>
            <p:nvPr/>
          </p:nvSpPr>
          <p:spPr bwMode="blackWhite">
            <a:xfrm>
              <a:off x="2873" y="240"/>
              <a:ext cx="936" cy="798"/>
            </a:xfrm>
            <a:custGeom>
              <a:avLst/>
              <a:gdLst>
                <a:gd name="T0" fmla="*/ 1 w 21600"/>
                <a:gd name="T1" fmla="*/ 0 h 21600"/>
                <a:gd name="T2" fmla="*/ 2 w 21600"/>
                <a:gd name="T3" fmla="*/ 1 h 21600"/>
                <a:gd name="T4" fmla="*/ 0 w 21600"/>
                <a:gd name="T5" fmla="*/ 1 h 21600"/>
                <a:gd name="T6" fmla="*/ 0 60000 65536"/>
                <a:gd name="T7" fmla="*/ 0 60000 65536"/>
                <a:gd name="T8" fmla="*/ 0 60000 65536"/>
                <a:gd name="T9" fmla="*/ 5400 w 21600"/>
                <a:gd name="T10" fmla="*/ 11802 h 21600"/>
                <a:gd name="T11" fmla="*/ 16200 w 21600"/>
                <a:gd name="T12" fmla="*/ 20598 h 21600"/>
              </a:gdLst>
              <a:ahLst/>
              <a:cxnLst>
                <a:cxn ang="T6">
                  <a:pos x="T0" y="T1"/>
                </a:cxn>
                <a:cxn ang="T7">
                  <a:pos x="T2" y="T3"/>
                </a:cxn>
                <a:cxn ang="T8">
                  <a:pos x="T4" y="T5"/>
                </a:cxn>
              </a:cxnLst>
              <a:rect l="T9" t="T10" r="T11" b="T12"/>
              <a:pathLst>
                <a:path w="21600" h="21600">
                  <a:moveTo>
                    <a:pt x="10800" y="0"/>
                  </a:moveTo>
                  <a:lnTo>
                    <a:pt x="21600" y="21600"/>
                  </a:lnTo>
                  <a:lnTo>
                    <a:pt x="0" y="21600"/>
                  </a:lnTo>
                  <a:lnTo>
                    <a:pt x="10800" y="0"/>
                  </a:lnTo>
                  <a:close/>
                </a:path>
              </a:pathLst>
            </a:custGeom>
            <a:solidFill>
              <a:srgbClr val="D8EBB3"/>
            </a:solidFill>
            <a:ln w="9525">
              <a:solidFill>
                <a:srgbClr val="000000"/>
              </a:solidFill>
              <a:miter lim="800000"/>
              <a:headEnd/>
              <a:tailEnd/>
            </a:ln>
          </p:spPr>
          <p:txBody>
            <a:bodyPr/>
            <a:lstStyle/>
            <a:p>
              <a:endParaRPr lang="es-ES"/>
            </a:p>
          </p:txBody>
        </p:sp>
        <p:sp>
          <p:nvSpPr>
            <p:cNvPr id="23566" name="Pyr2"/>
            <p:cNvSpPr>
              <a:spLocks noEditPoints="1" noChangeArrowheads="1"/>
            </p:cNvSpPr>
            <p:nvPr/>
          </p:nvSpPr>
          <p:spPr bwMode="blackWhite">
            <a:xfrm>
              <a:off x="2331" y="1038"/>
              <a:ext cx="2015" cy="936"/>
            </a:xfrm>
            <a:custGeom>
              <a:avLst/>
              <a:gdLst>
                <a:gd name="T0" fmla="*/ 5 w 21600"/>
                <a:gd name="T1" fmla="*/ 0 h 21600"/>
                <a:gd name="T2" fmla="*/ 13 w 21600"/>
                <a:gd name="T3" fmla="*/ 0 h 21600"/>
                <a:gd name="T4" fmla="*/ 18 w 21600"/>
                <a:gd name="T5" fmla="*/ 2 h 21600"/>
                <a:gd name="T6" fmla="*/ 0 w 21600"/>
                <a:gd name="T7" fmla="*/ 2 h 21600"/>
                <a:gd name="T8" fmla="*/ 0 60000 65536"/>
                <a:gd name="T9" fmla="*/ 0 60000 65536"/>
                <a:gd name="T10" fmla="*/ 0 60000 65536"/>
                <a:gd name="T11" fmla="*/ 0 60000 65536"/>
                <a:gd name="T12" fmla="*/ 5789 w 21600"/>
                <a:gd name="T13" fmla="*/ 508 h 21600"/>
                <a:gd name="T14" fmla="*/ 15811 w 21600"/>
                <a:gd name="T15" fmla="*/ 21092 h 21600"/>
              </a:gdLst>
              <a:ahLst/>
              <a:cxnLst>
                <a:cxn ang="T8">
                  <a:pos x="T0" y="T1"/>
                </a:cxn>
                <a:cxn ang="T9">
                  <a:pos x="T2" y="T3"/>
                </a:cxn>
                <a:cxn ang="T10">
                  <a:pos x="T4" y="T5"/>
                </a:cxn>
                <a:cxn ang="T11">
                  <a:pos x="T6" y="T7"/>
                </a:cxn>
              </a:cxnLst>
              <a:rect l="T12" t="T13" r="T14" b="T15"/>
              <a:pathLst>
                <a:path w="21600" h="21600">
                  <a:moveTo>
                    <a:pt x="5787" y="0"/>
                  </a:moveTo>
                  <a:lnTo>
                    <a:pt x="15812" y="0"/>
                  </a:lnTo>
                  <a:lnTo>
                    <a:pt x="21600" y="21600"/>
                  </a:lnTo>
                  <a:lnTo>
                    <a:pt x="0" y="21600"/>
                  </a:lnTo>
                  <a:lnTo>
                    <a:pt x="5787" y="0"/>
                  </a:lnTo>
                  <a:close/>
                </a:path>
              </a:pathLst>
            </a:custGeom>
            <a:solidFill>
              <a:srgbClr val="CCCCFF"/>
            </a:solidFill>
            <a:ln w="9525">
              <a:solidFill>
                <a:srgbClr val="000000"/>
              </a:solidFill>
              <a:miter lim="800000"/>
              <a:headEnd/>
              <a:tailEnd/>
            </a:ln>
          </p:spPr>
          <p:txBody>
            <a:bodyPr/>
            <a:lstStyle/>
            <a:p>
              <a:endParaRPr lang="es-ES"/>
            </a:p>
          </p:txBody>
        </p:sp>
        <p:sp>
          <p:nvSpPr>
            <p:cNvPr id="23567" name="Pyr3"/>
            <p:cNvSpPr>
              <a:spLocks noEditPoints="1" noChangeArrowheads="1"/>
            </p:cNvSpPr>
            <p:nvPr/>
          </p:nvSpPr>
          <p:spPr bwMode="blackWhite">
            <a:xfrm>
              <a:off x="1795" y="1974"/>
              <a:ext cx="3087" cy="935"/>
            </a:xfrm>
            <a:custGeom>
              <a:avLst/>
              <a:gdLst>
                <a:gd name="T0" fmla="*/ 11 w 21600"/>
                <a:gd name="T1" fmla="*/ 0 h 21600"/>
                <a:gd name="T2" fmla="*/ 52 w 21600"/>
                <a:gd name="T3" fmla="*/ 0 h 21600"/>
                <a:gd name="T4" fmla="*/ 63 w 21600"/>
                <a:gd name="T5" fmla="*/ 2 h 21600"/>
                <a:gd name="T6" fmla="*/ 0 w 21600"/>
                <a:gd name="T7" fmla="*/ 2 h 21600"/>
                <a:gd name="T8" fmla="*/ 0 60000 65536"/>
                <a:gd name="T9" fmla="*/ 0 60000 65536"/>
                <a:gd name="T10" fmla="*/ 0 60000 65536"/>
                <a:gd name="T11" fmla="*/ 0 60000 65536"/>
                <a:gd name="T12" fmla="*/ 5290 w 21600"/>
                <a:gd name="T13" fmla="*/ 508 h 21600"/>
                <a:gd name="T14" fmla="*/ 16310 w 21600"/>
                <a:gd name="T15" fmla="*/ 21092 h 21600"/>
              </a:gdLst>
              <a:ahLst/>
              <a:cxnLst>
                <a:cxn ang="T8">
                  <a:pos x="T0" y="T1"/>
                </a:cxn>
                <a:cxn ang="T9">
                  <a:pos x="T2" y="T3"/>
                </a:cxn>
                <a:cxn ang="T10">
                  <a:pos x="T4" y="T5"/>
                </a:cxn>
                <a:cxn ang="T11">
                  <a:pos x="T6" y="T7"/>
                </a:cxn>
              </a:cxnLst>
              <a:rect l="T12" t="T13" r="T14" b="T15"/>
              <a:pathLst>
                <a:path w="21600" h="21600">
                  <a:moveTo>
                    <a:pt x="3768" y="0"/>
                  </a:moveTo>
                  <a:lnTo>
                    <a:pt x="17831" y="0"/>
                  </a:lnTo>
                  <a:lnTo>
                    <a:pt x="21600" y="21600"/>
                  </a:lnTo>
                  <a:lnTo>
                    <a:pt x="0" y="21600"/>
                  </a:lnTo>
                  <a:lnTo>
                    <a:pt x="3768" y="0"/>
                  </a:lnTo>
                  <a:close/>
                </a:path>
              </a:pathLst>
            </a:custGeom>
            <a:solidFill>
              <a:srgbClr val="FFBE7D"/>
            </a:solidFill>
            <a:ln w="9525">
              <a:solidFill>
                <a:srgbClr val="000000"/>
              </a:solidFill>
              <a:miter lim="800000"/>
              <a:headEnd/>
              <a:tailEnd/>
            </a:ln>
          </p:spPr>
          <p:txBody>
            <a:bodyPr/>
            <a:lstStyle/>
            <a:p>
              <a:endParaRPr lang="es-ES"/>
            </a:p>
          </p:txBody>
        </p:sp>
        <p:sp>
          <p:nvSpPr>
            <p:cNvPr id="23568" name="Pyr4"/>
            <p:cNvSpPr>
              <a:spLocks noEditPoints="1" noChangeArrowheads="1"/>
            </p:cNvSpPr>
            <p:nvPr/>
          </p:nvSpPr>
          <p:spPr bwMode="blackWhite">
            <a:xfrm>
              <a:off x="1248" y="2904"/>
              <a:ext cx="4176" cy="936"/>
            </a:xfrm>
            <a:custGeom>
              <a:avLst/>
              <a:gdLst>
                <a:gd name="T0" fmla="*/ 20 w 21600"/>
                <a:gd name="T1" fmla="*/ 0 h 21600"/>
                <a:gd name="T2" fmla="*/ 136 w 21600"/>
                <a:gd name="T3" fmla="*/ 0 h 21600"/>
                <a:gd name="T4" fmla="*/ 156 w 21600"/>
                <a:gd name="T5" fmla="*/ 2 h 21600"/>
                <a:gd name="T6" fmla="*/ 0 w 21600"/>
                <a:gd name="T7" fmla="*/ 2 h 21600"/>
                <a:gd name="T8" fmla="*/ 0 60000 65536"/>
                <a:gd name="T9" fmla="*/ 0 60000 65536"/>
                <a:gd name="T10" fmla="*/ 0 60000 65536"/>
                <a:gd name="T11" fmla="*/ 0 60000 65536"/>
                <a:gd name="T12" fmla="*/ 3284 w 21600"/>
                <a:gd name="T13" fmla="*/ 508 h 21600"/>
                <a:gd name="T14" fmla="*/ 17312 w 21600"/>
                <a:gd name="T15" fmla="*/ 21092 h 21600"/>
              </a:gdLst>
              <a:ahLst/>
              <a:cxnLst>
                <a:cxn ang="T8">
                  <a:pos x="T0" y="T1"/>
                </a:cxn>
                <a:cxn ang="T9">
                  <a:pos x="T2" y="T3"/>
                </a:cxn>
                <a:cxn ang="T10">
                  <a:pos x="T4" y="T5"/>
                </a:cxn>
                <a:cxn ang="T11">
                  <a:pos x="T6" y="T7"/>
                </a:cxn>
              </a:cxnLst>
              <a:rect l="T12" t="T13" r="T14" b="T15"/>
              <a:pathLst>
                <a:path w="21600" h="21600">
                  <a:moveTo>
                    <a:pt x="2793" y="0"/>
                  </a:moveTo>
                  <a:lnTo>
                    <a:pt x="18806" y="0"/>
                  </a:lnTo>
                  <a:lnTo>
                    <a:pt x="21600" y="21600"/>
                  </a:lnTo>
                  <a:lnTo>
                    <a:pt x="0" y="21600"/>
                  </a:lnTo>
                  <a:lnTo>
                    <a:pt x="2793" y="0"/>
                  </a:lnTo>
                  <a:close/>
                </a:path>
              </a:pathLst>
            </a:custGeom>
            <a:solidFill>
              <a:srgbClr val="FFFFCC"/>
            </a:solidFill>
            <a:ln w="9525">
              <a:solidFill>
                <a:srgbClr val="000000"/>
              </a:solidFill>
              <a:miter lim="800000"/>
              <a:headEnd/>
              <a:tailEnd/>
            </a:ln>
          </p:spPr>
          <p:txBody>
            <a:bodyPr/>
            <a:lstStyle/>
            <a:p>
              <a:endParaRPr lang="es-ES"/>
            </a:p>
          </p:txBody>
        </p:sp>
      </p:grpSp>
      <p:sp>
        <p:nvSpPr>
          <p:cNvPr id="23558" name="Text Box 2058"/>
          <p:cNvSpPr txBox="1">
            <a:spLocks noChangeArrowheads="1"/>
          </p:cNvSpPr>
          <p:nvPr/>
        </p:nvSpPr>
        <p:spPr bwMode="blackWhite">
          <a:xfrm>
            <a:off x="5148263" y="2928938"/>
            <a:ext cx="1924050" cy="366712"/>
          </a:xfrm>
          <a:prstGeom prst="rect">
            <a:avLst/>
          </a:prstGeom>
          <a:noFill/>
          <a:ln w="3175">
            <a:noFill/>
            <a:miter lim="800000"/>
            <a:headEnd/>
            <a:tailEnd/>
          </a:ln>
        </p:spPr>
        <p:txBody>
          <a:bodyPr wrap="none">
            <a:spAutoFit/>
          </a:bodyPr>
          <a:lstStyle/>
          <a:p>
            <a:pPr algn="l"/>
            <a:r>
              <a:rPr lang="es-ES" sz="1800"/>
              <a:t>memoria/s cache</a:t>
            </a:r>
            <a:endParaRPr lang="ca-ES" sz="1800"/>
          </a:p>
        </p:txBody>
      </p:sp>
      <p:sp>
        <p:nvSpPr>
          <p:cNvPr id="23559" name="Text Box 2059"/>
          <p:cNvSpPr txBox="1">
            <a:spLocks noChangeArrowheads="1"/>
          </p:cNvSpPr>
          <p:nvPr/>
        </p:nvSpPr>
        <p:spPr bwMode="blackWhite">
          <a:xfrm>
            <a:off x="5029200" y="3962400"/>
            <a:ext cx="1987550" cy="366713"/>
          </a:xfrm>
          <a:prstGeom prst="rect">
            <a:avLst/>
          </a:prstGeom>
          <a:noFill/>
          <a:ln w="3175">
            <a:noFill/>
            <a:miter lim="800000"/>
            <a:headEnd/>
            <a:tailEnd/>
          </a:ln>
        </p:spPr>
        <p:txBody>
          <a:bodyPr wrap="none">
            <a:spAutoFit/>
          </a:bodyPr>
          <a:lstStyle/>
          <a:p>
            <a:pPr algn="l"/>
            <a:r>
              <a:rPr lang="es-ES" sz="1800"/>
              <a:t>memoria principal</a:t>
            </a:r>
            <a:endParaRPr lang="ca-ES" sz="1800"/>
          </a:p>
        </p:txBody>
      </p:sp>
      <p:sp>
        <p:nvSpPr>
          <p:cNvPr id="23560" name="Text Box 2060"/>
          <p:cNvSpPr txBox="1">
            <a:spLocks noChangeArrowheads="1"/>
          </p:cNvSpPr>
          <p:nvPr/>
        </p:nvSpPr>
        <p:spPr bwMode="blackWhite">
          <a:xfrm>
            <a:off x="5173540" y="5301208"/>
            <a:ext cx="1555750" cy="366713"/>
          </a:xfrm>
          <a:prstGeom prst="rect">
            <a:avLst/>
          </a:prstGeom>
          <a:noFill/>
          <a:ln w="3175">
            <a:noFill/>
            <a:miter lim="800000"/>
            <a:headEnd/>
            <a:tailEnd/>
          </a:ln>
        </p:spPr>
        <p:txBody>
          <a:bodyPr wrap="none">
            <a:spAutoFit/>
          </a:bodyPr>
          <a:lstStyle/>
          <a:p>
            <a:pPr algn="l"/>
            <a:r>
              <a:rPr lang="es-ES" sz="1800" dirty="0"/>
              <a:t>discos, cintas</a:t>
            </a:r>
            <a:endParaRPr lang="ca-ES" sz="1800" dirty="0"/>
          </a:p>
        </p:txBody>
      </p:sp>
      <p:sp>
        <p:nvSpPr>
          <p:cNvPr id="23563" name="Rectangle 2063"/>
          <p:cNvSpPr>
            <a:spLocks noChangeArrowheads="1"/>
          </p:cNvSpPr>
          <p:nvPr/>
        </p:nvSpPr>
        <p:spPr bwMode="blackWhite">
          <a:xfrm>
            <a:off x="5541963" y="2060575"/>
            <a:ext cx="1054100" cy="336550"/>
          </a:xfrm>
          <a:prstGeom prst="rect">
            <a:avLst/>
          </a:prstGeom>
          <a:noFill/>
          <a:ln w="3175">
            <a:noFill/>
            <a:miter lim="800000"/>
            <a:headEnd/>
            <a:tailEnd/>
          </a:ln>
        </p:spPr>
        <p:txBody>
          <a:bodyPr wrap="none">
            <a:spAutoFit/>
          </a:bodyPr>
          <a:lstStyle/>
          <a:p>
            <a:pPr algn="l"/>
            <a:r>
              <a:rPr lang="es-ES" sz="1600" b="1"/>
              <a:t>registros</a:t>
            </a:r>
          </a:p>
        </p:txBody>
      </p:sp>
      <p:sp>
        <p:nvSpPr>
          <p:cNvPr id="16" name="Rectangle 2051">
            <a:extLst>
              <a:ext uri="{FF2B5EF4-FFF2-40B4-BE49-F238E27FC236}">
                <a16:creationId xmlns:a16="http://schemas.microsoft.com/office/drawing/2014/main" id="{E161340D-9CD8-4488-90F0-DF7588761290}"/>
              </a:ext>
            </a:extLst>
          </p:cNvPr>
          <p:cNvSpPr txBox="1">
            <a:spLocks noChangeArrowheads="1"/>
          </p:cNvSpPr>
          <p:nvPr/>
        </p:nvSpPr>
        <p:spPr>
          <a:xfrm>
            <a:off x="533400" y="1934084"/>
            <a:ext cx="4076700" cy="3209925"/>
          </a:xfrm>
          <a:prstGeom prst="rect">
            <a:avLst/>
          </a:prstGeom>
        </p:spPr>
        <p:txBody>
          <a:bodyPr>
            <a:normAutofit/>
          </a:bodyPr>
          <a:lstStyle>
            <a:lvl1pPr marL="365125" indent="-282575" algn="l" rtl="0" eaLnBrk="0" fontAlgn="base" hangingPunct="0">
              <a:lnSpc>
                <a:spcPts val="3000"/>
              </a:lnSpc>
              <a:spcBef>
                <a:spcPts val="600"/>
              </a:spcBef>
              <a:spcAft>
                <a:spcPct val="0"/>
              </a:spcAft>
              <a:buClr>
                <a:schemeClr val="accent1"/>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rgbClr val="C58D01"/>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sz="2000" dirty="0"/>
              <a:t>Situación REAL: criterios tecnológicos contrapuestos</a:t>
            </a:r>
          </a:p>
          <a:p>
            <a:pPr lvl="1"/>
            <a:r>
              <a:rPr lang="es-ES" sz="1800" dirty="0"/>
              <a:t>Velocidad de acceso</a:t>
            </a:r>
          </a:p>
          <a:p>
            <a:pPr lvl="1"/>
            <a:r>
              <a:rPr lang="es-ES" sz="1800" dirty="0"/>
              <a:t>Capacidad de almacenamiento</a:t>
            </a:r>
          </a:p>
          <a:p>
            <a:pPr lvl="1"/>
            <a:r>
              <a:rPr lang="es-ES" sz="1800" dirty="0"/>
              <a:t>Coste por bit almacenado</a:t>
            </a:r>
          </a:p>
          <a:p>
            <a:pPr lvl="1"/>
            <a:r>
              <a:rPr lang="es-ES" sz="1800" dirty="0"/>
              <a:t>Consumo de potencia</a:t>
            </a:r>
          </a:p>
          <a:p>
            <a:pPr lvl="1"/>
            <a:r>
              <a:rPr lang="es-ES" sz="1800" dirty="0"/>
              <a:t>Fiabilidad</a:t>
            </a:r>
          </a:p>
          <a:p>
            <a:endParaRPr lang="es-ES" sz="2000" dirty="0"/>
          </a:p>
          <a:p>
            <a:pPr lvl="1"/>
            <a:endParaRPr lang="es-ES" sz="1800" dirty="0"/>
          </a:p>
        </p:txBody>
      </p:sp>
      <p:sp>
        <p:nvSpPr>
          <p:cNvPr id="17" name="AutoShape 2061">
            <a:extLst>
              <a:ext uri="{FF2B5EF4-FFF2-40B4-BE49-F238E27FC236}">
                <a16:creationId xmlns:a16="http://schemas.microsoft.com/office/drawing/2014/main" id="{3755CB01-1F04-4800-A15C-048ACE4FD8B2}"/>
              </a:ext>
            </a:extLst>
          </p:cNvPr>
          <p:cNvSpPr>
            <a:spLocks noChangeArrowheads="1"/>
          </p:cNvSpPr>
          <p:nvPr/>
        </p:nvSpPr>
        <p:spPr bwMode="blackWhite">
          <a:xfrm rot="10800000">
            <a:off x="7391400" y="1447800"/>
            <a:ext cx="762000" cy="2590800"/>
          </a:xfrm>
          <a:prstGeom prst="upArrow">
            <a:avLst>
              <a:gd name="adj1" fmla="val 50000"/>
              <a:gd name="adj2" fmla="val 85000"/>
            </a:avLst>
          </a:prstGeom>
          <a:solidFill>
            <a:srgbClr val="CCFFFF"/>
          </a:solidFill>
          <a:ln w="3175">
            <a:solidFill>
              <a:srgbClr val="006600"/>
            </a:solidFill>
            <a:miter lim="800000"/>
            <a:headEnd/>
            <a:tailEnd/>
          </a:ln>
        </p:spPr>
        <p:txBody>
          <a:bodyPr vert="eaVert" wrap="none" anchor="ctr"/>
          <a:lstStyle/>
          <a:p>
            <a:r>
              <a:rPr lang="es-ES" sz="1800"/>
              <a:t>Mayor capacidad </a:t>
            </a:r>
            <a:endParaRPr lang="ca-ES" sz="1800"/>
          </a:p>
        </p:txBody>
      </p:sp>
      <p:sp>
        <p:nvSpPr>
          <p:cNvPr id="18" name="AutoShape 2062">
            <a:extLst>
              <a:ext uri="{FF2B5EF4-FFF2-40B4-BE49-F238E27FC236}">
                <a16:creationId xmlns:a16="http://schemas.microsoft.com/office/drawing/2014/main" id="{AFD2F3DC-DBD6-471F-881E-135CCE7CB660}"/>
              </a:ext>
            </a:extLst>
          </p:cNvPr>
          <p:cNvSpPr>
            <a:spLocks noChangeArrowheads="1"/>
          </p:cNvSpPr>
          <p:nvPr/>
        </p:nvSpPr>
        <p:spPr bwMode="blackWhite">
          <a:xfrm>
            <a:off x="8258175" y="1484313"/>
            <a:ext cx="784225" cy="3581400"/>
          </a:xfrm>
          <a:prstGeom prst="upArrow">
            <a:avLst>
              <a:gd name="adj1" fmla="val 50000"/>
              <a:gd name="adj2" fmla="val 114170"/>
            </a:avLst>
          </a:prstGeom>
          <a:solidFill>
            <a:srgbClr val="CCFFFF"/>
          </a:solidFill>
          <a:ln w="3175">
            <a:solidFill>
              <a:srgbClr val="006600"/>
            </a:solidFill>
            <a:miter lim="800000"/>
            <a:headEnd/>
            <a:tailEnd/>
          </a:ln>
        </p:spPr>
        <p:txBody>
          <a:bodyPr vert="eaVert" wrap="none" anchor="ctr"/>
          <a:lstStyle/>
          <a:p>
            <a:r>
              <a:rPr lang="es-ES" sz="1800" dirty="0"/>
              <a:t>Más velocidad y mayor coste</a:t>
            </a:r>
            <a:endParaRPr lang="ca-ES" sz="1800" dirty="0"/>
          </a:p>
        </p:txBody>
      </p:sp>
    </p:spTree>
    <p:extLst>
      <p:ext uri="{BB962C8B-B14F-4D97-AF65-F5344CB8AC3E}">
        <p14:creationId xmlns:p14="http://schemas.microsoft.com/office/powerpoint/2010/main" val="236588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4 Marcador de número de diapositiva"/>
          <p:cNvSpPr>
            <a:spLocks noGrp="1"/>
          </p:cNvSpPr>
          <p:nvPr>
            <p:ph type="sldNum" sz="quarter" idx="10"/>
          </p:nvPr>
        </p:nvSpPr>
        <p:spPr>
          <a:noFill/>
        </p:spPr>
        <p:txBody>
          <a:bodyPr/>
          <a:lstStyle/>
          <a:p>
            <a:fld id="{6205B3E2-84ED-4223-A5E9-65FEAE8C568A}" type="slidenum">
              <a:rPr lang="en-US" smtClean="0"/>
              <a:pPr/>
              <a:t>10</a:t>
            </a:fld>
            <a:endParaRPr lang="en-US"/>
          </a:p>
        </p:txBody>
      </p:sp>
      <p:sp>
        <p:nvSpPr>
          <p:cNvPr id="23555" name="Rectangle 2050"/>
          <p:cNvSpPr>
            <a:spLocks noGrp="1" noChangeArrowheads="1"/>
          </p:cNvSpPr>
          <p:nvPr>
            <p:ph type="title"/>
          </p:nvPr>
        </p:nvSpPr>
        <p:spPr/>
        <p:txBody>
          <a:bodyPr/>
          <a:lstStyle/>
          <a:p>
            <a:r>
              <a:rPr lang="es-ES"/>
              <a:t>Jerarquía de memoria: ¿qué es?</a:t>
            </a:r>
            <a:endParaRPr lang="ca-ES"/>
          </a:p>
        </p:txBody>
      </p:sp>
      <p:sp>
        <p:nvSpPr>
          <p:cNvPr id="23556" name="Rectangle 2051"/>
          <p:cNvSpPr>
            <a:spLocks noGrp="1" noChangeArrowheads="1"/>
          </p:cNvSpPr>
          <p:nvPr>
            <p:ph type="body" sz="half" idx="1"/>
          </p:nvPr>
        </p:nvSpPr>
        <p:spPr>
          <a:xfrm>
            <a:off x="533400" y="1119188"/>
            <a:ext cx="4076700" cy="2176462"/>
          </a:xfrm>
        </p:spPr>
        <p:txBody>
          <a:bodyPr/>
          <a:lstStyle/>
          <a:p>
            <a:r>
              <a:rPr lang="es-ES" sz="2000" dirty="0"/>
              <a:t>Solución: </a:t>
            </a:r>
            <a:r>
              <a:rPr lang="es-ES" sz="1800" dirty="0"/>
              <a:t>Organización jerárquica</a:t>
            </a:r>
          </a:p>
          <a:p>
            <a:pPr lvl="1"/>
            <a:r>
              <a:rPr lang="es-ES" sz="1800" dirty="0"/>
              <a:t>Zonas muy frecuentemente accedidas:  memorias más rápidas.</a:t>
            </a:r>
          </a:p>
          <a:p>
            <a:pPr lvl="1"/>
            <a:r>
              <a:rPr lang="es-ES" sz="1800" dirty="0"/>
              <a:t>Zonas de menor uso: memorias lentas.</a:t>
            </a:r>
          </a:p>
          <a:p>
            <a:pPr lvl="1"/>
            <a:endParaRPr lang="ca-ES" sz="1800" dirty="0"/>
          </a:p>
        </p:txBody>
      </p:sp>
      <p:grpSp>
        <p:nvGrpSpPr>
          <p:cNvPr id="2" name="Group 2052"/>
          <p:cNvGrpSpPr>
            <a:grpSpLocks/>
          </p:cNvGrpSpPr>
          <p:nvPr/>
        </p:nvGrpSpPr>
        <p:grpSpPr bwMode="auto">
          <a:xfrm>
            <a:off x="3458368" y="1371600"/>
            <a:ext cx="5129213" cy="4649788"/>
            <a:chOff x="1248" y="240"/>
            <a:chExt cx="4176" cy="3600"/>
          </a:xfrm>
        </p:grpSpPr>
        <p:sp>
          <p:nvSpPr>
            <p:cNvPr id="23565" name="Pyr1"/>
            <p:cNvSpPr>
              <a:spLocks noEditPoints="1" noChangeArrowheads="1"/>
            </p:cNvSpPr>
            <p:nvPr/>
          </p:nvSpPr>
          <p:spPr bwMode="blackWhite">
            <a:xfrm>
              <a:off x="2873" y="240"/>
              <a:ext cx="936" cy="798"/>
            </a:xfrm>
            <a:custGeom>
              <a:avLst/>
              <a:gdLst>
                <a:gd name="T0" fmla="*/ 1 w 21600"/>
                <a:gd name="T1" fmla="*/ 0 h 21600"/>
                <a:gd name="T2" fmla="*/ 2 w 21600"/>
                <a:gd name="T3" fmla="*/ 1 h 21600"/>
                <a:gd name="T4" fmla="*/ 0 w 21600"/>
                <a:gd name="T5" fmla="*/ 1 h 21600"/>
                <a:gd name="T6" fmla="*/ 0 60000 65536"/>
                <a:gd name="T7" fmla="*/ 0 60000 65536"/>
                <a:gd name="T8" fmla="*/ 0 60000 65536"/>
                <a:gd name="T9" fmla="*/ 5400 w 21600"/>
                <a:gd name="T10" fmla="*/ 11802 h 21600"/>
                <a:gd name="T11" fmla="*/ 16200 w 21600"/>
                <a:gd name="T12" fmla="*/ 20598 h 21600"/>
              </a:gdLst>
              <a:ahLst/>
              <a:cxnLst>
                <a:cxn ang="T6">
                  <a:pos x="T0" y="T1"/>
                </a:cxn>
                <a:cxn ang="T7">
                  <a:pos x="T2" y="T3"/>
                </a:cxn>
                <a:cxn ang="T8">
                  <a:pos x="T4" y="T5"/>
                </a:cxn>
              </a:cxnLst>
              <a:rect l="T9" t="T10" r="T11" b="T12"/>
              <a:pathLst>
                <a:path w="21600" h="21600">
                  <a:moveTo>
                    <a:pt x="10800" y="0"/>
                  </a:moveTo>
                  <a:lnTo>
                    <a:pt x="21600" y="21600"/>
                  </a:lnTo>
                  <a:lnTo>
                    <a:pt x="0" y="21600"/>
                  </a:lnTo>
                  <a:lnTo>
                    <a:pt x="10800" y="0"/>
                  </a:lnTo>
                  <a:close/>
                </a:path>
              </a:pathLst>
            </a:custGeom>
            <a:solidFill>
              <a:srgbClr val="D8EBB3"/>
            </a:solidFill>
            <a:ln w="9525">
              <a:solidFill>
                <a:srgbClr val="000000"/>
              </a:solidFill>
              <a:miter lim="800000"/>
              <a:headEnd/>
              <a:tailEnd/>
            </a:ln>
          </p:spPr>
          <p:txBody>
            <a:bodyPr/>
            <a:lstStyle/>
            <a:p>
              <a:endParaRPr lang="es-ES"/>
            </a:p>
          </p:txBody>
        </p:sp>
        <p:sp>
          <p:nvSpPr>
            <p:cNvPr id="23566" name="Pyr2"/>
            <p:cNvSpPr>
              <a:spLocks noEditPoints="1" noChangeArrowheads="1"/>
            </p:cNvSpPr>
            <p:nvPr/>
          </p:nvSpPr>
          <p:spPr bwMode="blackWhite">
            <a:xfrm>
              <a:off x="2331" y="1038"/>
              <a:ext cx="2015" cy="936"/>
            </a:xfrm>
            <a:custGeom>
              <a:avLst/>
              <a:gdLst>
                <a:gd name="T0" fmla="*/ 5 w 21600"/>
                <a:gd name="T1" fmla="*/ 0 h 21600"/>
                <a:gd name="T2" fmla="*/ 13 w 21600"/>
                <a:gd name="T3" fmla="*/ 0 h 21600"/>
                <a:gd name="T4" fmla="*/ 18 w 21600"/>
                <a:gd name="T5" fmla="*/ 2 h 21600"/>
                <a:gd name="T6" fmla="*/ 0 w 21600"/>
                <a:gd name="T7" fmla="*/ 2 h 21600"/>
                <a:gd name="T8" fmla="*/ 0 60000 65536"/>
                <a:gd name="T9" fmla="*/ 0 60000 65536"/>
                <a:gd name="T10" fmla="*/ 0 60000 65536"/>
                <a:gd name="T11" fmla="*/ 0 60000 65536"/>
                <a:gd name="T12" fmla="*/ 5789 w 21600"/>
                <a:gd name="T13" fmla="*/ 508 h 21600"/>
                <a:gd name="T14" fmla="*/ 15811 w 21600"/>
                <a:gd name="T15" fmla="*/ 21092 h 21600"/>
              </a:gdLst>
              <a:ahLst/>
              <a:cxnLst>
                <a:cxn ang="T8">
                  <a:pos x="T0" y="T1"/>
                </a:cxn>
                <a:cxn ang="T9">
                  <a:pos x="T2" y="T3"/>
                </a:cxn>
                <a:cxn ang="T10">
                  <a:pos x="T4" y="T5"/>
                </a:cxn>
                <a:cxn ang="T11">
                  <a:pos x="T6" y="T7"/>
                </a:cxn>
              </a:cxnLst>
              <a:rect l="T12" t="T13" r="T14" b="T15"/>
              <a:pathLst>
                <a:path w="21600" h="21600">
                  <a:moveTo>
                    <a:pt x="5787" y="0"/>
                  </a:moveTo>
                  <a:lnTo>
                    <a:pt x="15812" y="0"/>
                  </a:lnTo>
                  <a:lnTo>
                    <a:pt x="21600" y="21600"/>
                  </a:lnTo>
                  <a:lnTo>
                    <a:pt x="0" y="21600"/>
                  </a:lnTo>
                  <a:lnTo>
                    <a:pt x="5787" y="0"/>
                  </a:lnTo>
                  <a:close/>
                </a:path>
              </a:pathLst>
            </a:custGeom>
            <a:solidFill>
              <a:srgbClr val="CCCCFF"/>
            </a:solidFill>
            <a:ln w="9525">
              <a:solidFill>
                <a:srgbClr val="000000"/>
              </a:solidFill>
              <a:miter lim="800000"/>
              <a:headEnd/>
              <a:tailEnd/>
            </a:ln>
          </p:spPr>
          <p:txBody>
            <a:bodyPr/>
            <a:lstStyle/>
            <a:p>
              <a:endParaRPr lang="es-ES"/>
            </a:p>
          </p:txBody>
        </p:sp>
        <p:sp>
          <p:nvSpPr>
            <p:cNvPr id="23567" name="Pyr3"/>
            <p:cNvSpPr>
              <a:spLocks noEditPoints="1" noChangeArrowheads="1"/>
            </p:cNvSpPr>
            <p:nvPr/>
          </p:nvSpPr>
          <p:spPr bwMode="blackWhite">
            <a:xfrm>
              <a:off x="1795" y="1974"/>
              <a:ext cx="3087" cy="935"/>
            </a:xfrm>
            <a:custGeom>
              <a:avLst/>
              <a:gdLst>
                <a:gd name="T0" fmla="*/ 11 w 21600"/>
                <a:gd name="T1" fmla="*/ 0 h 21600"/>
                <a:gd name="T2" fmla="*/ 52 w 21600"/>
                <a:gd name="T3" fmla="*/ 0 h 21600"/>
                <a:gd name="T4" fmla="*/ 63 w 21600"/>
                <a:gd name="T5" fmla="*/ 2 h 21600"/>
                <a:gd name="T6" fmla="*/ 0 w 21600"/>
                <a:gd name="T7" fmla="*/ 2 h 21600"/>
                <a:gd name="T8" fmla="*/ 0 60000 65536"/>
                <a:gd name="T9" fmla="*/ 0 60000 65536"/>
                <a:gd name="T10" fmla="*/ 0 60000 65536"/>
                <a:gd name="T11" fmla="*/ 0 60000 65536"/>
                <a:gd name="T12" fmla="*/ 5290 w 21600"/>
                <a:gd name="T13" fmla="*/ 508 h 21600"/>
                <a:gd name="T14" fmla="*/ 16310 w 21600"/>
                <a:gd name="T15" fmla="*/ 21092 h 21600"/>
              </a:gdLst>
              <a:ahLst/>
              <a:cxnLst>
                <a:cxn ang="T8">
                  <a:pos x="T0" y="T1"/>
                </a:cxn>
                <a:cxn ang="T9">
                  <a:pos x="T2" y="T3"/>
                </a:cxn>
                <a:cxn ang="T10">
                  <a:pos x="T4" y="T5"/>
                </a:cxn>
                <a:cxn ang="T11">
                  <a:pos x="T6" y="T7"/>
                </a:cxn>
              </a:cxnLst>
              <a:rect l="T12" t="T13" r="T14" b="T15"/>
              <a:pathLst>
                <a:path w="21600" h="21600">
                  <a:moveTo>
                    <a:pt x="3768" y="0"/>
                  </a:moveTo>
                  <a:lnTo>
                    <a:pt x="17831" y="0"/>
                  </a:lnTo>
                  <a:lnTo>
                    <a:pt x="21600" y="21600"/>
                  </a:lnTo>
                  <a:lnTo>
                    <a:pt x="0" y="21600"/>
                  </a:lnTo>
                  <a:lnTo>
                    <a:pt x="3768" y="0"/>
                  </a:lnTo>
                  <a:close/>
                </a:path>
              </a:pathLst>
            </a:custGeom>
            <a:solidFill>
              <a:srgbClr val="FFBE7D"/>
            </a:solidFill>
            <a:ln w="9525">
              <a:solidFill>
                <a:srgbClr val="000000"/>
              </a:solidFill>
              <a:miter lim="800000"/>
              <a:headEnd/>
              <a:tailEnd/>
            </a:ln>
          </p:spPr>
          <p:txBody>
            <a:bodyPr/>
            <a:lstStyle/>
            <a:p>
              <a:endParaRPr lang="es-ES"/>
            </a:p>
          </p:txBody>
        </p:sp>
        <p:sp>
          <p:nvSpPr>
            <p:cNvPr id="23568" name="Pyr4"/>
            <p:cNvSpPr>
              <a:spLocks noEditPoints="1" noChangeArrowheads="1"/>
            </p:cNvSpPr>
            <p:nvPr/>
          </p:nvSpPr>
          <p:spPr bwMode="blackWhite">
            <a:xfrm>
              <a:off x="1248" y="2904"/>
              <a:ext cx="4176" cy="936"/>
            </a:xfrm>
            <a:custGeom>
              <a:avLst/>
              <a:gdLst>
                <a:gd name="T0" fmla="*/ 20 w 21600"/>
                <a:gd name="T1" fmla="*/ 0 h 21600"/>
                <a:gd name="T2" fmla="*/ 136 w 21600"/>
                <a:gd name="T3" fmla="*/ 0 h 21600"/>
                <a:gd name="T4" fmla="*/ 156 w 21600"/>
                <a:gd name="T5" fmla="*/ 2 h 21600"/>
                <a:gd name="T6" fmla="*/ 0 w 21600"/>
                <a:gd name="T7" fmla="*/ 2 h 21600"/>
                <a:gd name="T8" fmla="*/ 0 60000 65536"/>
                <a:gd name="T9" fmla="*/ 0 60000 65536"/>
                <a:gd name="T10" fmla="*/ 0 60000 65536"/>
                <a:gd name="T11" fmla="*/ 0 60000 65536"/>
                <a:gd name="T12" fmla="*/ 3284 w 21600"/>
                <a:gd name="T13" fmla="*/ 508 h 21600"/>
                <a:gd name="T14" fmla="*/ 17312 w 21600"/>
                <a:gd name="T15" fmla="*/ 21092 h 21600"/>
              </a:gdLst>
              <a:ahLst/>
              <a:cxnLst>
                <a:cxn ang="T8">
                  <a:pos x="T0" y="T1"/>
                </a:cxn>
                <a:cxn ang="T9">
                  <a:pos x="T2" y="T3"/>
                </a:cxn>
                <a:cxn ang="T10">
                  <a:pos x="T4" y="T5"/>
                </a:cxn>
                <a:cxn ang="T11">
                  <a:pos x="T6" y="T7"/>
                </a:cxn>
              </a:cxnLst>
              <a:rect l="T12" t="T13" r="T14" b="T15"/>
              <a:pathLst>
                <a:path w="21600" h="21600">
                  <a:moveTo>
                    <a:pt x="2793" y="0"/>
                  </a:moveTo>
                  <a:lnTo>
                    <a:pt x="18806" y="0"/>
                  </a:lnTo>
                  <a:lnTo>
                    <a:pt x="21600" y="21600"/>
                  </a:lnTo>
                  <a:lnTo>
                    <a:pt x="0" y="21600"/>
                  </a:lnTo>
                  <a:lnTo>
                    <a:pt x="2793" y="0"/>
                  </a:lnTo>
                  <a:close/>
                </a:path>
              </a:pathLst>
            </a:custGeom>
            <a:solidFill>
              <a:srgbClr val="FFFFCC"/>
            </a:solidFill>
            <a:ln w="9525">
              <a:solidFill>
                <a:srgbClr val="000000"/>
              </a:solidFill>
              <a:miter lim="800000"/>
              <a:headEnd/>
              <a:tailEnd/>
            </a:ln>
          </p:spPr>
          <p:txBody>
            <a:bodyPr/>
            <a:lstStyle/>
            <a:p>
              <a:endParaRPr lang="es-ES"/>
            </a:p>
          </p:txBody>
        </p:sp>
      </p:grpSp>
      <p:sp>
        <p:nvSpPr>
          <p:cNvPr id="23558" name="Text Box 2058"/>
          <p:cNvSpPr txBox="1">
            <a:spLocks noChangeArrowheads="1"/>
          </p:cNvSpPr>
          <p:nvPr/>
        </p:nvSpPr>
        <p:spPr bwMode="blackWhite">
          <a:xfrm>
            <a:off x="5148263" y="2928938"/>
            <a:ext cx="1924050" cy="366712"/>
          </a:xfrm>
          <a:prstGeom prst="rect">
            <a:avLst/>
          </a:prstGeom>
          <a:noFill/>
          <a:ln w="3175">
            <a:noFill/>
            <a:miter lim="800000"/>
            <a:headEnd/>
            <a:tailEnd/>
          </a:ln>
        </p:spPr>
        <p:txBody>
          <a:bodyPr wrap="none">
            <a:spAutoFit/>
          </a:bodyPr>
          <a:lstStyle/>
          <a:p>
            <a:pPr algn="l"/>
            <a:r>
              <a:rPr lang="es-ES" sz="1800"/>
              <a:t>memoria/s cache</a:t>
            </a:r>
            <a:endParaRPr lang="ca-ES" sz="1800"/>
          </a:p>
        </p:txBody>
      </p:sp>
      <p:sp>
        <p:nvSpPr>
          <p:cNvPr id="23559" name="Text Box 2059"/>
          <p:cNvSpPr txBox="1">
            <a:spLocks noChangeArrowheads="1"/>
          </p:cNvSpPr>
          <p:nvPr/>
        </p:nvSpPr>
        <p:spPr bwMode="blackWhite">
          <a:xfrm>
            <a:off x="5029200" y="3962400"/>
            <a:ext cx="1987550" cy="366713"/>
          </a:xfrm>
          <a:prstGeom prst="rect">
            <a:avLst/>
          </a:prstGeom>
          <a:noFill/>
          <a:ln w="3175">
            <a:noFill/>
            <a:miter lim="800000"/>
            <a:headEnd/>
            <a:tailEnd/>
          </a:ln>
        </p:spPr>
        <p:txBody>
          <a:bodyPr wrap="none">
            <a:spAutoFit/>
          </a:bodyPr>
          <a:lstStyle/>
          <a:p>
            <a:pPr algn="l"/>
            <a:r>
              <a:rPr lang="es-ES" sz="1800"/>
              <a:t>memoria principal</a:t>
            </a:r>
            <a:endParaRPr lang="ca-ES" sz="1800"/>
          </a:p>
        </p:txBody>
      </p:sp>
      <p:sp>
        <p:nvSpPr>
          <p:cNvPr id="23560" name="Text Box 2060"/>
          <p:cNvSpPr txBox="1">
            <a:spLocks noChangeArrowheads="1"/>
          </p:cNvSpPr>
          <p:nvPr/>
        </p:nvSpPr>
        <p:spPr bwMode="blackWhite">
          <a:xfrm>
            <a:off x="5173540" y="5301208"/>
            <a:ext cx="1555750" cy="366713"/>
          </a:xfrm>
          <a:prstGeom prst="rect">
            <a:avLst/>
          </a:prstGeom>
          <a:noFill/>
          <a:ln w="3175">
            <a:noFill/>
            <a:miter lim="800000"/>
            <a:headEnd/>
            <a:tailEnd/>
          </a:ln>
        </p:spPr>
        <p:txBody>
          <a:bodyPr wrap="none">
            <a:spAutoFit/>
          </a:bodyPr>
          <a:lstStyle/>
          <a:p>
            <a:pPr algn="l"/>
            <a:r>
              <a:rPr lang="es-ES" sz="1800" dirty="0"/>
              <a:t>discos, cintas</a:t>
            </a:r>
            <a:endParaRPr lang="ca-ES" sz="1800" dirty="0"/>
          </a:p>
        </p:txBody>
      </p:sp>
      <p:sp>
        <p:nvSpPr>
          <p:cNvPr id="23561" name="AutoShape 2061"/>
          <p:cNvSpPr>
            <a:spLocks noChangeArrowheads="1"/>
          </p:cNvSpPr>
          <p:nvPr/>
        </p:nvSpPr>
        <p:spPr bwMode="blackWhite">
          <a:xfrm rot="10800000">
            <a:off x="7391400" y="1447800"/>
            <a:ext cx="762000" cy="2590800"/>
          </a:xfrm>
          <a:prstGeom prst="upArrow">
            <a:avLst>
              <a:gd name="adj1" fmla="val 50000"/>
              <a:gd name="adj2" fmla="val 85000"/>
            </a:avLst>
          </a:prstGeom>
          <a:solidFill>
            <a:srgbClr val="CCFFFF"/>
          </a:solidFill>
          <a:ln w="3175">
            <a:solidFill>
              <a:srgbClr val="006600"/>
            </a:solidFill>
            <a:miter lim="800000"/>
            <a:headEnd/>
            <a:tailEnd/>
          </a:ln>
        </p:spPr>
        <p:txBody>
          <a:bodyPr vert="eaVert" wrap="none" anchor="ctr"/>
          <a:lstStyle/>
          <a:p>
            <a:r>
              <a:rPr lang="es-ES" sz="1800"/>
              <a:t>Mayor capacidad </a:t>
            </a:r>
            <a:endParaRPr lang="ca-ES" sz="1800"/>
          </a:p>
        </p:txBody>
      </p:sp>
      <p:sp>
        <p:nvSpPr>
          <p:cNvPr id="23562" name="AutoShape 2062"/>
          <p:cNvSpPr>
            <a:spLocks noChangeArrowheads="1"/>
          </p:cNvSpPr>
          <p:nvPr/>
        </p:nvSpPr>
        <p:spPr bwMode="blackWhite">
          <a:xfrm>
            <a:off x="8258175" y="1484313"/>
            <a:ext cx="784225" cy="3581400"/>
          </a:xfrm>
          <a:prstGeom prst="upArrow">
            <a:avLst>
              <a:gd name="adj1" fmla="val 50000"/>
              <a:gd name="adj2" fmla="val 114170"/>
            </a:avLst>
          </a:prstGeom>
          <a:solidFill>
            <a:srgbClr val="CCFFFF"/>
          </a:solidFill>
          <a:ln w="3175">
            <a:solidFill>
              <a:srgbClr val="006600"/>
            </a:solidFill>
            <a:miter lim="800000"/>
            <a:headEnd/>
            <a:tailEnd/>
          </a:ln>
        </p:spPr>
        <p:txBody>
          <a:bodyPr vert="eaVert" wrap="none" anchor="ctr"/>
          <a:lstStyle/>
          <a:p>
            <a:r>
              <a:rPr lang="es-ES" sz="1800"/>
              <a:t>Más velocidad y mayor coste</a:t>
            </a:r>
            <a:endParaRPr lang="ca-ES" sz="1800"/>
          </a:p>
        </p:txBody>
      </p:sp>
      <p:sp>
        <p:nvSpPr>
          <p:cNvPr id="23563" name="Rectangle 2063"/>
          <p:cNvSpPr>
            <a:spLocks noChangeArrowheads="1"/>
          </p:cNvSpPr>
          <p:nvPr/>
        </p:nvSpPr>
        <p:spPr bwMode="blackWhite">
          <a:xfrm>
            <a:off x="5541963" y="2060575"/>
            <a:ext cx="1054100" cy="336550"/>
          </a:xfrm>
          <a:prstGeom prst="rect">
            <a:avLst/>
          </a:prstGeom>
          <a:noFill/>
          <a:ln w="3175">
            <a:noFill/>
            <a:miter lim="800000"/>
            <a:headEnd/>
            <a:tailEnd/>
          </a:ln>
        </p:spPr>
        <p:txBody>
          <a:bodyPr wrap="none">
            <a:spAutoFit/>
          </a:bodyPr>
          <a:lstStyle/>
          <a:p>
            <a:pPr algn="l"/>
            <a:r>
              <a:rPr lang="es-ES" sz="1600" b="1"/>
              <a:t>registros</a:t>
            </a:r>
          </a:p>
        </p:txBody>
      </p:sp>
      <p:sp>
        <p:nvSpPr>
          <p:cNvPr id="16" name="Rectangle 2051">
            <a:extLst>
              <a:ext uri="{FF2B5EF4-FFF2-40B4-BE49-F238E27FC236}">
                <a16:creationId xmlns:a16="http://schemas.microsoft.com/office/drawing/2014/main" id="{C6E1AC14-07BD-4813-9C95-74250CF5E5ED}"/>
              </a:ext>
            </a:extLst>
          </p:cNvPr>
          <p:cNvSpPr txBox="1">
            <a:spLocks noChangeArrowheads="1"/>
          </p:cNvSpPr>
          <p:nvPr/>
        </p:nvSpPr>
        <p:spPr>
          <a:xfrm>
            <a:off x="471222" y="3408614"/>
            <a:ext cx="4076700" cy="609600"/>
          </a:xfrm>
          <a:prstGeom prst="rect">
            <a:avLst/>
          </a:prstGeom>
        </p:spPr>
        <p:txBody>
          <a:bodyPr>
            <a:normAutofit/>
          </a:bodyPr>
          <a:lstStyle>
            <a:lvl1pPr marL="365125" indent="-282575" algn="l" rtl="0" eaLnBrk="0" fontAlgn="base" hangingPunct="0">
              <a:lnSpc>
                <a:spcPts val="3000"/>
              </a:lnSpc>
              <a:spcBef>
                <a:spcPts val="600"/>
              </a:spcBef>
              <a:spcAft>
                <a:spcPct val="0"/>
              </a:spcAft>
              <a:buClr>
                <a:schemeClr val="accent1"/>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rgbClr val="C58D01"/>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sz="2000" dirty="0"/>
              <a:t>Tiempo medio acceso:</a:t>
            </a:r>
            <a:endParaRPr lang="es-ES" sz="1800" dirty="0"/>
          </a:p>
          <a:p>
            <a:pPr lvl="1"/>
            <a:endParaRPr lang="es-ES" sz="1800"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314A739-D335-42C0-A552-ED50DA3CD30E}"/>
                  </a:ext>
                </a:extLst>
              </p:cNvPr>
              <p:cNvSpPr txBox="1"/>
              <p:nvPr/>
            </p:nvSpPr>
            <p:spPr>
              <a:xfrm>
                <a:off x="741069" y="4021336"/>
                <a:ext cx="3125858" cy="677108"/>
              </a:xfrm>
              <a:prstGeom prst="rect">
                <a:avLst/>
              </a:prstGeom>
              <a:noFill/>
            </p:spPr>
            <p:txBody>
              <a:bodyPr wrap="square" lIns="0" tIns="0" rIns="0" bIns="0" rtlCol="0">
                <a:spAutoFit/>
              </a:bodyPr>
              <a:lstStyle/>
              <a:p>
                <a14:m>
                  <m:oMath xmlns:m="http://schemas.openxmlformats.org/officeDocument/2006/math">
                    <m:sSub>
                      <m:sSubPr>
                        <m:ctrlPr>
                          <a:rPr lang="es-ES" b="0" i="1" smtClean="0">
                            <a:solidFill>
                              <a:schemeClr val="accent1">
                                <a:lumMod val="75000"/>
                              </a:schemeClr>
                            </a:solidFill>
                            <a:latin typeface="Cambria Math" panose="02040503050406030204" pitchFamily="18" charset="0"/>
                          </a:rPr>
                        </m:ctrlPr>
                      </m:sSubPr>
                      <m:e>
                        <m:r>
                          <a:rPr lang="es-ES" b="0" i="1" smtClean="0">
                            <a:solidFill>
                              <a:schemeClr val="accent1">
                                <a:lumMod val="75000"/>
                              </a:schemeClr>
                            </a:solidFill>
                            <a:latin typeface="Cambria Math" panose="02040503050406030204" pitchFamily="18" charset="0"/>
                          </a:rPr>
                          <m:t>𝑇</m:t>
                        </m:r>
                      </m:e>
                      <m:sub>
                        <m:r>
                          <a:rPr lang="es-ES" b="0" i="1" smtClean="0">
                            <a:solidFill>
                              <a:schemeClr val="accent1">
                                <a:lumMod val="75000"/>
                              </a:schemeClr>
                            </a:solidFill>
                            <a:latin typeface="Cambria Math" panose="02040503050406030204" pitchFamily="18" charset="0"/>
                          </a:rPr>
                          <m:t>𝑎</m:t>
                        </m:r>
                      </m:sub>
                    </m:sSub>
                    <m:r>
                      <a:rPr lang="es-ES" b="0" i="1" smtClean="0">
                        <a:solidFill>
                          <a:schemeClr val="accent1">
                            <a:lumMod val="75000"/>
                          </a:schemeClr>
                        </a:solidFill>
                        <a:latin typeface="Cambria Math" panose="02040503050406030204" pitchFamily="18" charset="0"/>
                      </a:rPr>
                      <m:t>=</m:t>
                    </m:r>
                    <m:sSub>
                      <m:sSubPr>
                        <m:ctrlPr>
                          <a:rPr lang="es-ES" b="0" i="1" smtClean="0">
                            <a:solidFill>
                              <a:schemeClr val="accent1">
                                <a:lumMod val="75000"/>
                              </a:schemeClr>
                            </a:solidFill>
                            <a:latin typeface="Cambria Math" panose="02040503050406030204" pitchFamily="18" charset="0"/>
                          </a:rPr>
                        </m:ctrlPr>
                      </m:sSubPr>
                      <m:e>
                        <m:r>
                          <a:rPr lang="es-ES" b="0" i="1" smtClean="0">
                            <a:solidFill>
                              <a:schemeClr val="accent1">
                                <a:lumMod val="75000"/>
                              </a:schemeClr>
                            </a:solidFill>
                            <a:latin typeface="Cambria Math" panose="02040503050406030204" pitchFamily="18" charset="0"/>
                          </a:rPr>
                          <m:t>𝐹</m:t>
                        </m:r>
                      </m:e>
                      <m:sub>
                        <m:r>
                          <a:rPr lang="es-ES" b="0" i="1" smtClean="0">
                            <a:solidFill>
                              <a:schemeClr val="accent1">
                                <a:lumMod val="75000"/>
                              </a:schemeClr>
                            </a:solidFill>
                            <a:latin typeface="Cambria Math" panose="02040503050406030204" pitchFamily="18" charset="0"/>
                          </a:rPr>
                          <m:t>1</m:t>
                        </m:r>
                      </m:sub>
                    </m:sSub>
                    <m:r>
                      <a:rPr lang="es-ES" b="0" i="1" smtClean="0">
                        <a:solidFill>
                          <a:schemeClr val="accent1">
                            <a:lumMod val="75000"/>
                          </a:schemeClr>
                        </a:solidFill>
                        <a:latin typeface="Cambria Math" panose="02040503050406030204" pitchFamily="18" charset="0"/>
                      </a:rPr>
                      <m:t>∗</m:t>
                    </m:r>
                    <m:sSub>
                      <m:sSubPr>
                        <m:ctrlPr>
                          <a:rPr lang="es-ES" b="0" i="1" smtClean="0">
                            <a:solidFill>
                              <a:schemeClr val="accent1">
                                <a:lumMod val="75000"/>
                              </a:schemeClr>
                            </a:solidFill>
                            <a:latin typeface="Cambria Math" panose="02040503050406030204" pitchFamily="18" charset="0"/>
                          </a:rPr>
                        </m:ctrlPr>
                      </m:sSubPr>
                      <m:e>
                        <m:r>
                          <a:rPr lang="es-ES" b="0" i="1" smtClean="0">
                            <a:solidFill>
                              <a:schemeClr val="accent1">
                                <a:lumMod val="75000"/>
                              </a:schemeClr>
                            </a:solidFill>
                            <a:latin typeface="Cambria Math" panose="02040503050406030204" pitchFamily="18" charset="0"/>
                          </a:rPr>
                          <m:t>𝑇</m:t>
                        </m:r>
                      </m:e>
                      <m:sub>
                        <m:r>
                          <a:rPr lang="es-ES" b="0" i="1" smtClean="0">
                            <a:solidFill>
                              <a:schemeClr val="accent1">
                                <a:lumMod val="75000"/>
                              </a:schemeClr>
                            </a:solidFill>
                            <a:latin typeface="Cambria Math" panose="02040503050406030204" pitchFamily="18" charset="0"/>
                          </a:rPr>
                          <m:t>1</m:t>
                        </m:r>
                      </m:sub>
                    </m:sSub>
                  </m:oMath>
                </a14:m>
                <a:r>
                  <a:rPr lang="es-ES" dirty="0">
                    <a:solidFill>
                      <a:schemeClr val="accent1">
                        <a:lumMod val="75000"/>
                      </a:schemeClr>
                    </a:solidFill>
                  </a:rPr>
                  <a:t>+ … + </a:t>
                </a:r>
                <a14:m>
                  <m:oMath xmlns:m="http://schemas.openxmlformats.org/officeDocument/2006/math">
                    <m:sSub>
                      <m:sSubPr>
                        <m:ctrlPr>
                          <a:rPr lang="es-ES" i="1">
                            <a:solidFill>
                              <a:schemeClr val="accent1">
                                <a:lumMod val="75000"/>
                              </a:schemeClr>
                            </a:solidFill>
                            <a:latin typeface="Cambria Math" panose="02040503050406030204" pitchFamily="18" charset="0"/>
                          </a:rPr>
                        </m:ctrlPr>
                      </m:sSubPr>
                      <m:e>
                        <m:r>
                          <a:rPr lang="es-ES" i="1">
                            <a:solidFill>
                              <a:schemeClr val="accent1">
                                <a:lumMod val="75000"/>
                              </a:schemeClr>
                            </a:solidFill>
                            <a:latin typeface="Cambria Math" panose="02040503050406030204" pitchFamily="18" charset="0"/>
                          </a:rPr>
                          <m:t>𝐹</m:t>
                        </m:r>
                      </m:e>
                      <m:sub>
                        <m:r>
                          <a:rPr lang="es-ES" b="0" i="1" smtClean="0">
                            <a:solidFill>
                              <a:schemeClr val="accent1">
                                <a:lumMod val="75000"/>
                              </a:schemeClr>
                            </a:solidFill>
                            <a:latin typeface="Cambria Math" panose="02040503050406030204" pitchFamily="18" charset="0"/>
                          </a:rPr>
                          <m:t>𝑛</m:t>
                        </m:r>
                      </m:sub>
                    </m:sSub>
                    <m:r>
                      <a:rPr lang="es-ES" i="1">
                        <a:solidFill>
                          <a:schemeClr val="accent1">
                            <a:lumMod val="75000"/>
                          </a:schemeClr>
                        </a:solidFill>
                        <a:latin typeface="Cambria Math" panose="02040503050406030204" pitchFamily="18" charset="0"/>
                      </a:rPr>
                      <m:t>∗</m:t>
                    </m:r>
                    <m:sSub>
                      <m:sSubPr>
                        <m:ctrlPr>
                          <a:rPr lang="es-ES" i="1">
                            <a:solidFill>
                              <a:schemeClr val="accent1">
                                <a:lumMod val="75000"/>
                              </a:schemeClr>
                            </a:solidFill>
                            <a:latin typeface="Cambria Math" panose="02040503050406030204" pitchFamily="18" charset="0"/>
                          </a:rPr>
                        </m:ctrlPr>
                      </m:sSubPr>
                      <m:e>
                        <m:r>
                          <a:rPr lang="es-ES" i="1">
                            <a:solidFill>
                              <a:schemeClr val="accent1">
                                <a:lumMod val="75000"/>
                              </a:schemeClr>
                            </a:solidFill>
                            <a:latin typeface="Cambria Math" panose="02040503050406030204" pitchFamily="18" charset="0"/>
                          </a:rPr>
                          <m:t>𝑇</m:t>
                        </m:r>
                      </m:e>
                      <m:sub>
                        <m:r>
                          <a:rPr lang="es-ES" b="0" i="1" smtClean="0">
                            <a:solidFill>
                              <a:schemeClr val="accent1">
                                <a:lumMod val="75000"/>
                              </a:schemeClr>
                            </a:solidFill>
                            <a:latin typeface="Cambria Math" panose="02040503050406030204" pitchFamily="18" charset="0"/>
                          </a:rPr>
                          <m:t>𝑛</m:t>
                        </m:r>
                      </m:sub>
                    </m:sSub>
                  </m:oMath>
                </a14:m>
                <a:endParaRPr lang="es-ES" dirty="0">
                  <a:solidFill>
                    <a:schemeClr val="accent1">
                      <a:lumMod val="75000"/>
                    </a:schemeClr>
                  </a:solidFill>
                </a:endParaRPr>
              </a:p>
              <a:p>
                <a14:m>
                  <m:oMath xmlns:m="http://schemas.openxmlformats.org/officeDocument/2006/math">
                    <m:sSub>
                      <m:sSubPr>
                        <m:ctrlPr>
                          <a:rPr lang="es-ES" i="1">
                            <a:solidFill>
                              <a:schemeClr val="accent1">
                                <a:lumMod val="75000"/>
                              </a:schemeClr>
                            </a:solidFill>
                            <a:latin typeface="Cambria Math" panose="02040503050406030204" pitchFamily="18" charset="0"/>
                          </a:rPr>
                        </m:ctrlPr>
                      </m:sSubPr>
                      <m:e>
                        <m:r>
                          <a:rPr lang="es-ES" i="1">
                            <a:solidFill>
                              <a:schemeClr val="accent1">
                                <a:lumMod val="75000"/>
                              </a:schemeClr>
                            </a:solidFill>
                            <a:latin typeface="Cambria Math" panose="02040503050406030204" pitchFamily="18" charset="0"/>
                          </a:rPr>
                          <m:t>𝐹</m:t>
                        </m:r>
                      </m:e>
                      <m:sub>
                        <m:r>
                          <a:rPr lang="es-ES" i="1">
                            <a:solidFill>
                              <a:schemeClr val="accent1">
                                <a:lumMod val="75000"/>
                              </a:schemeClr>
                            </a:solidFill>
                            <a:latin typeface="Cambria Math" panose="02040503050406030204" pitchFamily="18" charset="0"/>
                          </a:rPr>
                          <m:t>1</m:t>
                        </m:r>
                      </m:sub>
                    </m:sSub>
                    <m:r>
                      <a:rPr lang="es-ES" b="0" i="1" smtClean="0">
                        <a:solidFill>
                          <a:schemeClr val="accent1">
                            <a:lumMod val="75000"/>
                          </a:schemeClr>
                        </a:solidFill>
                        <a:latin typeface="Cambria Math" panose="02040503050406030204" pitchFamily="18" charset="0"/>
                      </a:rPr>
                      <m:t>+…+</m:t>
                    </m:r>
                    <m:sSub>
                      <m:sSubPr>
                        <m:ctrlPr>
                          <a:rPr lang="es-ES" i="1">
                            <a:solidFill>
                              <a:schemeClr val="accent1">
                                <a:lumMod val="75000"/>
                              </a:schemeClr>
                            </a:solidFill>
                            <a:latin typeface="Cambria Math" panose="02040503050406030204" pitchFamily="18" charset="0"/>
                          </a:rPr>
                        </m:ctrlPr>
                      </m:sSubPr>
                      <m:e>
                        <m:r>
                          <a:rPr lang="es-ES" b="0" i="1" smtClean="0">
                            <a:solidFill>
                              <a:schemeClr val="accent1">
                                <a:lumMod val="75000"/>
                              </a:schemeClr>
                            </a:solidFill>
                            <a:latin typeface="Cambria Math" panose="02040503050406030204" pitchFamily="18" charset="0"/>
                          </a:rPr>
                          <m:t>𝐹</m:t>
                        </m:r>
                      </m:e>
                      <m:sub>
                        <m:r>
                          <a:rPr lang="es-ES" b="0" i="1" smtClean="0">
                            <a:solidFill>
                              <a:schemeClr val="accent1">
                                <a:lumMod val="75000"/>
                              </a:schemeClr>
                            </a:solidFill>
                            <a:latin typeface="Cambria Math" panose="02040503050406030204" pitchFamily="18" charset="0"/>
                          </a:rPr>
                          <m:t>𝑛</m:t>
                        </m:r>
                        <m:r>
                          <a:rPr lang="es-ES" b="0" i="1" smtClean="0">
                            <a:solidFill>
                              <a:schemeClr val="accent1">
                                <a:lumMod val="75000"/>
                              </a:schemeClr>
                            </a:solidFill>
                            <a:latin typeface="Cambria Math" panose="02040503050406030204" pitchFamily="18" charset="0"/>
                          </a:rPr>
                          <m:t> </m:t>
                        </m:r>
                      </m:sub>
                    </m:sSub>
                    <m:r>
                      <a:rPr lang="es-ES" b="0" i="1" smtClean="0">
                        <a:solidFill>
                          <a:schemeClr val="accent1">
                            <a:lumMod val="75000"/>
                          </a:schemeClr>
                        </a:solidFill>
                        <a:latin typeface="Cambria Math" panose="02040503050406030204" pitchFamily="18" charset="0"/>
                      </a:rPr>
                      <m:t>=1</m:t>
                    </m:r>
                  </m:oMath>
                </a14:m>
                <a:r>
                  <a:rPr lang="es-ES" dirty="0">
                    <a:solidFill>
                      <a:schemeClr val="accent1">
                        <a:lumMod val="75000"/>
                      </a:schemeClr>
                    </a:solidFill>
                  </a:rPr>
                  <a:t>  </a:t>
                </a:r>
              </a:p>
            </p:txBody>
          </p:sp>
        </mc:Choice>
        <mc:Fallback xmlns="">
          <p:sp>
            <p:nvSpPr>
              <p:cNvPr id="3" name="CuadroTexto 2">
                <a:extLst>
                  <a:ext uri="{FF2B5EF4-FFF2-40B4-BE49-F238E27FC236}">
                    <a16:creationId xmlns:a16="http://schemas.microsoft.com/office/drawing/2014/main" id="{C314A739-D335-42C0-A552-ED50DA3CD30E}"/>
                  </a:ext>
                </a:extLst>
              </p:cNvPr>
              <p:cNvSpPr txBox="1">
                <a:spLocks noRot="1" noChangeAspect="1" noMove="1" noResize="1" noEditPoints="1" noAdjustHandles="1" noChangeArrowheads="1" noChangeShapeType="1" noTextEdit="1"/>
              </p:cNvSpPr>
              <p:nvPr/>
            </p:nvSpPr>
            <p:spPr>
              <a:xfrm>
                <a:off x="741069" y="4021336"/>
                <a:ext cx="3125858" cy="677108"/>
              </a:xfrm>
              <a:prstGeom prst="rect">
                <a:avLst/>
              </a:prstGeom>
              <a:blipFill>
                <a:blip r:embed="rId3"/>
                <a:stretch>
                  <a:fillRect t="-10811" b="-8108"/>
                </a:stretch>
              </a:blipFill>
            </p:spPr>
            <p:txBody>
              <a:bodyPr/>
              <a:lstStyle/>
              <a:p>
                <a:r>
                  <a:rPr lang="es-ES">
                    <a:noFill/>
                  </a:rPr>
                  <a:t> </a:t>
                </a:r>
              </a:p>
            </p:txBody>
          </p:sp>
        </mc:Fallback>
      </mc:AlternateContent>
      <p:sp>
        <p:nvSpPr>
          <p:cNvPr id="4" name="CuadroTexto 3">
            <a:extLst>
              <a:ext uri="{FF2B5EF4-FFF2-40B4-BE49-F238E27FC236}">
                <a16:creationId xmlns:a16="http://schemas.microsoft.com/office/drawing/2014/main" id="{B22593B1-EB8D-4623-A3D4-2B374DE769CA}"/>
              </a:ext>
            </a:extLst>
          </p:cNvPr>
          <p:cNvSpPr txBox="1"/>
          <p:nvPr/>
        </p:nvSpPr>
        <p:spPr>
          <a:xfrm>
            <a:off x="827583" y="4941168"/>
            <a:ext cx="2487665" cy="781752"/>
          </a:xfrm>
          <a:prstGeom prst="rect">
            <a:avLst/>
          </a:prstGeom>
          <a:noFill/>
        </p:spPr>
        <p:txBody>
          <a:bodyPr wrap="square" rtlCol="0">
            <a:spAutoFit/>
          </a:bodyPr>
          <a:lstStyle/>
          <a:p>
            <a:r>
              <a:rPr lang="es-ES" sz="1400" dirty="0">
                <a:solidFill>
                  <a:schemeClr val="accent1">
                    <a:lumMod val="75000"/>
                  </a:schemeClr>
                </a:solidFill>
              </a:rPr>
              <a:t>Siendo F</a:t>
            </a:r>
            <a:r>
              <a:rPr lang="es-ES" sz="1400" baseline="-25000" dirty="0">
                <a:solidFill>
                  <a:schemeClr val="accent1">
                    <a:lumMod val="75000"/>
                  </a:schemeClr>
                </a:solidFill>
              </a:rPr>
              <a:t>i </a:t>
            </a:r>
            <a:r>
              <a:rPr lang="es-ES" sz="1400" dirty="0">
                <a:solidFill>
                  <a:schemeClr val="accent1">
                    <a:lumMod val="75000"/>
                  </a:schemeClr>
                </a:solidFill>
              </a:rPr>
              <a:t> la frecuencia de acceso a la memoria i</a:t>
            </a:r>
          </a:p>
          <a:p>
            <a:r>
              <a:rPr lang="es-ES" sz="1400" dirty="0">
                <a:solidFill>
                  <a:schemeClr val="accent1">
                    <a:lumMod val="75000"/>
                  </a:schemeClr>
                </a:solidFill>
              </a:rPr>
              <a:t>y T</a:t>
            </a:r>
            <a:r>
              <a:rPr lang="es-ES" sz="1400" baseline="-25000" dirty="0">
                <a:solidFill>
                  <a:schemeClr val="accent1">
                    <a:lumMod val="75000"/>
                  </a:schemeClr>
                </a:solidFill>
              </a:rPr>
              <a:t>i</a:t>
            </a:r>
            <a:r>
              <a:rPr lang="es-ES" sz="1400" dirty="0">
                <a:solidFill>
                  <a:schemeClr val="accent1">
                    <a:lumMod val="75000"/>
                  </a:schemeClr>
                </a:solidFill>
              </a:rPr>
              <a:t> su tiempo de acceso</a:t>
            </a:r>
          </a:p>
        </p:txBody>
      </p:sp>
    </p:spTree>
    <p:extLst>
      <p:ext uri="{BB962C8B-B14F-4D97-AF65-F5344CB8AC3E}">
        <p14:creationId xmlns:p14="http://schemas.microsoft.com/office/powerpoint/2010/main" val="147830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a:t>Tecnologías</a:t>
            </a:r>
            <a:r>
              <a:rPr lang="en-US" dirty="0"/>
              <a:t> para </a:t>
            </a:r>
            <a:r>
              <a:rPr lang="en-US" dirty="0" err="1"/>
              <a:t>memorias</a:t>
            </a:r>
            <a:endParaRPr lang="en-US" dirty="0"/>
          </a:p>
        </p:txBody>
      </p:sp>
      <p:sp>
        <p:nvSpPr>
          <p:cNvPr id="3" name="Marcador de contenido 2"/>
          <p:cNvSpPr>
            <a:spLocks noGrp="1"/>
          </p:cNvSpPr>
          <p:nvPr>
            <p:ph idx="1"/>
          </p:nvPr>
        </p:nvSpPr>
        <p:spPr/>
        <p:txBody>
          <a:bodyPr>
            <a:normAutofit fontScale="85000" lnSpcReduction="10000"/>
          </a:bodyPr>
          <a:lstStyle/>
          <a:p>
            <a:r>
              <a:rPr lang="en-GB" dirty="0"/>
              <a:t>Las </a:t>
            </a:r>
            <a:r>
              <a:rPr lang="en-GB" dirty="0" err="1"/>
              <a:t>principales</a:t>
            </a:r>
            <a:r>
              <a:rPr lang="en-GB" dirty="0"/>
              <a:t> </a:t>
            </a:r>
            <a:r>
              <a:rPr lang="en-GB" dirty="0" err="1"/>
              <a:t>tecnologías</a:t>
            </a:r>
            <a:r>
              <a:rPr lang="en-GB" dirty="0"/>
              <a:t> </a:t>
            </a:r>
            <a:r>
              <a:rPr lang="en-GB" dirty="0" err="1"/>
              <a:t>usadas</a:t>
            </a:r>
            <a:r>
              <a:rPr lang="en-GB" dirty="0"/>
              <a:t> hoy </a:t>
            </a:r>
            <a:r>
              <a:rPr lang="en-GB" dirty="0" err="1"/>
              <a:t>en</a:t>
            </a:r>
            <a:r>
              <a:rPr lang="en-GB" dirty="0"/>
              <a:t> </a:t>
            </a:r>
            <a:r>
              <a:rPr lang="en-GB" dirty="0" err="1"/>
              <a:t>día</a:t>
            </a:r>
            <a:r>
              <a:rPr lang="en-GB" dirty="0"/>
              <a:t> son:</a:t>
            </a:r>
          </a:p>
          <a:p>
            <a:pPr lvl="1"/>
            <a:r>
              <a:rPr lang="en-GB" dirty="0"/>
              <a:t>La </a:t>
            </a:r>
            <a:r>
              <a:rPr lang="en-GB" dirty="0" err="1"/>
              <a:t>memoria</a:t>
            </a:r>
            <a:r>
              <a:rPr lang="en-GB" dirty="0"/>
              <a:t> principal se </a:t>
            </a:r>
            <a:r>
              <a:rPr lang="en-GB" dirty="0" err="1"/>
              <a:t>implementa</a:t>
            </a:r>
            <a:r>
              <a:rPr lang="en-GB" dirty="0"/>
              <a:t> </a:t>
            </a:r>
            <a:r>
              <a:rPr lang="en-GB" dirty="0" err="1"/>
              <a:t>mediante</a:t>
            </a:r>
            <a:r>
              <a:rPr lang="en-GB" dirty="0"/>
              <a:t> </a:t>
            </a:r>
            <a:r>
              <a:rPr lang="en-GB" dirty="0">
                <a:solidFill>
                  <a:srgbClr val="FF0000"/>
                </a:solidFill>
              </a:rPr>
              <a:t>RAM </a:t>
            </a:r>
            <a:r>
              <a:rPr lang="en-GB" dirty="0" err="1">
                <a:solidFill>
                  <a:srgbClr val="FF0000"/>
                </a:solidFill>
              </a:rPr>
              <a:t>Dinámica</a:t>
            </a:r>
            <a:r>
              <a:rPr lang="en-GB" dirty="0">
                <a:solidFill>
                  <a:srgbClr val="FF0000"/>
                </a:solidFill>
              </a:rPr>
              <a:t> </a:t>
            </a:r>
            <a:r>
              <a:rPr lang="en-GB" dirty="0" err="1">
                <a:solidFill>
                  <a:srgbClr val="FF0000"/>
                </a:solidFill>
              </a:rPr>
              <a:t>Síncrona</a:t>
            </a:r>
            <a:r>
              <a:rPr lang="en-GB" dirty="0">
                <a:solidFill>
                  <a:srgbClr val="FF0000"/>
                </a:solidFill>
              </a:rPr>
              <a:t>  (SDRAM)</a:t>
            </a:r>
          </a:p>
          <a:p>
            <a:pPr lvl="1"/>
            <a:r>
              <a:rPr lang="en-GB" dirty="0"/>
              <a:t>La Memoria cache </a:t>
            </a:r>
            <a:r>
              <a:rPr lang="en-GB" dirty="0" err="1"/>
              <a:t>mediante</a:t>
            </a:r>
            <a:r>
              <a:rPr lang="en-GB" dirty="0"/>
              <a:t> </a:t>
            </a:r>
            <a:r>
              <a:rPr lang="en-GB" dirty="0">
                <a:solidFill>
                  <a:srgbClr val="FF0000"/>
                </a:solidFill>
              </a:rPr>
              <a:t>RAM </a:t>
            </a:r>
            <a:r>
              <a:rPr lang="en-GB" dirty="0" err="1">
                <a:solidFill>
                  <a:srgbClr val="FF0000"/>
                </a:solidFill>
              </a:rPr>
              <a:t>estática</a:t>
            </a:r>
            <a:r>
              <a:rPr lang="en-GB" dirty="0">
                <a:solidFill>
                  <a:srgbClr val="FF0000"/>
                </a:solidFill>
              </a:rPr>
              <a:t> (SRAM)</a:t>
            </a:r>
          </a:p>
          <a:p>
            <a:pPr lvl="1"/>
            <a:r>
              <a:rPr lang="en-GB" dirty="0"/>
              <a:t>Los discos </a:t>
            </a:r>
            <a:r>
              <a:rPr lang="en-GB" dirty="0" err="1"/>
              <a:t>duros</a:t>
            </a:r>
            <a:r>
              <a:rPr lang="en-GB" dirty="0"/>
              <a:t> </a:t>
            </a:r>
            <a:r>
              <a:rPr lang="en-GB" dirty="0" err="1"/>
              <a:t>utilizados</a:t>
            </a:r>
            <a:r>
              <a:rPr lang="en-GB" dirty="0"/>
              <a:t> </a:t>
            </a:r>
            <a:r>
              <a:rPr lang="en-GB" dirty="0" err="1"/>
              <a:t>en</a:t>
            </a:r>
            <a:r>
              <a:rPr lang="en-GB" dirty="0"/>
              <a:t> la </a:t>
            </a:r>
            <a:r>
              <a:rPr lang="en-GB" dirty="0" err="1"/>
              <a:t>memoria</a:t>
            </a:r>
            <a:r>
              <a:rPr lang="en-GB" dirty="0"/>
              <a:t> </a:t>
            </a:r>
            <a:r>
              <a:rPr lang="en-GB" dirty="0" err="1"/>
              <a:t>secundaria</a:t>
            </a:r>
            <a:r>
              <a:rPr lang="en-GB" dirty="0"/>
              <a:t> son </a:t>
            </a:r>
            <a:r>
              <a:rPr lang="en-GB" dirty="0" err="1">
                <a:solidFill>
                  <a:srgbClr val="FF0000"/>
                </a:solidFill>
              </a:rPr>
              <a:t>magnéticos</a:t>
            </a:r>
            <a:endParaRPr lang="en-GB" dirty="0">
              <a:solidFill>
                <a:srgbClr val="FF0000"/>
              </a:solidFill>
            </a:endParaRPr>
          </a:p>
          <a:p>
            <a:pPr lvl="1"/>
            <a:r>
              <a:rPr lang="en-GB" dirty="0"/>
              <a:t>La </a:t>
            </a:r>
            <a:r>
              <a:rPr lang="en-GB" dirty="0" err="1"/>
              <a:t>memoria</a:t>
            </a:r>
            <a:r>
              <a:rPr lang="en-GB" dirty="0"/>
              <a:t>  </a:t>
            </a:r>
            <a:r>
              <a:rPr lang="en-GB" dirty="0">
                <a:solidFill>
                  <a:srgbClr val="D2533C"/>
                </a:solidFill>
              </a:rPr>
              <a:t>Flash</a:t>
            </a:r>
            <a:r>
              <a:rPr lang="en-GB" dirty="0"/>
              <a:t> </a:t>
            </a:r>
            <a:r>
              <a:rPr lang="en-GB" dirty="0" err="1"/>
              <a:t>tiene</a:t>
            </a:r>
            <a:r>
              <a:rPr lang="en-GB" dirty="0"/>
              <a:t> </a:t>
            </a:r>
            <a:r>
              <a:rPr lang="en-GB" dirty="0" err="1"/>
              <a:t>diferentes</a:t>
            </a:r>
            <a:r>
              <a:rPr lang="en-GB" dirty="0"/>
              <a:t> </a:t>
            </a:r>
            <a:r>
              <a:rPr lang="en-GB" dirty="0" err="1"/>
              <a:t>usos</a:t>
            </a:r>
            <a:endParaRPr lang="en-GB" dirty="0"/>
          </a:p>
          <a:p>
            <a:pPr lvl="2"/>
            <a:r>
              <a:rPr lang="en-GB" dirty="0"/>
              <a:t>Memoria principal </a:t>
            </a:r>
            <a:r>
              <a:rPr lang="en-GB" dirty="0" err="1"/>
              <a:t>en</a:t>
            </a:r>
            <a:r>
              <a:rPr lang="en-GB" dirty="0"/>
              <a:t> </a:t>
            </a:r>
            <a:r>
              <a:rPr lang="en-GB" dirty="0" err="1"/>
              <a:t>dispositivos</a:t>
            </a:r>
            <a:r>
              <a:rPr lang="en-GB" dirty="0"/>
              <a:t> </a:t>
            </a:r>
            <a:r>
              <a:rPr lang="en-GB" dirty="0" err="1"/>
              <a:t>móviles</a:t>
            </a:r>
            <a:endParaRPr lang="en-GB" dirty="0"/>
          </a:p>
          <a:p>
            <a:pPr lvl="2"/>
            <a:r>
              <a:rPr lang="en-GB" dirty="0" err="1"/>
              <a:t>Dispositivo</a:t>
            </a:r>
            <a:r>
              <a:rPr lang="en-GB" dirty="0"/>
              <a:t> de </a:t>
            </a:r>
            <a:r>
              <a:rPr lang="en-GB" dirty="0" err="1"/>
              <a:t>almacenamiento</a:t>
            </a:r>
            <a:r>
              <a:rPr lang="en-GB" dirty="0"/>
              <a:t> </a:t>
            </a:r>
            <a:r>
              <a:rPr lang="en-GB" dirty="0" err="1"/>
              <a:t>secundario</a:t>
            </a:r>
            <a:r>
              <a:rPr lang="en-GB" dirty="0"/>
              <a:t> de </a:t>
            </a:r>
            <a:r>
              <a:rPr lang="en-GB" dirty="0" err="1"/>
              <a:t>altas</a:t>
            </a:r>
            <a:r>
              <a:rPr lang="en-GB" dirty="0"/>
              <a:t> </a:t>
            </a:r>
            <a:r>
              <a:rPr lang="en-GB" dirty="0" err="1"/>
              <a:t>prestaciones</a:t>
            </a:r>
            <a:r>
              <a:rPr lang="en-GB" dirty="0"/>
              <a:t> SSD</a:t>
            </a:r>
          </a:p>
          <a:p>
            <a:pPr lvl="1"/>
            <a:r>
              <a:rPr lang="en-GB" dirty="0"/>
              <a:t>El </a:t>
            </a:r>
            <a:r>
              <a:rPr lang="en-GB" dirty="0" err="1"/>
              <a:t>almacenamiento</a:t>
            </a:r>
            <a:r>
              <a:rPr lang="en-GB" dirty="0"/>
              <a:t> </a:t>
            </a:r>
            <a:r>
              <a:rPr lang="en-GB" dirty="0" err="1"/>
              <a:t>externo</a:t>
            </a:r>
            <a:r>
              <a:rPr lang="en-GB" dirty="0"/>
              <a:t> </a:t>
            </a:r>
            <a:r>
              <a:rPr lang="en-GB" dirty="0" err="1"/>
              <a:t>es</a:t>
            </a:r>
            <a:r>
              <a:rPr lang="en-GB" dirty="0"/>
              <a:t> </a:t>
            </a:r>
            <a:r>
              <a:rPr lang="en-GB" dirty="0" err="1"/>
              <a:t>muy</a:t>
            </a:r>
            <a:r>
              <a:rPr lang="en-GB" dirty="0"/>
              <a:t> </a:t>
            </a:r>
            <a:r>
              <a:rPr lang="en-GB" dirty="0" err="1"/>
              <a:t>variado</a:t>
            </a:r>
            <a:r>
              <a:rPr lang="en-GB" dirty="0"/>
              <a:t> </a:t>
            </a:r>
            <a:r>
              <a:rPr lang="en-GB" dirty="0" err="1"/>
              <a:t>en</a:t>
            </a:r>
            <a:r>
              <a:rPr lang="en-GB" dirty="0"/>
              <a:t> </a:t>
            </a:r>
            <a:r>
              <a:rPr lang="en-GB" dirty="0" err="1"/>
              <a:t>dispositivos</a:t>
            </a:r>
            <a:r>
              <a:rPr lang="en-GB" dirty="0"/>
              <a:t> y </a:t>
            </a:r>
            <a:r>
              <a:rPr lang="en-GB" dirty="0" err="1"/>
              <a:t>tecnología</a:t>
            </a:r>
            <a:endParaRPr lang="en-GB" dirty="0"/>
          </a:p>
          <a:p>
            <a:pPr lvl="2"/>
            <a:r>
              <a:rPr lang="en-GB" dirty="0" err="1"/>
              <a:t>Ópticos</a:t>
            </a:r>
            <a:r>
              <a:rPr lang="en-GB" dirty="0"/>
              <a:t> (CD-ROM, DVD…)</a:t>
            </a:r>
          </a:p>
          <a:p>
            <a:pPr lvl="2"/>
            <a:r>
              <a:rPr lang="en-GB" dirty="0"/>
              <a:t>Flash (</a:t>
            </a:r>
            <a:r>
              <a:rPr lang="en-GB" dirty="0" err="1"/>
              <a:t>pendrives</a:t>
            </a:r>
            <a:r>
              <a:rPr lang="en-GB" dirty="0"/>
              <a:t>)</a:t>
            </a:r>
          </a:p>
          <a:p>
            <a:pPr lvl="2"/>
            <a:r>
              <a:rPr lang="en-GB" dirty="0" err="1"/>
              <a:t>Magnética</a:t>
            </a:r>
            <a:r>
              <a:rPr lang="en-GB" dirty="0"/>
              <a:t> (discos </a:t>
            </a:r>
            <a:r>
              <a:rPr lang="en-GB" dirty="0" err="1"/>
              <a:t>externos</a:t>
            </a:r>
            <a:r>
              <a:rPr lang="en-GB" dirty="0"/>
              <a:t>, </a:t>
            </a:r>
            <a:r>
              <a:rPr lang="en-GB" dirty="0" err="1"/>
              <a:t>cintas</a:t>
            </a:r>
            <a:r>
              <a:rPr lang="en-GB" dirty="0"/>
              <a:t>)</a:t>
            </a:r>
          </a:p>
          <a:p>
            <a:r>
              <a:rPr lang="en-GB" dirty="0"/>
              <a:t>Las </a:t>
            </a:r>
            <a:r>
              <a:rPr lang="en-GB" dirty="0" err="1"/>
              <a:t>características</a:t>
            </a:r>
            <a:r>
              <a:rPr lang="en-GB" dirty="0"/>
              <a:t> y </a:t>
            </a:r>
            <a:r>
              <a:rPr lang="en-GB" dirty="0" err="1"/>
              <a:t>prestaciones</a:t>
            </a:r>
            <a:r>
              <a:rPr lang="en-GB" dirty="0"/>
              <a:t> de </a:t>
            </a:r>
            <a:r>
              <a:rPr lang="en-GB" dirty="0" err="1"/>
              <a:t>cada</a:t>
            </a:r>
            <a:r>
              <a:rPr lang="en-GB" dirty="0"/>
              <a:t> </a:t>
            </a:r>
            <a:r>
              <a:rPr lang="en-GB" dirty="0" err="1"/>
              <a:t>tecnología</a:t>
            </a:r>
            <a:r>
              <a:rPr lang="en-GB" dirty="0"/>
              <a:t> son </a:t>
            </a:r>
            <a:r>
              <a:rPr lang="en-GB" dirty="0" err="1"/>
              <a:t>muy</a:t>
            </a:r>
            <a:r>
              <a:rPr lang="en-GB" dirty="0"/>
              <a:t> </a:t>
            </a:r>
            <a:r>
              <a:rPr lang="en-GB" dirty="0" err="1"/>
              <a:t>diferentes</a:t>
            </a:r>
            <a:endParaRPr lang="en-GB" dirty="0"/>
          </a:p>
          <a:p>
            <a:endParaRPr lang="en-GB" dirty="0"/>
          </a:p>
        </p:txBody>
      </p:sp>
      <p:sp>
        <p:nvSpPr>
          <p:cNvPr id="6" name="Marcador de número de diapositiva 5"/>
          <p:cNvSpPr>
            <a:spLocks noGrp="1"/>
          </p:cNvSpPr>
          <p:nvPr>
            <p:ph type="sldNum" sz="quarter" idx="12"/>
          </p:nvPr>
        </p:nvSpPr>
        <p:spPr/>
        <p:txBody>
          <a:bodyPr/>
          <a:lstStyle/>
          <a:p>
            <a:fld id="{7E6D04FF-5151-7D4D-AF95-4CD019FD71D7}" type="slidenum">
              <a:rPr lang="es-ES" smtClean="0">
                <a:latin typeface="Arial"/>
              </a:rPr>
              <a:pPr/>
              <a:t>11</a:t>
            </a:fld>
            <a:endParaRPr lang="es-ES" dirty="0">
              <a:latin typeface="Arial"/>
            </a:endParaRPr>
          </a:p>
        </p:txBody>
      </p:sp>
      <p:sp>
        <p:nvSpPr>
          <p:cNvPr id="7" name="CuadroTexto 6"/>
          <p:cNvSpPr txBox="1"/>
          <p:nvPr/>
        </p:nvSpPr>
        <p:spPr>
          <a:xfrm>
            <a:off x="70002" y="38285"/>
            <a:ext cx="1994882" cy="276999"/>
          </a:xfrm>
          <a:prstGeom prst="rect">
            <a:avLst/>
          </a:prstGeom>
          <a:noFill/>
        </p:spPr>
        <p:txBody>
          <a:bodyPr wrap="none" rtlCol="0">
            <a:spAutoFit/>
          </a:bodyPr>
          <a:lstStyle/>
          <a:p>
            <a:pPr defTabSz="457200"/>
            <a:r>
              <a:rPr lang="en-GB" sz="1200" dirty="0">
                <a:solidFill>
                  <a:srgbClr val="FFFFFF"/>
                </a:solidFill>
                <a:latin typeface="Arial"/>
              </a:rPr>
              <a:t>1: The memory subsystem</a:t>
            </a:r>
          </a:p>
        </p:txBody>
      </p:sp>
    </p:spTree>
    <p:extLst>
      <p:ext uri="{BB962C8B-B14F-4D97-AF65-F5344CB8AC3E}">
        <p14:creationId xmlns:p14="http://schemas.microsoft.com/office/powerpoint/2010/main" val="595668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err="1"/>
              <a:t>Ejemplos</a:t>
            </a:r>
            <a:endParaRPr lang="en-US" dirty="0"/>
          </a:p>
        </p:txBody>
      </p:sp>
      <p:sp>
        <p:nvSpPr>
          <p:cNvPr id="4" name="3 Marcador de número de diapositiva"/>
          <p:cNvSpPr>
            <a:spLocks noGrp="1"/>
          </p:cNvSpPr>
          <p:nvPr>
            <p:ph type="sldNum" sz="quarter" idx="12"/>
          </p:nvPr>
        </p:nvSpPr>
        <p:spPr/>
        <p:txBody>
          <a:bodyPr/>
          <a:lstStyle/>
          <a:p>
            <a:pPr>
              <a:defRPr/>
            </a:pPr>
            <a:fld id="{50B7A251-C820-4EFF-8270-C7613E20881F}" type="slidenum">
              <a:rPr lang="en-US" smtClean="0"/>
              <a:pPr>
                <a:defRPr/>
              </a:pPr>
              <a:t>12</a:t>
            </a:fld>
            <a:endParaRPr lang="en-US" dirty="0"/>
          </a:p>
        </p:txBody>
      </p:sp>
      <p:pic>
        <p:nvPicPr>
          <p:cNvPr id="33" name="Imagen 32" descr="Una captura de pantalla de un celular&#10;&#10;Descripción generada automáticamente">
            <a:extLst>
              <a:ext uri="{FF2B5EF4-FFF2-40B4-BE49-F238E27FC236}">
                <a16:creationId xmlns:a16="http://schemas.microsoft.com/office/drawing/2014/main" id="{750B5151-EE68-F4A0-A6A0-A26D92EBD1E4}"/>
              </a:ext>
            </a:extLst>
          </p:cNvPr>
          <p:cNvPicPr>
            <a:picLocks noChangeAspect="1"/>
          </p:cNvPicPr>
          <p:nvPr/>
        </p:nvPicPr>
        <p:blipFill>
          <a:blip r:embed="rId2"/>
          <a:stretch>
            <a:fillRect/>
          </a:stretch>
        </p:blipFill>
        <p:spPr>
          <a:xfrm>
            <a:off x="827584" y="948973"/>
            <a:ext cx="7776864" cy="5623142"/>
          </a:xfrm>
          <a:prstGeom prst="rect">
            <a:avLst/>
          </a:prstGeom>
        </p:spPr>
      </p:pic>
    </p:spTree>
    <p:extLst>
      <p:ext uri="{BB962C8B-B14F-4D97-AF65-F5344CB8AC3E}">
        <p14:creationId xmlns:p14="http://schemas.microsoft.com/office/powerpoint/2010/main" val="3109790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4B63F-0CF0-69D7-0954-1D73424FE7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A61CC9-A89F-9EC6-DA7E-BAA4FAA5C442}"/>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CC8BBFC0-D00B-0863-34F8-51B34768A5E8}"/>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solidFill>
                  <a:srgbClr val="FF0000"/>
                </a:solidFill>
              </a:rPr>
              <a:t>2 - Memoria principal</a:t>
            </a:r>
          </a:p>
          <a:p>
            <a:pPr marL="731838" lvl="1" indent="-457200">
              <a:lnSpc>
                <a:spcPct val="90000"/>
              </a:lnSpc>
            </a:pPr>
            <a:r>
              <a:rPr lang="es-ES" dirty="0">
                <a:solidFill>
                  <a:srgbClr val="FF0000"/>
                </a:solidFill>
              </a:rPr>
              <a:t>Interfaz externa</a:t>
            </a:r>
          </a:p>
          <a:p>
            <a:pPr marL="731838" lvl="1" indent="-457200">
              <a:lnSpc>
                <a:spcPct val="90000"/>
              </a:lnSpc>
            </a:pPr>
            <a:r>
              <a:rPr lang="es-ES" dirty="0"/>
              <a:t>Direccionamiento de memoria: selección de bytes</a:t>
            </a:r>
          </a:p>
          <a:p>
            <a:pPr marL="731838" lvl="1" indent="-457200">
              <a:lnSpc>
                <a:spcPct val="90000"/>
              </a:lnSpc>
            </a:pPr>
            <a:r>
              <a:rPr lang="es-ES" dirty="0"/>
              <a:t>Estructura de buses</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4ECBB02C-BA69-5B9A-4B1D-19189BBCD599}"/>
              </a:ext>
            </a:extLst>
          </p:cNvPr>
          <p:cNvSpPr>
            <a:spLocks noGrp="1"/>
          </p:cNvSpPr>
          <p:nvPr>
            <p:ph type="sldNum" sz="quarter" idx="12"/>
          </p:nvPr>
        </p:nvSpPr>
        <p:spPr/>
        <p:txBody>
          <a:bodyPr/>
          <a:lstStyle/>
          <a:p>
            <a:pPr>
              <a:defRPr/>
            </a:pPr>
            <a:fld id="{50B7A251-C820-4EFF-8270-C7613E20881F}" type="slidenum">
              <a:rPr lang="en-US" smtClean="0"/>
              <a:pPr>
                <a:defRPr/>
              </a:pPr>
              <a:t>13</a:t>
            </a:fld>
            <a:endParaRPr lang="en-US" dirty="0"/>
          </a:p>
        </p:txBody>
      </p:sp>
    </p:spTree>
    <p:extLst>
      <p:ext uri="{BB962C8B-B14F-4D97-AF65-F5344CB8AC3E}">
        <p14:creationId xmlns:p14="http://schemas.microsoft.com/office/powerpoint/2010/main" val="4148633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s-ES" dirty="0"/>
              <a:t>Interfaz externa de memoria</a:t>
            </a:r>
          </a:p>
        </p:txBody>
      </p:sp>
      <p:sp>
        <p:nvSpPr>
          <p:cNvPr id="9" name="8 Rectángulo"/>
          <p:cNvSpPr/>
          <p:nvPr/>
        </p:nvSpPr>
        <p:spPr bwMode="auto">
          <a:xfrm>
            <a:off x="6588224" y="1268760"/>
            <a:ext cx="2160240" cy="3744416"/>
          </a:xfrm>
          <a:prstGeom prst="rect">
            <a:avLst/>
          </a:prstGeom>
          <a:solidFill>
            <a:schemeClr val="accent1">
              <a:lumMod val="50000"/>
            </a:schemeClr>
          </a:solid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sz="2800" b="1" i="0" u="none" strike="noStrike" cap="none" normalizeH="0" baseline="0" dirty="0">
                <a:ln>
                  <a:noFill/>
                </a:ln>
                <a:solidFill>
                  <a:srgbClr val="FFFFFF"/>
                </a:solidFill>
                <a:effectLst/>
                <a:latin typeface="Arial" charset="0"/>
              </a:rPr>
              <a:t>Memoria</a:t>
            </a:r>
          </a:p>
          <a:p>
            <a:pPr marL="0" marR="0" indent="0" algn="ctr" defTabSz="914400" rtl="0" eaLnBrk="0" fontAlgn="base" latinLnBrk="0" hangingPunct="0">
              <a:lnSpc>
                <a:spcPct val="100000"/>
              </a:lnSpc>
              <a:spcBef>
                <a:spcPct val="0"/>
              </a:spcBef>
              <a:spcAft>
                <a:spcPct val="0"/>
              </a:spcAft>
              <a:buClrTx/>
              <a:buSzTx/>
              <a:buFontTx/>
              <a:buNone/>
              <a:tabLst/>
            </a:pPr>
            <a:r>
              <a:rPr lang="es-ES" sz="2800" b="1" dirty="0">
                <a:solidFill>
                  <a:srgbClr val="FFFFFF"/>
                </a:solidFill>
              </a:rPr>
              <a:t>Principal</a:t>
            </a:r>
            <a:endParaRPr kumimoji="0" lang="es-ES" sz="2400" b="1" i="0" u="none" strike="noStrike" cap="none" normalizeH="0" baseline="0" dirty="0">
              <a:ln>
                <a:noFill/>
              </a:ln>
              <a:solidFill>
                <a:srgbClr val="FFFFFF"/>
              </a:solidFill>
              <a:effectLst/>
              <a:latin typeface="Arial" charset="0"/>
            </a:endParaRPr>
          </a:p>
        </p:txBody>
      </p:sp>
      <p:sp>
        <p:nvSpPr>
          <p:cNvPr id="13" name="12 Flecha derecha"/>
          <p:cNvSpPr/>
          <p:nvPr/>
        </p:nvSpPr>
        <p:spPr bwMode="auto">
          <a:xfrm>
            <a:off x="2699792" y="1412776"/>
            <a:ext cx="3888432" cy="1224136"/>
          </a:xfrm>
          <a:prstGeom prst="rightArrow">
            <a:avLst>
              <a:gd name="adj1" fmla="val 50000"/>
              <a:gd name="adj2" fmla="val 53763"/>
            </a:avLst>
          </a:prstGeom>
          <a:solidFill>
            <a:schemeClr val="accent2">
              <a:lumMod val="40000"/>
              <a:lumOff val="60000"/>
            </a:schemeClr>
          </a:solid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sz="2400" b="1" i="0" u="none" strike="noStrike" cap="none" normalizeH="0" baseline="0" dirty="0">
                <a:ln>
                  <a:noFill/>
                </a:ln>
                <a:effectLst/>
                <a:latin typeface="Arial" charset="0"/>
              </a:rPr>
              <a:t>Bus Direcciones</a:t>
            </a:r>
          </a:p>
        </p:txBody>
      </p:sp>
      <p:sp>
        <p:nvSpPr>
          <p:cNvPr id="15" name="14 Flecha izquierda y derecha"/>
          <p:cNvSpPr/>
          <p:nvPr/>
        </p:nvSpPr>
        <p:spPr bwMode="auto">
          <a:xfrm>
            <a:off x="2699792" y="2780928"/>
            <a:ext cx="3888432" cy="936104"/>
          </a:xfrm>
          <a:prstGeom prst="leftRightArrow">
            <a:avLst/>
          </a:prstGeom>
          <a:solidFill>
            <a:schemeClr val="accent6">
              <a:lumMod val="60000"/>
              <a:lumOff val="40000"/>
            </a:schemeClr>
          </a:solid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sz="2400" b="1" i="0" u="none" strike="noStrike" cap="none" normalizeH="0" baseline="0" dirty="0">
                <a:ln>
                  <a:noFill/>
                </a:ln>
                <a:effectLst/>
                <a:latin typeface="Arial" charset="0"/>
              </a:rPr>
              <a:t>Bus Datos</a:t>
            </a:r>
          </a:p>
        </p:txBody>
      </p:sp>
      <p:grpSp>
        <p:nvGrpSpPr>
          <p:cNvPr id="2" name="23 Grupo"/>
          <p:cNvGrpSpPr/>
          <p:nvPr/>
        </p:nvGrpSpPr>
        <p:grpSpPr>
          <a:xfrm>
            <a:off x="6156176" y="4005064"/>
            <a:ext cx="432048" cy="361628"/>
            <a:chOff x="2483768" y="4797152"/>
            <a:chExt cx="1440160" cy="361628"/>
          </a:xfrm>
        </p:grpSpPr>
        <p:cxnSp>
          <p:nvCxnSpPr>
            <p:cNvPr id="17" name="16 Conector recto de flecha"/>
            <p:cNvCxnSpPr/>
            <p:nvPr/>
          </p:nvCxnSpPr>
          <p:spPr bwMode="auto">
            <a:xfrm>
              <a:off x="2483768" y="4797152"/>
              <a:ext cx="1440160" cy="1588"/>
            </a:xfrm>
            <a:prstGeom prst="straightConnector1">
              <a:avLst/>
            </a:prstGeom>
            <a:noFill/>
            <a:ln w="50800" cap="flat" cmpd="sng" algn="ctr">
              <a:solidFill>
                <a:srgbClr val="FF0000"/>
              </a:solidFill>
              <a:prstDash val="solid"/>
              <a:round/>
              <a:headEnd type="none" w="med" len="med"/>
              <a:tailEnd type="triangle"/>
            </a:ln>
            <a:effectLst/>
          </p:spPr>
        </p:cxnSp>
        <p:cxnSp>
          <p:nvCxnSpPr>
            <p:cNvPr id="18" name="17 Conector recto de flecha"/>
            <p:cNvCxnSpPr/>
            <p:nvPr/>
          </p:nvCxnSpPr>
          <p:spPr bwMode="auto">
            <a:xfrm>
              <a:off x="2483768" y="5157192"/>
              <a:ext cx="1440160" cy="1588"/>
            </a:xfrm>
            <a:prstGeom prst="straightConnector1">
              <a:avLst/>
            </a:prstGeom>
            <a:noFill/>
            <a:ln w="50800" cap="flat" cmpd="sng" algn="ctr">
              <a:solidFill>
                <a:srgbClr val="FF0000"/>
              </a:solidFill>
              <a:prstDash val="solid"/>
              <a:round/>
              <a:headEnd type="none" w="med" len="med"/>
              <a:tailEnd type="triangle"/>
            </a:ln>
            <a:effectLst/>
          </p:spPr>
        </p:cxnSp>
      </p:grpSp>
      <p:sp>
        <p:nvSpPr>
          <p:cNvPr id="22" name="21 CuadroTexto"/>
          <p:cNvSpPr txBox="1"/>
          <p:nvPr/>
        </p:nvSpPr>
        <p:spPr>
          <a:xfrm>
            <a:off x="5104031" y="3789040"/>
            <a:ext cx="1039067" cy="400110"/>
          </a:xfrm>
          <a:prstGeom prst="rect">
            <a:avLst/>
          </a:prstGeom>
          <a:noFill/>
        </p:spPr>
        <p:txBody>
          <a:bodyPr wrap="none" rtlCol="0">
            <a:spAutoFit/>
          </a:bodyPr>
          <a:lstStyle/>
          <a:p>
            <a:r>
              <a:rPr lang="es-ES" dirty="0"/>
              <a:t>Lectura</a:t>
            </a:r>
          </a:p>
        </p:txBody>
      </p:sp>
      <p:sp>
        <p:nvSpPr>
          <p:cNvPr id="23" name="22 CuadroTexto"/>
          <p:cNvSpPr txBox="1"/>
          <p:nvPr/>
        </p:nvSpPr>
        <p:spPr>
          <a:xfrm>
            <a:off x="4960015" y="4181018"/>
            <a:ext cx="1196161" cy="400110"/>
          </a:xfrm>
          <a:prstGeom prst="rect">
            <a:avLst/>
          </a:prstGeom>
          <a:noFill/>
        </p:spPr>
        <p:txBody>
          <a:bodyPr wrap="none" rtlCol="0">
            <a:spAutoFit/>
          </a:bodyPr>
          <a:lstStyle/>
          <a:p>
            <a:r>
              <a:rPr lang="es-ES" dirty="0"/>
              <a:t>Escritura</a:t>
            </a:r>
          </a:p>
        </p:txBody>
      </p:sp>
      <p:sp>
        <p:nvSpPr>
          <p:cNvPr id="26" name="25 Abrir llave"/>
          <p:cNvSpPr/>
          <p:nvPr/>
        </p:nvSpPr>
        <p:spPr bwMode="auto">
          <a:xfrm>
            <a:off x="4788024" y="3861048"/>
            <a:ext cx="216024" cy="1034992"/>
          </a:xfrm>
          <a:prstGeom prst="leftBrace">
            <a:avLst/>
          </a:prstGeom>
          <a:noFill/>
          <a:ln w="19050" cap="flat" cmpd="sng" algn="ctr">
            <a:solidFill>
              <a:schemeClr val="tx1">
                <a:lumMod val="20000"/>
                <a:lumOff val="8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27" name="26 Flecha derecha"/>
          <p:cNvSpPr/>
          <p:nvPr/>
        </p:nvSpPr>
        <p:spPr bwMode="auto">
          <a:xfrm>
            <a:off x="2691408" y="3933056"/>
            <a:ext cx="2024608" cy="936104"/>
          </a:xfrm>
          <a:prstGeom prst="rightArrow">
            <a:avLst>
              <a:gd name="adj1" fmla="val 50000"/>
              <a:gd name="adj2" fmla="val 53763"/>
            </a:avLst>
          </a:prstGeom>
          <a:solidFill>
            <a:srgbClr val="FF0000"/>
          </a:solid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r>
              <a:rPr lang="es-ES" sz="2400" b="1" dirty="0"/>
              <a:t>Bus Control</a:t>
            </a:r>
            <a:endParaRPr kumimoji="0" lang="es-ES" sz="2400" b="1" i="0" u="none" strike="noStrike" cap="none" normalizeH="0" baseline="0" dirty="0">
              <a:ln>
                <a:noFill/>
              </a:ln>
              <a:effectLst/>
              <a:latin typeface="Arial" charset="0"/>
            </a:endParaRPr>
          </a:p>
        </p:txBody>
      </p:sp>
      <p:sp>
        <p:nvSpPr>
          <p:cNvPr id="28" name="Rectangle 3"/>
          <p:cNvSpPr txBox="1">
            <a:spLocks noChangeArrowheads="1"/>
          </p:cNvSpPr>
          <p:nvPr/>
        </p:nvSpPr>
        <p:spPr bwMode="auto">
          <a:xfrm>
            <a:off x="533400" y="5445224"/>
            <a:ext cx="8305800" cy="7203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lang="es-ES" kern="0" dirty="0">
                <a:latin typeface="+mn-lt"/>
              </a:rPr>
              <a:t>El controlador de memoria adapta los buses de direcciones/datos/control procedentes de la CPU a las necesidades de conexionado de la memoria principal</a:t>
            </a:r>
            <a:endParaRPr kumimoji="0" lang="es-ES" b="0" i="0" u="none" strike="noStrike" kern="0" cap="none" spc="0" normalizeH="0" baseline="0" noProof="0" dirty="0">
              <a:ln>
                <a:noFill/>
              </a:ln>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Tx/>
              <a:tabLst/>
              <a:defRPr/>
            </a:pPr>
            <a:endParaRPr kumimoji="0" lang="es-ES" sz="2000" b="0" i="0" u="none" strike="noStrike" kern="0" cap="none" spc="0" normalizeH="0" baseline="0" noProof="0" dirty="0">
              <a:ln>
                <a:noFill/>
              </a:ln>
              <a:effectLst/>
              <a:uLnTx/>
              <a:uFillTx/>
              <a:latin typeface="+mn-lt"/>
            </a:endParaRPr>
          </a:p>
        </p:txBody>
      </p:sp>
      <p:sp>
        <p:nvSpPr>
          <p:cNvPr id="16" name="15 Rectángulo"/>
          <p:cNvSpPr/>
          <p:nvPr/>
        </p:nvSpPr>
        <p:spPr bwMode="auto">
          <a:xfrm>
            <a:off x="1043608" y="1412776"/>
            <a:ext cx="1656184" cy="3600400"/>
          </a:xfrm>
          <a:prstGeom prst="rect">
            <a:avLst/>
          </a:prstGeom>
          <a:solidFill>
            <a:schemeClr val="accent1">
              <a:lumMod val="50000"/>
            </a:schemeClr>
          </a:solid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s-ES" b="1" i="0" u="none" strike="noStrike" cap="none" normalizeH="0" baseline="0" dirty="0">
                <a:ln>
                  <a:noFill/>
                </a:ln>
                <a:solidFill>
                  <a:srgbClr val="FFFFFF"/>
                </a:solidFill>
                <a:effectLst/>
                <a:latin typeface="Arial" charset="0"/>
              </a:rPr>
              <a:t>Controlador</a:t>
            </a:r>
            <a:r>
              <a:rPr kumimoji="0" lang="es-ES" b="1" i="0" u="none" strike="noStrike" cap="none" normalizeH="0" dirty="0">
                <a:ln>
                  <a:noFill/>
                </a:ln>
                <a:solidFill>
                  <a:srgbClr val="FFFFFF"/>
                </a:solidFill>
                <a:effectLst/>
                <a:latin typeface="Arial" charset="0"/>
              </a:rPr>
              <a:t> de Memoria</a:t>
            </a:r>
            <a:endParaRPr kumimoji="0" lang="es-ES" sz="1800" b="1" i="0" u="none" strike="noStrike" cap="none" normalizeH="0" baseline="0" dirty="0">
              <a:ln>
                <a:noFill/>
              </a:ln>
              <a:solidFill>
                <a:srgbClr val="FFFFFF"/>
              </a:solidFill>
              <a:effectLst/>
              <a:latin typeface="Arial" charset="0"/>
            </a:endParaRPr>
          </a:p>
        </p:txBody>
      </p:sp>
      <p:grpSp>
        <p:nvGrpSpPr>
          <p:cNvPr id="3" name="23 Grupo"/>
          <p:cNvGrpSpPr/>
          <p:nvPr/>
        </p:nvGrpSpPr>
        <p:grpSpPr>
          <a:xfrm>
            <a:off x="6128201" y="4365104"/>
            <a:ext cx="432048" cy="361628"/>
            <a:chOff x="2483768" y="4797152"/>
            <a:chExt cx="1440160" cy="361628"/>
          </a:xfrm>
        </p:grpSpPr>
        <p:cxnSp>
          <p:nvCxnSpPr>
            <p:cNvPr id="20" name="19 Conector recto de flecha"/>
            <p:cNvCxnSpPr/>
            <p:nvPr/>
          </p:nvCxnSpPr>
          <p:spPr bwMode="auto">
            <a:xfrm>
              <a:off x="2483768" y="4797152"/>
              <a:ext cx="1440160" cy="1588"/>
            </a:xfrm>
            <a:prstGeom prst="straightConnector1">
              <a:avLst/>
            </a:prstGeom>
            <a:noFill/>
            <a:ln w="50800" cap="flat" cmpd="sng" algn="ctr">
              <a:solidFill>
                <a:srgbClr val="FF0000"/>
              </a:solidFill>
              <a:prstDash val="solid"/>
              <a:round/>
              <a:headEnd type="none" w="med" len="med"/>
              <a:tailEnd type="triangle"/>
            </a:ln>
            <a:effectLst/>
          </p:spPr>
        </p:cxnSp>
        <p:cxnSp>
          <p:nvCxnSpPr>
            <p:cNvPr id="21" name="20 Conector recto de flecha"/>
            <p:cNvCxnSpPr/>
            <p:nvPr/>
          </p:nvCxnSpPr>
          <p:spPr bwMode="auto">
            <a:xfrm>
              <a:off x="2483768" y="5157192"/>
              <a:ext cx="1440160" cy="1588"/>
            </a:xfrm>
            <a:prstGeom prst="straightConnector1">
              <a:avLst/>
            </a:prstGeom>
            <a:noFill/>
            <a:ln w="50800" cap="flat" cmpd="sng" algn="ctr">
              <a:solidFill>
                <a:srgbClr val="FF0000"/>
              </a:solidFill>
              <a:prstDash val="solid"/>
              <a:round/>
              <a:headEnd type="none" w="med" len="med"/>
              <a:tailEnd type="triangle"/>
            </a:ln>
            <a:effectLst/>
          </p:spPr>
        </p:cxnSp>
      </p:grpSp>
      <p:sp>
        <p:nvSpPr>
          <p:cNvPr id="24" name="23 CuadroTexto"/>
          <p:cNvSpPr txBox="1"/>
          <p:nvPr/>
        </p:nvSpPr>
        <p:spPr>
          <a:xfrm>
            <a:off x="4880746" y="4541058"/>
            <a:ext cx="1298753" cy="400110"/>
          </a:xfrm>
          <a:prstGeom prst="rect">
            <a:avLst/>
          </a:prstGeom>
          <a:noFill/>
        </p:spPr>
        <p:txBody>
          <a:bodyPr wrap="none" rtlCol="0">
            <a:spAutoFit/>
          </a:bodyPr>
          <a:lstStyle/>
          <a:p>
            <a:r>
              <a:rPr lang="es-ES" dirty="0"/>
              <a:t>Selección</a:t>
            </a:r>
          </a:p>
        </p:txBody>
      </p:sp>
      <p:sp>
        <p:nvSpPr>
          <p:cNvPr id="4" name="Marcador de número de diapositiva 3">
            <a:extLst>
              <a:ext uri="{FF2B5EF4-FFF2-40B4-BE49-F238E27FC236}">
                <a16:creationId xmlns:a16="http://schemas.microsoft.com/office/drawing/2014/main" id="{0DC9E27C-1C81-0824-645F-98909507A310}"/>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6FB8-1FFA-11B4-DC78-50A1388CD2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33A4AA-3A31-F3AD-573A-9981F0972635}"/>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CF3D80C0-6A65-DE87-E9EB-CD4DA66DDB96}"/>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solidFill>
                  <a:srgbClr val="FF0000"/>
                </a:solidFill>
              </a:rPr>
              <a:t>2 - Memoria principal</a:t>
            </a:r>
          </a:p>
          <a:p>
            <a:pPr marL="731838" lvl="1" indent="-457200">
              <a:lnSpc>
                <a:spcPct val="90000"/>
              </a:lnSpc>
            </a:pPr>
            <a:r>
              <a:rPr lang="es-ES" dirty="0"/>
              <a:t>Interfaz externa</a:t>
            </a:r>
          </a:p>
          <a:p>
            <a:pPr marL="731838" lvl="1" indent="-457200">
              <a:lnSpc>
                <a:spcPct val="90000"/>
              </a:lnSpc>
            </a:pPr>
            <a:r>
              <a:rPr lang="es-ES" dirty="0">
                <a:solidFill>
                  <a:srgbClr val="FF0000"/>
                </a:solidFill>
              </a:rPr>
              <a:t>Direccionamiento de memoria: selección de bytes</a:t>
            </a:r>
          </a:p>
          <a:p>
            <a:pPr marL="731838" lvl="1" indent="-457200">
              <a:lnSpc>
                <a:spcPct val="90000"/>
              </a:lnSpc>
            </a:pPr>
            <a:r>
              <a:rPr lang="es-ES" dirty="0"/>
              <a:t>Estructura de buses</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B3BCE84F-5498-D4B9-C41E-3FCE23D96F21}"/>
              </a:ext>
            </a:extLst>
          </p:cNvPr>
          <p:cNvSpPr>
            <a:spLocks noGrp="1"/>
          </p:cNvSpPr>
          <p:nvPr>
            <p:ph type="sldNum" sz="quarter" idx="12"/>
          </p:nvPr>
        </p:nvSpPr>
        <p:spPr/>
        <p:txBody>
          <a:bodyPr/>
          <a:lstStyle/>
          <a:p>
            <a:pPr>
              <a:defRPr/>
            </a:pPr>
            <a:fld id="{50B7A251-C820-4EFF-8270-C7613E20881F}" type="slidenum">
              <a:rPr lang="en-US" smtClean="0"/>
              <a:pPr>
                <a:defRPr/>
              </a:pPr>
              <a:t>15</a:t>
            </a:fld>
            <a:endParaRPr lang="en-US" dirty="0"/>
          </a:p>
        </p:txBody>
      </p:sp>
    </p:spTree>
    <p:extLst>
      <p:ext uri="{BB962C8B-B14F-4D97-AF65-F5344CB8AC3E}">
        <p14:creationId xmlns:p14="http://schemas.microsoft.com/office/powerpoint/2010/main" val="1635154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s-ES" dirty="0"/>
              <a:t>Direccionamiento de la memoria principal</a:t>
            </a:r>
          </a:p>
        </p:txBody>
      </p:sp>
      <p:sp>
        <p:nvSpPr>
          <p:cNvPr id="27652" name="Rectangle 3"/>
          <p:cNvSpPr>
            <a:spLocks noGrp="1" noChangeArrowheads="1"/>
          </p:cNvSpPr>
          <p:nvPr>
            <p:ph type="body" idx="1"/>
          </p:nvPr>
        </p:nvSpPr>
        <p:spPr>
          <a:xfrm>
            <a:off x="539552" y="908720"/>
            <a:ext cx="8305800" cy="5334000"/>
          </a:xfrm>
        </p:spPr>
        <p:txBody>
          <a:bodyPr/>
          <a:lstStyle/>
          <a:p>
            <a:pPr>
              <a:lnSpc>
                <a:spcPct val="100000"/>
              </a:lnSpc>
            </a:pPr>
            <a:r>
              <a:rPr lang="es-ES" sz="2200" dirty="0"/>
              <a:t>Direcciones</a:t>
            </a:r>
          </a:p>
          <a:p>
            <a:pPr lvl="1">
              <a:lnSpc>
                <a:spcPct val="100000"/>
              </a:lnSpc>
            </a:pPr>
            <a:r>
              <a:rPr lang="es-ES" dirty="0"/>
              <a:t>Van referidas a cada byte</a:t>
            </a:r>
          </a:p>
          <a:p>
            <a:pPr lvl="1">
              <a:lnSpc>
                <a:spcPct val="100000"/>
              </a:lnSpc>
            </a:pPr>
            <a:r>
              <a:rPr lang="es-ES" b="1" dirty="0"/>
              <a:t>Cada byte tiene una dirección única</a:t>
            </a:r>
          </a:p>
          <a:p>
            <a:pPr marL="403225" lvl="1" indent="0">
              <a:lnSpc>
                <a:spcPct val="100000"/>
              </a:lnSpc>
              <a:buNone/>
            </a:pPr>
            <a:endParaRPr lang="es-ES" sz="1100" b="1" dirty="0"/>
          </a:p>
          <a:p>
            <a:pPr>
              <a:lnSpc>
                <a:spcPct val="100000"/>
              </a:lnSpc>
            </a:pPr>
            <a:r>
              <a:rPr lang="es-ES" sz="2200" dirty="0"/>
              <a:t>Parámetros impuestos por la CPU</a:t>
            </a:r>
          </a:p>
          <a:p>
            <a:pPr lvl="1">
              <a:lnSpc>
                <a:spcPct val="100000"/>
              </a:lnSpc>
            </a:pPr>
            <a:r>
              <a:rPr lang="es-ES" dirty="0"/>
              <a:t>Tamaño de palabra   </a:t>
            </a:r>
            <a:r>
              <a:rPr lang="es-ES" dirty="0">
                <a:sym typeface="Symbol"/>
              </a:rPr>
              <a:t> </a:t>
            </a:r>
            <a:r>
              <a:rPr lang="es-ES" dirty="0"/>
              <a:t>bus de datos </a:t>
            </a:r>
          </a:p>
          <a:p>
            <a:pPr lvl="2">
              <a:lnSpc>
                <a:spcPct val="100000"/>
              </a:lnSpc>
            </a:pPr>
            <a:r>
              <a:rPr lang="es-ES" dirty="0"/>
              <a:t>En bits o bytes</a:t>
            </a:r>
          </a:p>
          <a:p>
            <a:pPr lvl="1">
              <a:lnSpc>
                <a:spcPct val="100000"/>
              </a:lnSpc>
            </a:pPr>
            <a:r>
              <a:rPr lang="es-ES" dirty="0"/>
              <a:t>Direccionamiento   </a:t>
            </a:r>
            <a:r>
              <a:rPr lang="es-ES" dirty="0">
                <a:sym typeface="Symbol"/>
              </a:rPr>
              <a:t> </a:t>
            </a:r>
            <a:r>
              <a:rPr lang="es-ES" dirty="0"/>
              <a:t>bus de direcciones</a:t>
            </a:r>
          </a:p>
          <a:p>
            <a:pPr lvl="2">
              <a:lnSpc>
                <a:spcPct val="100000"/>
              </a:lnSpc>
            </a:pPr>
            <a:r>
              <a:rPr lang="es-ES" dirty="0"/>
              <a:t>En bits/líneas de dirección</a:t>
            </a:r>
          </a:p>
          <a:p>
            <a:pPr lvl="2">
              <a:lnSpc>
                <a:spcPct val="100000"/>
              </a:lnSpc>
            </a:pPr>
            <a:r>
              <a:rPr lang="es-ES" dirty="0"/>
              <a:t>En capacidad de direccionamiento (unidades 2</a:t>
            </a:r>
            <a:r>
              <a:rPr lang="es-ES" b="1" i="1" baseline="30000" dirty="0"/>
              <a:t>n</a:t>
            </a:r>
            <a:r>
              <a:rPr lang="es-ES" dirty="0"/>
              <a:t>)</a:t>
            </a:r>
          </a:p>
          <a:p>
            <a:pPr lvl="1">
              <a:lnSpc>
                <a:spcPct val="100000"/>
              </a:lnSpc>
            </a:pPr>
            <a:r>
              <a:rPr lang="es-ES" dirty="0"/>
              <a:t>Formato almacenamiento palabras</a:t>
            </a:r>
          </a:p>
          <a:p>
            <a:pPr lvl="2">
              <a:lnSpc>
                <a:spcPct val="100000"/>
              </a:lnSpc>
            </a:pPr>
            <a:r>
              <a:rPr lang="es-ES" i="1" dirty="0" err="1"/>
              <a:t>little-endian</a:t>
            </a:r>
            <a:r>
              <a:rPr lang="es-ES" dirty="0"/>
              <a:t> / </a:t>
            </a:r>
            <a:r>
              <a:rPr lang="es-ES" i="1" dirty="0" err="1"/>
              <a:t>big-endian</a:t>
            </a:r>
            <a:endParaRPr lang="es-ES" i="1" dirty="0"/>
          </a:p>
          <a:p>
            <a:pPr lvl="2">
              <a:lnSpc>
                <a:spcPct val="100000"/>
              </a:lnSpc>
            </a:pPr>
            <a:endParaRPr lang="es-ES" sz="700" i="1" dirty="0"/>
          </a:p>
          <a:p>
            <a:pPr>
              <a:lnSpc>
                <a:spcPct val="100000"/>
              </a:lnSpc>
            </a:pPr>
            <a:r>
              <a:rPr lang="es-ES" sz="2200" dirty="0"/>
              <a:t>Ejemplo: RISC-V</a:t>
            </a:r>
          </a:p>
          <a:p>
            <a:pPr lvl="1">
              <a:lnSpc>
                <a:spcPct val="100000"/>
              </a:lnSpc>
            </a:pPr>
            <a:r>
              <a:rPr lang="es-ES" sz="1400" dirty="0"/>
              <a:t>32 bits de datos (D</a:t>
            </a:r>
            <a:r>
              <a:rPr lang="es-ES" sz="1400" baseline="-25000" dirty="0"/>
              <a:t>31</a:t>
            </a:r>
            <a:r>
              <a:rPr lang="es-ES" sz="1400" dirty="0"/>
              <a:t> hasta D</a:t>
            </a:r>
            <a:r>
              <a:rPr lang="es-ES" sz="1400" baseline="-25000" dirty="0"/>
              <a:t>0</a:t>
            </a:r>
            <a:r>
              <a:rPr lang="es-ES" sz="1400" dirty="0"/>
              <a:t>)</a:t>
            </a:r>
          </a:p>
          <a:p>
            <a:pPr lvl="1">
              <a:lnSpc>
                <a:spcPct val="100000"/>
              </a:lnSpc>
            </a:pPr>
            <a:r>
              <a:rPr lang="es-ES" sz="1400" dirty="0"/>
              <a:t>32 bits de dirección (A</a:t>
            </a:r>
            <a:r>
              <a:rPr lang="es-ES" sz="1400" baseline="-25000" dirty="0"/>
              <a:t>31</a:t>
            </a:r>
            <a:r>
              <a:rPr lang="es-ES" sz="1400" dirty="0"/>
              <a:t> hasta A</a:t>
            </a:r>
            <a:r>
              <a:rPr lang="es-ES" sz="1400" baseline="-25000" dirty="0"/>
              <a:t>0</a:t>
            </a:r>
            <a:r>
              <a:rPr lang="es-ES" sz="1400" dirty="0"/>
              <a:t>)   Puede referenciar 2</a:t>
            </a:r>
            <a:r>
              <a:rPr lang="es-ES" sz="1400" baseline="30000" dirty="0"/>
              <a:t>32</a:t>
            </a:r>
            <a:r>
              <a:rPr lang="es-ES" sz="1400" dirty="0"/>
              <a:t> bytes, es decir, 4 GB</a:t>
            </a:r>
          </a:p>
        </p:txBody>
      </p:sp>
      <p:sp>
        <p:nvSpPr>
          <p:cNvPr id="2" name="Marcador de número de diapositiva 3">
            <a:extLst>
              <a:ext uri="{FF2B5EF4-FFF2-40B4-BE49-F238E27FC236}">
                <a16:creationId xmlns:a16="http://schemas.microsoft.com/office/drawing/2014/main" id="{F4B4F3F7-1105-FE51-DEF4-6F39FE7FBA9D}"/>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pc="-50" dirty="0"/>
              <a:t>Direccionamiento de memoria en CPU de 8 bits</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17</a:t>
            </a:fld>
            <a:endParaRPr lang="en-US" dirty="0"/>
          </a:p>
        </p:txBody>
      </p:sp>
      <p:grpSp>
        <p:nvGrpSpPr>
          <p:cNvPr id="53" name="52 Grupo"/>
          <p:cNvGrpSpPr/>
          <p:nvPr/>
        </p:nvGrpSpPr>
        <p:grpSpPr>
          <a:xfrm>
            <a:off x="4367376" y="1412776"/>
            <a:ext cx="936104" cy="4824536"/>
            <a:chOff x="4367376" y="1412776"/>
            <a:chExt cx="936104" cy="4824536"/>
          </a:xfrm>
          <a:solidFill>
            <a:schemeClr val="accent2"/>
          </a:solidFill>
        </p:grpSpPr>
        <p:sp>
          <p:nvSpPr>
            <p:cNvPr id="19" name="18 Rectángulo"/>
            <p:cNvSpPr/>
            <p:nvPr/>
          </p:nvSpPr>
          <p:spPr bwMode="auto">
            <a:xfrm>
              <a:off x="4367376" y="1412776"/>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a:t>
              </a:r>
            </a:p>
          </p:txBody>
        </p:sp>
        <p:sp>
          <p:nvSpPr>
            <p:cNvPr id="21" name="20 Rectángulo"/>
            <p:cNvSpPr/>
            <p:nvPr/>
          </p:nvSpPr>
          <p:spPr bwMode="auto">
            <a:xfrm>
              <a:off x="4367376" y="2060848"/>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23" name="22 Rectángulo"/>
            <p:cNvSpPr/>
            <p:nvPr/>
          </p:nvSpPr>
          <p:spPr bwMode="auto">
            <a:xfrm>
              <a:off x="4367376" y="2708920"/>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25" name="24 Rectángulo"/>
            <p:cNvSpPr/>
            <p:nvPr/>
          </p:nvSpPr>
          <p:spPr bwMode="auto">
            <a:xfrm>
              <a:off x="4367376" y="3356992"/>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6</a:t>
              </a:r>
            </a:p>
          </p:txBody>
        </p:sp>
        <p:sp>
          <p:nvSpPr>
            <p:cNvPr id="27" name="26 Rectángulo"/>
            <p:cNvSpPr/>
            <p:nvPr/>
          </p:nvSpPr>
          <p:spPr bwMode="auto">
            <a:xfrm>
              <a:off x="4367376" y="4005064"/>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8</a:t>
              </a:r>
            </a:p>
          </p:txBody>
        </p:sp>
        <p:sp>
          <p:nvSpPr>
            <p:cNvPr id="29" name="28 Rectángulo"/>
            <p:cNvSpPr/>
            <p:nvPr/>
          </p:nvSpPr>
          <p:spPr bwMode="auto">
            <a:xfrm>
              <a:off x="4367376" y="4653136"/>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p>
          </p:txBody>
        </p:sp>
        <p:sp>
          <p:nvSpPr>
            <p:cNvPr id="31" name="30 Rectángulo"/>
            <p:cNvSpPr/>
            <p:nvPr/>
          </p:nvSpPr>
          <p:spPr bwMode="auto">
            <a:xfrm>
              <a:off x="4367376" y="5301208"/>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12</a:t>
              </a:r>
            </a:p>
          </p:txBody>
        </p:sp>
        <p:sp>
          <p:nvSpPr>
            <p:cNvPr id="34" name="33 Rectángulo"/>
            <p:cNvSpPr/>
            <p:nvPr/>
          </p:nvSpPr>
          <p:spPr bwMode="auto">
            <a:xfrm>
              <a:off x="4367376" y="5949280"/>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14</a:t>
              </a:r>
            </a:p>
          </p:txBody>
        </p:sp>
      </p:grpSp>
      <p:grpSp>
        <p:nvGrpSpPr>
          <p:cNvPr id="76" name="75 Grupo"/>
          <p:cNvGrpSpPr/>
          <p:nvPr/>
        </p:nvGrpSpPr>
        <p:grpSpPr>
          <a:xfrm>
            <a:off x="4367376" y="1736812"/>
            <a:ext cx="936104" cy="4833220"/>
            <a:chOff x="1907704" y="1736812"/>
            <a:chExt cx="936104" cy="4833220"/>
          </a:xfrm>
          <a:solidFill>
            <a:schemeClr val="accent1">
              <a:lumMod val="60000"/>
              <a:lumOff val="40000"/>
            </a:schemeClr>
          </a:solidFill>
        </p:grpSpPr>
        <p:sp>
          <p:nvSpPr>
            <p:cNvPr id="20" name="19 Rectángulo"/>
            <p:cNvSpPr/>
            <p:nvPr/>
          </p:nvSpPr>
          <p:spPr bwMode="auto">
            <a:xfrm>
              <a:off x="1907704" y="1736812"/>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22" name="21 Rectángulo"/>
            <p:cNvSpPr/>
            <p:nvPr/>
          </p:nvSpPr>
          <p:spPr bwMode="auto">
            <a:xfrm>
              <a:off x="1907704" y="2384884"/>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24" name="23 Rectángulo"/>
            <p:cNvSpPr/>
            <p:nvPr/>
          </p:nvSpPr>
          <p:spPr bwMode="auto">
            <a:xfrm>
              <a:off x="1907704" y="3032956"/>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26" name="25 Rectángulo"/>
            <p:cNvSpPr/>
            <p:nvPr/>
          </p:nvSpPr>
          <p:spPr bwMode="auto">
            <a:xfrm>
              <a:off x="1907704" y="3681028"/>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7</a:t>
              </a:r>
            </a:p>
          </p:txBody>
        </p:sp>
        <p:sp>
          <p:nvSpPr>
            <p:cNvPr id="28" name="27 Rectángulo"/>
            <p:cNvSpPr/>
            <p:nvPr/>
          </p:nvSpPr>
          <p:spPr bwMode="auto">
            <a:xfrm>
              <a:off x="1907704" y="4329100"/>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9</a:t>
              </a:r>
            </a:p>
          </p:txBody>
        </p:sp>
        <p:sp>
          <p:nvSpPr>
            <p:cNvPr id="30" name="29 Rectángulo"/>
            <p:cNvSpPr/>
            <p:nvPr/>
          </p:nvSpPr>
          <p:spPr bwMode="auto">
            <a:xfrm>
              <a:off x="1907704" y="4977172"/>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p>
          </p:txBody>
        </p:sp>
        <p:sp>
          <p:nvSpPr>
            <p:cNvPr id="32" name="31 Rectángulo"/>
            <p:cNvSpPr/>
            <p:nvPr/>
          </p:nvSpPr>
          <p:spPr bwMode="auto">
            <a:xfrm>
              <a:off x="1907704" y="5625244"/>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13</a:t>
              </a:r>
            </a:p>
          </p:txBody>
        </p:sp>
        <p:sp>
          <p:nvSpPr>
            <p:cNvPr id="50" name="49 Rectángulo"/>
            <p:cNvSpPr/>
            <p:nvPr/>
          </p:nvSpPr>
          <p:spPr bwMode="auto">
            <a:xfrm>
              <a:off x="1907704" y="6282000"/>
              <a:ext cx="936104" cy="288032"/>
            </a:xfrm>
            <a:prstGeom prst="rect">
              <a:avLst/>
            </a:prstGeom>
            <a:grp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15</a:t>
              </a:r>
            </a:p>
          </p:txBody>
        </p:sp>
      </p:grpSp>
      <p:grpSp>
        <p:nvGrpSpPr>
          <p:cNvPr id="54" name="53 Grupo"/>
          <p:cNvGrpSpPr/>
          <p:nvPr/>
        </p:nvGrpSpPr>
        <p:grpSpPr>
          <a:xfrm>
            <a:off x="3021935" y="1412776"/>
            <a:ext cx="1273433" cy="5157256"/>
            <a:chOff x="3215248" y="1412776"/>
            <a:chExt cx="1080120" cy="5157256"/>
          </a:xfrm>
        </p:grpSpPr>
        <p:sp>
          <p:nvSpPr>
            <p:cNvPr id="35" name="34 Rectángulo"/>
            <p:cNvSpPr/>
            <p:nvPr/>
          </p:nvSpPr>
          <p:spPr bwMode="auto">
            <a:xfrm>
              <a:off x="3215248" y="141277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0 0 0 0</a:t>
              </a:r>
            </a:p>
          </p:txBody>
        </p:sp>
        <p:sp>
          <p:nvSpPr>
            <p:cNvPr id="36" name="35 Rectángulo"/>
            <p:cNvSpPr/>
            <p:nvPr/>
          </p:nvSpPr>
          <p:spPr bwMode="auto">
            <a:xfrm>
              <a:off x="3215248" y="173681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0 0 0 1</a:t>
              </a:r>
            </a:p>
          </p:txBody>
        </p:sp>
        <p:sp>
          <p:nvSpPr>
            <p:cNvPr id="37" name="36 Rectángulo"/>
            <p:cNvSpPr/>
            <p:nvPr/>
          </p:nvSpPr>
          <p:spPr bwMode="auto">
            <a:xfrm>
              <a:off x="3215248" y="2060848"/>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0 0 1 0</a:t>
              </a:r>
            </a:p>
          </p:txBody>
        </p:sp>
        <p:sp>
          <p:nvSpPr>
            <p:cNvPr id="38" name="37 Rectángulo"/>
            <p:cNvSpPr/>
            <p:nvPr/>
          </p:nvSpPr>
          <p:spPr bwMode="auto">
            <a:xfrm>
              <a:off x="3215248" y="2384884"/>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0 0 1 1</a:t>
              </a:r>
            </a:p>
          </p:txBody>
        </p:sp>
        <p:sp>
          <p:nvSpPr>
            <p:cNvPr id="39" name="38 Rectángulo"/>
            <p:cNvSpPr/>
            <p:nvPr/>
          </p:nvSpPr>
          <p:spPr bwMode="auto">
            <a:xfrm>
              <a:off x="3215248" y="270892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0 1 0 0</a:t>
              </a:r>
            </a:p>
          </p:txBody>
        </p:sp>
        <p:sp>
          <p:nvSpPr>
            <p:cNvPr id="40" name="39 Rectángulo"/>
            <p:cNvSpPr/>
            <p:nvPr/>
          </p:nvSpPr>
          <p:spPr bwMode="auto">
            <a:xfrm>
              <a:off x="3215248" y="303295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0 1 0 1</a:t>
              </a:r>
            </a:p>
          </p:txBody>
        </p:sp>
        <p:sp>
          <p:nvSpPr>
            <p:cNvPr id="41" name="40 Rectángulo"/>
            <p:cNvSpPr/>
            <p:nvPr/>
          </p:nvSpPr>
          <p:spPr bwMode="auto">
            <a:xfrm>
              <a:off x="3215248" y="335699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0 1 1 0</a:t>
              </a:r>
            </a:p>
          </p:txBody>
        </p:sp>
        <p:sp>
          <p:nvSpPr>
            <p:cNvPr id="42" name="41 Rectángulo"/>
            <p:cNvSpPr/>
            <p:nvPr/>
          </p:nvSpPr>
          <p:spPr bwMode="auto">
            <a:xfrm>
              <a:off x="3215248" y="3681028"/>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0 1 1 1</a:t>
              </a:r>
            </a:p>
          </p:txBody>
        </p:sp>
        <p:sp>
          <p:nvSpPr>
            <p:cNvPr id="43" name="42 Rectángulo"/>
            <p:cNvSpPr/>
            <p:nvPr/>
          </p:nvSpPr>
          <p:spPr bwMode="auto">
            <a:xfrm>
              <a:off x="3215248" y="4005064"/>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1 0 0 0</a:t>
              </a:r>
            </a:p>
          </p:txBody>
        </p:sp>
        <p:sp>
          <p:nvSpPr>
            <p:cNvPr id="44" name="43 Rectángulo"/>
            <p:cNvSpPr/>
            <p:nvPr/>
          </p:nvSpPr>
          <p:spPr bwMode="auto">
            <a:xfrm>
              <a:off x="3215248" y="432910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1 0 0 1</a:t>
              </a:r>
            </a:p>
          </p:txBody>
        </p:sp>
        <p:sp>
          <p:nvSpPr>
            <p:cNvPr id="45" name="44 Rectángulo"/>
            <p:cNvSpPr/>
            <p:nvPr/>
          </p:nvSpPr>
          <p:spPr bwMode="auto">
            <a:xfrm>
              <a:off x="3215248" y="465313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1 0 1 0</a:t>
              </a:r>
            </a:p>
          </p:txBody>
        </p:sp>
        <p:sp>
          <p:nvSpPr>
            <p:cNvPr id="46" name="45 Rectángulo"/>
            <p:cNvSpPr/>
            <p:nvPr/>
          </p:nvSpPr>
          <p:spPr bwMode="auto">
            <a:xfrm>
              <a:off x="3215248" y="497717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1 0 1 1</a:t>
              </a:r>
            </a:p>
          </p:txBody>
        </p:sp>
        <p:sp>
          <p:nvSpPr>
            <p:cNvPr id="47" name="46 Rectángulo"/>
            <p:cNvSpPr/>
            <p:nvPr/>
          </p:nvSpPr>
          <p:spPr bwMode="auto">
            <a:xfrm>
              <a:off x="3215248" y="5301208"/>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1 1 0 0</a:t>
              </a:r>
            </a:p>
          </p:txBody>
        </p:sp>
        <p:sp>
          <p:nvSpPr>
            <p:cNvPr id="48" name="47 Rectángulo"/>
            <p:cNvSpPr/>
            <p:nvPr/>
          </p:nvSpPr>
          <p:spPr bwMode="auto">
            <a:xfrm>
              <a:off x="3215248" y="5625244"/>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1 1 0 1</a:t>
              </a:r>
            </a:p>
          </p:txBody>
        </p:sp>
        <p:sp>
          <p:nvSpPr>
            <p:cNvPr id="49" name="48 Rectángulo"/>
            <p:cNvSpPr/>
            <p:nvPr/>
          </p:nvSpPr>
          <p:spPr bwMode="auto">
            <a:xfrm>
              <a:off x="3215248" y="594928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1 1 1 0</a:t>
              </a:r>
            </a:p>
          </p:txBody>
        </p:sp>
        <p:sp>
          <p:nvSpPr>
            <p:cNvPr id="51" name="50 Rectángulo"/>
            <p:cNvSpPr/>
            <p:nvPr/>
          </p:nvSpPr>
          <p:spPr bwMode="auto">
            <a:xfrm>
              <a:off x="3215248" y="628200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pc="200" dirty="0">
                  <a:solidFill>
                    <a:schemeClr val="tx1"/>
                  </a:solidFill>
                </a:rPr>
                <a:t>1 1 1 1</a:t>
              </a:r>
            </a:p>
          </p:txBody>
        </p:sp>
      </p:grpSp>
      <p:sp>
        <p:nvSpPr>
          <p:cNvPr id="52" name="51 Rectángulo"/>
          <p:cNvSpPr/>
          <p:nvPr/>
        </p:nvSpPr>
        <p:spPr bwMode="auto">
          <a:xfrm>
            <a:off x="3080353" y="1052736"/>
            <a:ext cx="1287023" cy="288032"/>
          </a:xfrm>
          <a:prstGeom prst="rect">
            <a:avLst/>
          </a:prstGeom>
          <a:solidFill>
            <a:schemeClr val="bg1">
              <a:lumMod val="85000"/>
            </a:schemeClr>
          </a:solid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3</a:t>
            </a:r>
            <a:r>
              <a:rPr lang="es-ES" dirty="0">
                <a:solidFill>
                  <a:schemeClr val="tx1"/>
                </a:solidFill>
              </a:rPr>
              <a:t>A</a:t>
            </a:r>
            <a:r>
              <a:rPr lang="es-ES" baseline="-25000" dirty="0">
                <a:solidFill>
                  <a:schemeClr val="tx1"/>
                </a:solidFill>
              </a:rPr>
              <a:t>2</a:t>
            </a:r>
            <a:r>
              <a:rPr lang="es-ES" dirty="0">
                <a:solidFill>
                  <a:schemeClr val="tx1"/>
                </a:solidFill>
              </a:rPr>
              <a:t>A</a:t>
            </a:r>
            <a:r>
              <a:rPr lang="es-ES" baseline="-25000" dirty="0">
                <a:solidFill>
                  <a:schemeClr val="tx1"/>
                </a:solidFill>
              </a:rPr>
              <a:t>1</a:t>
            </a:r>
            <a:r>
              <a:rPr lang="es-ES" dirty="0">
                <a:solidFill>
                  <a:schemeClr val="tx1"/>
                </a:solidFill>
              </a:rPr>
              <a:t>A</a:t>
            </a:r>
            <a:r>
              <a:rPr lang="es-ES" baseline="-25000" dirty="0">
                <a:solidFill>
                  <a:schemeClr val="tx1"/>
                </a:solidFill>
              </a:rPr>
              <a:t>0</a:t>
            </a:r>
          </a:p>
        </p:txBody>
      </p:sp>
      <p:sp>
        <p:nvSpPr>
          <p:cNvPr id="55" name="54 CuadroTexto"/>
          <p:cNvSpPr txBox="1"/>
          <p:nvPr/>
        </p:nvSpPr>
        <p:spPr>
          <a:xfrm>
            <a:off x="1259632" y="1212721"/>
            <a:ext cx="1255472" cy="400110"/>
          </a:xfrm>
          <a:prstGeom prst="rect">
            <a:avLst/>
          </a:prstGeom>
          <a:noFill/>
        </p:spPr>
        <p:txBody>
          <a:bodyPr wrap="none" rtlCol="0">
            <a:spAutoFit/>
          </a:bodyPr>
          <a:lstStyle/>
          <a:p>
            <a:r>
              <a:rPr lang="es-ES" dirty="0">
                <a:solidFill>
                  <a:schemeClr val="tx1">
                    <a:lumMod val="75000"/>
                    <a:lumOff val="25000"/>
                  </a:schemeClr>
                </a:solidFill>
              </a:rPr>
              <a:t>Dirección</a:t>
            </a:r>
          </a:p>
        </p:txBody>
      </p:sp>
      <p:grpSp>
        <p:nvGrpSpPr>
          <p:cNvPr id="60" name="59 Grupo"/>
          <p:cNvGrpSpPr/>
          <p:nvPr/>
        </p:nvGrpSpPr>
        <p:grpSpPr>
          <a:xfrm flipH="1">
            <a:off x="6047553" y="1369749"/>
            <a:ext cx="1584176" cy="400110"/>
            <a:chOff x="1547664" y="1988840"/>
            <a:chExt cx="1584176" cy="400110"/>
          </a:xfrm>
        </p:grpSpPr>
        <p:sp>
          <p:nvSpPr>
            <p:cNvPr id="57" name="56 CuadroTexto"/>
            <p:cNvSpPr txBox="1"/>
            <p:nvPr/>
          </p:nvSpPr>
          <p:spPr>
            <a:xfrm>
              <a:off x="1547664" y="1988840"/>
              <a:ext cx="697628" cy="400110"/>
            </a:xfrm>
            <a:prstGeom prst="rect">
              <a:avLst/>
            </a:prstGeom>
            <a:noFill/>
          </p:spPr>
          <p:txBody>
            <a:bodyPr wrap="none" rtlCol="0">
              <a:spAutoFit/>
            </a:bodyPr>
            <a:lstStyle/>
            <a:p>
              <a:r>
                <a:rPr lang="es-ES" dirty="0">
                  <a:solidFill>
                    <a:schemeClr val="tx1">
                      <a:lumMod val="75000"/>
                      <a:lumOff val="25000"/>
                    </a:schemeClr>
                  </a:solidFill>
                </a:rPr>
                <a:t>Byte</a:t>
              </a:r>
            </a:p>
          </p:txBody>
        </p:sp>
        <p:cxnSp>
          <p:nvCxnSpPr>
            <p:cNvPr id="59" name="58 Conector recto de flecha"/>
            <p:cNvCxnSpPr/>
            <p:nvPr/>
          </p:nvCxnSpPr>
          <p:spPr bwMode="auto">
            <a:xfrm>
              <a:off x="2339752" y="2204864"/>
              <a:ext cx="792088" cy="0"/>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grpSp>
      <p:grpSp>
        <p:nvGrpSpPr>
          <p:cNvPr id="64" name="63 Grupo"/>
          <p:cNvGrpSpPr/>
          <p:nvPr/>
        </p:nvGrpSpPr>
        <p:grpSpPr>
          <a:xfrm>
            <a:off x="611560" y="5837202"/>
            <a:ext cx="2622363" cy="400110"/>
            <a:chOff x="653493" y="5837202"/>
            <a:chExt cx="2622363" cy="400110"/>
          </a:xfrm>
        </p:grpSpPr>
        <p:sp>
          <p:nvSpPr>
            <p:cNvPr id="65" name="64 CuadroTexto"/>
            <p:cNvSpPr txBox="1"/>
            <p:nvPr/>
          </p:nvSpPr>
          <p:spPr>
            <a:xfrm>
              <a:off x="653493" y="5837202"/>
              <a:ext cx="2165978" cy="400110"/>
            </a:xfrm>
            <a:prstGeom prst="rect">
              <a:avLst/>
            </a:prstGeom>
            <a:noFill/>
          </p:spPr>
          <p:txBody>
            <a:bodyPr wrap="none" rtlCol="0">
              <a:spAutoFit/>
            </a:bodyPr>
            <a:lstStyle/>
            <a:p>
              <a:r>
                <a:rPr lang="es-ES" dirty="0">
                  <a:solidFill>
                    <a:schemeClr val="tx1">
                      <a:lumMod val="75000"/>
                      <a:lumOff val="25000"/>
                    </a:schemeClr>
                  </a:solidFill>
                </a:rPr>
                <a:t>Dirección de byte</a:t>
              </a:r>
            </a:p>
          </p:txBody>
        </p:sp>
        <p:cxnSp>
          <p:nvCxnSpPr>
            <p:cNvPr id="66" name="65 Conector recto de flecha"/>
            <p:cNvCxnSpPr/>
            <p:nvPr/>
          </p:nvCxnSpPr>
          <p:spPr bwMode="auto">
            <a:xfrm>
              <a:off x="2915816" y="6093296"/>
              <a:ext cx="360040" cy="0"/>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grpSp>
      <p:sp>
        <p:nvSpPr>
          <p:cNvPr id="62" name="61 Rectángulo"/>
          <p:cNvSpPr/>
          <p:nvPr/>
        </p:nvSpPr>
        <p:spPr bwMode="auto">
          <a:xfrm>
            <a:off x="4367376" y="1400218"/>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0</a:t>
            </a:r>
          </a:p>
        </p:txBody>
      </p:sp>
      <p:cxnSp>
        <p:nvCxnSpPr>
          <p:cNvPr id="6" name="5 Conector recto de flecha"/>
          <p:cNvCxnSpPr>
            <a:endCxn id="19" idx="3"/>
          </p:cNvCxnSpPr>
          <p:nvPr/>
        </p:nvCxnSpPr>
        <p:spPr bwMode="auto">
          <a:xfrm flipH="1" flipV="1">
            <a:off x="5303480" y="1556792"/>
            <a:ext cx="636672" cy="50405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nvGrpSpPr>
          <p:cNvPr id="17" name="16 Grupo"/>
          <p:cNvGrpSpPr/>
          <p:nvPr/>
        </p:nvGrpSpPr>
        <p:grpSpPr>
          <a:xfrm>
            <a:off x="4367376" y="3032956"/>
            <a:ext cx="4335070" cy="559224"/>
            <a:chOff x="4367376" y="3032956"/>
            <a:chExt cx="4335070" cy="559224"/>
          </a:xfrm>
        </p:grpSpPr>
        <p:sp>
          <p:nvSpPr>
            <p:cNvPr id="58" name="57 Rectángulo"/>
            <p:cNvSpPr/>
            <p:nvPr/>
          </p:nvSpPr>
          <p:spPr bwMode="auto">
            <a:xfrm>
              <a:off x="4367376" y="3032956"/>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5</a:t>
              </a:r>
            </a:p>
          </p:txBody>
        </p:sp>
        <p:sp>
          <p:nvSpPr>
            <p:cNvPr id="56" name="55 CuadroTexto"/>
            <p:cNvSpPr txBox="1"/>
            <p:nvPr/>
          </p:nvSpPr>
          <p:spPr>
            <a:xfrm>
              <a:off x="6154954" y="3068960"/>
              <a:ext cx="2547492" cy="523220"/>
            </a:xfrm>
            <a:prstGeom prst="rect">
              <a:avLst/>
            </a:prstGeom>
            <a:noFill/>
          </p:spPr>
          <p:txBody>
            <a:bodyPr wrap="none" rtlCol="0">
              <a:spAutoFit/>
            </a:bodyPr>
            <a:lstStyle/>
            <a:p>
              <a:r>
                <a:rPr lang="es-ES" sz="2800" b="1" dirty="0" err="1">
                  <a:solidFill>
                    <a:schemeClr val="bg2">
                      <a:lumMod val="25000"/>
                    </a:schemeClr>
                  </a:solidFill>
                  <a:latin typeface="Courier New" pitchFamily="49" charset="0"/>
                  <a:cs typeface="Courier New" pitchFamily="49" charset="0"/>
                </a:rPr>
                <a:t>sb</a:t>
              </a:r>
              <a:r>
                <a:rPr lang="es-ES" sz="2800" b="1" dirty="0">
                  <a:solidFill>
                    <a:schemeClr val="bg2">
                      <a:lumMod val="25000"/>
                    </a:schemeClr>
                  </a:solidFill>
                  <a:latin typeface="Courier New" pitchFamily="49" charset="0"/>
                  <a:cs typeface="Courier New" pitchFamily="49" charset="0"/>
                </a:rPr>
                <a:t> s1,5(x0)</a:t>
              </a:r>
            </a:p>
          </p:txBody>
        </p:sp>
        <p:cxnSp>
          <p:nvCxnSpPr>
            <p:cNvPr id="67" name="66 Conector recto de flecha"/>
            <p:cNvCxnSpPr>
              <a:stCxn id="56" idx="1"/>
            </p:cNvCxnSpPr>
            <p:nvPr/>
          </p:nvCxnSpPr>
          <p:spPr bwMode="auto">
            <a:xfrm flipH="1" flipV="1">
              <a:off x="5303480" y="3140968"/>
              <a:ext cx="851474" cy="189602"/>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68" name="67 Rectángulo"/>
          <p:cNvSpPr/>
          <p:nvPr/>
        </p:nvSpPr>
        <p:spPr bwMode="auto">
          <a:xfrm>
            <a:off x="143508" y="1000108"/>
            <a:ext cx="936104" cy="1852828"/>
          </a:xfrm>
          <a:prstGeom prst="rect">
            <a:avLst/>
          </a:prstGeom>
          <a:solidFill>
            <a:schemeClr val="accent2"/>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CPU</a:t>
            </a:r>
          </a:p>
        </p:txBody>
      </p:sp>
      <p:sp>
        <p:nvSpPr>
          <p:cNvPr id="69" name="68 Flecha derecha"/>
          <p:cNvSpPr/>
          <p:nvPr/>
        </p:nvSpPr>
        <p:spPr bwMode="auto">
          <a:xfrm>
            <a:off x="1092837" y="1102006"/>
            <a:ext cx="1974291" cy="144016"/>
          </a:xfrm>
          <a:prstGeom prst="rightArrow">
            <a:avLst/>
          </a:prstGeom>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1" name="70 Conector recto de flecha"/>
          <p:cNvCxnSpPr>
            <a:stCxn id="68" idx="3"/>
          </p:cNvCxnSpPr>
          <p:nvPr/>
        </p:nvCxnSpPr>
        <p:spPr bwMode="auto">
          <a:xfrm>
            <a:off x="1079612" y="1926522"/>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4" name="73 Conector recto de flecha"/>
          <p:cNvCxnSpPr/>
          <p:nvPr/>
        </p:nvCxnSpPr>
        <p:spPr bwMode="auto">
          <a:xfrm>
            <a:off x="1092837" y="2347990"/>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78" name="77 Grupo"/>
          <p:cNvGrpSpPr/>
          <p:nvPr/>
        </p:nvGrpSpPr>
        <p:grpSpPr>
          <a:xfrm>
            <a:off x="1564739" y="1801943"/>
            <a:ext cx="444352" cy="307777"/>
            <a:chOff x="1564739" y="1801943"/>
            <a:chExt cx="444352" cy="307777"/>
          </a:xfrm>
        </p:grpSpPr>
        <p:sp>
          <p:nvSpPr>
            <p:cNvPr id="72" name="71 CuadroTexto"/>
            <p:cNvSpPr txBox="1"/>
            <p:nvPr/>
          </p:nvSpPr>
          <p:spPr>
            <a:xfrm>
              <a:off x="1564739" y="1801943"/>
              <a:ext cx="444352" cy="307777"/>
            </a:xfrm>
            <a:prstGeom prst="rect">
              <a:avLst/>
            </a:prstGeom>
            <a:noFill/>
          </p:spPr>
          <p:txBody>
            <a:bodyPr wrap="none" rtlCol="0">
              <a:spAutoFit/>
            </a:bodyPr>
            <a:lstStyle/>
            <a:p>
              <a:r>
                <a:rPr lang="es-ES" sz="1400" dirty="0">
                  <a:solidFill>
                    <a:schemeClr val="accent1">
                      <a:lumMod val="75000"/>
                    </a:schemeClr>
                  </a:solidFill>
                </a:rPr>
                <a:t>RD</a:t>
              </a:r>
            </a:p>
          </p:txBody>
        </p:sp>
        <p:cxnSp>
          <p:nvCxnSpPr>
            <p:cNvPr id="75" name="74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80" name="79 Grupo"/>
          <p:cNvGrpSpPr/>
          <p:nvPr/>
        </p:nvGrpSpPr>
        <p:grpSpPr>
          <a:xfrm>
            <a:off x="1586443" y="2194991"/>
            <a:ext cx="484428" cy="307777"/>
            <a:chOff x="1544701" y="1801943"/>
            <a:chExt cx="484428" cy="307777"/>
          </a:xfrm>
        </p:grpSpPr>
        <p:sp>
          <p:nvSpPr>
            <p:cNvPr id="81" name="80 CuadroTexto"/>
            <p:cNvSpPr txBox="1"/>
            <p:nvPr/>
          </p:nvSpPr>
          <p:spPr>
            <a:xfrm>
              <a:off x="1544701" y="1801943"/>
              <a:ext cx="484428" cy="307777"/>
            </a:xfrm>
            <a:prstGeom prst="rect">
              <a:avLst/>
            </a:prstGeom>
            <a:noFill/>
          </p:spPr>
          <p:txBody>
            <a:bodyPr wrap="none" rtlCol="0">
              <a:spAutoFit/>
            </a:bodyPr>
            <a:lstStyle/>
            <a:p>
              <a:r>
                <a:rPr lang="es-ES" sz="1400" dirty="0">
                  <a:solidFill>
                    <a:schemeClr val="accent1">
                      <a:lumMod val="75000"/>
                    </a:schemeClr>
                  </a:solidFill>
                </a:rPr>
                <a:t>WR</a:t>
              </a:r>
            </a:p>
          </p:txBody>
        </p:sp>
        <p:cxnSp>
          <p:nvCxnSpPr>
            <p:cNvPr id="82" name="81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83" name="82 Conector recto"/>
          <p:cNvCxnSpPr/>
          <p:nvPr/>
        </p:nvCxnSpPr>
        <p:spPr bwMode="auto">
          <a:xfrm flipH="1">
            <a:off x="2627784" y="1000108"/>
            <a:ext cx="149754" cy="3406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4" name="83 CuadroTexto"/>
          <p:cNvSpPr txBox="1"/>
          <p:nvPr/>
        </p:nvSpPr>
        <p:spPr>
          <a:xfrm>
            <a:off x="2403380" y="846219"/>
            <a:ext cx="314510" cy="307777"/>
          </a:xfrm>
          <a:prstGeom prst="rect">
            <a:avLst/>
          </a:prstGeom>
          <a:noFill/>
        </p:spPr>
        <p:txBody>
          <a:bodyPr wrap="none" rtlCol="0">
            <a:spAutoFit/>
          </a:bodyPr>
          <a:lstStyle/>
          <a:p>
            <a:r>
              <a:rPr lang="es-ES" sz="1400" dirty="0">
                <a:solidFill>
                  <a:schemeClr val="accent1">
                    <a:lumMod val="75000"/>
                  </a:schemeClr>
                </a:solidFill>
              </a:rPr>
              <a:t>N</a:t>
            </a:r>
          </a:p>
        </p:txBody>
      </p:sp>
      <p:sp>
        <p:nvSpPr>
          <p:cNvPr id="4" name="55 CuadroTexto">
            <a:extLst>
              <a:ext uri="{FF2B5EF4-FFF2-40B4-BE49-F238E27FC236}">
                <a16:creationId xmlns:a16="http://schemas.microsoft.com/office/drawing/2014/main" id="{FF55C03C-87C7-5E05-6DF0-058AB71B3EEA}"/>
              </a:ext>
            </a:extLst>
          </p:cNvPr>
          <p:cNvSpPr txBox="1"/>
          <p:nvPr/>
        </p:nvSpPr>
        <p:spPr>
          <a:xfrm>
            <a:off x="6012160" y="1916832"/>
            <a:ext cx="2547492" cy="523220"/>
          </a:xfrm>
          <a:prstGeom prst="rect">
            <a:avLst/>
          </a:prstGeom>
          <a:noFill/>
        </p:spPr>
        <p:txBody>
          <a:bodyPr wrap="none" rtlCol="0">
            <a:spAutoFit/>
          </a:bodyPr>
          <a:lstStyle/>
          <a:p>
            <a:r>
              <a:rPr lang="es-ES" sz="2800" b="1" dirty="0">
                <a:solidFill>
                  <a:schemeClr val="bg2">
                    <a:lumMod val="25000"/>
                  </a:schemeClr>
                </a:solidFill>
                <a:latin typeface="Courier New" pitchFamily="49" charset="0"/>
                <a:cs typeface="Courier New" pitchFamily="49" charset="0"/>
              </a:rPr>
              <a:t>lb s1,0(x0)</a:t>
            </a:r>
          </a:p>
        </p:txBody>
      </p:sp>
    </p:spTree>
    <p:extLst>
      <p:ext uri="{BB962C8B-B14F-4D97-AF65-F5344CB8AC3E}">
        <p14:creationId xmlns:p14="http://schemas.microsoft.com/office/powerpoint/2010/main" val="218375320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pc="-50" dirty="0"/>
              <a:t>Direccionamiento de memoria en CPU de 16 bits</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18</a:t>
            </a:fld>
            <a:endParaRPr lang="en-US" dirty="0"/>
          </a:p>
        </p:txBody>
      </p:sp>
      <p:sp>
        <p:nvSpPr>
          <p:cNvPr id="55" name="54 CuadroTexto"/>
          <p:cNvSpPr txBox="1"/>
          <p:nvPr/>
        </p:nvSpPr>
        <p:spPr>
          <a:xfrm>
            <a:off x="1259632" y="2139135"/>
            <a:ext cx="1255472" cy="400110"/>
          </a:xfrm>
          <a:prstGeom prst="rect">
            <a:avLst/>
          </a:prstGeom>
          <a:noFill/>
        </p:spPr>
        <p:txBody>
          <a:bodyPr wrap="none" rtlCol="0">
            <a:spAutoFit/>
          </a:bodyPr>
          <a:lstStyle/>
          <a:p>
            <a:r>
              <a:rPr lang="es-ES" dirty="0">
                <a:solidFill>
                  <a:schemeClr val="tx1">
                    <a:lumMod val="75000"/>
                    <a:lumOff val="25000"/>
                  </a:schemeClr>
                </a:solidFill>
              </a:rPr>
              <a:t>Dirección</a:t>
            </a:r>
          </a:p>
        </p:txBody>
      </p:sp>
      <p:sp>
        <p:nvSpPr>
          <p:cNvPr id="68" name="67 Rectángulo"/>
          <p:cNvSpPr/>
          <p:nvPr/>
        </p:nvSpPr>
        <p:spPr bwMode="auto">
          <a:xfrm>
            <a:off x="143508" y="1926522"/>
            <a:ext cx="936104" cy="1852828"/>
          </a:xfrm>
          <a:prstGeom prst="rect">
            <a:avLst/>
          </a:prstGeom>
          <a:solidFill>
            <a:schemeClr val="accent2"/>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CPU</a:t>
            </a:r>
          </a:p>
        </p:txBody>
      </p:sp>
      <p:sp>
        <p:nvSpPr>
          <p:cNvPr id="69" name="68 Flecha derecha"/>
          <p:cNvSpPr/>
          <p:nvPr/>
        </p:nvSpPr>
        <p:spPr bwMode="auto">
          <a:xfrm>
            <a:off x="1092837" y="2028420"/>
            <a:ext cx="1974291" cy="144016"/>
          </a:xfrm>
          <a:prstGeom prst="rightArrow">
            <a:avLst/>
          </a:prstGeom>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1" name="70 Conector recto de flecha"/>
          <p:cNvCxnSpPr>
            <a:stCxn id="68" idx="3"/>
          </p:cNvCxnSpPr>
          <p:nvPr/>
        </p:nvCxnSpPr>
        <p:spPr bwMode="auto">
          <a:xfrm>
            <a:off x="1079612" y="2852936"/>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4" name="73 Conector recto de flecha"/>
          <p:cNvCxnSpPr/>
          <p:nvPr/>
        </p:nvCxnSpPr>
        <p:spPr bwMode="auto">
          <a:xfrm>
            <a:off x="1092837" y="3274404"/>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78" name="77 Grupo"/>
          <p:cNvGrpSpPr/>
          <p:nvPr/>
        </p:nvGrpSpPr>
        <p:grpSpPr>
          <a:xfrm>
            <a:off x="1564739" y="2728357"/>
            <a:ext cx="444352" cy="307777"/>
            <a:chOff x="1564739" y="1801943"/>
            <a:chExt cx="444352" cy="307777"/>
          </a:xfrm>
        </p:grpSpPr>
        <p:sp>
          <p:nvSpPr>
            <p:cNvPr id="72" name="71 CuadroTexto"/>
            <p:cNvSpPr txBox="1"/>
            <p:nvPr/>
          </p:nvSpPr>
          <p:spPr>
            <a:xfrm>
              <a:off x="1564739" y="1801943"/>
              <a:ext cx="444352" cy="307777"/>
            </a:xfrm>
            <a:prstGeom prst="rect">
              <a:avLst/>
            </a:prstGeom>
            <a:noFill/>
          </p:spPr>
          <p:txBody>
            <a:bodyPr wrap="none" rtlCol="0">
              <a:spAutoFit/>
            </a:bodyPr>
            <a:lstStyle/>
            <a:p>
              <a:r>
                <a:rPr lang="es-ES" sz="1400" dirty="0">
                  <a:solidFill>
                    <a:schemeClr val="accent1">
                      <a:lumMod val="75000"/>
                    </a:schemeClr>
                  </a:solidFill>
                </a:rPr>
                <a:t>RD</a:t>
              </a:r>
            </a:p>
          </p:txBody>
        </p:sp>
        <p:cxnSp>
          <p:nvCxnSpPr>
            <p:cNvPr id="75" name="74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80" name="79 Grupo"/>
          <p:cNvGrpSpPr/>
          <p:nvPr/>
        </p:nvGrpSpPr>
        <p:grpSpPr>
          <a:xfrm>
            <a:off x="1586443" y="3121405"/>
            <a:ext cx="484428" cy="307777"/>
            <a:chOff x="1544701" y="1801943"/>
            <a:chExt cx="484428" cy="307777"/>
          </a:xfrm>
        </p:grpSpPr>
        <p:sp>
          <p:nvSpPr>
            <p:cNvPr id="81" name="80 CuadroTexto"/>
            <p:cNvSpPr txBox="1"/>
            <p:nvPr/>
          </p:nvSpPr>
          <p:spPr>
            <a:xfrm>
              <a:off x="1544701" y="1801943"/>
              <a:ext cx="484428" cy="307777"/>
            </a:xfrm>
            <a:prstGeom prst="rect">
              <a:avLst/>
            </a:prstGeom>
            <a:noFill/>
          </p:spPr>
          <p:txBody>
            <a:bodyPr wrap="none" rtlCol="0">
              <a:spAutoFit/>
            </a:bodyPr>
            <a:lstStyle/>
            <a:p>
              <a:r>
                <a:rPr lang="es-ES" sz="1400" dirty="0">
                  <a:solidFill>
                    <a:schemeClr val="accent1">
                      <a:lumMod val="75000"/>
                    </a:schemeClr>
                  </a:solidFill>
                </a:rPr>
                <a:t>WR</a:t>
              </a:r>
            </a:p>
          </p:txBody>
        </p:sp>
        <p:cxnSp>
          <p:nvCxnSpPr>
            <p:cNvPr id="82" name="81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70" name="69 Grupo"/>
          <p:cNvGrpSpPr/>
          <p:nvPr/>
        </p:nvGrpSpPr>
        <p:grpSpPr>
          <a:xfrm>
            <a:off x="4383875" y="1752956"/>
            <a:ext cx="4644266" cy="542986"/>
            <a:chOff x="4429124" y="1785926"/>
            <a:chExt cx="4644266" cy="542986"/>
          </a:xfrm>
        </p:grpSpPr>
        <p:grpSp>
          <p:nvGrpSpPr>
            <p:cNvPr id="73" name="111 Grupo"/>
            <p:cNvGrpSpPr/>
            <p:nvPr/>
          </p:nvGrpSpPr>
          <p:grpSpPr>
            <a:xfrm flipH="1">
              <a:off x="6429388" y="1785926"/>
              <a:ext cx="2644002" cy="400110"/>
              <a:chOff x="631854" y="5837202"/>
              <a:chExt cx="2644002" cy="400110"/>
            </a:xfrm>
          </p:grpSpPr>
          <p:sp>
            <p:nvSpPr>
              <p:cNvPr id="79" name="78 CuadroTexto"/>
              <p:cNvSpPr txBox="1"/>
              <p:nvPr/>
            </p:nvSpPr>
            <p:spPr>
              <a:xfrm>
                <a:off x="631854" y="5837202"/>
                <a:ext cx="2209259" cy="400110"/>
              </a:xfrm>
              <a:prstGeom prst="rect">
                <a:avLst/>
              </a:prstGeom>
              <a:noFill/>
            </p:spPr>
            <p:txBody>
              <a:bodyPr wrap="none" rtlCol="0">
                <a:spAutoFit/>
              </a:bodyPr>
              <a:lstStyle/>
              <a:p>
                <a:r>
                  <a:rPr lang="es-ES" dirty="0">
                    <a:solidFill>
                      <a:schemeClr val="tx1">
                        <a:lumMod val="75000"/>
                        <a:lumOff val="25000"/>
                      </a:schemeClr>
                    </a:solidFill>
                  </a:rPr>
                  <a:t>Selección de byte</a:t>
                </a:r>
              </a:p>
            </p:txBody>
          </p:sp>
          <p:cxnSp>
            <p:nvCxnSpPr>
              <p:cNvPr id="83" name="82 Conector recto de flecha"/>
              <p:cNvCxnSpPr/>
              <p:nvPr/>
            </p:nvCxnSpPr>
            <p:spPr bwMode="auto">
              <a:xfrm>
                <a:off x="2915816" y="6093296"/>
                <a:ext cx="360040" cy="0"/>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grpSp>
        <p:sp>
          <p:nvSpPr>
            <p:cNvPr id="77" name="76 Rectángulo redondeado"/>
            <p:cNvSpPr/>
            <p:nvPr/>
          </p:nvSpPr>
          <p:spPr bwMode="auto">
            <a:xfrm>
              <a:off x="4429124" y="1971722"/>
              <a:ext cx="1857388" cy="357190"/>
            </a:xfrm>
            <a:prstGeom prst="roundRect">
              <a:avLst>
                <a:gd name="adj" fmla="val 44500"/>
              </a:avLst>
            </a:prstGeom>
            <a:noFill/>
            <a:ln w="9525">
              <a:solidFill>
                <a:srgbClr val="FF0000"/>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84" name="83 Rectángulo"/>
          <p:cNvSpPr/>
          <p:nvPr/>
        </p:nvSpPr>
        <p:spPr bwMode="auto">
          <a:xfrm>
            <a:off x="4366806" y="1976870"/>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0</a:t>
            </a:r>
            <a:r>
              <a:rPr lang="es-ES" dirty="0">
                <a:solidFill>
                  <a:schemeClr val="tx1"/>
                </a:solidFill>
              </a:rPr>
              <a:t>=0</a:t>
            </a:r>
            <a:endParaRPr lang="es-ES" baseline="-25000" dirty="0">
              <a:solidFill>
                <a:schemeClr val="tx1"/>
              </a:solidFill>
            </a:endParaRPr>
          </a:p>
        </p:txBody>
      </p:sp>
      <p:sp>
        <p:nvSpPr>
          <p:cNvPr id="85" name="84 Rectángulo"/>
          <p:cNvSpPr/>
          <p:nvPr/>
        </p:nvSpPr>
        <p:spPr bwMode="auto">
          <a:xfrm>
            <a:off x="5302910" y="1976870"/>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0</a:t>
            </a:r>
            <a:r>
              <a:rPr lang="es-ES" dirty="0">
                <a:solidFill>
                  <a:schemeClr val="tx1"/>
                </a:solidFill>
              </a:rPr>
              <a:t>=1</a:t>
            </a:r>
            <a:endParaRPr lang="es-ES" baseline="-25000" dirty="0">
              <a:solidFill>
                <a:schemeClr val="tx1"/>
              </a:solidFill>
            </a:endParaRPr>
          </a:p>
        </p:txBody>
      </p:sp>
      <p:sp>
        <p:nvSpPr>
          <p:cNvPr id="86" name="85 Rectángulo"/>
          <p:cNvSpPr/>
          <p:nvPr/>
        </p:nvSpPr>
        <p:spPr bwMode="auto">
          <a:xfrm>
            <a:off x="4366806" y="2364230"/>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a:t>
            </a:r>
          </a:p>
        </p:txBody>
      </p:sp>
      <p:sp>
        <p:nvSpPr>
          <p:cNvPr id="87" name="86 Rectángulo"/>
          <p:cNvSpPr/>
          <p:nvPr/>
        </p:nvSpPr>
        <p:spPr bwMode="auto">
          <a:xfrm>
            <a:off x="4366806" y="2688266"/>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88" name="87 Rectángulo"/>
          <p:cNvSpPr/>
          <p:nvPr/>
        </p:nvSpPr>
        <p:spPr bwMode="auto">
          <a:xfrm>
            <a:off x="4366806" y="301230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89" name="88 Rectángulo"/>
          <p:cNvSpPr/>
          <p:nvPr/>
        </p:nvSpPr>
        <p:spPr bwMode="auto">
          <a:xfrm>
            <a:off x="4366806" y="3336338"/>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6</a:t>
            </a:r>
          </a:p>
        </p:txBody>
      </p:sp>
      <p:sp>
        <p:nvSpPr>
          <p:cNvPr id="90" name="89 Rectángulo"/>
          <p:cNvSpPr/>
          <p:nvPr/>
        </p:nvSpPr>
        <p:spPr bwMode="auto">
          <a:xfrm>
            <a:off x="4366806" y="3660374"/>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8</a:t>
            </a:r>
          </a:p>
        </p:txBody>
      </p:sp>
      <p:sp>
        <p:nvSpPr>
          <p:cNvPr id="91" name="90 Rectángulo"/>
          <p:cNvSpPr/>
          <p:nvPr/>
        </p:nvSpPr>
        <p:spPr bwMode="auto">
          <a:xfrm>
            <a:off x="4366806" y="3984410"/>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p>
        </p:txBody>
      </p:sp>
      <p:sp>
        <p:nvSpPr>
          <p:cNvPr id="92" name="91 Rectángulo"/>
          <p:cNvSpPr/>
          <p:nvPr/>
        </p:nvSpPr>
        <p:spPr bwMode="auto">
          <a:xfrm>
            <a:off x="4366806" y="4308446"/>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12</a:t>
            </a:r>
          </a:p>
        </p:txBody>
      </p:sp>
      <p:sp>
        <p:nvSpPr>
          <p:cNvPr id="93" name="92 Rectángulo"/>
          <p:cNvSpPr/>
          <p:nvPr/>
        </p:nvSpPr>
        <p:spPr bwMode="auto">
          <a:xfrm>
            <a:off x="4366806" y="463248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14</a:t>
            </a:r>
          </a:p>
        </p:txBody>
      </p:sp>
      <p:sp>
        <p:nvSpPr>
          <p:cNvPr id="94" name="93 Rectángulo"/>
          <p:cNvSpPr/>
          <p:nvPr/>
        </p:nvSpPr>
        <p:spPr bwMode="auto">
          <a:xfrm>
            <a:off x="3214678" y="236423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0 0 0</a:t>
            </a:r>
          </a:p>
        </p:txBody>
      </p:sp>
      <p:sp>
        <p:nvSpPr>
          <p:cNvPr id="95" name="94 Rectángulo"/>
          <p:cNvSpPr/>
          <p:nvPr/>
        </p:nvSpPr>
        <p:spPr bwMode="auto">
          <a:xfrm>
            <a:off x="3214678" y="268826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0 0 1</a:t>
            </a:r>
          </a:p>
        </p:txBody>
      </p:sp>
      <p:sp>
        <p:nvSpPr>
          <p:cNvPr id="96" name="95 Rectángulo"/>
          <p:cNvSpPr/>
          <p:nvPr/>
        </p:nvSpPr>
        <p:spPr bwMode="auto">
          <a:xfrm>
            <a:off x="3214678" y="301230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0 1 0</a:t>
            </a:r>
          </a:p>
        </p:txBody>
      </p:sp>
      <p:sp>
        <p:nvSpPr>
          <p:cNvPr id="97" name="96 Rectángulo"/>
          <p:cNvSpPr/>
          <p:nvPr/>
        </p:nvSpPr>
        <p:spPr bwMode="auto">
          <a:xfrm>
            <a:off x="3214678" y="3336338"/>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0 1 1</a:t>
            </a:r>
          </a:p>
        </p:txBody>
      </p:sp>
      <p:sp>
        <p:nvSpPr>
          <p:cNvPr id="98" name="97 Rectángulo"/>
          <p:cNvSpPr/>
          <p:nvPr/>
        </p:nvSpPr>
        <p:spPr bwMode="auto">
          <a:xfrm>
            <a:off x="3214678" y="3660374"/>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1 0 0</a:t>
            </a:r>
          </a:p>
        </p:txBody>
      </p:sp>
      <p:sp>
        <p:nvSpPr>
          <p:cNvPr id="99" name="98 Rectángulo"/>
          <p:cNvSpPr/>
          <p:nvPr/>
        </p:nvSpPr>
        <p:spPr bwMode="auto">
          <a:xfrm>
            <a:off x="3214678" y="398441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1 0 1</a:t>
            </a:r>
          </a:p>
        </p:txBody>
      </p:sp>
      <p:sp>
        <p:nvSpPr>
          <p:cNvPr id="100" name="99 Rectángulo"/>
          <p:cNvSpPr/>
          <p:nvPr/>
        </p:nvSpPr>
        <p:spPr bwMode="auto">
          <a:xfrm>
            <a:off x="3214678" y="430844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1 1 0</a:t>
            </a:r>
          </a:p>
        </p:txBody>
      </p:sp>
      <p:sp>
        <p:nvSpPr>
          <p:cNvPr id="101" name="100 Rectángulo"/>
          <p:cNvSpPr/>
          <p:nvPr/>
        </p:nvSpPr>
        <p:spPr bwMode="auto">
          <a:xfrm>
            <a:off x="3214678" y="463248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1 1 1</a:t>
            </a:r>
          </a:p>
        </p:txBody>
      </p:sp>
      <p:sp>
        <p:nvSpPr>
          <p:cNvPr id="102" name="101 Rectángulo"/>
          <p:cNvSpPr/>
          <p:nvPr/>
        </p:nvSpPr>
        <p:spPr bwMode="auto">
          <a:xfrm>
            <a:off x="3358694" y="2004190"/>
            <a:ext cx="1008112" cy="288032"/>
          </a:xfrm>
          <a:prstGeom prst="rect">
            <a:avLst/>
          </a:prstGeom>
          <a:solidFill>
            <a:schemeClr val="bg1">
              <a:lumMod val="85000"/>
            </a:schemeClr>
          </a:solid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3</a:t>
            </a:r>
            <a:r>
              <a:rPr lang="es-ES" dirty="0">
                <a:solidFill>
                  <a:schemeClr val="tx1"/>
                </a:solidFill>
              </a:rPr>
              <a:t>A</a:t>
            </a:r>
            <a:r>
              <a:rPr lang="es-ES" baseline="-25000" dirty="0">
                <a:solidFill>
                  <a:schemeClr val="tx1"/>
                </a:solidFill>
              </a:rPr>
              <a:t>2</a:t>
            </a:r>
            <a:r>
              <a:rPr lang="es-ES" dirty="0">
                <a:solidFill>
                  <a:schemeClr val="tx1"/>
                </a:solidFill>
              </a:rPr>
              <a:t>A</a:t>
            </a:r>
            <a:r>
              <a:rPr lang="es-ES" baseline="-25000" dirty="0">
                <a:solidFill>
                  <a:schemeClr val="tx1"/>
                </a:solidFill>
              </a:rPr>
              <a:t>1</a:t>
            </a:r>
          </a:p>
        </p:txBody>
      </p:sp>
      <p:sp>
        <p:nvSpPr>
          <p:cNvPr id="103" name="102 Rectángulo"/>
          <p:cNvSpPr/>
          <p:nvPr/>
        </p:nvSpPr>
        <p:spPr bwMode="auto">
          <a:xfrm>
            <a:off x="5374918" y="236423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104" name="103 Rectángulo"/>
          <p:cNvSpPr/>
          <p:nvPr/>
        </p:nvSpPr>
        <p:spPr bwMode="auto">
          <a:xfrm>
            <a:off x="5374918" y="2688266"/>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105" name="104 Rectángulo"/>
          <p:cNvSpPr/>
          <p:nvPr/>
        </p:nvSpPr>
        <p:spPr bwMode="auto">
          <a:xfrm>
            <a:off x="5374918" y="301230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106" name="105 Rectángulo"/>
          <p:cNvSpPr/>
          <p:nvPr/>
        </p:nvSpPr>
        <p:spPr bwMode="auto">
          <a:xfrm>
            <a:off x="5374918" y="3336338"/>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7</a:t>
            </a:r>
          </a:p>
        </p:txBody>
      </p:sp>
      <p:sp>
        <p:nvSpPr>
          <p:cNvPr id="107" name="106 Rectángulo"/>
          <p:cNvSpPr/>
          <p:nvPr/>
        </p:nvSpPr>
        <p:spPr bwMode="auto">
          <a:xfrm>
            <a:off x="5374918" y="3660374"/>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9</a:t>
            </a:r>
          </a:p>
        </p:txBody>
      </p:sp>
      <p:sp>
        <p:nvSpPr>
          <p:cNvPr id="108" name="107 Rectángulo"/>
          <p:cNvSpPr/>
          <p:nvPr/>
        </p:nvSpPr>
        <p:spPr bwMode="auto">
          <a:xfrm>
            <a:off x="5374918" y="398441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p>
        </p:txBody>
      </p:sp>
      <p:sp>
        <p:nvSpPr>
          <p:cNvPr id="109" name="108 Rectángulo"/>
          <p:cNvSpPr/>
          <p:nvPr/>
        </p:nvSpPr>
        <p:spPr bwMode="auto">
          <a:xfrm>
            <a:off x="5374918" y="4308446"/>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13</a:t>
            </a:r>
          </a:p>
        </p:txBody>
      </p:sp>
      <p:sp>
        <p:nvSpPr>
          <p:cNvPr id="110" name="109 Rectángulo"/>
          <p:cNvSpPr/>
          <p:nvPr/>
        </p:nvSpPr>
        <p:spPr bwMode="auto">
          <a:xfrm>
            <a:off x="5374918" y="4641166"/>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15</a:t>
            </a:r>
          </a:p>
        </p:txBody>
      </p:sp>
      <p:sp>
        <p:nvSpPr>
          <p:cNvPr id="123" name="122 CuadroTexto"/>
          <p:cNvSpPr txBox="1"/>
          <p:nvPr/>
        </p:nvSpPr>
        <p:spPr>
          <a:xfrm>
            <a:off x="6811703" y="2620089"/>
            <a:ext cx="2212465" cy="461665"/>
          </a:xfrm>
          <a:prstGeom prst="rect">
            <a:avLst/>
          </a:prstGeom>
          <a:noFill/>
        </p:spPr>
        <p:txBody>
          <a:bodyPr wrap="none" rtlCol="0">
            <a:spAutoFit/>
          </a:bodyPr>
          <a:lstStyle/>
          <a:p>
            <a:r>
              <a:rPr lang="es-ES" sz="2400" b="1" dirty="0">
                <a:solidFill>
                  <a:schemeClr val="bg2">
                    <a:lumMod val="25000"/>
                  </a:schemeClr>
                </a:solidFill>
                <a:latin typeface="Courier New" pitchFamily="49" charset="0"/>
                <a:cs typeface="Courier New" pitchFamily="49" charset="0"/>
              </a:rPr>
              <a:t>lb s1,0(x0)</a:t>
            </a:r>
          </a:p>
        </p:txBody>
      </p:sp>
      <p:grpSp>
        <p:nvGrpSpPr>
          <p:cNvPr id="18" name="17 Grupo"/>
          <p:cNvGrpSpPr/>
          <p:nvPr/>
        </p:nvGrpSpPr>
        <p:grpSpPr>
          <a:xfrm>
            <a:off x="4357686" y="1995119"/>
            <a:ext cx="2454017" cy="855803"/>
            <a:chOff x="4357686" y="1995119"/>
            <a:chExt cx="2454017" cy="855803"/>
          </a:xfrm>
        </p:grpSpPr>
        <p:sp>
          <p:nvSpPr>
            <p:cNvPr id="111" name="110 Rectángulo"/>
            <p:cNvSpPr/>
            <p:nvPr/>
          </p:nvSpPr>
          <p:spPr bwMode="auto">
            <a:xfrm>
              <a:off x="4357686" y="2357430"/>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0</a:t>
              </a:r>
            </a:p>
          </p:txBody>
        </p:sp>
        <p:sp>
          <p:nvSpPr>
            <p:cNvPr id="113" name="112 Rectángulo"/>
            <p:cNvSpPr/>
            <p:nvPr/>
          </p:nvSpPr>
          <p:spPr bwMode="auto">
            <a:xfrm>
              <a:off x="4357686" y="1995119"/>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      </a:t>
              </a:r>
              <a:r>
                <a:rPr lang="es-ES" b="1" dirty="0">
                  <a:solidFill>
                    <a:srgbClr val="FF0000"/>
                  </a:solidFill>
                </a:rPr>
                <a:t>0</a:t>
              </a:r>
              <a:endParaRPr lang="es-ES" b="1" baseline="-25000" dirty="0">
                <a:solidFill>
                  <a:srgbClr val="FF0000"/>
                </a:solidFill>
              </a:endParaRPr>
            </a:p>
          </p:txBody>
        </p:sp>
        <p:cxnSp>
          <p:nvCxnSpPr>
            <p:cNvPr id="7" name="6 Conector recto de flecha"/>
            <p:cNvCxnSpPr>
              <a:stCxn id="123" idx="1"/>
              <a:endCxn id="111" idx="3"/>
            </p:cNvCxnSpPr>
            <p:nvPr/>
          </p:nvCxnSpPr>
          <p:spPr bwMode="auto">
            <a:xfrm flipH="1" flipV="1">
              <a:off x="5293790" y="2501446"/>
              <a:ext cx="1517913" cy="34947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4" name="3 Rectángulo"/>
          <p:cNvSpPr/>
          <p:nvPr/>
        </p:nvSpPr>
        <p:spPr>
          <a:xfrm>
            <a:off x="6809590" y="3480354"/>
            <a:ext cx="2212465" cy="461665"/>
          </a:xfrm>
          <a:prstGeom prst="rect">
            <a:avLst/>
          </a:prstGeom>
        </p:spPr>
        <p:txBody>
          <a:bodyPr wrap="none">
            <a:spAutoFit/>
          </a:bodyPr>
          <a:lstStyle/>
          <a:p>
            <a:r>
              <a:rPr lang="es-ES" sz="2400" b="1" dirty="0">
                <a:solidFill>
                  <a:schemeClr val="bg2">
                    <a:lumMod val="25000"/>
                  </a:schemeClr>
                </a:solidFill>
                <a:latin typeface="Courier New" pitchFamily="49" charset="0"/>
                <a:cs typeface="Courier New" pitchFamily="49" charset="0"/>
              </a:rPr>
              <a:t>lb s1,7(x0)</a:t>
            </a:r>
            <a:endParaRPr lang="es-ES" b="1" dirty="0">
              <a:solidFill>
                <a:schemeClr val="bg2">
                  <a:lumMod val="25000"/>
                </a:schemeClr>
              </a:solidFill>
              <a:latin typeface="Courier New" pitchFamily="49" charset="0"/>
              <a:cs typeface="Courier New" pitchFamily="49" charset="0"/>
            </a:endParaRPr>
          </a:p>
        </p:txBody>
      </p:sp>
      <p:grpSp>
        <p:nvGrpSpPr>
          <p:cNvPr id="33" name="32 Grupo"/>
          <p:cNvGrpSpPr/>
          <p:nvPr/>
        </p:nvGrpSpPr>
        <p:grpSpPr>
          <a:xfrm>
            <a:off x="5374918" y="1988769"/>
            <a:ext cx="1434672" cy="1722418"/>
            <a:chOff x="5374918" y="1988769"/>
            <a:chExt cx="1434672" cy="1722418"/>
          </a:xfrm>
        </p:grpSpPr>
        <p:sp>
          <p:nvSpPr>
            <p:cNvPr id="114" name="113 Rectángulo"/>
            <p:cNvSpPr/>
            <p:nvPr/>
          </p:nvSpPr>
          <p:spPr bwMode="auto">
            <a:xfrm>
              <a:off x="5374918" y="3338588"/>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7</a:t>
              </a:r>
            </a:p>
          </p:txBody>
        </p:sp>
        <p:sp>
          <p:nvSpPr>
            <p:cNvPr id="115" name="114 Rectángulo"/>
            <p:cNvSpPr/>
            <p:nvPr/>
          </p:nvSpPr>
          <p:spPr bwMode="auto">
            <a:xfrm>
              <a:off x="5506108" y="1988769"/>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1</a:t>
              </a:r>
              <a:endParaRPr lang="es-ES" b="1" baseline="-25000" dirty="0">
                <a:solidFill>
                  <a:srgbClr val="FF0000"/>
                </a:solidFill>
              </a:endParaRPr>
            </a:p>
          </p:txBody>
        </p:sp>
        <p:cxnSp>
          <p:nvCxnSpPr>
            <p:cNvPr id="9" name="8 Conector recto de flecha"/>
            <p:cNvCxnSpPr>
              <a:stCxn id="4" idx="1"/>
              <a:endCxn id="114" idx="3"/>
            </p:cNvCxnSpPr>
            <p:nvPr/>
          </p:nvCxnSpPr>
          <p:spPr bwMode="auto">
            <a:xfrm flipH="1" flipV="1">
              <a:off x="6311022" y="3482604"/>
              <a:ext cx="498568" cy="22858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22" name="121 CuadroTexto"/>
          <p:cNvSpPr txBox="1"/>
          <p:nvPr/>
        </p:nvSpPr>
        <p:spPr>
          <a:xfrm>
            <a:off x="5938929" y="5183614"/>
            <a:ext cx="2762296" cy="523220"/>
          </a:xfrm>
          <a:prstGeom prst="rect">
            <a:avLst/>
          </a:prstGeom>
          <a:noFill/>
        </p:spPr>
        <p:txBody>
          <a:bodyPr wrap="none" rtlCol="0">
            <a:spAutoFit/>
          </a:bodyPr>
          <a:lstStyle/>
          <a:p>
            <a:r>
              <a:rPr lang="es-ES" sz="2800" b="1" dirty="0" err="1">
                <a:solidFill>
                  <a:schemeClr val="bg2">
                    <a:lumMod val="25000"/>
                  </a:schemeClr>
                </a:solidFill>
                <a:latin typeface="Courier New" pitchFamily="49" charset="0"/>
                <a:cs typeface="Courier New" pitchFamily="49" charset="0"/>
              </a:rPr>
              <a:t>lh</a:t>
            </a:r>
            <a:r>
              <a:rPr lang="es-ES" sz="2800" b="1" dirty="0">
                <a:solidFill>
                  <a:schemeClr val="bg2">
                    <a:lumMod val="25000"/>
                  </a:schemeClr>
                </a:solidFill>
                <a:latin typeface="Courier New" pitchFamily="49" charset="0"/>
                <a:cs typeface="Courier New" pitchFamily="49" charset="0"/>
              </a:rPr>
              <a:t> s1,10(x0)</a:t>
            </a:r>
          </a:p>
        </p:txBody>
      </p:sp>
      <p:grpSp>
        <p:nvGrpSpPr>
          <p:cNvPr id="61" name="60 Grupo"/>
          <p:cNvGrpSpPr/>
          <p:nvPr/>
        </p:nvGrpSpPr>
        <p:grpSpPr>
          <a:xfrm>
            <a:off x="4373095" y="1979878"/>
            <a:ext cx="2946982" cy="3203736"/>
            <a:chOff x="4373095" y="1979878"/>
            <a:chExt cx="2946982" cy="3203736"/>
          </a:xfrm>
        </p:grpSpPr>
        <p:grpSp>
          <p:nvGrpSpPr>
            <p:cNvPr id="116" name="115 Grupo"/>
            <p:cNvGrpSpPr/>
            <p:nvPr/>
          </p:nvGrpSpPr>
          <p:grpSpPr>
            <a:xfrm>
              <a:off x="4373095" y="3984410"/>
              <a:ext cx="1960418" cy="288032"/>
              <a:chOff x="4510086" y="5927050"/>
              <a:chExt cx="1960418" cy="288032"/>
            </a:xfrm>
          </p:grpSpPr>
          <p:sp>
            <p:nvSpPr>
              <p:cNvPr id="117" name="116 Rectángulo"/>
              <p:cNvSpPr/>
              <p:nvPr/>
            </p:nvSpPr>
            <p:spPr bwMode="auto">
              <a:xfrm>
                <a:off x="4510086" y="5927050"/>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10</a:t>
                </a:r>
              </a:p>
            </p:txBody>
          </p:sp>
          <p:sp>
            <p:nvSpPr>
              <p:cNvPr id="118" name="117 Rectángulo"/>
              <p:cNvSpPr/>
              <p:nvPr/>
            </p:nvSpPr>
            <p:spPr bwMode="auto">
              <a:xfrm>
                <a:off x="5534400" y="5927050"/>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11</a:t>
                </a:r>
              </a:p>
            </p:txBody>
          </p:sp>
        </p:grpSp>
        <p:grpSp>
          <p:nvGrpSpPr>
            <p:cNvPr id="119" name="118 Grupo"/>
            <p:cNvGrpSpPr/>
            <p:nvPr/>
          </p:nvGrpSpPr>
          <p:grpSpPr>
            <a:xfrm>
              <a:off x="4428140" y="1979878"/>
              <a:ext cx="1938537" cy="294048"/>
              <a:chOff x="5732083" y="6239529"/>
              <a:chExt cx="1938537" cy="294048"/>
            </a:xfrm>
          </p:grpSpPr>
          <p:sp>
            <p:nvSpPr>
              <p:cNvPr id="120" name="119 Rectángulo"/>
              <p:cNvSpPr/>
              <p:nvPr/>
            </p:nvSpPr>
            <p:spPr bwMode="auto">
              <a:xfrm>
                <a:off x="5732083" y="6239529"/>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    0</a:t>
                </a:r>
                <a:endParaRPr lang="es-ES" b="1" baseline="-25000" dirty="0">
                  <a:solidFill>
                    <a:srgbClr val="FF0000"/>
                  </a:solidFill>
                </a:endParaRPr>
              </a:p>
            </p:txBody>
          </p:sp>
          <p:sp>
            <p:nvSpPr>
              <p:cNvPr id="121" name="120 Rectángulo"/>
              <p:cNvSpPr/>
              <p:nvPr/>
            </p:nvSpPr>
            <p:spPr bwMode="auto">
              <a:xfrm>
                <a:off x="6662508" y="6245545"/>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    1</a:t>
                </a:r>
                <a:endParaRPr lang="es-ES" b="1" baseline="-25000" dirty="0">
                  <a:solidFill>
                    <a:srgbClr val="FF0000"/>
                  </a:solidFill>
                </a:endParaRPr>
              </a:p>
            </p:txBody>
          </p:sp>
        </p:grpSp>
        <p:cxnSp>
          <p:nvCxnSpPr>
            <p:cNvPr id="11" name="10 Conector recto de flecha"/>
            <p:cNvCxnSpPr>
              <a:stCxn id="122" idx="0"/>
              <a:endCxn id="118" idx="3"/>
            </p:cNvCxnSpPr>
            <p:nvPr/>
          </p:nvCxnSpPr>
          <p:spPr bwMode="auto">
            <a:xfrm flipH="1" flipV="1">
              <a:off x="6333513" y="4128426"/>
              <a:ext cx="986564" cy="10551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25" name="124 Estrella de 16 puntas"/>
          <p:cNvSpPr/>
          <p:nvPr/>
        </p:nvSpPr>
        <p:spPr bwMode="auto">
          <a:xfrm rot="20545128">
            <a:off x="5701687" y="731251"/>
            <a:ext cx="2126139" cy="1146864"/>
          </a:xfrm>
          <a:prstGeom prst="star16">
            <a:avLst>
              <a:gd name="adj" fmla="val 40176"/>
            </a:avLst>
          </a:prstGeom>
          <a:solidFill>
            <a:srgbClr val="C00000"/>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s-ES" sz="1400" b="1" spc="-50" dirty="0">
                <a:solidFill>
                  <a:schemeClr val="bg1"/>
                </a:solidFill>
              </a:rPr>
              <a:t>A</a:t>
            </a:r>
            <a:r>
              <a:rPr lang="es-ES" sz="1400" b="1" spc="-50" baseline="-25000" dirty="0">
                <a:solidFill>
                  <a:schemeClr val="bg1"/>
                </a:solidFill>
              </a:rPr>
              <a:t>0</a:t>
            </a:r>
            <a:r>
              <a:rPr lang="es-ES" sz="1400" b="1" spc="-50" dirty="0">
                <a:solidFill>
                  <a:schemeClr val="bg1"/>
                </a:solidFill>
              </a:rPr>
              <a:t> no puede valer 0 y 1 al mismo tiempo</a:t>
            </a:r>
          </a:p>
        </p:txBody>
      </p:sp>
      <p:cxnSp>
        <p:nvCxnSpPr>
          <p:cNvPr id="126" name="125 Conector recto"/>
          <p:cNvCxnSpPr/>
          <p:nvPr/>
        </p:nvCxnSpPr>
        <p:spPr bwMode="auto">
          <a:xfrm flipH="1">
            <a:off x="2719476" y="1959580"/>
            <a:ext cx="149754" cy="3406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127" name="126 CuadroTexto"/>
          <p:cNvSpPr txBox="1"/>
          <p:nvPr/>
        </p:nvSpPr>
        <p:spPr>
          <a:xfrm>
            <a:off x="2495072" y="1805691"/>
            <a:ext cx="314510" cy="307777"/>
          </a:xfrm>
          <a:prstGeom prst="rect">
            <a:avLst/>
          </a:prstGeom>
          <a:noFill/>
        </p:spPr>
        <p:txBody>
          <a:bodyPr wrap="none" rtlCol="0">
            <a:spAutoFit/>
          </a:bodyPr>
          <a:lstStyle/>
          <a:p>
            <a:r>
              <a:rPr lang="es-ES" sz="1400" dirty="0">
                <a:solidFill>
                  <a:schemeClr val="accent1">
                    <a:lumMod val="75000"/>
                  </a:schemeClr>
                </a:solidFill>
              </a:rPr>
              <a:t>N</a:t>
            </a:r>
          </a:p>
        </p:txBody>
      </p:sp>
    </p:spTree>
    <p:extLst>
      <p:ext uri="{BB962C8B-B14F-4D97-AF65-F5344CB8AC3E}">
        <p14:creationId xmlns:p14="http://schemas.microsoft.com/office/powerpoint/2010/main" val="16896759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500"/>
                                        <p:tgtEl>
                                          <p:spTgt spid="123"/>
                                        </p:tgtEl>
                                      </p:cBhvr>
                                    </p:animEffect>
                                  </p:childTnLst>
                                </p:cTn>
                              </p:par>
                              <p:par>
                                <p:cTn id="8" presetID="1"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18"/>
                                        </p:tgtEl>
                                        <p:attrNameLst>
                                          <p:attrName>style.visibility</p:attrName>
                                        </p:attrNameLst>
                                      </p:cBhvr>
                                      <p:to>
                                        <p:strVal val="hidden"/>
                                      </p:to>
                                    </p:set>
                                  </p:childTnLst>
                                </p:cTn>
                              </p:par>
                              <p:par>
                                <p:cTn id="14" presetID="2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par>
                                <p:cTn id="17" presetID="22" presetClass="entr" presetSubtype="4"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down)">
                                      <p:cBhvr>
                                        <p:cTn id="19" dur="500"/>
                                        <p:tgtEl>
                                          <p:spTgt spid="33"/>
                                        </p:tgtEl>
                                      </p:cBhvr>
                                    </p:animEffect>
                                  </p:childTnLst>
                                </p:cTn>
                              </p:par>
                            </p:childTnLst>
                          </p:cTn>
                        </p:par>
                        <p:par>
                          <p:cTn id="20" fill="hold">
                            <p:stCondLst>
                              <p:cond delay="500"/>
                            </p:stCondLst>
                            <p:childTnLst>
                              <p:par>
                                <p:cTn id="21" presetID="1" presetClass="exit" presetSubtype="0" fill="hold" nodeType="afterEffect">
                                  <p:stCondLst>
                                    <p:cond delay="0"/>
                                  </p:stCondLst>
                                  <p:childTnLst>
                                    <p:set>
                                      <p:cBhvr>
                                        <p:cTn id="22" dur="1" fill="hold">
                                          <p:stCondLst>
                                            <p:cond delay="0"/>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2"/>
                                        </p:tgtEl>
                                        <p:attrNameLst>
                                          <p:attrName>style.visibility</p:attrName>
                                        </p:attrNameLst>
                                      </p:cBhvr>
                                      <p:to>
                                        <p:strVal val="visible"/>
                                      </p:to>
                                    </p:set>
                                    <p:animEffect transition="in" filter="wipe(down)">
                                      <p:cBhvr>
                                        <p:cTn id="27" dur="500"/>
                                        <p:tgtEl>
                                          <p:spTgt spid="122"/>
                                        </p:tgtEl>
                                      </p:cBhvr>
                                    </p:animEffect>
                                  </p:childTnLst>
                                </p:cTn>
                              </p:par>
                              <p:par>
                                <p:cTn id="28" presetID="1" presetClass="exit" presetSubtype="0" fill="hold" nodeType="withEffect">
                                  <p:stCondLst>
                                    <p:cond delay="0"/>
                                  </p:stCondLst>
                                  <p:childTnLst>
                                    <p:set>
                                      <p:cBhvr>
                                        <p:cTn id="29" dur="1" fill="hold">
                                          <p:stCondLst>
                                            <p:cond delay="0"/>
                                          </p:stCondLst>
                                        </p:cTn>
                                        <p:tgtEl>
                                          <p:spTgt spid="33"/>
                                        </p:tgtEl>
                                        <p:attrNameLst>
                                          <p:attrName>style.visibility</p:attrName>
                                        </p:attrNameLst>
                                      </p:cBhvr>
                                      <p:to>
                                        <p:strVal val="hidden"/>
                                      </p:to>
                                    </p:set>
                                  </p:childTnLst>
                                </p:cTn>
                              </p:par>
                              <p:par>
                                <p:cTn id="30" presetID="22" presetClass="entr" presetSubtype="4" fill="hold" nodeType="with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wipe(down)">
                                      <p:cBhvr>
                                        <p:cTn id="32" dur="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125"/>
                                        </p:tgtEl>
                                        <p:attrNameLst>
                                          <p:attrName>style.visibility</p:attrName>
                                        </p:attrNameLst>
                                      </p:cBhvr>
                                      <p:to>
                                        <p:strVal val="visible"/>
                                      </p:to>
                                    </p:set>
                                    <p:animEffect transition="in" filter="fade">
                                      <p:cBhvr>
                                        <p:cTn id="37" dur="20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4" grpId="0"/>
      <p:bldP spid="122" grpId="0"/>
      <p:bldP spid="12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pc="-50" dirty="0"/>
              <a:t>Direccionamiento de memoria en CPU de 16 bits</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19</a:t>
            </a:fld>
            <a:endParaRPr lang="en-US" dirty="0"/>
          </a:p>
        </p:txBody>
      </p:sp>
      <p:sp>
        <p:nvSpPr>
          <p:cNvPr id="55" name="54 CuadroTexto"/>
          <p:cNvSpPr txBox="1"/>
          <p:nvPr/>
        </p:nvSpPr>
        <p:spPr>
          <a:xfrm>
            <a:off x="1259632" y="2139135"/>
            <a:ext cx="1255472" cy="400110"/>
          </a:xfrm>
          <a:prstGeom prst="rect">
            <a:avLst/>
          </a:prstGeom>
          <a:noFill/>
        </p:spPr>
        <p:txBody>
          <a:bodyPr wrap="none" rtlCol="0">
            <a:spAutoFit/>
          </a:bodyPr>
          <a:lstStyle/>
          <a:p>
            <a:r>
              <a:rPr lang="es-ES" dirty="0">
                <a:solidFill>
                  <a:schemeClr val="tx1">
                    <a:lumMod val="75000"/>
                    <a:lumOff val="25000"/>
                  </a:schemeClr>
                </a:solidFill>
              </a:rPr>
              <a:t>Dirección</a:t>
            </a:r>
          </a:p>
        </p:txBody>
      </p:sp>
      <p:sp>
        <p:nvSpPr>
          <p:cNvPr id="68" name="67 Rectángulo"/>
          <p:cNvSpPr/>
          <p:nvPr/>
        </p:nvSpPr>
        <p:spPr bwMode="auto">
          <a:xfrm>
            <a:off x="143508" y="1926522"/>
            <a:ext cx="936104" cy="2381924"/>
          </a:xfrm>
          <a:prstGeom prst="rect">
            <a:avLst/>
          </a:prstGeom>
          <a:solidFill>
            <a:schemeClr val="accent2"/>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CPU</a:t>
            </a:r>
          </a:p>
        </p:txBody>
      </p:sp>
      <p:sp>
        <p:nvSpPr>
          <p:cNvPr id="69" name="68 Flecha derecha"/>
          <p:cNvSpPr/>
          <p:nvPr/>
        </p:nvSpPr>
        <p:spPr bwMode="auto">
          <a:xfrm>
            <a:off x="1092837" y="2028420"/>
            <a:ext cx="1974291" cy="144016"/>
          </a:xfrm>
          <a:prstGeom prst="rightArrow">
            <a:avLst/>
          </a:prstGeom>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1" name="70 Conector recto de flecha"/>
          <p:cNvCxnSpPr/>
          <p:nvPr/>
        </p:nvCxnSpPr>
        <p:spPr bwMode="auto">
          <a:xfrm>
            <a:off x="1079612" y="2852936"/>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4" name="73 Conector recto de flecha"/>
          <p:cNvCxnSpPr/>
          <p:nvPr/>
        </p:nvCxnSpPr>
        <p:spPr bwMode="auto">
          <a:xfrm>
            <a:off x="1092837" y="3274404"/>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78" name="77 Grupo"/>
          <p:cNvGrpSpPr/>
          <p:nvPr/>
        </p:nvGrpSpPr>
        <p:grpSpPr>
          <a:xfrm>
            <a:off x="1564739" y="2728357"/>
            <a:ext cx="444352" cy="307777"/>
            <a:chOff x="1564739" y="1801943"/>
            <a:chExt cx="444352" cy="307777"/>
          </a:xfrm>
        </p:grpSpPr>
        <p:sp>
          <p:nvSpPr>
            <p:cNvPr id="72" name="71 CuadroTexto"/>
            <p:cNvSpPr txBox="1"/>
            <p:nvPr/>
          </p:nvSpPr>
          <p:spPr>
            <a:xfrm>
              <a:off x="1564739" y="1801943"/>
              <a:ext cx="444352" cy="307777"/>
            </a:xfrm>
            <a:prstGeom prst="rect">
              <a:avLst/>
            </a:prstGeom>
            <a:noFill/>
          </p:spPr>
          <p:txBody>
            <a:bodyPr wrap="none" rtlCol="0">
              <a:spAutoFit/>
            </a:bodyPr>
            <a:lstStyle/>
            <a:p>
              <a:r>
                <a:rPr lang="es-ES" sz="1400" dirty="0">
                  <a:solidFill>
                    <a:schemeClr val="accent1">
                      <a:lumMod val="75000"/>
                    </a:schemeClr>
                  </a:solidFill>
                </a:rPr>
                <a:t>RD</a:t>
              </a:r>
            </a:p>
          </p:txBody>
        </p:sp>
        <p:cxnSp>
          <p:nvCxnSpPr>
            <p:cNvPr id="75" name="74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80" name="79 Grupo"/>
          <p:cNvGrpSpPr/>
          <p:nvPr/>
        </p:nvGrpSpPr>
        <p:grpSpPr>
          <a:xfrm>
            <a:off x="1586443" y="3121405"/>
            <a:ext cx="484428" cy="307777"/>
            <a:chOff x="1544701" y="1801943"/>
            <a:chExt cx="484428" cy="307777"/>
          </a:xfrm>
        </p:grpSpPr>
        <p:sp>
          <p:nvSpPr>
            <p:cNvPr id="81" name="80 CuadroTexto"/>
            <p:cNvSpPr txBox="1"/>
            <p:nvPr/>
          </p:nvSpPr>
          <p:spPr>
            <a:xfrm>
              <a:off x="1544701" y="1801943"/>
              <a:ext cx="484428" cy="307777"/>
            </a:xfrm>
            <a:prstGeom prst="rect">
              <a:avLst/>
            </a:prstGeom>
            <a:noFill/>
          </p:spPr>
          <p:txBody>
            <a:bodyPr wrap="none" rtlCol="0">
              <a:spAutoFit/>
            </a:bodyPr>
            <a:lstStyle/>
            <a:p>
              <a:r>
                <a:rPr lang="es-ES" sz="1400" dirty="0">
                  <a:solidFill>
                    <a:schemeClr val="accent1">
                      <a:lumMod val="75000"/>
                    </a:schemeClr>
                  </a:solidFill>
                </a:rPr>
                <a:t>WR</a:t>
              </a:r>
            </a:p>
          </p:txBody>
        </p:sp>
        <p:cxnSp>
          <p:nvCxnSpPr>
            <p:cNvPr id="82" name="81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sp>
        <p:nvSpPr>
          <p:cNvPr id="86" name="85 Rectángulo"/>
          <p:cNvSpPr/>
          <p:nvPr/>
        </p:nvSpPr>
        <p:spPr bwMode="auto">
          <a:xfrm>
            <a:off x="4366806" y="2364230"/>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a:t>
            </a:r>
          </a:p>
        </p:txBody>
      </p:sp>
      <p:sp>
        <p:nvSpPr>
          <p:cNvPr id="87" name="86 Rectángulo"/>
          <p:cNvSpPr/>
          <p:nvPr/>
        </p:nvSpPr>
        <p:spPr bwMode="auto">
          <a:xfrm>
            <a:off x="4366806" y="2688266"/>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88" name="87 Rectángulo"/>
          <p:cNvSpPr/>
          <p:nvPr/>
        </p:nvSpPr>
        <p:spPr bwMode="auto">
          <a:xfrm>
            <a:off x="4366806" y="301230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89" name="88 Rectángulo"/>
          <p:cNvSpPr/>
          <p:nvPr/>
        </p:nvSpPr>
        <p:spPr bwMode="auto">
          <a:xfrm>
            <a:off x="4366806" y="3336338"/>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6</a:t>
            </a:r>
          </a:p>
        </p:txBody>
      </p:sp>
      <p:sp>
        <p:nvSpPr>
          <p:cNvPr id="90" name="89 Rectángulo"/>
          <p:cNvSpPr/>
          <p:nvPr/>
        </p:nvSpPr>
        <p:spPr bwMode="auto">
          <a:xfrm>
            <a:off x="4366806" y="3660374"/>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8</a:t>
            </a:r>
          </a:p>
        </p:txBody>
      </p:sp>
      <p:sp>
        <p:nvSpPr>
          <p:cNvPr id="91" name="90 Rectángulo"/>
          <p:cNvSpPr/>
          <p:nvPr/>
        </p:nvSpPr>
        <p:spPr bwMode="auto">
          <a:xfrm>
            <a:off x="4366806" y="3984410"/>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p>
        </p:txBody>
      </p:sp>
      <p:sp>
        <p:nvSpPr>
          <p:cNvPr id="92" name="91 Rectángulo"/>
          <p:cNvSpPr/>
          <p:nvPr/>
        </p:nvSpPr>
        <p:spPr bwMode="auto">
          <a:xfrm>
            <a:off x="4366806" y="4308446"/>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12</a:t>
            </a:r>
          </a:p>
        </p:txBody>
      </p:sp>
      <p:sp>
        <p:nvSpPr>
          <p:cNvPr id="93" name="92 Rectángulo"/>
          <p:cNvSpPr/>
          <p:nvPr/>
        </p:nvSpPr>
        <p:spPr bwMode="auto">
          <a:xfrm>
            <a:off x="4366806" y="463248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14</a:t>
            </a:r>
          </a:p>
        </p:txBody>
      </p:sp>
      <p:sp>
        <p:nvSpPr>
          <p:cNvPr id="94" name="93 Rectángulo"/>
          <p:cNvSpPr/>
          <p:nvPr/>
        </p:nvSpPr>
        <p:spPr bwMode="auto">
          <a:xfrm>
            <a:off x="3214678" y="236423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0 0 0</a:t>
            </a:r>
          </a:p>
        </p:txBody>
      </p:sp>
      <p:sp>
        <p:nvSpPr>
          <p:cNvPr id="95" name="94 Rectángulo"/>
          <p:cNvSpPr/>
          <p:nvPr/>
        </p:nvSpPr>
        <p:spPr bwMode="auto">
          <a:xfrm>
            <a:off x="3214678" y="268826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0 0 1</a:t>
            </a:r>
          </a:p>
        </p:txBody>
      </p:sp>
      <p:sp>
        <p:nvSpPr>
          <p:cNvPr id="96" name="95 Rectángulo"/>
          <p:cNvSpPr/>
          <p:nvPr/>
        </p:nvSpPr>
        <p:spPr bwMode="auto">
          <a:xfrm>
            <a:off x="3214678" y="301230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0 1 0</a:t>
            </a:r>
          </a:p>
        </p:txBody>
      </p:sp>
      <p:sp>
        <p:nvSpPr>
          <p:cNvPr id="97" name="96 Rectángulo"/>
          <p:cNvSpPr/>
          <p:nvPr/>
        </p:nvSpPr>
        <p:spPr bwMode="auto">
          <a:xfrm>
            <a:off x="3214678" y="3336338"/>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0 1 1</a:t>
            </a:r>
          </a:p>
        </p:txBody>
      </p:sp>
      <p:sp>
        <p:nvSpPr>
          <p:cNvPr id="98" name="97 Rectángulo"/>
          <p:cNvSpPr/>
          <p:nvPr/>
        </p:nvSpPr>
        <p:spPr bwMode="auto">
          <a:xfrm>
            <a:off x="3214678" y="3660374"/>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1 0 0</a:t>
            </a:r>
          </a:p>
        </p:txBody>
      </p:sp>
      <p:sp>
        <p:nvSpPr>
          <p:cNvPr id="99" name="98 Rectángulo"/>
          <p:cNvSpPr/>
          <p:nvPr/>
        </p:nvSpPr>
        <p:spPr bwMode="auto">
          <a:xfrm>
            <a:off x="3214678" y="3984410"/>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1 0 1</a:t>
            </a:r>
          </a:p>
        </p:txBody>
      </p:sp>
      <p:sp>
        <p:nvSpPr>
          <p:cNvPr id="100" name="99 Rectángulo"/>
          <p:cNvSpPr/>
          <p:nvPr/>
        </p:nvSpPr>
        <p:spPr bwMode="auto">
          <a:xfrm>
            <a:off x="3214678" y="4308446"/>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1 1 0</a:t>
            </a:r>
          </a:p>
        </p:txBody>
      </p:sp>
      <p:sp>
        <p:nvSpPr>
          <p:cNvPr id="101" name="100 Rectángulo"/>
          <p:cNvSpPr/>
          <p:nvPr/>
        </p:nvSpPr>
        <p:spPr bwMode="auto">
          <a:xfrm>
            <a:off x="3214678" y="463248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1 1 1</a:t>
            </a:r>
          </a:p>
        </p:txBody>
      </p:sp>
      <p:sp>
        <p:nvSpPr>
          <p:cNvPr id="102" name="101 Rectángulo"/>
          <p:cNvSpPr/>
          <p:nvPr/>
        </p:nvSpPr>
        <p:spPr bwMode="auto">
          <a:xfrm>
            <a:off x="3358694" y="2004190"/>
            <a:ext cx="1008112" cy="288032"/>
          </a:xfrm>
          <a:prstGeom prst="rect">
            <a:avLst/>
          </a:prstGeom>
          <a:solidFill>
            <a:schemeClr val="bg1">
              <a:lumMod val="85000"/>
            </a:schemeClr>
          </a:solid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3</a:t>
            </a:r>
            <a:r>
              <a:rPr lang="es-ES" dirty="0">
                <a:solidFill>
                  <a:schemeClr val="tx1"/>
                </a:solidFill>
              </a:rPr>
              <a:t>A</a:t>
            </a:r>
            <a:r>
              <a:rPr lang="es-ES" baseline="-25000" dirty="0">
                <a:solidFill>
                  <a:schemeClr val="tx1"/>
                </a:solidFill>
              </a:rPr>
              <a:t>2</a:t>
            </a:r>
            <a:r>
              <a:rPr lang="es-ES" dirty="0">
                <a:solidFill>
                  <a:schemeClr val="tx1"/>
                </a:solidFill>
              </a:rPr>
              <a:t>A</a:t>
            </a:r>
            <a:r>
              <a:rPr lang="es-ES" baseline="-25000" dirty="0">
                <a:solidFill>
                  <a:schemeClr val="tx1"/>
                </a:solidFill>
              </a:rPr>
              <a:t>1</a:t>
            </a:r>
          </a:p>
        </p:txBody>
      </p:sp>
      <p:sp>
        <p:nvSpPr>
          <p:cNvPr id="103" name="102 Rectángulo"/>
          <p:cNvSpPr/>
          <p:nvPr/>
        </p:nvSpPr>
        <p:spPr bwMode="auto">
          <a:xfrm>
            <a:off x="5374918" y="236423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104" name="103 Rectángulo"/>
          <p:cNvSpPr/>
          <p:nvPr/>
        </p:nvSpPr>
        <p:spPr bwMode="auto">
          <a:xfrm>
            <a:off x="5374918" y="2688266"/>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105" name="104 Rectángulo"/>
          <p:cNvSpPr/>
          <p:nvPr/>
        </p:nvSpPr>
        <p:spPr bwMode="auto">
          <a:xfrm>
            <a:off x="5374918" y="301230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106" name="105 Rectángulo"/>
          <p:cNvSpPr/>
          <p:nvPr/>
        </p:nvSpPr>
        <p:spPr bwMode="auto">
          <a:xfrm>
            <a:off x="5374918" y="3336338"/>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7</a:t>
            </a:r>
          </a:p>
        </p:txBody>
      </p:sp>
      <p:sp>
        <p:nvSpPr>
          <p:cNvPr id="107" name="106 Rectángulo"/>
          <p:cNvSpPr/>
          <p:nvPr/>
        </p:nvSpPr>
        <p:spPr bwMode="auto">
          <a:xfrm>
            <a:off x="5374918" y="3660374"/>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9</a:t>
            </a:r>
          </a:p>
        </p:txBody>
      </p:sp>
      <p:sp>
        <p:nvSpPr>
          <p:cNvPr id="108" name="107 Rectángulo"/>
          <p:cNvSpPr/>
          <p:nvPr/>
        </p:nvSpPr>
        <p:spPr bwMode="auto">
          <a:xfrm>
            <a:off x="5374918" y="398441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p>
        </p:txBody>
      </p:sp>
      <p:sp>
        <p:nvSpPr>
          <p:cNvPr id="109" name="108 Rectángulo"/>
          <p:cNvSpPr/>
          <p:nvPr/>
        </p:nvSpPr>
        <p:spPr bwMode="auto">
          <a:xfrm>
            <a:off x="5374918" y="4308446"/>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13</a:t>
            </a:r>
          </a:p>
        </p:txBody>
      </p:sp>
      <p:sp>
        <p:nvSpPr>
          <p:cNvPr id="110" name="109 Rectángulo"/>
          <p:cNvSpPr/>
          <p:nvPr/>
        </p:nvSpPr>
        <p:spPr bwMode="auto">
          <a:xfrm>
            <a:off x="5374918" y="4641166"/>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15</a:t>
            </a:r>
          </a:p>
        </p:txBody>
      </p:sp>
      <p:sp>
        <p:nvSpPr>
          <p:cNvPr id="123" name="122 CuadroTexto"/>
          <p:cNvSpPr txBox="1"/>
          <p:nvPr/>
        </p:nvSpPr>
        <p:spPr>
          <a:xfrm>
            <a:off x="6811703" y="2620089"/>
            <a:ext cx="2212465" cy="461665"/>
          </a:xfrm>
          <a:prstGeom prst="rect">
            <a:avLst/>
          </a:prstGeom>
          <a:noFill/>
        </p:spPr>
        <p:txBody>
          <a:bodyPr wrap="none" rtlCol="0">
            <a:spAutoFit/>
          </a:bodyPr>
          <a:lstStyle/>
          <a:p>
            <a:r>
              <a:rPr lang="es-ES" sz="2400" b="1" dirty="0">
                <a:solidFill>
                  <a:schemeClr val="bg2">
                    <a:lumMod val="25000"/>
                  </a:schemeClr>
                </a:solidFill>
                <a:latin typeface="Courier New" pitchFamily="49" charset="0"/>
                <a:cs typeface="Courier New" pitchFamily="49" charset="0"/>
              </a:rPr>
              <a:t>lb s1,0(x0)</a:t>
            </a:r>
          </a:p>
        </p:txBody>
      </p:sp>
      <p:sp>
        <p:nvSpPr>
          <p:cNvPr id="122" name="121 CuadroTexto"/>
          <p:cNvSpPr txBox="1"/>
          <p:nvPr/>
        </p:nvSpPr>
        <p:spPr>
          <a:xfrm>
            <a:off x="5709703" y="5418330"/>
            <a:ext cx="2762295" cy="523220"/>
          </a:xfrm>
          <a:prstGeom prst="rect">
            <a:avLst/>
          </a:prstGeom>
          <a:noFill/>
        </p:spPr>
        <p:txBody>
          <a:bodyPr wrap="none" rtlCol="0">
            <a:spAutoFit/>
          </a:bodyPr>
          <a:lstStyle/>
          <a:p>
            <a:r>
              <a:rPr lang="es-ES" sz="2800" b="1" dirty="0" err="1">
                <a:solidFill>
                  <a:schemeClr val="bg2">
                    <a:lumMod val="25000"/>
                  </a:schemeClr>
                </a:solidFill>
                <a:latin typeface="Courier New" pitchFamily="49" charset="0"/>
                <a:cs typeface="Courier New" pitchFamily="49" charset="0"/>
              </a:rPr>
              <a:t>lh</a:t>
            </a:r>
            <a:r>
              <a:rPr lang="es-ES" sz="2800" b="1" dirty="0">
                <a:solidFill>
                  <a:schemeClr val="bg2">
                    <a:lumMod val="25000"/>
                  </a:schemeClr>
                </a:solidFill>
                <a:latin typeface="Courier New" pitchFamily="49" charset="0"/>
                <a:cs typeface="Courier New" pitchFamily="49" charset="0"/>
              </a:rPr>
              <a:t> s1,10(x0)</a:t>
            </a:r>
          </a:p>
        </p:txBody>
      </p:sp>
      <p:grpSp>
        <p:nvGrpSpPr>
          <p:cNvPr id="61" name="60 Grupo"/>
          <p:cNvGrpSpPr/>
          <p:nvPr/>
        </p:nvGrpSpPr>
        <p:grpSpPr>
          <a:xfrm>
            <a:off x="4363293" y="2074560"/>
            <a:ext cx="2727558" cy="3343770"/>
            <a:chOff x="4373095" y="2070781"/>
            <a:chExt cx="2727558" cy="3343770"/>
          </a:xfrm>
        </p:grpSpPr>
        <p:grpSp>
          <p:nvGrpSpPr>
            <p:cNvPr id="116" name="115 Grupo"/>
            <p:cNvGrpSpPr/>
            <p:nvPr/>
          </p:nvGrpSpPr>
          <p:grpSpPr>
            <a:xfrm>
              <a:off x="4373095" y="3984410"/>
              <a:ext cx="1960418" cy="288032"/>
              <a:chOff x="4510086" y="5927050"/>
              <a:chExt cx="1960418" cy="288032"/>
            </a:xfrm>
          </p:grpSpPr>
          <p:sp>
            <p:nvSpPr>
              <p:cNvPr id="117" name="116 Rectángulo"/>
              <p:cNvSpPr/>
              <p:nvPr/>
            </p:nvSpPr>
            <p:spPr bwMode="auto">
              <a:xfrm>
                <a:off x="4510086" y="5927050"/>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10</a:t>
                </a:r>
              </a:p>
            </p:txBody>
          </p:sp>
          <p:sp>
            <p:nvSpPr>
              <p:cNvPr id="118" name="117 Rectángulo"/>
              <p:cNvSpPr/>
              <p:nvPr/>
            </p:nvSpPr>
            <p:spPr bwMode="auto">
              <a:xfrm>
                <a:off x="5534400" y="5927050"/>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11</a:t>
                </a:r>
              </a:p>
            </p:txBody>
          </p:sp>
        </p:grpSp>
        <p:grpSp>
          <p:nvGrpSpPr>
            <p:cNvPr id="119" name="118 Grupo"/>
            <p:cNvGrpSpPr/>
            <p:nvPr/>
          </p:nvGrpSpPr>
          <p:grpSpPr>
            <a:xfrm>
              <a:off x="4500118" y="2070781"/>
              <a:ext cx="2020262" cy="294680"/>
              <a:chOff x="5804061" y="6330432"/>
              <a:chExt cx="2020262" cy="294680"/>
            </a:xfrm>
          </p:grpSpPr>
          <p:sp>
            <p:nvSpPr>
              <p:cNvPr id="120" name="119 Rectángulo"/>
              <p:cNvSpPr/>
              <p:nvPr/>
            </p:nvSpPr>
            <p:spPr bwMode="auto">
              <a:xfrm>
                <a:off x="5804061" y="6330432"/>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accent1"/>
                    </a:solidFill>
                  </a:rPr>
                  <a:t>    0</a:t>
                </a:r>
                <a:endParaRPr lang="es-ES" b="1" baseline="-25000" dirty="0">
                  <a:solidFill>
                    <a:schemeClr val="accent1"/>
                  </a:solidFill>
                </a:endParaRPr>
              </a:p>
            </p:txBody>
          </p:sp>
          <p:sp>
            <p:nvSpPr>
              <p:cNvPr id="121" name="120 Rectángulo"/>
              <p:cNvSpPr/>
              <p:nvPr/>
            </p:nvSpPr>
            <p:spPr bwMode="auto">
              <a:xfrm>
                <a:off x="6816211" y="6337080"/>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    </a:t>
                </a:r>
                <a:r>
                  <a:rPr lang="es-ES" b="1" dirty="0">
                    <a:solidFill>
                      <a:schemeClr val="accent1"/>
                    </a:solidFill>
                  </a:rPr>
                  <a:t>0</a:t>
                </a:r>
                <a:endParaRPr lang="es-ES" b="1" baseline="-25000" dirty="0">
                  <a:solidFill>
                    <a:schemeClr val="accent1"/>
                  </a:solidFill>
                </a:endParaRPr>
              </a:p>
            </p:txBody>
          </p:sp>
        </p:grpSp>
        <p:cxnSp>
          <p:nvCxnSpPr>
            <p:cNvPr id="11" name="10 Conector recto de flecha"/>
            <p:cNvCxnSpPr>
              <a:stCxn id="122" idx="0"/>
              <a:endCxn id="118" idx="3"/>
            </p:cNvCxnSpPr>
            <p:nvPr/>
          </p:nvCxnSpPr>
          <p:spPr bwMode="auto">
            <a:xfrm flipH="1" flipV="1">
              <a:off x="6333513" y="4128426"/>
              <a:ext cx="767140" cy="128612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cxnSp>
        <p:nvCxnSpPr>
          <p:cNvPr id="67" name="66 Conector recto"/>
          <p:cNvCxnSpPr/>
          <p:nvPr/>
        </p:nvCxnSpPr>
        <p:spPr bwMode="auto">
          <a:xfrm flipH="1">
            <a:off x="2627784" y="1936141"/>
            <a:ext cx="149754" cy="3406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76" name="75 CuadroTexto"/>
          <p:cNvSpPr txBox="1"/>
          <p:nvPr/>
        </p:nvSpPr>
        <p:spPr>
          <a:xfrm>
            <a:off x="2324032" y="1782252"/>
            <a:ext cx="473206" cy="307777"/>
          </a:xfrm>
          <a:prstGeom prst="rect">
            <a:avLst/>
          </a:prstGeom>
          <a:noFill/>
        </p:spPr>
        <p:txBody>
          <a:bodyPr wrap="none" rtlCol="0">
            <a:spAutoFit/>
          </a:bodyPr>
          <a:lstStyle/>
          <a:p>
            <a:r>
              <a:rPr lang="es-ES" sz="1400" dirty="0">
                <a:solidFill>
                  <a:schemeClr val="accent1">
                    <a:lumMod val="75000"/>
                  </a:schemeClr>
                </a:solidFill>
              </a:rPr>
              <a:t>N-1</a:t>
            </a:r>
          </a:p>
        </p:txBody>
      </p:sp>
      <p:cxnSp>
        <p:nvCxnSpPr>
          <p:cNvPr id="112" name="111 Conector recto de flecha"/>
          <p:cNvCxnSpPr/>
          <p:nvPr/>
        </p:nvCxnSpPr>
        <p:spPr bwMode="auto">
          <a:xfrm>
            <a:off x="1054058" y="3673550"/>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24" name="123 Conector recto de flecha"/>
          <p:cNvCxnSpPr/>
          <p:nvPr/>
        </p:nvCxnSpPr>
        <p:spPr bwMode="auto">
          <a:xfrm>
            <a:off x="1067283" y="4095018"/>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nvGrpSpPr>
          <p:cNvPr id="126" name="125 Grupo"/>
          <p:cNvGrpSpPr/>
          <p:nvPr/>
        </p:nvGrpSpPr>
        <p:grpSpPr>
          <a:xfrm>
            <a:off x="1475656" y="3548971"/>
            <a:ext cx="524503" cy="307777"/>
            <a:chOff x="1524663" y="1801943"/>
            <a:chExt cx="524503" cy="307777"/>
          </a:xfrm>
        </p:grpSpPr>
        <p:sp>
          <p:nvSpPr>
            <p:cNvPr id="127" name="126 CuadroTexto"/>
            <p:cNvSpPr txBox="1"/>
            <p:nvPr/>
          </p:nvSpPr>
          <p:spPr>
            <a:xfrm>
              <a:off x="1524663" y="1801943"/>
              <a:ext cx="524503" cy="307777"/>
            </a:xfrm>
            <a:prstGeom prst="rect">
              <a:avLst/>
            </a:prstGeom>
            <a:noFill/>
          </p:spPr>
          <p:txBody>
            <a:bodyPr wrap="none" rtlCol="0">
              <a:spAutoFit/>
            </a:bodyPr>
            <a:lstStyle/>
            <a:p>
              <a:r>
                <a:rPr lang="es-ES" sz="1400" dirty="0">
                  <a:solidFill>
                    <a:srgbClr val="FF0000"/>
                  </a:solidFill>
                </a:rPr>
                <a:t>BE0</a:t>
              </a:r>
            </a:p>
          </p:txBody>
        </p:sp>
        <p:cxnSp>
          <p:nvCxnSpPr>
            <p:cNvPr id="128" name="127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9" name="128 Grupo"/>
          <p:cNvGrpSpPr/>
          <p:nvPr/>
        </p:nvGrpSpPr>
        <p:grpSpPr>
          <a:xfrm>
            <a:off x="1475656" y="3942019"/>
            <a:ext cx="524503" cy="307777"/>
            <a:chOff x="1524665" y="1801943"/>
            <a:chExt cx="524503" cy="307777"/>
          </a:xfrm>
        </p:grpSpPr>
        <p:sp>
          <p:nvSpPr>
            <p:cNvPr id="130" name="129 CuadroTexto"/>
            <p:cNvSpPr txBox="1"/>
            <p:nvPr/>
          </p:nvSpPr>
          <p:spPr>
            <a:xfrm>
              <a:off x="1524665" y="1801943"/>
              <a:ext cx="524503" cy="307777"/>
            </a:xfrm>
            <a:prstGeom prst="rect">
              <a:avLst/>
            </a:prstGeom>
            <a:noFill/>
          </p:spPr>
          <p:txBody>
            <a:bodyPr wrap="none" rtlCol="0">
              <a:spAutoFit/>
            </a:bodyPr>
            <a:lstStyle/>
            <a:p>
              <a:r>
                <a:rPr lang="es-ES" sz="1400" dirty="0">
                  <a:solidFill>
                    <a:srgbClr val="FF0000"/>
                  </a:solidFill>
                </a:rPr>
                <a:t>BE1</a:t>
              </a:r>
            </a:p>
          </p:txBody>
        </p:sp>
        <p:cxnSp>
          <p:nvCxnSpPr>
            <p:cNvPr id="131" name="130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6" name="15 Grupo"/>
          <p:cNvGrpSpPr/>
          <p:nvPr/>
        </p:nvGrpSpPr>
        <p:grpSpPr>
          <a:xfrm>
            <a:off x="4417338" y="1655400"/>
            <a:ext cx="4640266" cy="439027"/>
            <a:chOff x="4417338" y="1655400"/>
            <a:chExt cx="4640266" cy="439027"/>
          </a:xfrm>
        </p:grpSpPr>
        <p:grpSp>
          <p:nvGrpSpPr>
            <p:cNvPr id="70" name="69 Grupo"/>
            <p:cNvGrpSpPr/>
            <p:nvPr/>
          </p:nvGrpSpPr>
          <p:grpSpPr>
            <a:xfrm>
              <a:off x="4417338" y="1655400"/>
              <a:ext cx="4640266" cy="400110"/>
              <a:chOff x="4429124" y="1930567"/>
              <a:chExt cx="4640266" cy="400110"/>
            </a:xfrm>
          </p:grpSpPr>
          <p:grpSp>
            <p:nvGrpSpPr>
              <p:cNvPr id="73" name="111 Grupo"/>
              <p:cNvGrpSpPr/>
              <p:nvPr/>
            </p:nvGrpSpPr>
            <p:grpSpPr>
              <a:xfrm flipH="1">
                <a:off x="6359027" y="1930567"/>
                <a:ext cx="2710363" cy="400110"/>
                <a:chOff x="635854" y="5981843"/>
                <a:chExt cx="2710363" cy="400110"/>
              </a:xfrm>
            </p:grpSpPr>
            <p:sp>
              <p:nvSpPr>
                <p:cNvPr id="79" name="78 CuadroTexto"/>
                <p:cNvSpPr txBox="1"/>
                <p:nvPr/>
              </p:nvSpPr>
              <p:spPr>
                <a:xfrm>
                  <a:off x="635854" y="5981843"/>
                  <a:ext cx="2350323" cy="400110"/>
                </a:xfrm>
                <a:prstGeom prst="rect">
                  <a:avLst/>
                </a:prstGeom>
                <a:noFill/>
              </p:spPr>
              <p:txBody>
                <a:bodyPr wrap="none" rtlCol="0">
                  <a:spAutoFit/>
                </a:bodyPr>
                <a:lstStyle/>
                <a:p>
                  <a:r>
                    <a:rPr lang="es-ES" b="1" dirty="0">
                      <a:solidFill>
                        <a:schemeClr val="tx1">
                          <a:lumMod val="75000"/>
                          <a:lumOff val="25000"/>
                        </a:schemeClr>
                      </a:solidFill>
                    </a:rPr>
                    <a:t>Selección de byte</a:t>
                  </a:r>
                </a:p>
              </p:txBody>
            </p:sp>
            <p:cxnSp>
              <p:nvCxnSpPr>
                <p:cNvPr id="83" name="82 Conector recto de flecha"/>
                <p:cNvCxnSpPr/>
                <p:nvPr/>
              </p:nvCxnSpPr>
              <p:spPr bwMode="auto">
                <a:xfrm>
                  <a:off x="2986177" y="6180286"/>
                  <a:ext cx="3600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7" name="76 Rectángulo redondeado"/>
              <p:cNvSpPr/>
              <p:nvPr/>
            </p:nvSpPr>
            <p:spPr bwMode="auto">
              <a:xfrm>
                <a:off x="4429124" y="1971722"/>
                <a:ext cx="1857388" cy="357190"/>
              </a:xfrm>
              <a:prstGeom prst="roundRect">
                <a:avLst>
                  <a:gd name="adj" fmla="val 44500"/>
                </a:avLst>
              </a:prstGeom>
              <a:noFill/>
              <a:ln w="9525">
                <a:solidFill>
                  <a:srgbClr val="FF0000"/>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1"/>
              </a:p>
            </p:txBody>
          </p:sp>
        </p:grpSp>
        <p:grpSp>
          <p:nvGrpSpPr>
            <p:cNvPr id="132" name="131 Grupo"/>
            <p:cNvGrpSpPr/>
            <p:nvPr/>
          </p:nvGrpSpPr>
          <p:grpSpPr>
            <a:xfrm>
              <a:off x="4519707" y="1755873"/>
              <a:ext cx="582211" cy="338554"/>
              <a:chOff x="1495810" y="1801943"/>
              <a:chExt cx="582211" cy="338554"/>
            </a:xfrm>
          </p:grpSpPr>
          <p:sp>
            <p:nvSpPr>
              <p:cNvPr id="133" name="132 CuadroTexto"/>
              <p:cNvSpPr txBox="1"/>
              <p:nvPr/>
            </p:nvSpPr>
            <p:spPr>
              <a:xfrm>
                <a:off x="1495810" y="1801943"/>
                <a:ext cx="582211" cy="338554"/>
              </a:xfrm>
              <a:prstGeom prst="rect">
                <a:avLst/>
              </a:prstGeom>
              <a:noFill/>
            </p:spPr>
            <p:txBody>
              <a:bodyPr wrap="none" rtlCol="0">
                <a:spAutoFit/>
              </a:bodyPr>
              <a:lstStyle/>
              <a:p>
                <a:r>
                  <a:rPr lang="es-ES" sz="1600" b="1" dirty="0">
                    <a:solidFill>
                      <a:srgbClr val="FF0000"/>
                    </a:solidFill>
                  </a:rPr>
                  <a:t>BE0</a:t>
                </a:r>
              </a:p>
            </p:txBody>
          </p:sp>
          <p:cxnSp>
            <p:nvCxnSpPr>
              <p:cNvPr id="134" name="133 Conector recto"/>
              <p:cNvCxnSpPr/>
              <p:nvPr/>
            </p:nvCxnSpPr>
            <p:spPr bwMode="auto">
              <a:xfrm>
                <a:off x="1618806" y="1850033"/>
                <a:ext cx="360040" cy="1401"/>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35" name="134 Grupo"/>
            <p:cNvGrpSpPr/>
            <p:nvPr/>
          </p:nvGrpSpPr>
          <p:grpSpPr>
            <a:xfrm>
              <a:off x="5550560" y="1755873"/>
              <a:ext cx="582211" cy="338554"/>
              <a:chOff x="1495812" y="1801943"/>
              <a:chExt cx="582211" cy="338554"/>
            </a:xfrm>
          </p:grpSpPr>
          <p:sp>
            <p:nvSpPr>
              <p:cNvPr id="136" name="135 CuadroTexto"/>
              <p:cNvSpPr txBox="1"/>
              <p:nvPr/>
            </p:nvSpPr>
            <p:spPr>
              <a:xfrm>
                <a:off x="1495812" y="1801943"/>
                <a:ext cx="582211" cy="338554"/>
              </a:xfrm>
              <a:prstGeom prst="rect">
                <a:avLst/>
              </a:prstGeom>
              <a:noFill/>
            </p:spPr>
            <p:txBody>
              <a:bodyPr wrap="none" rtlCol="0">
                <a:spAutoFit/>
              </a:bodyPr>
              <a:lstStyle/>
              <a:p>
                <a:r>
                  <a:rPr lang="es-ES" sz="1600" b="1" dirty="0">
                    <a:solidFill>
                      <a:srgbClr val="FF0000"/>
                    </a:solidFill>
                  </a:rPr>
                  <a:t>BE1</a:t>
                </a:r>
              </a:p>
            </p:txBody>
          </p:sp>
          <p:cxnSp>
            <p:nvCxnSpPr>
              <p:cNvPr id="137" name="136 Conector recto"/>
              <p:cNvCxnSpPr/>
              <p:nvPr/>
            </p:nvCxnSpPr>
            <p:spPr bwMode="auto">
              <a:xfrm>
                <a:off x="1596067" y="1850033"/>
                <a:ext cx="360040"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139" name="138 Grupo"/>
          <p:cNvGrpSpPr/>
          <p:nvPr/>
        </p:nvGrpSpPr>
        <p:grpSpPr>
          <a:xfrm>
            <a:off x="4304438" y="2081831"/>
            <a:ext cx="2546303" cy="1691795"/>
            <a:chOff x="4305648" y="2069397"/>
            <a:chExt cx="2546303" cy="1691795"/>
          </a:xfrm>
        </p:grpSpPr>
        <p:sp>
          <p:nvSpPr>
            <p:cNvPr id="140" name="139 Rectángulo"/>
            <p:cNvSpPr/>
            <p:nvPr/>
          </p:nvSpPr>
          <p:spPr bwMode="auto">
            <a:xfrm>
              <a:off x="5374918" y="2668561"/>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3</a:t>
              </a:r>
            </a:p>
          </p:txBody>
        </p:sp>
        <p:sp>
          <p:nvSpPr>
            <p:cNvPr id="141" name="140 Rectángulo"/>
            <p:cNvSpPr/>
            <p:nvPr/>
          </p:nvSpPr>
          <p:spPr bwMode="auto">
            <a:xfrm>
              <a:off x="4305648" y="2069397"/>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    </a:t>
              </a:r>
              <a:r>
                <a:rPr lang="es-ES" b="1" dirty="0">
                  <a:solidFill>
                    <a:srgbClr val="00B050"/>
                  </a:solidFill>
                </a:rPr>
                <a:t>1</a:t>
              </a:r>
              <a:endParaRPr lang="es-ES" b="1" baseline="-25000" dirty="0">
                <a:solidFill>
                  <a:srgbClr val="00B050"/>
                </a:solidFill>
              </a:endParaRPr>
            </a:p>
          </p:txBody>
        </p:sp>
        <p:cxnSp>
          <p:nvCxnSpPr>
            <p:cNvPr id="142" name="141 Conector recto de flecha"/>
            <p:cNvCxnSpPr>
              <a:stCxn id="28" idx="1"/>
              <a:endCxn id="140" idx="3"/>
            </p:cNvCxnSpPr>
            <p:nvPr/>
          </p:nvCxnSpPr>
          <p:spPr bwMode="auto">
            <a:xfrm flipH="1" flipV="1">
              <a:off x="6311022" y="2812577"/>
              <a:ext cx="540929" cy="94861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143" name="142 Rectángulo"/>
            <p:cNvSpPr/>
            <p:nvPr/>
          </p:nvSpPr>
          <p:spPr bwMode="auto">
            <a:xfrm>
              <a:off x="5346749" y="2069397"/>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   </a:t>
              </a:r>
              <a:r>
                <a:rPr lang="es-ES" b="1" dirty="0">
                  <a:solidFill>
                    <a:srgbClr val="00B050"/>
                  </a:solidFill>
                </a:rPr>
                <a:t>0</a:t>
              </a:r>
              <a:endParaRPr lang="es-ES" b="1" baseline="-25000" dirty="0">
                <a:solidFill>
                  <a:srgbClr val="00B050"/>
                </a:solidFill>
              </a:endParaRPr>
            </a:p>
          </p:txBody>
        </p:sp>
      </p:grpSp>
      <p:sp>
        <p:nvSpPr>
          <p:cNvPr id="28" name="27 Rectángulo"/>
          <p:cNvSpPr/>
          <p:nvPr/>
        </p:nvSpPr>
        <p:spPr>
          <a:xfrm>
            <a:off x="6850741" y="3542793"/>
            <a:ext cx="2212465" cy="461665"/>
          </a:xfrm>
          <a:prstGeom prst="rect">
            <a:avLst/>
          </a:prstGeom>
        </p:spPr>
        <p:txBody>
          <a:bodyPr wrap="none">
            <a:spAutoFit/>
          </a:bodyPr>
          <a:lstStyle/>
          <a:p>
            <a:r>
              <a:rPr lang="es-ES" sz="2400" b="1" dirty="0">
                <a:solidFill>
                  <a:schemeClr val="bg2">
                    <a:lumMod val="25000"/>
                  </a:schemeClr>
                </a:solidFill>
                <a:latin typeface="Courier New" pitchFamily="49" charset="0"/>
                <a:cs typeface="Courier New" pitchFamily="49" charset="0"/>
              </a:rPr>
              <a:t>lb s1,3(x0)</a:t>
            </a:r>
          </a:p>
        </p:txBody>
      </p:sp>
      <p:grpSp>
        <p:nvGrpSpPr>
          <p:cNvPr id="9" name="Grupo 8"/>
          <p:cNvGrpSpPr/>
          <p:nvPr/>
        </p:nvGrpSpPr>
        <p:grpSpPr>
          <a:xfrm>
            <a:off x="2024659" y="3556216"/>
            <a:ext cx="315362" cy="1744992"/>
            <a:chOff x="2024659" y="3556216"/>
            <a:chExt cx="315362" cy="1744992"/>
          </a:xfrm>
        </p:grpSpPr>
        <p:sp>
          <p:nvSpPr>
            <p:cNvPr id="6" name="CuadroTexto 5"/>
            <p:cNvSpPr txBox="1"/>
            <p:nvPr/>
          </p:nvSpPr>
          <p:spPr>
            <a:xfrm>
              <a:off x="2055969" y="3556216"/>
              <a:ext cx="284052" cy="307777"/>
            </a:xfrm>
            <a:prstGeom prst="rect">
              <a:avLst/>
            </a:prstGeom>
            <a:noFill/>
          </p:spPr>
          <p:txBody>
            <a:bodyPr wrap="none" rtlCol="0">
              <a:spAutoFit/>
            </a:bodyPr>
            <a:lstStyle/>
            <a:p>
              <a:r>
                <a:rPr lang="es-ES" sz="1400" b="1" dirty="0">
                  <a:solidFill>
                    <a:srgbClr val="FF0000"/>
                  </a:solidFill>
                </a:rPr>
                <a:t>0</a:t>
              </a:r>
            </a:p>
          </p:txBody>
        </p:sp>
        <p:sp>
          <p:nvSpPr>
            <p:cNvPr id="145" name="CuadroTexto 144"/>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8" name="CuadroTexto 7"/>
            <p:cNvSpPr txBox="1"/>
            <p:nvPr/>
          </p:nvSpPr>
          <p:spPr>
            <a:xfrm rot="16200000">
              <a:off x="1760106" y="4721562"/>
              <a:ext cx="851515" cy="307777"/>
            </a:xfrm>
            <a:prstGeom prst="rect">
              <a:avLst/>
            </a:prstGeom>
            <a:noFill/>
          </p:spPr>
          <p:txBody>
            <a:bodyPr wrap="none" rtlCol="0">
              <a:spAutoFit/>
            </a:bodyPr>
            <a:lstStyle/>
            <a:p>
              <a:r>
                <a:rPr lang="es-ES" sz="1400" dirty="0"/>
                <a:t>Byte par</a:t>
              </a:r>
            </a:p>
          </p:txBody>
        </p:sp>
      </p:grpSp>
      <p:grpSp>
        <p:nvGrpSpPr>
          <p:cNvPr id="10" name="Grupo 9"/>
          <p:cNvGrpSpPr/>
          <p:nvPr/>
        </p:nvGrpSpPr>
        <p:grpSpPr>
          <a:xfrm>
            <a:off x="2312687" y="3556216"/>
            <a:ext cx="313647" cy="1734250"/>
            <a:chOff x="2312687" y="3556216"/>
            <a:chExt cx="313647" cy="1734250"/>
          </a:xfrm>
        </p:grpSpPr>
        <p:sp>
          <p:nvSpPr>
            <p:cNvPr id="114" name="CuadroTexto 113"/>
            <p:cNvSpPr txBox="1"/>
            <p:nvPr/>
          </p:nvSpPr>
          <p:spPr>
            <a:xfrm>
              <a:off x="2312687" y="3934410"/>
              <a:ext cx="284052" cy="307777"/>
            </a:xfrm>
            <a:prstGeom prst="rect">
              <a:avLst/>
            </a:prstGeom>
            <a:noFill/>
          </p:spPr>
          <p:txBody>
            <a:bodyPr wrap="none" rtlCol="0">
              <a:spAutoFit/>
            </a:bodyPr>
            <a:lstStyle/>
            <a:p>
              <a:r>
                <a:rPr lang="es-ES" sz="1400" b="1" dirty="0">
                  <a:solidFill>
                    <a:srgbClr val="FF0000"/>
                  </a:solidFill>
                </a:rPr>
                <a:t>0</a:t>
              </a:r>
            </a:p>
          </p:txBody>
        </p:sp>
        <p:sp>
          <p:nvSpPr>
            <p:cNvPr id="144" name="CuadroTexto 143"/>
            <p:cNvSpPr txBox="1"/>
            <p:nvPr/>
          </p:nvSpPr>
          <p:spPr>
            <a:xfrm>
              <a:off x="2314978" y="3556216"/>
              <a:ext cx="284052" cy="307777"/>
            </a:xfrm>
            <a:prstGeom prst="rect">
              <a:avLst/>
            </a:prstGeom>
            <a:noFill/>
          </p:spPr>
          <p:txBody>
            <a:bodyPr wrap="none" rtlCol="0">
              <a:spAutoFit/>
            </a:bodyPr>
            <a:lstStyle/>
            <a:p>
              <a:r>
                <a:rPr lang="es-ES" sz="1400" b="1" dirty="0"/>
                <a:t>1</a:t>
              </a:r>
            </a:p>
          </p:txBody>
        </p:sp>
        <p:sp>
          <p:nvSpPr>
            <p:cNvPr id="146" name="CuadroTexto 145"/>
            <p:cNvSpPr txBox="1"/>
            <p:nvPr/>
          </p:nvSpPr>
          <p:spPr>
            <a:xfrm rot="16200000">
              <a:off x="1952111" y="4616242"/>
              <a:ext cx="1040670" cy="307777"/>
            </a:xfrm>
            <a:prstGeom prst="rect">
              <a:avLst/>
            </a:prstGeom>
            <a:noFill/>
          </p:spPr>
          <p:txBody>
            <a:bodyPr wrap="none" rtlCol="0">
              <a:spAutoFit/>
            </a:bodyPr>
            <a:lstStyle/>
            <a:p>
              <a:r>
                <a:rPr lang="es-ES" sz="1400" dirty="0"/>
                <a:t>Byte impar</a:t>
              </a:r>
            </a:p>
          </p:txBody>
        </p:sp>
      </p:grpSp>
      <p:grpSp>
        <p:nvGrpSpPr>
          <p:cNvPr id="12" name="Grupo 11"/>
          <p:cNvGrpSpPr/>
          <p:nvPr/>
        </p:nvGrpSpPr>
        <p:grpSpPr>
          <a:xfrm>
            <a:off x="2610326" y="3556216"/>
            <a:ext cx="310180" cy="1749123"/>
            <a:chOff x="2610326" y="3556216"/>
            <a:chExt cx="310180" cy="1749123"/>
          </a:xfrm>
        </p:grpSpPr>
        <p:sp>
          <p:nvSpPr>
            <p:cNvPr id="115" name="CuadroTexto 114"/>
            <p:cNvSpPr txBox="1"/>
            <p:nvPr/>
          </p:nvSpPr>
          <p:spPr>
            <a:xfrm>
              <a:off x="2610326" y="3556216"/>
              <a:ext cx="284052" cy="307777"/>
            </a:xfrm>
            <a:prstGeom prst="rect">
              <a:avLst/>
            </a:prstGeom>
            <a:noFill/>
          </p:spPr>
          <p:txBody>
            <a:bodyPr wrap="none" rtlCol="0">
              <a:spAutoFit/>
            </a:bodyPr>
            <a:lstStyle/>
            <a:p>
              <a:r>
                <a:rPr lang="es-ES" sz="1400" b="1" dirty="0">
                  <a:solidFill>
                    <a:srgbClr val="FF0000"/>
                  </a:solidFill>
                </a:rPr>
                <a:t>0</a:t>
              </a:r>
            </a:p>
          </p:txBody>
        </p:sp>
        <p:sp>
          <p:nvSpPr>
            <p:cNvPr id="125" name="CuadroTexto 124"/>
            <p:cNvSpPr txBox="1"/>
            <p:nvPr/>
          </p:nvSpPr>
          <p:spPr>
            <a:xfrm>
              <a:off x="2625106" y="3934411"/>
              <a:ext cx="284052" cy="307777"/>
            </a:xfrm>
            <a:prstGeom prst="rect">
              <a:avLst/>
            </a:prstGeom>
            <a:noFill/>
          </p:spPr>
          <p:txBody>
            <a:bodyPr wrap="none" rtlCol="0">
              <a:spAutoFit/>
            </a:bodyPr>
            <a:lstStyle/>
            <a:p>
              <a:r>
                <a:rPr lang="es-ES" sz="1400" b="1" dirty="0">
                  <a:solidFill>
                    <a:srgbClr val="FF0000"/>
                  </a:solidFill>
                </a:rPr>
                <a:t>0</a:t>
              </a:r>
            </a:p>
          </p:txBody>
        </p:sp>
        <p:sp>
          <p:nvSpPr>
            <p:cNvPr id="147" name="CuadroTexto 146"/>
            <p:cNvSpPr txBox="1"/>
            <p:nvPr/>
          </p:nvSpPr>
          <p:spPr>
            <a:xfrm rot="16200000">
              <a:off x="2478586" y="4863419"/>
              <a:ext cx="576063" cy="307777"/>
            </a:xfrm>
            <a:prstGeom prst="rect">
              <a:avLst/>
            </a:prstGeom>
            <a:noFill/>
          </p:spPr>
          <p:txBody>
            <a:bodyPr wrap="square" rtlCol="0">
              <a:spAutoFit/>
            </a:bodyPr>
            <a:lstStyle/>
            <a:p>
              <a:r>
                <a:rPr lang="es-ES" sz="1400" dirty="0" err="1"/>
                <a:t>Half</a:t>
              </a:r>
              <a:r>
                <a:rPr lang="es-ES" sz="1400" dirty="0"/>
                <a:t> </a:t>
              </a:r>
            </a:p>
          </p:txBody>
        </p:sp>
      </p:grpSp>
      <p:grpSp>
        <p:nvGrpSpPr>
          <p:cNvPr id="17" name="16 Grupo"/>
          <p:cNvGrpSpPr/>
          <p:nvPr/>
        </p:nvGrpSpPr>
        <p:grpSpPr>
          <a:xfrm>
            <a:off x="4329779" y="2081831"/>
            <a:ext cx="2481924" cy="769091"/>
            <a:chOff x="4305648" y="2069397"/>
            <a:chExt cx="2481924" cy="769091"/>
          </a:xfrm>
        </p:grpSpPr>
        <p:sp>
          <p:nvSpPr>
            <p:cNvPr id="111" name="110 Rectángulo"/>
            <p:cNvSpPr/>
            <p:nvPr/>
          </p:nvSpPr>
          <p:spPr bwMode="auto">
            <a:xfrm>
              <a:off x="4357686" y="2357429"/>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0</a:t>
              </a:r>
            </a:p>
          </p:txBody>
        </p:sp>
        <p:sp>
          <p:nvSpPr>
            <p:cNvPr id="113" name="112 Rectángulo"/>
            <p:cNvSpPr/>
            <p:nvPr/>
          </p:nvSpPr>
          <p:spPr bwMode="auto">
            <a:xfrm>
              <a:off x="4305648" y="2069397"/>
              <a:ext cx="772139"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0</a:t>
              </a:r>
              <a:endParaRPr lang="es-ES" b="1" baseline="-25000" dirty="0">
                <a:solidFill>
                  <a:srgbClr val="FF0000"/>
                </a:solidFill>
              </a:endParaRPr>
            </a:p>
          </p:txBody>
        </p:sp>
        <p:cxnSp>
          <p:nvCxnSpPr>
            <p:cNvPr id="7" name="6 Conector recto de flecha"/>
            <p:cNvCxnSpPr>
              <a:stCxn id="123" idx="1"/>
              <a:endCxn id="111" idx="3"/>
            </p:cNvCxnSpPr>
            <p:nvPr/>
          </p:nvCxnSpPr>
          <p:spPr bwMode="auto">
            <a:xfrm flipH="1" flipV="1">
              <a:off x="5293790" y="2501445"/>
              <a:ext cx="1493782" cy="33704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138" name="137 Rectángulo"/>
            <p:cNvSpPr/>
            <p:nvPr/>
          </p:nvSpPr>
          <p:spPr bwMode="auto">
            <a:xfrm>
              <a:off x="5346749" y="2069397"/>
              <a:ext cx="639975"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 </a:t>
              </a:r>
              <a:r>
                <a:rPr lang="es-ES" b="1" dirty="0">
                  <a:solidFill>
                    <a:srgbClr val="FF0000"/>
                  </a:solidFill>
                </a:rPr>
                <a:t>1</a:t>
              </a:r>
              <a:endParaRPr lang="es-ES" b="1" baseline="-25000" dirty="0">
                <a:solidFill>
                  <a:srgbClr val="FF0000"/>
                </a:solidFill>
              </a:endParaRPr>
            </a:p>
          </p:txBody>
        </p:sp>
      </p:grpSp>
      <p:sp>
        <p:nvSpPr>
          <p:cNvPr id="13" name="CuadroTexto 12"/>
          <p:cNvSpPr txBox="1"/>
          <p:nvPr/>
        </p:nvSpPr>
        <p:spPr>
          <a:xfrm>
            <a:off x="821798" y="4275235"/>
            <a:ext cx="1151277" cy="307777"/>
          </a:xfrm>
          <a:prstGeom prst="rect">
            <a:avLst/>
          </a:prstGeom>
          <a:noFill/>
        </p:spPr>
        <p:txBody>
          <a:bodyPr wrap="none" rtlCol="0">
            <a:spAutoFit/>
          </a:bodyPr>
          <a:lstStyle/>
          <a:p>
            <a:r>
              <a:rPr lang="es-ES" sz="1400" i="1" dirty="0">
                <a:solidFill>
                  <a:srgbClr val="FF0000"/>
                </a:solidFill>
              </a:rPr>
              <a:t>Byte </a:t>
            </a:r>
            <a:r>
              <a:rPr lang="es-ES" sz="1400" i="1" dirty="0" err="1">
                <a:solidFill>
                  <a:srgbClr val="FF0000"/>
                </a:solidFill>
              </a:rPr>
              <a:t>Enable</a:t>
            </a:r>
            <a:endParaRPr lang="es-ES" sz="1400" i="1" dirty="0">
              <a:solidFill>
                <a:srgbClr val="FF0000"/>
              </a:solidFill>
            </a:endParaRPr>
          </a:p>
        </p:txBody>
      </p:sp>
    </p:spTree>
    <p:extLst>
      <p:ext uri="{BB962C8B-B14F-4D97-AF65-F5344CB8AC3E}">
        <p14:creationId xmlns:p14="http://schemas.microsoft.com/office/powerpoint/2010/main" val="21266196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500"/>
                                        <p:tgtEl>
                                          <p:spTgt spid="12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17"/>
                                        </p:tgtEl>
                                        <p:attrNameLst>
                                          <p:attrName>style.visibility</p:attrName>
                                        </p:attrNameLst>
                                      </p:cBhvr>
                                      <p:to>
                                        <p:strVal val="hidden"/>
                                      </p:to>
                                    </p:set>
                                  </p:childTnLst>
                                </p:cTn>
                              </p:par>
                              <p:par>
                                <p:cTn id="18" presetID="22" presetClass="entr" presetSubtype="4"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down)">
                                      <p:cBhvr>
                                        <p:cTn id="20" dur="500"/>
                                        <p:tgtEl>
                                          <p:spTgt spid="28"/>
                                        </p:tgtEl>
                                      </p:cBhvr>
                                    </p:animEffect>
                                  </p:childTnLst>
                                </p:cTn>
                              </p:par>
                            </p:childTnLst>
                          </p:cTn>
                        </p:par>
                        <p:par>
                          <p:cTn id="21" fill="hold">
                            <p:stCondLst>
                              <p:cond delay="500"/>
                            </p:stCondLst>
                            <p:childTnLst>
                              <p:par>
                                <p:cTn id="22" presetID="22" presetClass="entr" presetSubtype="4" fill="hold" nodeType="afterEffect">
                                  <p:stCondLst>
                                    <p:cond delay="0"/>
                                  </p:stCondLst>
                                  <p:childTnLst>
                                    <p:set>
                                      <p:cBhvr>
                                        <p:cTn id="23" dur="1" fill="hold">
                                          <p:stCondLst>
                                            <p:cond delay="0"/>
                                          </p:stCondLst>
                                        </p:cTn>
                                        <p:tgtEl>
                                          <p:spTgt spid="139"/>
                                        </p:tgtEl>
                                        <p:attrNameLst>
                                          <p:attrName>style.visibility</p:attrName>
                                        </p:attrNameLst>
                                      </p:cBhvr>
                                      <p:to>
                                        <p:strVal val="visible"/>
                                      </p:to>
                                    </p:set>
                                    <p:animEffect transition="in" filter="wipe(down)">
                                      <p:cBhvr>
                                        <p:cTn id="24" dur="500"/>
                                        <p:tgtEl>
                                          <p:spTgt spid="139"/>
                                        </p:tgtEl>
                                      </p:cBhvr>
                                    </p:animEffect>
                                  </p:childTnLst>
                                </p:cTn>
                              </p:par>
                              <p:par>
                                <p:cTn id="25" presetID="2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139"/>
                                        </p:tgtEl>
                                        <p:attrNameLst>
                                          <p:attrName>style.visibility</p:attrName>
                                        </p:attrNameLst>
                                      </p:cBhvr>
                                      <p:to>
                                        <p:strVal val="hidden"/>
                                      </p:to>
                                    </p:set>
                                  </p:childTnLst>
                                </p:cTn>
                              </p:par>
                              <p:par>
                                <p:cTn id="32" presetID="22" presetClass="entr" presetSubtype="4" fill="hold" grpId="0" nodeType="withEffect">
                                  <p:stCondLst>
                                    <p:cond delay="0"/>
                                  </p:stCondLst>
                                  <p:childTnLst>
                                    <p:set>
                                      <p:cBhvr>
                                        <p:cTn id="33" dur="1" fill="hold">
                                          <p:stCondLst>
                                            <p:cond delay="0"/>
                                          </p:stCondLst>
                                        </p:cTn>
                                        <p:tgtEl>
                                          <p:spTgt spid="122"/>
                                        </p:tgtEl>
                                        <p:attrNameLst>
                                          <p:attrName>style.visibility</p:attrName>
                                        </p:attrNameLst>
                                      </p:cBhvr>
                                      <p:to>
                                        <p:strVal val="visible"/>
                                      </p:to>
                                    </p:set>
                                    <p:animEffect transition="in" filter="wipe(down)">
                                      <p:cBhvr>
                                        <p:cTn id="34" dur="500"/>
                                        <p:tgtEl>
                                          <p:spTgt spid="122"/>
                                        </p:tgtEl>
                                      </p:cBhvr>
                                    </p:animEffect>
                                  </p:childTnLst>
                                </p:cTn>
                              </p:par>
                            </p:childTnLst>
                          </p:cTn>
                        </p:par>
                        <p:par>
                          <p:cTn id="35" fill="hold">
                            <p:stCondLst>
                              <p:cond delay="500"/>
                            </p:stCondLst>
                            <p:childTnLst>
                              <p:par>
                                <p:cTn id="36" presetID="22" presetClass="entr" presetSubtype="4" fill="hold" nodeType="after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wipe(down)">
                                      <p:cBhvr>
                                        <p:cTn id="38" dur="500"/>
                                        <p:tgtEl>
                                          <p:spTgt spid="61"/>
                                        </p:tgtEl>
                                      </p:cBhvr>
                                    </p:animEffect>
                                  </p:childTnLst>
                                </p:cTn>
                              </p:par>
                              <p:par>
                                <p:cTn id="39" presetID="22" presetClass="entr" presetSubtype="4"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down)">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122"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pc="-50" dirty="0"/>
              <a:t>Direccionamiento de memoria en CPUs de 32 bits</a:t>
            </a:r>
            <a:endParaRPr lang="es-ES" dirty="0"/>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20</a:t>
            </a:fld>
            <a:endParaRPr lang="en-US" dirty="0"/>
          </a:p>
        </p:txBody>
      </p:sp>
      <p:sp>
        <p:nvSpPr>
          <p:cNvPr id="53" name="52 Rectángulo"/>
          <p:cNvSpPr/>
          <p:nvPr/>
        </p:nvSpPr>
        <p:spPr bwMode="auto">
          <a:xfrm>
            <a:off x="4477519" y="2318533"/>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a:t>
            </a:r>
          </a:p>
        </p:txBody>
      </p:sp>
      <p:sp>
        <p:nvSpPr>
          <p:cNvPr id="55" name="54 Rectángulo"/>
          <p:cNvSpPr/>
          <p:nvPr/>
        </p:nvSpPr>
        <p:spPr bwMode="auto">
          <a:xfrm>
            <a:off x="4477519" y="271071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57" name="56 Rectángulo"/>
          <p:cNvSpPr/>
          <p:nvPr/>
        </p:nvSpPr>
        <p:spPr bwMode="auto">
          <a:xfrm>
            <a:off x="4475615" y="3107341"/>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8</a:t>
            </a:r>
          </a:p>
        </p:txBody>
      </p:sp>
      <p:sp>
        <p:nvSpPr>
          <p:cNvPr id="59" name="58 Rectángulo"/>
          <p:cNvSpPr/>
          <p:nvPr/>
        </p:nvSpPr>
        <p:spPr bwMode="auto">
          <a:xfrm>
            <a:off x="4483103" y="3475330"/>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12</a:t>
            </a:r>
          </a:p>
        </p:txBody>
      </p:sp>
      <p:sp>
        <p:nvSpPr>
          <p:cNvPr id="68" name="67 Rectángulo"/>
          <p:cNvSpPr/>
          <p:nvPr/>
        </p:nvSpPr>
        <p:spPr bwMode="auto">
          <a:xfrm>
            <a:off x="3325391" y="2318533"/>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0 0</a:t>
            </a:r>
          </a:p>
        </p:txBody>
      </p:sp>
      <p:sp>
        <p:nvSpPr>
          <p:cNvPr id="70" name="69 Rectángulo"/>
          <p:cNvSpPr/>
          <p:nvPr/>
        </p:nvSpPr>
        <p:spPr bwMode="auto">
          <a:xfrm>
            <a:off x="3325391" y="271071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0 1 </a:t>
            </a:r>
          </a:p>
        </p:txBody>
      </p:sp>
      <p:sp>
        <p:nvSpPr>
          <p:cNvPr id="72" name="71 Rectángulo"/>
          <p:cNvSpPr/>
          <p:nvPr/>
        </p:nvSpPr>
        <p:spPr bwMode="auto">
          <a:xfrm>
            <a:off x="3318559" y="3055833"/>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a:t>
            </a:r>
          </a:p>
        </p:txBody>
      </p:sp>
      <p:sp>
        <p:nvSpPr>
          <p:cNvPr id="74" name="73 Rectángulo"/>
          <p:cNvSpPr/>
          <p:nvPr/>
        </p:nvSpPr>
        <p:spPr bwMode="auto">
          <a:xfrm>
            <a:off x="3295562" y="3482759"/>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a:t>
            </a:r>
          </a:p>
        </p:txBody>
      </p:sp>
      <p:sp>
        <p:nvSpPr>
          <p:cNvPr id="86" name="85 Rectángulo"/>
          <p:cNvSpPr/>
          <p:nvPr/>
        </p:nvSpPr>
        <p:spPr bwMode="auto">
          <a:xfrm>
            <a:off x="5485631" y="2318533"/>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88" name="87 Rectángulo"/>
          <p:cNvSpPr/>
          <p:nvPr/>
        </p:nvSpPr>
        <p:spPr bwMode="auto">
          <a:xfrm>
            <a:off x="5485631" y="271071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90" name="89 Rectángulo"/>
          <p:cNvSpPr/>
          <p:nvPr/>
        </p:nvSpPr>
        <p:spPr bwMode="auto">
          <a:xfrm>
            <a:off x="5483727" y="3107341"/>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9</a:t>
            </a:r>
          </a:p>
        </p:txBody>
      </p:sp>
      <p:sp>
        <p:nvSpPr>
          <p:cNvPr id="92" name="91 Rectángulo"/>
          <p:cNvSpPr/>
          <p:nvPr/>
        </p:nvSpPr>
        <p:spPr bwMode="auto">
          <a:xfrm>
            <a:off x="5491215" y="347533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13</a:t>
            </a:r>
          </a:p>
        </p:txBody>
      </p:sp>
      <p:sp>
        <p:nvSpPr>
          <p:cNvPr id="54" name="53 Rectángulo"/>
          <p:cNvSpPr/>
          <p:nvPr/>
        </p:nvSpPr>
        <p:spPr bwMode="auto">
          <a:xfrm>
            <a:off x="6522807" y="232648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87" name="86 Rectángulo"/>
          <p:cNvSpPr/>
          <p:nvPr/>
        </p:nvSpPr>
        <p:spPr bwMode="auto">
          <a:xfrm>
            <a:off x="7530919" y="232648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56" name="55 Rectángulo"/>
          <p:cNvSpPr/>
          <p:nvPr/>
        </p:nvSpPr>
        <p:spPr bwMode="auto">
          <a:xfrm>
            <a:off x="6524711" y="271071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6</a:t>
            </a:r>
          </a:p>
        </p:txBody>
      </p:sp>
      <p:sp>
        <p:nvSpPr>
          <p:cNvPr id="89" name="88 Rectángulo"/>
          <p:cNvSpPr/>
          <p:nvPr/>
        </p:nvSpPr>
        <p:spPr bwMode="auto">
          <a:xfrm>
            <a:off x="7532823" y="271071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7</a:t>
            </a:r>
          </a:p>
        </p:txBody>
      </p:sp>
      <p:sp>
        <p:nvSpPr>
          <p:cNvPr id="58" name="57 Rectángulo"/>
          <p:cNvSpPr/>
          <p:nvPr/>
        </p:nvSpPr>
        <p:spPr bwMode="auto">
          <a:xfrm>
            <a:off x="6522807" y="309582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p>
        </p:txBody>
      </p:sp>
      <p:sp>
        <p:nvSpPr>
          <p:cNvPr id="91" name="90 Rectángulo"/>
          <p:cNvSpPr/>
          <p:nvPr/>
        </p:nvSpPr>
        <p:spPr bwMode="auto">
          <a:xfrm>
            <a:off x="7530919" y="309582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p>
        </p:txBody>
      </p:sp>
      <p:sp>
        <p:nvSpPr>
          <p:cNvPr id="60" name="59 Rectángulo"/>
          <p:cNvSpPr/>
          <p:nvPr/>
        </p:nvSpPr>
        <p:spPr bwMode="auto">
          <a:xfrm>
            <a:off x="6522807" y="3466646"/>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14</a:t>
            </a:r>
          </a:p>
        </p:txBody>
      </p:sp>
      <p:sp>
        <p:nvSpPr>
          <p:cNvPr id="93" name="92 Rectángulo"/>
          <p:cNvSpPr/>
          <p:nvPr/>
        </p:nvSpPr>
        <p:spPr bwMode="auto">
          <a:xfrm>
            <a:off x="7530919" y="347533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15</a:t>
            </a:r>
          </a:p>
        </p:txBody>
      </p:sp>
      <p:grpSp>
        <p:nvGrpSpPr>
          <p:cNvPr id="6" name="99 Grupo"/>
          <p:cNvGrpSpPr/>
          <p:nvPr/>
        </p:nvGrpSpPr>
        <p:grpSpPr>
          <a:xfrm>
            <a:off x="4477519" y="1934303"/>
            <a:ext cx="1944216" cy="288032"/>
            <a:chOff x="5004048" y="2564904"/>
            <a:chExt cx="1944216" cy="288032"/>
          </a:xfrm>
        </p:grpSpPr>
        <p:sp>
          <p:nvSpPr>
            <p:cNvPr id="101" name="100 Rectángulo"/>
            <p:cNvSpPr/>
            <p:nvPr/>
          </p:nvSpPr>
          <p:spPr bwMode="auto">
            <a:xfrm>
              <a:off x="5004048"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BE</a:t>
              </a:r>
              <a:r>
                <a:rPr lang="es-ES" b="1" baseline="-25000" dirty="0">
                  <a:solidFill>
                    <a:schemeClr val="tx1"/>
                  </a:solidFill>
                </a:rPr>
                <a:t>0</a:t>
              </a:r>
              <a:r>
                <a:rPr lang="es-ES" b="1" dirty="0">
                  <a:solidFill>
                    <a:schemeClr val="tx1"/>
                  </a:solidFill>
                </a:rPr>
                <a:t>*</a:t>
              </a:r>
              <a:endParaRPr lang="es-ES" b="1" baseline="-25000" dirty="0">
                <a:solidFill>
                  <a:schemeClr val="tx1"/>
                </a:solidFill>
              </a:endParaRPr>
            </a:p>
          </p:txBody>
        </p:sp>
        <p:sp>
          <p:nvSpPr>
            <p:cNvPr id="102" name="101 Rectángulo"/>
            <p:cNvSpPr/>
            <p:nvPr/>
          </p:nvSpPr>
          <p:spPr bwMode="auto">
            <a:xfrm>
              <a:off x="5940152"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rPr>
                <a:t>  BE</a:t>
              </a:r>
              <a:r>
                <a:rPr lang="es-ES" b="1" baseline="-25000" dirty="0">
                  <a:solidFill>
                    <a:schemeClr val="tx1"/>
                  </a:solidFill>
                </a:rPr>
                <a:t>1</a:t>
              </a:r>
              <a:r>
                <a:rPr lang="es-ES" b="1" dirty="0">
                  <a:solidFill>
                    <a:schemeClr val="tx1"/>
                  </a:solidFill>
                </a:rPr>
                <a:t>*</a:t>
              </a:r>
              <a:endParaRPr lang="es-ES" b="1" baseline="-25000" dirty="0">
                <a:solidFill>
                  <a:schemeClr val="tx1"/>
                </a:solidFill>
              </a:endParaRPr>
            </a:p>
          </p:txBody>
        </p:sp>
      </p:grpSp>
      <p:grpSp>
        <p:nvGrpSpPr>
          <p:cNvPr id="43" name="99 Grupo"/>
          <p:cNvGrpSpPr/>
          <p:nvPr/>
        </p:nvGrpSpPr>
        <p:grpSpPr>
          <a:xfrm>
            <a:off x="6524711" y="1934303"/>
            <a:ext cx="1944216" cy="288032"/>
            <a:chOff x="5004048" y="2564904"/>
            <a:chExt cx="1944216" cy="288032"/>
          </a:xfrm>
        </p:grpSpPr>
        <p:sp>
          <p:nvSpPr>
            <p:cNvPr id="44" name="43 Rectángulo"/>
            <p:cNvSpPr/>
            <p:nvPr/>
          </p:nvSpPr>
          <p:spPr bwMode="auto">
            <a:xfrm>
              <a:off x="5004048"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BE</a:t>
              </a:r>
              <a:r>
                <a:rPr lang="es-ES" b="1" baseline="-25000" dirty="0">
                  <a:solidFill>
                    <a:schemeClr val="tx1"/>
                  </a:solidFill>
                </a:rPr>
                <a:t>2</a:t>
              </a:r>
              <a:r>
                <a:rPr lang="es-ES" b="1" dirty="0">
                  <a:solidFill>
                    <a:schemeClr val="tx1"/>
                  </a:solidFill>
                </a:rPr>
                <a:t>*</a:t>
              </a:r>
              <a:endParaRPr lang="es-ES" b="1" baseline="-25000" dirty="0">
                <a:solidFill>
                  <a:schemeClr val="tx1"/>
                </a:solidFill>
              </a:endParaRPr>
            </a:p>
          </p:txBody>
        </p:sp>
        <p:sp>
          <p:nvSpPr>
            <p:cNvPr id="45" name="44 Rectángulo"/>
            <p:cNvSpPr/>
            <p:nvPr/>
          </p:nvSpPr>
          <p:spPr bwMode="auto">
            <a:xfrm>
              <a:off x="5940152"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rPr>
                <a:t>  BE</a:t>
              </a:r>
              <a:r>
                <a:rPr lang="es-ES" b="1" baseline="-25000" dirty="0">
                  <a:solidFill>
                    <a:schemeClr val="tx1"/>
                  </a:solidFill>
                </a:rPr>
                <a:t>3</a:t>
              </a:r>
              <a:r>
                <a:rPr lang="es-ES" b="1" dirty="0">
                  <a:solidFill>
                    <a:schemeClr val="tx1"/>
                  </a:solidFill>
                </a:rPr>
                <a:t>*</a:t>
              </a:r>
              <a:endParaRPr lang="es-ES" b="1" baseline="-25000" dirty="0">
                <a:solidFill>
                  <a:schemeClr val="tx1"/>
                </a:solidFill>
              </a:endParaRPr>
            </a:p>
          </p:txBody>
        </p:sp>
      </p:grpSp>
      <p:sp>
        <p:nvSpPr>
          <p:cNvPr id="63" name="62 Rectángulo"/>
          <p:cNvSpPr/>
          <p:nvPr/>
        </p:nvSpPr>
        <p:spPr bwMode="auto">
          <a:xfrm>
            <a:off x="3557937" y="1927426"/>
            <a:ext cx="930412" cy="288032"/>
          </a:xfrm>
          <a:prstGeom prst="rect">
            <a:avLst/>
          </a:prstGeom>
          <a:solidFill>
            <a:schemeClr val="bg1">
              <a:lumMod val="85000"/>
            </a:schemeClr>
          </a:solid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3</a:t>
            </a:r>
            <a:r>
              <a:rPr lang="es-ES" dirty="0">
                <a:solidFill>
                  <a:schemeClr val="tx1"/>
                </a:solidFill>
              </a:rPr>
              <a:t>A</a:t>
            </a:r>
            <a:r>
              <a:rPr lang="es-ES" baseline="-25000" dirty="0">
                <a:solidFill>
                  <a:schemeClr val="tx1"/>
                </a:solidFill>
              </a:rPr>
              <a:t>2</a:t>
            </a:r>
            <a:endParaRPr lang="es-ES" baseline="-25000" dirty="0">
              <a:solidFill>
                <a:schemeClr val="bg1">
                  <a:lumMod val="85000"/>
                </a:schemeClr>
              </a:solidFill>
            </a:endParaRPr>
          </a:p>
        </p:txBody>
      </p:sp>
      <p:grpSp>
        <p:nvGrpSpPr>
          <p:cNvPr id="78" name="77 Grupo"/>
          <p:cNvGrpSpPr/>
          <p:nvPr/>
        </p:nvGrpSpPr>
        <p:grpSpPr>
          <a:xfrm>
            <a:off x="4468399" y="1168725"/>
            <a:ext cx="3888432" cy="720080"/>
            <a:chOff x="4357686" y="1214422"/>
            <a:chExt cx="3888432" cy="720080"/>
          </a:xfrm>
        </p:grpSpPr>
        <p:sp>
          <p:nvSpPr>
            <p:cNvPr id="64" name="63 Rectángulo"/>
            <p:cNvSpPr/>
            <p:nvPr/>
          </p:nvSpPr>
          <p:spPr bwMode="auto">
            <a:xfrm>
              <a:off x="5869854" y="1214422"/>
              <a:ext cx="792088"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solidFill>
                    <a:schemeClr val="tx1"/>
                  </a:solidFill>
                </a:rPr>
                <a:t>A</a:t>
              </a:r>
              <a:r>
                <a:rPr lang="es-ES" baseline="-25000" dirty="0">
                  <a:solidFill>
                    <a:schemeClr val="tx1"/>
                  </a:solidFill>
                </a:rPr>
                <a:t>1</a:t>
              </a:r>
              <a:r>
                <a:rPr lang="es-ES" dirty="0">
                  <a:solidFill>
                    <a:schemeClr val="tx1"/>
                  </a:solidFill>
                </a:rPr>
                <a:t>A</a:t>
              </a:r>
              <a:r>
                <a:rPr lang="es-ES" baseline="-25000" dirty="0">
                  <a:solidFill>
                    <a:schemeClr val="tx1"/>
                  </a:solidFill>
                </a:rPr>
                <a:t>0</a:t>
              </a:r>
            </a:p>
          </p:txBody>
        </p:sp>
        <p:sp>
          <p:nvSpPr>
            <p:cNvPr id="65" name="64 Rectángulo"/>
            <p:cNvSpPr/>
            <p:nvPr/>
          </p:nvSpPr>
          <p:spPr bwMode="auto">
            <a:xfrm>
              <a:off x="4357686"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00</a:t>
              </a:r>
              <a:endParaRPr lang="es-ES" baseline="-25000" dirty="0">
                <a:solidFill>
                  <a:schemeClr val="tx1"/>
                </a:solidFill>
              </a:endParaRPr>
            </a:p>
          </p:txBody>
        </p:sp>
        <p:cxnSp>
          <p:nvCxnSpPr>
            <p:cNvPr id="66" name="65 Conector recto"/>
            <p:cNvCxnSpPr/>
            <p:nvPr/>
          </p:nvCxnSpPr>
          <p:spPr bwMode="auto">
            <a:xfrm>
              <a:off x="4429694" y="1574462"/>
              <a:ext cx="3816424"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67" name="66 Rectángulo"/>
            <p:cNvSpPr/>
            <p:nvPr/>
          </p:nvSpPr>
          <p:spPr bwMode="auto">
            <a:xfrm>
              <a:off x="5365798"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01</a:t>
              </a:r>
              <a:endParaRPr lang="es-ES" baseline="-25000" dirty="0">
                <a:solidFill>
                  <a:schemeClr val="tx1"/>
                </a:solidFill>
              </a:endParaRPr>
            </a:p>
          </p:txBody>
        </p:sp>
        <p:sp>
          <p:nvSpPr>
            <p:cNvPr id="76" name="75 Rectángulo"/>
            <p:cNvSpPr/>
            <p:nvPr/>
          </p:nvSpPr>
          <p:spPr bwMode="auto">
            <a:xfrm>
              <a:off x="6373910"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endParaRPr lang="es-ES" baseline="-25000" dirty="0">
                <a:solidFill>
                  <a:schemeClr val="tx1"/>
                </a:solidFill>
              </a:endParaRPr>
            </a:p>
          </p:txBody>
        </p:sp>
        <p:sp>
          <p:nvSpPr>
            <p:cNvPr id="77" name="76 Rectángulo"/>
            <p:cNvSpPr/>
            <p:nvPr/>
          </p:nvSpPr>
          <p:spPr bwMode="auto">
            <a:xfrm>
              <a:off x="7382022"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endParaRPr lang="es-ES" baseline="-25000" dirty="0">
                <a:solidFill>
                  <a:schemeClr val="tx1"/>
                </a:solidFill>
              </a:endParaRPr>
            </a:p>
          </p:txBody>
        </p:sp>
      </p:grpSp>
      <p:sp>
        <p:nvSpPr>
          <p:cNvPr id="79" name="78 Multiplicar"/>
          <p:cNvSpPr/>
          <p:nvPr/>
        </p:nvSpPr>
        <p:spPr bwMode="auto">
          <a:xfrm>
            <a:off x="6107483" y="1025849"/>
            <a:ext cx="504056" cy="576064"/>
          </a:xfrm>
          <a:prstGeom prst="mathMultiply">
            <a:avLst>
              <a:gd name="adj1" fmla="val 13228"/>
            </a:avLst>
          </a:prstGeom>
          <a:solidFill>
            <a:srgbClr val="FF3300"/>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08" name="107 Grupo"/>
          <p:cNvGrpSpPr/>
          <p:nvPr/>
        </p:nvGrpSpPr>
        <p:grpSpPr>
          <a:xfrm>
            <a:off x="4539837" y="1025849"/>
            <a:ext cx="4638595" cy="1233826"/>
            <a:chOff x="4429124" y="1071546"/>
            <a:chExt cx="4638595" cy="1233826"/>
          </a:xfrm>
        </p:grpSpPr>
        <p:sp>
          <p:nvSpPr>
            <p:cNvPr id="100" name="99 Rectángulo redondeado"/>
            <p:cNvSpPr/>
            <p:nvPr/>
          </p:nvSpPr>
          <p:spPr bwMode="auto">
            <a:xfrm>
              <a:off x="4429124" y="2000240"/>
              <a:ext cx="3927186" cy="305132"/>
            </a:xfrm>
            <a:prstGeom prst="roundRect">
              <a:avLst>
                <a:gd name="adj" fmla="val 44500"/>
              </a:avLst>
            </a:prstGeom>
            <a:noFill/>
            <a:ln w="9525">
              <a:solidFill>
                <a:srgbClr val="FF0000"/>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07" name="106 Grupo"/>
            <p:cNvGrpSpPr/>
            <p:nvPr/>
          </p:nvGrpSpPr>
          <p:grpSpPr>
            <a:xfrm>
              <a:off x="6500826" y="1071546"/>
              <a:ext cx="2566893" cy="857256"/>
              <a:chOff x="6658897" y="5743534"/>
              <a:chExt cx="2566893" cy="723634"/>
            </a:xfrm>
          </p:grpSpPr>
          <p:sp>
            <p:nvSpPr>
              <p:cNvPr id="103" name="102 CuadroTexto"/>
              <p:cNvSpPr txBox="1"/>
              <p:nvPr/>
            </p:nvSpPr>
            <p:spPr>
              <a:xfrm flipH="1">
                <a:off x="7016531" y="5743534"/>
                <a:ext cx="2209259" cy="400110"/>
              </a:xfrm>
              <a:prstGeom prst="rect">
                <a:avLst/>
              </a:prstGeom>
              <a:noFill/>
            </p:spPr>
            <p:txBody>
              <a:bodyPr wrap="none" rtlCol="0">
                <a:spAutoFit/>
              </a:bodyPr>
              <a:lstStyle/>
              <a:p>
                <a:r>
                  <a:rPr lang="es-ES" dirty="0">
                    <a:solidFill>
                      <a:schemeClr val="tx1">
                        <a:lumMod val="75000"/>
                        <a:lumOff val="25000"/>
                      </a:schemeClr>
                    </a:solidFill>
                  </a:rPr>
                  <a:t>Selección de byte</a:t>
                </a:r>
              </a:p>
            </p:txBody>
          </p:sp>
          <p:sp>
            <p:nvSpPr>
              <p:cNvPr id="106" name="105 Forma libre"/>
              <p:cNvSpPr/>
              <p:nvPr/>
            </p:nvSpPr>
            <p:spPr bwMode="auto">
              <a:xfrm>
                <a:off x="6658897" y="5973097"/>
                <a:ext cx="390832" cy="494071"/>
              </a:xfrm>
              <a:custGeom>
                <a:avLst/>
                <a:gdLst>
                  <a:gd name="connsiteX0" fmla="*/ 390832 w 390832"/>
                  <a:gd name="connsiteY0" fmla="*/ 0 h 494071"/>
                  <a:gd name="connsiteX1" fmla="*/ 184355 w 390832"/>
                  <a:gd name="connsiteY1" fmla="*/ 140109 h 494071"/>
                  <a:gd name="connsiteX2" fmla="*/ 0 w 390832"/>
                  <a:gd name="connsiteY2" fmla="*/ 494071 h 494071"/>
                </a:gdLst>
                <a:ahLst/>
                <a:cxnLst>
                  <a:cxn ang="0">
                    <a:pos x="connsiteX0" y="connsiteY0"/>
                  </a:cxn>
                  <a:cxn ang="0">
                    <a:pos x="connsiteX1" y="connsiteY1"/>
                  </a:cxn>
                  <a:cxn ang="0">
                    <a:pos x="connsiteX2" y="connsiteY2"/>
                  </a:cxn>
                </a:cxnLst>
                <a:rect l="l" t="t" r="r" b="b"/>
                <a:pathLst>
                  <a:path w="390832" h="494071">
                    <a:moveTo>
                      <a:pt x="390832" y="0"/>
                    </a:moveTo>
                    <a:cubicBezTo>
                      <a:pt x="320163" y="28882"/>
                      <a:pt x="249494" y="57764"/>
                      <a:pt x="184355" y="140109"/>
                    </a:cubicBezTo>
                    <a:cubicBezTo>
                      <a:pt x="119216" y="222454"/>
                      <a:pt x="59608" y="358262"/>
                      <a:pt x="0" y="494071"/>
                    </a:cubicBezTo>
                  </a:path>
                </a:pathLst>
              </a:custGeom>
              <a:noFill/>
              <a:ln w="127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sp>
        <p:nvSpPr>
          <p:cNvPr id="104" name="54 CuadroTexto"/>
          <p:cNvSpPr txBox="1"/>
          <p:nvPr/>
        </p:nvSpPr>
        <p:spPr>
          <a:xfrm>
            <a:off x="1259632" y="2139135"/>
            <a:ext cx="1255472" cy="400110"/>
          </a:xfrm>
          <a:prstGeom prst="rect">
            <a:avLst/>
          </a:prstGeom>
          <a:noFill/>
        </p:spPr>
        <p:txBody>
          <a:bodyPr wrap="none" rtlCol="0">
            <a:spAutoFit/>
          </a:bodyPr>
          <a:lstStyle/>
          <a:p>
            <a:r>
              <a:rPr lang="es-ES" dirty="0">
                <a:solidFill>
                  <a:schemeClr val="tx1">
                    <a:lumMod val="75000"/>
                    <a:lumOff val="25000"/>
                  </a:schemeClr>
                </a:solidFill>
              </a:rPr>
              <a:t>Dirección</a:t>
            </a:r>
          </a:p>
        </p:txBody>
      </p:sp>
      <p:sp>
        <p:nvSpPr>
          <p:cNvPr id="105" name="67 Rectángulo"/>
          <p:cNvSpPr/>
          <p:nvPr/>
        </p:nvSpPr>
        <p:spPr bwMode="auto">
          <a:xfrm>
            <a:off x="143508" y="1926521"/>
            <a:ext cx="936104" cy="3175767"/>
          </a:xfrm>
          <a:prstGeom prst="rect">
            <a:avLst/>
          </a:prstGeom>
          <a:solidFill>
            <a:schemeClr val="accent2"/>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CPU</a:t>
            </a:r>
          </a:p>
        </p:txBody>
      </p:sp>
      <p:sp>
        <p:nvSpPr>
          <p:cNvPr id="109" name="68 Flecha derecha"/>
          <p:cNvSpPr/>
          <p:nvPr/>
        </p:nvSpPr>
        <p:spPr bwMode="auto">
          <a:xfrm>
            <a:off x="1092837" y="2028420"/>
            <a:ext cx="1974291" cy="144016"/>
          </a:xfrm>
          <a:prstGeom prst="rightArrow">
            <a:avLst/>
          </a:prstGeom>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10" name="70 Conector recto de flecha"/>
          <p:cNvCxnSpPr/>
          <p:nvPr/>
        </p:nvCxnSpPr>
        <p:spPr bwMode="auto">
          <a:xfrm>
            <a:off x="1079612" y="2852936"/>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1" name="73 Conector recto de flecha"/>
          <p:cNvCxnSpPr/>
          <p:nvPr/>
        </p:nvCxnSpPr>
        <p:spPr bwMode="auto">
          <a:xfrm>
            <a:off x="1092837" y="3274404"/>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112" name="77 Grupo"/>
          <p:cNvGrpSpPr/>
          <p:nvPr/>
        </p:nvGrpSpPr>
        <p:grpSpPr>
          <a:xfrm>
            <a:off x="1564739" y="2728357"/>
            <a:ext cx="444352" cy="307777"/>
            <a:chOff x="1564739" y="1801943"/>
            <a:chExt cx="444352" cy="307777"/>
          </a:xfrm>
        </p:grpSpPr>
        <p:sp>
          <p:nvSpPr>
            <p:cNvPr id="113" name="71 CuadroTexto"/>
            <p:cNvSpPr txBox="1"/>
            <p:nvPr/>
          </p:nvSpPr>
          <p:spPr>
            <a:xfrm>
              <a:off x="1564739" y="1801943"/>
              <a:ext cx="444352" cy="307777"/>
            </a:xfrm>
            <a:prstGeom prst="rect">
              <a:avLst/>
            </a:prstGeom>
            <a:noFill/>
          </p:spPr>
          <p:txBody>
            <a:bodyPr wrap="none" rtlCol="0">
              <a:spAutoFit/>
            </a:bodyPr>
            <a:lstStyle/>
            <a:p>
              <a:r>
                <a:rPr lang="es-ES" sz="1400" dirty="0">
                  <a:solidFill>
                    <a:schemeClr val="accent1">
                      <a:lumMod val="75000"/>
                    </a:schemeClr>
                  </a:solidFill>
                </a:rPr>
                <a:t>RD</a:t>
              </a:r>
            </a:p>
          </p:txBody>
        </p:sp>
        <p:cxnSp>
          <p:nvCxnSpPr>
            <p:cNvPr id="114" name="74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15" name="79 Grupo"/>
          <p:cNvGrpSpPr/>
          <p:nvPr/>
        </p:nvGrpSpPr>
        <p:grpSpPr>
          <a:xfrm>
            <a:off x="1586443" y="3121405"/>
            <a:ext cx="484428" cy="307777"/>
            <a:chOff x="1544701" y="1801943"/>
            <a:chExt cx="484428" cy="307777"/>
          </a:xfrm>
        </p:grpSpPr>
        <p:sp>
          <p:nvSpPr>
            <p:cNvPr id="116" name="80 CuadroTexto"/>
            <p:cNvSpPr txBox="1"/>
            <p:nvPr/>
          </p:nvSpPr>
          <p:spPr>
            <a:xfrm>
              <a:off x="1544701" y="1801943"/>
              <a:ext cx="484428" cy="307777"/>
            </a:xfrm>
            <a:prstGeom prst="rect">
              <a:avLst/>
            </a:prstGeom>
            <a:noFill/>
          </p:spPr>
          <p:txBody>
            <a:bodyPr wrap="none" rtlCol="0">
              <a:spAutoFit/>
            </a:bodyPr>
            <a:lstStyle/>
            <a:p>
              <a:r>
                <a:rPr lang="es-ES" sz="1400" dirty="0">
                  <a:solidFill>
                    <a:schemeClr val="accent1">
                      <a:lumMod val="75000"/>
                    </a:schemeClr>
                  </a:solidFill>
                </a:rPr>
                <a:t>WR</a:t>
              </a:r>
            </a:p>
          </p:txBody>
        </p:sp>
        <p:cxnSp>
          <p:nvCxnSpPr>
            <p:cNvPr id="117" name="81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18" name="66 Conector recto"/>
          <p:cNvCxnSpPr/>
          <p:nvPr/>
        </p:nvCxnSpPr>
        <p:spPr bwMode="auto">
          <a:xfrm flipH="1">
            <a:off x="2627784" y="1936141"/>
            <a:ext cx="149754" cy="3406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119" name="75 CuadroTexto"/>
          <p:cNvSpPr txBox="1"/>
          <p:nvPr/>
        </p:nvSpPr>
        <p:spPr>
          <a:xfrm>
            <a:off x="2324032" y="1782252"/>
            <a:ext cx="473206" cy="307777"/>
          </a:xfrm>
          <a:prstGeom prst="rect">
            <a:avLst/>
          </a:prstGeom>
          <a:noFill/>
        </p:spPr>
        <p:txBody>
          <a:bodyPr wrap="none" rtlCol="0">
            <a:spAutoFit/>
          </a:bodyPr>
          <a:lstStyle/>
          <a:p>
            <a:r>
              <a:rPr lang="es-ES" sz="1400" dirty="0">
                <a:solidFill>
                  <a:schemeClr val="accent1">
                    <a:lumMod val="75000"/>
                  </a:schemeClr>
                </a:solidFill>
              </a:rPr>
              <a:t>N-2</a:t>
            </a:r>
          </a:p>
        </p:txBody>
      </p:sp>
      <p:cxnSp>
        <p:nvCxnSpPr>
          <p:cNvPr id="120" name="111 Conector recto de flecha"/>
          <p:cNvCxnSpPr/>
          <p:nvPr/>
        </p:nvCxnSpPr>
        <p:spPr bwMode="auto">
          <a:xfrm>
            <a:off x="1054058" y="3673550"/>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21" name="123 Conector recto de flecha"/>
          <p:cNvCxnSpPr/>
          <p:nvPr/>
        </p:nvCxnSpPr>
        <p:spPr bwMode="auto">
          <a:xfrm>
            <a:off x="1067283" y="4095018"/>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nvGrpSpPr>
          <p:cNvPr id="122" name="125 Grupo"/>
          <p:cNvGrpSpPr/>
          <p:nvPr/>
        </p:nvGrpSpPr>
        <p:grpSpPr>
          <a:xfrm>
            <a:off x="1499109" y="3548971"/>
            <a:ext cx="524503" cy="307777"/>
            <a:chOff x="1524663" y="1801943"/>
            <a:chExt cx="524503" cy="307777"/>
          </a:xfrm>
        </p:grpSpPr>
        <p:sp>
          <p:nvSpPr>
            <p:cNvPr id="123" name="126 CuadroTexto"/>
            <p:cNvSpPr txBox="1"/>
            <p:nvPr/>
          </p:nvSpPr>
          <p:spPr>
            <a:xfrm>
              <a:off x="1524663" y="1801943"/>
              <a:ext cx="524503" cy="307777"/>
            </a:xfrm>
            <a:prstGeom prst="rect">
              <a:avLst/>
            </a:prstGeom>
            <a:noFill/>
          </p:spPr>
          <p:txBody>
            <a:bodyPr wrap="none" rtlCol="0">
              <a:spAutoFit/>
            </a:bodyPr>
            <a:lstStyle/>
            <a:p>
              <a:r>
                <a:rPr lang="es-ES" sz="1400" dirty="0">
                  <a:solidFill>
                    <a:srgbClr val="FF0000"/>
                  </a:solidFill>
                </a:rPr>
                <a:t>BE0</a:t>
              </a:r>
            </a:p>
          </p:txBody>
        </p:sp>
        <p:cxnSp>
          <p:nvCxnSpPr>
            <p:cNvPr id="124" name="127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5" name="128 Grupo"/>
          <p:cNvGrpSpPr/>
          <p:nvPr/>
        </p:nvGrpSpPr>
        <p:grpSpPr>
          <a:xfrm>
            <a:off x="1499109" y="3942019"/>
            <a:ext cx="524503" cy="307777"/>
            <a:chOff x="1524665" y="1801943"/>
            <a:chExt cx="524503" cy="307777"/>
          </a:xfrm>
        </p:grpSpPr>
        <p:sp>
          <p:nvSpPr>
            <p:cNvPr id="126" name="129 CuadroTexto"/>
            <p:cNvSpPr txBox="1"/>
            <p:nvPr/>
          </p:nvSpPr>
          <p:spPr>
            <a:xfrm>
              <a:off x="1524665" y="1801943"/>
              <a:ext cx="524503" cy="307777"/>
            </a:xfrm>
            <a:prstGeom prst="rect">
              <a:avLst/>
            </a:prstGeom>
            <a:noFill/>
          </p:spPr>
          <p:txBody>
            <a:bodyPr wrap="none" rtlCol="0">
              <a:spAutoFit/>
            </a:bodyPr>
            <a:lstStyle/>
            <a:p>
              <a:r>
                <a:rPr lang="es-ES" sz="1400" dirty="0">
                  <a:solidFill>
                    <a:srgbClr val="FF0000"/>
                  </a:solidFill>
                </a:rPr>
                <a:t>BE1</a:t>
              </a:r>
            </a:p>
          </p:txBody>
        </p:sp>
        <p:cxnSp>
          <p:nvCxnSpPr>
            <p:cNvPr id="127" name="130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40" name="CuadroTexto 139"/>
          <p:cNvSpPr txBox="1"/>
          <p:nvPr/>
        </p:nvSpPr>
        <p:spPr>
          <a:xfrm>
            <a:off x="437182" y="5147972"/>
            <a:ext cx="1151277" cy="307777"/>
          </a:xfrm>
          <a:prstGeom prst="rect">
            <a:avLst/>
          </a:prstGeom>
          <a:noFill/>
        </p:spPr>
        <p:txBody>
          <a:bodyPr wrap="none" rtlCol="0">
            <a:spAutoFit/>
          </a:bodyPr>
          <a:lstStyle/>
          <a:p>
            <a:r>
              <a:rPr lang="es-ES" sz="1400" i="1" dirty="0">
                <a:solidFill>
                  <a:srgbClr val="FF0000"/>
                </a:solidFill>
              </a:rPr>
              <a:t>Byte </a:t>
            </a:r>
            <a:r>
              <a:rPr lang="es-ES" sz="1400" i="1" dirty="0" err="1">
                <a:solidFill>
                  <a:srgbClr val="FF0000"/>
                </a:solidFill>
              </a:rPr>
              <a:t>Enable</a:t>
            </a:r>
            <a:endParaRPr lang="es-ES" sz="1400" i="1" dirty="0">
              <a:solidFill>
                <a:srgbClr val="FF0000"/>
              </a:solidFill>
            </a:endParaRPr>
          </a:p>
        </p:txBody>
      </p:sp>
      <p:cxnSp>
        <p:nvCxnSpPr>
          <p:cNvPr id="141" name="111 Conector recto de flecha"/>
          <p:cNvCxnSpPr/>
          <p:nvPr/>
        </p:nvCxnSpPr>
        <p:spPr bwMode="auto">
          <a:xfrm>
            <a:off x="1067283" y="4463716"/>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42" name="123 Conector recto de flecha"/>
          <p:cNvCxnSpPr/>
          <p:nvPr/>
        </p:nvCxnSpPr>
        <p:spPr bwMode="auto">
          <a:xfrm>
            <a:off x="1079612" y="4859636"/>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nvGrpSpPr>
          <p:cNvPr id="143" name="125 Grupo"/>
          <p:cNvGrpSpPr/>
          <p:nvPr/>
        </p:nvGrpSpPr>
        <p:grpSpPr>
          <a:xfrm>
            <a:off x="1499109" y="4339851"/>
            <a:ext cx="524503" cy="307777"/>
            <a:chOff x="1524663" y="1801943"/>
            <a:chExt cx="524503" cy="307777"/>
          </a:xfrm>
        </p:grpSpPr>
        <p:sp>
          <p:nvSpPr>
            <p:cNvPr id="144" name="126 CuadroTexto"/>
            <p:cNvSpPr txBox="1"/>
            <p:nvPr/>
          </p:nvSpPr>
          <p:spPr>
            <a:xfrm>
              <a:off x="1524663" y="1801943"/>
              <a:ext cx="524503" cy="307777"/>
            </a:xfrm>
            <a:prstGeom prst="rect">
              <a:avLst/>
            </a:prstGeom>
            <a:noFill/>
          </p:spPr>
          <p:txBody>
            <a:bodyPr wrap="none" rtlCol="0">
              <a:spAutoFit/>
            </a:bodyPr>
            <a:lstStyle/>
            <a:p>
              <a:r>
                <a:rPr lang="es-ES" sz="1400" dirty="0">
                  <a:solidFill>
                    <a:srgbClr val="FF0000"/>
                  </a:solidFill>
                </a:rPr>
                <a:t>BE2</a:t>
              </a:r>
            </a:p>
          </p:txBody>
        </p:sp>
        <p:cxnSp>
          <p:nvCxnSpPr>
            <p:cNvPr id="145" name="127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46" name="128 Grupo"/>
          <p:cNvGrpSpPr/>
          <p:nvPr/>
        </p:nvGrpSpPr>
        <p:grpSpPr>
          <a:xfrm>
            <a:off x="1499109" y="4705399"/>
            <a:ext cx="524503" cy="307777"/>
            <a:chOff x="1524665" y="1801943"/>
            <a:chExt cx="524503" cy="307777"/>
          </a:xfrm>
        </p:grpSpPr>
        <p:sp>
          <p:nvSpPr>
            <p:cNvPr id="147" name="129 CuadroTexto"/>
            <p:cNvSpPr txBox="1"/>
            <p:nvPr/>
          </p:nvSpPr>
          <p:spPr>
            <a:xfrm>
              <a:off x="1524665" y="1801943"/>
              <a:ext cx="524503" cy="307777"/>
            </a:xfrm>
            <a:prstGeom prst="rect">
              <a:avLst/>
            </a:prstGeom>
            <a:noFill/>
          </p:spPr>
          <p:txBody>
            <a:bodyPr wrap="none" rtlCol="0">
              <a:spAutoFit/>
            </a:bodyPr>
            <a:lstStyle/>
            <a:p>
              <a:r>
                <a:rPr lang="es-ES" sz="1400" dirty="0">
                  <a:solidFill>
                    <a:srgbClr val="FF0000"/>
                  </a:solidFill>
                </a:rPr>
                <a:t>BE3</a:t>
              </a:r>
            </a:p>
          </p:txBody>
        </p:sp>
        <p:cxnSp>
          <p:nvCxnSpPr>
            <p:cNvPr id="148" name="130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49" name="122 CuadroTexto"/>
          <p:cNvSpPr txBox="1"/>
          <p:nvPr/>
        </p:nvSpPr>
        <p:spPr>
          <a:xfrm>
            <a:off x="3634881" y="4095018"/>
            <a:ext cx="1877438" cy="400110"/>
          </a:xfrm>
          <a:prstGeom prst="rect">
            <a:avLst/>
          </a:prstGeom>
          <a:noFill/>
        </p:spPr>
        <p:txBody>
          <a:bodyPr wrap="none" rtlCol="0">
            <a:spAutoFit/>
          </a:bodyPr>
          <a:lstStyle/>
          <a:p>
            <a:r>
              <a:rPr lang="es-ES" b="1" dirty="0">
                <a:solidFill>
                  <a:schemeClr val="bg2">
                    <a:lumMod val="25000"/>
                  </a:schemeClr>
                </a:solidFill>
                <a:latin typeface="Courier New" pitchFamily="49" charset="0"/>
                <a:cs typeface="Courier New" pitchFamily="49" charset="0"/>
              </a:rPr>
              <a:t>lb s1,0(x0)</a:t>
            </a:r>
          </a:p>
        </p:txBody>
      </p:sp>
      <p:grpSp>
        <p:nvGrpSpPr>
          <p:cNvPr id="165" name="16 Grupo"/>
          <p:cNvGrpSpPr/>
          <p:nvPr/>
        </p:nvGrpSpPr>
        <p:grpSpPr>
          <a:xfrm>
            <a:off x="4485822" y="2318482"/>
            <a:ext cx="936104" cy="1769815"/>
            <a:chOff x="4357686" y="2357429"/>
            <a:chExt cx="936104" cy="1769815"/>
          </a:xfrm>
        </p:grpSpPr>
        <p:sp>
          <p:nvSpPr>
            <p:cNvPr id="166" name="110 Rectángulo"/>
            <p:cNvSpPr/>
            <p:nvPr/>
          </p:nvSpPr>
          <p:spPr bwMode="auto">
            <a:xfrm>
              <a:off x="4357686" y="2357429"/>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0</a:t>
              </a:r>
            </a:p>
          </p:txBody>
        </p:sp>
        <p:cxnSp>
          <p:nvCxnSpPr>
            <p:cNvPr id="168" name="6 Conector recto de flecha"/>
            <p:cNvCxnSpPr>
              <a:endCxn id="166" idx="2"/>
            </p:cNvCxnSpPr>
            <p:nvPr/>
          </p:nvCxnSpPr>
          <p:spPr bwMode="auto">
            <a:xfrm flipV="1">
              <a:off x="4467205" y="2645461"/>
              <a:ext cx="358533" cy="1481783"/>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91" name="122 CuadroTexto"/>
          <p:cNvSpPr txBox="1"/>
          <p:nvPr/>
        </p:nvSpPr>
        <p:spPr>
          <a:xfrm>
            <a:off x="4649007" y="4459526"/>
            <a:ext cx="1877437" cy="400110"/>
          </a:xfrm>
          <a:prstGeom prst="rect">
            <a:avLst/>
          </a:prstGeom>
          <a:noFill/>
        </p:spPr>
        <p:txBody>
          <a:bodyPr wrap="none" rtlCol="0">
            <a:spAutoFit/>
          </a:bodyPr>
          <a:lstStyle/>
          <a:p>
            <a:r>
              <a:rPr lang="es-ES" b="1" dirty="0">
                <a:solidFill>
                  <a:schemeClr val="bg2">
                    <a:lumMod val="25000"/>
                  </a:schemeClr>
                </a:solidFill>
                <a:latin typeface="Courier New" pitchFamily="49" charset="0"/>
                <a:cs typeface="Courier New" pitchFamily="49" charset="0"/>
              </a:rPr>
              <a:t>lb s1,1(x0)</a:t>
            </a:r>
          </a:p>
        </p:txBody>
      </p:sp>
      <p:grpSp>
        <p:nvGrpSpPr>
          <p:cNvPr id="192" name="16 Grupo"/>
          <p:cNvGrpSpPr/>
          <p:nvPr/>
        </p:nvGrpSpPr>
        <p:grpSpPr>
          <a:xfrm>
            <a:off x="5489255" y="2318482"/>
            <a:ext cx="936104" cy="2141044"/>
            <a:chOff x="4357686" y="2357429"/>
            <a:chExt cx="936104" cy="2141044"/>
          </a:xfrm>
        </p:grpSpPr>
        <p:sp>
          <p:nvSpPr>
            <p:cNvPr id="193" name="110 Rectángulo"/>
            <p:cNvSpPr/>
            <p:nvPr/>
          </p:nvSpPr>
          <p:spPr bwMode="auto">
            <a:xfrm>
              <a:off x="4357686" y="2357429"/>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a:t>
              </a:r>
            </a:p>
          </p:txBody>
        </p:sp>
        <p:cxnSp>
          <p:nvCxnSpPr>
            <p:cNvPr id="194" name="6 Conector recto de flecha"/>
            <p:cNvCxnSpPr>
              <a:stCxn id="191" idx="0"/>
              <a:endCxn id="193" idx="2"/>
            </p:cNvCxnSpPr>
            <p:nvPr/>
          </p:nvCxnSpPr>
          <p:spPr bwMode="auto">
            <a:xfrm flipV="1">
              <a:off x="4456157" y="2645461"/>
              <a:ext cx="369581" cy="1853012"/>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95" name="122 CuadroTexto"/>
          <p:cNvSpPr txBox="1"/>
          <p:nvPr/>
        </p:nvSpPr>
        <p:spPr>
          <a:xfrm>
            <a:off x="5975943" y="4955635"/>
            <a:ext cx="1877437" cy="400110"/>
          </a:xfrm>
          <a:prstGeom prst="rect">
            <a:avLst/>
          </a:prstGeom>
          <a:noFill/>
        </p:spPr>
        <p:txBody>
          <a:bodyPr wrap="none" rtlCol="0">
            <a:spAutoFit/>
          </a:bodyPr>
          <a:lstStyle/>
          <a:p>
            <a:r>
              <a:rPr lang="es-ES" b="1" dirty="0">
                <a:solidFill>
                  <a:schemeClr val="bg2">
                    <a:lumMod val="25000"/>
                  </a:schemeClr>
                </a:solidFill>
                <a:latin typeface="Courier New" pitchFamily="49" charset="0"/>
                <a:cs typeface="Courier New" pitchFamily="49" charset="0"/>
              </a:rPr>
              <a:t>lb s1,2(x0)</a:t>
            </a:r>
          </a:p>
        </p:txBody>
      </p:sp>
      <p:grpSp>
        <p:nvGrpSpPr>
          <p:cNvPr id="196" name="16 Grupo"/>
          <p:cNvGrpSpPr/>
          <p:nvPr/>
        </p:nvGrpSpPr>
        <p:grpSpPr>
          <a:xfrm>
            <a:off x="6525573" y="2318482"/>
            <a:ext cx="936104" cy="2637153"/>
            <a:chOff x="4357686" y="2357429"/>
            <a:chExt cx="936104" cy="2637153"/>
          </a:xfrm>
        </p:grpSpPr>
        <p:sp>
          <p:nvSpPr>
            <p:cNvPr id="197" name="110 Rectángulo"/>
            <p:cNvSpPr/>
            <p:nvPr/>
          </p:nvSpPr>
          <p:spPr bwMode="auto">
            <a:xfrm>
              <a:off x="4357686" y="2357429"/>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2</a:t>
              </a:r>
            </a:p>
          </p:txBody>
        </p:sp>
        <p:cxnSp>
          <p:nvCxnSpPr>
            <p:cNvPr id="198" name="6 Conector recto de flecha"/>
            <p:cNvCxnSpPr>
              <a:stCxn id="195" idx="0"/>
              <a:endCxn id="197" idx="2"/>
            </p:cNvCxnSpPr>
            <p:nvPr/>
          </p:nvCxnSpPr>
          <p:spPr bwMode="auto">
            <a:xfrm flipV="1">
              <a:off x="4746775" y="2645461"/>
              <a:ext cx="78963" cy="2349121"/>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99" name="122 CuadroTexto"/>
          <p:cNvSpPr txBox="1"/>
          <p:nvPr/>
        </p:nvSpPr>
        <p:spPr>
          <a:xfrm>
            <a:off x="7135083" y="5532920"/>
            <a:ext cx="1877437" cy="400110"/>
          </a:xfrm>
          <a:prstGeom prst="rect">
            <a:avLst/>
          </a:prstGeom>
          <a:noFill/>
        </p:spPr>
        <p:txBody>
          <a:bodyPr wrap="none" rtlCol="0">
            <a:spAutoFit/>
          </a:bodyPr>
          <a:lstStyle/>
          <a:p>
            <a:r>
              <a:rPr lang="es-ES" b="1" dirty="0">
                <a:solidFill>
                  <a:schemeClr val="bg2">
                    <a:lumMod val="25000"/>
                  </a:schemeClr>
                </a:solidFill>
                <a:latin typeface="Courier New" pitchFamily="49" charset="0"/>
                <a:cs typeface="Courier New" pitchFamily="49" charset="0"/>
              </a:rPr>
              <a:t>lb s1,3(x0)</a:t>
            </a:r>
          </a:p>
        </p:txBody>
      </p:sp>
      <p:grpSp>
        <p:nvGrpSpPr>
          <p:cNvPr id="200" name="16 Grupo"/>
          <p:cNvGrpSpPr/>
          <p:nvPr/>
        </p:nvGrpSpPr>
        <p:grpSpPr>
          <a:xfrm>
            <a:off x="7532151" y="2318482"/>
            <a:ext cx="936104" cy="3214438"/>
            <a:chOff x="4357686" y="2357429"/>
            <a:chExt cx="936104" cy="3214438"/>
          </a:xfrm>
        </p:grpSpPr>
        <p:sp>
          <p:nvSpPr>
            <p:cNvPr id="201" name="110 Rectángulo"/>
            <p:cNvSpPr/>
            <p:nvPr/>
          </p:nvSpPr>
          <p:spPr bwMode="auto">
            <a:xfrm>
              <a:off x="4357686" y="2357429"/>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3</a:t>
              </a:r>
            </a:p>
          </p:txBody>
        </p:sp>
        <p:cxnSp>
          <p:nvCxnSpPr>
            <p:cNvPr id="202" name="6 Conector recto de flecha"/>
            <p:cNvCxnSpPr>
              <a:stCxn id="199" idx="0"/>
              <a:endCxn id="201" idx="2"/>
            </p:cNvCxnSpPr>
            <p:nvPr/>
          </p:nvCxnSpPr>
          <p:spPr bwMode="auto">
            <a:xfrm flipH="1" flipV="1">
              <a:off x="4825738" y="2645461"/>
              <a:ext cx="73599" cy="2926406"/>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grpSp>
        <p:nvGrpSpPr>
          <p:cNvPr id="18" name="Grupo 17"/>
          <p:cNvGrpSpPr/>
          <p:nvPr/>
        </p:nvGrpSpPr>
        <p:grpSpPr>
          <a:xfrm>
            <a:off x="1979712" y="3545745"/>
            <a:ext cx="307777" cy="2257443"/>
            <a:chOff x="2024659" y="3556216"/>
            <a:chExt cx="307777" cy="2257443"/>
          </a:xfrm>
        </p:grpSpPr>
        <p:sp>
          <p:nvSpPr>
            <p:cNvPr id="129" name="CuadroTexto 128"/>
            <p:cNvSpPr txBox="1"/>
            <p:nvPr/>
          </p:nvSpPr>
          <p:spPr>
            <a:xfrm>
              <a:off x="2024659" y="3556216"/>
              <a:ext cx="284052" cy="307777"/>
            </a:xfrm>
            <a:prstGeom prst="rect">
              <a:avLst/>
            </a:prstGeom>
            <a:noFill/>
          </p:spPr>
          <p:txBody>
            <a:bodyPr wrap="none" rtlCol="0">
              <a:spAutoFit/>
            </a:bodyPr>
            <a:lstStyle/>
            <a:p>
              <a:r>
                <a:rPr lang="es-ES" sz="1400" b="1" dirty="0">
                  <a:solidFill>
                    <a:srgbClr val="FF0000"/>
                  </a:solidFill>
                </a:rPr>
                <a:t>0</a:t>
              </a:r>
            </a:p>
          </p:txBody>
        </p:sp>
        <p:sp>
          <p:nvSpPr>
            <p:cNvPr id="130" name="CuadroTexto 129"/>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131" name="CuadroTexto 130"/>
            <p:cNvSpPr txBox="1"/>
            <p:nvPr/>
          </p:nvSpPr>
          <p:spPr>
            <a:xfrm rot="16200000">
              <a:off x="1832139" y="5313361"/>
              <a:ext cx="692818" cy="307777"/>
            </a:xfrm>
            <a:prstGeom prst="rect">
              <a:avLst/>
            </a:prstGeom>
            <a:noFill/>
          </p:spPr>
          <p:txBody>
            <a:bodyPr wrap="none" rtlCol="0">
              <a:spAutoFit/>
            </a:bodyPr>
            <a:lstStyle/>
            <a:p>
              <a:r>
                <a:rPr lang="es-ES" sz="1400" dirty="0"/>
                <a:t>Byte 0</a:t>
              </a:r>
            </a:p>
          </p:txBody>
        </p:sp>
        <p:sp>
          <p:nvSpPr>
            <p:cNvPr id="207" name="CuadroTexto 206"/>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208" name="CuadroTexto 207"/>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209" name="Grupo 208"/>
          <p:cNvGrpSpPr/>
          <p:nvPr/>
        </p:nvGrpSpPr>
        <p:grpSpPr>
          <a:xfrm>
            <a:off x="2243741" y="3545745"/>
            <a:ext cx="307777" cy="2257443"/>
            <a:chOff x="2024659" y="3556216"/>
            <a:chExt cx="307777" cy="2257443"/>
          </a:xfrm>
        </p:grpSpPr>
        <p:sp>
          <p:nvSpPr>
            <p:cNvPr id="210" name="CuadroTexto 209"/>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211" name="CuadroTexto 210"/>
            <p:cNvSpPr txBox="1"/>
            <p:nvPr/>
          </p:nvSpPr>
          <p:spPr>
            <a:xfrm>
              <a:off x="2024659" y="3934409"/>
              <a:ext cx="284052" cy="307777"/>
            </a:xfrm>
            <a:prstGeom prst="rect">
              <a:avLst/>
            </a:prstGeom>
            <a:noFill/>
          </p:spPr>
          <p:txBody>
            <a:bodyPr wrap="none" rtlCol="0">
              <a:spAutoFit/>
            </a:bodyPr>
            <a:lstStyle/>
            <a:p>
              <a:r>
                <a:rPr lang="es-ES" sz="1400" b="1" dirty="0">
                  <a:solidFill>
                    <a:srgbClr val="FF0000"/>
                  </a:solidFill>
                </a:rPr>
                <a:t>0</a:t>
              </a:r>
            </a:p>
          </p:txBody>
        </p:sp>
        <p:sp>
          <p:nvSpPr>
            <p:cNvPr id="212" name="CuadroTexto 211"/>
            <p:cNvSpPr txBox="1"/>
            <p:nvPr/>
          </p:nvSpPr>
          <p:spPr>
            <a:xfrm rot="16200000">
              <a:off x="1832139" y="5313361"/>
              <a:ext cx="692818" cy="307777"/>
            </a:xfrm>
            <a:prstGeom prst="rect">
              <a:avLst/>
            </a:prstGeom>
            <a:noFill/>
          </p:spPr>
          <p:txBody>
            <a:bodyPr wrap="none" rtlCol="0">
              <a:spAutoFit/>
            </a:bodyPr>
            <a:lstStyle/>
            <a:p>
              <a:r>
                <a:rPr lang="es-ES" sz="1400" dirty="0"/>
                <a:t>Byte 1</a:t>
              </a:r>
            </a:p>
          </p:txBody>
        </p:sp>
        <p:sp>
          <p:nvSpPr>
            <p:cNvPr id="213" name="CuadroTexto 212"/>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214" name="CuadroTexto 213"/>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215" name="Grupo 214"/>
          <p:cNvGrpSpPr/>
          <p:nvPr/>
        </p:nvGrpSpPr>
        <p:grpSpPr>
          <a:xfrm>
            <a:off x="2507770" y="3545745"/>
            <a:ext cx="307777" cy="2257443"/>
            <a:chOff x="2024659" y="3556216"/>
            <a:chExt cx="307777" cy="2257443"/>
          </a:xfrm>
        </p:grpSpPr>
        <p:sp>
          <p:nvSpPr>
            <p:cNvPr id="216" name="CuadroTexto 215"/>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217" name="CuadroTexto 216"/>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218" name="CuadroTexto 217"/>
            <p:cNvSpPr txBox="1"/>
            <p:nvPr/>
          </p:nvSpPr>
          <p:spPr>
            <a:xfrm rot="16200000">
              <a:off x="1832139" y="5313361"/>
              <a:ext cx="692818" cy="307777"/>
            </a:xfrm>
            <a:prstGeom prst="rect">
              <a:avLst/>
            </a:prstGeom>
            <a:noFill/>
          </p:spPr>
          <p:txBody>
            <a:bodyPr wrap="none" rtlCol="0">
              <a:spAutoFit/>
            </a:bodyPr>
            <a:lstStyle/>
            <a:p>
              <a:r>
                <a:rPr lang="es-ES" sz="1400" dirty="0"/>
                <a:t>Byte 2</a:t>
              </a:r>
            </a:p>
          </p:txBody>
        </p:sp>
        <p:sp>
          <p:nvSpPr>
            <p:cNvPr id="219" name="CuadroTexto 218"/>
            <p:cNvSpPr txBox="1"/>
            <p:nvPr/>
          </p:nvSpPr>
          <p:spPr>
            <a:xfrm>
              <a:off x="2024659" y="4329961"/>
              <a:ext cx="284052" cy="307777"/>
            </a:xfrm>
            <a:prstGeom prst="rect">
              <a:avLst/>
            </a:prstGeom>
            <a:noFill/>
          </p:spPr>
          <p:txBody>
            <a:bodyPr wrap="none" rtlCol="0">
              <a:spAutoFit/>
            </a:bodyPr>
            <a:lstStyle/>
            <a:p>
              <a:r>
                <a:rPr lang="es-ES" sz="1400" b="1" dirty="0">
                  <a:solidFill>
                    <a:srgbClr val="FF0000"/>
                  </a:solidFill>
                </a:rPr>
                <a:t>0</a:t>
              </a:r>
            </a:p>
          </p:txBody>
        </p:sp>
        <p:sp>
          <p:nvSpPr>
            <p:cNvPr id="220" name="CuadroTexto 219"/>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221" name="Grupo 220"/>
          <p:cNvGrpSpPr/>
          <p:nvPr/>
        </p:nvGrpSpPr>
        <p:grpSpPr>
          <a:xfrm>
            <a:off x="2771800" y="3545745"/>
            <a:ext cx="307777" cy="2257443"/>
            <a:chOff x="2024659" y="3556216"/>
            <a:chExt cx="307777" cy="2257443"/>
          </a:xfrm>
        </p:grpSpPr>
        <p:sp>
          <p:nvSpPr>
            <p:cNvPr id="222" name="CuadroTexto 221"/>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223" name="CuadroTexto 222"/>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224" name="CuadroTexto 223"/>
            <p:cNvSpPr txBox="1"/>
            <p:nvPr/>
          </p:nvSpPr>
          <p:spPr>
            <a:xfrm rot="16200000">
              <a:off x="1832139" y="5313361"/>
              <a:ext cx="692818" cy="307777"/>
            </a:xfrm>
            <a:prstGeom prst="rect">
              <a:avLst/>
            </a:prstGeom>
            <a:noFill/>
          </p:spPr>
          <p:txBody>
            <a:bodyPr wrap="none" rtlCol="0">
              <a:spAutoFit/>
            </a:bodyPr>
            <a:lstStyle/>
            <a:p>
              <a:r>
                <a:rPr lang="es-ES" sz="1400" dirty="0"/>
                <a:t>Byte 3</a:t>
              </a:r>
            </a:p>
          </p:txBody>
        </p:sp>
        <p:sp>
          <p:nvSpPr>
            <p:cNvPr id="225" name="CuadroTexto 224"/>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226" name="CuadroTexto 225"/>
            <p:cNvSpPr txBox="1"/>
            <p:nvPr/>
          </p:nvSpPr>
          <p:spPr>
            <a:xfrm>
              <a:off x="2024659" y="4682388"/>
              <a:ext cx="284052" cy="307777"/>
            </a:xfrm>
            <a:prstGeom prst="rect">
              <a:avLst/>
            </a:prstGeom>
            <a:noFill/>
          </p:spPr>
          <p:txBody>
            <a:bodyPr wrap="none" rtlCol="0">
              <a:spAutoFit/>
            </a:bodyPr>
            <a:lstStyle/>
            <a:p>
              <a:r>
                <a:rPr lang="es-ES" sz="1400" b="1" dirty="0">
                  <a:solidFill>
                    <a:srgbClr val="FF0000"/>
                  </a:solidFill>
                </a:rPr>
                <a:t>0</a:t>
              </a:r>
            </a:p>
          </p:txBody>
        </p:sp>
      </p:grpSp>
    </p:spTree>
    <p:extLst>
      <p:ext uri="{BB962C8B-B14F-4D97-AF65-F5344CB8AC3E}">
        <p14:creationId xmlns:p14="http://schemas.microsoft.com/office/powerpoint/2010/main" val="149378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wipe(down)">
                                      <p:cBhvr>
                                        <p:cTn id="7" dur="500"/>
                                        <p:tgtEl>
                                          <p:spTgt spid="14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65"/>
                                        </p:tgtEl>
                                        <p:attrNameLst>
                                          <p:attrName>style.visibility</p:attrName>
                                        </p:attrNameLst>
                                      </p:cBhvr>
                                      <p:to>
                                        <p:strVal val="visible"/>
                                      </p:to>
                                    </p:set>
                                    <p:animEffect transition="in" filter="wipe(down)">
                                      <p:cBhvr>
                                        <p:cTn id="11" dur="500"/>
                                        <p:tgtEl>
                                          <p:spTgt spid="165"/>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65"/>
                                        </p:tgtEl>
                                        <p:attrNameLst>
                                          <p:attrName>style.visibility</p:attrName>
                                        </p:attrNameLst>
                                      </p:cBhvr>
                                      <p:to>
                                        <p:strVal val="hidden"/>
                                      </p:to>
                                    </p:set>
                                  </p:childTnLst>
                                </p:cTn>
                              </p:par>
                              <p:par>
                                <p:cTn id="19" presetID="22" presetClass="entr" presetSubtype="4" fill="hold" grpId="0" nodeType="withEffect">
                                  <p:stCondLst>
                                    <p:cond delay="0"/>
                                  </p:stCondLst>
                                  <p:childTnLst>
                                    <p:set>
                                      <p:cBhvr>
                                        <p:cTn id="20" dur="1" fill="hold">
                                          <p:stCondLst>
                                            <p:cond delay="0"/>
                                          </p:stCondLst>
                                        </p:cTn>
                                        <p:tgtEl>
                                          <p:spTgt spid="191"/>
                                        </p:tgtEl>
                                        <p:attrNameLst>
                                          <p:attrName>style.visibility</p:attrName>
                                        </p:attrNameLst>
                                      </p:cBhvr>
                                      <p:to>
                                        <p:strVal val="visible"/>
                                      </p:to>
                                    </p:set>
                                    <p:animEffect transition="in" filter="wipe(down)">
                                      <p:cBhvr>
                                        <p:cTn id="21" dur="500"/>
                                        <p:tgtEl>
                                          <p:spTgt spid="191"/>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192"/>
                                        </p:tgtEl>
                                        <p:attrNameLst>
                                          <p:attrName>style.visibility</p:attrName>
                                        </p:attrNameLst>
                                      </p:cBhvr>
                                      <p:to>
                                        <p:strVal val="visible"/>
                                      </p:to>
                                    </p:set>
                                    <p:animEffect transition="in" filter="wipe(down)">
                                      <p:cBhvr>
                                        <p:cTn id="25" dur="500"/>
                                        <p:tgtEl>
                                          <p:spTgt spid="192"/>
                                        </p:tgtEl>
                                      </p:cBhvr>
                                    </p:animEffect>
                                  </p:childTnLst>
                                </p:cTn>
                              </p:par>
                              <p:par>
                                <p:cTn id="26" presetID="1" presetClass="entr" presetSubtype="0" fill="hold" nodeType="withEffect">
                                  <p:stCondLst>
                                    <p:cond delay="0"/>
                                  </p:stCondLst>
                                  <p:childTnLst>
                                    <p:set>
                                      <p:cBhvr>
                                        <p:cTn id="27" dur="1" fill="hold">
                                          <p:stCondLst>
                                            <p:cond delay="0"/>
                                          </p:stCondLst>
                                        </p:cTn>
                                        <p:tgtEl>
                                          <p:spTgt spid="20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192"/>
                                        </p:tgtEl>
                                        <p:attrNameLst>
                                          <p:attrName>style.visibility</p:attrName>
                                        </p:attrNameLst>
                                      </p:cBhvr>
                                      <p:to>
                                        <p:strVal val="hidden"/>
                                      </p:to>
                                    </p:set>
                                  </p:childTnLst>
                                </p:cTn>
                              </p:par>
                              <p:par>
                                <p:cTn id="32" presetID="22" presetClass="entr" presetSubtype="4" fill="hold" grpId="0" nodeType="withEffect">
                                  <p:stCondLst>
                                    <p:cond delay="0"/>
                                  </p:stCondLst>
                                  <p:childTnLst>
                                    <p:set>
                                      <p:cBhvr>
                                        <p:cTn id="33" dur="1" fill="hold">
                                          <p:stCondLst>
                                            <p:cond delay="0"/>
                                          </p:stCondLst>
                                        </p:cTn>
                                        <p:tgtEl>
                                          <p:spTgt spid="195"/>
                                        </p:tgtEl>
                                        <p:attrNameLst>
                                          <p:attrName>style.visibility</p:attrName>
                                        </p:attrNameLst>
                                      </p:cBhvr>
                                      <p:to>
                                        <p:strVal val="visible"/>
                                      </p:to>
                                    </p:set>
                                    <p:animEffect transition="in" filter="wipe(down)">
                                      <p:cBhvr>
                                        <p:cTn id="34" dur="500"/>
                                        <p:tgtEl>
                                          <p:spTgt spid="195"/>
                                        </p:tgtEl>
                                      </p:cBhvr>
                                    </p:animEffect>
                                  </p:childTnLst>
                                </p:cTn>
                              </p:par>
                            </p:childTnLst>
                          </p:cTn>
                        </p:par>
                        <p:par>
                          <p:cTn id="35" fill="hold">
                            <p:stCondLst>
                              <p:cond delay="500"/>
                            </p:stCondLst>
                            <p:childTnLst>
                              <p:par>
                                <p:cTn id="36" presetID="22" presetClass="entr" presetSubtype="4" fill="hold" nodeType="afterEffect">
                                  <p:stCondLst>
                                    <p:cond delay="0"/>
                                  </p:stCondLst>
                                  <p:childTnLst>
                                    <p:set>
                                      <p:cBhvr>
                                        <p:cTn id="37" dur="1" fill="hold">
                                          <p:stCondLst>
                                            <p:cond delay="0"/>
                                          </p:stCondLst>
                                        </p:cTn>
                                        <p:tgtEl>
                                          <p:spTgt spid="196"/>
                                        </p:tgtEl>
                                        <p:attrNameLst>
                                          <p:attrName>style.visibility</p:attrName>
                                        </p:attrNameLst>
                                      </p:cBhvr>
                                      <p:to>
                                        <p:strVal val="visible"/>
                                      </p:to>
                                    </p:set>
                                    <p:animEffect transition="in" filter="wipe(down)">
                                      <p:cBhvr>
                                        <p:cTn id="38" dur="500"/>
                                        <p:tgtEl>
                                          <p:spTgt spid="196"/>
                                        </p:tgtEl>
                                      </p:cBhvr>
                                    </p:animEffect>
                                  </p:childTnLst>
                                </p:cTn>
                              </p:par>
                              <p:par>
                                <p:cTn id="39" presetID="1" presetClass="entr" presetSubtype="0" fill="hold" nodeType="withEffect">
                                  <p:stCondLst>
                                    <p:cond delay="0"/>
                                  </p:stCondLst>
                                  <p:childTnLst>
                                    <p:set>
                                      <p:cBhvr>
                                        <p:cTn id="40" dur="1" fill="hold">
                                          <p:stCondLst>
                                            <p:cond delay="0"/>
                                          </p:stCondLst>
                                        </p:cTn>
                                        <p:tgtEl>
                                          <p:spTgt spid="2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96"/>
                                        </p:tgtEl>
                                        <p:attrNameLst>
                                          <p:attrName>style.visibility</p:attrName>
                                        </p:attrNameLst>
                                      </p:cBhvr>
                                      <p:to>
                                        <p:strVal val="hidden"/>
                                      </p:to>
                                    </p:set>
                                  </p:childTnLst>
                                </p:cTn>
                              </p:par>
                              <p:par>
                                <p:cTn id="45" presetID="22" presetClass="entr" presetSubtype="4" fill="hold" grpId="0" nodeType="withEffect">
                                  <p:stCondLst>
                                    <p:cond delay="0"/>
                                  </p:stCondLst>
                                  <p:childTnLst>
                                    <p:set>
                                      <p:cBhvr>
                                        <p:cTn id="46" dur="1" fill="hold">
                                          <p:stCondLst>
                                            <p:cond delay="0"/>
                                          </p:stCondLst>
                                        </p:cTn>
                                        <p:tgtEl>
                                          <p:spTgt spid="199"/>
                                        </p:tgtEl>
                                        <p:attrNameLst>
                                          <p:attrName>style.visibility</p:attrName>
                                        </p:attrNameLst>
                                      </p:cBhvr>
                                      <p:to>
                                        <p:strVal val="visible"/>
                                      </p:to>
                                    </p:set>
                                    <p:animEffect transition="in" filter="wipe(down)">
                                      <p:cBhvr>
                                        <p:cTn id="47" dur="500"/>
                                        <p:tgtEl>
                                          <p:spTgt spid="199"/>
                                        </p:tgtEl>
                                      </p:cBhvr>
                                    </p:animEffect>
                                  </p:childTnLst>
                                </p:cTn>
                              </p:par>
                            </p:childTnLst>
                          </p:cTn>
                        </p:par>
                        <p:par>
                          <p:cTn id="48" fill="hold">
                            <p:stCondLst>
                              <p:cond delay="500"/>
                            </p:stCondLst>
                            <p:childTnLst>
                              <p:par>
                                <p:cTn id="49" presetID="22" presetClass="entr" presetSubtype="4" fill="hold" nodeType="afterEffect">
                                  <p:stCondLst>
                                    <p:cond delay="0"/>
                                  </p:stCondLst>
                                  <p:childTnLst>
                                    <p:set>
                                      <p:cBhvr>
                                        <p:cTn id="50" dur="1" fill="hold">
                                          <p:stCondLst>
                                            <p:cond delay="0"/>
                                          </p:stCondLst>
                                        </p:cTn>
                                        <p:tgtEl>
                                          <p:spTgt spid="200"/>
                                        </p:tgtEl>
                                        <p:attrNameLst>
                                          <p:attrName>style.visibility</p:attrName>
                                        </p:attrNameLst>
                                      </p:cBhvr>
                                      <p:to>
                                        <p:strVal val="visible"/>
                                      </p:to>
                                    </p:set>
                                    <p:animEffect transition="in" filter="wipe(down)">
                                      <p:cBhvr>
                                        <p:cTn id="51" dur="500"/>
                                        <p:tgtEl>
                                          <p:spTgt spid="200"/>
                                        </p:tgtEl>
                                      </p:cBhvr>
                                    </p:animEffect>
                                  </p:childTnLst>
                                </p:cTn>
                              </p:par>
                            </p:childTnLst>
                          </p:cTn>
                        </p:par>
                        <p:par>
                          <p:cTn id="52" fill="hold">
                            <p:stCondLst>
                              <p:cond delay="1000"/>
                            </p:stCondLst>
                            <p:childTnLst>
                              <p:par>
                                <p:cTn id="53" presetID="1" presetClass="entr" presetSubtype="0" fill="hold" nodeType="afterEffect">
                                  <p:stCondLst>
                                    <p:cond delay="0"/>
                                  </p:stCondLst>
                                  <p:childTnLst>
                                    <p:set>
                                      <p:cBhvr>
                                        <p:cTn id="54" dur="1" fill="hold">
                                          <p:stCondLst>
                                            <p:cond delay="0"/>
                                          </p:stCondLst>
                                        </p:cTn>
                                        <p:tgtEl>
                                          <p:spTgt spid="2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91" grpId="0"/>
      <p:bldP spid="195" grpId="0"/>
      <p:bldP spid="19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pc="-50" dirty="0"/>
              <a:t>Direccionamiento de memoria en CPUs de 32 bits</a:t>
            </a:r>
            <a:endParaRPr lang="es-ES" dirty="0"/>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21</a:t>
            </a:fld>
            <a:endParaRPr lang="en-US" dirty="0"/>
          </a:p>
        </p:txBody>
      </p:sp>
      <p:sp>
        <p:nvSpPr>
          <p:cNvPr id="53" name="52 Rectángulo"/>
          <p:cNvSpPr/>
          <p:nvPr/>
        </p:nvSpPr>
        <p:spPr bwMode="auto">
          <a:xfrm>
            <a:off x="4477519" y="2318533"/>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a:t>
            </a:r>
          </a:p>
        </p:txBody>
      </p:sp>
      <p:sp>
        <p:nvSpPr>
          <p:cNvPr id="55" name="54 Rectángulo"/>
          <p:cNvSpPr/>
          <p:nvPr/>
        </p:nvSpPr>
        <p:spPr bwMode="auto">
          <a:xfrm>
            <a:off x="4477519" y="271071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57" name="56 Rectángulo"/>
          <p:cNvSpPr/>
          <p:nvPr/>
        </p:nvSpPr>
        <p:spPr bwMode="auto">
          <a:xfrm>
            <a:off x="4475615" y="3107341"/>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8</a:t>
            </a:r>
          </a:p>
        </p:txBody>
      </p:sp>
      <p:sp>
        <p:nvSpPr>
          <p:cNvPr id="59" name="58 Rectángulo"/>
          <p:cNvSpPr/>
          <p:nvPr/>
        </p:nvSpPr>
        <p:spPr bwMode="auto">
          <a:xfrm>
            <a:off x="4483103" y="3475330"/>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12</a:t>
            </a:r>
          </a:p>
        </p:txBody>
      </p:sp>
      <p:sp>
        <p:nvSpPr>
          <p:cNvPr id="68" name="67 Rectángulo"/>
          <p:cNvSpPr/>
          <p:nvPr/>
        </p:nvSpPr>
        <p:spPr bwMode="auto">
          <a:xfrm>
            <a:off x="3419872" y="2329243"/>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0 0</a:t>
            </a:r>
          </a:p>
        </p:txBody>
      </p:sp>
      <p:sp>
        <p:nvSpPr>
          <p:cNvPr id="70" name="69 Rectángulo"/>
          <p:cNvSpPr/>
          <p:nvPr/>
        </p:nvSpPr>
        <p:spPr bwMode="auto">
          <a:xfrm>
            <a:off x="3419872" y="2710712"/>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 0 1 </a:t>
            </a:r>
          </a:p>
        </p:txBody>
      </p:sp>
      <p:sp>
        <p:nvSpPr>
          <p:cNvPr id="72" name="71 Rectángulo"/>
          <p:cNvSpPr/>
          <p:nvPr/>
        </p:nvSpPr>
        <p:spPr bwMode="auto">
          <a:xfrm>
            <a:off x="3413040" y="3066543"/>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1 0</a:t>
            </a:r>
          </a:p>
        </p:txBody>
      </p:sp>
      <p:sp>
        <p:nvSpPr>
          <p:cNvPr id="74" name="73 Rectángulo"/>
          <p:cNvSpPr/>
          <p:nvPr/>
        </p:nvSpPr>
        <p:spPr bwMode="auto">
          <a:xfrm>
            <a:off x="3419872" y="3501008"/>
            <a:ext cx="1080120"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ES" spc="200" dirty="0">
                <a:solidFill>
                  <a:schemeClr val="tx1"/>
                </a:solidFill>
              </a:rPr>
              <a:t>1 1 </a:t>
            </a:r>
          </a:p>
        </p:txBody>
      </p:sp>
      <p:sp>
        <p:nvSpPr>
          <p:cNvPr id="86" name="85 Rectángulo"/>
          <p:cNvSpPr/>
          <p:nvPr/>
        </p:nvSpPr>
        <p:spPr bwMode="auto">
          <a:xfrm>
            <a:off x="5485631" y="2318533"/>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88" name="87 Rectángulo"/>
          <p:cNvSpPr/>
          <p:nvPr/>
        </p:nvSpPr>
        <p:spPr bwMode="auto">
          <a:xfrm>
            <a:off x="5485631" y="271071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90" name="89 Rectángulo"/>
          <p:cNvSpPr/>
          <p:nvPr/>
        </p:nvSpPr>
        <p:spPr bwMode="auto">
          <a:xfrm>
            <a:off x="5483727" y="3107341"/>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9</a:t>
            </a:r>
          </a:p>
        </p:txBody>
      </p:sp>
      <p:sp>
        <p:nvSpPr>
          <p:cNvPr id="92" name="91 Rectángulo"/>
          <p:cNvSpPr/>
          <p:nvPr/>
        </p:nvSpPr>
        <p:spPr bwMode="auto">
          <a:xfrm>
            <a:off x="5491215" y="347533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13</a:t>
            </a:r>
          </a:p>
        </p:txBody>
      </p:sp>
      <p:sp>
        <p:nvSpPr>
          <p:cNvPr id="54" name="53 Rectángulo"/>
          <p:cNvSpPr/>
          <p:nvPr/>
        </p:nvSpPr>
        <p:spPr bwMode="auto">
          <a:xfrm>
            <a:off x="6522807" y="232648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87" name="86 Rectángulo"/>
          <p:cNvSpPr/>
          <p:nvPr/>
        </p:nvSpPr>
        <p:spPr bwMode="auto">
          <a:xfrm>
            <a:off x="7530919" y="232648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56" name="55 Rectángulo"/>
          <p:cNvSpPr/>
          <p:nvPr/>
        </p:nvSpPr>
        <p:spPr bwMode="auto">
          <a:xfrm>
            <a:off x="6524711" y="271071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6</a:t>
            </a:r>
          </a:p>
        </p:txBody>
      </p:sp>
      <p:sp>
        <p:nvSpPr>
          <p:cNvPr id="89" name="88 Rectángulo"/>
          <p:cNvSpPr/>
          <p:nvPr/>
        </p:nvSpPr>
        <p:spPr bwMode="auto">
          <a:xfrm>
            <a:off x="7532823" y="271071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7</a:t>
            </a:r>
          </a:p>
        </p:txBody>
      </p:sp>
      <p:sp>
        <p:nvSpPr>
          <p:cNvPr id="58" name="57 Rectángulo"/>
          <p:cNvSpPr/>
          <p:nvPr/>
        </p:nvSpPr>
        <p:spPr bwMode="auto">
          <a:xfrm>
            <a:off x="6522807" y="3095822"/>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p>
        </p:txBody>
      </p:sp>
      <p:sp>
        <p:nvSpPr>
          <p:cNvPr id="91" name="90 Rectángulo"/>
          <p:cNvSpPr/>
          <p:nvPr/>
        </p:nvSpPr>
        <p:spPr bwMode="auto">
          <a:xfrm>
            <a:off x="7530919" y="3095822"/>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p>
        </p:txBody>
      </p:sp>
      <p:sp>
        <p:nvSpPr>
          <p:cNvPr id="60" name="59 Rectángulo"/>
          <p:cNvSpPr/>
          <p:nvPr/>
        </p:nvSpPr>
        <p:spPr bwMode="auto">
          <a:xfrm>
            <a:off x="6522807" y="3466646"/>
            <a:ext cx="936104" cy="288032"/>
          </a:xfrm>
          <a:prstGeom prst="rect">
            <a:avLst/>
          </a:prstGeom>
          <a:solidFill>
            <a:srgbClr val="FFC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14</a:t>
            </a:r>
          </a:p>
        </p:txBody>
      </p:sp>
      <p:sp>
        <p:nvSpPr>
          <p:cNvPr id="93" name="92 Rectángulo"/>
          <p:cNvSpPr/>
          <p:nvPr/>
        </p:nvSpPr>
        <p:spPr bwMode="auto">
          <a:xfrm>
            <a:off x="7530919" y="3475330"/>
            <a:ext cx="936104" cy="288032"/>
          </a:xfrm>
          <a:prstGeom prst="rect">
            <a:avLst/>
          </a:prstGeom>
          <a:solidFill>
            <a:schemeClr val="accent1">
              <a:lumMod val="60000"/>
              <a:lumOff val="4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15</a:t>
            </a:r>
          </a:p>
        </p:txBody>
      </p:sp>
      <p:grpSp>
        <p:nvGrpSpPr>
          <p:cNvPr id="6" name="99 Grupo"/>
          <p:cNvGrpSpPr/>
          <p:nvPr/>
        </p:nvGrpSpPr>
        <p:grpSpPr>
          <a:xfrm>
            <a:off x="4477519" y="1934303"/>
            <a:ext cx="1944216" cy="288032"/>
            <a:chOff x="5004048" y="2564904"/>
            <a:chExt cx="1944216" cy="288032"/>
          </a:xfrm>
        </p:grpSpPr>
        <p:sp>
          <p:nvSpPr>
            <p:cNvPr id="101" name="100 Rectángulo"/>
            <p:cNvSpPr/>
            <p:nvPr/>
          </p:nvSpPr>
          <p:spPr bwMode="auto">
            <a:xfrm>
              <a:off x="5004048"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BE</a:t>
              </a:r>
              <a:r>
                <a:rPr lang="es-ES" b="1" baseline="-25000" dirty="0">
                  <a:solidFill>
                    <a:schemeClr val="tx1"/>
                  </a:solidFill>
                </a:rPr>
                <a:t>0</a:t>
              </a:r>
              <a:r>
                <a:rPr lang="es-ES" b="1" dirty="0">
                  <a:solidFill>
                    <a:schemeClr val="tx1"/>
                  </a:solidFill>
                </a:rPr>
                <a:t>*</a:t>
              </a:r>
              <a:endParaRPr lang="es-ES" b="1" baseline="-25000" dirty="0">
                <a:solidFill>
                  <a:schemeClr val="tx1"/>
                </a:solidFill>
              </a:endParaRPr>
            </a:p>
          </p:txBody>
        </p:sp>
        <p:sp>
          <p:nvSpPr>
            <p:cNvPr id="102" name="101 Rectángulo"/>
            <p:cNvSpPr/>
            <p:nvPr/>
          </p:nvSpPr>
          <p:spPr bwMode="auto">
            <a:xfrm>
              <a:off x="5940152"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rPr>
                <a:t>  BE</a:t>
              </a:r>
              <a:r>
                <a:rPr lang="es-ES" b="1" baseline="-25000" dirty="0">
                  <a:solidFill>
                    <a:schemeClr val="tx1"/>
                  </a:solidFill>
                </a:rPr>
                <a:t>1</a:t>
              </a:r>
              <a:r>
                <a:rPr lang="es-ES" b="1" dirty="0">
                  <a:solidFill>
                    <a:schemeClr val="tx1"/>
                  </a:solidFill>
                </a:rPr>
                <a:t>*</a:t>
              </a:r>
              <a:endParaRPr lang="es-ES" b="1" baseline="-25000" dirty="0">
                <a:solidFill>
                  <a:schemeClr val="tx1"/>
                </a:solidFill>
              </a:endParaRPr>
            </a:p>
          </p:txBody>
        </p:sp>
      </p:grpSp>
      <p:grpSp>
        <p:nvGrpSpPr>
          <p:cNvPr id="43" name="99 Grupo"/>
          <p:cNvGrpSpPr/>
          <p:nvPr/>
        </p:nvGrpSpPr>
        <p:grpSpPr>
          <a:xfrm>
            <a:off x="6524711" y="1934303"/>
            <a:ext cx="1944216" cy="288032"/>
            <a:chOff x="5004048" y="2564904"/>
            <a:chExt cx="1944216" cy="288032"/>
          </a:xfrm>
        </p:grpSpPr>
        <p:sp>
          <p:nvSpPr>
            <p:cNvPr id="44" name="43 Rectángulo"/>
            <p:cNvSpPr/>
            <p:nvPr/>
          </p:nvSpPr>
          <p:spPr bwMode="auto">
            <a:xfrm>
              <a:off x="5004048"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BE</a:t>
              </a:r>
              <a:r>
                <a:rPr lang="es-ES" b="1" baseline="-25000" dirty="0">
                  <a:solidFill>
                    <a:schemeClr val="tx1"/>
                  </a:solidFill>
                </a:rPr>
                <a:t>2</a:t>
              </a:r>
              <a:r>
                <a:rPr lang="es-ES" b="1" dirty="0">
                  <a:solidFill>
                    <a:schemeClr val="tx1"/>
                  </a:solidFill>
                </a:rPr>
                <a:t>*</a:t>
              </a:r>
              <a:endParaRPr lang="es-ES" b="1" baseline="-25000" dirty="0">
                <a:solidFill>
                  <a:schemeClr val="tx1"/>
                </a:solidFill>
              </a:endParaRPr>
            </a:p>
          </p:txBody>
        </p:sp>
        <p:sp>
          <p:nvSpPr>
            <p:cNvPr id="45" name="44 Rectángulo"/>
            <p:cNvSpPr/>
            <p:nvPr/>
          </p:nvSpPr>
          <p:spPr bwMode="auto">
            <a:xfrm>
              <a:off x="5940152" y="2564904"/>
              <a:ext cx="1008112"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rPr>
                <a:t>  BE</a:t>
              </a:r>
              <a:r>
                <a:rPr lang="es-ES" b="1" baseline="-25000" dirty="0">
                  <a:solidFill>
                    <a:schemeClr val="tx1"/>
                  </a:solidFill>
                </a:rPr>
                <a:t>3</a:t>
              </a:r>
              <a:r>
                <a:rPr lang="es-ES" b="1" dirty="0">
                  <a:solidFill>
                    <a:schemeClr val="tx1"/>
                  </a:solidFill>
                </a:rPr>
                <a:t>*</a:t>
              </a:r>
              <a:endParaRPr lang="es-ES" b="1" baseline="-25000" dirty="0">
                <a:solidFill>
                  <a:schemeClr val="tx1"/>
                </a:solidFill>
              </a:endParaRPr>
            </a:p>
          </p:txBody>
        </p:sp>
      </p:grpSp>
      <p:sp>
        <p:nvSpPr>
          <p:cNvPr id="63" name="62 Rectángulo"/>
          <p:cNvSpPr/>
          <p:nvPr/>
        </p:nvSpPr>
        <p:spPr bwMode="auto">
          <a:xfrm>
            <a:off x="3557937" y="1927426"/>
            <a:ext cx="930412" cy="288032"/>
          </a:xfrm>
          <a:prstGeom prst="rect">
            <a:avLst/>
          </a:prstGeom>
          <a:solidFill>
            <a:schemeClr val="bg1">
              <a:lumMod val="85000"/>
            </a:schemeClr>
          </a:solid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a:t>
            </a:r>
            <a:r>
              <a:rPr lang="es-ES" baseline="-25000" dirty="0">
                <a:solidFill>
                  <a:schemeClr val="tx1"/>
                </a:solidFill>
              </a:rPr>
              <a:t>3</a:t>
            </a:r>
            <a:r>
              <a:rPr lang="es-ES" dirty="0">
                <a:solidFill>
                  <a:schemeClr val="tx1"/>
                </a:solidFill>
              </a:rPr>
              <a:t>A</a:t>
            </a:r>
            <a:r>
              <a:rPr lang="es-ES" baseline="-25000" dirty="0">
                <a:solidFill>
                  <a:schemeClr val="tx1"/>
                </a:solidFill>
              </a:rPr>
              <a:t>2</a:t>
            </a:r>
            <a:endParaRPr lang="es-ES" baseline="-25000" dirty="0">
              <a:solidFill>
                <a:schemeClr val="bg1">
                  <a:lumMod val="85000"/>
                </a:schemeClr>
              </a:solidFill>
            </a:endParaRPr>
          </a:p>
        </p:txBody>
      </p:sp>
      <p:grpSp>
        <p:nvGrpSpPr>
          <p:cNvPr id="78" name="77 Grupo"/>
          <p:cNvGrpSpPr/>
          <p:nvPr/>
        </p:nvGrpSpPr>
        <p:grpSpPr>
          <a:xfrm>
            <a:off x="4468399" y="1168725"/>
            <a:ext cx="3888432" cy="720080"/>
            <a:chOff x="4357686" y="1214422"/>
            <a:chExt cx="3888432" cy="720080"/>
          </a:xfrm>
        </p:grpSpPr>
        <p:sp>
          <p:nvSpPr>
            <p:cNvPr id="64" name="63 Rectángulo"/>
            <p:cNvSpPr/>
            <p:nvPr/>
          </p:nvSpPr>
          <p:spPr bwMode="auto">
            <a:xfrm>
              <a:off x="5869854" y="1214422"/>
              <a:ext cx="792088"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solidFill>
                    <a:schemeClr val="tx1"/>
                  </a:solidFill>
                </a:rPr>
                <a:t>A</a:t>
              </a:r>
              <a:r>
                <a:rPr lang="es-ES" baseline="-25000" dirty="0">
                  <a:solidFill>
                    <a:schemeClr val="tx1"/>
                  </a:solidFill>
                </a:rPr>
                <a:t>1</a:t>
              </a:r>
              <a:r>
                <a:rPr lang="es-ES" dirty="0">
                  <a:solidFill>
                    <a:schemeClr val="tx1"/>
                  </a:solidFill>
                </a:rPr>
                <a:t>A</a:t>
              </a:r>
              <a:r>
                <a:rPr lang="es-ES" baseline="-25000" dirty="0">
                  <a:solidFill>
                    <a:schemeClr val="tx1"/>
                  </a:solidFill>
                </a:rPr>
                <a:t>0</a:t>
              </a:r>
            </a:p>
          </p:txBody>
        </p:sp>
        <p:sp>
          <p:nvSpPr>
            <p:cNvPr id="65" name="64 Rectángulo"/>
            <p:cNvSpPr/>
            <p:nvPr/>
          </p:nvSpPr>
          <p:spPr bwMode="auto">
            <a:xfrm>
              <a:off x="4357686"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00</a:t>
              </a:r>
              <a:endParaRPr lang="es-ES" baseline="-25000" dirty="0">
                <a:solidFill>
                  <a:schemeClr val="tx1"/>
                </a:solidFill>
              </a:endParaRPr>
            </a:p>
          </p:txBody>
        </p:sp>
        <p:cxnSp>
          <p:nvCxnSpPr>
            <p:cNvPr id="66" name="65 Conector recto"/>
            <p:cNvCxnSpPr/>
            <p:nvPr/>
          </p:nvCxnSpPr>
          <p:spPr bwMode="auto">
            <a:xfrm>
              <a:off x="4429694" y="1574462"/>
              <a:ext cx="3816424"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67" name="66 Rectángulo"/>
            <p:cNvSpPr/>
            <p:nvPr/>
          </p:nvSpPr>
          <p:spPr bwMode="auto">
            <a:xfrm>
              <a:off x="5365798"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01</a:t>
              </a:r>
              <a:endParaRPr lang="es-ES" baseline="-25000" dirty="0">
                <a:solidFill>
                  <a:schemeClr val="tx1"/>
                </a:solidFill>
              </a:endParaRPr>
            </a:p>
          </p:txBody>
        </p:sp>
        <p:sp>
          <p:nvSpPr>
            <p:cNvPr id="76" name="75 Rectángulo"/>
            <p:cNvSpPr/>
            <p:nvPr/>
          </p:nvSpPr>
          <p:spPr bwMode="auto">
            <a:xfrm>
              <a:off x="6373910"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10</a:t>
              </a:r>
              <a:endParaRPr lang="es-ES" baseline="-25000" dirty="0">
                <a:solidFill>
                  <a:schemeClr val="tx1"/>
                </a:solidFill>
              </a:endParaRPr>
            </a:p>
          </p:txBody>
        </p:sp>
        <p:sp>
          <p:nvSpPr>
            <p:cNvPr id="77" name="76 Rectángulo"/>
            <p:cNvSpPr/>
            <p:nvPr/>
          </p:nvSpPr>
          <p:spPr bwMode="auto">
            <a:xfrm>
              <a:off x="7382022" y="1646470"/>
              <a:ext cx="864096" cy="288032"/>
            </a:xfrm>
            <a:prstGeom prst="rect">
              <a:avLst/>
            </a:prstGeom>
            <a:noFill/>
            <a:ln w="19050">
              <a:no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11</a:t>
              </a:r>
              <a:endParaRPr lang="es-ES" baseline="-25000" dirty="0">
                <a:solidFill>
                  <a:schemeClr val="tx1"/>
                </a:solidFill>
              </a:endParaRPr>
            </a:p>
          </p:txBody>
        </p:sp>
      </p:grpSp>
      <p:sp>
        <p:nvSpPr>
          <p:cNvPr id="79" name="78 Multiplicar"/>
          <p:cNvSpPr/>
          <p:nvPr/>
        </p:nvSpPr>
        <p:spPr bwMode="auto">
          <a:xfrm>
            <a:off x="6107483" y="1025849"/>
            <a:ext cx="504056" cy="576064"/>
          </a:xfrm>
          <a:prstGeom prst="mathMultiply">
            <a:avLst>
              <a:gd name="adj1" fmla="val 13228"/>
            </a:avLst>
          </a:prstGeom>
          <a:solidFill>
            <a:srgbClr val="FF3300"/>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08" name="107 Grupo"/>
          <p:cNvGrpSpPr/>
          <p:nvPr/>
        </p:nvGrpSpPr>
        <p:grpSpPr>
          <a:xfrm>
            <a:off x="4539837" y="1025849"/>
            <a:ext cx="4638595" cy="1233826"/>
            <a:chOff x="4429124" y="1071546"/>
            <a:chExt cx="4638595" cy="1233826"/>
          </a:xfrm>
        </p:grpSpPr>
        <p:sp>
          <p:nvSpPr>
            <p:cNvPr id="100" name="99 Rectángulo redondeado"/>
            <p:cNvSpPr/>
            <p:nvPr/>
          </p:nvSpPr>
          <p:spPr bwMode="auto">
            <a:xfrm>
              <a:off x="4429124" y="2000240"/>
              <a:ext cx="3927186" cy="305132"/>
            </a:xfrm>
            <a:prstGeom prst="roundRect">
              <a:avLst>
                <a:gd name="adj" fmla="val 44500"/>
              </a:avLst>
            </a:prstGeom>
            <a:noFill/>
            <a:ln w="9525">
              <a:solidFill>
                <a:srgbClr val="FF0000"/>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07" name="106 Grupo"/>
            <p:cNvGrpSpPr/>
            <p:nvPr/>
          </p:nvGrpSpPr>
          <p:grpSpPr>
            <a:xfrm>
              <a:off x="6500826" y="1071546"/>
              <a:ext cx="2566893" cy="857256"/>
              <a:chOff x="6658897" y="5743534"/>
              <a:chExt cx="2566893" cy="723634"/>
            </a:xfrm>
          </p:grpSpPr>
          <p:sp>
            <p:nvSpPr>
              <p:cNvPr id="103" name="102 CuadroTexto"/>
              <p:cNvSpPr txBox="1"/>
              <p:nvPr/>
            </p:nvSpPr>
            <p:spPr>
              <a:xfrm flipH="1">
                <a:off x="7016531" y="5743534"/>
                <a:ext cx="2209259" cy="400110"/>
              </a:xfrm>
              <a:prstGeom prst="rect">
                <a:avLst/>
              </a:prstGeom>
              <a:noFill/>
            </p:spPr>
            <p:txBody>
              <a:bodyPr wrap="none" rtlCol="0">
                <a:spAutoFit/>
              </a:bodyPr>
              <a:lstStyle/>
              <a:p>
                <a:r>
                  <a:rPr lang="es-ES" dirty="0">
                    <a:solidFill>
                      <a:schemeClr val="tx1">
                        <a:lumMod val="75000"/>
                        <a:lumOff val="25000"/>
                      </a:schemeClr>
                    </a:solidFill>
                  </a:rPr>
                  <a:t>Selección de byte</a:t>
                </a:r>
              </a:p>
            </p:txBody>
          </p:sp>
          <p:sp>
            <p:nvSpPr>
              <p:cNvPr id="106" name="105 Forma libre"/>
              <p:cNvSpPr/>
              <p:nvPr/>
            </p:nvSpPr>
            <p:spPr bwMode="auto">
              <a:xfrm>
                <a:off x="6658897" y="5973097"/>
                <a:ext cx="390832" cy="494071"/>
              </a:xfrm>
              <a:custGeom>
                <a:avLst/>
                <a:gdLst>
                  <a:gd name="connsiteX0" fmla="*/ 390832 w 390832"/>
                  <a:gd name="connsiteY0" fmla="*/ 0 h 494071"/>
                  <a:gd name="connsiteX1" fmla="*/ 184355 w 390832"/>
                  <a:gd name="connsiteY1" fmla="*/ 140109 h 494071"/>
                  <a:gd name="connsiteX2" fmla="*/ 0 w 390832"/>
                  <a:gd name="connsiteY2" fmla="*/ 494071 h 494071"/>
                </a:gdLst>
                <a:ahLst/>
                <a:cxnLst>
                  <a:cxn ang="0">
                    <a:pos x="connsiteX0" y="connsiteY0"/>
                  </a:cxn>
                  <a:cxn ang="0">
                    <a:pos x="connsiteX1" y="connsiteY1"/>
                  </a:cxn>
                  <a:cxn ang="0">
                    <a:pos x="connsiteX2" y="connsiteY2"/>
                  </a:cxn>
                </a:cxnLst>
                <a:rect l="l" t="t" r="r" b="b"/>
                <a:pathLst>
                  <a:path w="390832" h="494071">
                    <a:moveTo>
                      <a:pt x="390832" y="0"/>
                    </a:moveTo>
                    <a:cubicBezTo>
                      <a:pt x="320163" y="28882"/>
                      <a:pt x="249494" y="57764"/>
                      <a:pt x="184355" y="140109"/>
                    </a:cubicBezTo>
                    <a:cubicBezTo>
                      <a:pt x="119216" y="222454"/>
                      <a:pt x="59608" y="358262"/>
                      <a:pt x="0" y="494071"/>
                    </a:cubicBezTo>
                  </a:path>
                </a:pathLst>
              </a:custGeom>
              <a:noFill/>
              <a:ln w="127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sp>
        <p:nvSpPr>
          <p:cNvPr id="104" name="54 CuadroTexto"/>
          <p:cNvSpPr txBox="1"/>
          <p:nvPr/>
        </p:nvSpPr>
        <p:spPr>
          <a:xfrm>
            <a:off x="1259632" y="2139135"/>
            <a:ext cx="1255472" cy="400110"/>
          </a:xfrm>
          <a:prstGeom prst="rect">
            <a:avLst/>
          </a:prstGeom>
          <a:noFill/>
        </p:spPr>
        <p:txBody>
          <a:bodyPr wrap="none" rtlCol="0">
            <a:spAutoFit/>
          </a:bodyPr>
          <a:lstStyle/>
          <a:p>
            <a:r>
              <a:rPr lang="es-ES" dirty="0">
                <a:solidFill>
                  <a:schemeClr val="tx1">
                    <a:lumMod val="75000"/>
                    <a:lumOff val="25000"/>
                  </a:schemeClr>
                </a:solidFill>
              </a:rPr>
              <a:t>Dirección</a:t>
            </a:r>
          </a:p>
        </p:txBody>
      </p:sp>
      <p:sp>
        <p:nvSpPr>
          <p:cNvPr id="105" name="67 Rectángulo"/>
          <p:cNvSpPr/>
          <p:nvPr/>
        </p:nvSpPr>
        <p:spPr bwMode="auto">
          <a:xfrm>
            <a:off x="143508" y="1926521"/>
            <a:ext cx="936104" cy="3175767"/>
          </a:xfrm>
          <a:prstGeom prst="rect">
            <a:avLst/>
          </a:prstGeom>
          <a:solidFill>
            <a:schemeClr val="accent2"/>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CPU</a:t>
            </a:r>
          </a:p>
        </p:txBody>
      </p:sp>
      <p:sp>
        <p:nvSpPr>
          <p:cNvPr id="109" name="68 Flecha derecha"/>
          <p:cNvSpPr/>
          <p:nvPr/>
        </p:nvSpPr>
        <p:spPr bwMode="auto">
          <a:xfrm>
            <a:off x="1092837" y="2028420"/>
            <a:ext cx="1974291" cy="144016"/>
          </a:xfrm>
          <a:prstGeom prst="rightArrow">
            <a:avLst/>
          </a:prstGeom>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10" name="70 Conector recto de flecha"/>
          <p:cNvCxnSpPr/>
          <p:nvPr/>
        </p:nvCxnSpPr>
        <p:spPr bwMode="auto">
          <a:xfrm>
            <a:off x="1079612" y="2852936"/>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1" name="73 Conector recto de flecha"/>
          <p:cNvCxnSpPr/>
          <p:nvPr/>
        </p:nvCxnSpPr>
        <p:spPr bwMode="auto">
          <a:xfrm>
            <a:off x="1092837" y="3274404"/>
            <a:ext cx="468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112" name="77 Grupo"/>
          <p:cNvGrpSpPr/>
          <p:nvPr/>
        </p:nvGrpSpPr>
        <p:grpSpPr>
          <a:xfrm>
            <a:off x="1564739" y="2728357"/>
            <a:ext cx="444352" cy="307777"/>
            <a:chOff x="1564739" y="1801943"/>
            <a:chExt cx="444352" cy="307777"/>
          </a:xfrm>
        </p:grpSpPr>
        <p:sp>
          <p:nvSpPr>
            <p:cNvPr id="113" name="71 CuadroTexto"/>
            <p:cNvSpPr txBox="1"/>
            <p:nvPr/>
          </p:nvSpPr>
          <p:spPr>
            <a:xfrm>
              <a:off x="1564739" y="1801943"/>
              <a:ext cx="444352" cy="307777"/>
            </a:xfrm>
            <a:prstGeom prst="rect">
              <a:avLst/>
            </a:prstGeom>
            <a:noFill/>
          </p:spPr>
          <p:txBody>
            <a:bodyPr wrap="none" rtlCol="0">
              <a:spAutoFit/>
            </a:bodyPr>
            <a:lstStyle/>
            <a:p>
              <a:r>
                <a:rPr lang="es-ES" sz="1400" dirty="0">
                  <a:solidFill>
                    <a:schemeClr val="accent1">
                      <a:lumMod val="75000"/>
                    </a:schemeClr>
                  </a:solidFill>
                </a:rPr>
                <a:t>RD</a:t>
              </a:r>
            </a:p>
          </p:txBody>
        </p:sp>
        <p:cxnSp>
          <p:nvCxnSpPr>
            <p:cNvPr id="114" name="74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15" name="79 Grupo"/>
          <p:cNvGrpSpPr/>
          <p:nvPr/>
        </p:nvGrpSpPr>
        <p:grpSpPr>
          <a:xfrm>
            <a:off x="1586443" y="3121405"/>
            <a:ext cx="484428" cy="307777"/>
            <a:chOff x="1544701" y="1801943"/>
            <a:chExt cx="484428" cy="307777"/>
          </a:xfrm>
        </p:grpSpPr>
        <p:sp>
          <p:nvSpPr>
            <p:cNvPr id="116" name="80 CuadroTexto"/>
            <p:cNvSpPr txBox="1"/>
            <p:nvPr/>
          </p:nvSpPr>
          <p:spPr>
            <a:xfrm>
              <a:off x="1544701" y="1801943"/>
              <a:ext cx="484428" cy="307777"/>
            </a:xfrm>
            <a:prstGeom prst="rect">
              <a:avLst/>
            </a:prstGeom>
            <a:noFill/>
          </p:spPr>
          <p:txBody>
            <a:bodyPr wrap="none" rtlCol="0">
              <a:spAutoFit/>
            </a:bodyPr>
            <a:lstStyle/>
            <a:p>
              <a:r>
                <a:rPr lang="es-ES" sz="1400" dirty="0">
                  <a:solidFill>
                    <a:schemeClr val="accent1">
                      <a:lumMod val="75000"/>
                    </a:schemeClr>
                  </a:solidFill>
                </a:rPr>
                <a:t>WR</a:t>
              </a:r>
            </a:p>
          </p:txBody>
        </p:sp>
        <p:cxnSp>
          <p:nvCxnSpPr>
            <p:cNvPr id="117" name="81 Conector recto"/>
            <p:cNvCxnSpPr/>
            <p:nvPr/>
          </p:nvCxnSpPr>
          <p:spPr bwMode="auto">
            <a:xfrm>
              <a:off x="1667289" y="1850033"/>
              <a:ext cx="239251"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18" name="66 Conector recto"/>
          <p:cNvCxnSpPr/>
          <p:nvPr/>
        </p:nvCxnSpPr>
        <p:spPr bwMode="auto">
          <a:xfrm flipH="1">
            <a:off x="2627784" y="1936141"/>
            <a:ext cx="149754" cy="3406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119" name="75 CuadroTexto"/>
          <p:cNvSpPr txBox="1"/>
          <p:nvPr/>
        </p:nvSpPr>
        <p:spPr>
          <a:xfrm>
            <a:off x="2324032" y="1782252"/>
            <a:ext cx="473206" cy="307777"/>
          </a:xfrm>
          <a:prstGeom prst="rect">
            <a:avLst/>
          </a:prstGeom>
          <a:noFill/>
        </p:spPr>
        <p:txBody>
          <a:bodyPr wrap="none" rtlCol="0">
            <a:spAutoFit/>
          </a:bodyPr>
          <a:lstStyle/>
          <a:p>
            <a:r>
              <a:rPr lang="es-ES" sz="1400" dirty="0">
                <a:solidFill>
                  <a:schemeClr val="accent1">
                    <a:lumMod val="75000"/>
                  </a:schemeClr>
                </a:solidFill>
              </a:rPr>
              <a:t>N-2</a:t>
            </a:r>
          </a:p>
        </p:txBody>
      </p:sp>
      <p:cxnSp>
        <p:nvCxnSpPr>
          <p:cNvPr id="120" name="111 Conector recto de flecha"/>
          <p:cNvCxnSpPr/>
          <p:nvPr/>
        </p:nvCxnSpPr>
        <p:spPr bwMode="auto">
          <a:xfrm>
            <a:off x="1054058" y="3673550"/>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21" name="123 Conector recto de flecha"/>
          <p:cNvCxnSpPr/>
          <p:nvPr/>
        </p:nvCxnSpPr>
        <p:spPr bwMode="auto">
          <a:xfrm>
            <a:off x="1067283" y="4095018"/>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nvGrpSpPr>
          <p:cNvPr id="122" name="125 Grupo"/>
          <p:cNvGrpSpPr/>
          <p:nvPr/>
        </p:nvGrpSpPr>
        <p:grpSpPr>
          <a:xfrm>
            <a:off x="1499109" y="3548971"/>
            <a:ext cx="524503" cy="307777"/>
            <a:chOff x="1524663" y="1801943"/>
            <a:chExt cx="524503" cy="307777"/>
          </a:xfrm>
        </p:grpSpPr>
        <p:sp>
          <p:nvSpPr>
            <p:cNvPr id="123" name="126 CuadroTexto"/>
            <p:cNvSpPr txBox="1"/>
            <p:nvPr/>
          </p:nvSpPr>
          <p:spPr>
            <a:xfrm>
              <a:off x="1524663" y="1801943"/>
              <a:ext cx="524503" cy="307777"/>
            </a:xfrm>
            <a:prstGeom prst="rect">
              <a:avLst/>
            </a:prstGeom>
            <a:noFill/>
          </p:spPr>
          <p:txBody>
            <a:bodyPr wrap="none" rtlCol="0">
              <a:spAutoFit/>
            </a:bodyPr>
            <a:lstStyle/>
            <a:p>
              <a:r>
                <a:rPr lang="es-ES" sz="1400" dirty="0">
                  <a:solidFill>
                    <a:srgbClr val="FF0000"/>
                  </a:solidFill>
                </a:rPr>
                <a:t>BE0</a:t>
              </a:r>
            </a:p>
          </p:txBody>
        </p:sp>
        <p:cxnSp>
          <p:nvCxnSpPr>
            <p:cNvPr id="124" name="127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5" name="128 Grupo"/>
          <p:cNvGrpSpPr/>
          <p:nvPr/>
        </p:nvGrpSpPr>
        <p:grpSpPr>
          <a:xfrm>
            <a:off x="1499109" y="3942019"/>
            <a:ext cx="524503" cy="307777"/>
            <a:chOff x="1524665" y="1801943"/>
            <a:chExt cx="524503" cy="307777"/>
          </a:xfrm>
        </p:grpSpPr>
        <p:sp>
          <p:nvSpPr>
            <p:cNvPr id="126" name="129 CuadroTexto"/>
            <p:cNvSpPr txBox="1"/>
            <p:nvPr/>
          </p:nvSpPr>
          <p:spPr>
            <a:xfrm>
              <a:off x="1524665" y="1801943"/>
              <a:ext cx="524503" cy="307777"/>
            </a:xfrm>
            <a:prstGeom prst="rect">
              <a:avLst/>
            </a:prstGeom>
            <a:noFill/>
          </p:spPr>
          <p:txBody>
            <a:bodyPr wrap="none" rtlCol="0">
              <a:spAutoFit/>
            </a:bodyPr>
            <a:lstStyle/>
            <a:p>
              <a:r>
                <a:rPr lang="es-ES" sz="1400" dirty="0">
                  <a:solidFill>
                    <a:srgbClr val="FF0000"/>
                  </a:solidFill>
                </a:rPr>
                <a:t>BE1</a:t>
              </a:r>
            </a:p>
          </p:txBody>
        </p:sp>
        <p:cxnSp>
          <p:nvCxnSpPr>
            <p:cNvPr id="127" name="130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40" name="CuadroTexto 139"/>
          <p:cNvSpPr txBox="1"/>
          <p:nvPr/>
        </p:nvSpPr>
        <p:spPr>
          <a:xfrm>
            <a:off x="437182" y="5147972"/>
            <a:ext cx="1151277" cy="307777"/>
          </a:xfrm>
          <a:prstGeom prst="rect">
            <a:avLst/>
          </a:prstGeom>
          <a:noFill/>
        </p:spPr>
        <p:txBody>
          <a:bodyPr wrap="none" rtlCol="0">
            <a:spAutoFit/>
          </a:bodyPr>
          <a:lstStyle/>
          <a:p>
            <a:r>
              <a:rPr lang="es-ES" sz="1400" i="1" dirty="0">
                <a:solidFill>
                  <a:srgbClr val="FF0000"/>
                </a:solidFill>
              </a:rPr>
              <a:t>Byte </a:t>
            </a:r>
            <a:r>
              <a:rPr lang="es-ES" sz="1400" i="1" dirty="0" err="1">
                <a:solidFill>
                  <a:srgbClr val="FF0000"/>
                </a:solidFill>
              </a:rPr>
              <a:t>Enable</a:t>
            </a:r>
            <a:endParaRPr lang="es-ES" sz="1400" i="1" dirty="0">
              <a:solidFill>
                <a:srgbClr val="FF0000"/>
              </a:solidFill>
            </a:endParaRPr>
          </a:p>
        </p:txBody>
      </p:sp>
      <p:cxnSp>
        <p:nvCxnSpPr>
          <p:cNvPr id="141" name="111 Conector recto de flecha"/>
          <p:cNvCxnSpPr/>
          <p:nvPr/>
        </p:nvCxnSpPr>
        <p:spPr bwMode="auto">
          <a:xfrm>
            <a:off x="1067283" y="4463716"/>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142" name="123 Conector recto de flecha"/>
          <p:cNvCxnSpPr/>
          <p:nvPr/>
        </p:nvCxnSpPr>
        <p:spPr bwMode="auto">
          <a:xfrm>
            <a:off x="1079612" y="4859636"/>
            <a:ext cx="468052"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nvGrpSpPr>
          <p:cNvPr id="143" name="125 Grupo"/>
          <p:cNvGrpSpPr/>
          <p:nvPr/>
        </p:nvGrpSpPr>
        <p:grpSpPr>
          <a:xfrm>
            <a:off x="1499109" y="4339851"/>
            <a:ext cx="524503" cy="307777"/>
            <a:chOff x="1524663" y="1801943"/>
            <a:chExt cx="524503" cy="307777"/>
          </a:xfrm>
        </p:grpSpPr>
        <p:sp>
          <p:nvSpPr>
            <p:cNvPr id="144" name="126 CuadroTexto"/>
            <p:cNvSpPr txBox="1"/>
            <p:nvPr/>
          </p:nvSpPr>
          <p:spPr>
            <a:xfrm>
              <a:off x="1524663" y="1801943"/>
              <a:ext cx="524503" cy="307777"/>
            </a:xfrm>
            <a:prstGeom prst="rect">
              <a:avLst/>
            </a:prstGeom>
            <a:noFill/>
          </p:spPr>
          <p:txBody>
            <a:bodyPr wrap="none" rtlCol="0">
              <a:spAutoFit/>
            </a:bodyPr>
            <a:lstStyle/>
            <a:p>
              <a:r>
                <a:rPr lang="es-ES" sz="1400" dirty="0">
                  <a:solidFill>
                    <a:srgbClr val="FF0000"/>
                  </a:solidFill>
                </a:rPr>
                <a:t>BE2</a:t>
              </a:r>
            </a:p>
          </p:txBody>
        </p:sp>
        <p:cxnSp>
          <p:nvCxnSpPr>
            <p:cNvPr id="145" name="127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46" name="128 Grupo"/>
          <p:cNvGrpSpPr/>
          <p:nvPr/>
        </p:nvGrpSpPr>
        <p:grpSpPr>
          <a:xfrm>
            <a:off x="1499109" y="4705399"/>
            <a:ext cx="524503" cy="307777"/>
            <a:chOff x="1524665" y="1801943"/>
            <a:chExt cx="524503" cy="307777"/>
          </a:xfrm>
        </p:grpSpPr>
        <p:sp>
          <p:nvSpPr>
            <p:cNvPr id="147" name="129 CuadroTexto"/>
            <p:cNvSpPr txBox="1"/>
            <p:nvPr/>
          </p:nvSpPr>
          <p:spPr>
            <a:xfrm>
              <a:off x="1524665" y="1801943"/>
              <a:ext cx="524503" cy="307777"/>
            </a:xfrm>
            <a:prstGeom prst="rect">
              <a:avLst/>
            </a:prstGeom>
            <a:noFill/>
          </p:spPr>
          <p:txBody>
            <a:bodyPr wrap="none" rtlCol="0">
              <a:spAutoFit/>
            </a:bodyPr>
            <a:lstStyle/>
            <a:p>
              <a:r>
                <a:rPr lang="es-ES" sz="1400" dirty="0">
                  <a:solidFill>
                    <a:srgbClr val="FF0000"/>
                  </a:solidFill>
                </a:rPr>
                <a:t>BE3</a:t>
              </a:r>
            </a:p>
          </p:txBody>
        </p:sp>
        <p:cxnSp>
          <p:nvCxnSpPr>
            <p:cNvPr id="148" name="130 Conector recto"/>
            <p:cNvCxnSpPr/>
            <p:nvPr/>
          </p:nvCxnSpPr>
          <p:spPr bwMode="auto">
            <a:xfrm>
              <a:off x="1667289" y="1850033"/>
              <a:ext cx="239251" cy="0"/>
            </a:xfrm>
            <a:prstGeom prst="line">
              <a:avLst/>
            </a:prstGeom>
            <a:ln w="12700">
              <a:solidFill>
                <a:srgbClr val="FF330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1" name="122 CuadroTexto"/>
          <p:cNvSpPr txBox="1"/>
          <p:nvPr/>
        </p:nvSpPr>
        <p:spPr>
          <a:xfrm>
            <a:off x="4649007" y="4459526"/>
            <a:ext cx="1877438" cy="400110"/>
          </a:xfrm>
          <a:prstGeom prst="rect">
            <a:avLst/>
          </a:prstGeom>
          <a:noFill/>
        </p:spPr>
        <p:txBody>
          <a:bodyPr wrap="none" rtlCol="0">
            <a:spAutoFit/>
          </a:bodyPr>
          <a:lstStyle/>
          <a:p>
            <a:r>
              <a:rPr lang="es-ES" b="1" dirty="0" err="1">
                <a:solidFill>
                  <a:schemeClr val="bg2">
                    <a:lumMod val="25000"/>
                  </a:schemeClr>
                </a:solidFill>
                <a:latin typeface="Courier New" pitchFamily="49" charset="0"/>
                <a:cs typeface="Courier New" pitchFamily="49" charset="0"/>
              </a:rPr>
              <a:t>lh</a:t>
            </a:r>
            <a:r>
              <a:rPr lang="es-ES" b="1" dirty="0">
                <a:solidFill>
                  <a:schemeClr val="bg2">
                    <a:lumMod val="25000"/>
                  </a:schemeClr>
                </a:solidFill>
                <a:latin typeface="Courier New" pitchFamily="49" charset="0"/>
                <a:cs typeface="Courier New" pitchFamily="49" charset="0"/>
              </a:rPr>
              <a:t> s1,0(x0)</a:t>
            </a:r>
          </a:p>
        </p:txBody>
      </p:sp>
      <p:grpSp>
        <p:nvGrpSpPr>
          <p:cNvPr id="5" name="Grupo 4"/>
          <p:cNvGrpSpPr/>
          <p:nvPr/>
        </p:nvGrpSpPr>
        <p:grpSpPr>
          <a:xfrm>
            <a:off x="4485822" y="2318482"/>
            <a:ext cx="1939537" cy="2141044"/>
            <a:chOff x="4485822" y="2318482"/>
            <a:chExt cx="1939537" cy="2141044"/>
          </a:xfrm>
        </p:grpSpPr>
        <p:sp>
          <p:nvSpPr>
            <p:cNvPr id="166" name="110 Rectángulo"/>
            <p:cNvSpPr/>
            <p:nvPr/>
          </p:nvSpPr>
          <p:spPr bwMode="auto">
            <a:xfrm>
              <a:off x="4485822" y="2318482"/>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0</a:t>
              </a:r>
            </a:p>
          </p:txBody>
        </p:sp>
        <p:sp>
          <p:nvSpPr>
            <p:cNvPr id="193" name="110 Rectángulo"/>
            <p:cNvSpPr/>
            <p:nvPr/>
          </p:nvSpPr>
          <p:spPr bwMode="auto">
            <a:xfrm>
              <a:off x="5430229" y="2318482"/>
              <a:ext cx="995130"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a:t>
              </a:r>
            </a:p>
          </p:txBody>
        </p:sp>
        <p:cxnSp>
          <p:nvCxnSpPr>
            <p:cNvPr id="194" name="6 Conector recto de flecha"/>
            <p:cNvCxnSpPr>
              <a:stCxn id="191" idx="0"/>
            </p:cNvCxnSpPr>
            <p:nvPr/>
          </p:nvCxnSpPr>
          <p:spPr bwMode="auto">
            <a:xfrm flipH="1" flipV="1">
              <a:off x="5491216" y="2614514"/>
              <a:ext cx="96510" cy="1845012"/>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99" name="122 CuadroTexto"/>
          <p:cNvSpPr txBox="1"/>
          <p:nvPr/>
        </p:nvSpPr>
        <p:spPr>
          <a:xfrm>
            <a:off x="7037053" y="4618770"/>
            <a:ext cx="1877438" cy="400110"/>
          </a:xfrm>
          <a:prstGeom prst="rect">
            <a:avLst/>
          </a:prstGeom>
          <a:noFill/>
        </p:spPr>
        <p:txBody>
          <a:bodyPr wrap="none" rtlCol="0">
            <a:spAutoFit/>
          </a:bodyPr>
          <a:lstStyle/>
          <a:p>
            <a:r>
              <a:rPr lang="es-ES" b="1" dirty="0" err="1">
                <a:solidFill>
                  <a:schemeClr val="bg2">
                    <a:lumMod val="25000"/>
                  </a:schemeClr>
                </a:solidFill>
                <a:latin typeface="Courier New" pitchFamily="49" charset="0"/>
                <a:cs typeface="Courier New" pitchFamily="49" charset="0"/>
              </a:rPr>
              <a:t>lh</a:t>
            </a:r>
            <a:r>
              <a:rPr lang="es-ES" b="1" dirty="0">
                <a:solidFill>
                  <a:schemeClr val="bg2">
                    <a:lumMod val="25000"/>
                  </a:schemeClr>
                </a:solidFill>
                <a:latin typeface="Courier New" pitchFamily="49" charset="0"/>
                <a:cs typeface="Courier New" pitchFamily="49" charset="0"/>
              </a:rPr>
              <a:t> s1,2(x0)</a:t>
            </a:r>
          </a:p>
        </p:txBody>
      </p:sp>
      <p:grpSp>
        <p:nvGrpSpPr>
          <p:cNvPr id="9" name="Grupo 8"/>
          <p:cNvGrpSpPr/>
          <p:nvPr/>
        </p:nvGrpSpPr>
        <p:grpSpPr>
          <a:xfrm>
            <a:off x="6525572" y="2318482"/>
            <a:ext cx="1942683" cy="2262646"/>
            <a:chOff x="6525572" y="2318482"/>
            <a:chExt cx="1942683" cy="2262646"/>
          </a:xfrm>
        </p:grpSpPr>
        <p:sp>
          <p:nvSpPr>
            <p:cNvPr id="197" name="110 Rectángulo"/>
            <p:cNvSpPr/>
            <p:nvPr/>
          </p:nvSpPr>
          <p:spPr bwMode="auto">
            <a:xfrm>
              <a:off x="6525572" y="2318482"/>
              <a:ext cx="997043"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2</a:t>
              </a:r>
            </a:p>
          </p:txBody>
        </p:sp>
        <p:sp>
          <p:nvSpPr>
            <p:cNvPr id="201" name="110 Rectángulo"/>
            <p:cNvSpPr/>
            <p:nvPr/>
          </p:nvSpPr>
          <p:spPr bwMode="auto">
            <a:xfrm>
              <a:off x="7532151" y="2318482"/>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3</a:t>
              </a:r>
            </a:p>
          </p:txBody>
        </p:sp>
        <p:cxnSp>
          <p:nvCxnSpPr>
            <p:cNvPr id="202" name="6 Conector recto de flecha"/>
            <p:cNvCxnSpPr/>
            <p:nvPr/>
          </p:nvCxnSpPr>
          <p:spPr bwMode="auto">
            <a:xfrm flipH="1" flipV="1">
              <a:off x="7530920" y="2606514"/>
              <a:ext cx="353448" cy="197461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grpSp>
        <p:nvGrpSpPr>
          <p:cNvPr id="18" name="Grupo 17"/>
          <p:cNvGrpSpPr/>
          <p:nvPr/>
        </p:nvGrpSpPr>
        <p:grpSpPr>
          <a:xfrm>
            <a:off x="1959965" y="3545745"/>
            <a:ext cx="307777" cy="2257443"/>
            <a:chOff x="2024659" y="3556216"/>
            <a:chExt cx="307777" cy="2257443"/>
          </a:xfrm>
        </p:grpSpPr>
        <p:sp>
          <p:nvSpPr>
            <p:cNvPr id="129" name="CuadroTexto 128"/>
            <p:cNvSpPr txBox="1"/>
            <p:nvPr/>
          </p:nvSpPr>
          <p:spPr>
            <a:xfrm>
              <a:off x="2024659" y="3556216"/>
              <a:ext cx="284052" cy="307777"/>
            </a:xfrm>
            <a:prstGeom prst="rect">
              <a:avLst/>
            </a:prstGeom>
            <a:noFill/>
          </p:spPr>
          <p:txBody>
            <a:bodyPr wrap="none" rtlCol="0">
              <a:spAutoFit/>
            </a:bodyPr>
            <a:lstStyle/>
            <a:p>
              <a:r>
                <a:rPr lang="es-ES" sz="1400" b="1" dirty="0"/>
                <a:t>0</a:t>
              </a:r>
            </a:p>
          </p:txBody>
        </p:sp>
        <p:sp>
          <p:nvSpPr>
            <p:cNvPr id="130" name="CuadroTexto 129"/>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131" name="CuadroTexto 130"/>
            <p:cNvSpPr txBox="1"/>
            <p:nvPr/>
          </p:nvSpPr>
          <p:spPr>
            <a:xfrm rot="16200000">
              <a:off x="1832139" y="5313361"/>
              <a:ext cx="692818" cy="307777"/>
            </a:xfrm>
            <a:prstGeom prst="rect">
              <a:avLst/>
            </a:prstGeom>
            <a:noFill/>
          </p:spPr>
          <p:txBody>
            <a:bodyPr wrap="none" rtlCol="0">
              <a:spAutoFit/>
            </a:bodyPr>
            <a:lstStyle/>
            <a:p>
              <a:r>
                <a:rPr lang="es-ES" sz="1400" dirty="0"/>
                <a:t>Byte 0</a:t>
              </a:r>
            </a:p>
          </p:txBody>
        </p:sp>
        <p:sp>
          <p:nvSpPr>
            <p:cNvPr id="207" name="CuadroTexto 206"/>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208" name="CuadroTexto 207"/>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209" name="Grupo 208"/>
          <p:cNvGrpSpPr/>
          <p:nvPr/>
        </p:nvGrpSpPr>
        <p:grpSpPr>
          <a:xfrm>
            <a:off x="2223994" y="3545745"/>
            <a:ext cx="307777" cy="2257443"/>
            <a:chOff x="2024659" y="3556216"/>
            <a:chExt cx="307777" cy="2257443"/>
          </a:xfrm>
        </p:grpSpPr>
        <p:sp>
          <p:nvSpPr>
            <p:cNvPr id="210" name="CuadroTexto 209"/>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211" name="CuadroTexto 210"/>
            <p:cNvSpPr txBox="1"/>
            <p:nvPr/>
          </p:nvSpPr>
          <p:spPr>
            <a:xfrm>
              <a:off x="2024659" y="3934409"/>
              <a:ext cx="284052" cy="307777"/>
            </a:xfrm>
            <a:prstGeom prst="rect">
              <a:avLst/>
            </a:prstGeom>
            <a:noFill/>
          </p:spPr>
          <p:txBody>
            <a:bodyPr wrap="none" rtlCol="0">
              <a:spAutoFit/>
            </a:bodyPr>
            <a:lstStyle/>
            <a:p>
              <a:r>
                <a:rPr lang="es-ES" sz="1400" b="1" dirty="0"/>
                <a:t>0</a:t>
              </a:r>
            </a:p>
          </p:txBody>
        </p:sp>
        <p:sp>
          <p:nvSpPr>
            <p:cNvPr id="212" name="CuadroTexto 211"/>
            <p:cNvSpPr txBox="1"/>
            <p:nvPr/>
          </p:nvSpPr>
          <p:spPr>
            <a:xfrm rot="16200000">
              <a:off x="1832139" y="5313361"/>
              <a:ext cx="692818" cy="307777"/>
            </a:xfrm>
            <a:prstGeom prst="rect">
              <a:avLst/>
            </a:prstGeom>
            <a:noFill/>
          </p:spPr>
          <p:txBody>
            <a:bodyPr wrap="none" rtlCol="0">
              <a:spAutoFit/>
            </a:bodyPr>
            <a:lstStyle/>
            <a:p>
              <a:r>
                <a:rPr lang="es-ES" sz="1400" dirty="0"/>
                <a:t>Byte 1</a:t>
              </a:r>
            </a:p>
          </p:txBody>
        </p:sp>
        <p:sp>
          <p:nvSpPr>
            <p:cNvPr id="213" name="CuadroTexto 212"/>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214" name="CuadroTexto 213"/>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215" name="Grupo 214"/>
          <p:cNvGrpSpPr/>
          <p:nvPr/>
        </p:nvGrpSpPr>
        <p:grpSpPr>
          <a:xfrm>
            <a:off x="2488023" y="3545745"/>
            <a:ext cx="307777" cy="2257443"/>
            <a:chOff x="2024659" y="3556216"/>
            <a:chExt cx="307777" cy="2257443"/>
          </a:xfrm>
        </p:grpSpPr>
        <p:sp>
          <p:nvSpPr>
            <p:cNvPr id="216" name="CuadroTexto 215"/>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217" name="CuadroTexto 216"/>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218" name="CuadroTexto 217"/>
            <p:cNvSpPr txBox="1"/>
            <p:nvPr/>
          </p:nvSpPr>
          <p:spPr>
            <a:xfrm rot="16200000">
              <a:off x="1832139" y="5313361"/>
              <a:ext cx="692818" cy="307777"/>
            </a:xfrm>
            <a:prstGeom prst="rect">
              <a:avLst/>
            </a:prstGeom>
            <a:noFill/>
          </p:spPr>
          <p:txBody>
            <a:bodyPr wrap="none" rtlCol="0">
              <a:spAutoFit/>
            </a:bodyPr>
            <a:lstStyle/>
            <a:p>
              <a:r>
                <a:rPr lang="es-ES" sz="1400" dirty="0"/>
                <a:t>Byte 2</a:t>
              </a:r>
            </a:p>
          </p:txBody>
        </p:sp>
        <p:sp>
          <p:nvSpPr>
            <p:cNvPr id="219" name="CuadroTexto 218"/>
            <p:cNvSpPr txBox="1"/>
            <p:nvPr/>
          </p:nvSpPr>
          <p:spPr>
            <a:xfrm>
              <a:off x="2024659" y="4329961"/>
              <a:ext cx="284052" cy="307777"/>
            </a:xfrm>
            <a:prstGeom prst="rect">
              <a:avLst/>
            </a:prstGeom>
            <a:noFill/>
          </p:spPr>
          <p:txBody>
            <a:bodyPr wrap="none" rtlCol="0">
              <a:spAutoFit/>
            </a:bodyPr>
            <a:lstStyle/>
            <a:p>
              <a:r>
                <a:rPr lang="es-ES" sz="1400" b="1" dirty="0"/>
                <a:t>0</a:t>
              </a:r>
            </a:p>
          </p:txBody>
        </p:sp>
        <p:sp>
          <p:nvSpPr>
            <p:cNvPr id="220" name="CuadroTexto 219"/>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221" name="Grupo 220"/>
          <p:cNvGrpSpPr/>
          <p:nvPr/>
        </p:nvGrpSpPr>
        <p:grpSpPr>
          <a:xfrm>
            <a:off x="2752053" y="3545745"/>
            <a:ext cx="307777" cy="2257443"/>
            <a:chOff x="2024659" y="3556216"/>
            <a:chExt cx="307777" cy="2257443"/>
          </a:xfrm>
        </p:grpSpPr>
        <p:sp>
          <p:nvSpPr>
            <p:cNvPr id="222" name="CuadroTexto 221"/>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223" name="CuadroTexto 222"/>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224" name="CuadroTexto 223"/>
            <p:cNvSpPr txBox="1"/>
            <p:nvPr/>
          </p:nvSpPr>
          <p:spPr>
            <a:xfrm rot="16200000">
              <a:off x="1832139" y="5313361"/>
              <a:ext cx="692818" cy="307777"/>
            </a:xfrm>
            <a:prstGeom prst="rect">
              <a:avLst/>
            </a:prstGeom>
            <a:noFill/>
          </p:spPr>
          <p:txBody>
            <a:bodyPr wrap="none" rtlCol="0">
              <a:spAutoFit/>
            </a:bodyPr>
            <a:lstStyle/>
            <a:p>
              <a:r>
                <a:rPr lang="es-ES" sz="1400" dirty="0"/>
                <a:t>Byte 3</a:t>
              </a:r>
            </a:p>
          </p:txBody>
        </p:sp>
        <p:sp>
          <p:nvSpPr>
            <p:cNvPr id="225" name="CuadroTexto 224"/>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226" name="CuadroTexto 225"/>
            <p:cNvSpPr txBox="1"/>
            <p:nvPr/>
          </p:nvSpPr>
          <p:spPr>
            <a:xfrm>
              <a:off x="2024659" y="4682388"/>
              <a:ext cx="284052" cy="307777"/>
            </a:xfrm>
            <a:prstGeom prst="rect">
              <a:avLst/>
            </a:prstGeom>
            <a:noFill/>
          </p:spPr>
          <p:txBody>
            <a:bodyPr wrap="none" rtlCol="0">
              <a:spAutoFit/>
            </a:bodyPr>
            <a:lstStyle/>
            <a:p>
              <a:r>
                <a:rPr lang="es-ES" sz="1400" b="1" dirty="0"/>
                <a:t>0</a:t>
              </a:r>
            </a:p>
          </p:txBody>
        </p:sp>
      </p:grpSp>
      <p:grpSp>
        <p:nvGrpSpPr>
          <p:cNvPr id="128" name="Grupo 127"/>
          <p:cNvGrpSpPr/>
          <p:nvPr/>
        </p:nvGrpSpPr>
        <p:grpSpPr>
          <a:xfrm>
            <a:off x="3040085" y="3547821"/>
            <a:ext cx="307778" cy="2322364"/>
            <a:chOff x="2024659" y="3556216"/>
            <a:chExt cx="307778" cy="2322364"/>
          </a:xfrm>
        </p:grpSpPr>
        <p:sp>
          <p:nvSpPr>
            <p:cNvPr id="132" name="CuadroTexto 131"/>
            <p:cNvSpPr txBox="1"/>
            <p:nvPr/>
          </p:nvSpPr>
          <p:spPr>
            <a:xfrm>
              <a:off x="2024659" y="3556216"/>
              <a:ext cx="284052" cy="307777"/>
            </a:xfrm>
            <a:prstGeom prst="rect">
              <a:avLst/>
            </a:prstGeom>
            <a:noFill/>
          </p:spPr>
          <p:txBody>
            <a:bodyPr wrap="none" rtlCol="0">
              <a:spAutoFit/>
            </a:bodyPr>
            <a:lstStyle/>
            <a:p>
              <a:r>
                <a:rPr lang="es-ES" sz="1400" b="1" dirty="0">
                  <a:solidFill>
                    <a:srgbClr val="FF0000"/>
                  </a:solidFill>
                </a:rPr>
                <a:t>0</a:t>
              </a:r>
            </a:p>
          </p:txBody>
        </p:sp>
        <p:sp>
          <p:nvSpPr>
            <p:cNvPr id="133" name="CuadroTexto 132"/>
            <p:cNvSpPr txBox="1"/>
            <p:nvPr/>
          </p:nvSpPr>
          <p:spPr>
            <a:xfrm>
              <a:off x="2024659" y="3934409"/>
              <a:ext cx="284052" cy="307777"/>
            </a:xfrm>
            <a:prstGeom prst="rect">
              <a:avLst/>
            </a:prstGeom>
            <a:noFill/>
          </p:spPr>
          <p:txBody>
            <a:bodyPr wrap="none" rtlCol="0">
              <a:spAutoFit/>
            </a:bodyPr>
            <a:lstStyle/>
            <a:p>
              <a:r>
                <a:rPr lang="es-ES" sz="1400" b="1" dirty="0">
                  <a:solidFill>
                    <a:srgbClr val="FF0000"/>
                  </a:solidFill>
                </a:rPr>
                <a:t>0</a:t>
              </a:r>
            </a:p>
          </p:txBody>
        </p:sp>
        <p:sp>
          <p:nvSpPr>
            <p:cNvPr id="134" name="CuadroTexto 133"/>
            <p:cNvSpPr txBox="1"/>
            <p:nvPr/>
          </p:nvSpPr>
          <p:spPr>
            <a:xfrm rot="16200000">
              <a:off x="1767218" y="5313361"/>
              <a:ext cx="822661" cy="307777"/>
            </a:xfrm>
            <a:prstGeom prst="rect">
              <a:avLst/>
            </a:prstGeom>
            <a:noFill/>
          </p:spPr>
          <p:txBody>
            <a:bodyPr wrap="none" rtlCol="0">
              <a:spAutoFit/>
            </a:bodyPr>
            <a:lstStyle/>
            <a:p>
              <a:r>
                <a:rPr lang="es-ES" sz="1400" dirty="0" err="1"/>
                <a:t>Half</a:t>
              </a:r>
              <a:r>
                <a:rPr lang="es-ES" sz="1400" dirty="0"/>
                <a:t> </a:t>
              </a:r>
              <a:r>
                <a:rPr lang="es-ES" sz="1400" dirty="0" err="1"/>
                <a:t>low</a:t>
              </a:r>
              <a:endParaRPr lang="es-ES" sz="1400" dirty="0"/>
            </a:p>
          </p:txBody>
        </p:sp>
        <p:sp>
          <p:nvSpPr>
            <p:cNvPr id="135" name="CuadroTexto 134"/>
            <p:cNvSpPr txBox="1"/>
            <p:nvPr/>
          </p:nvSpPr>
          <p:spPr>
            <a:xfrm>
              <a:off x="2024659" y="4329961"/>
              <a:ext cx="284052" cy="307777"/>
            </a:xfrm>
            <a:prstGeom prst="rect">
              <a:avLst/>
            </a:prstGeom>
            <a:noFill/>
          </p:spPr>
          <p:txBody>
            <a:bodyPr wrap="none" rtlCol="0">
              <a:spAutoFit/>
            </a:bodyPr>
            <a:lstStyle/>
            <a:p>
              <a:r>
                <a:rPr lang="es-ES" sz="1400" b="1" dirty="0"/>
                <a:t>1</a:t>
              </a:r>
            </a:p>
          </p:txBody>
        </p:sp>
        <p:sp>
          <p:nvSpPr>
            <p:cNvPr id="136" name="CuadroTexto 135"/>
            <p:cNvSpPr txBox="1"/>
            <p:nvPr/>
          </p:nvSpPr>
          <p:spPr>
            <a:xfrm>
              <a:off x="2024659" y="4682388"/>
              <a:ext cx="284052" cy="307777"/>
            </a:xfrm>
            <a:prstGeom prst="rect">
              <a:avLst/>
            </a:prstGeom>
            <a:noFill/>
          </p:spPr>
          <p:txBody>
            <a:bodyPr wrap="none" rtlCol="0">
              <a:spAutoFit/>
            </a:bodyPr>
            <a:lstStyle/>
            <a:p>
              <a:r>
                <a:rPr lang="es-ES" sz="1400" b="1" dirty="0"/>
                <a:t>1</a:t>
              </a:r>
            </a:p>
          </p:txBody>
        </p:sp>
      </p:grpSp>
      <p:grpSp>
        <p:nvGrpSpPr>
          <p:cNvPr id="137" name="Grupo 136"/>
          <p:cNvGrpSpPr/>
          <p:nvPr/>
        </p:nvGrpSpPr>
        <p:grpSpPr>
          <a:xfrm>
            <a:off x="3328116" y="3554908"/>
            <a:ext cx="307780" cy="2316376"/>
            <a:chOff x="2024659" y="3556216"/>
            <a:chExt cx="307780" cy="2316376"/>
          </a:xfrm>
        </p:grpSpPr>
        <p:sp>
          <p:nvSpPr>
            <p:cNvPr id="138" name="CuadroTexto 137"/>
            <p:cNvSpPr txBox="1"/>
            <p:nvPr/>
          </p:nvSpPr>
          <p:spPr>
            <a:xfrm>
              <a:off x="2024659" y="3556216"/>
              <a:ext cx="284052" cy="307777"/>
            </a:xfrm>
            <a:prstGeom prst="rect">
              <a:avLst/>
            </a:prstGeom>
            <a:noFill/>
          </p:spPr>
          <p:txBody>
            <a:bodyPr wrap="none" rtlCol="0">
              <a:spAutoFit/>
            </a:bodyPr>
            <a:lstStyle/>
            <a:p>
              <a:r>
                <a:rPr lang="es-ES" sz="1400" b="1" dirty="0"/>
                <a:t>1</a:t>
              </a:r>
            </a:p>
          </p:txBody>
        </p:sp>
        <p:sp>
          <p:nvSpPr>
            <p:cNvPr id="139" name="CuadroTexto 138"/>
            <p:cNvSpPr txBox="1"/>
            <p:nvPr/>
          </p:nvSpPr>
          <p:spPr>
            <a:xfrm>
              <a:off x="2024659" y="3934409"/>
              <a:ext cx="284052" cy="307777"/>
            </a:xfrm>
            <a:prstGeom prst="rect">
              <a:avLst/>
            </a:prstGeom>
            <a:noFill/>
          </p:spPr>
          <p:txBody>
            <a:bodyPr wrap="none" rtlCol="0">
              <a:spAutoFit/>
            </a:bodyPr>
            <a:lstStyle/>
            <a:p>
              <a:r>
                <a:rPr lang="es-ES" sz="1400" b="1" dirty="0"/>
                <a:t>1</a:t>
              </a:r>
            </a:p>
          </p:txBody>
        </p:sp>
        <p:sp>
          <p:nvSpPr>
            <p:cNvPr id="150" name="CuadroTexto 149"/>
            <p:cNvSpPr txBox="1"/>
            <p:nvPr/>
          </p:nvSpPr>
          <p:spPr>
            <a:xfrm rot="16200000">
              <a:off x="1732756" y="5272908"/>
              <a:ext cx="891590" cy="307777"/>
            </a:xfrm>
            <a:prstGeom prst="rect">
              <a:avLst/>
            </a:prstGeom>
            <a:noFill/>
          </p:spPr>
          <p:txBody>
            <a:bodyPr wrap="none" rtlCol="0">
              <a:spAutoFit/>
            </a:bodyPr>
            <a:lstStyle/>
            <a:p>
              <a:r>
                <a:rPr lang="es-ES" sz="1400" dirty="0" err="1"/>
                <a:t>Half</a:t>
              </a:r>
              <a:r>
                <a:rPr lang="es-ES" sz="1400" dirty="0"/>
                <a:t> </a:t>
              </a:r>
              <a:r>
                <a:rPr lang="es-ES" sz="1400" dirty="0" err="1"/>
                <a:t>high</a:t>
              </a:r>
              <a:endParaRPr lang="es-ES" sz="1400" dirty="0"/>
            </a:p>
          </p:txBody>
        </p:sp>
        <p:sp>
          <p:nvSpPr>
            <p:cNvPr id="151" name="CuadroTexto 150"/>
            <p:cNvSpPr txBox="1"/>
            <p:nvPr/>
          </p:nvSpPr>
          <p:spPr>
            <a:xfrm>
              <a:off x="2024659" y="4329961"/>
              <a:ext cx="284052" cy="307777"/>
            </a:xfrm>
            <a:prstGeom prst="rect">
              <a:avLst/>
            </a:prstGeom>
            <a:noFill/>
          </p:spPr>
          <p:txBody>
            <a:bodyPr wrap="none" rtlCol="0">
              <a:spAutoFit/>
            </a:bodyPr>
            <a:lstStyle/>
            <a:p>
              <a:r>
                <a:rPr lang="es-ES" sz="1400" b="1" dirty="0">
                  <a:solidFill>
                    <a:srgbClr val="FF0000"/>
                  </a:solidFill>
                </a:rPr>
                <a:t>0</a:t>
              </a:r>
            </a:p>
          </p:txBody>
        </p:sp>
        <p:sp>
          <p:nvSpPr>
            <p:cNvPr id="152" name="CuadroTexto 151"/>
            <p:cNvSpPr txBox="1"/>
            <p:nvPr/>
          </p:nvSpPr>
          <p:spPr>
            <a:xfrm>
              <a:off x="2024659" y="4682388"/>
              <a:ext cx="284052" cy="307777"/>
            </a:xfrm>
            <a:prstGeom prst="rect">
              <a:avLst/>
            </a:prstGeom>
            <a:noFill/>
          </p:spPr>
          <p:txBody>
            <a:bodyPr wrap="none" rtlCol="0">
              <a:spAutoFit/>
            </a:bodyPr>
            <a:lstStyle/>
            <a:p>
              <a:r>
                <a:rPr lang="es-ES" sz="1400" b="1" dirty="0">
                  <a:solidFill>
                    <a:srgbClr val="FF0000"/>
                  </a:solidFill>
                </a:rPr>
                <a:t>0</a:t>
              </a:r>
            </a:p>
          </p:txBody>
        </p:sp>
      </p:grpSp>
      <p:grpSp>
        <p:nvGrpSpPr>
          <p:cNvPr id="12" name="Grupo 11"/>
          <p:cNvGrpSpPr/>
          <p:nvPr/>
        </p:nvGrpSpPr>
        <p:grpSpPr>
          <a:xfrm>
            <a:off x="4486416" y="3468626"/>
            <a:ext cx="3982433" cy="1966614"/>
            <a:chOff x="4486416" y="3468626"/>
            <a:chExt cx="3982433" cy="1966614"/>
          </a:xfrm>
        </p:grpSpPr>
        <p:sp>
          <p:nvSpPr>
            <p:cNvPr id="154" name="110 Rectángulo"/>
            <p:cNvSpPr/>
            <p:nvPr/>
          </p:nvSpPr>
          <p:spPr bwMode="auto">
            <a:xfrm>
              <a:off x="4486416" y="3468626"/>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12</a:t>
              </a:r>
            </a:p>
          </p:txBody>
        </p:sp>
        <p:sp>
          <p:nvSpPr>
            <p:cNvPr id="155" name="110 Rectángulo"/>
            <p:cNvSpPr/>
            <p:nvPr/>
          </p:nvSpPr>
          <p:spPr bwMode="auto">
            <a:xfrm>
              <a:off x="5435073" y="3468626"/>
              <a:ext cx="108437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13</a:t>
              </a:r>
            </a:p>
          </p:txBody>
        </p:sp>
        <p:sp>
          <p:nvSpPr>
            <p:cNvPr id="158" name="110 Rectángulo"/>
            <p:cNvSpPr/>
            <p:nvPr/>
          </p:nvSpPr>
          <p:spPr bwMode="auto">
            <a:xfrm>
              <a:off x="6526167" y="3468626"/>
              <a:ext cx="991336"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14</a:t>
              </a:r>
            </a:p>
          </p:txBody>
        </p:sp>
        <p:sp>
          <p:nvSpPr>
            <p:cNvPr id="159" name="110 Rectángulo"/>
            <p:cNvSpPr/>
            <p:nvPr/>
          </p:nvSpPr>
          <p:spPr bwMode="auto">
            <a:xfrm>
              <a:off x="7532745" y="3468626"/>
              <a:ext cx="936104" cy="28803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1"/>
                  </a:solidFill>
                </a:rPr>
                <a:t>15</a:t>
              </a:r>
            </a:p>
          </p:txBody>
        </p:sp>
        <p:cxnSp>
          <p:nvCxnSpPr>
            <p:cNvPr id="160" name="6 Conector recto de flecha"/>
            <p:cNvCxnSpPr/>
            <p:nvPr/>
          </p:nvCxnSpPr>
          <p:spPr bwMode="auto">
            <a:xfrm flipH="1" flipV="1">
              <a:off x="6524712" y="3770066"/>
              <a:ext cx="178548" cy="1665174"/>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61" name="122 CuadroTexto"/>
          <p:cNvSpPr txBox="1"/>
          <p:nvPr/>
        </p:nvSpPr>
        <p:spPr>
          <a:xfrm>
            <a:off x="5917469" y="5480882"/>
            <a:ext cx="2031325" cy="400110"/>
          </a:xfrm>
          <a:prstGeom prst="rect">
            <a:avLst/>
          </a:prstGeom>
          <a:noFill/>
        </p:spPr>
        <p:txBody>
          <a:bodyPr wrap="none" rtlCol="0">
            <a:spAutoFit/>
          </a:bodyPr>
          <a:lstStyle/>
          <a:p>
            <a:r>
              <a:rPr lang="es-ES" b="1" dirty="0" err="1">
                <a:solidFill>
                  <a:schemeClr val="bg2">
                    <a:lumMod val="25000"/>
                  </a:schemeClr>
                </a:solidFill>
                <a:latin typeface="Courier New" pitchFamily="49" charset="0"/>
                <a:cs typeface="Courier New" pitchFamily="49" charset="0"/>
              </a:rPr>
              <a:t>lw</a:t>
            </a:r>
            <a:r>
              <a:rPr lang="es-ES" b="1" dirty="0">
                <a:solidFill>
                  <a:schemeClr val="bg2">
                    <a:lumMod val="25000"/>
                  </a:schemeClr>
                </a:solidFill>
                <a:latin typeface="Courier New" pitchFamily="49" charset="0"/>
                <a:cs typeface="Courier New" pitchFamily="49" charset="0"/>
              </a:rPr>
              <a:t> s1,12(x0)</a:t>
            </a:r>
          </a:p>
        </p:txBody>
      </p:sp>
      <p:grpSp>
        <p:nvGrpSpPr>
          <p:cNvPr id="162" name="Grupo 161"/>
          <p:cNvGrpSpPr/>
          <p:nvPr/>
        </p:nvGrpSpPr>
        <p:grpSpPr>
          <a:xfrm>
            <a:off x="3616148" y="3560896"/>
            <a:ext cx="307780" cy="2316376"/>
            <a:chOff x="2024659" y="3556216"/>
            <a:chExt cx="307780" cy="2316376"/>
          </a:xfrm>
        </p:grpSpPr>
        <p:sp>
          <p:nvSpPr>
            <p:cNvPr id="163" name="CuadroTexto 162"/>
            <p:cNvSpPr txBox="1"/>
            <p:nvPr/>
          </p:nvSpPr>
          <p:spPr>
            <a:xfrm>
              <a:off x="2024659" y="3556216"/>
              <a:ext cx="284052" cy="307777"/>
            </a:xfrm>
            <a:prstGeom prst="rect">
              <a:avLst/>
            </a:prstGeom>
            <a:noFill/>
          </p:spPr>
          <p:txBody>
            <a:bodyPr wrap="none" rtlCol="0">
              <a:spAutoFit/>
            </a:bodyPr>
            <a:lstStyle/>
            <a:p>
              <a:r>
                <a:rPr lang="es-ES" sz="1400" b="1" dirty="0">
                  <a:solidFill>
                    <a:srgbClr val="FF0000"/>
                  </a:solidFill>
                </a:rPr>
                <a:t>0</a:t>
              </a:r>
            </a:p>
          </p:txBody>
        </p:sp>
        <p:sp>
          <p:nvSpPr>
            <p:cNvPr id="164" name="CuadroTexto 163"/>
            <p:cNvSpPr txBox="1"/>
            <p:nvPr/>
          </p:nvSpPr>
          <p:spPr>
            <a:xfrm>
              <a:off x="2024659" y="3934409"/>
              <a:ext cx="284052" cy="307777"/>
            </a:xfrm>
            <a:prstGeom prst="rect">
              <a:avLst/>
            </a:prstGeom>
            <a:noFill/>
          </p:spPr>
          <p:txBody>
            <a:bodyPr wrap="none" rtlCol="0">
              <a:spAutoFit/>
            </a:bodyPr>
            <a:lstStyle/>
            <a:p>
              <a:r>
                <a:rPr lang="es-ES" sz="1400" b="1" dirty="0">
                  <a:solidFill>
                    <a:srgbClr val="FF0000"/>
                  </a:solidFill>
                </a:rPr>
                <a:t>0</a:t>
              </a:r>
            </a:p>
          </p:txBody>
        </p:sp>
        <p:sp>
          <p:nvSpPr>
            <p:cNvPr id="167" name="CuadroTexto 166"/>
            <p:cNvSpPr txBox="1"/>
            <p:nvPr/>
          </p:nvSpPr>
          <p:spPr>
            <a:xfrm rot="16200000">
              <a:off x="1873851" y="5414004"/>
              <a:ext cx="609399" cy="307777"/>
            </a:xfrm>
            <a:prstGeom prst="rect">
              <a:avLst/>
            </a:prstGeom>
            <a:noFill/>
          </p:spPr>
          <p:txBody>
            <a:bodyPr wrap="none" rtlCol="0">
              <a:spAutoFit/>
            </a:bodyPr>
            <a:lstStyle/>
            <a:p>
              <a:r>
                <a:rPr lang="es-ES" sz="1400" dirty="0"/>
                <a:t>Word</a:t>
              </a:r>
            </a:p>
          </p:txBody>
        </p:sp>
        <p:sp>
          <p:nvSpPr>
            <p:cNvPr id="169" name="CuadroTexto 168"/>
            <p:cNvSpPr txBox="1"/>
            <p:nvPr/>
          </p:nvSpPr>
          <p:spPr>
            <a:xfrm>
              <a:off x="2024659" y="4329961"/>
              <a:ext cx="284052" cy="307777"/>
            </a:xfrm>
            <a:prstGeom prst="rect">
              <a:avLst/>
            </a:prstGeom>
            <a:noFill/>
          </p:spPr>
          <p:txBody>
            <a:bodyPr wrap="none" rtlCol="0">
              <a:spAutoFit/>
            </a:bodyPr>
            <a:lstStyle/>
            <a:p>
              <a:r>
                <a:rPr lang="es-ES" sz="1400" b="1" dirty="0">
                  <a:solidFill>
                    <a:srgbClr val="FF0000"/>
                  </a:solidFill>
                </a:rPr>
                <a:t>0</a:t>
              </a:r>
            </a:p>
          </p:txBody>
        </p:sp>
        <p:sp>
          <p:nvSpPr>
            <p:cNvPr id="170" name="CuadroTexto 169"/>
            <p:cNvSpPr txBox="1"/>
            <p:nvPr/>
          </p:nvSpPr>
          <p:spPr>
            <a:xfrm>
              <a:off x="2024659" y="4682388"/>
              <a:ext cx="284052" cy="307777"/>
            </a:xfrm>
            <a:prstGeom prst="rect">
              <a:avLst/>
            </a:prstGeom>
            <a:noFill/>
          </p:spPr>
          <p:txBody>
            <a:bodyPr wrap="none" rtlCol="0">
              <a:spAutoFit/>
            </a:bodyPr>
            <a:lstStyle/>
            <a:p>
              <a:r>
                <a:rPr lang="es-ES" sz="1400" b="1" dirty="0">
                  <a:solidFill>
                    <a:srgbClr val="FF0000"/>
                  </a:solidFill>
                </a:rPr>
                <a:t>0</a:t>
              </a:r>
            </a:p>
          </p:txBody>
        </p:sp>
      </p:grpSp>
    </p:spTree>
    <p:extLst>
      <p:ext uri="{BB962C8B-B14F-4D97-AF65-F5344CB8AC3E}">
        <p14:creationId xmlns:p14="http://schemas.microsoft.com/office/powerpoint/2010/main" val="2785553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wipe(down)">
                                      <p:cBhvr>
                                        <p:cTn id="7" dur="500"/>
                                        <p:tgtEl>
                                          <p:spTgt spid="19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wipe(down)">
                                      <p:cBhvr>
                                        <p:cTn id="15" dur="500"/>
                                        <p:tgtEl>
                                          <p:spTgt spid="12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5"/>
                                        </p:tgtEl>
                                        <p:attrNameLst>
                                          <p:attrName>style.visibility</p:attrName>
                                        </p:attrNameLst>
                                      </p:cBhvr>
                                      <p:to>
                                        <p:strVal val="hidden"/>
                                      </p:to>
                                    </p:set>
                                  </p:childTnLst>
                                </p:cTn>
                              </p:par>
                            </p:childTnLst>
                          </p:cTn>
                        </p:par>
                        <p:par>
                          <p:cTn id="20" fill="hold">
                            <p:stCondLst>
                              <p:cond delay="0"/>
                            </p:stCondLst>
                            <p:childTnLst>
                              <p:par>
                                <p:cTn id="21" presetID="22" presetClass="entr" presetSubtype="4" fill="hold" grpId="0" nodeType="afterEffect">
                                  <p:stCondLst>
                                    <p:cond delay="0"/>
                                  </p:stCondLst>
                                  <p:childTnLst>
                                    <p:set>
                                      <p:cBhvr>
                                        <p:cTn id="22" dur="1" fill="hold">
                                          <p:stCondLst>
                                            <p:cond delay="0"/>
                                          </p:stCondLst>
                                        </p:cTn>
                                        <p:tgtEl>
                                          <p:spTgt spid="199"/>
                                        </p:tgtEl>
                                        <p:attrNameLst>
                                          <p:attrName>style.visibility</p:attrName>
                                        </p:attrNameLst>
                                      </p:cBhvr>
                                      <p:to>
                                        <p:strVal val="visible"/>
                                      </p:to>
                                    </p:set>
                                    <p:animEffect transition="in" filter="wipe(down)">
                                      <p:cBhvr>
                                        <p:cTn id="23" dur="500"/>
                                        <p:tgtEl>
                                          <p:spTgt spid="199"/>
                                        </p:tgtEl>
                                      </p:cBhvr>
                                    </p:animEffect>
                                  </p:childTnLst>
                                </p:cTn>
                              </p:par>
                            </p:childTnLst>
                          </p:cTn>
                        </p:par>
                        <p:par>
                          <p:cTn id="24" fill="hold">
                            <p:stCondLst>
                              <p:cond delay="500"/>
                            </p:stCondLst>
                            <p:childTnLst>
                              <p:par>
                                <p:cTn id="25" presetID="22" presetClass="entr" presetSubtype="4"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137"/>
                                        </p:tgtEl>
                                        <p:attrNameLst>
                                          <p:attrName>style.visibility</p:attrName>
                                        </p:attrNameLst>
                                      </p:cBhvr>
                                      <p:to>
                                        <p:strVal val="visible"/>
                                      </p:to>
                                    </p:set>
                                    <p:animEffect transition="in" filter="wipe(down)">
                                      <p:cBhvr>
                                        <p:cTn id="31" dur="500"/>
                                        <p:tgtEl>
                                          <p:spTgt spid="13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9"/>
                                        </p:tgtEl>
                                        <p:attrNameLst>
                                          <p:attrName>style.visibility</p:attrName>
                                        </p:attrNameLst>
                                      </p:cBhvr>
                                      <p:to>
                                        <p:strVal val="hidden"/>
                                      </p:to>
                                    </p:set>
                                  </p:childTnLst>
                                </p:cTn>
                              </p:par>
                            </p:childTnLst>
                          </p:cTn>
                        </p:par>
                        <p:par>
                          <p:cTn id="36" fill="hold">
                            <p:stCondLst>
                              <p:cond delay="0"/>
                            </p:stCondLst>
                            <p:childTnLst>
                              <p:par>
                                <p:cTn id="37" presetID="22" presetClass="entr" presetSubtype="4" fill="hold" grpId="0" nodeType="afterEffect">
                                  <p:stCondLst>
                                    <p:cond delay="0"/>
                                  </p:stCondLst>
                                  <p:childTnLst>
                                    <p:set>
                                      <p:cBhvr>
                                        <p:cTn id="38" dur="1" fill="hold">
                                          <p:stCondLst>
                                            <p:cond delay="0"/>
                                          </p:stCondLst>
                                        </p:cTn>
                                        <p:tgtEl>
                                          <p:spTgt spid="161"/>
                                        </p:tgtEl>
                                        <p:attrNameLst>
                                          <p:attrName>style.visibility</p:attrName>
                                        </p:attrNameLst>
                                      </p:cBhvr>
                                      <p:to>
                                        <p:strVal val="visible"/>
                                      </p:to>
                                    </p:set>
                                    <p:animEffect transition="in" filter="wipe(down)">
                                      <p:cBhvr>
                                        <p:cTn id="39" dur="500"/>
                                        <p:tgtEl>
                                          <p:spTgt spid="161"/>
                                        </p:tgtEl>
                                      </p:cBhvr>
                                    </p:animEffect>
                                  </p:childTnLst>
                                </p:cTn>
                              </p:par>
                            </p:childTnLst>
                          </p:cTn>
                        </p:par>
                        <p:par>
                          <p:cTn id="40" fill="hold">
                            <p:stCondLst>
                              <p:cond delay="500"/>
                            </p:stCondLst>
                            <p:childTnLst>
                              <p:par>
                                <p:cTn id="41" presetID="22" presetClass="entr" presetSubtype="4"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500"/>
                                        <p:tgtEl>
                                          <p:spTgt spid="12"/>
                                        </p:tgtEl>
                                      </p:cBhvr>
                                    </p:animEffect>
                                  </p:childTnLst>
                                </p:cTn>
                              </p:par>
                            </p:childTnLst>
                          </p:cTn>
                        </p:par>
                        <p:par>
                          <p:cTn id="44" fill="hold">
                            <p:stCondLst>
                              <p:cond delay="1000"/>
                            </p:stCondLst>
                            <p:childTnLst>
                              <p:par>
                                <p:cTn id="45" presetID="22" presetClass="entr" presetSubtype="4" fill="hold" nodeType="afterEffect">
                                  <p:stCondLst>
                                    <p:cond delay="0"/>
                                  </p:stCondLst>
                                  <p:childTnLst>
                                    <p:set>
                                      <p:cBhvr>
                                        <p:cTn id="46" dur="1" fill="hold">
                                          <p:stCondLst>
                                            <p:cond delay="0"/>
                                          </p:stCondLst>
                                        </p:cTn>
                                        <p:tgtEl>
                                          <p:spTgt spid="162"/>
                                        </p:tgtEl>
                                        <p:attrNameLst>
                                          <p:attrName>style.visibility</p:attrName>
                                        </p:attrNameLst>
                                      </p:cBhvr>
                                      <p:to>
                                        <p:strVal val="visible"/>
                                      </p:to>
                                    </p:set>
                                    <p:animEffect transition="in" filter="wipe(down)">
                                      <p:cBhvr>
                                        <p:cTn id="47"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P spid="199" grpId="0"/>
      <p:bldP spid="16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es-ES" dirty="0"/>
              <a:t>Estructura del bus de direcciones</a:t>
            </a:r>
          </a:p>
        </p:txBody>
      </p:sp>
      <p:grpSp>
        <p:nvGrpSpPr>
          <p:cNvPr id="2" name="1 Grupo"/>
          <p:cNvGrpSpPr/>
          <p:nvPr/>
        </p:nvGrpSpPr>
        <p:grpSpPr>
          <a:xfrm>
            <a:off x="611560" y="678079"/>
            <a:ext cx="8407912" cy="2771486"/>
            <a:chOff x="611560" y="678079"/>
            <a:chExt cx="8407912" cy="2771486"/>
          </a:xfrm>
        </p:grpSpPr>
        <p:grpSp>
          <p:nvGrpSpPr>
            <p:cNvPr id="48" name="47 Grupo"/>
            <p:cNvGrpSpPr/>
            <p:nvPr/>
          </p:nvGrpSpPr>
          <p:grpSpPr>
            <a:xfrm>
              <a:off x="3491880" y="2348880"/>
              <a:ext cx="4176464" cy="1100685"/>
              <a:chOff x="3131840" y="3789039"/>
              <a:chExt cx="4176464" cy="1100685"/>
            </a:xfrm>
          </p:grpSpPr>
          <p:sp>
            <p:nvSpPr>
              <p:cNvPr id="38" name="Text Box 5"/>
              <p:cNvSpPr txBox="1">
                <a:spLocks noChangeArrowheads="1"/>
              </p:cNvSpPr>
              <p:nvPr/>
            </p:nvSpPr>
            <p:spPr bwMode="auto">
              <a:xfrm>
                <a:off x="3154641" y="3819203"/>
                <a:ext cx="668773" cy="400110"/>
              </a:xfrm>
              <a:prstGeom prst="rect">
                <a:avLst/>
              </a:prstGeom>
              <a:noFill/>
              <a:ln w="28575">
                <a:noFill/>
                <a:miter lim="800000"/>
                <a:headEnd/>
                <a:tailEnd/>
              </a:ln>
            </p:spPr>
            <p:txBody>
              <a:bodyPr wrap="none" anchor="ctr">
                <a:spAutoFit/>
              </a:bodyPr>
              <a:lstStyle/>
              <a:p>
                <a:r>
                  <a:rPr lang="es-ES_tradnl" dirty="0">
                    <a:solidFill>
                      <a:prstClr val="black"/>
                    </a:solidFill>
                  </a:rPr>
                  <a:t>A</a:t>
                </a:r>
                <a:r>
                  <a:rPr lang="es-ES_tradnl" b="1" baseline="-25000" dirty="0">
                    <a:solidFill>
                      <a:prstClr val="black"/>
                    </a:solidFill>
                  </a:rPr>
                  <a:t>N–1</a:t>
                </a:r>
                <a:endParaRPr lang="es-ES_tradnl" dirty="0">
                  <a:solidFill>
                    <a:prstClr val="black"/>
                  </a:solidFill>
                </a:endParaRPr>
              </a:p>
            </p:txBody>
          </p:sp>
          <p:sp>
            <p:nvSpPr>
              <p:cNvPr id="39" name="Text Box 6"/>
              <p:cNvSpPr txBox="1">
                <a:spLocks noChangeArrowheads="1"/>
              </p:cNvSpPr>
              <p:nvPr/>
            </p:nvSpPr>
            <p:spPr bwMode="auto">
              <a:xfrm>
                <a:off x="4860032" y="3789039"/>
                <a:ext cx="936104" cy="400110"/>
              </a:xfrm>
              <a:prstGeom prst="rect">
                <a:avLst/>
              </a:prstGeom>
              <a:noFill/>
              <a:ln w="28575">
                <a:noFill/>
                <a:miter lim="800000"/>
                <a:headEnd/>
                <a:tailEnd/>
              </a:ln>
            </p:spPr>
            <p:txBody>
              <a:bodyPr wrap="square" anchor="ctr">
                <a:spAutoFit/>
              </a:bodyPr>
              <a:lstStyle/>
              <a:p>
                <a:r>
                  <a:rPr lang="es-ES_tradnl" dirty="0">
                    <a:solidFill>
                      <a:prstClr val="black"/>
                    </a:solidFill>
                  </a:rPr>
                  <a:t>A</a:t>
                </a:r>
                <a:r>
                  <a:rPr lang="es-ES_tradnl" b="1" baseline="-25000" dirty="0">
                    <a:solidFill>
                      <a:prstClr val="black"/>
                    </a:solidFill>
                  </a:rPr>
                  <a:t>2</a:t>
                </a:r>
                <a:r>
                  <a:rPr lang="es-ES_tradnl" dirty="0">
                    <a:solidFill>
                      <a:prstClr val="black"/>
                    </a:solidFill>
                  </a:rPr>
                  <a:t>  A</a:t>
                </a:r>
                <a:r>
                  <a:rPr lang="es-ES_tradnl" b="1" baseline="-25000" dirty="0">
                    <a:solidFill>
                      <a:prstClr val="black"/>
                    </a:solidFill>
                  </a:rPr>
                  <a:t>1</a:t>
                </a:r>
                <a:endParaRPr lang="es-ES_tradnl" dirty="0">
                  <a:solidFill>
                    <a:prstClr val="black"/>
                  </a:solidFill>
                </a:endParaRPr>
              </a:p>
            </p:txBody>
          </p:sp>
          <p:sp>
            <p:nvSpPr>
              <p:cNvPr id="40" name="Text Box 8"/>
              <p:cNvSpPr txBox="1">
                <a:spLocks noChangeArrowheads="1"/>
              </p:cNvSpPr>
              <p:nvPr/>
            </p:nvSpPr>
            <p:spPr bwMode="auto">
              <a:xfrm>
                <a:off x="5868144" y="3789040"/>
                <a:ext cx="1440160" cy="400110"/>
              </a:xfrm>
              <a:prstGeom prst="rect">
                <a:avLst/>
              </a:prstGeom>
              <a:noFill/>
              <a:ln w="28575">
                <a:noFill/>
                <a:miter lim="800000"/>
                <a:headEnd/>
                <a:tailEnd/>
              </a:ln>
            </p:spPr>
            <p:txBody>
              <a:bodyPr wrap="square" anchor="ctr">
                <a:spAutoFit/>
              </a:bodyPr>
              <a:lstStyle/>
              <a:p>
                <a:pPr algn="l"/>
                <a:r>
                  <a:rPr lang="es-ES_tradnl" dirty="0">
                    <a:solidFill>
                      <a:prstClr val="black"/>
                    </a:solidFill>
                  </a:rPr>
                  <a:t>BE*</a:t>
                </a:r>
                <a:r>
                  <a:rPr lang="es-ES_tradnl" b="1" baseline="-25000" dirty="0">
                    <a:solidFill>
                      <a:prstClr val="black"/>
                    </a:solidFill>
                  </a:rPr>
                  <a:t>1 </a:t>
                </a:r>
                <a:r>
                  <a:rPr lang="es-ES_tradnl" dirty="0">
                    <a:solidFill>
                      <a:prstClr val="black"/>
                    </a:solidFill>
                  </a:rPr>
                  <a:t>BE*</a:t>
                </a:r>
                <a:r>
                  <a:rPr lang="es-ES_tradnl" b="1" baseline="-25000" dirty="0">
                    <a:solidFill>
                      <a:prstClr val="black"/>
                    </a:solidFill>
                  </a:rPr>
                  <a:t>0</a:t>
                </a:r>
                <a:endParaRPr lang="es-ES_tradnl" dirty="0">
                  <a:solidFill>
                    <a:prstClr val="black"/>
                  </a:solidFill>
                </a:endParaRPr>
              </a:p>
            </p:txBody>
          </p:sp>
          <p:sp>
            <p:nvSpPr>
              <p:cNvPr id="41" name="Rectangle 10"/>
              <p:cNvSpPr>
                <a:spLocks noChangeArrowheads="1"/>
              </p:cNvSpPr>
              <p:nvPr/>
            </p:nvSpPr>
            <p:spPr bwMode="auto">
              <a:xfrm>
                <a:off x="3131840" y="3790657"/>
                <a:ext cx="4032448" cy="457200"/>
              </a:xfrm>
              <a:prstGeom prst="rect">
                <a:avLst/>
              </a:prstGeom>
              <a:noFill/>
              <a:ln w="28575">
                <a:solidFill>
                  <a:schemeClr val="accent5"/>
                </a:solidFill>
                <a:miter lim="800000"/>
                <a:headEnd/>
                <a:tailEnd/>
              </a:ln>
            </p:spPr>
            <p:txBody>
              <a:bodyPr wrap="none" anchor="ctr"/>
              <a:lstStyle/>
              <a:p>
                <a:endParaRPr lang="es-ES">
                  <a:solidFill>
                    <a:prstClr val="black"/>
                  </a:solidFill>
                </a:endParaRPr>
              </a:p>
            </p:txBody>
          </p:sp>
          <p:sp>
            <p:nvSpPr>
              <p:cNvPr id="42" name="Line 11"/>
              <p:cNvSpPr>
                <a:spLocks noChangeShapeType="1"/>
              </p:cNvSpPr>
              <p:nvPr/>
            </p:nvSpPr>
            <p:spPr bwMode="auto">
              <a:xfrm>
                <a:off x="5796136" y="3790657"/>
                <a:ext cx="0" cy="457200"/>
              </a:xfrm>
              <a:prstGeom prst="line">
                <a:avLst/>
              </a:prstGeom>
              <a:noFill/>
              <a:ln w="28575">
                <a:solidFill>
                  <a:schemeClr val="accent5"/>
                </a:solidFill>
                <a:round/>
                <a:headEnd/>
                <a:tailEnd/>
              </a:ln>
            </p:spPr>
            <p:txBody>
              <a:bodyPr wrap="none" anchor="ctr"/>
              <a:lstStyle/>
              <a:p>
                <a:endParaRPr lang="es-ES">
                  <a:solidFill>
                    <a:prstClr val="black"/>
                  </a:solidFill>
                </a:endParaRPr>
              </a:p>
            </p:txBody>
          </p:sp>
          <p:sp>
            <p:nvSpPr>
              <p:cNvPr id="43" name="AutoShape 12"/>
              <p:cNvSpPr>
                <a:spLocks/>
              </p:cNvSpPr>
              <p:nvPr/>
            </p:nvSpPr>
            <p:spPr bwMode="auto">
              <a:xfrm rot="5400000">
                <a:off x="4335055" y="3120049"/>
                <a:ext cx="185857" cy="2592288"/>
              </a:xfrm>
              <a:prstGeom prst="rightBrace">
                <a:avLst>
                  <a:gd name="adj1" fmla="val 77025"/>
                  <a:gd name="adj2" fmla="val 50000"/>
                </a:avLst>
              </a:prstGeom>
              <a:noFill/>
              <a:ln w="28575">
                <a:solidFill>
                  <a:schemeClr val="accent5"/>
                </a:solidFill>
                <a:round/>
                <a:headEnd/>
                <a:tailEnd/>
              </a:ln>
            </p:spPr>
            <p:txBody>
              <a:bodyPr wrap="none" anchor="ctr"/>
              <a:lstStyle/>
              <a:p>
                <a:endParaRPr lang="es-ES">
                  <a:solidFill>
                    <a:prstClr val="black"/>
                  </a:solidFill>
                </a:endParaRPr>
              </a:p>
            </p:txBody>
          </p:sp>
          <p:sp>
            <p:nvSpPr>
              <p:cNvPr id="44" name="Text Box 13"/>
              <p:cNvSpPr txBox="1">
                <a:spLocks noChangeArrowheads="1"/>
              </p:cNvSpPr>
              <p:nvPr/>
            </p:nvSpPr>
            <p:spPr bwMode="auto">
              <a:xfrm>
                <a:off x="3594179" y="4520391"/>
                <a:ext cx="1697901" cy="369332"/>
              </a:xfrm>
              <a:prstGeom prst="rect">
                <a:avLst/>
              </a:prstGeom>
              <a:noFill/>
              <a:ln w="28575">
                <a:noFill/>
                <a:miter lim="800000"/>
                <a:headEnd/>
                <a:tailEnd/>
              </a:ln>
            </p:spPr>
            <p:txBody>
              <a:bodyPr wrap="none" anchor="ctr">
                <a:spAutoFit/>
              </a:bodyPr>
              <a:lstStyle/>
              <a:p>
                <a:r>
                  <a:rPr lang="es-ES_tradnl" sz="1800" dirty="0" err="1">
                    <a:solidFill>
                      <a:prstClr val="black"/>
                    </a:solidFill>
                  </a:rPr>
                  <a:t>sel</a:t>
                </a:r>
                <a:r>
                  <a:rPr lang="es-ES_tradnl" sz="1800" dirty="0">
                    <a:solidFill>
                      <a:prstClr val="black"/>
                    </a:solidFill>
                  </a:rPr>
                  <a:t>. de palabra</a:t>
                </a:r>
              </a:p>
            </p:txBody>
          </p:sp>
          <p:sp>
            <p:nvSpPr>
              <p:cNvPr id="45" name="Text Box 14"/>
              <p:cNvSpPr txBox="1">
                <a:spLocks noChangeArrowheads="1"/>
              </p:cNvSpPr>
              <p:nvPr/>
            </p:nvSpPr>
            <p:spPr bwMode="auto">
              <a:xfrm>
                <a:off x="5796136" y="4520392"/>
                <a:ext cx="1364477" cy="369332"/>
              </a:xfrm>
              <a:prstGeom prst="rect">
                <a:avLst/>
              </a:prstGeom>
              <a:noFill/>
              <a:ln w="28575">
                <a:noFill/>
                <a:miter lim="800000"/>
                <a:headEnd/>
                <a:tailEnd/>
              </a:ln>
            </p:spPr>
            <p:txBody>
              <a:bodyPr wrap="none" anchor="ctr">
                <a:spAutoFit/>
              </a:bodyPr>
              <a:lstStyle/>
              <a:p>
                <a:r>
                  <a:rPr lang="es-ES_tradnl" sz="1800" dirty="0" err="1">
                    <a:solidFill>
                      <a:prstClr val="black"/>
                    </a:solidFill>
                  </a:rPr>
                  <a:t>sel</a:t>
                </a:r>
                <a:r>
                  <a:rPr lang="es-ES_tradnl" sz="1800" dirty="0">
                    <a:solidFill>
                      <a:prstClr val="black"/>
                    </a:solidFill>
                  </a:rPr>
                  <a:t>. de byte</a:t>
                </a:r>
              </a:p>
            </p:txBody>
          </p:sp>
          <p:sp>
            <p:nvSpPr>
              <p:cNvPr id="46" name="AutoShape 15"/>
              <p:cNvSpPr>
                <a:spLocks/>
              </p:cNvSpPr>
              <p:nvPr/>
            </p:nvSpPr>
            <p:spPr bwMode="auto">
              <a:xfrm rot="5400000">
                <a:off x="6423685" y="3768517"/>
                <a:ext cx="185062" cy="1296144"/>
              </a:xfrm>
              <a:prstGeom prst="rightBrace">
                <a:avLst>
                  <a:gd name="adj1" fmla="val 83963"/>
                  <a:gd name="adj2" fmla="val 50000"/>
                </a:avLst>
              </a:prstGeom>
              <a:noFill/>
              <a:ln w="28575">
                <a:solidFill>
                  <a:schemeClr val="accent5"/>
                </a:solidFill>
                <a:round/>
                <a:headEnd/>
                <a:tailEnd/>
              </a:ln>
            </p:spPr>
            <p:txBody>
              <a:bodyPr wrap="none" anchor="ctr"/>
              <a:lstStyle/>
              <a:p>
                <a:endParaRPr lang="es-ES">
                  <a:solidFill>
                    <a:prstClr val="black"/>
                  </a:solidFill>
                </a:endParaRPr>
              </a:p>
            </p:txBody>
          </p:sp>
        </p:grpSp>
        <p:sp>
          <p:nvSpPr>
            <p:cNvPr id="47" name="Rectangle 29"/>
            <p:cNvSpPr>
              <a:spLocks noChangeArrowheads="1"/>
            </p:cNvSpPr>
            <p:nvPr/>
          </p:nvSpPr>
          <p:spPr bwMode="auto">
            <a:xfrm>
              <a:off x="611560" y="2348881"/>
              <a:ext cx="2592288" cy="461665"/>
            </a:xfrm>
            <a:prstGeom prst="rect">
              <a:avLst/>
            </a:prstGeom>
            <a:solidFill>
              <a:schemeClr val="tx1">
                <a:lumMod val="75000"/>
                <a:lumOff val="25000"/>
              </a:schemeClr>
            </a:solidFill>
            <a:ln w="28575">
              <a:noFill/>
              <a:miter lim="800000"/>
              <a:headEnd/>
              <a:tailEnd/>
            </a:ln>
          </p:spPr>
          <p:txBody>
            <a:bodyPr wrap="square" anchor="ctr">
              <a:spAutoFit/>
            </a:bodyPr>
            <a:lstStyle/>
            <a:p>
              <a:r>
                <a:rPr lang="es-ES_tradnl" sz="2400" b="1" dirty="0">
                  <a:solidFill>
                    <a:prstClr val="white"/>
                  </a:solidFill>
                  <a:latin typeface="Arial Narrow" pitchFamily="34" charset="0"/>
                </a:rPr>
                <a:t>Bus de Direcciones</a:t>
              </a:r>
            </a:p>
          </p:txBody>
        </p:sp>
        <p:grpSp>
          <p:nvGrpSpPr>
            <p:cNvPr id="49" name="Group 4"/>
            <p:cNvGrpSpPr>
              <a:grpSpLocks/>
            </p:cNvGrpSpPr>
            <p:nvPr/>
          </p:nvGrpSpPr>
          <p:grpSpPr bwMode="auto">
            <a:xfrm>
              <a:off x="3491881" y="1196752"/>
              <a:ext cx="3168649" cy="458788"/>
              <a:chOff x="3168" y="1727"/>
              <a:chExt cx="1996" cy="289"/>
            </a:xfrm>
          </p:grpSpPr>
          <p:sp>
            <p:nvSpPr>
              <p:cNvPr id="50" name="Text Box 5"/>
              <p:cNvSpPr txBox="1">
                <a:spLocks noChangeArrowheads="1"/>
              </p:cNvSpPr>
              <p:nvPr/>
            </p:nvSpPr>
            <p:spPr bwMode="auto">
              <a:xfrm>
                <a:off x="3182" y="1746"/>
                <a:ext cx="421" cy="252"/>
              </a:xfrm>
              <a:prstGeom prst="rect">
                <a:avLst/>
              </a:prstGeom>
              <a:noFill/>
              <a:ln w="28575">
                <a:noFill/>
                <a:miter lim="800000"/>
                <a:headEnd/>
                <a:tailEnd/>
              </a:ln>
            </p:spPr>
            <p:txBody>
              <a:bodyPr wrap="none" anchor="ctr">
                <a:spAutoFit/>
              </a:bodyPr>
              <a:lstStyle/>
              <a:p>
                <a:r>
                  <a:rPr lang="es-ES_tradnl">
                    <a:solidFill>
                      <a:prstClr val="black"/>
                    </a:solidFill>
                  </a:rPr>
                  <a:t>A</a:t>
                </a:r>
                <a:r>
                  <a:rPr lang="es-ES_tradnl" b="1" baseline="-25000">
                    <a:solidFill>
                      <a:prstClr val="black"/>
                    </a:solidFill>
                  </a:rPr>
                  <a:t>N–1</a:t>
                </a:r>
                <a:endParaRPr lang="es-ES_tradnl">
                  <a:solidFill>
                    <a:prstClr val="black"/>
                  </a:solidFill>
                </a:endParaRPr>
              </a:p>
            </p:txBody>
          </p:sp>
          <p:sp>
            <p:nvSpPr>
              <p:cNvPr id="51" name="Text Box 6"/>
              <p:cNvSpPr txBox="1">
                <a:spLocks noChangeArrowheads="1"/>
              </p:cNvSpPr>
              <p:nvPr/>
            </p:nvSpPr>
            <p:spPr bwMode="auto">
              <a:xfrm>
                <a:off x="4211" y="1728"/>
                <a:ext cx="362" cy="250"/>
              </a:xfrm>
              <a:prstGeom prst="rect">
                <a:avLst/>
              </a:prstGeom>
              <a:noFill/>
              <a:ln w="28575">
                <a:noFill/>
                <a:miter lim="800000"/>
                <a:headEnd/>
                <a:tailEnd/>
              </a:ln>
            </p:spPr>
            <p:txBody>
              <a:bodyPr anchor="ctr">
                <a:spAutoFit/>
              </a:bodyPr>
              <a:lstStyle/>
              <a:p>
                <a:r>
                  <a:rPr lang="es-ES_tradnl" dirty="0">
                    <a:solidFill>
                      <a:prstClr val="black"/>
                    </a:solidFill>
                  </a:rPr>
                  <a:t>A</a:t>
                </a:r>
                <a:r>
                  <a:rPr lang="es-ES_tradnl" b="1" baseline="-25000" dirty="0">
                    <a:solidFill>
                      <a:prstClr val="black"/>
                    </a:solidFill>
                  </a:rPr>
                  <a:t>2</a:t>
                </a:r>
                <a:endParaRPr lang="es-ES_tradnl" dirty="0">
                  <a:solidFill>
                    <a:prstClr val="black"/>
                  </a:solidFill>
                </a:endParaRPr>
              </a:p>
            </p:txBody>
          </p:sp>
          <p:sp>
            <p:nvSpPr>
              <p:cNvPr id="52" name="Text Box 7"/>
              <p:cNvSpPr txBox="1">
                <a:spLocks noChangeArrowheads="1"/>
              </p:cNvSpPr>
              <p:nvPr/>
            </p:nvSpPr>
            <p:spPr bwMode="auto">
              <a:xfrm>
                <a:off x="4517" y="1727"/>
                <a:ext cx="284" cy="252"/>
              </a:xfrm>
              <a:prstGeom prst="rect">
                <a:avLst/>
              </a:prstGeom>
              <a:noFill/>
              <a:ln w="28575">
                <a:noFill/>
                <a:miter lim="800000"/>
                <a:headEnd/>
                <a:tailEnd/>
              </a:ln>
            </p:spPr>
            <p:txBody>
              <a:bodyPr wrap="none" anchor="ctr">
                <a:spAutoFit/>
              </a:bodyPr>
              <a:lstStyle/>
              <a:p>
                <a:r>
                  <a:rPr lang="es-ES_tradnl" dirty="0">
                    <a:solidFill>
                      <a:prstClr val="black"/>
                    </a:solidFill>
                  </a:rPr>
                  <a:t>A</a:t>
                </a:r>
                <a:r>
                  <a:rPr lang="es-ES_tradnl" b="1" baseline="-25000" dirty="0">
                    <a:solidFill>
                      <a:prstClr val="black"/>
                    </a:solidFill>
                  </a:rPr>
                  <a:t>1</a:t>
                </a:r>
                <a:endParaRPr lang="es-ES_tradnl" dirty="0">
                  <a:solidFill>
                    <a:prstClr val="black"/>
                  </a:solidFill>
                </a:endParaRPr>
              </a:p>
            </p:txBody>
          </p:sp>
          <p:sp>
            <p:nvSpPr>
              <p:cNvPr id="53" name="Text Box 8"/>
              <p:cNvSpPr txBox="1">
                <a:spLocks noChangeArrowheads="1"/>
              </p:cNvSpPr>
              <p:nvPr/>
            </p:nvSpPr>
            <p:spPr bwMode="auto">
              <a:xfrm>
                <a:off x="4846" y="1727"/>
                <a:ext cx="284" cy="252"/>
              </a:xfrm>
              <a:prstGeom prst="rect">
                <a:avLst/>
              </a:prstGeom>
              <a:noFill/>
              <a:ln w="28575">
                <a:noFill/>
                <a:miter lim="800000"/>
                <a:headEnd/>
                <a:tailEnd/>
              </a:ln>
            </p:spPr>
            <p:txBody>
              <a:bodyPr wrap="none" anchor="ctr">
                <a:spAutoFit/>
              </a:bodyPr>
              <a:lstStyle/>
              <a:p>
                <a:r>
                  <a:rPr lang="es-ES_tradnl" dirty="0">
                    <a:solidFill>
                      <a:prstClr val="black"/>
                    </a:solidFill>
                  </a:rPr>
                  <a:t>A</a:t>
                </a:r>
                <a:r>
                  <a:rPr lang="es-ES_tradnl" b="1" baseline="-25000" dirty="0">
                    <a:solidFill>
                      <a:prstClr val="black"/>
                    </a:solidFill>
                  </a:rPr>
                  <a:t>0</a:t>
                </a:r>
                <a:endParaRPr lang="es-ES_tradnl" dirty="0">
                  <a:solidFill>
                    <a:prstClr val="black"/>
                  </a:solidFill>
                </a:endParaRPr>
              </a:p>
            </p:txBody>
          </p:sp>
          <p:grpSp>
            <p:nvGrpSpPr>
              <p:cNvPr id="54" name="Group 9"/>
              <p:cNvGrpSpPr>
                <a:grpSpLocks/>
              </p:cNvGrpSpPr>
              <p:nvPr/>
            </p:nvGrpSpPr>
            <p:grpSpPr bwMode="auto">
              <a:xfrm>
                <a:off x="3168" y="1728"/>
                <a:ext cx="1996" cy="288"/>
                <a:chOff x="1920" y="1747"/>
                <a:chExt cx="2133" cy="288"/>
              </a:xfrm>
            </p:grpSpPr>
            <p:sp>
              <p:nvSpPr>
                <p:cNvPr id="59" name="Rectangle 10"/>
                <p:cNvSpPr>
                  <a:spLocks noChangeArrowheads="1"/>
                </p:cNvSpPr>
                <p:nvPr/>
              </p:nvSpPr>
              <p:spPr bwMode="auto">
                <a:xfrm>
                  <a:off x="1920" y="1747"/>
                  <a:ext cx="2133" cy="288"/>
                </a:xfrm>
                <a:prstGeom prst="rect">
                  <a:avLst/>
                </a:prstGeom>
                <a:noFill/>
                <a:ln w="28575">
                  <a:solidFill>
                    <a:schemeClr val="accent5"/>
                  </a:solidFill>
                  <a:miter lim="800000"/>
                  <a:headEnd/>
                  <a:tailEnd/>
                </a:ln>
              </p:spPr>
              <p:txBody>
                <a:bodyPr wrap="none" anchor="ctr"/>
                <a:lstStyle/>
                <a:p>
                  <a:endParaRPr lang="es-ES">
                    <a:solidFill>
                      <a:prstClr val="black"/>
                    </a:solidFill>
                  </a:endParaRPr>
                </a:p>
              </p:txBody>
            </p:sp>
            <p:sp>
              <p:nvSpPr>
                <p:cNvPr id="60" name="Line 11"/>
                <p:cNvSpPr>
                  <a:spLocks noChangeShapeType="1"/>
                </p:cNvSpPr>
                <p:nvPr/>
              </p:nvSpPr>
              <p:spPr bwMode="auto">
                <a:xfrm>
                  <a:off x="3665" y="1747"/>
                  <a:ext cx="0" cy="288"/>
                </a:xfrm>
                <a:prstGeom prst="line">
                  <a:avLst/>
                </a:prstGeom>
                <a:noFill/>
                <a:ln w="28575">
                  <a:solidFill>
                    <a:schemeClr val="accent5"/>
                  </a:solidFill>
                  <a:round/>
                  <a:headEnd/>
                  <a:tailEnd/>
                </a:ln>
              </p:spPr>
              <p:txBody>
                <a:bodyPr wrap="none" anchor="ctr"/>
                <a:lstStyle/>
                <a:p>
                  <a:endParaRPr lang="es-ES">
                    <a:solidFill>
                      <a:prstClr val="black"/>
                    </a:solidFill>
                  </a:endParaRPr>
                </a:p>
              </p:txBody>
            </p:sp>
          </p:grpSp>
        </p:grpSp>
        <p:sp>
          <p:nvSpPr>
            <p:cNvPr id="61" name="Rectangle 29"/>
            <p:cNvSpPr>
              <a:spLocks noChangeArrowheads="1"/>
            </p:cNvSpPr>
            <p:nvPr/>
          </p:nvSpPr>
          <p:spPr bwMode="auto">
            <a:xfrm>
              <a:off x="646784" y="1116733"/>
              <a:ext cx="2645276" cy="461665"/>
            </a:xfrm>
            <a:prstGeom prst="rect">
              <a:avLst/>
            </a:prstGeom>
            <a:noFill/>
            <a:ln w="28575">
              <a:noFill/>
              <a:miter lim="800000"/>
              <a:headEnd/>
              <a:tailEnd/>
            </a:ln>
          </p:spPr>
          <p:txBody>
            <a:bodyPr wrap="none" anchor="ctr">
              <a:spAutoFit/>
            </a:bodyPr>
            <a:lstStyle/>
            <a:p>
              <a:r>
                <a:rPr lang="es-ES_tradnl" sz="2400" dirty="0">
                  <a:solidFill>
                    <a:prstClr val="black"/>
                  </a:solidFill>
                  <a:latin typeface="Arial Narrow" pitchFamily="34" charset="0"/>
                </a:rPr>
                <a:t>Dirección de memoria</a:t>
              </a:r>
            </a:p>
          </p:txBody>
        </p:sp>
        <p:sp>
          <p:nvSpPr>
            <p:cNvPr id="62" name="61 Estrella de 12 puntas"/>
            <p:cNvSpPr/>
            <p:nvPr/>
          </p:nvSpPr>
          <p:spPr bwMode="auto">
            <a:xfrm rot="20894014">
              <a:off x="6895744" y="678079"/>
              <a:ext cx="2123728" cy="1440160"/>
            </a:xfrm>
            <a:prstGeom prst="star12">
              <a:avLst/>
            </a:prstGeom>
            <a:solidFill>
              <a:schemeClr val="accent6">
                <a:lumMod val="75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s-ES" sz="2800" b="1" dirty="0">
                  <a:solidFill>
                    <a:prstClr val="white"/>
                  </a:solidFill>
                  <a:cs typeface="Arial" pitchFamily="34" charset="0"/>
                </a:rPr>
                <a:t>CPU 16 bits</a:t>
              </a:r>
            </a:p>
          </p:txBody>
        </p:sp>
      </p:grpSp>
      <p:grpSp>
        <p:nvGrpSpPr>
          <p:cNvPr id="6" name="5 Grupo"/>
          <p:cNvGrpSpPr/>
          <p:nvPr/>
        </p:nvGrpSpPr>
        <p:grpSpPr>
          <a:xfrm>
            <a:off x="611560" y="3324503"/>
            <a:ext cx="8440944" cy="2822929"/>
            <a:chOff x="611560" y="3630407"/>
            <a:chExt cx="8440944" cy="2822929"/>
          </a:xfrm>
        </p:grpSpPr>
        <p:grpSp>
          <p:nvGrpSpPr>
            <p:cNvPr id="3" name="Group 4"/>
            <p:cNvGrpSpPr>
              <a:grpSpLocks/>
            </p:cNvGrpSpPr>
            <p:nvPr/>
          </p:nvGrpSpPr>
          <p:grpSpPr bwMode="auto">
            <a:xfrm>
              <a:off x="3491882" y="4191471"/>
              <a:ext cx="3133725" cy="458788"/>
              <a:chOff x="3168" y="1727"/>
              <a:chExt cx="1974" cy="289"/>
            </a:xfrm>
          </p:grpSpPr>
          <p:sp>
            <p:nvSpPr>
              <p:cNvPr id="34825" name="Text Box 5"/>
              <p:cNvSpPr txBox="1">
                <a:spLocks noChangeArrowheads="1"/>
              </p:cNvSpPr>
              <p:nvPr/>
            </p:nvSpPr>
            <p:spPr bwMode="auto">
              <a:xfrm>
                <a:off x="3182" y="1746"/>
                <a:ext cx="421" cy="252"/>
              </a:xfrm>
              <a:prstGeom prst="rect">
                <a:avLst/>
              </a:prstGeom>
              <a:noFill/>
              <a:ln w="28575">
                <a:noFill/>
                <a:miter lim="800000"/>
                <a:headEnd/>
                <a:tailEnd/>
              </a:ln>
            </p:spPr>
            <p:txBody>
              <a:bodyPr wrap="none" anchor="ctr">
                <a:spAutoFit/>
              </a:bodyPr>
              <a:lstStyle/>
              <a:p>
                <a:r>
                  <a:rPr lang="es-ES_tradnl">
                    <a:solidFill>
                      <a:prstClr val="black"/>
                    </a:solidFill>
                  </a:rPr>
                  <a:t>A</a:t>
                </a:r>
                <a:r>
                  <a:rPr lang="es-ES_tradnl" b="1" baseline="-25000">
                    <a:solidFill>
                      <a:prstClr val="black"/>
                    </a:solidFill>
                  </a:rPr>
                  <a:t>N–1</a:t>
                </a:r>
                <a:endParaRPr lang="es-ES_tradnl">
                  <a:solidFill>
                    <a:prstClr val="black"/>
                  </a:solidFill>
                </a:endParaRPr>
              </a:p>
            </p:txBody>
          </p:sp>
          <p:sp>
            <p:nvSpPr>
              <p:cNvPr id="34826" name="Text Box 6"/>
              <p:cNvSpPr txBox="1">
                <a:spLocks noChangeArrowheads="1"/>
              </p:cNvSpPr>
              <p:nvPr/>
            </p:nvSpPr>
            <p:spPr bwMode="auto">
              <a:xfrm>
                <a:off x="4211" y="1728"/>
                <a:ext cx="362" cy="250"/>
              </a:xfrm>
              <a:prstGeom prst="rect">
                <a:avLst/>
              </a:prstGeom>
              <a:noFill/>
              <a:ln w="28575">
                <a:noFill/>
                <a:miter lim="800000"/>
                <a:headEnd/>
                <a:tailEnd/>
              </a:ln>
            </p:spPr>
            <p:txBody>
              <a:bodyPr anchor="ctr">
                <a:spAutoFit/>
              </a:bodyPr>
              <a:lstStyle/>
              <a:p>
                <a:r>
                  <a:rPr lang="es-ES_tradnl" dirty="0">
                    <a:solidFill>
                      <a:prstClr val="black"/>
                    </a:solidFill>
                  </a:rPr>
                  <a:t>A</a:t>
                </a:r>
                <a:r>
                  <a:rPr lang="es-ES_tradnl" b="1" baseline="-25000" dirty="0">
                    <a:solidFill>
                      <a:prstClr val="black"/>
                    </a:solidFill>
                  </a:rPr>
                  <a:t>2</a:t>
                </a:r>
                <a:endParaRPr lang="es-ES_tradnl" dirty="0">
                  <a:solidFill>
                    <a:prstClr val="black"/>
                  </a:solidFill>
                </a:endParaRPr>
              </a:p>
            </p:txBody>
          </p:sp>
          <p:sp>
            <p:nvSpPr>
              <p:cNvPr id="34827" name="Text Box 7"/>
              <p:cNvSpPr txBox="1">
                <a:spLocks noChangeArrowheads="1"/>
              </p:cNvSpPr>
              <p:nvPr/>
            </p:nvSpPr>
            <p:spPr bwMode="auto">
              <a:xfrm>
                <a:off x="4619" y="1727"/>
                <a:ext cx="284" cy="252"/>
              </a:xfrm>
              <a:prstGeom prst="rect">
                <a:avLst/>
              </a:prstGeom>
              <a:noFill/>
              <a:ln w="28575">
                <a:noFill/>
                <a:miter lim="800000"/>
                <a:headEnd/>
                <a:tailEnd/>
              </a:ln>
            </p:spPr>
            <p:txBody>
              <a:bodyPr wrap="none" anchor="ctr">
                <a:spAutoFit/>
              </a:bodyPr>
              <a:lstStyle/>
              <a:p>
                <a:r>
                  <a:rPr lang="es-ES_tradnl" dirty="0">
                    <a:solidFill>
                      <a:prstClr val="black"/>
                    </a:solidFill>
                  </a:rPr>
                  <a:t>A</a:t>
                </a:r>
                <a:r>
                  <a:rPr lang="es-ES_tradnl" b="1" baseline="-25000" dirty="0">
                    <a:solidFill>
                      <a:prstClr val="black"/>
                    </a:solidFill>
                  </a:rPr>
                  <a:t>1</a:t>
                </a:r>
                <a:endParaRPr lang="es-ES_tradnl" dirty="0">
                  <a:solidFill>
                    <a:prstClr val="black"/>
                  </a:solidFill>
                </a:endParaRPr>
              </a:p>
            </p:txBody>
          </p:sp>
          <p:sp>
            <p:nvSpPr>
              <p:cNvPr id="34828" name="Text Box 8"/>
              <p:cNvSpPr txBox="1">
                <a:spLocks noChangeArrowheads="1"/>
              </p:cNvSpPr>
              <p:nvPr/>
            </p:nvSpPr>
            <p:spPr bwMode="auto">
              <a:xfrm>
                <a:off x="4858" y="1727"/>
                <a:ext cx="284" cy="252"/>
              </a:xfrm>
              <a:prstGeom prst="rect">
                <a:avLst/>
              </a:prstGeom>
              <a:noFill/>
              <a:ln w="28575">
                <a:noFill/>
                <a:miter lim="800000"/>
                <a:headEnd/>
                <a:tailEnd/>
              </a:ln>
            </p:spPr>
            <p:txBody>
              <a:bodyPr wrap="none" anchor="ctr">
                <a:spAutoFit/>
              </a:bodyPr>
              <a:lstStyle/>
              <a:p>
                <a:r>
                  <a:rPr lang="es-ES_tradnl" dirty="0">
                    <a:solidFill>
                      <a:prstClr val="black"/>
                    </a:solidFill>
                  </a:rPr>
                  <a:t>A</a:t>
                </a:r>
                <a:r>
                  <a:rPr lang="es-ES_tradnl" b="1" baseline="-25000" dirty="0">
                    <a:solidFill>
                      <a:prstClr val="black"/>
                    </a:solidFill>
                  </a:rPr>
                  <a:t>0</a:t>
                </a:r>
                <a:endParaRPr lang="es-ES_tradnl" dirty="0">
                  <a:solidFill>
                    <a:prstClr val="black"/>
                  </a:solidFill>
                </a:endParaRPr>
              </a:p>
            </p:txBody>
          </p:sp>
          <p:grpSp>
            <p:nvGrpSpPr>
              <p:cNvPr id="4" name="Group 9"/>
              <p:cNvGrpSpPr>
                <a:grpSpLocks/>
              </p:cNvGrpSpPr>
              <p:nvPr/>
            </p:nvGrpSpPr>
            <p:grpSpPr bwMode="auto">
              <a:xfrm>
                <a:off x="3168" y="1728"/>
                <a:ext cx="1950" cy="288"/>
                <a:chOff x="1920" y="1747"/>
                <a:chExt cx="2084" cy="288"/>
              </a:xfrm>
            </p:grpSpPr>
            <p:sp>
              <p:nvSpPr>
                <p:cNvPr id="34834" name="Rectangle 10"/>
                <p:cNvSpPr>
                  <a:spLocks noChangeArrowheads="1"/>
                </p:cNvSpPr>
                <p:nvPr/>
              </p:nvSpPr>
              <p:spPr bwMode="auto">
                <a:xfrm>
                  <a:off x="1920" y="1747"/>
                  <a:ext cx="2084" cy="288"/>
                </a:xfrm>
                <a:prstGeom prst="rect">
                  <a:avLst/>
                </a:prstGeom>
                <a:noFill/>
                <a:ln w="28575">
                  <a:solidFill>
                    <a:schemeClr val="accent5"/>
                  </a:solidFill>
                  <a:miter lim="800000"/>
                  <a:headEnd/>
                  <a:tailEnd/>
                </a:ln>
              </p:spPr>
              <p:txBody>
                <a:bodyPr wrap="none" anchor="ctr"/>
                <a:lstStyle/>
                <a:p>
                  <a:endParaRPr lang="es-ES">
                    <a:solidFill>
                      <a:prstClr val="black"/>
                    </a:solidFill>
                  </a:endParaRPr>
                </a:p>
              </p:txBody>
            </p:sp>
            <p:sp>
              <p:nvSpPr>
                <p:cNvPr id="34835" name="Line 11"/>
                <p:cNvSpPr>
                  <a:spLocks noChangeShapeType="1"/>
                </p:cNvSpPr>
                <p:nvPr/>
              </p:nvSpPr>
              <p:spPr bwMode="auto">
                <a:xfrm>
                  <a:off x="3423" y="1747"/>
                  <a:ext cx="0" cy="288"/>
                </a:xfrm>
                <a:prstGeom prst="line">
                  <a:avLst/>
                </a:prstGeom>
                <a:noFill/>
                <a:ln w="28575">
                  <a:solidFill>
                    <a:schemeClr val="accent5"/>
                  </a:solidFill>
                  <a:round/>
                  <a:headEnd/>
                  <a:tailEnd/>
                </a:ln>
              </p:spPr>
              <p:txBody>
                <a:bodyPr wrap="none" anchor="ctr"/>
                <a:lstStyle/>
                <a:p>
                  <a:endParaRPr lang="es-ES">
                    <a:solidFill>
                      <a:prstClr val="black"/>
                    </a:solidFill>
                  </a:endParaRPr>
                </a:p>
              </p:txBody>
            </p:sp>
          </p:grpSp>
        </p:grpSp>
        <p:grpSp>
          <p:nvGrpSpPr>
            <p:cNvPr id="5" name="35 Grupo"/>
            <p:cNvGrpSpPr/>
            <p:nvPr/>
          </p:nvGrpSpPr>
          <p:grpSpPr>
            <a:xfrm>
              <a:off x="3491880" y="5354269"/>
              <a:ext cx="4896544" cy="1099067"/>
              <a:chOff x="2915816" y="5484514"/>
              <a:chExt cx="4896544" cy="1099067"/>
            </a:xfrm>
          </p:grpSpPr>
          <p:sp>
            <p:nvSpPr>
              <p:cNvPr id="23" name="Text Box 5"/>
              <p:cNvSpPr txBox="1">
                <a:spLocks noChangeArrowheads="1"/>
              </p:cNvSpPr>
              <p:nvPr/>
            </p:nvSpPr>
            <p:spPr bwMode="auto">
              <a:xfrm>
                <a:off x="2938617" y="5513060"/>
                <a:ext cx="668773" cy="400110"/>
              </a:xfrm>
              <a:prstGeom prst="rect">
                <a:avLst/>
              </a:prstGeom>
              <a:noFill/>
              <a:ln w="28575">
                <a:noFill/>
                <a:miter lim="800000"/>
                <a:headEnd/>
                <a:tailEnd/>
              </a:ln>
            </p:spPr>
            <p:txBody>
              <a:bodyPr wrap="none" anchor="ctr">
                <a:spAutoFit/>
              </a:bodyPr>
              <a:lstStyle/>
              <a:p>
                <a:r>
                  <a:rPr lang="es-ES_tradnl">
                    <a:solidFill>
                      <a:prstClr val="black"/>
                    </a:solidFill>
                  </a:rPr>
                  <a:t>A</a:t>
                </a:r>
                <a:r>
                  <a:rPr lang="es-ES_tradnl" b="1" baseline="-25000">
                    <a:solidFill>
                      <a:prstClr val="black"/>
                    </a:solidFill>
                  </a:rPr>
                  <a:t>N–1</a:t>
                </a:r>
                <a:endParaRPr lang="es-ES_tradnl">
                  <a:solidFill>
                    <a:prstClr val="black"/>
                  </a:solidFill>
                </a:endParaRPr>
              </a:p>
            </p:txBody>
          </p:sp>
          <p:sp>
            <p:nvSpPr>
              <p:cNvPr id="24" name="Text Box 6"/>
              <p:cNvSpPr txBox="1">
                <a:spLocks noChangeArrowheads="1"/>
              </p:cNvSpPr>
              <p:nvPr/>
            </p:nvSpPr>
            <p:spPr bwMode="auto">
              <a:xfrm>
                <a:off x="4572000" y="5484514"/>
                <a:ext cx="574675" cy="396875"/>
              </a:xfrm>
              <a:prstGeom prst="rect">
                <a:avLst/>
              </a:prstGeom>
              <a:noFill/>
              <a:ln w="28575">
                <a:noFill/>
                <a:miter lim="800000"/>
                <a:headEnd/>
                <a:tailEnd/>
              </a:ln>
            </p:spPr>
            <p:txBody>
              <a:bodyPr anchor="ctr">
                <a:spAutoFit/>
              </a:bodyPr>
              <a:lstStyle/>
              <a:p>
                <a:r>
                  <a:rPr lang="es-ES_tradnl" dirty="0">
                    <a:solidFill>
                      <a:prstClr val="black"/>
                    </a:solidFill>
                  </a:rPr>
                  <a:t>A</a:t>
                </a:r>
                <a:r>
                  <a:rPr lang="es-ES_tradnl" b="1" baseline="-25000" dirty="0">
                    <a:solidFill>
                      <a:prstClr val="black"/>
                    </a:solidFill>
                  </a:rPr>
                  <a:t>2</a:t>
                </a:r>
                <a:endParaRPr lang="es-ES_tradnl" dirty="0">
                  <a:solidFill>
                    <a:prstClr val="black"/>
                  </a:solidFill>
                </a:endParaRPr>
              </a:p>
            </p:txBody>
          </p:sp>
          <p:sp>
            <p:nvSpPr>
              <p:cNvPr id="26" name="Text Box 8"/>
              <p:cNvSpPr txBox="1">
                <a:spLocks noChangeArrowheads="1"/>
              </p:cNvSpPr>
              <p:nvPr/>
            </p:nvSpPr>
            <p:spPr bwMode="auto">
              <a:xfrm>
                <a:off x="5220072" y="5503461"/>
                <a:ext cx="2592288" cy="400110"/>
              </a:xfrm>
              <a:prstGeom prst="rect">
                <a:avLst/>
              </a:prstGeom>
              <a:noFill/>
              <a:ln w="28575">
                <a:noFill/>
                <a:miter lim="800000"/>
                <a:headEnd/>
                <a:tailEnd/>
              </a:ln>
            </p:spPr>
            <p:txBody>
              <a:bodyPr wrap="square" anchor="ctr">
                <a:spAutoFit/>
              </a:bodyPr>
              <a:lstStyle/>
              <a:p>
                <a:pPr algn="l"/>
                <a:r>
                  <a:rPr lang="es-ES_tradnl" dirty="0">
                    <a:solidFill>
                      <a:prstClr val="black"/>
                    </a:solidFill>
                  </a:rPr>
                  <a:t>BE*</a:t>
                </a:r>
                <a:r>
                  <a:rPr lang="es-ES_tradnl" b="1" baseline="-25000" dirty="0">
                    <a:solidFill>
                      <a:prstClr val="black"/>
                    </a:solidFill>
                  </a:rPr>
                  <a:t>3  </a:t>
                </a:r>
                <a:r>
                  <a:rPr lang="es-ES_tradnl" dirty="0">
                    <a:solidFill>
                      <a:prstClr val="black"/>
                    </a:solidFill>
                  </a:rPr>
                  <a:t>BE*</a:t>
                </a:r>
                <a:r>
                  <a:rPr lang="es-ES_tradnl" b="1" baseline="-25000" dirty="0">
                    <a:solidFill>
                      <a:prstClr val="black"/>
                    </a:solidFill>
                  </a:rPr>
                  <a:t>2</a:t>
                </a:r>
                <a:r>
                  <a:rPr lang="es-ES_tradnl" dirty="0">
                    <a:solidFill>
                      <a:prstClr val="black"/>
                    </a:solidFill>
                  </a:rPr>
                  <a:t> BE*</a:t>
                </a:r>
                <a:r>
                  <a:rPr lang="es-ES_tradnl" b="1" baseline="-25000" dirty="0">
                    <a:solidFill>
                      <a:prstClr val="black"/>
                    </a:solidFill>
                  </a:rPr>
                  <a:t>1 </a:t>
                </a:r>
                <a:r>
                  <a:rPr lang="es-ES_tradnl" dirty="0">
                    <a:solidFill>
                      <a:prstClr val="black"/>
                    </a:solidFill>
                  </a:rPr>
                  <a:t>BE*</a:t>
                </a:r>
                <a:r>
                  <a:rPr lang="es-ES_tradnl" b="1" baseline="-25000" dirty="0">
                    <a:solidFill>
                      <a:prstClr val="black"/>
                    </a:solidFill>
                  </a:rPr>
                  <a:t>0</a:t>
                </a:r>
                <a:endParaRPr lang="es-ES_tradnl" dirty="0">
                  <a:solidFill>
                    <a:prstClr val="black"/>
                  </a:solidFill>
                </a:endParaRPr>
              </a:p>
            </p:txBody>
          </p:sp>
          <p:sp>
            <p:nvSpPr>
              <p:cNvPr id="32" name="Rectangle 10"/>
              <p:cNvSpPr>
                <a:spLocks noChangeArrowheads="1"/>
              </p:cNvSpPr>
              <p:nvPr/>
            </p:nvSpPr>
            <p:spPr bwMode="auto">
              <a:xfrm>
                <a:off x="2915816" y="5484514"/>
                <a:ext cx="4824536" cy="457200"/>
              </a:xfrm>
              <a:prstGeom prst="rect">
                <a:avLst/>
              </a:prstGeom>
              <a:noFill/>
              <a:ln w="28575">
                <a:solidFill>
                  <a:schemeClr val="accent5"/>
                </a:solidFill>
                <a:miter lim="800000"/>
                <a:headEnd/>
                <a:tailEnd/>
              </a:ln>
            </p:spPr>
            <p:txBody>
              <a:bodyPr wrap="none" anchor="ctr"/>
              <a:lstStyle/>
              <a:p>
                <a:endParaRPr lang="es-ES">
                  <a:solidFill>
                    <a:prstClr val="black"/>
                  </a:solidFill>
                </a:endParaRPr>
              </a:p>
            </p:txBody>
          </p:sp>
          <p:sp>
            <p:nvSpPr>
              <p:cNvPr id="33" name="Line 11"/>
              <p:cNvSpPr>
                <a:spLocks noChangeShapeType="1"/>
              </p:cNvSpPr>
              <p:nvPr/>
            </p:nvSpPr>
            <p:spPr bwMode="auto">
              <a:xfrm>
                <a:off x="5148064" y="5484514"/>
                <a:ext cx="0" cy="457200"/>
              </a:xfrm>
              <a:prstGeom prst="line">
                <a:avLst/>
              </a:prstGeom>
              <a:noFill/>
              <a:ln w="28575">
                <a:solidFill>
                  <a:schemeClr val="accent5"/>
                </a:solidFill>
                <a:round/>
                <a:headEnd/>
                <a:tailEnd/>
              </a:ln>
            </p:spPr>
            <p:txBody>
              <a:bodyPr wrap="none" anchor="ctr"/>
              <a:lstStyle/>
              <a:p>
                <a:endParaRPr lang="es-ES">
                  <a:solidFill>
                    <a:prstClr val="black"/>
                  </a:solidFill>
                </a:endParaRPr>
              </a:p>
            </p:txBody>
          </p:sp>
          <p:sp>
            <p:nvSpPr>
              <p:cNvPr id="28" name="AutoShape 12"/>
              <p:cNvSpPr>
                <a:spLocks/>
              </p:cNvSpPr>
              <p:nvPr/>
            </p:nvSpPr>
            <p:spPr bwMode="auto">
              <a:xfrm rot="5400000">
                <a:off x="3934991" y="5074939"/>
                <a:ext cx="228600" cy="2112962"/>
              </a:xfrm>
              <a:prstGeom prst="rightBrace">
                <a:avLst>
                  <a:gd name="adj1" fmla="val 77025"/>
                  <a:gd name="adj2" fmla="val 50000"/>
                </a:avLst>
              </a:prstGeom>
              <a:noFill/>
              <a:ln w="28575">
                <a:solidFill>
                  <a:schemeClr val="accent5"/>
                </a:solidFill>
                <a:round/>
                <a:headEnd/>
                <a:tailEnd/>
              </a:ln>
            </p:spPr>
            <p:txBody>
              <a:bodyPr wrap="none" anchor="ctr"/>
              <a:lstStyle/>
              <a:p>
                <a:endParaRPr lang="es-ES">
                  <a:solidFill>
                    <a:prstClr val="black"/>
                  </a:solidFill>
                </a:endParaRPr>
              </a:p>
            </p:txBody>
          </p:sp>
          <p:sp>
            <p:nvSpPr>
              <p:cNvPr id="29" name="Text Box 13"/>
              <p:cNvSpPr txBox="1">
                <a:spLocks noChangeArrowheads="1"/>
              </p:cNvSpPr>
              <p:nvPr/>
            </p:nvSpPr>
            <p:spPr bwMode="auto">
              <a:xfrm>
                <a:off x="3246289" y="6214248"/>
                <a:ext cx="1697901" cy="369332"/>
              </a:xfrm>
              <a:prstGeom prst="rect">
                <a:avLst/>
              </a:prstGeom>
              <a:noFill/>
              <a:ln w="28575">
                <a:noFill/>
                <a:miter lim="800000"/>
                <a:headEnd/>
                <a:tailEnd/>
              </a:ln>
            </p:spPr>
            <p:txBody>
              <a:bodyPr wrap="none" anchor="ctr">
                <a:spAutoFit/>
              </a:bodyPr>
              <a:lstStyle/>
              <a:p>
                <a:r>
                  <a:rPr lang="es-ES_tradnl" sz="1800" dirty="0" err="1">
                    <a:solidFill>
                      <a:prstClr val="black"/>
                    </a:solidFill>
                  </a:rPr>
                  <a:t>sel</a:t>
                </a:r>
                <a:r>
                  <a:rPr lang="es-ES_tradnl" sz="1800" dirty="0">
                    <a:solidFill>
                      <a:prstClr val="black"/>
                    </a:solidFill>
                  </a:rPr>
                  <a:t>. de palabra</a:t>
                </a:r>
              </a:p>
            </p:txBody>
          </p:sp>
          <p:sp>
            <p:nvSpPr>
              <p:cNvPr id="30" name="Text Box 14"/>
              <p:cNvSpPr txBox="1">
                <a:spLocks noChangeArrowheads="1"/>
              </p:cNvSpPr>
              <p:nvPr/>
            </p:nvSpPr>
            <p:spPr bwMode="auto">
              <a:xfrm>
                <a:off x="5823063" y="6214249"/>
                <a:ext cx="1364477" cy="369332"/>
              </a:xfrm>
              <a:prstGeom prst="rect">
                <a:avLst/>
              </a:prstGeom>
              <a:noFill/>
              <a:ln w="28575">
                <a:noFill/>
                <a:miter lim="800000"/>
                <a:headEnd/>
                <a:tailEnd/>
              </a:ln>
            </p:spPr>
            <p:txBody>
              <a:bodyPr wrap="none" anchor="ctr">
                <a:spAutoFit/>
              </a:bodyPr>
              <a:lstStyle/>
              <a:p>
                <a:r>
                  <a:rPr lang="es-ES_tradnl" sz="1800" dirty="0" err="1">
                    <a:solidFill>
                      <a:prstClr val="black"/>
                    </a:solidFill>
                  </a:rPr>
                  <a:t>sel</a:t>
                </a:r>
                <a:r>
                  <a:rPr lang="es-ES_tradnl" sz="1800" dirty="0">
                    <a:solidFill>
                      <a:prstClr val="black"/>
                    </a:solidFill>
                  </a:rPr>
                  <a:t>. de byte</a:t>
                </a:r>
              </a:p>
            </p:txBody>
          </p:sp>
          <p:sp>
            <p:nvSpPr>
              <p:cNvPr id="31" name="AutoShape 15"/>
              <p:cNvSpPr>
                <a:spLocks/>
              </p:cNvSpPr>
              <p:nvPr/>
            </p:nvSpPr>
            <p:spPr bwMode="auto">
              <a:xfrm rot="5400000">
                <a:off x="6360047" y="4915245"/>
                <a:ext cx="205627" cy="2410966"/>
              </a:xfrm>
              <a:prstGeom prst="rightBrace">
                <a:avLst>
                  <a:gd name="adj1" fmla="val 83963"/>
                  <a:gd name="adj2" fmla="val 50000"/>
                </a:avLst>
              </a:prstGeom>
              <a:noFill/>
              <a:ln w="28575">
                <a:solidFill>
                  <a:schemeClr val="accent5"/>
                </a:solidFill>
                <a:round/>
                <a:headEnd/>
                <a:tailEnd/>
              </a:ln>
            </p:spPr>
            <p:txBody>
              <a:bodyPr wrap="none" anchor="ctr"/>
              <a:lstStyle/>
              <a:p>
                <a:endParaRPr lang="es-ES">
                  <a:solidFill>
                    <a:prstClr val="black"/>
                  </a:solidFill>
                </a:endParaRPr>
              </a:p>
            </p:txBody>
          </p:sp>
        </p:grpSp>
        <p:sp>
          <p:nvSpPr>
            <p:cNvPr id="34" name="Rectangle 29"/>
            <p:cNvSpPr>
              <a:spLocks noChangeArrowheads="1"/>
            </p:cNvSpPr>
            <p:nvPr/>
          </p:nvSpPr>
          <p:spPr bwMode="auto">
            <a:xfrm>
              <a:off x="611560" y="5352652"/>
              <a:ext cx="2592288" cy="461665"/>
            </a:xfrm>
            <a:prstGeom prst="rect">
              <a:avLst/>
            </a:prstGeom>
            <a:solidFill>
              <a:schemeClr val="tx1">
                <a:lumMod val="75000"/>
                <a:lumOff val="25000"/>
              </a:schemeClr>
            </a:solidFill>
            <a:ln w="28575">
              <a:noFill/>
              <a:miter lim="800000"/>
              <a:headEnd/>
              <a:tailEnd/>
            </a:ln>
          </p:spPr>
          <p:txBody>
            <a:bodyPr wrap="square" anchor="ctr">
              <a:spAutoFit/>
            </a:bodyPr>
            <a:lstStyle/>
            <a:p>
              <a:r>
                <a:rPr lang="es-ES_tradnl" sz="2400" b="1" dirty="0">
                  <a:solidFill>
                    <a:prstClr val="white"/>
                  </a:solidFill>
                  <a:latin typeface="Arial Narrow" pitchFamily="34" charset="0"/>
                </a:rPr>
                <a:t>Bus de Direcciones</a:t>
              </a:r>
            </a:p>
          </p:txBody>
        </p:sp>
        <p:sp>
          <p:nvSpPr>
            <p:cNvPr id="35" name="Rectangle 29"/>
            <p:cNvSpPr>
              <a:spLocks noChangeArrowheads="1"/>
            </p:cNvSpPr>
            <p:nvPr/>
          </p:nvSpPr>
          <p:spPr bwMode="auto">
            <a:xfrm>
              <a:off x="611560" y="4191471"/>
              <a:ext cx="2645276" cy="461665"/>
            </a:xfrm>
            <a:prstGeom prst="rect">
              <a:avLst/>
            </a:prstGeom>
            <a:noFill/>
            <a:ln w="28575">
              <a:noFill/>
              <a:miter lim="800000"/>
              <a:headEnd/>
              <a:tailEnd/>
            </a:ln>
          </p:spPr>
          <p:txBody>
            <a:bodyPr wrap="none" anchor="ctr">
              <a:spAutoFit/>
            </a:bodyPr>
            <a:lstStyle/>
            <a:p>
              <a:r>
                <a:rPr lang="es-ES_tradnl" sz="2400" dirty="0">
                  <a:solidFill>
                    <a:prstClr val="black"/>
                  </a:solidFill>
                  <a:latin typeface="Arial Narrow" pitchFamily="34" charset="0"/>
                </a:rPr>
                <a:t>Dirección de memoria</a:t>
              </a:r>
            </a:p>
          </p:txBody>
        </p:sp>
        <p:sp>
          <p:nvSpPr>
            <p:cNvPr id="63" name="62 Estrella de 12 puntas"/>
            <p:cNvSpPr/>
            <p:nvPr/>
          </p:nvSpPr>
          <p:spPr bwMode="auto">
            <a:xfrm rot="20894014">
              <a:off x="6928776" y="3630407"/>
              <a:ext cx="2123728" cy="1440160"/>
            </a:xfrm>
            <a:prstGeom prst="star12">
              <a:avLst/>
            </a:prstGeom>
            <a:solidFill>
              <a:schemeClr val="accent3">
                <a:lumMod val="75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s-ES" sz="2800" b="1" dirty="0">
                  <a:solidFill>
                    <a:prstClr val="white"/>
                  </a:solidFill>
                  <a:cs typeface="Arial" pitchFamily="34" charset="0"/>
                </a:rPr>
                <a:t>CPU 32 bits</a:t>
              </a:r>
            </a:p>
          </p:txBody>
        </p:sp>
      </p:grpSp>
      <p:sp>
        <p:nvSpPr>
          <p:cNvPr id="7" name="6 Rectángulo"/>
          <p:cNvSpPr/>
          <p:nvPr/>
        </p:nvSpPr>
        <p:spPr>
          <a:xfrm>
            <a:off x="745508" y="6237312"/>
            <a:ext cx="6873869" cy="338554"/>
          </a:xfrm>
          <a:prstGeom prst="rect">
            <a:avLst/>
          </a:prstGeom>
        </p:spPr>
        <p:txBody>
          <a:bodyPr wrap="square">
            <a:spAutoFit/>
          </a:bodyPr>
          <a:lstStyle/>
          <a:p>
            <a:pPr algn="l"/>
            <a:r>
              <a:rPr lang="es-ES_tradnl" sz="1600" dirty="0"/>
              <a:t>En el bus, las líneas de dirección siempre seleccionan palabras </a:t>
            </a:r>
          </a:p>
        </p:txBody>
      </p:sp>
      <p:sp>
        <p:nvSpPr>
          <p:cNvPr id="8" name="Marcador de número de diapositiva 3">
            <a:extLst>
              <a:ext uri="{FF2B5EF4-FFF2-40B4-BE49-F238E27FC236}">
                <a16:creationId xmlns:a16="http://schemas.microsoft.com/office/drawing/2014/main" id="{03A3AA62-6B58-D9B3-7961-CD8093D25504}"/>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22</a:t>
            </a:fld>
            <a:endParaRPr lang="en-US" dirty="0"/>
          </a:p>
        </p:txBody>
      </p:sp>
    </p:spTree>
    <p:extLst>
      <p:ext uri="{BB962C8B-B14F-4D97-AF65-F5344CB8AC3E}">
        <p14:creationId xmlns:p14="http://schemas.microsoft.com/office/powerpoint/2010/main" val="1636362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97F64-FA71-D7D1-55C9-607429FC74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58CBFB-BD0F-12CB-25DA-A7F03F174EDB}"/>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7A4F8FCF-6887-0D74-AF64-AAB777617AD3}"/>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solidFill>
                  <a:srgbClr val="FF0000"/>
                </a:solidFill>
              </a:rPr>
              <a:t>2 - Memoria principal</a:t>
            </a:r>
          </a:p>
          <a:p>
            <a:pPr marL="731838" lvl="1" indent="-457200">
              <a:lnSpc>
                <a:spcPct val="90000"/>
              </a:lnSpc>
            </a:pPr>
            <a:r>
              <a:rPr lang="es-ES" dirty="0"/>
              <a:t>Interfaz externa</a:t>
            </a:r>
          </a:p>
          <a:p>
            <a:pPr marL="731838" lvl="1" indent="-457200">
              <a:lnSpc>
                <a:spcPct val="90000"/>
              </a:lnSpc>
            </a:pPr>
            <a:r>
              <a:rPr lang="es-ES" dirty="0"/>
              <a:t>Direccionamiento de memoria: selección de bytes</a:t>
            </a:r>
          </a:p>
          <a:p>
            <a:pPr marL="731838" lvl="1" indent="-457200">
              <a:lnSpc>
                <a:spcPct val="90000"/>
              </a:lnSpc>
            </a:pPr>
            <a:r>
              <a:rPr lang="es-ES" dirty="0">
                <a:solidFill>
                  <a:srgbClr val="FF0000"/>
                </a:solidFill>
              </a:rPr>
              <a:t>Estructura de buses</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10298201-0606-2F4C-FD10-97F58EF2494E}"/>
              </a:ext>
            </a:extLst>
          </p:cNvPr>
          <p:cNvSpPr>
            <a:spLocks noGrp="1"/>
          </p:cNvSpPr>
          <p:nvPr>
            <p:ph type="sldNum" sz="quarter" idx="12"/>
          </p:nvPr>
        </p:nvSpPr>
        <p:spPr/>
        <p:txBody>
          <a:bodyPr/>
          <a:lstStyle/>
          <a:p>
            <a:pPr>
              <a:defRPr/>
            </a:pPr>
            <a:fld id="{50B7A251-C820-4EFF-8270-C7613E20881F}" type="slidenum">
              <a:rPr lang="en-US" smtClean="0"/>
              <a:pPr>
                <a:defRPr/>
              </a:pPr>
              <a:t>23</a:t>
            </a:fld>
            <a:endParaRPr lang="en-US" dirty="0"/>
          </a:p>
        </p:txBody>
      </p:sp>
    </p:spTree>
    <p:extLst>
      <p:ext uri="{BB962C8B-B14F-4D97-AF65-F5344CB8AC3E}">
        <p14:creationId xmlns:p14="http://schemas.microsoft.com/office/powerpoint/2010/main" val="4206765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s-ES"/>
              <a:t>Estructura del bus de memoria</a:t>
            </a:r>
          </a:p>
        </p:txBody>
      </p:sp>
      <p:sp>
        <p:nvSpPr>
          <p:cNvPr id="35844" name="Rectangle 3"/>
          <p:cNvSpPr>
            <a:spLocks noGrp="1" noChangeArrowheads="1"/>
          </p:cNvSpPr>
          <p:nvPr>
            <p:ph type="body" idx="1"/>
          </p:nvPr>
        </p:nvSpPr>
        <p:spPr>
          <a:xfrm>
            <a:off x="609600" y="1066800"/>
            <a:ext cx="8138864" cy="1865313"/>
          </a:xfrm>
        </p:spPr>
        <p:txBody>
          <a:bodyPr/>
          <a:lstStyle/>
          <a:p>
            <a:r>
              <a:rPr lang="es-ES" dirty="0"/>
              <a:t>Ejemplo con </a:t>
            </a:r>
            <a:r>
              <a:rPr lang="es-ES" i="1" dirty="0"/>
              <a:t>W</a:t>
            </a:r>
            <a:r>
              <a:rPr lang="es-ES" dirty="0"/>
              <a:t>=32  bits de datos y </a:t>
            </a:r>
            <a:r>
              <a:rPr lang="es-ES" i="1" dirty="0"/>
              <a:t>N</a:t>
            </a:r>
            <a:r>
              <a:rPr lang="es-ES" dirty="0"/>
              <a:t> bits de dirección</a:t>
            </a:r>
          </a:p>
          <a:p>
            <a:pPr marL="819150" lvl="1"/>
            <a:r>
              <a:rPr lang="es-ES" i="1" dirty="0"/>
              <a:t>N</a:t>
            </a:r>
            <a:r>
              <a:rPr lang="es-ES" dirty="0"/>
              <a:t>–2 líneas físicas de dirección A</a:t>
            </a:r>
            <a:r>
              <a:rPr lang="es-ES" b="1" baseline="-25000" dirty="0"/>
              <a:t>N–1</a:t>
            </a:r>
            <a:r>
              <a:rPr lang="es-ES" dirty="0"/>
              <a:t> ... A</a:t>
            </a:r>
            <a:r>
              <a:rPr lang="es-ES" b="1" baseline="-25000" dirty="0"/>
              <a:t>2</a:t>
            </a:r>
            <a:endParaRPr lang="es-ES" dirty="0"/>
          </a:p>
          <a:p>
            <a:pPr marL="819150" lvl="1"/>
            <a:r>
              <a:rPr lang="es-ES" dirty="0"/>
              <a:t>4 líneas de habilitación de byte BE</a:t>
            </a:r>
            <a:r>
              <a:rPr lang="es-ES" baseline="-25000" dirty="0"/>
              <a:t>0</a:t>
            </a:r>
            <a:r>
              <a:rPr lang="es-ES" dirty="0"/>
              <a:t>* ... BE</a:t>
            </a:r>
            <a:r>
              <a:rPr lang="es-ES" baseline="-25000" dirty="0"/>
              <a:t>3</a:t>
            </a:r>
            <a:r>
              <a:rPr lang="es-ES" dirty="0"/>
              <a:t>*</a:t>
            </a:r>
          </a:p>
          <a:p>
            <a:pPr marL="819150" lvl="1"/>
            <a:r>
              <a:rPr lang="es-ES" i="1" dirty="0"/>
              <a:t>W</a:t>
            </a:r>
            <a:r>
              <a:rPr lang="es-ES" dirty="0"/>
              <a:t>  líneas de datos D</a:t>
            </a:r>
            <a:r>
              <a:rPr lang="es-ES" baseline="-25000" dirty="0"/>
              <a:t>31</a:t>
            </a:r>
            <a:r>
              <a:rPr lang="es-ES" dirty="0"/>
              <a:t> ... D</a:t>
            </a:r>
            <a:r>
              <a:rPr lang="es-ES" baseline="-25000" dirty="0"/>
              <a:t>0</a:t>
            </a:r>
            <a:endParaRPr lang="es-ES" dirty="0"/>
          </a:p>
          <a:p>
            <a:pPr marL="819150" lvl="1"/>
            <a:r>
              <a:rPr lang="es-ES" dirty="0"/>
              <a:t>Líneas de control</a:t>
            </a:r>
          </a:p>
        </p:txBody>
      </p:sp>
      <p:grpSp>
        <p:nvGrpSpPr>
          <p:cNvPr id="2" name="Group 28"/>
          <p:cNvGrpSpPr>
            <a:grpSpLocks/>
          </p:cNvGrpSpPr>
          <p:nvPr/>
        </p:nvGrpSpPr>
        <p:grpSpPr bwMode="auto">
          <a:xfrm>
            <a:off x="1828800" y="3352800"/>
            <a:ext cx="5715000" cy="2743200"/>
            <a:chOff x="1104" y="2160"/>
            <a:chExt cx="3600" cy="1728"/>
          </a:xfrm>
        </p:grpSpPr>
        <p:sp>
          <p:nvSpPr>
            <p:cNvPr id="35846" name="Rectangle 4"/>
            <p:cNvSpPr>
              <a:spLocks noChangeArrowheads="1"/>
            </p:cNvSpPr>
            <p:nvPr/>
          </p:nvSpPr>
          <p:spPr bwMode="auto">
            <a:xfrm>
              <a:off x="1296" y="2160"/>
              <a:ext cx="912" cy="52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spcBef>
                  <a:spcPct val="20000"/>
                </a:spcBef>
              </a:pPr>
              <a:r>
                <a:rPr lang="es-ES_tradnl" sz="2400" dirty="0"/>
                <a:t>CPU</a:t>
              </a:r>
            </a:p>
          </p:txBody>
        </p:sp>
        <p:sp>
          <p:nvSpPr>
            <p:cNvPr id="35847" name="Line 5"/>
            <p:cNvSpPr>
              <a:spLocks noChangeShapeType="1"/>
            </p:cNvSpPr>
            <p:nvPr/>
          </p:nvSpPr>
          <p:spPr bwMode="auto">
            <a:xfrm>
              <a:off x="1104" y="2928"/>
              <a:ext cx="3600" cy="0"/>
            </a:xfrm>
            <a:prstGeom prst="line">
              <a:avLst/>
            </a:prstGeom>
            <a:noFill/>
            <a:ln w="28575">
              <a:solidFill>
                <a:schemeClr val="accent3">
                  <a:lumMod val="60000"/>
                  <a:lumOff val="40000"/>
                </a:schemeClr>
              </a:solidFill>
              <a:round/>
              <a:headEnd type="triangle" w="med" len="med"/>
              <a:tailEnd type="triangle" w="med" len="med"/>
            </a:ln>
          </p:spPr>
          <p:txBody>
            <a:bodyPr wrap="none" anchor="ctr"/>
            <a:lstStyle/>
            <a:p>
              <a:endParaRPr lang="es-ES"/>
            </a:p>
          </p:txBody>
        </p:sp>
        <p:sp>
          <p:nvSpPr>
            <p:cNvPr id="35848" name="Line 6"/>
            <p:cNvSpPr>
              <a:spLocks noChangeShapeType="1"/>
            </p:cNvSpPr>
            <p:nvPr/>
          </p:nvSpPr>
          <p:spPr bwMode="auto">
            <a:xfrm>
              <a:off x="1104" y="3216"/>
              <a:ext cx="3600" cy="0"/>
            </a:xfrm>
            <a:prstGeom prst="line">
              <a:avLst/>
            </a:prstGeom>
            <a:noFill/>
            <a:ln w="76200">
              <a:solidFill>
                <a:schemeClr val="accent6">
                  <a:lumMod val="75000"/>
                </a:schemeClr>
              </a:solidFill>
              <a:round/>
              <a:headEnd type="triangle" w="med" len="med"/>
              <a:tailEnd type="triangle" w="med" len="med"/>
            </a:ln>
          </p:spPr>
          <p:txBody>
            <a:bodyPr wrap="none" anchor="ctr"/>
            <a:lstStyle/>
            <a:p>
              <a:endParaRPr lang="es-ES"/>
            </a:p>
          </p:txBody>
        </p:sp>
        <p:sp>
          <p:nvSpPr>
            <p:cNvPr id="35849" name="Line 7"/>
            <p:cNvSpPr>
              <a:spLocks noChangeShapeType="1"/>
            </p:cNvSpPr>
            <p:nvPr/>
          </p:nvSpPr>
          <p:spPr bwMode="auto">
            <a:xfrm>
              <a:off x="1104" y="3792"/>
              <a:ext cx="3600" cy="0"/>
            </a:xfrm>
            <a:prstGeom prst="line">
              <a:avLst/>
            </a:prstGeom>
            <a:noFill/>
            <a:ln w="76200">
              <a:solidFill>
                <a:srgbClr val="FF9900"/>
              </a:solidFill>
              <a:round/>
              <a:headEnd type="triangle" w="med" len="med"/>
              <a:tailEnd type="triangle" w="med" len="med"/>
            </a:ln>
          </p:spPr>
          <p:txBody>
            <a:bodyPr wrap="none" anchor="ctr"/>
            <a:lstStyle/>
            <a:p>
              <a:endParaRPr lang="es-ES"/>
            </a:p>
          </p:txBody>
        </p:sp>
        <p:sp>
          <p:nvSpPr>
            <p:cNvPr id="35850" name="Line 8"/>
            <p:cNvSpPr>
              <a:spLocks noChangeShapeType="1"/>
            </p:cNvSpPr>
            <p:nvPr/>
          </p:nvSpPr>
          <p:spPr bwMode="auto">
            <a:xfrm flipH="1">
              <a:off x="2086" y="3120"/>
              <a:ext cx="48" cy="192"/>
            </a:xfrm>
            <a:prstGeom prst="line">
              <a:avLst/>
            </a:prstGeom>
            <a:noFill/>
            <a:ln w="19050">
              <a:solidFill>
                <a:schemeClr val="accent6">
                  <a:lumMod val="75000"/>
                </a:schemeClr>
              </a:solidFill>
              <a:round/>
              <a:headEnd/>
              <a:tailEnd/>
            </a:ln>
          </p:spPr>
          <p:txBody>
            <a:bodyPr wrap="none" anchor="ctr"/>
            <a:lstStyle/>
            <a:p>
              <a:endParaRPr lang="es-ES"/>
            </a:p>
          </p:txBody>
        </p:sp>
        <p:sp>
          <p:nvSpPr>
            <p:cNvPr id="35851" name="Line 9"/>
            <p:cNvSpPr>
              <a:spLocks noChangeShapeType="1"/>
            </p:cNvSpPr>
            <p:nvPr/>
          </p:nvSpPr>
          <p:spPr bwMode="auto">
            <a:xfrm flipH="1">
              <a:off x="2086" y="3696"/>
              <a:ext cx="48" cy="192"/>
            </a:xfrm>
            <a:prstGeom prst="line">
              <a:avLst/>
            </a:prstGeom>
            <a:noFill/>
            <a:ln w="19050">
              <a:solidFill>
                <a:srgbClr val="FF9900"/>
              </a:solidFill>
              <a:round/>
              <a:headEnd/>
              <a:tailEnd/>
            </a:ln>
          </p:spPr>
          <p:txBody>
            <a:bodyPr wrap="none" anchor="ctr"/>
            <a:lstStyle/>
            <a:p>
              <a:endParaRPr lang="es-ES"/>
            </a:p>
          </p:txBody>
        </p:sp>
        <p:sp>
          <p:nvSpPr>
            <p:cNvPr id="35852" name="Text Box 10"/>
            <p:cNvSpPr txBox="1">
              <a:spLocks noChangeArrowheads="1"/>
            </p:cNvSpPr>
            <p:nvPr/>
          </p:nvSpPr>
          <p:spPr bwMode="auto">
            <a:xfrm>
              <a:off x="2208" y="2985"/>
              <a:ext cx="383" cy="233"/>
            </a:xfrm>
            <a:prstGeom prst="rect">
              <a:avLst/>
            </a:prstGeom>
            <a:noFill/>
            <a:ln w="28575">
              <a:noFill/>
              <a:miter lim="800000"/>
              <a:headEnd/>
              <a:tailEnd/>
            </a:ln>
          </p:spPr>
          <p:txBody>
            <a:bodyPr wrap="none" anchor="ctr">
              <a:spAutoFit/>
            </a:bodyPr>
            <a:lstStyle/>
            <a:p>
              <a:pPr algn="l">
                <a:spcBef>
                  <a:spcPct val="20000"/>
                </a:spcBef>
              </a:pPr>
              <a:r>
                <a:rPr lang="es-ES_tradnl" sz="1800" b="1" dirty="0"/>
                <a:t>N–2</a:t>
              </a:r>
            </a:p>
          </p:txBody>
        </p:sp>
        <p:sp>
          <p:nvSpPr>
            <p:cNvPr id="35853" name="Text Box 11"/>
            <p:cNvSpPr txBox="1">
              <a:spLocks noChangeArrowheads="1"/>
            </p:cNvSpPr>
            <p:nvPr/>
          </p:nvSpPr>
          <p:spPr bwMode="auto">
            <a:xfrm>
              <a:off x="2112" y="3552"/>
              <a:ext cx="267" cy="250"/>
            </a:xfrm>
            <a:prstGeom prst="rect">
              <a:avLst/>
            </a:prstGeom>
            <a:noFill/>
            <a:ln w="28575">
              <a:noFill/>
              <a:miter lim="800000"/>
              <a:headEnd/>
              <a:tailEnd/>
            </a:ln>
          </p:spPr>
          <p:txBody>
            <a:bodyPr wrap="none" anchor="ctr">
              <a:spAutoFit/>
            </a:bodyPr>
            <a:lstStyle/>
            <a:p>
              <a:pPr>
                <a:spcBef>
                  <a:spcPct val="20000"/>
                </a:spcBef>
              </a:pPr>
              <a:r>
                <a:rPr lang="es-ES_tradnl"/>
                <a:t>W</a:t>
              </a:r>
            </a:p>
          </p:txBody>
        </p:sp>
        <p:sp>
          <p:nvSpPr>
            <p:cNvPr id="35854" name="Text Box 12"/>
            <p:cNvSpPr txBox="1">
              <a:spLocks noChangeArrowheads="1"/>
            </p:cNvSpPr>
            <p:nvPr/>
          </p:nvSpPr>
          <p:spPr bwMode="auto">
            <a:xfrm>
              <a:off x="2544" y="2716"/>
              <a:ext cx="633" cy="233"/>
            </a:xfrm>
            <a:prstGeom prst="rect">
              <a:avLst/>
            </a:prstGeom>
            <a:noFill/>
            <a:ln w="28575">
              <a:noFill/>
              <a:miter lim="800000"/>
              <a:headEnd/>
              <a:tailEnd/>
            </a:ln>
          </p:spPr>
          <p:txBody>
            <a:bodyPr wrap="none" anchor="ctr">
              <a:spAutoFit/>
            </a:bodyPr>
            <a:lstStyle/>
            <a:p>
              <a:pPr algn="l">
                <a:spcBef>
                  <a:spcPct val="20000"/>
                </a:spcBef>
              </a:pPr>
              <a:r>
                <a:rPr lang="es-ES_tradnl" sz="1800" b="1" dirty="0"/>
                <a:t>Control</a:t>
              </a:r>
            </a:p>
          </p:txBody>
        </p:sp>
        <p:sp>
          <p:nvSpPr>
            <p:cNvPr id="35855" name="Text Box 13"/>
            <p:cNvSpPr txBox="1">
              <a:spLocks noChangeArrowheads="1"/>
            </p:cNvSpPr>
            <p:nvPr/>
          </p:nvSpPr>
          <p:spPr bwMode="auto">
            <a:xfrm>
              <a:off x="2544" y="3571"/>
              <a:ext cx="561" cy="250"/>
            </a:xfrm>
            <a:prstGeom prst="rect">
              <a:avLst/>
            </a:prstGeom>
            <a:noFill/>
            <a:ln w="28575">
              <a:noFill/>
              <a:miter lim="800000"/>
              <a:headEnd/>
              <a:tailEnd/>
            </a:ln>
          </p:spPr>
          <p:txBody>
            <a:bodyPr wrap="none" anchor="ctr">
              <a:spAutoFit/>
            </a:bodyPr>
            <a:lstStyle/>
            <a:p>
              <a:pPr algn="l">
                <a:spcBef>
                  <a:spcPct val="20000"/>
                </a:spcBef>
              </a:pPr>
              <a:r>
                <a:rPr lang="es-ES_tradnl" b="1" dirty="0"/>
                <a:t>Datos</a:t>
              </a:r>
            </a:p>
          </p:txBody>
        </p:sp>
        <p:sp>
          <p:nvSpPr>
            <p:cNvPr id="35856" name="Text Box 14"/>
            <p:cNvSpPr txBox="1">
              <a:spLocks noChangeArrowheads="1"/>
            </p:cNvSpPr>
            <p:nvPr/>
          </p:nvSpPr>
          <p:spPr bwMode="auto">
            <a:xfrm>
              <a:off x="2544" y="3004"/>
              <a:ext cx="940" cy="233"/>
            </a:xfrm>
            <a:prstGeom prst="rect">
              <a:avLst/>
            </a:prstGeom>
            <a:noFill/>
            <a:ln w="28575">
              <a:noFill/>
              <a:miter lim="800000"/>
              <a:headEnd/>
              <a:tailEnd/>
            </a:ln>
          </p:spPr>
          <p:txBody>
            <a:bodyPr wrap="none" anchor="ctr">
              <a:spAutoFit/>
            </a:bodyPr>
            <a:lstStyle/>
            <a:p>
              <a:pPr algn="l">
                <a:spcBef>
                  <a:spcPct val="20000"/>
                </a:spcBef>
              </a:pPr>
              <a:r>
                <a:rPr lang="es-ES_tradnl" sz="1800" b="1" dirty="0"/>
                <a:t>Direcciones</a:t>
              </a:r>
            </a:p>
          </p:txBody>
        </p:sp>
        <p:sp>
          <p:nvSpPr>
            <p:cNvPr id="35857" name="Line 15"/>
            <p:cNvSpPr>
              <a:spLocks noChangeShapeType="1"/>
            </p:cNvSpPr>
            <p:nvPr/>
          </p:nvSpPr>
          <p:spPr bwMode="auto">
            <a:xfrm>
              <a:off x="1536" y="2688"/>
              <a:ext cx="0" cy="240"/>
            </a:xfrm>
            <a:prstGeom prst="line">
              <a:avLst/>
            </a:prstGeom>
            <a:noFill/>
            <a:ln w="28575">
              <a:solidFill>
                <a:schemeClr val="accent3">
                  <a:lumMod val="60000"/>
                  <a:lumOff val="40000"/>
                </a:schemeClr>
              </a:solidFill>
              <a:round/>
              <a:headEnd/>
              <a:tailEnd type="triangle" w="med" len="med"/>
            </a:ln>
          </p:spPr>
          <p:txBody>
            <a:bodyPr wrap="none" anchor="ctr"/>
            <a:lstStyle/>
            <a:p>
              <a:endParaRPr lang="es-ES"/>
            </a:p>
          </p:txBody>
        </p:sp>
        <p:sp>
          <p:nvSpPr>
            <p:cNvPr id="35858" name="Line 16"/>
            <p:cNvSpPr>
              <a:spLocks noChangeShapeType="1"/>
            </p:cNvSpPr>
            <p:nvPr/>
          </p:nvSpPr>
          <p:spPr bwMode="auto">
            <a:xfrm>
              <a:off x="1680" y="2688"/>
              <a:ext cx="0" cy="480"/>
            </a:xfrm>
            <a:prstGeom prst="line">
              <a:avLst/>
            </a:prstGeom>
            <a:noFill/>
            <a:ln w="38100">
              <a:solidFill>
                <a:schemeClr val="accent6">
                  <a:lumMod val="75000"/>
                </a:schemeClr>
              </a:solidFill>
              <a:round/>
              <a:headEnd/>
              <a:tailEnd type="triangle" w="med" len="med"/>
            </a:ln>
          </p:spPr>
          <p:txBody>
            <a:bodyPr wrap="none" anchor="ctr"/>
            <a:lstStyle/>
            <a:p>
              <a:endParaRPr lang="es-ES"/>
            </a:p>
          </p:txBody>
        </p:sp>
        <p:sp>
          <p:nvSpPr>
            <p:cNvPr id="35859" name="Line 17"/>
            <p:cNvSpPr>
              <a:spLocks noChangeShapeType="1"/>
            </p:cNvSpPr>
            <p:nvPr/>
          </p:nvSpPr>
          <p:spPr bwMode="auto">
            <a:xfrm>
              <a:off x="1968" y="2688"/>
              <a:ext cx="0" cy="1104"/>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35860" name="Rectangle 18"/>
            <p:cNvSpPr>
              <a:spLocks noChangeArrowheads="1"/>
            </p:cNvSpPr>
            <p:nvPr/>
          </p:nvSpPr>
          <p:spPr bwMode="auto">
            <a:xfrm>
              <a:off x="3552" y="2160"/>
              <a:ext cx="912" cy="52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spcBef>
                  <a:spcPct val="20000"/>
                </a:spcBef>
              </a:pPr>
              <a:r>
                <a:rPr lang="es-ES_tradnl" sz="2400"/>
                <a:t>Memoria</a:t>
              </a:r>
            </a:p>
          </p:txBody>
        </p:sp>
        <p:sp>
          <p:nvSpPr>
            <p:cNvPr id="35861" name="Line 19"/>
            <p:cNvSpPr>
              <a:spLocks noChangeShapeType="1"/>
            </p:cNvSpPr>
            <p:nvPr/>
          </p:nvSpPr>
          <p:spPr bwMode="auto">
            <a:xfrm>
              <a:off x="3744" y="2688"/>
              <a:ext cx="0" cy="240"/>
            </a:xfrm>
            <a:prstGeom prst="line">
              <a:avLst/>
            </a:prstGeom>
            <a:noFill/>
            <a:ln w="28575">
              <a:solidFill>
                <a:schemeClr val="accent3">
                  <a:lumMod val="60000"/>
                  <a:lumOff val="40000"/>
                </a:schemeClr>
              </a:solidFill>
              <a:round/>
              <a:headEnd type="triangle" w="med" len="med"/>
              <a:tailEnd/>
            </a:ln>
          </p:spPr>
          <p:txBody>
            <a:bodyPr wrap="none" anchor="ctr"/>
            <a:lstStyle/>
            <a:p>
              <a:endParaRPr lang="es-ES"/>
            </a:p>
          </p:txBody>
        </p:sp>
        <p:sp>
          <p:nvSpPr>
            <p:cNvPr id="35862" name="Line 20"/>
            <p:cNvSpPr>
              <a:spLocks noChangeShapeType="1"/>
            </p:cNvSpPr>
            <p:nvPr/>
          </p:nvSpPr>
          <p:spPr bwMode="auto">
            <a:xfrm>
              <a:off x="3888" y="2688"/>
              <a:ext cx="0" cy="528"/>
            </a:xfrm>
            <a:prstGeom prst="line">
              <a:avLst/>
            </a:prstGeom>
            <a:noFill/>
            <a:ln w="38100">
              <a:solidFill>
                <a:schemeClr val="accent6">
                  <a:lumMod val="75000"/>
                </a:schemeClr>
              </a:solidFill>
              <a:round/>
              <a:headEnd type="triangle" w="med" len="med"/>
              <a:tailEnd/>
            </a:ln>
          </p:spPr>
          <p:txBody>
            <a:bodyPr wrap="none" anchor="ctr"/>
            <a:lstStyle/>
            <a:p>
              <a:endParaRPr lang="es-ES"/>
            </a:p>
          </p:txBody>
        </p:sp>
        <p:sp>
          <p:nvSpPr>
            <p:cNvPr id="35863" name="Line 21"/>
            <p:cNvSpPr>
              <a:spLocks noChangeShapeType="1"/>
            </p:cNvSpPr>
            <p:nvPr/>
          </p:nvSpPr>
          <p:spPr bwMode="auto">
            <a:xfrm>
              <a:off x="4176" y="2688"/>
              <a:ext cx="0" cy="1104"/>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35864" name="Line 22"/>
            <p:cNvSpPr>
              <a:spLocks noChangeShapeType="1"/>
            </p:cNvSpPr>
            <p:nvPr/>
          </p:nvSpPr>
          <p:spPr bwMode="auto">
            <a:xfrm>
              <a:off x="1824" y="2688"/>
              <a:ext cx="0" cy="816"/>
            </a:xfrm>
            <a:prstGeom prst="line">
              <a:avLst/>
            </a:prstGeom>
            <a:noFill/>
            <a:ln w="38100">
              <a:solidFill>
                <a:schemeClr val="accent6">
                  <a:lumMod val="75000"/>
                </a:schemeClr>
              </a:solidFill>
              <a:round/>
              <a:headEnd/>
              <a:tailEnd type="triangle" w="med" len="med"/>
            </a:ln>
          </p:spPr>
          <p:txBody>
            <a:bodyPr wrap="none" anchor="ctr"/>
            <a:lstStyle/>
            <a:p>
              <a:endParaRPr lang="es-ES"/>
            </a:p>
          </p:txBody>
        </p:sp>
        <p:sp>
          <p:nvSpPr>
            <p:cNvPr id="35865" name="Line 23"/>
            <p:cNvSpPr>
              <a:spLocks noChangeShapeType="1"/>
            </p:cNvSpPr>
            <p:nvPr/>
          </p:nvSpPr>
          <p:spPr bwMode="auto">
            <a:xfrm>
              <a:off x="4032" y="2688"/>
              <a:ext cx="0" cy="816"/>
            </a:xfrm>
            <a:prstGeom prst="line">
              <a:avLst/>
            </a:prstGeom>
            <a:noFill/>
            <a:ln w="38100">
              <a:solidFill>
                <a:schemeClr val="accent6">
                  <a:lumMod val="75000"/>
                </a:schemeClr>
              </a:solidFill>
              <a:round/>
              <a:headEnd type="triangle" w="med" len="med"/>
              <a:tailEnd/>
            </a:ln>
          </p:spPr>
          <p:txBody>
            <a:bodyPr wrap="none" anchor="ctr"/>
            <a:lstStyle/>
            <a:p>
              <a:endParaRPr lang="es-ES"/>
            </a:p>
          </p:txBody>
        </p:sp>
        <p:sp>
          <p:nvSpPr>
            <p:cNvPr id="35866" name="Line 24"/>
            <p:cNvSpPr>
              <a:spLocks noChangeShapeType="1"/>
            </p:cNvSpPr>
            <p:nvPr/>
          </p:nvSpPr>
          <p:spPr bwMode="auto">
            <a:xfrm>
              <a:off x="1104" y="3504"/>
              <a:ext cx="3600" cy="0"/>
            </a:xfrm>
            <a:prstGeom prst="line">
              <a:avLst/>
            </a:prstGeom>
            <a:noFill/>
            <a:ln w="28575">
              <a:solidFill>
                <a:schemeClr val="accent6">
                  <a:lumMod val="75000"/>
                </a:schemeClr>
              </a:solidFill>
              <a:round/>
              <a:headEnd type="triangle" w="med" len="med"/>
              <a:tailEnd type="triangle" w="med" len="med"/>
            </a:ln>
          </p:spPr>
          <p:txBody>
            <a:bodyPr wrap="none" anchor="ctr"/>
            <a:lstStyle/>
            <a:p>
              <a:endParaRPr lang="es-ES"/>
            </a:p>
          </p:txBody>
        </p:sp>
        <p:sp>
          <p:nvSpPr>
            <p:cNvPr id="35867" name="Line 25"/>
            <p:cNvSpPr>
              <a:spLocks noChangeShapeType="1"/>
            </p:cNvSpPr>
            <p:nvPr/>
          </p:nvSpPr>
          <p:spPr bwMode="auto">
            <a:xfrm flipH="1">
              <a:off x="2097" y="3408"/>
              <a:ext cx="48" cy="192"/>
            </a:xfrm>
            <a:prstGeom prst="line">
              <a:avLst/>
            </a:prstGeom>
            <a:noFill/>
            <a:ln w="19050">
              <a:solidFill>
                <a:schemeClr val="accent6">
                  <a:lumMod val="75000"/>
                </a:schemeClr>
              </a:solidFill>
              <a:round/>
              <a:headEnd/>
              <a:tailEnd/>
            </a:ln>
          </p:spPr>
          <p:txBody>
            <a:bodyPr wrap="none" anchor="ctr"/>
            <a:lstStyle/>
            <a:p>
              <a:endParaRPr lang="es-ES"/>
            </a:p>
          </p:txBody>
        </p:sp>
        <p:sp>
          <p:nvSpPr>
            <p:cNvPr id="35868" name="Text Box 26"/>
            <p:cNvSpPr txBox="1">
              <a:spLocks noChangeArrowheads="1"/>
            </p:cNvSpPr>
            <p:nvPr/>
          </p:nvSpPr>
          <p:spPr bwMode="auto">
            <a:xfrm>
              <a:off x="2110" y="3264"/>
              <a:ext cx="205" cy="250"/>
            </a:xfrm>
            <a:prstGeom prst="rect">
              <a:avLst/>
            </a:prstGeom>
            <a:noFill/>
            <a:ln w="28575">
              <a:noFill/>
              <a:miter lim="800000"/>
              <a:headEnd/>
              <a:tailEnd/>
            </a:ln>
          </p:spPr>
          <p:txBody>
            <a:bodyPr wrap="none" anchor="ctr">
              <a:spAutoFit/>
            </a:bodyPr>
            <a:lstStyle/>
            <a:p>
              <a:pPr algn="l">
                <a:spcBef>
                  <a:spcPct val="20000"/>
                </a:spcBef>
              </a:pPr>
              <a:r>
                <a:rPr lang="es-ES_tradnl"/>
                <a:t>4</a:t>
              </a:r>
            </a:p>
          </p:txBody>
        </p:sp>
        <p:sp>
          <p:nvSpPr>
            <p:cNvPr id="35869" name="Text Box 27"/>
            <p:cNvSpPr txBox="1">
              <a:spLocks noChangeArrowheads="1"/>
            </p:cNvSpPr>
            <p:nvPr/>
          </p:nvSpPr>
          <p:spPr bwMode="auto">
            <a:xfrm>
              <a:off x="2438" y="3282"/>
              <a:ext cx="1151" cy="213"/>
            </a:xfrm>
            <a:prstGeom prst="rect">
              <a:avLst/>
            </a:prstGeom>
            <a:noFill/>
            <a:ln w="28575">
              <a:noFill/>
              <a:miter lim="800000"/>
              <a:headEnd/>
              <a:tailEnd/>
            </a:ln>
          </p:spPr>
          <p:txBody>
            <a:bodyPr wrap="none" anchor="ctr">
              <a:spAutoFit/>
            </a:bodyPr>
            <a:lstStyle/>
            <a:p>
              <a:pPr algn="l">
                <a:spcBef>
                  <a:spcPct val="20000"/>
                </a:spcBef>
              </a:pPr>
              <a:r>
                <a:rPr lang="es-ES_tradnl" sz="1600" b="1" dirty="0"/>
                <a:t>Habilitación byte</a:t>
              </a:r>
            </a:p>
          </p:txBody>
        </p:sp>
      </p:grpSp>
      <p:sp>
        <p:nvSpPr>
          <p:cNvPr id="3" name="Marcador de número de diapositiva 3">
            <a:extLst>
              <a:ext uri="{FF2B5EF4-FFF2-40B4-BE49-F238E27FC236}">
                <a16:creationId xmlns:a16="http://schemas.microsoft.com/office/drawing/2014/main" id="{53439BCB-1F9C-9E9C-F915-968252A434D9}"/>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es-ES"/>
              <a:t>Generación de las señales /BE</a:t>
            </a:r>
            <a:r>
              <a:rPr lang="es-ES" baseline="-25000"/>
              <a:t>i</a:t>
            </a:r>
          </a:p>
        </p:txBody>
      </p:sp>
      <p:sp>
        <p:nvSpPr>
          <p:cNvPr id="40964" name="Rectangle 3"/>
          <p:cNvSpPr>
            <a:spLocks noGrp="1" noChangeArrowheads="1"/>
          </p:cNvSpPr>
          <p:nvPr>
            <p:ph type="body" idx="1"/>
          </p:nvPr>
        </p:nvSpPr>
        <p:spPr>
          <a:xfrm>
            <a:off x="609600" y="1066800"/>
            <a:ext cx="8305800" cy="1524000"/>
          </a:xfrm>
        </p:spPr>
        <p:txBody>
          <a:bodyPr/>
          <a:lstStyle/>
          <a:p>
            <a:r>
              <a:rPr lang="es-ES" b="1" dirty="0"/>
              <a:t>CPU de 32 bits</a:t>
            </a:r>
          </a:p>
          <a:p>
            <a:pPr lvl="1"/>
            <a:r>
              <a:rPr lang="es-ES" dirty="0"/>
              <a:t>La unidad de control del procesador, según el tipo de acceso y los bits menos significativos de la dirección, activa las señales /</a:t>
            </a:r>
            <a:r>
              <a:rPr lang="es-ES" dirty="0" err="1"/>
              <a:t>BE</a:t>
            </a:r>
            <a:r>
              <a:rPr lang="es-ES" b="1" baseline="-25000" dirty="0" err="1"/>
              <a:t>i</a:t>
            </a:r>
            <a:endParaRPr lang="es-ES" b="1" baseline="-25000" dirty="0"/>
          </a:p>
        </p:txBody>
      </p:sp>
      <p:grpSp>
        <p:nvGrpSpPr>
          <p:cNvPr id="2" name="Group 22"/>
          <p:cNvGrpSpPr>
            <a:grpSpLocks/>
          </p:cNvGrpSpPr>
          <p:nvPr/>
        </p:nvGrpSpPr>
        <p:grpSpPr bwMode="auto">
          <a:xfrm>
            <a:off x="1403649" y="2590800"/>
            <a:ext cx="5689302" cy="3717925"/>
            <a:chOff x="744" y="1761"/>
            <a:chExt cx="3354" cy="2304"/>
          </a:xfrm>
        </p:grpSpPr>
        <p:sp>
          <p:nvSpPr>
            <p:cNvPr id="40967" name="Text Box 4"/>
            <p:cNvSpPr txBox="1">
              <a:spLocks noChangeArrowheads="1"/>
            </p:cNvSpPr>
            <p:nvPr/>
          </p:nvSpPr>
          <p:spPr bwMode="auto">
            <a:xfrm>
              <a:off x="816" y="1761"/>
              <a:ext cx="3282" cy="1647"/>
            </a:xfrm>
            <a:prstGeom prst="rect">
              <a:avLst/>
            </a:prstGeom>
            <a:noFill/>
            <a:ln w="28575">
              <a:noFill/>
              <a:miter lim="800000"/>
              <a:headEnd/>
              <a:tailEnd/>
            </a:ln>
          </p:spPr>
          <p:txBody>
            <a:bodyPr wrap="none" anchor="ctr">
              <a:spAutoFit/>
            </a:bodyPr>
            <a:lstStyle/>
            <a:p>
              <a:pPr algn="l">
                <a:spcBef>
                  <a:spcPct val="20000"/>
                </a:spcBef>
                <a:tabLst>
                  <a:tab pos="1143000" algn="ctr"/>
                  <a:tab pos="1714500" algn="ctr"/>
                  <a:tab pos="2476500" algn="ctr"/>
                  <a:tab pos="3238500" algn="ctr"/>
                  <a:tab pos="4000500" algn="ctr"/>
                  <a:tab pos="4762500" algn="ctr"/>
                </a:tabLst>
              </a:pPr>
              <a:r>
                <a:rPr lang="es-ES_tradnl" dirty="0"/>
                <a:t>Acceso	A</a:t>
              </a:r>
              <a:r>
                <a:rPr lang="es-ES_tradnl" b="1" baseline="-25000" dirty="0"/>
                <a:t>1</a:t>
              </a:r>
              <a:r>
                <a:rPr lang="es-ES_tradnl" dirty="0"/>
                <a:t>	A</a:t>
              </a:r>
              <a:r>
                <a:rPr lang="es-ES_tradnl" b="1" baseline="-25000" dirty="0"/>
                <a:t>0</a:t>
              </a:r>
              <a:r>
                <a:rPr lang="es-ES_tradnl" dirty="0"/>
                <a:t>	BE</a:t>
              </a:r>
              <a:r>
                <a:rPr lang="es-ES_tradnl" b="1" baseline="-25000" dirty="0"/>
                <a:t>3</a:t>
              </a:r>
              <a:r>
                <a:rPr lang="es-ES_tradnl" dirty="0"/>
                <a:t>*	BE</a:t>
              </a:r>
              <a:r>
                <a:rPr lang="es-ES_tradnl" b="1" baseline="-25000" dirty="0"/>
                <a:t>2</a:t>
              </a:r>
              <a:r>
                <a:rPr lang="es-ES_tradnl" dirty="0"/>
                <a:t>*	BE</a:t>
              </a:r>
              <a:r>
                <a:rPr lang="es-ES_tradnl" b="1" baseline="-25000" dirty="0"/>
                <a:t>1</a:t>
              </a:r>
              <a:r>
                <a:rPr lang="es-ES_tradnl" dirty="0"/>
                <a:t>*	BE</a:t>
              </a:r>
              <a:r>
                <a:rPr lang="es-ES_tradnl" b="1" baseline="-25000" dirty="0"/>
                <a:t>0</a:t>
              </a:r>
              <a:r>
                <a:rPr lang="es-ES_tradnl" dirty="0"/>
                <a:t>*</a:t>
              </a:r>
            </a:p>
            <a:p>
              <a:pPr algn="l">
                <a:lnSpc>
                  <a:spcPct val="110000"/>
                </a:lnSpc>
                <a:spcBef>
                  <a:spcPct val="20000"/>
                </a:spcBef>
                <a:tabLst>
                  <a:tab pos="1143000" algn="ctr"/>
                  <a:tab pos="1714500" algn="ctr"/>
                  <a:tab pos="2476500" algn="ctr"/>
                  <a:tab pos="3238500" algn="ctr"/>
                  <a:tab pos="4000500" algn="ctr"/>
                  <a:tab pos="4762500" algn="ctr"/>
                </a:tabLst>
              </a:pPr>
              <a:r>
                <a:rPr lang="es-ES_tradnl" dirty="0"/>
                <a:t>	0	0	1	1	1	0</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a:t>	0	1	1	1	0	1</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a:t>	1	0	1	0	1	1</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a:t>	1	1	0	1	1	1</a:t>
              </a:r>
            </a:p>
            <a:p>
              <a:pPr algn="l">
                <a:spcBef>
                  <a:spcPct val="20000"/>
                </a:spcBef>
                <a:tabLst>
                  <a:tab pos="1143000" algn="ctr"/>
                  <a:tab pos="1714500" algn="ctr"/>
                  <a:tab pos="2476500" algn="ctr"/>
                  <a:tab pos="3238500" algn="ctr"/>
                  <a:tab pos="4000500" algn="ctr"/>
                  <a:tab pos="4762500" algn="ctr"/>
                </a:tabLst>
              </a:pPr>
              <a:r>
                <a:rPr lang="es-ES_tradnl" dirty="0"/>
                <a:t>	0	0	1	1	0	0</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a:t>	1	0	0	0	1	1</a:t>
              </a:r>
            </a:p>
            <a:p>
              <a:pPr algn="l">
                <a:spcBef>
                  <a:spcPct val="20000"/>
                </a:spcBef>
                <a:tabLst>
                  <a:tab pos="1143000" algn="ctr"/>
                  <a:tab pos="1714500" algn="ctr"/>
                  <a:tab pos="2476500" algn="ctr"/>
                  <a:tab pos="3238500" algn="ctr"/>
                  <a:tab pos="4000500" algn="ctr"/>
                  <a:tab pos="4762500" algn="ctr"/>
                </a:tabLst>
              </a:pPr>
              <a:r>
                <a:rPr lang="es-ES_tradnl" dirty="0"/>
                <a:t>	0	0	0	0	0	0</a:t>
              </a:r>
            </a:p>
          </p:txBody>
        </p:sp>
        <p:grpSp>
          <p:nvGrpSpPr>
            <p:cNvPr id="3" name="Group 21"/>
            <p:cNvGrpSpPr>
              <a:grpSpLocks/>
            </p:cNvGrpSpPr>
            <p:nvPr/>
          </p:nvGrpSpPr>
          <p:grpSpPr bwMode="auto">
            <a:xfrm>
              <a:off x="793" y="2016"/>
              <a:ext cx="3233" cy="1392"/>
              <a:chOff x="858" y="2016"/>
              <a:chExt cx="3168" cy="1392"/>
            </a:xfrm>
          </p:grpSpPr>
          <p:sp>
            <p:nvSpPr>
              <p:cNvPr id="40978" name="Line 5"/>
              <p:cNvSpPr>
                <a:spLocks noChangeShapeType="1"/>
              </p:cNvSpPr>
              <p:nvPr/>
            </p:nvSpPr>
            <p:spPr bwMode="auto">
              <a:xfrm>
                <a:off x="858" y="2016"/>
                <a:ext cx="3168" cy="0"/>
              </a:xfrm>
              <a:prstGeom prst="line">
                <a:avLst/>
              </a:prstGeom>
              <a:noFill/>
              <a:ln w="12700">
                <a:solidFill>
                  <a:schemeClr val="tx1"/>
                </a:solidFill>
                <a:round/>
                <a:headEnd/>
                <a:tailEnd/>
              </a:ln>
            </p:spPr>
            <p:txBody>
              <a:bodyPr wrap="none" anchor="ctr"/>
              <a:lstStyle/>
              <a:p>
                <a:endParaRPr lang="es-ES"/>
              </a:p>
            </p:txBody>
          </p:sp>
          <p:sp>
            <p:nvSpPr>
              <p:cNvPr id="40979" name="Line 6"/>
              <p:cNvSpPr>
                <a:spLocks noChangeShapeType="1"/>
              </p:cNvSpPr>
              <p:nvPr/>
            </p:nvSpPr>
            <p:spPr bwMode="auto">
              <a:xfrm>
                <a:off x="858" y="2760"/>
                <a:ext cx="3168" cy="0"/>
              </a:xfrm>
              <a:prstGeom prst="line">
                <a:avLst/>
              </a:prstGeom>
              <a:noFill/>
              <a:ln w="12700">
                <a:solidFill>
                  <a:schemeClr val="tx1"/>
                </a:solidFill>
                <a:round/>
                <a:headEnd/>
                <a:tailEnd/>
              </a:ln>
            </p:spPr>
            <p:txBody>
              <a:bodyPr wrap="none" anchor="ctr"/>
              <a:lstStyle/>
              <a:p>
                <a:endParaRPr lang="es-ES"/>
              </a:p>
            </p:txBody>
          </p:sp>
          <p:sp>
            <p:nvSpPr>
              <p:cNvPr id="40980" name="Line 7"/>
              <p:cNvSpPr>
                <a:spLocks noChangeShapeType="1"/>
              </p:cNvSpPr>
              <p:nvPr/>
            </p:nvSpPr>
            <p:spPr bwMode="auto">
              <a:xfrm>
                <a:off x="858" y="3408"/>
                <a:ext cx="3168" cy="0"/>
              </a:xfrm>
              <a:prstGeom prst="line">
                <a:avLst/>
              </a:prstGeom>
              <a:noFill/>
              <a:ln w="12700">
                <a:solidFill>
                  <a:schemeClr val="tx1"/>
                </a:solidFill>
                <a:round/>
                <a:headEnd/>
                <a:tailEnd/>
              </a:ln>
            </p:spPr>
            <p:txBody>
              <a:bodyPr wrap="none" anchor="ctr"/>
              <a:lstStyle/>
              <a:p>
                <a:endParaRPr lang="es-ES"/>
              </a:p>
            </p:txBody>
          </p:sp>
          <p:sp>
            <p:nvSpPr>
              <p:cNvPr id="40981" name="Line 8"/>
              <p:cNvSpPr>
                <a:spLocks noChangeShapeType="1"/>
              </p:cNvSpPr>
              <p:nvPr/>
            </p:nvSpPr>
            <p:spPr bwMode="auto">
              <a:xfrm>
                <a:off x="858" y="3168"/>
                <a:ext cx="3168" cy="0"/>
              </a:xfrm>
              <a:prstGeom prst="line">
                <a:avLst/>
              </a:prstGeom>
              <a:noFill/>
              <a:ln w="12700">
                <a:solidFill>
                  <a:schemeClr val="tx1"/>
                </a:solidFill>
                <a:round/>
                <a:headEnd/>
                <a:tailEnd/>
              </a:ln>
            </p:spPr>
            <p:txBody>
              <a:bodyPr wrap="none" anchor="ctr"/>
              <a:lstStyle/>
              <a:p>
                <a:endParaRPr lang="es-ES"/>
              </a:p>
            </p:txBody>
          </p:sp>
        </p:grpSp>
        <p:sp>
          <p:nvSpPr>
            <p:cNvPr id="40969" name="AutoShape 9"/>
            <p:cNvSpPr>
              <a:spLocks/>
            </p:cNvSpPr>
            <p:nvPr/>
          </p:nvSpPr>
          <p:spPr bwMode="auto">
            <a:xfrm flipH="1">
              <a:off x="1423" y="2033"/>
              <a:ext cx="96" cy="696"/>
            </a:xfrm>
            <a:prstGeom prst="rightBrace">
              <a:avLst>
                <a:gd name="adj1" fmla="val 31081"/>
                <a:gd name="adj2" fmla="val 50000"/>
              </a:avLst>
            </a:prstGeom>
            <a:noFill/>
            <a:ln w="19050">
              <a:solidFill>
                <a:schemeClr val="tx1"/>
              </a:solidFill>
              <a:round/>
              <a:headEnd/>
              <a:tailEnd/>
            </a:ln>
          </p:spPr>
          <p:txBody>
            <a:bodyPr wrap="none" anchor="ctr"/>
            <a:lstStyle/>
            <a:p>
              <a:endParaRPr lang="es-ES"/>
            </a:p>
          </p:txBody>
        </p:sp>
        <p:sp>
          <p:nvSpPr>
            <p:cNvPr id="40970" name="AutoShape 10"/>
            <p:cNvSpPr>
              <a:spLocks/>
            </p:cNvSpPr>
            <p:nvPr/>
          </p:nvSpPr>
          <p:spPr bwMode="auto">
            <a:xfrm flipH="1">
              <a:off x="1423" y="2777"/>
              <a:ext cx="96" cy="360"/>
            </a:xfrm>
            <a:prstGeom prst="rightBrace">
              <a:avLst>
                <a:gd name="adj1" fmla="val 37500"/>
                <a:gd name="adj2" fmla="val 50000"/>
              </a:avLst>
            </a:prstGeom>
            <a:noFill/>
            <a:ln w="19050">
              <a:solidFill>
                <a:schemeClr val="tx1"/>
              </a:solidFill>
              <a:round/>
              <a:headEnd/>
              <a:tailEnd/>
            </a:ln>
          </p:spPr>
          <p:txBody>
            <a:bodyPr wrap="none" anchor="ctr"/>
            <a:lstStyle/>
            <a:p>
              <a:endParaRPr lang="es-ES"/>
            </a:p>
          </p:txBody>
        </p:sp>
        <p:sp>
          <p:nvSpPr>
            <p:cNvPr id="40971" name="Text Box 12"/>
            <p:cNvSpPr txBox="1">
              <a:spLocks noChangeArrowheads="1"/>
            </p:cNvSpPr>
            <p:nvPr/>
          </p:nvSpPr>
          <p:spPr bwMode="auto">
            <a:xfrm>
              <a:off x="744" y="2251"/>
              <a:ext cx="551" cy="250"/>
            </a:xfrm>
            <a:prstGeom prst="rect">
              <a:avLst/>
            </a:prstGeom>
            <a:noFill/>
            <a:ln w="28575">
              <a:noFill/>
              <a:miter lim="800000"/>
              <a:headEnd/>
              <a:tailEnd/>
            </a:ln>
          </p:spPr>
          <p:txBody>
            <a:bodyPr wrap="none" anchor="ctr">
              <a:spAutoFit/>
            </a:bodyPr>
            <a:lstStyle/>
            <a:p>
              <a:pPr algn="l">
                <a:spcBef>
                  <a:spcPct val="20000"/>
                </a:spcBef>
              </a:pPr>
              <a:r>
                <a:rPr lang="es-ES_tradnl"/>
                <a:t>a byte</a:t>
              </a:r>
            </a:p>
          </p:txBody>
        </p:sp>
        <p:sp>
          <p:nvSpPr>
            <p:cNvPr id="40972" name="Text Box 13"/>
            <p:cNvSpPr txBox="1">
              <a:spLocks noChangeArrowheads="1"/>
            </p:cNvSpPr>
            <p:nvPr/>
          </p:nvSpPr>
          <p:spPr bwMode="auto">
            <a:xfrm>
              <a:off x="744" y="2817"/>
              <a:ext cx="685" cy="250"/>
            </a:xfrm>
            <a:prstGeom prst="rect">
              <a:avLst/>
            </a:prstGeom>
            <a:noFill/>
            <a:ln w="28575">
              <a:noFill/>
              <a:miter lim="800000"/>
              <a:headEnd/>
              <a:tailEnd/>
            </a:ln>
          </p:spPr>
          <p:txBody>
            <a:bodyPr wrap="none" anchor="ctr">
              <a:spAutoFit/>
            </a:bodyPr>
            <a:lstStyle/>
            <a:p>
              <a:pPr algn="l">
                <a:spcBef>
                  <a:spcPct val="20000"/>
                </a:spcBef>
              </a:pPr>
              <a:r>
                <a:rPr lang="es-ES_tradnl"/>
                <a:t>a hword</a:t>
              </a:r>
            </a:p>
          </p:txBody>
        </p:sp>
        <p:sp>
          <p:nvSpPr>
            <p:cNvPr id="40973" name="Text Box 14"/>
            <p:cNvSpPr txBox="1">
              <a:spLocks noChangeArrowheads="1"/>
            </p:cNvSpPr>
            <p:nvPr/>
          </p:nvSpPr>
          <p:spPr bwMode="auto">
            <a:xfrm>
              <a:off x="744" y="3168"/>
              <a:ext cx="596" cy="250"/>
            </a:xfrm>
            <a:prstGeom prst="rect">
              <a:avLst/>
            </a:prstGeom>
            <a:noFill/>
            <a:ln w="28575">
              <a:noFill/>
              <a:miter lim="800000"/>
              <a:headEnd/>
              <a:tailEnd/>
            </a:ln>
          </p:spPr>
          <p:txBody>
            <a:bodyPr wrap="none" anchor="ctr">
              <a:spAutoFit/>
            </a:bodyPr>
            <a:lstStyle/>
            <a:p>
              <a:pPr algn="l">
                <a:spcBef>
                  <a:spcPct val="20000"/>
                </a:spcBef>
              </a:pPr>
              <a:r>
                <a:rPr lang="es-ES_tradnl"/>
                <a:t>a word</a:t>
              </a:r>
            </a:p>
          </p:txBody>
        </p:sp>
        <p:sp>
          <p:nvSpPr>
            <p:cNvPr id="40974" name="AutoShape 16"/>
            <p:cNvSpPr>
              <a:spLocks/>
            </p:cNvSpPr>
            <p:nvPr/>
          </p:nvSpPr>
          <p:spPr bwMode="auto">
            <a:xfrm rot="5400000">
              <a:off x="1680" y="3201"/>
              <a:ext cx="192" cy="672"/>
            </a:xfrm>
            <a:prstGeom prst="rightBrace">
              <a:avLst>
                <a:gd name="adj1" fmla="val 29167"/>
                <a:gd name="adj2" fmla="val 50000"/>
              </a:avLst>
            </a:prstGeom>
            <a:noFill/>
            <a:ln w="38100">
              <a:solidFill>
                <a:schemeClr val="tx1"/>
              </a:solidFill>
              <a:round/>
              <a:headEnd/>
              <a:tailEnd/>
            </a:ln>
          </p:spPr>
          <p:txBody>
            <a:bodyPr anchor="ctr">
              <a:spAutoFit/>
            </a:bodyPr>
            <a:lstStyle/>
            <a:p>
              <a:endParaRPr lang="es-ES"/>
            </a:p>
          </p:txBody>
        </p:sp>
        <p:sp>
          <p:nvSpPr>
            <p:cNvPr id="40975" name="Text Box 17"/>
            <p:cNvSpPr txBox="1">
              <a:spLocks noChangeArrowheads="1"/>
            </p:cNvSpPr>
            <p:nvPr/>
          </p:nvSpPr>
          <p:spPr bwMode="auto">
            <a:xfrm>
              <a:off x="1104" y="3661"/>
              <a:ext cx="1316" cy="404"/>
            </a:xfrm>
            <a:prstGeom prst="rect">
              <a:avLst/>
            </a:prstGeom>
            <a:noFill/>
            <a:ln w="12700">
              <a:noFill/>
              <a:miter lim="800000"/>
              <a:headEnd/>
              <a:tailEnd/>
            </a:ln>
          </p:spPr>
          <p:txBody>
            <a:bodyPr wrap="none">
              <a:spAutoFit/>
            </a:bodyPr>
            <a:lstStyle/>
            <a:p>
              <a:r>
                <a:rPr lang="es-ES" sz="1800"/>
                <a:t>No están en el </a:t>
              </a:r>
            </a:p>
            <a:p>
              <a:r>
                <a:rPr lang="es-ES" sz="1800"/>
                <a:t>bus de direcciones</a:t>
              </a:r>
              <a:endParaRPr lang="ca-ES" sz="1800"/>
            </a:p>
          </p:txBody>
        </p:sp>
        <p:sp>
          <p:nvSpPr>
            <p:cNvPr id="40976" name="AutoShape 18"/>
            <p:cNvSpPr>
              <a:spLocks/>
            </p:cNvSpPr>
            <p:nvPr/>
          </p:nvSpPr>
          <p:spPr bwMode="auto">
            <a:xfrm rot="5400000">
              <a:off x="3072" y="2721"/>
              <a:ext cx="192" cy="1632"/>
            </a:xfrm>
            <a:prstGeom prst="rightBrace">
              <a:avLst>
                <a:gd name="adj1" fmla="val 70833"/>
                <a:gd name="adj2" fmla="val 50000"/>
              </a:avLst>
            </a:prstGeom>
            <a:noFill/>
            <a:ln w="38100">
              <a:solidFill>
                <a:schemeClr val="tx1"/>
              </a:solidFill>
              <a:round/>
              <a:headEnd/>
              <a:tailEnd/>
            </a:ln>
          </p:spPr>
          <p:txBody>
            <a:bodyPr anchor="ctr">
              <a:spAutoFit/>
            </a:bodyPr>
            <a:lstStyle/>
            <a:p>
              <a:endParaRPr lang="es-ES"/>
            </a:p>
          </p:txBody>
        </p:sp>
        <p:sp>
          <p:nvSpPr>
            <p:cNvPr id="40977" name="Text Box 19"/>
            <p:cNvSpPr txBox="1">
              <a:spLocks noChangeArrowheads="1"/>
            </p:cNvSpPr>
            <p:nvPr/>
          </p:nvSpPr>
          <p:spPr bwMode="auto">
            <a:xfrm>
              <a:off x="2544" y="3661"/>
              <a:ext cx="1348" cy="404"/>
            </a:xfrm>
            <a:prstGeom prst="rect">
              <a:avLst/>
            </a:prstGeom>
            <a:noFill/>
            <a:ln w="12700">
              <a:noFill/>
              <a:miter lim="800000"/>
              <a:headEnd/>
              <a:tailEnd/>
            </a:ln>
          </p:spPr>
          <p:txBody>
            <a:bodyPr wrap="none">
              <a:spAutoFit/>
            </a:bodyPr>
            <a:lstStyle/>
            <a:p>
              <a:r>
                <a:rPr lang="es-ES" sz="1800"/>
                <a:t>Señales presentes </a:t>
              </a:r>
            </a:p>
            <a:p>
              <a:r>
                <a:rPr lang="es-ES" sz="1800"/>
                <a:t>en el bus</a:t>
              </a:r>
              <a:endParaRPr lang="ca-ES" sz="1800"/>
            </a:p>
          </p:txBody>
        </p:sp>
      </p:grpSp>
      <p:sp>
        <p:nvSpPr>
          <p:cNvPr id="40966" name="Line 23"/>
          <p:cNvSpPr>
            <a:spLocks noChangeShapeType="1"/>
          </p:cNvSpPr>
          <p:nvPr/>
        </p:nvSpPr>
        <p:spPr bwMode="auto">
          <a:xfrm flipV="1">
            <a:off x="3727327" y="2742385"/>
            <a:ext cx="0" cy="2590800"/>
          </a:xfrm>
          <a:prstGeom prst="line">
            <a:avLst/>
          </a:prstGeom>
          <a:noFill/>
          <a:ln w="57150">
            <a:solidFill>
              <a:schemeClr val="tx1"/>
            </a:solidFill>
            <a:round/>
            <a:headEnd/>
            <a:tailEnd/>
          </a:ln>
        </p:spPr>
        <p:txBody>
          <a:bodyPr/>
          <a:lstStyle/>
          <a:p>
            <a:endParaRPr lang="es-ES"/>
          </a:p>
        </p:txBody>
      </p:sp>
      <p:sp>
        <p:nvSpPr>
          <p:cNvPr id="22" name="21 Rectángulo"/>
          <p:cNvSpPr/>
          <p:nvPr/>
        </p:nvSpPr>
        <p:spPr bwMode="auto">
          <a:xfrm>
            <a:off x="7215206" y="3068960"/>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22 Rectángulo"/>
          <p:cNvSpPr/>
          <p:nvPr/>
        </p:nvSpPr>
        <p:spPr bwMode="auto">
          <a:xfrm>
            <a:off x="7572396" y="3068960"/>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23 Rectángulo"/>
          <p:cNvSpPr/>
          <p:nvPr/>
        </p:nvSpPr>
        <p:spPr bwMode="auto">
          <a:xfrm>
            <a:off x="7929586" y="3068960"/>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24 Rectángulo"/>
          <p:cNvSpPr/>
          <p:nvPr/>
        </p:nvSpPr>
        <p:spPr bwMode="auto">
          <a:xfrm>
            <a:off x="8286776" y="3068960"/>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45 Rectángulo"/>
          <p:cNvSpPr/>
          <p:nvPr/>
        </p:nvSpPr>
        <p:spPr bwMode="auto">
          <a:xfrm>
            <a:off x="7215206" y="3926216"/>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46 Rectángulo"/>
          <p:cNvSpPr/>
          <p:nvPr/>
        </p:nvSpPr>
        <p:spPr bwMode="auto">
          <a:xfrm>
            <a:off x="7572396" y="3926216"/>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47 Rectángulo"/>
          <p:cNvSpPr/>
          <p:nvPr/>
        </p:nvSpPr>
        <p:spPr bwMode="auto">
          <a:xfrm>
            <a:off x="7929586" y="3926216"/>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48 Rectángulo"/>
          <p:cNvSpPr/>
          <p:nvPr/>
        </p:nvSpPr>
        <p:spPr bwMode="auto">
          <a:xfrm>
            <a:off x="8286776" y="3926216"/>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49 Rectángulo"/>
          <p:cNvSpPr/>
          <p:nvPr/>
        </p:nvSpPr>
        <p:spPr bwMode="auto">
          <a:xfrm>
            <a:off x="7215206" y="3354712"/>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50 Rectángulo"/>
          <p:cNvSpPr/>
          <p:nvPr/>
        </p:nvSpPr>
        <p:spPr bwMode="auto">
          <a:xfrm>
            <a:off x="7572396" y="3354712"/>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51 Rectángulo"/>
          <p:cNvSpPr/>
          <p:nvPr/>
        </p:nvSpPr>
        <p:spPr bwMode="auto">
          <a:xfrm>
            <a:off x="7929586" y="3354712"/>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52 Rectángulo"/>
          <p:cNvSpPr/>
          <p:nvPr/>
        </p:nvSpPr>
        <p:spPr bwMode="auto">
          <a:xfrm>
            <a:off x="8286776" y="3354712"/>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53 Rectángulo"/>
          <p:cNvSpPr/>
          <p:nvPr/>
        </p:nvSpPr>
        <p:spPr bwMode="auto">
          <a:xfrm>
            <a:off x="7215206" y="3640464"/>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54 Rectángulo"/>
          <p:cNvSpPr/>
          <p:nvPr/>
        </p:nvSpPr>
        <p:spPr bwMode="auto">
          <a:xfrm>
            <a:off x="7572396" y="3640464"/>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55 Rectángulo"/>
          <p:cNvSpPr/>
          <p:nvPr/>
        </p:nvSpPr>
        <p:spPr bwMode="auto">
          <a:xfrm>
            <a:off x="7929586" y="3640464"/>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56 Rectángulo"/>
          <p:cNvSpPr/>
          <p:nvPr/>
        </p:nvSpPr>
        <p:spPr bwMode="auto">
          <a:xfrm>
            <a:off x="8286776" y="3640464"/>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57 Rectángulo"/>
          <p:cNvSpPr/>
          <p:nvPr/>
        </p:nvSpPr>
        <p:spPr bwMode="auto">
          <a:xfrm>
            <a:off x="7215206" y="4497720"/>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58 Rectángulo"/>
          <p:cNvSpPr/>
          <p:nvPr/>
        </p:nvSpPr>
        <p:spPr bwMode="auto">
          <a:xfrm>
            <a:off x="7572396" y="4497720"/>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59 Rectángulo"/>
          <p:cNvSpPr/>
          <p:nvPr/>
        </p:nvSpPr>
        <p:spPr bwMode="auto">
          <a:xfrm>
            <a:off x="7929586" y="4497720"/>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60 Rectángulo"/>
          <p:cNvSpPr/>
          <p:nvPr/>
        </p:nvSpPr>
        <p:spPr bwMode="auto">
          <a:xfrm>
            <a:off x="8286776" y="4497720"/>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61 Rectángulo"/>
          <p:cNvSpPr/>
          <p:nvPr/>
        </p:nvSpPr>
        <p:spPr bwMode="auto">
          <a:xfrm>
            <a:off x="7215206" y="4211968"/>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62 Rectángulo"/>
          <p:cNvSpPr/>
          <p:nvPr/>
        </p:nvSpPr>
        <p:spPr bwMode="auto">
          <a:xfrm>
            <a:off x="7572396" y="4211968"/>
            <a:ext cx="357190" cy="285752"/>
          </a:xfrm>
          <a:prstGeom prst="rect">
            <a:avLst/>
          </a:prstGeom>
          <a:solidFill>
            <a:schemeClr val="bg1"/>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63 Rectángulo"/>
          <p:cNvSpPr/>
          <p:nvPr/>
        </p:nvSpPr>
        <p:spPr bwMode="auto">
          <a:xfrm>
            <a:off x="7929586" y="4211968"/>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64 Rectángulo"/>
          <p:cNvSpPr/>
          <p:nvPr/>
        </p:nvSpPr>
        <p:spPr bwMode="auto">
          <a:xfrm>
            <a:off x="8286776" y="4211968"/>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65 Rectángulo"/>
          <p:cNvSpPr/>
          <p:nvPr/>
        </p:nvSpPr>
        <p:spPr bwMode="auto">
          <a:xfrm>
            <a:off x="7215206" y="4821712"/>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66 Rectángulo"/>
          <p:cNvSpPr/>
          <p:nvPr/>
        </p:nvSpPr>
        <p:spPr bwMode="auto">
          <a:xfrm>
            <a:off x="7572396" y="4821712"/>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67 Rectángulo"/>
          <p:cNvSpPr/>
          <p:nvPr/>
        </p:nvSpPr>
        <p:spPr bwMode="auto">
          <a:xfrm>
            <a:off x="7929586" y="4821712"/>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68 Rectángulo"/>
          <p:cNvSpPr/>
          <p:nvPr/>
        </p:nvSpPr>
        <p:spPr bwMode="auto">
          <a:xfrm>
            <a:off x="8286776" y="4821712"/>
            <a:ext cx="357190" cy="285752"/>
          </a:xfrm>
          <a:prstGeom prst="rect">
            <a:avLst/>
          </a:prstGeom>
          <a:solidFill>
            <a:srgbClr val="FF00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Marcador de número de diapositiva 3">
            <a:extLst>
              <a:ext uri="{FF2B5EF4-FFF2-40B4-BE49-F238E27FC236}">
                <a16:creationId xmlns:a16="http://schemas.microsoft.com/office/drawing/2014/main" id="{38D5D22F-19FA-C628-4F42-CB0D050243BF}"/>
              </a:ext>
            </a:extLst>
          </p:cNvPr>
          <p:cNvSpPr>
            <a:spLocks noGrp="1"/>
          </p:cNvSpPr>
          <p:nvPr>
            <p:ph type="sldNum" sz="quarter" idx="12"/>
          </p:nvPr>
        </p:nvSpPr>
        <p:spPr>
          <a:xfrm>
            <a:off x="8686800" y="6529388"/>
            <a:ext cx="457200" cy="328612"/>
          </a:xfrm>
        </p:spPr>
        <p:txBody>
          <a:bodyPr/>
          <a:lstStyle/>
          <a:p>
            <a:pPr>
              <a:defRPr/>
            </a:pPr>
            <a:fld id="{50B7A251-C820-4EFF-8270-C7613E20881F}"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ChangeArrowheads="1"/>
          </p:cNvSpPr>
          <p:nvPr/>
        </p:nvSpPr>
        <p:spPr bwMode="ltGray">
          <a:xfrm>
            <a:off x="6469063" y="4591050"/>
            <a:ext cx="503237" cy="288925"/>
          </a:xfrm>
          <a:prstGeom prst="rect">
            <a:avLst/>
          </a:prstGeom>
          <a:solidFill>
            <a:schemeClr val="folHlink"/>
          </a:solidFill>
          <a:ln w="19050">
            <a:noFill/>
            <a:miter lim="800000"/>
            <a:headEnd/>
            <a:tailEnd/>
          </a:ln>
        </p:spPr>
        <p:txBody>
          <a:bodyPr wrap="none" lIns="0" tIns="0" rIns="0" bIns="0" anchor="ctr"/>
          <a:lstStyle/>
          <a:p>
            <a:endParaRPr lang="es-ES"/>
          </a:p>
        </p:txBody>
      </p:sp>
      <p:sp>
        <p:nvSpPr>
          <p:cNvPr id="41988" name="Rectangle 3"/>
          <p:cNvSpPr>
            <a:spLocks noChangeArrowheads="1"/>
          </p:cNvSpPr>
          <p:nvPr/>
        </p:nvSpPr>
        <p:spPr bwMode="ltGray">
          <a:xfrm>
            <a:off x="7202488" y="5119688"/>
            <a:ext cx="503237" cy="288925"/>
          </a:xfrm>
          <a:prstGeom prst="rect">
            <a:avLst/>
          </a:prstGeom>
          <a:solidFill>
            <a:schemeClr val="folHlink"/>
          </a:solidFill>
          <a:ln w="19050">
            <a:noFill/>
            <a:miter lim="800000"/>
            <a:headEnd/>
            <a:tailEnd/>
          </a:ln>
        </p:spPr>
        <p:txBody>
          <a:bodyPr wrap="none" lIns="0" tIns="0" rIns="0" bIns="0" anchor="ctr"/>
          <a:lstStyle/>
          <a:p>
            <a:endParaRPr lang="es-ES"/>
          </a:p>
        </p:txBody>
      </p:sp>
      <p:sp>
        <p:nvSpPr>
          <p:cNvPr id="41989" name="Rectangle 4"/>
          <p:cNvSpPr>
            <a:spLocks noChangeArrowheads="1"/>
          </p:cNvSpPr>
          <p:nvPr/>
        </p:nvSpPr>
        <p:spPr bwMode="ltGray">
          <a:xfrm>
            <a:off x="5029200" y="4830763"/>
            <a:ext cx="1152525" cy="288925"/>
          </a:xfrm>
          <a:prstGeom prst="rect">
            <a:avLst/>
          </a:prstGeom>
          <a:solidFill>
            <a:schemeClr val="folHlink"/>
          </a:solidFill>
          <a:ln w="19050">
            <a:noFill/>
            <a:miter lim="800000"/>
            <a:headEnd/>
            <a:tailEnd/>
          </a:ln>
        </p:spPr>
        <p:txBody>
          <a:bodyPr wrap="none" lIns="0" tIns="0" rIns="0" bIns="0" anchor="ctr"/>
          <a:lstStyle/>
          <a:p>
            <a:endParaRPr lang="es-ES"/>
          </a:p>
        </p:txBody>
      </p:sp>
      <p:sp>
        <p:nvSpPr>
          <p:cNvPr id="41990" name="Rectangle 5"/>
          <p:cNvSpPr>
            <a:spLocks noChangeArrowheads="1"/>
          </p:cNvSpPr>
          <p:nvPr/>
        </p:nvSpPr>
        <p:spPr bwMode="ltGray">
          <a:xfrm>
            <a:off x="5029200" y="4276725"/>
            <a:ext cx="2663825" cy="288925"/>
          </a:xfrm>
          <a:prstGeom prst="rect">
            <a:avLst/>
          </a:prstGeom>
          <a:solidFill>
            <a:schemeClr val="folHlink"/>
          </a:solidFill>
          <a:ln w="19050">
            <a:noFill/>
            <a:miter lim="800000"/>
            <a:headEnd/>
            <a:tailEnd/>
          </a:ln>
        </p:spPr>
        <p:txBody>
          <a:bodyPr wrap="none" lIns="0" tIns="0" rIns="0" bIns="0" anchor="ctr"/>
          <a:lstStyle/>
          <a:p>
            <a:endParaRPr lang="es-ES"/>
          </a:p>
        </p:txBody>
      </p:sp>
      <p:sp>
        <p:nvSpPr>
          <p:cNvPr id="41991" name="Rectangle 6"/>
          <p:cNvSpPr>
            <a:spLocks noGrp="1" noChangeArrowheads="1"/>
          </p:cNvSpPr>
          <p:nvPr>
            <p:ph type="title"/>
          </p:nvPr>
        </p:nvSpPr>
        <p:spPr/>
        <p:txBody>
          <a:bodyPr/>
          <a:lstStyle/>
          <a:p>
            <a:r>
              <a:rPr lang="es-ES"/>
              <a:t>Ejemplo de activaciones de las señales /BE</a:t>
            </a:r>
            <a:r>
              <a:rPr lang="es-ES" baseline="-25000"/>
              <a:t>i</a:t>
            </a:r>
          </a:p>
        </p:txBody>
      </p:sp>
      <p:sp>
        <p:nvSpPr>
          <p:cNvPr id="41992" name="Freeform 7"/>
          <p:cNvSpPr>
            <a:spLocks/>
          </p:cNvSpPr>
          <p:nvPr/>
        </p:nvSpPr>
        <p:spPr bwMode="grayWhite">
          <a:xfrm>
            <a:off x="611188" y="1198563"/>
            <a:ext cx="3384550" cy="2230437"/>
          </a:xfrm>
          <a:custGeom>
            <a:avLst/>
            <a:gdLst>
              <a:gd name="T0" fmla="*/ 0 w 2777"/>
              <a:gd name="T1" fmla="*/ 0 h 3276"/>
              <a:gd name="T2" fmla="*/ 2147483647 w 2777"/>
              <a:gd name="T3" fmla="*/ 0 h 3276"/>
              <a:gd name="T4" fmla="*/ 2147483647 w 2777"/>
              <a:gd name="T5" fmla="*/ 2147483647 h 3276"/>
              <a:gd name="T6" fmla="*/ 2147483647 w 2777"/>
              <a:gd name="T7" fmla="*/ 2147483647 h 3276"/>
              <a:gd name="T8" fmla="*/ 2147483647 w 2777"/>
              <a:gd name="T9" fmla="*/ 2147483647 h 3276"/>
              <a:gd name="T10" fmla="*/ 2147483647 w 2777"/>
              <a:gd name="T11" fmla="*/ 2147483647 h 3276"/>
              <a:gd name="T12" fmla="*/ 2147483647 w 2777"/>
              <a:gd name="T13" fmla="*/ 2147483647 h 3276"/>
              <a:gd name="T14" fmla="*/ 2147483647 w 2777"/>
              <a:gd name="T15" fmla="*/ 2147483647 h 3276"/>
              <a:gd name="T16" fmla="*/ 0 w 2777"/>
              <a:gd name="T17" fmla="*/ 2147483647 h 3276"/>
              <a:gd name="T18" fmla="*/ 0 w 2777"/>
              <a:gd name="T19" fmla="*/ 0 h 32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77"/>
              <a:gd name="T31" fmla="*/ 0 h 3276"/>
              <a:gd name="T32" fmla="*/ 2777 w 2777"/>
              <a:gd name="T33" fmla="*/ 3276 h 327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77" h="3276">
                <a:moveTo>
                  <a:pt x="0" y="0"/>
                </a:moveTo>
                <a:cubicBezTo>
                  <a:pt x="1383" y="0"/>
                  <a:pt x="1273" y="8"/>
                  <a:pt x="2767" y="0"/>
                </a:cubicBezTo>
                <a:cubicBezTo>
                  <a:pt x="2777" y="628"/>
                  <a:pt x="2762" y="2312"/>
                  <a:pt x="2767" y="2801"/>
                </a:cubicBezTo>
                <a:cubicBezTo>
                  <a:pt x="2245" y="3052"/>
                  <a:pt x="2363" y="2832"/>
                  <a:pt x="2163" y="2828"/>
                </a:cubicBezTo>
                <a:cubicBezTo>
                  <a:pt x="2025" y="2850"/>
                  <a:pt x="2019" y="2926"/>
                  <a:pt x="1939" y="2932"/>
                </a:cubicBezTo>
                <a:cubicBezTo>
                  <a:pt x="1831" y="2924"/>
                  <a:pt x="1795" y="2869"/>
                  <a:pt x="1684" y="2865"/>
                </a:cubicBezTo>
                <a:cubicBezTo>
                  <a:pt x="1573" y="2861"/>
                  <a:pt x="1455" y="2913"/>
                  <a:pt x="1273" y="2910"/>
                </a:cubicBezTo>
                <a:cubicBezTo>
                  <a:pt x="832" y="3142"/>
                  <a:pt x="804" y="2868"/>
                  <a:pt x="592" y="2850"/>
                </a:cubicBezTo>
                <a:cubicBezTo>
                  <a:pt x="380" y="2832"/>
                  <a:pt x="99" y="3276"/>
                  <a:pt x="0" y="2801"/>
                </a:cubicBezTo>
                <a:cubicBezTo>
                  <a:pt x="0" y="1400"/>
                  <a:pt x="0" y="1400"/>
                  <a:pt x="0" y="0"/>
                </a:cubicBezTo>
                <a:close/>
              </a:path>
            </a:pathLst>
          </a:custGeom>
          <a:solidFill>
            <a:schemeClr val="accent2">
              <a:lumMod val="20000"/>
              <a:lumOff val="80000"/>
            </a:schemeClr>
          </a:solidFill>
          <a:ln w="9525">
            <a:round/>
            <a:headEnd/>
            <a:tailEnd/>
          </a:ln>
          <a:scene3d>
            <a:camera prst="legacyObliqueTopRight"/>
            <a:lightRig rig="legacyFlat3" dir="b"/>
          </a:scene3d>
          <a:sp3d extrusionH="49200" prstMaterial="legacyMetal">
            <a:bevelT w="13500" h="13500" prst="angle"/>
            <a:bevelB w="13500" h="13500" prst="angle"/>
            <a:extrusionClr>
              <a:srgbClr val="0066FF"/>
            </a:extrusionClr>
          </a:sp3d>
        </p:spPr>
        <p:txBody>
          <a:bodyPr lIns="0" tIns="0" rIns="0" bIns="0" anchor="ctr">
            <a:flatTx/>
          </a:bodyPr>
          <a:lstStyle/>
          <a:p>
            <a:endParaRPr lang="es-ES"/>
          </a:p>
        </p:txBody>
      </p:sp>
      <p:sp>
        <p:nvSpPr>
          <p:cNvPr id="41993" name="Text Box 8"/>
          <p:cNvSpPr txBox="1">
            <a:spLocks noChangeArrowheads="1"/>
          </p:cNvSpPr>
          <p:nvPr/>
        </p:nvSpPr>
        <p:spPr bwMode="auto">
          <a:xfrm>
            <a:off x="898525" y="1341438"/>
            <a:ext cx="2952750" cy="1785104"/>
          </a:xfrm>
          <a:prstGeom prst="rect">
            <a:avLst/>
          </a:prstGeom>
          <a:noFill/>
          <a:ln w="19050">
            <a:noFill/>
            <a:miter lim="800000"/>
            <a:headEnd/>
            <a:tailEnd/>
          </a:ln>
        </p:spPr>
        <p:txBody>
          <a:bodyPr lIns="0" tIns="0" rIns="0" bIns="0">
            <a:spAutoFit/>
          </a:bodyPr>
          <a:lstStyle/>
          <a:p>
            <a:pPr algn="l">
              <a:tabLst>
                <a:tab pos="1258888" algn="l"/>
              </a:tabLst>
            </a:pPr>
            <a:r>
              <a:rPr lang="es-ES" dirty="0" err="1">
                <a:solidFill>
                  <a:schemeClr val="bg1"/>
                </a:solidFill>
                <a:latin typeface="Courier New" pitchFamily="49" charset="0"/>
              </a:rPr>
              <a:t>li</a:t>
            </a:r>
            <a:r>
              <a:rPr lang="es-ES" dirty="0">
                <a:solidFill>
                  <a:schemeClr val="bg1"/>
                </a:solidFill>
                <a:latin typeface="Courier New" pitchFamily="49" charset="0"/>
              </a:rPr>
              <a:t> t0, 0x10000000</a:t>
            </a:r>
          </a:p>
          <a:p>
            <a:pPr algn="l">
              <a:tabLst>
                <a:tab pos="1258888" algn="l"/>
              </a:tabLst>
            </a:pPr>
            <a:r>
              <a:rPr lang="es-ES" dirty="0" err="1">
                <a:solidFill>
                  <a:schemeClr val="bg1"/>
                </a:solidFill>
                <a:latin typeface="Courier New" pitchFamily="49" charset="0"/>
              </a:rPr>
              <a:t>lw</a:t>
            </a:r>
            <a:r>
              <a:rPr lang="es-ES" dirty="0">
                <a:solidFill>
                  <a:schemeClr val="bg1"/>
                </a:solidFill>
                <a:latin typeface="Courier New" pitchFamily="49" charset="0"/>
              </a:rPr>
              <a:t> a0, 0(t0)	</a:t>
            </a:r>
          </a:p>
          <a:p>
            <a:pPr algn="l">
              <a:tabLst>
                <a:tab pos="1258888" algn="l"/>
              </a:tabLst>
            </a:pPr>
            <a:r>
              <a:rPr lang="es-ES" dirty="0">
                <a:solidFill>
                  <a:schemeClr val="bg1"/>
                </a:solidFill>
                <a:latin typeface="Courier New" pitchFamily="49" charset="0"/>
              </a:rPr>
              <a:t>lb a1, 5(t0)	</a:t>
            </a:r>
          </a:p>
          <a:p>
            <a:pPr algn="l">
              <a:tabLst>
                <a:tab pos="1258888" algn="l"/>
              </a:tabLst>
            </a:pPr>
            <a:r>
              <a:rPr lang="es-ES" dirty="0" err="1">
                <a:solidFill>
                  <a:schemeClr val="bg1"/>
                </a:solidFill>
                <a:latin typeface="Courier New" pitchFamily="49" charset="0"/>
              </a:rPr>
              <a:t>sh</a:t>
            </a:r>
            <a:r>
              <a:rPr lang="es-ES" dirty="0">
                <a:solidFill>
                  <a:schemeClr val="bg1"/>
                </a:solidFill>
                <a:latin typeface="Courier New" pitchFamily="49" charset="0"/>
              </a:rPr>
              <a:t> a2, 6(t0)</a:t>
            </a:r>
          </a:p>
          <a:p>
            <a:pPr algn="l">
              <a:tabLst>
                <a:tab pos="1258888" algn="l"/>
              </a:tabLst>
            </a:pPr>
            <a:r>
              <a:rPr lang="es-ES" dirty="0" err="1">
                <a:solidFill>
                  <a:schemeClr val="bg1"/>
                </a:solidFill>
                <a:latin typeface="Courier New" pitchFamily="49" charset="0"/>
              </a:rPr>
              <a:t>sb</a:t>
            </a:r>
            <a:r>
              <a:rPr lang="es-ES" dirty="0">
                <a:solidFill>
                  <a:schemeClr val="bg1"/>
                </a:solidFill>
                <a:latin typeface="Courier New" pitchFamily="49" charset="0"/>
              </a:rPr>
              <a:t> a3, 8(t0)</a:t>
            </a:r>
          </a:p>
        </p:txBody>
      </p:sp>
      <p:sp>
        <p:nvSpPr>
          <p:cNvPr id="41994" name="Text Box 9"/>
          <p:cNvSpPr txBox="1">
            <a:spLocks noChangeArrowheads="1"/>
          </p:cNvSpPr>
          <p:nvPr/>
        </p:nvSpPr>
        <p:spPr bwMode="auto">
          <a:xfrm>
            <a:off x="2627313" y="3816995"/>
            <a:ext cx="5262210" cy="2000548"/>
          </a:xfrm>
          <a:prstGeom prst="rect">
            <a:avLst/>
          </a:prstGeom>
          <a:noFill/>
          <a:ln w="28575">
            <a:noFill/>
            <a:miter lim="800000"/>
            <a:headEnd/>
            <a:tailEnd/>
          </a:ln>
        </p:spPr>
        <p:txBody>
          <a:bodyPr wrap="none" anchor="ctr">
            <a:spAutoFit/>
          </a:bodyPr>
          <a:lstStyle/>
          <a:p>
            <a:pPr algn="l">
              <a:spcBef>
                <a:spcPct val="20000"/>
              </a:spcBef>
              <a:tabLst>
                <a:tab pos="1143000" algn="ctr"/>
                <a:tab pos="1714500" algn="ctr"/>
                <a:tab pos="2476500" algn="ctr"/>
                <a:tab pos="3238500" algn="ctr"/>
                <a:tab pos="4000500" algn="ctr"/>
                <a:tab pos="4762500" algn="ctr"/>
              </a:tabLst>
            </a:pPr>
            <a:r>
              <a:rPr lang="es-ES_tradnl" dirty="0"/>
              <a:t>	A</a:t>
            </a:r>
            <a:r>
              <a:rPr lang="es-ES_tradnl" b="1" baseline="-25000" dirty="0"/>
              <a:t>1</a:t>
            </a:r>
            <a:r>
              <a:rPr lang="es-ES_tradnl" dirty="0"/>
              <a:t>	A</a:t>
            </a:r>
            <a:r>
              <a:rPr lang="es-ES_tradnl" b="1" baseline="-25000" dirty="0"/>
              <a:t>0</a:t>
            </a:r>
            <a:r>
              <a:rPr lang="es-ES_tradnl" dirty="0"/>
              <a:t>	BE</a:t>
            </a:r>
            <a:r>
              <a:rPr lang="es-ES_tradnl" b="1" baseline="-25000" dirty="0"/>
              <a:t>3</a:t>
            </a:r>
            <a:r>
              <a:rPr lang="es-ES_tradnl" dirty="0"/>
              <a:t>*	BE</a:t>
            </a:r>
            <a:r>
              <a:rPr lang="es-ES_tradnl" b="1" baseline="-25000" dirty="0"/>
              <a:t>2</a:t>
            </a:r>
            <a:r>
              <a:rPr lang="es-ES_tradnl" dirty="0"/>
              <a:t>*	BE</a:t>
            </a:r>
            <a:r>
              <a:rPr lang="es-ES_tradnl" b="1" baseline="-25000" dirty="0"/>
              <a:t>1</a:t>
            </a:r>
            <a:r>
              <a:rPr lang="es-ES_tradnl" dirty="0"/>
              <a:t>*	BE</a:t>
            </a:r>
            <a:r>
              <a:rPr lang="es-ES_tradnl" b="1" baseline="-25000" dirty="0"/>
              <a:t>0</a:t>
            </a:r>
            <a:r>
              <a:rPr lang="es-ES_tradnl" dirty="0"/>
              <a:t>*</a:t>
            </a:r>
          </a:p>
          <a:p>
            <a:pPr algn="l">
              <a:lnSpc>
                <a:spcPct val="110000"/>
              </a:lnSpc>
              <a:spcBef>
                <a:spcPct val="20000"/>
              </a:spcBef>
              <a:tabLst>
                <a:tab pos="1143000" algn="ctr"/>
                <a:tab pos="1714500" algn="ctr"/>
                <a:tab pos="2476500" algn="ctr"/>
                <a:tab pos="3238500" algn="ctr"/>
                <a:tab pos="4000500" algn="ctr"/>
                <a:tab pos="4762500" algn="ctr"/>
              </a:tabLst>
            </a:pPr>
            <a:r>
              <a:rPr lang="es-ES_tradnl" dirty="0" err="1">
                <a:latin typeface="Courier New" pitchFamily="49" charset="0"/>
              </a:rPr>
              <a:t>lw</a:t>
            </a:r>
            <a:r>
              <a:rPr lang="es-ES_tradnl" dirty="0"/>
              <a:t>	0	0	0	0	0	0</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a:latin typeface="Courier New" pitchFamily="49" charset="0"/>
              </a:rPr>
              <a:t>lb</a:t>
            </a:r>
            <a:r>
              <a:rPr lang="es-ES_tradnl" dirty="0"/>
              <a:t>	0	1	1	1	0	1</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err="1">
                <a:latin typeface="Courier New" pitchFamily="49" charset="0"/>
              </a:rPr>
              <a:t>sh</a:t>
            </a:r>
            <a:r>
              <a:rPr lang="es-ES_tradnl" dirty="0"/>
              <a:t>	1	0	0	0	1	1</a:t>
            </a:r>
          </a:p>
          <a:p>
            <a:pPr algn="l">
              <a:lnSpc>
                <a:spcPct val="70000"/>
              </a:lnSpc>
              <a:spcBef>
                <a:spcPct val="20000"/>
              </a:spcBef>
              <a:tabLst>
                <a:tab pos="1143000" algn="ctr"/>
                <a:tab pos="1714500" algn="ctr"/>
                <a:tab pos="2476500" algn="ctr"/>
                <a:tab pos="3238500" algn="ctr"/>
                <a:tab pos="4000500" algn="ctr"/>
                <a:tab pos="4762500" algn="ctr"/>
              </a:tabLst>
            </a:pPr>
            <a:r>
              <a:rPr lang="es-ES_tradnl" dirty="0" err="1">
                <a:latin typeface="Courier New" pitchFamily="49" charset="0"/>
              </a:rPr>
              <a:t>sb</a:t>
            </a:r>
            <a:r>
              <a:rPr lang="es-ES_tradnl" dirty="0"/>
              <a:t>	0	0	1	1	1	0</a:t>
            </a:r>
          </a:p>
          <a:p>
            <a:pPr algn="l">
              <a:spcBef>
                <a:spcPct val="20000"/>
              </a:spcBef>
              <a:tabLst>
                <a:tab pos="1143000" algn="ctr"/>
                <a:tab pos="1714500" algn="ctr"/>
                <a:tab pos="2476500" algn="ctr"/>
                <a:tab pos="3238500" algn="ctr"/>
                <a:tab pos="4000500" algn="ctr"/>
                <a:tab pos="4762500" algn="ctr"/>
              </a:tabLst>
            </a:pPr>
            <a:r>
              <a:rPr lang="es-ES_tradnl" dirty="0"/>
              <a:t>	</a:t>
            </a:r>
          </a:p>
        </p:txBody>
      </p:sp>
      <p:sp>
        <p:nvSpPr>
          <p:cNvPr id="41995" name="Line 10"/>
          <p:cNvSpPr>
            <a:spLocks noChangeShapeType="1"/>
          </p:cNvSpPr>
          <p:nvPr/>
        </p:nvSpPr>
        <p:spPr bwMode="auto">
          <a:xfrm>
            <a:off x="3516313" y="4230688"/>
            <a:ext cx="4206875" cy="0"/>
          </a:xfrm>
          <a:prstGeom prst="line">
            <a:avLst/>
          </a:prstGeom>
          <a:noFill/>
          <a:ln w="12700">
            <a:solidFill>
              <a:schemeClr val="tx1"/>
            </a:solidFill>
            <a:round/>
            <a:headEnd/>
            <a:tailEnd/>
          </a:ln>
        </p:spPr>
        <p:txBody>
          <a:bodyPr wrap="none" anchor="ctr"/>
          <a:lstStyle/>
          <a:p>
            <a:endParaRPr lang="es-ES"/>
          </a:p>
        </p:txBody>
      </p:sp>
      <p:sp>
        <p:nvSpPr>
          <p:cNvPr id="41996" name="AutoShape 11"/>
          <p:cNvSpPr>
            <a:spLocks noChangeArrowheads="1"/>
          </p:cNvSpPr>
          <p:nvPr/>
        </p:nvSpPr>
        <p:spPr bwMode="ltGray">
          <a:xfrm rot="5400000">
            <a:off x="4356894" y="1988344"/>
            <a:ext cx="1727200" cy="143986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3476 h 21600"/>
              <a:gd name="T14" fmla="*/ 18284 w 21600"/>
              <a:gd name="T15" fmla="*/ 8682 h 21600"/>
            </a:gdLst>
            <a:ahLst/>
            <a:cxnLst>
              <a:cxn ang="T8">
                <a:pos x="T0" y="T1"/>
              </a:cxn>
              <a:cxn ang="T9">
                <a:pos x="T2" y="T3"/>
              </a:cxn>
              <a:cxn ang="T10">
                <a:pos x="T4" y="T5"/>
              </a:cxn>
              <a:cxn ang="T11">
                <a:pos x="T6" y="T7"/>
              </a:cxn>
            </a:cxnLst>
            <a:rect l="T12" t="T13" r="T14" b="T15"/>
            <a:pathLst>
              <a:path w="21600" h="21600">
                <a:moveTo>
                  <a:pt x="21600" y="6079"/>
                </a:moveTo>
                <a:lnTo>
                  <a:pt x="13857" y="0"/>
                </a:lnTo>
                <a:lnTo>
                  <a:pt x="13857" y="3476"/>
                </a:lnTo>
                <a:lnTo>
                  <a:pt x="12427" y="3476"/>
                </a:lnTo>
                <a:cubicBezTo>
                  <a:pt x="5564" y="3476"/>
                  <a:pt x="0" y="7363"/>
                  <a:pt x="0" y="12158"/>
                </a:cubicBezTo>
                <a:lnTo>
                  <a:pt x="0" y="21600"/>
                </a:lnTo>
                <a:lnTo>
                  <a:pt x="5321" y="21600"/>
                </a:lnTo>
                <a:lnTo>
                  <a:pt x="5321" y="12158"/>
                </a:lnTo>
                <a:cubicBezTo>
                  <a:pt x="5321" y="10238"/>
                  <a:pt x="8502" y="8682"/>
                  <a:pt x="12427" y="8682"/>
                </a:cubicBezTo>
                <a:lnTo>
                  <a:pt x="13857" y="8682"/>
                </a:lnTo>
                <a:lnTo>
                  <a:pt x="13857" y="12158"/>
                </a:lnTo>
                <a:close/>
              </a:path>
            </a:pathLst>
          </a:custGeom>
          <a:solidFill>
            <a:srgbClr val="CC6600"/>
          </a:solidFill>
          <a:ln w="19050">
            <a:solidFill>
              <a:schemeClr val="bg1">
                <a:lumMod val="95000"/>
              </a:schemeClr>
            </a:solidFill>
            <a:miter lim="800000"/>
            <a:headEnd/>
            <a:tailEnd/>
          </a:ln>
        </p:spPr>
        <p:txBody>
          <a:bodyPr wrap="none" lIns="0" tIns="0" rIns="0" bIns="0" anchor="ctr"/>
          <a:lstStyle/>
          <a:p>
            <a:endParaRPr lang="es-ES"/>
          </a:p>
        </p:txBody>
      </p:sp>
      <p:sp>
        <p:nvSpPr>
          <p:cNvPr id="41997" name="Line 12"/>
          <p:cNvSpPr>
            <a:spLocks noChangeShapeType="1"/>
          </p:cNvSpPr>
          <p:nvPr/>
        </p:nvSpPr>
        <p:spPr bwMode="auto">
          <a:xfrm flipV="1">
            <a:off x="4787900" y="3933825"/>
            <a:ext cx="0" cy="1439863"/>
          </a:xfrm>
          <a:prstGeom prst="line">
            <a:avLst/>
          </a:prstGeom>
          <a:noFill/>
          <a:ln w="57150">
            <a:solidFill>
              <a:schemeClr val="tx1"/>
            </a:solidFill>
            <a:round/>
            <a:headEnd/>
            <a:tailEnd/>
          </a:ln>
        </p:spPr>
        <p:txBody>
          <a:bodyPr/>
          <a:lstStyle/>
          <a:p>
            <a:endParaRPr lang="es-ES"/>
          </a:p>
        </p:txBody>
      </p:sp>
      <p:sp>
        <p:nvSpPr>
          <p:cNvPr id="2" name="2 Marcador de número de diapositiva">
            <a:extLst>
              <a:ext uri="{FF2B5EF4-FFF2-40B4-BE49-F238E27FC236}">
                <a16:creationId xmlns:a16="http://schemas.microsoft.com/office/drawing/2014/main" id="{F348BA4D-E55B-65DC-5FD4-104748B1D767}"/>
              </a:ext>
            </a:extLst>
          </p:cNvPr>
          <p:cNvSpPr>
            <a:spLocks noGrp="1"/>
          </p:cNvSpPr>
          <p:nvPr>
            <p:ph type="sldNum" sz="quarter" idx="12"/>
          </p:nvPr>
        </p:nvSpPr>
        <p:spPr>
          <a:xfrm>
            <a:off x="8686800" y="6525344"/>
            <a:ext cx="457200" cy="328612"/>
          </a:xfrm>
        </p:spPr>
        <p:txBody>
          <a:bodyPr/>
          <a:lstStyle/>
          <a:p>
            <a:pPr>
              <a:defRPr/>
            </a:pPr>
            <a:fld id="{51035083-A155-4028-8A67-2E61E721E30B}"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Freeform 61"/>
          <p:cNvSpPr>
            <a:spLocks/>
          </p:cNvSpPr>
          <p:nvPr/>
        </p:nvSpPr>
        <p:spPr bwMode="blackWhite">
          <a:xfrm>
            <a:off x="323850" y="2133600"/>
            <a:ext cx="5111750" cy="4032250"/>
          </a:xfrm>
          <a:custGeom>
            <a:avLst/>
            <a:gdLst>
              <a:gd name="T0" fmla="*/ 2147483647 w 3220"/>
              <a:gd name="T1" fmla="*/ 0 h 2540"/>
              <a:gd name="T2" fmla="*/ 2147483647 w 3220"/>
              <a:gd name="T3" fmla="*/ 0 h 2540"/>
              <a:gd name="T4" fmla="*/ 2147483647 w 3220"/>
              <a:gd name="T5" fmla="*/ 2147483647 h 2540"/>
              <a:gd name="T6" fmla="*/ 2147483647 w 3220"/>
              <a:gd name="T7" fmla="*/ 2147483647 h 2540"/>
              <a:gd name="T8" fmla="*/ 2147483647 w 3220"/>
              <a:gd name="T9" fmla="*/ 2147483647 h 2540"/>
              <a:gd name="T10" fmla="*/ 0 w 3220"/>
              <a:gd name="T11" fmla="*/ 2147483647 h 2540"/>
              <a:gd name="T12" fmla="*/ 2147483647 w 3220"/>
              <a:gd name="T13" fmla="*/ 2147483647 h 2540"/>
              <a:gd name="T14" fmla="*/ 2147483647 w 3220"/>
              <a:gd name="T15" fmla="*/ 2147483647 h 2540"/>
              <a:gd name="T16" fmla="*/ 2147483647 w 3220"/>
              <a:gd name="T17" fmla="*/ 2147483647 h 2540"/>
              <a:gd name="T18" fmla="*/ 2147483647 w 3220"/>
              <a:gd name="T19" fmla="*/ 2147483647 h 2540"/>
              <a:gd name="T20" fmla="*/ 2147483647 w 3220"/>
              <a:gd name="T21" fmla="*/ 2147483647 h 2540"/>
              <a:gd name="T22" fmla="*/ 2147483647 w 3220"/>
              <a:gd name="T23" fmla="*/ 0 h 2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20"/>
              <a:gd name="T37" fmla="*/ 0 h 2540"/>
              <a:gd name="T38" fmla="*/ 3220 w 3220"/>
              <a:gd name="T39" fmla="*/ 2540 h 25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20" h="2540">
                <a:moveTo>
                  <a:pt x="91" y="0"/>
                </a:moveTo>
                <a:lnTo>
                  <a:pt x="3220" y="0"/>
                </a:lnTo>
                <a:lnTo>
                  <a:pt x="3220" y="2540"/>
                </a:lnTo>
                <a:lnTo>
                  <a:pt x="91" y="2540"/>
                </a:lnTo>
                <a:lnTo>
                  <a:pt x="181" y="2177"/>
                </a:lnTo>
                <a:lnTo>
                  <a:pt x="0" y="1632"/>
                </a:lnTo>
                <a:lnTo>
                  <a:pt x="136" y="1360"/>
                </a:lnTo>
                <a:lnTo>
                  <a:pt x="181" y="952"/>
                </a:lnTo>
                <a:lnTo>
                  <a:pt x="136" y="680"/>
                </a:lnTo>
                <a:lnTo>
                  <a:pt x="227" y="453"/>
                </a:lnTo>
                <a:cubicBezTo>
                  <a:pt x="220" y="377"/>
                  <a:pt x="114" y="301"/>
                  <a:pt x="91" y="226"/>
                </a:cubicBezTo>
                <a:cubicBezTo>
                  <a:pt x="68" y="151"/>
                  <a:pt x="91" y="47"/>
                  <a:pt x="91" y="0"/>
                </a:cubicBezTo>
                <a:close/>
              </a:path>
            </a:pathLst>
          </a:custGeom>
          <a:solidFill>
            <a:schemeClr val="accent2">
              <a:lumMod val="20000"/>
              <a:lumOff val="80000"/>
            </a:schemeClr>
          </a:solidFill>
          <a:ln w="9525">
            <a:solidFill>
              <a:schemeClr val="bg1">
                <a:lumMod val="95000"/>
              </a:schemeClr>
            </a:solidFill>
            <a:round/>
            <a:headEnd/>
            <a:tailEnd/>
          </a:ln>
          <a:scene3d>
            <a:camera prst="legacyObliqueTopRight"/>
            <a:lightRig rig="legacyFlat3" dir="b"/>
          </a:scene3d>
          <a:sp3d extrusionH="49200" prstMaterial="legacyMetal">
            <a:bevelT w="13500" h="13500" prst="angle"/>
            <a:bevelB w="13500" h="13500" prst="angle"/>
            <a:extrusionClr>
              <a:schemeClr val="folHlink"/>
            </a:extrusionClr>
          </a:sp3d>
        </p:spPr>
        <p:txBody>
          <a:bodyPr lIns="0" tIns="0" rIns="0" bIns="0" anchor="ctr">
            <a:flatTx/>
          </a:bodyPr>
          <a:lstStyle/>
          <a:p>
            <a:endParaRPr lang="es-ES"/>
          </a:p>
        </p:txBody>
      </p:sp>
      <p:sp>
        <p:nvSpPr>
          <p:cNvPr id="36868" name="Rectangle 2"/>
          <p:cNvSpPr>
            <a:spLocks noGrp="1" noChangeArrowheads="1"/>
          </p:cNvSpPr>
          <p:nvPr>
            <p:ph type="title"/>
          </p:nvPr>
        </p:nvSpPr>
        <p:spPr/>
        <p:txBody>
          <a:bodyPr/>
          <a:lstStyle/>
          <a:p>
            <a:r>
              <a:rPr lang="es-ES"/>
              <a:t>Acceso a una palabra de 32 bits</a:t>
            </a:r>
          </a:p>
        </p:txBody>
      </p:sp>
      <p:grpSp>
        <p:nvGrpSpPr>
          <p:cNvPr id="2" name="Group 58"/>
          <p:cNvGrpSpPr>
            <a:grpSpLocks/>
          </p:cNvGrpSpPr>
          <p:nvPr/>
        </p:nvGrpSpPr>
        <p:grpSpPr bwMode="auto">
          <a:xfrm>
            <a:off x="815975" y="2362200"/>
            <a:ext cx="7947025" cy="3581400"/>
            <a:chOff x="514" y="1152"/>
            <a:chExt cx="5006" cy="2256"/>
          </a:xfrm>
        </p:grpSpPr>
        <p:sp>
          <p:nvSpPr>
            <p:cNvPr id="36871" name="Rectangle 4"/>
            <p:cNvSpPr>
              <a:spLocks noChangeArrowheads="1"/>
            </p:cNvSpPr>
            <p:nvPr/>
          </p:nvSpPr>
          <p:spPr bwMode="auto">
            <a:xfrm>
              <a:off x="528" y="1344"/>
              <a:ext cx="1872" cy="240"/>
            </a:xfrm>
            <a:prstGeom prst="rect">
              <a:avLst/>
            </a:prstGeom>
            <a:noFill/>
            <a:ln w="28575">
              <a:solidFill>
                <a:schemeClr val="bg1">
                  <a:lumMod val="95000"/>
                </a:schemeClr>
              </a:solidFill>
              <a:miter lim="800000"/>
              <a:headEnd/>
              <a:tailEnd/>
            </a:ln>
          </p:spPr>
          <p:txBody>
            <a:bodyPr wrap="none" anchor="ctr"/>
            <a:lstStyle/>
            <a:p>
              <a:endParaRPr lang="es-ES"/>
            </a:p>
          </p:txBody>
        </p:sp>
        <p:sp>
          <p:nvSpPr>
            <p:cNvPr id="36872" name="Text Box 6"/>
            <p:cNvSpPr txBox="1">
              <a:spLocks noChangeArrowheads="1"/>
            </p:cNvSpPr>
            <p:nvPr/>
          </p:nvSpPr>
          <p:spPr bwMode="auto">
            <a:xfrm>
              <a:off x="570" y="1296"/>
              <a:ext cx="33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31</a:t>
              </a:r>
              <a:endParaRPr lang="es-ES_tradnl" sz="2400"/>
            </a:p>
          </p:txBody>
        </p:sp>
        <p:sp>
          <p:nvSpPr>
            <p:cNvPr id="36873" name="Text Box 7"/>
            <p:cNvSpPr txBox="1">
              <a:spLocks noChangeArrowheads="1"/>
            </p:cNvSpPr>
            <p:nvPr/>
          </p:nvSpPr>
          <p:spPr bwMode="auto">
            <a:xfrm>
              <a:off x="1444" y="1296"/>
              <a:ext cx="279"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2</a:t>
              </a:r>
              <a:endParaRPr lang="es-ES_tradnl" sz="2400"/>
            </a:p>
          </p:txBody>
        </p:sp>
        <p:sp>
          <p:nvSpPr>
            <p:cNvPr id="36874" name="Text Box 8"/>
            <p:cNvSpPr txBox="1">
              <a:spLocks noChangeArrowheads="1"/>
            </p:cNvSpPr>
            <p:nvPr/>
          </p:nvSpPr>
          <p:spPr bwMode="auto">
            <a:xfrm>
              <a:off x="1021" y="1296"/>
              <a:ext cx="276" cy="288"/>
            </a:xfrm>
            <a:prstGeom prst="rect">
              <a:avLst/>
            </a:prstGeom>
            <a:noFill/>
            <a:ln w="28575">
              <a:noFill/>
              <a:miter lim="800000"/>
              <a:headEnd/>
              <a:tailEnd/>
            </a:ln>
          </p:spPr>
          <p:txBody>
            <a:bodyPr wrap="none" anchor="ctr">
              <a:spAutoFit/>
            </a:bodyPr>
            <a:lstStyle/>
            <a:p>
              <a:pPr>
                <a:spcBef>
                  <a:spcPct val="20000"/>
                </a:spcBef>
              </a:pPr>
              <a:r>
                <a:rPr lang="es-ES_tradnl" sz="2400"/>
                <a:t>...</a:t>
              </a:r>
            </a:p>
          </p:txBody>
        </p:sp>
        <p:sp>
          <p:nvSpPr>
            <p:cNvPr id="36875" name="Line 9"/>
            <p:cNvSpPr>
              <a:spLocks noChangeShapeType="1"/>
            </p:cNvSpPr>
            <p:nvPr/>
          </p:nvSpPr>
          <p:spPr bwMode="auto">
            <a:xfrm>
              <a:off x="1776" y="1344"/>
              <a:ext cx="0" cy="240"/>
            </a:xfrm>
            <a:prstGeom prst="line">
              <a:avLst/>
            </a:prstGeom>
            <a:noFill/>
            <a:ln w="28575">
              <a:solidFill>
                <a:schemeClr val="bg1">
                  <a:lumMod val="95000"/>
                </a:schemeClr>
              </a:solidFill>
              <a:prstDash val="sysDot"/>
              <a:round/>
              <a:headEnd/>
              <a:tailEnd/>
            </a:ln>
          </p:spPr>
          <p:txBody>
            <a:bodyPr wrap="none" anchor="ctr"/>
            <a:lstStyle/>
            <a:p>
              <a:endParaRPr lang="es-ES"/>
            </a:p>
          </p:txBody>
        </p:sp>
        <p:sp>
          <p:nvSpPr>
            <p:cNvPr id="36876" name="Rectangle 10"/>
            <p:cNvSpPr>
              <a:spLocks noChangeArrowheads="1"/>
            </p:cNvSpPr>
            <p:nvPr/>
          </p:nvSpPr>
          <p:spPr bwMode="auto">
            <a:xfrm>
              <a:off x="2832" y="1632"/>
              <a:ext cx="336" cy="288"/>
            </a:xfrm>
            <a:prstGeom prst="rect">
              <a:avLst/>
            </a:prstGeom>
            <a:noFill/>
            <a:ln w="28575">
              <a:solidFill>
                <a:srgbClr val="FFFF00"/>
              </a:solidFill>
              <a:miter lim="800000"/>
              <a:headEnd/>
              <a:tailEnd/>
            </a:ln>
          </p:spPr>
          <p:txBody>
            <a:bodyPr wrap="none" anchor="ctr"/>
            <a:lstStyle/>
            <a:p>
              <a:endParaRPr lang="es-ES"/>
            </a:p>
          </p:txBody>
        </p:sp>
        <p:grpSp>
          <p:nvGrpSpPr>
            <p:cNvPr id="3" name="Group 11"/>
            <p:cNvGrpSpPr>
              <a:grpSpLocks/>
            </p:cNvGrpSpPr>
            <p:nvPr/>
          </p:nvGrpSpPr>
          <p:grpSpPr bwMode="auto">
            <a:xfrm>
              <a:off x="3216" y="2255"/>
              <a:ext cx="1631" cy="864"/>
              <a:chOff x="3167" y="2255"/>
              <a:chExt cx="1680" cy="864"/>
            </a:xfrm>
          </p:grpSpPr>
          <p:sp>
            <p:nvSpPr>
              <p:cNvPr id="36919" name="Line 12"/>
              <p:cNvSpPr>
                <a:spLocks noChangeShapeType="1"/>
              </p:cNvSpPr>
              <p:nvPr/>
            </p:nvSpPr>
            <p:spPr bwMode="auto">
              <a:xfrm rot="5400000">
                <a:off x="4007" y="1415"/>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6920" name="Line 13"/>
              <p:cNvSpPr>
                <a:spLocks noChangeShapeType="1"/>
              </p:cNvSpPr>
              <p:nvPr/>
            </p:nvSpPr>
            <p:spPr bwMode="auto">
              <a:xfrm rot="5400000">
                <a:off x="4007" y="1703"/>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6921" name="Line 14"/>
              <p:cNvSpPr>
                <a:spLocks noChangeShapeType="1"/>
              </p:cNvSpPr>
              <p:nvPr/>
            </p:nvSpPr>
            <p:spPr bwMode="auto">
              <a:xfrm rot="5400000">
                <a:off x="4007" y="1991"/>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6922" name="Line 15"/>
              <p:cNvSpPr>
                <a:spLocks noChangeShapeType="1"/>
              </p:cNvSpPr>
              <p:nvPr/>
            </p:nvSpPr>
            <p:spPr bwMode="auto">
              <a:xfrm rot="5400000">
                <a:off x="4007" y="2279"/>
                <a:ext cx="0" cy="1680"/>
              </a:xfrm>
              <a:prstGeom prst="line">
                <a:avLst/>
              </a:prstGeom>
              <a:noFill/>
              <a:ln w="57150">
                <a:solidFill>
                  <a:schemeClr val="accent5">
                    <a:lumMod val="60000"/>
                    <a:lumOff val="40000"/>
                  </a:schemeClr>
                </a:solidFill>
                <a:round/>
                <a:headEnd type="triangle" w="med" len="med"/>
                <a:tailEnd type="triangle" w="med" len="med"/>
              </a:ln>
            </p:spPr>
            <p:txBody>
              <a:bodyPr wrap="none" anchor="ctr"/>
              <a:lstStyle/>
              <a:p>
                <a:endParaRPr lang="es-ES"/>
              </a:p>
            </p:txBody>
          </p:sp>
        </p:grpSp>
        <p:sp>
          <p:nvSpPr>
            <p:cNvPr id="36878" name="Text Box 16"/>
            <p:cNvSpPr txBox="1">
              <a:spLocks noChangeArrowheads="1"/>
            </p:cNvSpPr>
            <p:nvPr/>
          </p:nvSpPr>
          <p:spPr bwMode="auto">
            <a:xfrm>
              <a:off x="3546" y="1248"/>
              <a:ext cx="294" cy="250"/>
            </a:xfrm>
            <a:prstGeom prst="rect">
              <a:avLst/>
            </a:prstGeom>
            <a:noFill/>
            <a:ln w="28575">
              <a:noFill/>
              <a:miter lim="800000"/>
              <a:headEnd/>
              <a:tailEnd/>
            </a:ln>
          </p:spPr>
          <p:txBody>
            <a:bodyPr wrap="none" anchor="ctr">
              <a:spAutoFit/>
            </a:bodyPr>
            <a:lstStyle/>
            <a:p>
              <a:pPr>
                <a:spcBef>
                  <a:spcPct val="20000"/>
                </a:spcBef>
              </a:pPr>
              <a:r>
                <a:rPr lang="es-ES_tradnl"/>
                <a:t>30</a:t>
              </a:r>
            </a:p>
          </p:txBody>
        </p:sp>
        <p:grpSp>
          <p:nvGrpSpPr>
            <p:cNvPr id="4" name="Group 17"/>
            <p:cNvGrpSpPr>
              <a:grpSpLocks/>
            </p:cNvGrpSpPr>
            <p:nvPr/>
          </p:nvGrpSpPr>
          <p:grpSpPr bwMode="auto">
            <a:xfrm>
              <a:off x="3888" y="1488"/>
              <a:ext cx="864" cy="288"/>
              <a:chOff x="3360" y="1968"/>
              <a:chExt cx="864" cy="288"/>
            </a:xfrm>
          </p:grpSpPr>
          <p:grpSp>
            <p:nvGrpSpPr>
              <p:cNvPr id="5" name="Group 18"/>
              <p:cNvGrpSpPr>
                <a:grpSpLocks/>
              </p:cNvGrpSpPr>
              <p:nvPr/>
            </p:nvGrpSpPr>
            <p:grpSpPr bwMode="auto">
              <a:xfrm>
                <a:off x="3840" y="1968"/>
                <a:ext cx="384" cy="288"/>
                <a:chOff x="3792" y="1968"/>
                <a:chExt cx="384" cy="288"/>
              </a:xfrm>
            </p:grpSpPr>
            <p:sp>
              <p:nvSpPr>
                <p:cNvPr id="36917" name="Text Box 19"/>
                <p:cNvSpPr txBox="1">
                  <a:spLocks noChangeArrowheads="1"/>
                </p:cNvSpPr>
                <p:nvPr/>
              </p:nvSpPr>
              <p:spPr bwMode="auto">
                <a:xfrm>
                  <a:off x="3792" y="1968"/>
                  <a:ext cx="384"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BE</a:t>
                  </a:r>
                  <a:r>
                    <a:rPr lang="es-ES_tradnl" sz="2400" b="1" baseline="-25000">
                      <a:latin typeface="Arial Narrow" pitchFamily="34" charset="0"/>
                    </a:rPr>
                    <a:t>0</a:t>
                  </a:r>
                  <a:endParaRPr lang="es-ES_tradnl" sz="2400"/>
                </a:p>
              </p:txBody>
            </p:sp>
            <p:sp>
              <p:nvSpPr>
                <p:cNvPr id="36918" name="Line 20"/>
                <p:cNvSpPr>
                  <a:spLocks noChangeShapeType="1"/>
                </p:cNvSpPr>
                <p:nvPr/>
              </p:nvSpPr>
              <p:spPr bwMode="auto">
                <a:xfrm>
                  <a:off x="3861" y="2016"/>
                  <a:ext cx="192" cy="0"/>
                </a:xfrm>
                <a:prstGeom prst="line">
                  <a:avLst/>
                </a:prstGeom>
                <a:noFill/>
                <a:ln w="19050">
                  <a:solidFill>
                    <a:schemeClr val="tx1"/>
                  </a:solidFill>
                  <a:round/>
                  <a:headEnd/>
                  <a:tailEnd/>
                </a:ln>
              </p:spPr>
              <p:txBody>
                <a:bodyPr wrap="none" anchor="ctr"/>
                <a:lstStyle/>
                <a:p>
                  <a:endParaRPr lang="es-ES"/>
                </a:p>
              </p:txBody>
            </p:sp>
          </p:grpSp>
          <p:grpSp>
            <p:nvGrpSpPr>
              <p:cNvPr id="6" name="Group 21"/>
              <p:cNvGrpSpPr>
                <a:grpSpLocks/>
              </p:cNvGrpSpPr>
              <p:nvPr/>
            </p:nvGrpSpPr>
            <p:grpSpPr bwMode="auto">
              <a:xfrm>
                <a:off x="3360" y="1968"/>
                <a:ext cx="384" cy="288"/>
                <a:chOff x="3792" y="1968"/>
                <a:chExt cx="384" cy="288"/>
              </a:xfrm>
            </p:grpSpPr>
            <p:sp>
              <p:nvSpPr>
                <p:cNvPr id="36915" name="Text Box 22"/>
                <p:cNvSpPr txBox="1">
                  <a:spLocks noChangeArrowheads="1"/>
                </p:cNvSpPr>
                <p:nvPr/>
              </p:nvSpPr>
              <p:spPr bwMode="auto">
                <a:xfrm>
                  <a:off x="3792" y="1968"/>
                  <a:ext cx="384"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BE</a:t>
                  </a:r>
                  <a:r>
                    <a:rPr lang="es-ES_tradnl" sz="2400" b="1" baseline="-25000">
                      <a:latin typeface="Arial Narrow" pitchFamily="34" charset="0"/>
                    </a:rPr>
                    <a:t>3</a:t>
                  </a:r>
                  <a:endParaRPr lang="es-ES_tradnl" sz="2400"/>
                </a:p>
              </p:txBody>
            </p:sp>
            <p:sp>
              <p:nvSpPr>
                <p:cNvPr id="36916" name="Line 23"/>
                <p:cNvSpPr>
                  <a:spLocks noChangeShapeType="1"/>
                </p:cNvSpPr>
                <p:nvPr/>
              </p:nvSpPr>
              <p:spPr bwMode="auto">
                <a:xfrm>
                  <a:off x="3861" y="2016"/>
                  <a:ext cx="192" cy="0"/>
                </a:xfrm>
                <a:prstGeom prst="line">
                  <a:avLst/>
                </a:prstGeom>
                <a:noFill/>
                <a:ln w="19050">
                  <a:solidFill>
                    <a:schemeClr val="tx1"/>
                  </a:solidFill>
                  <a:round/>
                  <a:headEnd/>
                  <a:tailEnd/>
                </a:ln>
              </p:spPr>
              <p:txBody>
                <a:bodyPr wrap="none" anchor="ctr"/>
                <a:lstStyle/>
                <a:p>
                  <a:endParaRPr lang="es-ES"/>
                </a:p>
              </p:txBody>
            </p:sp>
          </p:grpSp>
          <p:sp>
            <p:nvSpPr>
              <p:cNvPr id="36914" name="Text Box 24"/>
              <p:cNvSpPr txBox="1">
                <a:spLocks noChangeArrowheads="1"/>
              </p:cNvSpPr>
              <p:nvPr/>
            </p:nvSpPr>
            <p:spPr bwMode="auto">
              <a:xfrm>
                <a:off x="3662" y="1968"/>
                <a:ext cx="247"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t>
                </a:r>
              </a:p>
            </p:txBody>
          </p:sp>
        </p:grpSp>
        <p:sp>
          <p:nvSpPr>
            <p:cNvPr id="36880" name="Line 25"/>
            <p:cNvSpPr>
              <a:spLocks noChangeShapeType="1"/>
            </p:cNvSpPr>
            <p:nvPr/>
          </p:nvSpPr>
          <p:spPr bwMode="auto">
            <a:xfrm flipH="1">
              <a:off x="3757" y="1680"/>
              <a:ext cx="96" cy="192"/>
            </a:xfrm>
            <a:prstGeom prst="line">
              <a:avLst/>
            </a:prstGeom>
            <a:noFill/>
            <a:ln w="19050">
              <a:solidFill>
                <a:srgbClr val="92D050"/>
              </a:solidFill>
              <a:round/>
              <a:headEnd/>
              <a:tailEnd/>
            </a:ln>
          </p:spPr>
          <p:txBody>
            <a:bodyPr wrap="none" anchor="ctr"/>
            <a:lstStyle/>
            <a:p>
              <a:endParaRPr lang="es-ES"/>
            </a:p>
          </p:txBody>
        </p:sp>
        <p:sp>
          <p:nvSpPr>
            <p:cNvPr id="36881" name="Text Box 26"/>
            <p:cNvSpPr txBox="1">
              <a:spLocks noChangeArrowheads="1"/>
            </p:cNvSpPr>
            <p:nvPr/>
          </p:nvSpPr>
          <p:spPr bwMode="auto">
            <a:xfrm>
              <a:off x="3600" y="1574"/>
              <a:ext cx="205" cy="250"/>
            </a:xfrm>
            <a:prstGeom prst="rect">
              <a:avLst/>
            </a:prstGeom>
            <a:noFill/>
            <a:ln w="28575">
              <a:noFill/>
              <a:miter lim="800000"/>
              <a:headEnd/>
              <a:tailEnd/>
            </a:ln>
          </p:spPr>
          <p:txBody>
            <a:bodyPr wrap="none" anchor="ctr">
              <a:spAutoFit/>
            </a:bodyPr>
            <a:lstStyle/>
            <a:p>
              <a:pPr>
                <a:spcBef>
                  <a:spcPct val="20000"/>
                </a:spcBef>
              </a:pPr>
              <a:r>
                <a:rPr lang="es-ES_tradnl"/>
                <a:t>4</a:t>
              </a:r>
            </a:p>
          </p:txBody>
        </p:sp>
        <p:sp>
          <p:nvSpPr>
            <p:cNvPr id="36882" name="Rectangle 27"/>
            <p:cNvSpPr>
              <a:spLocks noChangeArrowheads="1"/>
            </p:cNvSpPr>
            <p:nvPr/>
          </p:nvSpPr>
          <p:spPr bwMode="auto">
            <a:xfrm>
              <a:off x="4848" y="1344"/>
              <a:ext cx="672" cy="2016"/>
            </a:xfrm>
            <a:prstGeom prst="rect">
              <a:avLst/>
            </a:prstGeom>
            <a:noFill/>
            <a:ln w="57150">
              <a:solidFill>
                <a:schemeClr val="accent5">
                  <a:lumMod val="75000"/>
                </a:schemeClr>
              </a:solidFill>
              <a:miter lim="800000"/>
              <a:headEnd/>
              <a:tailEnd/>
            </a:ln>
          </p:spPr>
          <p:txBody>
            <a:bodyPr wrap="none" anchor="ctr"/>
            <a:lstStyle/>
            <a:p>
              <a:pPr>
                <a:spcBef>
                  <a:spcPct val="20000"/>
                </a:spcBef>
              </a:pPr>
              <a:r>
                <a:rPr lang="es-ES_tradnl" sz="2400"/>
                <a:t>MP</a:t>
              </a:r>
            </a:p>
          </p:txBody>
        </p:sp>
        <p:sp>
          <p:nvSpPr>
            <p:cNvPr id="36883" name="Line 28"/>
            <p:cNvSpPr>
              <a:spLocks noChangeShapeType="1"/>
            </p:cNvSpPr>
            <p:nvPr/>
          </p:nvSpPr>
          <p:spPr bwMode="auto">
            <a:xfrm flipH="1">
              <a:off x="1542" y="2736"/>
              <a:ext cx="192" cy="48"/>
            </a:xfrm>
            <a:prstGeom prst="line">
              <a:avLst/>
            </a:prstGeom>
            <a:noFill/>
            <a:ln w="19050">
              <a:solidFill>
                <a:schemeClr val="bg1">
                  <a:lumMod val="95000"/>
                </a:schemeClr>
              </a:solidFill>
              <a:round/>
              <a:headEnd/>
              <a:tailEnd/>
            </a:ln>
          </p:spPr>
          <p:txBody>
            <a:bodyPr wrap="none" anchor="ctr"/>
            <a:lstStyle/>
            <a:p>
              <a:endParaRPr lang="es-ES"/>
            </a:p>
          </p:txBody>
        </p:sp>
        <p:sp>
          <p:nvSpPr>
            <p:cNvPr id="36884" name="Text Box 29"/>
            <p:cNvSpPr txBox="1">
              <a:spLocks noChangeArrowheads="1"/>
            </p:cNvSpPr>
            <p:nvPr/>
          </p:nvSpPr>
          <p:spPr bwMode="auto">
            <a:xfrm>
              <a:off x="1296" y="2640"/>
              <a:ext cx="294" cy="250"/>
            </a:xfrm>
            <a:prstGeom prst="rect">
              <a:avLst/>
            </a:prstGeom>
            <a:noFill/>
            <a:ln w="28575">
              <a:noFill/>
              <a:miter lim="800000"/>
              <a:headEnd/>
              <a:tailEnd/>
            </a:ln>
          </p:spPr>
          <p:txBody>
            <a:bodyPr wrap="none" anchor="ctr">
              <a:spAutoFit/>
            </a:bodyPr>
            <a:lstStyle/>
            <a:p>
              <a:pPr>
                <a:spcBef>
                  <a:spcPct val="20000"/>
                </a:spcBef>
              </a:pPr>
              <a:r>
                <a:rPr lang="es-ES_tradnl"/>
                <a:t>32</a:t>
              </a:r>
            </a:p>
          </p:txBody>
        </p:sp>
        <p:sp>
          <p:nvSpPr>
            <p:cNvPr id="36885" name="Text Box 30"/>
            <p:cNvSpPr txBox="1">
              <a:spLocks noChangeArrowheads="1"/>
            </p:cNvSpPr>
            <p:nvPr/>
          </p:nvSpPr>
          <p:spPr bwMode="auto">
            <a:xfrm>
              <a:off x="3888" y="1200"/>
              <a:ext cx="632"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31</a:t>
              </a:r>
              <a:r>
                <a:rPr lang="es-ES_tradnl" sz="2400">
                  <a:latin typeface="Arial Narrow" pitchFamily="34" charset="0"/>
                </a:rPr>
                <a:t>...A</a:t>
              </a:r>
              <a:r>
                <a:rPr lang="es-ES_tradnl" sz="2400" b="1" baseline="-25000">
                  <a:latin typeface="Arial Narrow" pitchFamily="34" charset="0"/>
                </a:rPr>
                <a:t>2</a:t>
              </a:r>
              <a:endParaRPr lang="es-ES_tradnl" sz="2400">
                <a:latin typeface="Arial Narrow" pitchFamily="34" charset="0"/>
              </a:endParaRPr>
            </a:p>
          </p:txBody>
        </p:sp>
        <p:grpSp>
          <p:nvGrpSpPr>
            <p:cNvPr id="7" name="Group 31"/>
            <p:cNvGrpSpPr>
              <a:grpSpLocks/>
            </p:cNvGrpSpPr>
            <p:nvPr/>
          </p:nvGrpSpPr>
          <p:grpSpPr bwMode="auto">
            <a:xfrm>
              <a:off x="2832" y="1968"/>
              <a:ext cx="336" cy="1392"/>
              <a:chOff x="2448" y="2016"/>
              <a:chExt cx="384" cy="1440"/>
            </a:xfrm>
          </p:grpSpPr>
          <p:sp>
            <p:nvSpPr>
              <p:cNvPr id="36910" name="Rectangle 32"/>
              <p:cNvSpPr>
                <a:spLocks noChangeArrowheads="1"/>
              </p:cNvSpPr>
              <p:nvPr/>
            </p:nvSpPr>
            <p:spPr bwMode="auto">
              <a:xfrm>
                <a:off x="2448" y="2016"/>
                <a:ext cx="384" cy="1440"/>
              </a:xfrm>
              <a:prstGeom prst="rect">
                <a:avLst/>
              </a:prstGeom>
              <a:noFill/>
              <a:ln w="28575">
                <a:solidFill>
                  <a:srgbClr val="FFFF00"/>
                </a:solidFill>
                <a:miter lim="800000"/>
                <a:headEnd/>
                <a:tailEnd/>
              </a:ln>
            </p:spPr>
            <p:txBody>
              <a:bodyPr wrap="none" anchor="ctr"/>
              <a:lstStyle/>
              <a:p>
                <a:endParaRPr lang="es-ES"/>
              </a:p>
            </p:txBody>
          </p:sp>
          <p:sp>
            <p:nvSpPr>
              <p:cNvPr id="36911" name="Text Box 33"/>
              <p:cNvSpPr txBox="1">
                <a:spLocks noChangeArrowheads="1"/>
              </p:cNvSpPr>
              <p:nvPr/>
            </p:nvSpPr>
            <p:spPr bwMode="auto">
              <a:xfrm rot="-5400000">
                <a:off x="2459" y="2569"/>
                <a:ext cx="358" cy="329"/>
              </a:xfrm>
              <a:prstGeom prst="rect">
                <a:avLst/>
              </a:prstGeom>
              <a:noFill/>
              <a:ln w="28575">
                <a:noFill/>
                <a:miter lim="800000"/>
                <a:headEnd/>
                <a:tailEnd/>
              </a:ln>
            </p:spPr>
            <p:txBody>
              <a:bodyPr vert="eaVert" anchor="ctr">
                <a:spAutoFit/>
              </a:bodyPr>
              <a:lstStyle/>
              <a:p>
                <a:pPr>
                  <a:spcBef>
                    <a:spcPct val="20000"/>
                  </a:spcBef>
                </a:pPr>
                <a:endParaRPr lang="es-ES_tradnl" sz="2400"/>
              </a:p>
            </p:txBody>
          </p:sp>
        </p:grpSp>
        <p:sp>
          <p:nvSpPr>
            <p:cNvPr id="36887" name="Text Box 34"/>
            <p:cNvSpPr txBox="1">
              <a:spLocks noChangeArrowheads="1"/>
            </p:cNvSpPr>
            <p:nvPr/>
          </p:nvSpPr>
          <p:spPr bwMode="auto">
            <a:xfrm>
              <a:off x="3888" y="1958"/>
              <a:ext cx="70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31</a:t>
              </a:r>
              <a:r>
                <a:rPr lang="es-ES_tradnl" sz="2400">
                  <a:latin typeface="Arial Narrow" pitchFamily="34" charset="0"/>
                </a:rPr>
                <a:t>...D</a:t>
              </a:r>
              <a:r>
                <a:rPr lang="es-ES_tradnl" sz="2400" b="1" baseline="-25000">
                  <a:latin typeface="Arial Narrow" pitchFamily="34" charset="0"/>
                </a:rPr>
                <a:t>24</a:t>
              </a:r>
              <a:endParaRPr lang="es-ES_tradnl" sz="2400">
                <a:latin typeface="Arial Narrow" pitchFamily="34" charset="0"/>
              </a:endParaRPr>
            </a:p>
          </p:txBody>
        </p:sp>
        <p:sp>
          <p:nvSpPr>
            <p:cNvPr id="36888" name="Text Box 35"/>
            <p:cNvSpPr txBox="1">
              <a:spLocks noChangeArrowheads="1"/>
            </p:cNvSpPr>
            <p:nvPr/>
          </p:nvSpPr>
          <p:spPr bwMode="auto">
            <a:xfrm>
              <a:off x="3888" y="2256"/>
              <a:ext cx="70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23</a:t>
              </a:r>
              <a:r>
                <a:rPr lang="es-ES_tradnl" sz="2400">
                  <a:latin typeface="Arial Narrow" pitchFamily="34" charset="0"/>
                </a:rPr>
                <a:t>...D</a:t>
              </a:r>
              <a:r>
                <a:rPr lang="es-ES_tradnl" sz="2400" b="1" baseline="-25000">
                  <a:latin typeface="Arial Narrow" pitchFamily="34" charset="0"/>
                </a:rPr>
                <a:t>16</a:t>
              </a:r>
              <a:endParaRPr lang="es-ES_tradnl" sz="2400">
                <a:latin typeface="Arial Narrow" pitchFamily="34" charset="0"/>
              </a:endParaRPr>
            </a:p>
          </p:txBody>
        </p:sp>
        <p:sp>
          <p:nvSpPr>
            <p:cNvPr id="36889" name="Text Box 36"/>
            <p:cNvSpPr txBox="1">
              <a:spLocks noChangeArrowheads="1"/>
            </p:cNvSpPr>
            <p:nvPr/>
          </p:nvSpPr>
          <p:spPr bwMode="auto">
            <a:xfrm>
              <a:off x="3888" y="2544"/>
              <a:ext cx="650"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15</a:t>
              </a:r>
              <a:r>
                <a:rPr lang="es-ES_tradnl" sz="2400">
                  <a:latin typeface="Arial Narrow" pitchFamily="34" charset="0"/>
                </a:rPr>
                <a:t>...D</a:t>
              </a:r>
              <a:r>
                <a:rPr lang="es-ES_tradnl" sz="2400" b="1" baseline="-25000">
                  <a:latin typeface="Arial Narrow" pitchFamily="34" charset="0"/>
                </a:rPr>
                <a:t>8</a:t>
              </a:r>
              <a:endParaRPr lang="es-ES_tradnl" sz="2400">
                <a:latin typeface="Arial Narrow" pitchFamily="34" charset="0"/>
              </a:endParaRPr>
            </a:p>
          </p:txBody>
        </p:sp>
        <p:sp>
          <p:nvSpPr>
            <p:cNvPr id="36890" name="Text Box 37"/>
            <p:cNvSpPr txBox="1">
              <a:spLocks noChangeArrowheads="1"/>
            </p:cNvSpPr>
            <p:nvPr/>
          </p:nvSpPr>
          <p:spPr bwMode="auto">
            <a:xfrm>
              <a:off x="3889" y="2832"/>
              <a:ext cx="591"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7</a:t>
              </a:r>
              <a:r>
                <a:rPr lang="es-ES_tradnl" sz="2400">
                  <a:latin typeface="Arial Narrow" pitchFamily="34" charset="0"/>
                </a:rPr>
                <a:t>...D</a:t>
              </a:r>
              <a:r>
                <a:rPr lang="es-ES_tradnl" sz="2400" b="1" baseline="-25000">
                  <a:latin typeface="Arial Narrow" pitchFamily="34" charset="0"/>
                </a:rPr>
                <a:t>0</a:t>
              </a:r>
              <a:endParaRPr lang="es-ES_tradnl" sz="2400">
                <a:latin typeface="Arial Narrow" pitchFamily="34" charset="0"/>
              </a:endParaRPr>
            </a:p>
          </p:txBody>
        </p:sp>
        <p:sp>
          <p:nvSpPr>
            <p:cNvPr id="36891" name="Line 39"/>
            <p:cNvSpPr>
              <a:spLocks noChangeShapeType="1"/>
            </p:cNvSpPr>
            <p:nvPr/>
          </p:nvSpPr>
          <p:spPr bwMode="auto">
            <a:xfrm flipV="1">
              <a:off x="3216" y="1776"/>
              <a:ext cx="1632" cy="0"/>
            </a:xfrm>
            <a:prstGeom prst="line">
              <a:avLst/>
            </a:prstGeom>
            <a:noFill/>
            <a:ln w="28575">
              <a:solidFill>
                <a:srgbClr val="00FF66"/>
              </a:solidFill>
              <a:round/>
              <a:headEnd/>
              <a:tailEnd type="triangle" w="med" len="med"/>
            </a:ln>
          </p:spPr>
          <p:txBody>
            <a:bodyPr wrap="none" anchor="ctr"/>
            <a:lstStyle/>
            <a:p>
              <a:endParaRPr lang="es-ES"/>
            </a:p>
          </p:txBody>
        </p:sp>
        <p:sp>
          <p:nvSpPr>
            <p:cNvPr id="36892" name="Freeform 40"/>
            <p:cNvSpPr>
              <a:spLocks/>
            </p:cNvSpPr>
            <p:nvPr/>
          </p:nvSpPr>
          <p:spPr bwMode="auto">
            <a:xfrm>
              <a:off x="1632" y="2640"/>
              <a:ext cx="1152" cy="384"/>
            </a:xfrm>
            <a:custGeom>
              <a:avLst/>
              <a:gdLst>
                <a:gd name="T0" fmla="*/ 0 w 192"/>
                <a:gd name="T1" fmla="*/ 2 h 912"/>
                <a:gd name="T2" fmla="*/ 0 w 192"/>
                <a:gd name="T3" fmla="*/ 0 h 912"/>
                <a:gd name="T4" fmla="*/ 53747719 w 192"/>
                <a:gd name="T5" fmla="*/ 0 h 912"/>
                <a:gd name="T6" fmla="*/ 0 60000 65536"/>
                <a:gd name="T7" fmla="*/ 0 60000 65536"/>
                <a:gd name="T8" fmla="*/ 0 60000 65536"/>
                <a:gd name="T9" fmla="*/ 0 w 192"/>
                <a:gd name="T10" fmla="*/ 0 h 912"/>
                <a:gd name="T11" fmla="*/ 192 w 192"/>
                <a:gd name="T12" fmla="*/ 912 h 912"/>
              </a:gdLst>
              <a:ahLst/>
              <a:cxnLst>
                <a:cxn ang="T6">
                  <a:pos x="T0" y="T1"/>
                </a:cxn>
                <a:cxn ang="T7">
                  <a:pos x="T2" y="T3"/>
                </a:cxn>
                <a:cxn ang="T8">
                  <a:pos x="T4" y="T5"/>
                </a:cxn>
              </a:cxnLst>
              <a:rect l="T9" t="T10" r="T11" b="T12"/>
              <a:pathLst>
                <a:path w="192" h="912">
                  <a:moveTo>
                    <a:pt x="0" y="912"/>
                  </a:moveTo>
                  <a:lnTo>
                    <a:pt x="0" y="0"/>
                  </a:lnTo>
                  <a:lnTo>
                    <a:pt x="192" y="0"/>
                  </a:lnTo>
                </a:path>
              </a:pathLst>
            </a:custGeom>
            <a:noFill/>
            <a:ln w="57150">
              <a:solidFill>
                <a:schemeClr val="bg1">
                  <a:lumMod val="95000"/>
                </a:schemeClr>
              </a:solidFill>
              <a:round/>
              <a:headEnd type="triangle" w="med" len="med"/>
              <a:tailEnd type="triangle" w="med" len="med"/>
            </a:ln>
          </p:spPr>
          <p:txBody>
            <a:bodyPr wrap="none" anchor="ctr"/>
            <a:lstStyle/>
            <a:p>
              <a:endParaRPr lang="es-ES"/>
            </a:p>
          </p:txBody>
        </p:sp>
        <p:sp>
          <p:nvSpPr>
            <p:cNvPr id="36893" name="Freeform 41"/>
            <p:cNvSpPr>
              <a:spLocks/>
            </p:cNvSpPr>
            <p:nvPr/>
          </p:nvSpPr>
          <p:spPr bwMode="auto">
            <a:xfrm>
              <a:off x="1152" y="1152"/>
              <a:ext cx="3696" cy="336"/>
            </a:xfrm>
            <a:custGeom>
              <a:avLst/>
              <a:gdLst>
                <a:gd name="T0" fmla="*/ 0 w 3696"/>
                <a:gd name="T1" fmla="*/ 192 h 336"/>
                <a:gd name="T2" fmla="*/ 0 w 3696"/>
                <a:gd name="T3" fmla="*/ 0 h 336"/>
                <a:gd name="T4" fmla="*/ 2160 w 3696"/>
                <a:gd name="T5" fmla="*/ 0 h 336"/>
                <a:gd name="T6" fmla="*/ 2160 w 3696"/>
                <a:gd name="T7" fmla="*/ 336 h 336"/>
                <a:gd name="T8" fmla="*/ 3696 w 3696"/>
                <a:gd name="T9" fmla="*/ 336 h 336"/>
                <a:gd name="T10" fmla="*/ 0 60000 65536"/>
                <a:gd name="T11" fmla="*/ 0 60000 65536"/>
                <a:gd name="T12" fmla="*/ 0 60000 65536"/>
                <a:gd name="T13" fmla="*/ 0 60000 65536"/>
                <a:gd name="T14" fmla="*/ 0 60000 65536"/>
                <a:gd name="T15" fmla="*/ 0 w 3696"/>
                <a:gd name="T16" fmla="*/ 0 h 336"/>
                <a:gd name="T17" fmla="*/ 3696 w 3696"/>
                <a:gd name="T18" fmla="*/ 336 h 336"/>
              </a:gdLst>
              <a:ahLst/>
              <a:cxnLst>
                <a:cxn ang="T10">
                  <a:pos x="T0" y="T1"/>
                </a:cxn>
                <a:cxn ang="T11">
                  <a:pos x="T2" y="T3"/>
                </a:cxn>
                <a:cxn ang="T12">
                  <a:pos x="T4" y="T5"/>
                </a:cxn>
                <a:cxn ang="T13">
                  <a:pos x="T6" y="T7"/>
                </a:cxn>
                <a:cxn ang="T14">
                  <a:pos x="T8" y="T9"/>
                </a:cxn>
              </a:cxnLst>
              <a:rect l="T15" t="T16" r="T17" b="T18"/>
              <a:pathLst>
                <a:path w="3696" h="336">
                  <a:moveTo>
                    <a:pt x="0" y="192"/>
                  </a:moveTo>
                  <a:lnTo>
                    <a:pt x="0" y="0"/>
                  </a:lnTo>
                  <a:lnTo>
                    <a:pt x="2160" y="0"/>
                  </a:lnTo>
                  <a:lnTo>
                    <a:pt x="2160" y="336"/>
                  </a:lnTo>
                  <a:lnTo>
                    <a:pt x="3696" y="336"/>
                  </a:lnTo>
                </a:path>
              </a:pathLst>
            </a:custGeom>
            <a:noFill/>
            <a:ln w="57150">
              <a:solidFill>
                <a:srgbClr val="00FF66"/>
              </a:solidFill>
              <a:round/>
              <a:headEnd/>
              <a:tailEnd type="triangle" w="med" len="med"/>
            </a:ln>
          </p:spPr>
          <p:txBody>
            <a:bodyPr wrap="none" anchor="ctr"/>
            <a:lstStyle/>
            <a:p>
              <a:endParaRPr lang="es-ES"/>
            </a:p>
          </p:txBody>
        </p:sp>
        <p:sp>
          <p:nvSpPr>
            <p:cNvPr id="36894" name="Line 42"/>
            <p:cNvSpPr>
              <a:spLocks noChangeShapeType="1"/>
            </p:cNvSpPr>
            <p:nvPr/>
          </p:nvSpPr>
          <p:spPr bwMode="auto">
            <a:xfrm flipH="1">
              <a:off x="3757" y="1344"/>
              <a:ext cx="96" cy="192"/>
            </a:xfrm>
            <a:prstGeom prst="line">
              <a:avLst/>
            </a:prstGeom>
            <a:noFill/>
            <a:ln w="19050">
              <a:solidFill>
                <a:srgbClr val="92D050"/>
              </a:solidFill>
              <a:round/>
              <a:headEnd/>
              <a:tailEnd/>
            </a:ln>
          </p:spPr>
          <p:txBody>
            <a:bodyPr wrap="none" anchor="ctr"/>
            <a:lstStyle/>
            <a:p>
              <a:endParaRPr lang="es-ES"/>
            </a:p>
          </p:txBody>
        </p:sp>
        <p:sp>
          <p:nvSpPr>
            <p:cNvPr id="36895" name="Rectangle 43"/>
            <p:cNvSpPr>
              <a:spLocks noChangeArrowheads="1"/>
            </p:cNvSpPr>
            <p:nvPr/>
          </p:nvSpPr>
          <p:spPr bwMode="auto">
            <a:xfrm>
              <a:off x="528" y="3024"/>
              <a:ext cx="1872" cy="240"/>
            </a:xfrm>
            <a:prstGeom prst="rect">
              <a:avLst/>
            </a:prstGeom>
            <a:noFill/>
            <a:ln w="28575">
              <a:solidFill>
                <a:schemeClr val="bg1">
                  <a:lumMod val="95000"/>
                </a:schemeClr>
              </a:solidFill>
              <a:miter lim="800000"/>
              <a:headEnd/>
              <a:tailEnd/>
            </a:ln>
          </p:spPr>
          <p:txBody>
            <a:bodyPr wrap="none" anchor="ctr"/>
            <a:lstStyle/>
            <a:p>
              <a:endParaRPr lang="es-ES"/>
            </a:p>
          </p:txBody>
        </p:sp>
        <p:sp>
          <p:nvSpPr>
            <p:cNvPr id="36896" name="Line 44"/>
            <p:cNvSpPr>
              <a:spLocks noChangeShapeType="1"/>
            </p:cNvSpPr>
            <p:nvPr/>
          </p:nvSpPr>
          <p:spPr bwMode="auto">
            <a:xfrm flipH="1">
              <a:off x="3757" y="2160"/>
              <a:ext cx="96" cy="192"/>
            </a:xfrm>
            <a:prstGeom prst="line">
              <a:avLst/>
            </a:prstGeom>
            <a:noFill/>
            <a:ln w="19050">
              <a:solidFill>
                <a:schemeClr val="accent5">
                  <a:lumMod val="60000"/>
                  <a:lumOff val="40000"/>
                </a:schemeClr>
              </a:solidFill>
              <a:round/>
              <a:headEnd/>
              <a:tailEnd/>
            </a:ln>
          </p:spPr>
          <p:txBody>
            <a:bodyPr wrap="none" anchor="ctr"/>
            <a:lstStyle/>
            <a:p>
              <a:endParaRPr lang="es-ES"/>
            </a:p>
          </p:txBody>
        </p:sp>
        <p:sp>
          <p:nvSpPr>
            <p:cNvPr id="36897" name="Line 45"/>
            <p:cNvSpPr>
              <a:spLocks noChangeShapeType="1"/>
            </p:cNvSpPr>
            <p:nvPr/>
          </p:nvSpPr>
          <p:spPr bwMode="auto">
            <a:xfrm flipH="1">
              <a:off x="3757" y="2448"/>
              <a:ext cx="96" cy="192"/>
            </a:xfrm>
            <a:prstGeom prst="line">
              <a:avLst/>
            </a:prstGeom>
            <a:noFill/>
            <a:ln w="19050">
              <a:solidFill>
                <a:schemeClr val="accent5">
                  <a:lumMod val="60000"/>
                  <a:lumOff val="40000"/>
                </a:schemeClr>
              </a:solidFill>
              <a:round/>
              <a:headEnd/>
              <a:tailEnd/>
            </a:ln>
          </p:spPr>
          <p:txBody>
            <a:bodyPr wrap="none" anchor="ctr"/>
            <a:lstStyle/>
            <a:p>
              <a:endParaRPr lang="es-ES"/>
            </a:p>
          </p:txBody>
        </p:sp>
        <p:sp>
          <p:nvSpPr>
            <p:cNvPr id="36898" name="Line 46"/>
            <p:cNvSpPr>
              <a:spLocks noChangeShapeType="1"/>
            </p:cNvSpPr>
            <p:nvPr/>
          </p:nvSpPr>
          <p:spPr bwMode="auto">
            <a:xfrm flipH="1">
              <a:off x="3757" y="2736"/>
              <a:ext cx="96" cy="192"/>
            </a:xfrm>
            <a:prstGeom prst="line">
              <a:avLst/>
            </a:prstGeom>
            <a:noFill/>
            <a:ln w="19050">
              <a:solidFill>
                <a:schemeClr val="accent5">
                  <a:lumMod val="60000"/>
                  <a:lumOff val="40000"/>
                </a:schemeClr>
              </a:solidFill>
              <a:round/>
              <a:headEnd/>
              <a:tailEnd/>
            </a:ln>
          </p:spPr>
          <p:txBody>
            <a:bodyPr wrap="none" anchor="ctr"/>
            <a:lstStyle/>
            <a:p>
              <a:endParaRPr lang="es-ES"/>
            </a:p>
          </p:txBody>
        </p:sp>
        <p:sp>
          <p:nvSpPr>
            <p:cNvPr id="36899" name="Line 47"/>
            <p:cNvSpPr>
              <a:spLocks noChangeShapeType="1"/>
            </p:cNvSpPr>
            <p:nvPr/>
          </p:nvSpPr>
          <p:spPr bwMode="auto">
            <a:xfrm flipH="1">
              <a:off x="3757" y="3024"/>
              <a:ext cx="96" cy="192"/>
            </a:xfrm>
            <a:prstGeom prst="line">
              <a:avLst/>
            </a:prstGeom>
            <a:noFill/>
            <a:ln w="19050">
              <a:solidFill>
                <a:srgbClr val="FFFF00"/>
              </a:solidFill>
              <a:round/>
              <a:headEnd/>
              <a:tailEnd/>
            </a:ln>
          </p:spPr>
          <p:txBody>
            <a:bodyPr wrap="none" anchor="ctr"/>
            <a:lstStyle/>
            <a:p>
              <a:endParaRPr lang="es-ES"/>
            </a:p>
          </p:txBody>
        </p:sp>
        <p:sp>
          <p:nvSpPr>
            <p:cNvPr id="36900" name="Text Box 48"/>
            <p:cNvSpPr txBox="1">
              <a:spLocks noChangeArrowheads="1"/>
            </p:cNvSpPr>
            <p:nvPr/>
          </p:nvSpPr>
          <p:spPr bwMode="auto">
            <a:xfrm>
              <a:off x="3613" y="2006"/>
              <a:ext cx="205" cy="250"/>
            </a:xfrm>
            <a:prstGeom prst="rect">
              <a:avLst/>
            </a:prstGeom>
            <a:noFill/>
            <a:ln w="28575">
              <a:noFill/>
              <a:miter lim="800000"/>
              <a:headEnd/>
              <a:tailEnd/>
            </a:ln>
          </p:spPr>
          <p:txBody>
            <a:bodyPr wrap="none" anchor="ctr">
              <a:spAutoFit/>
            </a:bodyPr>
            <a:lstStyle/>
            <a:p>
              <a:pPr>
                <a:spcBef>
                  <a:spcPct val="20000"/>
                </a:spcBef>
              </a:pPr>
              <a:r>
                <a:rPr lang="es-ES_tradnl"/>
                <a:t>8</a:t>
              </a:r>
            </a:p>
          </p:txBody>
        </p:sp>
        <p:sp>
          <p:nvSpPr>
            <p:cNvPr id="36901" name="Text Box 49"/>
            <p:cNvSpPr txBox="1">
              <a:spLocks noChangeArrowheads="1"/>
            </p:cNvSpPr>
            <p:nvPr/>
          </p:nvSpPr>
          <p:spPr bwMode="auto">
            <a:xfrm>
              <a:off x="2145" y="1296"/>
              <a:ext cx="223" cy="288"/>
            </a:xfrm>
            <a:prstGeom prst="rect">
              <a:avLst/>
            </a:prstGeom>
            <a:noFill/>
            <a:ln w="28575">
              <a:noFill/>
              <a:miter lim="800000"/>
              <a:headEnd/>
              <a:tailEnd/>
            </a:ln>
          </p:spPr>
          <p:txBody>
            <a:bodyPr wrap="none" anchor="ctr">
              <a:spAutoFit/>
            </a:bodyPr>
            <a:lstStyle/>
            <a:p>
              <a:pPr>
                <a:spcBef>
                  <a:spcPct val="20000"/>
                </a:spcBef>
              </a:pPr>
              <a:r>
                <a:rPr lang="es-ES_tradnl" sz="2400"/>
                <a:t>0</a:t>
              </a:r>
            </a:p>
          </p:txBody>
        </p:sp>
        <p:sp>
          <p:nvSpPr>
            <p:cNvPr id="36902" name="Text Box 50"/>
            <p:cNvSpPr txBox="1">
              <a:spLocks noChangeArrowheads="1"/>
            </p:cNvSpPr>
            <p:nvPr/>
          </p:nvSpPr>
          <p:spPr bwMode="auto">
            <a:xfrm>
              <a:off x="1872" y="1296"/>
              <a:ext cx="223" cy="288"/>
            </a:xfrm>
            <a:prstGeom prst="rect">
              <a:avLst/>
            </a:prstGeom>
            <a:noFill/>
            <a:ln w="28575">
              <a:noFill/>
              <a:miter lim="800000"/>
              <a:headEnd/>
              <a:tailEnd/>
            </a:ln>
          </p:spPr>
          <p:txBody>
            <a:bodyPr wrap="none" anchor="ctr">
              <a:spAutoFit/>
            </a:bodyPr>
            <a:lstStyle/>
            <a:p>
              <a:pPr>
                <a:spcBef>
                  <a:spcPct val="20000"/>
                </a:spcBef>
              </a:pPr>
              <a:r>
                <a:rPr lang="es-ES_tradnl" sz="2400"/>
                <a:t>0</a:t>
              </a:r>
            </a:p>
          </p:txBody>
        </p:sp>
        <p:sp>
          <p:nvSpPr>
            <p:cNvPr id="36903" name="Line 51"/>
            <p:cNvSpPr>
              <a:spLocks noChangeShapeType="1"/>
            </p:cNvSpPr>
            <p:nvPr/>
          </p:nvSpPr>
          <p:spPr bwMode="auto">
            <a:xfrm>
              <a:off x="3024" y="1392"/>
              <a:ext cx="0" cy="192"/>
            </a:xfrm>
            <a:prstGeom prst="line">
              <a:avLst/>
            </a:prstGeom>
            <a:noFill/>
            <a:ln w="28575">
              <a:solidFill>
                <a:srgbClr val="FFFF00"/>
              </a:solidFill>
              <a:round/>
              <a:headEnd/>
              <a:tailEnd type="triangle" w="med" len="med"/>
            </a:ln>
          </p:spPr>
          <p:txBody>
            <a:bodyPr wrap="none" anchor="ctr"/>
            <a:lstStyle/>
            <a:p>
              <a:endParaRPr lang="es-ES"/>
            </a:p>
          </p:txBody>
        </p:sp>
        <p:sp>
          <p:nvSpPr>
            <p:cNvPr id="36904" name="Text Box 52"/>
            <p:cNvSpPr txBox="1">
              <a:spLocks noChangeArrowheads="1"/>
            </p:cNvSpPr>
            <p:nvPr/>
          </p:nvSpPr>
          <p:spPr bwMode="auto">
            <a:xfrm>
              <a:off x="2598" y="1248"/>
              <a:ext cx="457" cy="288"/>
            </a:xfrm>
            <a:prstGeom prst="rect">
              <a:avLst/>
            </a:prstGeom>
            <a:noFill/>
            <a:ln w="28575">
              <a:noFill/>
              <a:miter lim="800000"/>
              <a:headEnd/>
              <a:tailEnd/>
            </a:ln>
          </p:spPr>
          <p:txBody>
            <a:bodyPr wrap="none" anchor="ctr">
              <a:spAutoFit/>
            </a:bodyPr>
            <a:lstStyle/>
            <a:p>
              <a:pPr algn="r">
                <a:spcBef>
                  <a:spcPct val="20000"/>
                </a:spcBef>
              </a:pPr>
              <a:r>
                <a:rPr lang="es-ES_tradnl" sz="2400" i="1">
                  <a:latin typeface="Arial Narrow" pitchFamily="34" charset="0"/>
                </a:rPr>
                <a:t>word</a:t>
              </a:r>
            </a:p>
          </p:txBody>
        </p:sp>
        <p:sp>
          <p:nvSpPr>
            <p:cNvPr id="36905" name="Line 53"/>
            <p:cNvSpPr>
              <a:spLocks noChangeShapeType="1"/>
            </p:cNvSpPr>
            <p:nvPr/>
          </p:nvSpPr>
          <p:spPr bwMode="auto">
            <a:xfrm>
              <a:off x="2880" y="2640"/>
              <a:ext cx="240" cy="0"/>
            </a:xfrm>
            <a:prstGeom prst="line">
              <a:avLst/>
            </a:prstGeom>
            <a:noFill/>
            <a:ln w="57150">
              <a:solidFill>
                <a:srgbClr val="FF9966"/>
              </a:solidFill>
              <a:round/>
              <a:headEnd/>
              <a:tailEnd/>
            </a:ln>
          </p:spPr>
          <p:txBody>
            <a:bodyPr wrap="none" anchor="ctr"/>
            <a:lstStyle/>
            <a:p>
              <a:endParaRPr lang="es-ES"/>
            </a:p>
          </p:txBody>
        </p:sp>
        <p:sp>
          <p:nvSpPr>
            <p:cNvPr id="36906" name="Rectangle 54"/>
            <p:cNvSpPr>
              <a:spLocks noChangeArrowheads="1"/>
            </p:cNvSpPr>
            <p:nvPr/>
          </p:nvSpPr>
          <p:spPr bwMode="auto">
            <a:xfrm>
              <a:off x="2784" y="1584"/>
              <a:ext cx="432" cy="1824"/>
            </a:xfrm>
            <a:prstGeom prst="rect">
              <a:avLst/>
            </a:prstGeom>
            <a:noFill/>
            <a:ln w="28575">
              <a:solidFill>
                <a:srgbClr val="FFFF00"/>
              </a:solidFill>
              <a:prstDash val="sysDot"/>
              <a:miter lim="800000"/>
              <a:headEnd/>
              <a:tailEnd/>
            </a:ln>
          </p:spPr>
          <p:txBody>
            <a:bodyPr wrap="none" anchor="ctr"/>
            <a:lstStyle/>
            <a:p>
              <a:endParaRPr lang="es-ES"/>
            </a:p>
          </p:txBody>
        </p:sp>
        <p:sp>
          <p:nvSpPr>
            <p:cNvPr id="36907" name="Freeform 55"/>
            <p:cNvSpPr>
              <a:spLocks/>
            </p:cNvSpPr>
            <p:nvPr/>
          </p:nvSpPr>
          <p:spPr bwMode="auto">
            <a:xfrm>
              <a:off x="2064" y="1584"/>
              <a:ext cx="672" cy="384"/>
            </a:xfrm>
            <a:custGeom>
              <a:avLst/>
              <a:gdLst>
                <a:gd name="T0" fmla="*/ 0 w 960"/>
                <a:gd name="T1" fmla="*/ 0 h 96"/>
                <a:gd name="T2" fmla="*/ 0 w 960"/>
                <a:gd name="T3" fmla="*/ 1572864 h 96"/>
                <a:gd name="T4" fmla="*/ 79 w 960"/>
                <a:gd name="T5" fmla="*/ 1572864 h 96"/>
                <a:gd name="T6" fmla="*/ 0 60000 65536"/>
                <a:gd name="T7" fmla="*/ 0 60000 65536"/>
                <a:gd name="T8" fmla="*/ 0 60000 65536"/>
                <a:gd name="T9" fmla="*/ 0 w 960"/>
                <a:gd name="T10" fmla="*/ 0 h 96"/>
                <a:gd name="T11" fmla="*/ 960 w 960"/>
                <a:gd name="T12" fmla="*/ 96 h 96"/>
              </a:gdLst>
              <a:ahLst/>
              <a:cxnLst>
                <a:cxn ang="T6">
                  <a:pos x="T0" y="T1"/>
                </a:cxn>
                <a:cxn ang="T7">
                  <a:pos x="T2" y="T3"/>
                </a:cxn>
                <a:cxn ang="T8">
                  <a:pos x="T4" y="T5"/>
                </a:cxn>
              </a:cxnLst>
              <a:rect l="T9" t="T10" r="T11" b="T12"/>
              <a:pathLst>
                <a:path w="960" h="96">
                  <a:moveTo>
                    <a:pt x="0" y="0"/>
                  </a:moveTo>
                  <a:lnTo>
                    <a:pt x="0" y="96"/>
                  </a:lnTo>
                  <a:lnTo>
                    <a:pt x="960" y="96"/>
                  </a:lnTo>
                </a:path>
              </a:pathLst>
            </a:custGeom>
            <a:noFill/>
            <a:ln w="28575">
              <a:solidFill>
                <a:schemeClr val="bg1">
                  <a:lumMod val="95000"/>
                </a:schemeClr>
              </a:solidFill>
              <a:round/>
              <a:headEnd/>
              <a:tailEnd type="triangle" w="med" len="med"/>
            </a:ln>
          </p:spPr>
          <p:txBody>
            <a:bodyPr wrap="none" anchor="ctr"/>
            <a:lstStyle/>
            <a:p>
              <a:endParaRPr lang="es-ES"/>
            </a:p>
          </p:txBody>
        </p:sp>
        <p:sp>
          <p:nvSpPr>
            <p:cNvPr id="36908" name="Text Box 56"/>
            <p:cNvSpPr txBox="1">
              <a:spLocks noChangeArrowheads="1"/>
            </p:cNvSpPr>
            <p:nvPr/>
          </p:nvSpPr>
          <p:spPr bwMode="auto">
            <a:xfrm>
              <a:off x="514" y="1603"/>
              <a:ext cx="1379" cy="250"/>
            </a:xfrm>
            <a:prstGeom prst="rect">
              <a:avLst/>
            </a:prstGeom>
            <a:noFill/>
            <a:ln w="28575">
              <a:noFill/>
              <a:miter lim="800000"/>
              <a:headEnd/>
              <a:tailEnd/>
            </a:ln>
          </p:spPr>
          <p:txBody>
            <a:bodyPr wrap="none" anchor="ctr">
              <a:spAutoFit/>
            </a:bodyPr>
            <a:lstStyle/>
            <a:p>
              <a:pPr>
                <a:spcBef>
                  <a:spcPct val="20000"/>
                </a:spcBef>
              </a:pPr>
              <a:r>
                <a:rPr lang="es-ES_tradnl"/>
                <a:t>Dirección efectiva</a:t>
              </a:r>
            </a:p>
          </p:txBody>
        </p:sp>
        <p:sp>
          <p:nvSpPr>
            <p:cNvPr id="36909" name="Text Box 57"/>
            <p:cNvSpPr txBox="1">
              <a:spLocks noChangeArrowheads="1"/>
            </p:cNvSpPr>
            <p:nvPr/>
          </p:nvSpPr>
          <p:spPr bwMode="auto">
            <a:xfrm>
              <a:off x="588" y="2755"/>
              <a:ext cx="712" cy="250"/>
            </a:xfrm>
            <a:prstGeom prst="rect">
              <a:avLst/>
            </a:prstGeom>
            <a:noFill/>
            <a:ln w="28575">
              <a:noFill/>
              <a:miter lim="800000"/>
              <a:headEnd/>
              <a:tailEnd/>
            </a:ln>
          </p:spPr>
          <p:txBody>
            <a:bodyPr wrap="none" anchor="ctr">
              <a:spAutoFit/>
            </a:bodyPr>
            <a:lstStyle/>
            <a:p>
              <a:pPr>
                <a:spcBef>
                  <a:spcPct val="20000"/>
                </a:spcBef>
              </a:pPr>
              <a:r>
                <a:rPr lang="es-ES_tradnl"/>
                <a:t>Registro</a:t>
              </a:r>
            </a:p>
          </p:txBody>
        </p:sp>
      </p:grpSp>
      <p:sp>
        <p:nvSpPr>
          <p:cNvPr id="36870" name="Rectangle 60"/>
          <p:cNvSpPr>
            <a:spLocks noChangeArrowheads="1"/>
          </p:cNvSpPr>
          <p:nvPr/>
        </p:nvSpPr>
        <p:spPr bwMode="auto">
          <a:xfrm>
            <a:off x="609600" y="1066800"/>
            <a:ext cx="8229600" cy="914400"/>
          </a:xfrm>
          <a:prstGeom prst="rect">
            <a:avLst/>
          </a:prstGeom>
          <a:noFill/>
          <a:ln w="9525">
            <a:noFill/>
            <a:miter lim="800000"/>
            <a:headEnd/>
            <a:tailEnd/>
          </a:ln>
        </p:spPr>
        <p:txBody>
          <a:bodyPr/>
          <a:lstStyle/>
          <a:p>
            <a:pPr marL="365125" indent="-282575" algn="l">
              <a:lnSpc>
                <a:spcPts val="3000"/>
              </a:lnSpc>
              <a:spcBef>
                <a:spcPts val="600"/>
              </a:spcBef>
              <a:buClr>
                <a:schemeClr val="accent2">
                  <a:lumMod val="75000"/>
                </a:schemeClr>
              </a:buClr>
              <a:buSzPct val="80000"/>
              <a:buFont typeface="Wingdings 2" pitchFamily="18" charset="2"/>
              <a:buChar char=""/>
            </a:pPr>
            <a:r>
              <a:rPr lang="es-ES_tradnl" sz="2400" dirty="0">
                <a:latin typeface="+mn-lt"/>
                <a:ea typeface="+mn-ea"/>
              </a:rPr>
              <a:t>CPU de 32 bits</a:t>
            </a:r>
          </a:p>
          <a:p>
            <a:pPr marL="742950" lvl="1" indent="-285750" algn="l">
              <a:spcBef>
                <a:spcPct val="20000"/>
              </a:spcBef>
              <a:buFontTx/>
              <a:buChar char="–"/>
            </a:pPr>
            <a:r>
              <a:rPr lang="es-ES_tradnl" dirty="0"/>
              <a:t>Dirección efectiva múltiplo de 4 (bits A</a:t>
            </a:r>
            <a:r>
              <a:rPr lang="es-ES_tradnl" baseline="-25000" dirty="0"/>
              <a:t>1</a:t>
            </a:r>
            <a:r>
              <a:rPr lang="es-ES_tradnl" dirty="0"/>
              <a:t>A</a:t>
            </a:r>
            <a:r>
              <a:rPr lang="es-ES_tradnl" baseline="-25000" dirty="0"/>
              <a:t>0</a:t>
            </a:r>
            <a:r>
              <a:rPr lang="es-ES_tradnl" dirty="0"/>
              <a:t> = 00)</a:t>
            </a:r>
          </a:p>
        </p:txBody>
      </p:sp>
      <p:sp>
        <p:nvSpPr>
          <p:cNvPr id="8" name="2 Marcador de número de diapositiva">
            <a:extLst>
              <a:ext uri="{FF2B5EF4-FFF2-40B4-BE49-F238E27FC236}">
                <a16:creationId xmlns:a16="http://schemas.microsoft.com/office/drawing/2014/main" id="{5808A075-0BB0-AD44-D8B5-25268F351DA2}"/>
              </a:ext>
            </a:extLst>
          </p:cNvPr>
          <p:cNvSpPr>
            <a:spLocks noGrp="1"/>
          </p:cNvSpPr>
          <p:nvPr>
            <p:ph type="sldNum" sz="quarter" idx="12"/>
          </p:nvPr>
        </p:nvSpPr>
        <p:spPr>
          <a:xfrm>
            <a:off x="8686800" y="6525344"/>
            <a:ext cx="457200" cy="328612"/>
          </a:xfrm>
        </p:spPr>
        <p:txBody>
          <a:bodyPr/>
          <a:lstStyle/>
          <a:p>
            <a:pPr>
              <a:defRPr/>
            </a:pPr>
            <a:fld id="{51035083-A155-4028-8A67-2E61E721E30B}"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Freeform 64"/>
          <p:cNvSpPr>
            <a:spLocks/>
          </p:cNvSpPr>
          <p:nvPr/>
        </p:nvSpPr>
        <p:spPr bwMode="blackWhite">
          <a:xfrm>
            <a:off x="323850" y="2133600"/>
            <a:ext cx="5111750" cy="4032250"/>
          </a:xfrm>
          <a:custGeom>
            <a:avLst/>
            <a:gdLst>
              <a:gd name="T0" fmla="*/ 2147483647 w 3220"/>
              <a:gd name="T1" fmla="*/ 0 h 2540"/>
              <a:gd name="T2" fmla="*/ 2147483647 w 3220"/>
              <a:gd name="T3" fmla="*/ 0 h 2540"/>
              <a:gd name="T4" fmla="*/ 2147483647 w 3220"/>
              <a:gd name="T5" fmla="*/ 2147483647 h 2540"/>
              <a:gd name="T6" fmla="*/ 2147483647 w 3220"/>
              <a:gd name="T7" fmla="*/ 2147483647 h 2540"/>
              <a:gd name="T8" fmla="*/ 2147483647 w 3220"/>
              <a:gd name="T9" fmla="*/ 2147483647 h 2540"/>
              <a:gd name="T10" fmla="*/ 0 w 3220"/>
              <a:gd name="T11" fmla="*/ 2147483647 h 2540"/>
              <a:gd name="T12" fmla="*/ 2147483647 w 3220"/>
              <a:gd name="T13" fmla="*/ 2147483647 h 2540"/>
              <a:gd name="T14" fmla="*/ 2147483647 w 3220"/>
              <a:gd name="T15" fmla="*/ 2147483647 h 2540"/>
              <a:gd name="T16" fmla="*/ 2147483647 w 3220"/>
              <a:gd name="T17" fmla="*/ 2147483647 h 2540"/>
              <a:gd name="T18" fmla="*/ 2147483647 w 3220"/>
              <a:gd name="T19" fmla="*/ 2147483647 h 2540"/>
              <a:gd name="T20" fmla="*/ 2147483647 w 3220"/>
              <a:gd name="T21" fmla="*/ 2147483647 h 2540"/>
              <a:gd name="T22" fmla="*/ 2147483647 w 3220"/>
              <a:gd name="T23" fmla="*/ 0 h 2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20"/>
              <a:gd name="T37" fmla="*/ 0 h 2540"/>
              <a:gd name="T38" fmla="*/ 3220 w 3220"/>
              <a:gd name="T39" fmla="*/ 2540 h 25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20" h="2540">
                <a:moveTo>
                  <a:pt x="91" y="0"/>
                </a:moveTo>
                <a:lnTo>
                  <a:pt x="3220" y="0"/>
                </a:lnTo>
                <a:lnTo>
                  <a:pt x="3220" y="2540"/>
                </a:lnTo>
                <a:lnTo>
                  <a:pt x="91" y="2540"/>
                </a:lnTo>
                <a:lnTo>
                  <a:pt x="181" y="2177"/>
                </a:lnTo>
                <a:lnTo>
                  <a:pt x="0" y="1632"/>
                </a:lnTo>
                <a:lnTo>
                  <a:pt x="136" y="1360"/>
                </a:lnTo>
                <a:lnTo>
                  <a:pt x="181" y="952"/>
                </a:lnTo>
                <a:lnTo>
                  <a:pt x="136" y="680"/>
                </a:lnTo>
                <a:lnTo>
                  <a:pt x="227" y="453"/>
                </a:lnTo>
                <a:cubicBezTo>
                  <a:pt x="220" y="377"/>
                  <a:pt x="114" y="301"/>
                  <a:pt x="91" y="226"/>
                </a:cubicBezTo>
                <a:cubicBezTo>
                  <a:pt x="68" y="151"/>
                  <a:pt x="91" y="47"/>
                  <a:pt x="91" y="0"/>
                </a:cubicBezTo>
                <a:close/>
              </a:path>
            </a:pathLst>
          </a:custGeom>
          <a:solidFill>
            <a:schemeClr val="accent5">
              <a:lumMod val="20000"/>
              <a:lumOff val="80000"/>
            </a:schemeClr>
          </a:solidFill>
          <a:ln w="9525">
            <a:round/>
            <a:headEnd/>
            <a:tailEnd/>
          </a:ln>
          <a:scene3d>
            <a:camera prst="legacyObliqueTopRight"/>
            <a:lightRig rig="legacyFlat3" dir="b"/>
          </a:scene3d>
          <a:sp3d extrusionH="49200" prstMaterial="legacyMetal">
            <a:bevelT w="13500" h="13500" prst="angle"/>
            <a:bevelB w="13500" h="13500" prst="angle"/>
            <a:extrusionClr>
              <a:schemeClr val="folHlink"/>
            </a:extrusionClr>
          </a:sp3d>
        </p:spPr>
        <p:txBody>
          <a:bodyPr lIns="0" tIns="0" rIns="0" bIns="0" anchor="ctr">
            <a:flatTx/>
          </a:bodyPr>
          <a:lstStyle/>
          <a:p>
            <a:endParaRPr lang="es-ES"/>
          </a:p>
        </p:txBody>
      </p:sp>
      <p:sp>
        <p:nvSpPr>
          <p:cNvPr id="37892" name="Rectangle 2"/>
          <p:cNvSpPr>
            <a:spLocks noGrp="1" noChangeArrowheads="1"/>
          </p:cNvSpPr>
          <p:nvPr>
            <p:ph type="title"/>
          </p:nvPr>
        </p:nvSpPr>
        <p:spPr/>
        <p:txBody>
          <a:bodyPr/>
          <a:lstStyle/>
          <a:p>
            <a:r>
              <a:rPr lang="es-ES" dirty="0"/>
              <a:t>Acceso a media palabra (16 bits)</a:t>
            </a:r>
          </a:p>
        </p:txBody>
      </p:sp>
      <p:grpSp>
        <p:nvGrpSpPr>
          <p:cNvPr id="2" name="Group 61"/>
          <p:cNvGrpSpPr>
            <a:grpSpLocks/>
          </p:cNvGrpSpPr>
          <p:nvPr/>
        </p:nvGrpSpPr>
        <p:grpSpPr bwMode="auto">
          <a:xfrm>
            <a:off x="815975" y="2362200"/>
            <a:ext cx="7947025" cy="3581400"/>
            <a:chOff x="514" y="1152"/>
            <a:chExt cx="5006" cy="2256"/>
          </a:xfrm>
        </p:grpSpPr>
        <p:sp>
          <p:nvSpPr>
            <p:cNvPr id="37895" name="Rectangle 4"/>
            <p:cNvSpPr>
              <a:spLocks noChangeArrowheads="1"/>
            </p:cNvSpPr>
            <p:nvPr/>
          </p:nvSpPr>
          <p:spPr bwMode="auto">
            <a:xfrm>
              <a:off x="528" y="1344"/>
              <a:ext cx="1872" cy="240"/>
            </a:xfrm>
            <a:prstGeom prst="rect">
              <a:avLst/>
            </a:prstGeom>
            <a:noFill/>
            <a:ln w="28575">
              <a:solidFill>
                <a:schemeClr val="bg1">
                  <a:lumMod val="95000"/>
                </a:schemeClr>
              </a:solidFill>
              <a:miter lim="800000"/>
              <a:headEnd/>
              <a:tailEnd/>
            </a:ln>
          </p:spPr>
          <p:txBody>
            <a:bodyPr wrap="none" anchor="ctr"/>
            <a:lstStyle/>
            <a:p>
              <a:endParaRPr lang="es-ES"/>
            </a:p>
          </p:txBody>
        </p:sp>
        <p:sp>
          <p:nvSpPr>
            <p:cNvPr id="37896" name="Text Box 6"/>
            <p:cNvSpPr txBox="1">
              <a:spLocks noChangeArrowheads="1"/>
            </p:cNvSpPr>
            <p:nvPr/>
          </p:nvSpPr>
          <p:spPr bwMode="auto">
            <a:xfrm>
              <a:off x="570" y="1296"/>
              <a:ext cx="33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31</a:t>
              </a:r>
              <a:endParaRPr lang="es-ES_tradnl" sz="2400"/>
            </a:p>
          </p:txBody>
        </p:sp>
        <p:sp>
          <p:nvSpPr>
            <p:cNvPr id="37897" name="Text Box 7"/>
            <p:cNvSpPr txBox="1">
              <a:spLocks noChangeArrowheads="1"/>
            </p:cNvSpPr>
            <p:nvPr/>
          </p:nvSpPr>
          <p:spPr bwMode="auto">
            <a:xfrm>
              <a:off x="1396" y="1296"/>
              <a:ext cx="279"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2</a:t>
              </a:r>
              <a:endParaRPr lang="es-ES_tradnl" sz="2400"/>
            </a:p>
          </p:txBody>
        </p:sp>
        <p:sp>
          <p:nvSpPr>
            <p:cNvPr id="37898" name="Text Box 8"/>
            <p:cNvSpPr txBox="1">
              <a:spLocks noChangeArrowheads="1"/>
            </p:cNvSpPr>
            <p:nvPr/>
          </p:nvSpPr>
          <p:spPr bwMode="auto">
            <a:xfrm>
              <a:off x="1021" y="1296"/>
              <a:ext cx="276" cy="288"/>
            </a:xfrm>
            <a:prstGeom prst="rect">
              <a:avLst/>
            </a:prstGeom>
            <a:noFill/>
            <a:ln w="28575">
              <a:noFill/>
              <a:miter lim="800000"/>
              <a:headEnd/>
              <a:tailEnd/>
            </a:ln>
          </p:spPr>
          <p:txBody>
            <a:bodyPr wrap="none" anchor="ctr">
              <a:spAutoFit/>
            </a:bodyPr>
            <a:lstStyle/>
            <a:p>
              <a:pPr>
                <a:spcBef>
                  <a:spcPct val="20000"/>
                </a:spcBef>
              </a:pPr>
              <a:r>
                <a:rPr lang="es-ES_tradnl" sz="2400"/>
                <a:t>...</a:t>
              </a:r>
            </a:p>
          </p:txBody>
        </p:sp>
        <p:sp>
          <p:nvSpPr>
            <p:cNvPr id="37899" name="Line 9"/>
            <p:cNvSpPr>
              <a:spLocks noChangeShapeType="1"/>
            </p:cNvSpPr>
            <p:nvPr/>
          </p:nvSpPr>
          <p:spPr bwMode="auto">
            <a:xfrm>
              <a:off x="1728" y="1344"/>
              <a:ext cx="0" cy="240"/>
            </a:xfrm>
            <a:prstGeom prst="line">
              <a:avLst/>
            </a:prstGeom>
            <a:noFill/>
            <a:ln w="28575">
              <a:solidFill>
                <a:schemeClr val="bg1">
                  <a:lumMod val="95000"/>
                </a:schemeClr>
              </a:solidFill>
              <a:prstDash val="sysDot"/>
              <a:round/>
              <a:headEnd/>
              <a:tailEnd/>
            </a:ln>
          </p:spPr>
          <p:txBody>
            <a:bodyPr wrap="none" anchor="ctr"/>
            <a:lstStyle/>
            <a:p>
              <a:endParaRPr lang="es-ES"/>
            </a:p>
          </p:txBody>
        </p:sp>
        <p:sp>
          <p:nvSpPr>
            <p:cNvPr id="37900" name="Text Box 10"/>
            <p:cNvSpPr txBox="1">
              <a:spLocks noChangeArrowheads="1"/>
            </p:cNvSpPr>
            <p:nvPr/>
          </p:nvSpPr>
          <p:spPr bwMode="auto">
            <a:xfrm>
              <a:off x="1780" y="1296"/>
              <a:ext cx="279"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1</a:t>
              </a:r>
              <a:endParaRPr lang="es-ES_tradnl" sz="2400"/>
            </a:p>
          </p:txBody>
        </p:sp>
        <p:sp>
          <p:nvSpPr>
            <p:cNvPr id="37901" name="Rectangle 11"/>
            <p:cNvSpPr>
              <a:spLocks noChangeArrowheads="1"/>
            </p:cNvSpPr>
            <p:nvPr/>
          </p:nvSpPr>
          <p:spPr bwMode="auto">
            <a:xfrm>
              <a:off x="2832" y="1632"/>
              <a:ext cx="336" cy="288"/>
            </a:xfrm>
            <a:prstGeom prst="rect">
              <a:avLst/>
            </a:prstGeom>
            <a:noFill/>
            <a:ln w="28575">
              <a:solidFill>
                <a:srgbClr val="FFFF00"/>
              </a:solidFill>
              <a:miter lim="800000"/>
              <a:headEnd/>
              <a:tailEnd/>
            </a:ln>
          </p:spPr>
          <p:txBody>
            <a:bodyPr wrap="none" anchor="ctr"/>
            <a:lstStyle/>
            <a:p>
              <a:endParaRPr lang="es-ES"/>
            </a:p>
          </p:txBody>
        </p:sp>
        <p:grpSp>
          <p:nvGrpSpPr>
            <p:cNvPr id="3" name="Group 12"/>
            <p:cNvGrpSpPr>
              <a:grpSpLocks/>
            </p:cNvGrpSpPr>
            <p:nvPr/>
          </p:nvGrpSpPr>
          <p:grpSpPr bwMode="auto">
            <a:xfrm>
              <a:off x="3216" y="2159"/>
              <a:ext cx="1631" cy="1008"/>
              <a:chOff x="3167" y="2159"/>
              <a:chExt cx="1680" cy="1008"/>
            </a:xfrm>
          </p:grpSpPr>
          <p:sp>
            <p:nvSpPr>
              <p:cNvPr id="37946" name="Line 13"/>
              <p:cNvSpPr>
                <a:spLocks noChangeShapeType="1"/>
              </p:cNvSpPr>
              <p:nvPr/>
            </p:nvSpPr>
            <p:spPr bwMode="auto">
              <a:xfrm rot="5400000">
                <a:off x="4007" y="1319"/>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7947" name="Line 14"/>
              <p:cNvSpPr>
                <a:spLocks noChangeShapeType="1"/>
              </p:cNvSpPr>
              <p:nvPr/>
            </p:nvSpPr>
            <p:spPr bwMode="auto">
              <a:xfrm rot="5400000">
                <a:off x="4007" y="1463"/>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7948" name="Line 15"/>
              <p:cNvSpPr>
                <a:spLocks noChangeShapeType="1"/>
              </p:cNvSpPr>
              <p:nvPr/>
            </p:nvSpPr>
            <p:spPr bwMode="auto">
              <a:xfrm rot="5400000">
                <a:off x="4007" y="2183"/>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7949" name="Line 16"/>
              <p:cNvSpPr>
                <a:spLocks noChangeShapeType="1"/>
              </p:cNvSpPr>
              <p:nvPr/>
            </p:nvSpPr>
            <p:spPr bwMode="auto">
              <a:xfrm rot="5400000">
                <a:off x="4007" y="2327"/>
                <a:ext cx="0" cy="1680"/>
              </a:xfrm>
              <a:prstGeom prst="line">
                <a:avLst/>
              </a:prstGeom>
              <a:noFill/>
              <a:ln w="57150">
                <a:solidFill>
                  <a:srgbClr val="FF9900"/>
                </a:solidFill>
                <a:round/>
                <a:headEnd type="triangle" w="med" len="med"/>
                <a:tailEnd type="triangle" w="med" len="med"/>
              </a:ln>
            </p:spPr>
            <p:txBody>
              <a:bodyPr wrap="none" anchor="ctr"/>
              <a:lstStyle/>
              <a:p>
                <a:endParaRPr lang="es-ES"/>
              </a:p>
            </p:txBody>
          </p:sp>
        </p:grpSp>
        <p:sp>
          <p:nvSpPr>
            <p:cNvPr id="37903" name="Text Box 17"/>
            <p:cNvSpPr txBox="1">
              <a:spLocks noChangeArrowheads="1"/>
            </p:cNvSpPr>
            <p:nvPr/>
          </p:nvSpPr>
          <p:spPr bwMode="auto">
            <a:xfrm>
              <a:off x="3546" y="1248"/>
              <a:ext cx="294" cy="250"/>
            </a:xfrm>
            <a:prstGeom prst="rect">
              <a:avLst/>
            </a:prstGeom>
            <a:noFill/>
            <a:ln w="28575">
              <a:noFill/>
              <a:miter lim="800000"/>
              <a:headEnd/>
              <a:tailEnd/>
            </a:ln>
          </p:spPr>
          <p:txBody>
            <a:bodyPr wrap="none" anchor="ctr">
              <a:spAutoFit/>
            </a:bodyPr>
            <a:lstStyle/>
            <a:p>
              <a:pPr>
                <a:spcBef>
                  <a:spcPct val="20000"/>
                </a:spcBef>
              </a:pPr>
              <a:r>
                <a:rPr lang="es-ES_tradnl"/>
                <a:t>30</a:t>
              </a:r>
            </a:p>
          </p:txBody>
        </p:sp>
        <p:grpSp>
          <p:nvGrpSpPr>
            <p:cNvPr id="4" name="Group 18"/>
            <p:cNvGrpSpPr>
              <a:grpSpLocks/>
            </p:cNvGrpSpPr>
            <p:nvPr/>
          </p:nvGrpSpPr>
          <p:grpSpPr bwMode="auto">
            <a:xfrm>
              <a:off x="3888" y="1488"/>
              <a:ext cx="864" cy="288"/>
              <a:chOff x="3360" y="1968"/>
              <a:chExt cx="864" cy="288"/>
            </a:xfrm>
          </p:grpSpPr>
          <p:grpSp>
            <p:nvGrpSpPr>
              <p:cNvPr id="5" name="Group 19"/>
              <p:cNvGrpSpPr>
                <a:grpSpLocks/>
              </p:cNvGrpSpPr>
              <p:nvPr/>
            </p:nvGrpSpPr>
            <p:grpSpPr bwMode="auto">
              <a:xfrm>
                <a:off x="3840" y="1968"/>
                <a:ext cx="384" cy="288"/>
                <a:chOff x="3792" y="1968"/>
                <a:chExt cx="384" cy="288"/>
              </a:xfrm>
            </p:grpSpPr>
            <p:sp>
              <p:nvSpPr>
                <p:cNvPr id="37944" name="Text Box 20"/>
                <p:cNvSpPr txBox="1">
                  <a:spLocks noChangeArrowheads="1"/>
                </p:cNvSpPr>
                <p:nvPr/>
              </p:nvSpPr>
              <p:spPr bwMode="auto">
                <a:xfrm>
                  <a:off x="3792" y="1968"/>
                  <a:ext cx="384"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BE</a:t>
                  </a:r>
                  <a:r>
                    <a:rPr lang="es-ES_tradnl" sz="2400" b="1" baseline="-25000">
                      <a:latin typeface="Arial Narrow" pitchFamily="34" charset="0"/>
                    </a:rPr>
                    <a:t>0</a:t>
                  </a:r>
                  <a:endParaRPr lang="es-ES_tradnl" sz="2400"/>
                </a:p>
              </p:txBody>
            </p:sp>
            <p:sp>
              <p:nvSpPr>
                <p:cNvPr id="37945" name="Line 21"/>
                <p:cNvSpPr>
                  <a:spLocks noChangeShapeType="1"/>
                </p:cNvSpPr>
                <p:nvPr/>
              </p:nvSpPr>
              <p:spPr bwMode="auto">
                <a:xfrm>
                  <a:off x="3861" y="2016"/>
                  <a:ext cx="192" cy="0"/>
                </a:xfrm>
                <a:prstGeom prst="line">
                  <a:avLst/>
                </a:prstGeom>
                <a:noFill/>
                <a:ln w="19050">
                  <a:solidFill>
                    <a:schemeClr val="tx1"/>
                  </a:solidFill>
                  <a:round/>
                  <a:headEnd/>
                  <a:tailEnd/>
                </a:ln>
              </p:spPr>
              <p:txBody>
                <a:bodyPr wrap="none" anchor="ctr"/>
                <a:lstStyle/>
                <a:p>
                  <a:endParaRPr lang="es-ES"/>
                </a:p>
              </p:txBody>
            </p:sp>
          </p:grpSp>
          <p:grpSp>
            <p:nvGrpSpPr>
              <p:cNvPr id="6" name="Group 22"/>
              <p:cNvGrpSpPr>
                <a:grpSpLocks/>
              </p:cNvGrpSpPr>
              <p:nvPr/>
            </p:nvGrpSpPr>
            <p:grpSpPr bwMode="auto">
              <a:xfrm>
                <a:off x="3360" y="1968"/>
                <a:ext cx="384" cy="288"/>
                <a:chOff x="3792" y="1968"/>
                <a:chExt cx="384" cy="288"/>
              </a:xfrm>
            </p:grpSpPr>
            <p:sp>
              <p:nvSpPr>
                <p:cNvPr id="37942" name="Text Box 23"/>
                <p:cNvSpPr txBox="1">
                  <a:spLocks noChangeArrowheads="1"/>
                </p:cNvSpPr>
                <p:nvPr/>
              </p:nvSpPr>
              <p:spPr bwMode="auto">
                <a:xfrm>
                  <a:off x="3792" y="1968"/>
                  <a:ext cx="384" cy="288"/>
                </a:xfrm>
                <a:prstGeom prst="rect">
                  <a:avLst/>
                </a:prstGeom>
                <a:noFill/>
                <a:ln w="28575">
                  <a:noFill/>
                  <a:miter lim="800000"/>
                  <a:headEnd/>
                  <a:tailEnd/>
                </a:ln>
              </p:spPr>
              <p:txBody>
                <a:bodyPr wrap="none" anchor="ctr">
                  <a:spAutoFit/>
                </a:bodyPr>
                <a:lstStyle/>
                <a:p>
                  <a:pPr>
                    <a:spcBef>
                      <a:spcPct val="20000"/>
                    </a:spcBef>
                  </a:pPr>
                  <a:r>
                    <a:rPr lang="es-ES_tradnl" sz="2400" dirty="0">
                      <a:latin typeface="Arial Narrow" pitchFamily="34" charset="0"/>
                    </a:rPr>
                    <a:t>BE</a:t>
                  </a:r>
                  <a:r>
                    <a:rPr lang="es-ES_tradnl" sz="2400" b="1" baseline="-25000" dirty="0">
                      <a:latin typeface="Arial Narrow" pitchFamily="34" charset="0"/>
                    </a:rPr>
                    <a:t>3</a:t>
                  </a:r>
                  <a:endParaRPr lang="es-ES_tradnl" sz="2400" dirty="0"/>
                </a:p>
              </p:txBody>
            </p:sp>
            <p:sp>
              <p:nvSpPr>
                <p:cNvPr id="37943" name="Line 24"/>
                <p:cNvSpPr>
                  <a:spLocks noChangeShapeType="1"/>
                </p:cNvSpPr>
                <p:nvPr/>
              </p:nvSpPr>
              <p:spPr bwMode="auto">
                <a:xfrm>
                  <a:off x="3861" y="2016"/>
                  <a:ext cx="192" cy="0"/>
                </a:xfrm>
                <a:prstGeom prst="line">
                  <a:avLst/>
                </a:prstGeom>
                <a:noFill/>
                <a:ln w="19050">
                  <a:solidFill>
                    <a:schemeClr val="tx1"/>
                  </a:solidFill>
                  <a:round/>
                  <a:headEnd/>
                  <a:tailEnd/>
                </a:ln>
              </p:spPr>
              <p:txBody>
                <a:bodyPr wrap="none" anchor="ctr"/>
                <a:lstStyle/>
                <a:p>
                  <a:endParaRPr lang="es-ES"/>
                </a:p>
              </p:txBody>
            </p:sp>
          </p:grpSp>
          <p:sp>
            <p:nvSpPr>
              <p:cNvPr id="37941" name="Text Box 25"/>
              <p:cNvSpPr txBox="1">
                <a:spLocks noChangeArrowheads="1"/>
              </p:cNvSpPr>
              <p:nvPr/>
            </p:nvSpPr>
            <p:spPr bwMode="auto">
              <a:xfrm>
                <a:off x="3662" y="1968"/>
                <a:ext cx="247"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t>
                </a:r>
              </a:p>
            </p:txBody>
          </p:sp>
        </p:grpSp>
        <p:sp>
          <p:nvSpPr>
            <p:cNvPr id="37905" name="Line 26"/>
            <p:cNvSpPr>
              <a:spLocks noChangeShapeType="1"/>
            </p:cNvSpPr>
            <p:nvPr/>
          </p:nvSpPr>
          <p:spPr bwMode="auto">
            <a:xfrm flipH="1">
              <a:off x="3757" y="1680"/>
              <a:ext cx="96" cy="192"/>
            </a:xfrm>
            <a:prstGeom prst="line">
              <a:avLst/>
            </a:prstGeom>
            <a:noFill/>
            <a:ln w="19050">
              <a:solidFill>
                <a:srgbClr val="92D050"/>
              </a:solidFill>
              <a:round/>
              <a:headEnd/>
              <a:tailEnd/>
            </a:ln>
          </p:spPr>
          <p:txBody>
            <a:bodyPr wrap="none" anchor="ctr"/>
            <a:lstStyle/>
            <a:p>
              <a:endParaRPr lang="es-ES"/>
            </a:p>
          </p:txBody>
        </p:sp>
        <p:sp>
          <p:nvSpPr>
            <p:cNvPr id="37906" name="Text Box 27"/>
            <p:cNvSpPr txBox="1">
              <a:spLocks noChangeArrowheads="1"/>
            </p:cNvSpPr>
            <p:nvPr/>
          </p:nvSpPr>
          <p:spPr bwMode="auto">
            <a:xfrm>
              <a:off x="3600" y="1574"/>
              <a:ext cx="205" cy="250"/>
            </a:xfrm>
            <a:prstGeom prst="rect">
              <a:avLst/>
            </a:prstGeom>
            <a:noFill/>
            <a:ln w="28575">
              <a:noFill/>
              <a:miter lim="800000"/>
              <a:headEnd/>
              <a:tailEnd/>
            </a:ln>
          </p:spPr>
          <p:txBody>
            <a:bodyPr wrap="none" anchor="ctr">
              <a:spAutoFit/>
            </a:bodyPr>
            <a:lstStyle/>
            <a:p>
              <a:pPr>
                <a:spcBef>
                  <a:spcPct val="20000"/>
                </a:spcBef>
              </a:pPr>
              <a:r>
                <a:rPr lang="es-ES_tradnl"/>
                <a:t>4</a:t>
              </a:r>
            </a:p>
          </p:txBody>
        </p:sp>
        <p:sp>
          <p:nvSpPr>
            <p:cNvPr id="37907" name="Rectangle 28"/>
            <p:cNvSpPr>
              <a:spLocks noChangeArrowheads="1"/>
            </p:cNvSpPr>
            <p:nvPr/>
          </p:nvSpPr>
          <p:spPr bwMode="auto">
            <a:xfrm>
              <a:off x="4848" y="1344"/>
              <a:ext cx="672" cy="2016"/>
            </a:xfrm>
            <a:prstGeom prst="rect">
              <a:avLst/>
            </a:prstGeom>
            <a:noFill/>
            <a:ln w="57150">
              <a:solidFill>
                <a:schemeClr val="accent5"/>
              </a:solidFill>
              <a:miter lim="800000"/>
              <a:headEnd/>
              <a:tailEnd/>
            </a:ln>
          </p:spPr>
          <p:txBody>
            <a:bodyPr wrap="none" anchor="ctr"/>
            <a:lstStyle/>
            <a:p>
              <a:pPr>
                <a:spcBef>
                  <a:spcPct val="20000"/>
                </a:spcBef>
              </a:pPr>
              <a:r>
                <a:rPr lang="es-ES_tradnl" sz="2400"/>
                <a:t>MP</a:t>
              </a:r>
            </a:p>
          </p:txBody>
        </p:sp>
        <p:sp>
          <p:nvSpPr>
            <p:cNvPr id="37908" name="Line 29"/>
            <p:cNvSpPr>
              <a:spLocks noChangeShapeType="1"/>
            </p:cNvSpPr>
            <p:nvPr/>
          </p:nvSpPr>
          <p:spPr bwMode="auto">
            <a:xfrm flipH="1">
              <a:off x="1830" y="2736"/>
              <a:ext cx="192" cy="48"/>
            </a:xfrm>
            <a:prstGeom prst="line">
              <a:avLst/>
            </a:prstGeom>
            <a:noFill/>
            <a:ln w="19050">
              <a:solidFill>
                <a:schemeClr val="bg1">
                  <a:lumMod val="95000"/>
                </a:schemeClr>
              </a:solidFill>
              <a:round/>
              <a:headEnd/>
              <a:tailEnd/>
            </a:ln>
          </p:spPr>
          <p:txBody>
            <a:bodyPr wrap="none" anchor="ctr"/>
            <a:lstStyle/>
            <a:p>
              <a:endParaRPr lang="es-ES"/>
            </a:p>
          </p:txBody>
        </p:sp>
        <p:sp>
          <p:nvSpPr>
            <p:cNvPr id="37909" name="Text Box 30"/>
            <p:cNvSpPr txBox="1">
              <a:spLocks noChangeArrowheads="1"/>
            </p:cNvSpPr>
            <p:nvPr/>
          </p:nvSpPr>
          <p:spPr bwMode="auto">
            <a:xfrm>
              <a:off x="1584" y="2640"/>
              <a:ext cx="294" cy="250"/>
            </a:xfrm>
            <a:prstGeom prst="rect">
              <a:avLst/>
            </a:prstGeom>
            <a:noFill/>
            <a:ln w="28575">
              <a:noFill/>
              <a:miter lim="800000"/>
              <a:headEnd/>
              <a:tailEnd/>
            </a:ln>
          </p:spPr>
          <p:txBody>
            <a:bodyPr wrap="none" anchor="ctr">
              <a:spAutoFit/>
            </a:bodyPr>
            <a:lstStyle/>
            <a:p>
              <a:pPr>
                <a:spcBef>
                  <a:spcPct val="20000"/>
                </a:spcBef>
              </a:pPr>
              <a:r>
                <a:rPr lang="es-ES_tradnl"/>
                <a:t>16</a:t>
              </a:r>
            </a:p>
          </p:txBody>
        </p:sp>
        <p:sp>
          <p:nvSpPr>
            <p:cNvPr id="37910" name="Text Box 31"/>
            <p:cNvSpPr txBox="1">
              <a:spLocks noChangeArrowheads="1"/>
            </p:cNvSpPr>
            <p:nvPr/>
          </p:nvSpPr>
          <p:spPr bwMode="auto">
            <a:xfrm>
              <a:off x="3888" y="1200"/>
              <a:ext cx="632"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31</a:t>
              </a:r>
              <a:r>
                <a:rPr lang="es-ES_tradnl" sz="2400">
                  <a:latin typeface="Arial Narrow" pitchFamily="34" charset="0"/>
                </a:rPr>
                <a:t>...A</a:t>
              </a:r>
              <a:r>
                <a:rPr lang="es-ES_tradnl" sz="2400" b="1" baseline="-25000">
                  <a:latin typeface="Arial Narrow" pitchFamily="34" charset="0"/>
                </a:rPr>
                <a:t>2</a:t>
              </a:r>
              <a:endParaRPr lang="es-ES_tradnl" sz="2400">
                <a:latin typeface="Arial Narrow" pitchFamily="34" charset="0"/>
              </a:endParaRPr>
            </a:p>
          </p:txBody>
        </p:sp>
        <p:grpSp>
          <p:nvGrpSpPr>
            <p:cNvPr id="7" name="Group 32"/>
            <p:cNvGrpSpPr>
              <a:grpSpLocks/>
            </p:cNvGrpSpPr>
            <p:nvPr/>
          </p:nvGrpSpPr>
          <p:grpSpPr bwMode="auto">
            <a:xfrm>
              <a:off x="2832" y="1968"/>
              <a:ext cx="336" cy="1392"/>
              <a:chOff x="2448" y="2016"/>
              <a:chExt cx="384" cy="1440"/>
            </a:xfrm>
          </p:grpSpPr>
          <p:sp>
            <p:nvSpPr>
              <p:cNvPr id="37937" name="Rectangle 33"/>
              <p:cNvSpPr>
                <a:spLocks noChangeArrowheads="1"/>
              </p:cNvSpPr>
              <p:nvPr/>
            </p:nvSpPr>
            <p:spPr bwMode="auto">
              <a:xfrm>
                <a:off x="2448" y="2016"/>
                <a:ext cx="384" cy="1440"/>
              </a:xfrm>
              <a:prstGeom prst="rect">
                <a:avLst/>
              </a:prstGeom>
              <a:noFill/>
              <a:ln w="28575">
                <a:solidFill>
                  <a:srgbClr val="FFFF00"/>
                </a:solidFill>
                <a:miter lim="800000"/>
                <a:headEnd/>
                <a:tailEnd/>
              </a:ln>
            </p:spPr>
            <p:txBody>
              <a:bodyPr wrap="none" anchor="ctr"/>
              <a:lstStyle/>
              <a:p>
                <a:endParaRPr lang="es-ES"/>
              </a:p>
            </p:txBody>
          </p:sp>
          <p:sp>
            <p:nvSpPr>
              <p:cNvPr id="37938" name="Text Box 34"/>
              <p:cNvSpPr txBox="1">
                <a:spLocks noChangeArrowheads="1"/>
              </p:cNvSpPr>
              <p:nvPr/>
            </p:nvSpPr>
            <p:spPr bwMode="auto">
              <a:xfrm rot="-5400000">
                <a:off x="2459" y="2569"/>
                <a:ext cx="358" cy="329"/>
              </a:xfrm>
              <a:prstGeom prst="rect">
                <a:avLst/>
              </a:prstGeom>
              <a:noFill/>
              <a:ln w="28575">
                <a:noFill/>
                <a:miter lim="800000"/>
                <a:headEnd/>
                <a:tailEnd/>
              </a:ln>
            </p:spPr>
            <p:txBody>
              <a:bodyPr vert="eaVert" anchor="ctr">
                <a:spAutoFit/>
              </a:bodyPr>
              <a:lstStyle/>
              <a:p>
                <a:pPr>
                  <a:spcBef>
                    <a:spcPct val="20000"/>
                  </a:spcBef>
                </a:pPr>
                <a:endParaRPr lang="es-ES_tradnl" sz="2400"/>
              </a:p>
            </p:txBody>
          </p:sp>
        </p:grpSp>
        <p:sp>
          <p:nvSpPr>
            <p:cNvPr id="37912" name="Text Box 35"/>
            <p:cNvSpPr txBox="1">
              <a:spLocks noChangeArrowheads="1"/>
            </p:cNvSpPr>
            <p:nvPr/>
          </p:nvSpPr>
          <p:spPr bwMode="auto">
            <a:xfrm>
              <a:off x="3888" y="1872"/>
              <a:ext cx="70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31</a:t>
              </a:r>
              <a:r>
                <a:rPr lang="es-ES_tradnl" sz="2400">
                  <a:latin typeface="Arial Narrow" pitchFamily="34" charset="0"/>
                </a:rPr>
                <a:t>...D</a:t>
              </a:r>
              <a:r>
                <a:rPr lang="es-ES_tradnl" sz="2400" b="1" baseline="-25000">
                  <a:latin typeface="Arial Narrow" pitchFamily="34" charset="0"/>
                </a:rPr>
                <a:t>24</a:t>
              </a:r>
              <a:endParaRPr lang="es-ES_tradnl" sz="2400">
                <a:latin typeface="Arial Narrow" pitchFamily="34" charset="0"/>
              </a:endParaRPr>
            </a:p>
          </p:txBody>
        </p:sp>
        <p:sp>
          <p:nvSpPr>
            <p:cNvPr id="37913" name="Text Box 36"/>
            <p:cNvSpPr txBox="1">
              <a:spLocks noChangeArrowheads="1"/>
            </p:cNvSpPr>
            <p:nvPr/>
          </p:nvSpPr>
          <p:spPr bwMode="auto">
            <a:xfrm>
              <a:off x="3888" y="2256"/>
              <a:ext cx="70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23</a:t>
              </a:r>
              <a:r>
                <a:rPr lang="es-ES_tradnl" sz="2400">
                  <a:latin typeface="Arial Narrow" pitchFamily="34" charset="0"/>
                </a:rPr>
                <a:t>...D</a:t>
              </a:r>
              <a:r>
                <a:rPr lang="es-ES_tradnl" sz="2400" b="1" baseline="-25000">
                  <a:latin typeface="Arial Narrow" pitchFamily="34" charset="0"/>
                </a:rPr>
                <a:t>16</a:t>
              </a:r>
              <a:endParaRPr lang="es-ES_tradnl" sz="2400">
                <a:latin typeface="Arial Narrow" pitchFamily="34" charset="0"/>
              </a:endParaRPr>
            </a:p>
          </p:txBody>
        </p:sp>
        <p:sp>
          <p:nvSpPr>
            <p:cNvPr id="37914" name="Text Box 37"/>
            <p:cNvSpPr txBox="1">
              <a:spLocks noChangeArrowheads="1"/>
            </p:cNvSpPr>
            <p:nvPr/>
          </p:nvSpPr>
          <p:spPr bwMode="auto">
            <a:xfrm>
              <a:off x="3888" y="2736"/>
              <a:ext cx="650"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15</a:t>
              </a:r>
              <a:r>
                <a:rPr lang="es-ES_tradnl" sz="2400">
                  <a:latin typeface="Arial Narrow" pitchFamily="34" charset="0"/>
                </a:rPr>
                <a:t>...D</a:t>
              </a:r>
              <a:r>
                <a:rPr lang="es-ES_tradnl" sz="2400" b="1" baseline="-25000">
                  <a:latin typeface="Arial Narrow" pitchFamily="34" charset="0"/>
                </a:rPr>
                <a:t>8</a:t>
              </a:r>
              <a:endParaRPr lang="es-ES_tradnl" sz="2400">
                <a:latin typeface="Arial Narrow" pitchFamily="34" charset="0"/>
              </a:endParaRPr>
            </a:p>
          </p:txBody>
        </p:sp>
        <p:sp>
          <p:nvSpPr>
            <p:cNvPr id="37915" name="Text Box 38"/>
            <p:cNvSpPr txBox="1">
              <a:spLocks noChangeArrowheads="1"/>
            </p:cNvSpPr>
            <p:nvPr/>
          </p:nvSpPr>
          <p:spPr bwMode="auto">
            <a:xfrm>
              <a:off x="3889" y="3120"/>
              <a:ext cx="591"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7</a:t>
              </a:r>
              <a:r>
                <a:rPr lang="es-ES_tradnl" sz="2400">
                  <a:latin typeface="Arial Narrow" pitchFamily="34" charset="0"/>
                </a:rPr>
                <a:t>...D</a:t>
              </a:r>
              <a:r>
                <a:rPr lang="es-ES_tradnl" sz="2400" b="1" baseline="-25000">
                  <a:latin typeface="Arial Narrow" pitchFamily="34" charset="0"/>
                </a:rPr>
                <a:t>0</a:t>
              </a:r>
              <a:endParaRPr lang="es-ES_tradnl" sz="2400">
                <a:latin typeface="Arial Narrow" pitchFamily="34" charset="0"/>
              </a:endParaRPr>
            </a:p>
          </p:txBody>
        </p:sp>
        <p:sp>
          <p:nvSpPr>
            <p:cNvPr id="37916" name="Line 40"/>
            <p:cNvSpPr>
              <a:spLocks noChangeShapeType="1"/>
            </p:cNvSpPr>
            <p:nvPr/>
          </p:nvSpPr>
          <p:spPr bwMode="auto">
            <a:xfrm>
              <a:off x="3168" y="1776"/>
              <a:ext cx="1680" cy="0"/>
            </a:xfrm>
            <a:prstGeom prst="line">
              <a:avLst/>
            </a:prstGeom>
            <a:noFill/>
            <a:ln w="28575">
              <a:solidFill>
                <a:srgbClr val="00FF66"/>
              </a:solidFill>
              <a:round/>
              <a:headEnd/>
              <a:tailEnd type="triangle" w="med" len="med"/>
            </a:ln>
          </p:spPr>
          <p:txBody>
            <a:bodyPr wrap="none" anchor="ctr"/>
            <a:lstStyle/>
            <a:p>
              <a:endParaRPr lang="es-ES"/>
            </a:p>
          </p:txBody>
        </p:sp>
        <p:sp>
          <p:nvSpPr>
            <p:cNvPr id="37917" name="Freeform 41"/>
            <p:cNvSpPr>
              <a:spLocks/>
            </p:cNvSpPr>
            <p:nvPr/>
          </p:nvSpPr>
          <p:spPr bwMode="auto">
            <a:xfrm>
              <a:off x="1920" y="2640"/>
              <a:ext cx="816" cy="384"/>
            </a:xfrm>
            <a:custGeom>
              <a:avLst/>
              <a:gdLst>
                <a:gd name="T0" fmla="*/ 0 w 192"/>
                <a:gd name="T1" fmla="*/ 2 h 912"/>
                <a:gd name="T2" fmla="*/ 0 w 192"/>
                <a:gd name="T3" fmla="*/ 0 h 912"/>
                <a:gd name="T4" fmla="*/ 4808672 w 192"/>
                <a:gd name="T5" fmla="*/ 0 h 912"/>
                <a:gd name="T6" fmla="*/ 0 60000 65536"/>
                <a:gd name="T7" fmla="*/ 0 60000 65536"/>
                <a:gd name="T8" fmla="*/ 0 60000 65536"/>
                <a:gd name="T9" fmla="*/ 0 w 192"/>
                <a:gd name="T10" fmla="*/ 0 h 912"/>
                <a:gd name="T11" fmla="*/ 192 w 192"/>
                <a:gd name="T12" fmla="*/ 912 h 912"/>
              </a:gdLst>
              <a:ahLst/>
              <a:cxnLst>
                <a:cxn ang="T6">
                  <a:pos x="T0" y="T1"/>
                </a:cxn>
                <a:cxn ang="T7">
                  <a:pos x="T2" y="T3"/>
                </a:cxn>
                <a:cxn ang="T8">
                  <a:pos x="T4" y="T5"/>
                </a:cxn>
              </a:cxnLst>
              <a:rect l="T9" t="T10" r="T11" b="T12"/>
              <a:pathLst>
                <a:path w="192" h="912">
                  <a:moveTo>
                    <a:pt x="0" y="912"/>
                  </a:moveTo>
                  <a:lnTo>
                    <a:pt x="0" y="0"/>
                  </a:lnTo>
                  <a:lnTo>
                    <a:pt x="192" y="0"/>
                  </a:lnTo>
                </a:path>
              </a:pathLst>
            </a:custGeom>
            <a:noFill/>
            <a:ln w="57150">
              <a:solidFill>
                <a:schemeClr val="bg1">
                  <a:lumMod val="95000"/>
                </a:schemeClr>
              </a:solidFill>
              <a:round/>
              <a:headEnd type="triangle" w="med" len="med"/>
              <a:tailEnd type="triangle" w="med" len="med"/>
            </a:ln>
          </p:spPr>
          <p:txBody>
            <a:bodyPr wrap="none" anchor="ctr"/>
            <a:lstStyle/>
            <a:p>
              <a:endParaRPr lang="es-ES"/>
            </a:p>
          </p:txBody>
        </p:sp>
        <p:sp>
          <p:nvSpPr>
            <p:cNvPr id="37918" name="Freeform 42"/>
            <p:cNvSpPr>
              <a:spLocks/>
            </p:cNvSpPr>
            <p:nvPr/>
          </p:nvSpPr>
          <p:spPr bwMode="auto">
            <a:xfrm>
              <a:off x="1152" y="1152"/>
              <a:ext cx="3696" cy="336"/>
            </a:xfrm>
            <a:custGeom>
              <a:avLst/>
              <a:gdLst>
                <a:gd name="T0" fmla="*/ 0 w 3696"/>
                <a:gd name="T1" fmla="*/ 192 h 336"/>
                <a:gd name="T2" fmla="*/ 0 w 3696"/>
                <a:gd name="T3" fmla="*/ 0 h 336"/>
                <a:gd name="T4" fmla="*/ 2160 w 3696"/>
                <a:gd name="T5" fmla="*/ 0 h 336"/>
                <a:gd name="T6" fmla="*/ 2160 w 3696"/>
                <a:gd name="T7" fmla="*/ 336 h 336"/>
                <a:gd name="T8" fmla="*/ 3696 w 3696"/>
                <a:gd name="T9" fmla="*/ 336 h 336"/>
                <a:gd name="T10" fmla="*/ 0 60000 65536"/>
                <a:gd name="T11" fmla="*/ 0 60000 65536"/>
                <a:gd name="T12" fmla="*/ 0 60000 65536"/>
                <a:gd name="T13" fmla="*/ 0 60000 65536"/>
                <a:gd name="T14" fmla="*/ 0 60000 65536"/>
                <a:gd name="T15" fmla="*/ 0 w 3696"/>
                <a:gd name="T16" fmla="*/ 0 h 336"/>
                <a:gd name="T17" fmla="*/ 3696 w 3696"/>
                <a:gd name="T18" fmla="*/ 336 h 336"/>
              </a:gdLst>
              <a:ahLst/>
              <a:cxnLst>
                <a:cxn ang="T10">
                  <a:pos x="T0" y="T1"/>
                </a:cxn>
                <a:cxn ang="T11">
                  <a:pos x="T2" y="T3"/>
                </a:cxn>
                <a:cxn ang="T12">
                  <a:pos x="T4" y="T5"/>
                </a:cxn>
                <a:cxn ang="T13">
                  <a:pos x="T6" y="T7"/>
                </a:cxn>
                <a:cxn ang="T14">
                  <a:pos x="T8" y="T9"/>
                </a:cxn>
              </a:cxnLst>
              <a:rect l="T15" t="T16" r="T17" b="T18"/>
              <a:pathLst>
                <a:path w="3696" h="336">
                  <a:moveTo>
                    <a:pt x="0" y="192"/>
                  </a:moveTo>
                  <a:lnTo>
                    <a:pt x="0" y="0"/>
                  </a:lnTo>
                  <a:lnTo>
                    <a:pt x="2160" y="0"/>
                  </a:lnTo>
                  <a:lnTo>
                    <a:pt x="2160" y="336"/>
                  </a:lnTo>
                  <a:lnTo>
                    <a:pt x="3696" y="336"/>
                  </a:lnTo>
                </a:path>
              </a:pathLst>
            </a:custGeom>
            <a:noFill/>
            <a:ln w="57150">
              <a:solidFill>
                <a:srgbClr val="00FF66"/>
              </a:solidFill>
              <a:round/>
              <a:headEnd/>
              <a:tailEnd type="triangle" w="med" len="med"/>
            </a:ln>
          </p:spPr>
          <p:txBody>
            <a:bodyPr wrap="none" anchor="ctr"/>
            <a:lstStyle/>
            <a:p>
              <a:endParaRPr lang="es-ES"/>
            </a:p>
          </p:txBody>
        </p:sp>
        <p:sp>
          <p:nvSpPr>
            <p:cNvPr id="37919" name="Line 43"/>
            <p:cNvSpPr>
              <a:spLocks noChangeShapeType="1"/>
            </p:cNvSpPr>
            <p:nvPr/>
          </p:nvSpPr>
          <p:spPr bwMode="auto">
            <a:xfrm flipH="1">
              <a:off x="3757" y="1344"/>
              <a:ext cx="96" cy="192"/>
            </a:xfrm>
            <a:prstGeom prst="line">
              <a:avLst/>
            </a:prstGeom>
            <a:noFill/>
            <a:ln w="19050">
              <a:solidFill>
                <a:srgbClr val="92D050"/>
              </a:solidFill>
              <a:round/>
              <a:headEnd/>
              <a:tailEnd/>
            </a:ln>
          </p:spPr>
          <p:txBody>
            <a:bodyPr wrap="none" anchor="ctr"/>
            <a:lstStyle/>
            <a:p>
              <a:endParaRPr lang="es-ES"/>
            </a:p>
          </p:txBody>
        </p:sp>
        <p:sp>
          <p:nvSpPr>
            <p:cNvPr id="37920" name="Rectangle 44"/>
            <p:cNvSpPr>
              <a:spLocks noChangeArrowheads="1"/>
            </p:cNvSpPr>
            <p:nvPr/>
          </p:nvSpPr>
          <p:spPr bwMode="auto">
            <a:xfrm>
              <a:off x="528" y="3024"/>
              <a:ext cx="1872" cy="240"/>
            </a:xfrm>
            <a:prstGeom prst="rect">
              <a:avLst/>
            </a:prstGeom>
            <a:noFill/>
            <a:ln w="28575">
              <a:solidFill>
                <a:schemeClr val="bg1">
                  <a:lumMod val="95000"/>
                </a:schemeClr>
              </a:solidFill>
              <a:miter lim="800000"/>
              <a:headEnd/>
              <a:tailEnd/>
            </a:ln>
          </p:spPr>
          <p:txBody>
            <a:bodyPr wrap="none" anchor="ctr"/>
            <a:lstStyle/>
            <a:p>
              <a:endParaRPr lang="es-ES"/>
            </a:p>
          </p:txBody>
        </p:sp>
        <p:sp>
          <p:nvSpPr>
            <p:cNvPr id="37921" name="Line 45"/>
            <p:cNvSpPr>
              <a:spLocks noChangeShapeType="1"/>
            </p:cNvSpPr>
            <p:nvPr/>
          </p:nvSpPr>
          <p:spPr bwMode="auto">
            <a:xfrm>
              <a:off x="1440" y="3024"/>
              <a:ext cx="0" cy="240"/>
            </a:xfrm>
            <a:prstGeom prst="line">
              <a:avLst/>
            </a:prstGeom>
            <a:noFill/>
            <a:ln w="28575">
              <a:solidFill>
                <a:schemeClr val="bg1">
                  <a:lumMod val="95000"/>
                </a:schemeClr>
              </a:solidFill>
              <a:prstDash val="sysDot"/>
              <a:round/>
              <a:headEnd/>
              <a:tailEnd/>
            </a:ln>
          </p:spPr>
          <p:txBody>
            <a:bodyPr wrap="none" anchor="ctr"/>
            <a:lstStyle/>
            <a:p>
              <a:endParaRPr lang="es-ES"/>
            </a:p>
          </p:txBody>
        </p:sp>
        <p:sp>
          <p:nvSpPr>
            <p:cNvPr id="37922" name="Line 46"/>
            <p:cNvSpPr>
              <a:spLocks noChangeShapeType="1"/>
            </p:cNvSpPr>
            <p:nvPr/>
          </p:nvSpPr>
          <p:spPr bwMode="auto">
            <a:xfrm flipH="1">
              <a:off x="3757" y="2064"/>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7923" name="Line 47"/>
            <p:cNvSpPr>
              <a:spLocks noChangeShapeType="1"/>
            </p:cNvSpPr>
            <p:nvPr/>
          </p:nvSpPr>
          <p:spPr bwMode="auto">
            <a:xfrm flipH="1">
              <a:off x="3757" y="2208"/>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7924" name="Line 48"/>
            <p:cNvSpPr>
              <a:spLocks noChangeShapeType="1"/>
            </p:cNvSpPr>
            <p:nvPr/>
          </p:nvSpPr>
          <p:spPr bwMode="auto">
            <a:xfrm flipH="1">
              <a:off x="3757" y="2928"/>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7925" name="Line 49"/>
            <p:cNvSpPr>
              <a:spLocks noChangeShapeType="1"/>
            </p:cNvSpPr>
            <p:nvPr/>
          </p:nvSpPr>
          <p:spPr bwMode="auto">
            <a:xfrm flipH="1">
              <a:off x="3757" y="3072"/>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7926" name="Text Box 50"/>
            <p:cNvSpPr txBox="1">
              <a:spLocks noChangeArrowheads="1"/>
            </p:cNvSpPr>
            <p:nvPr/>
          </p:nvSpPr>
          <p:spPr bwMode="auto">
            <a:xfrm>
              <a:off x="3613" y="1920"/>
              <a:ext cx="205" cy="250"/>
            </a:xfrm>
            <a:prstGeom prst="rect">
              <a:avLst/>
            </a:prstGeom>
            <a:noFill/>
            <a:ln w="28575">
              <a:noFill/>
              <a:miter lim="800000"/>
              <a:headEnd/>
              <a:tailEnd/>
            </a:ln>
          </p:spPr>
          <p:txBody>
            <a:bodyPr wrap="none" anchor="ctr">
              <a:spAutoFit/>
            </a:bodyPr>
            <a:lstStyle/>
            <a:p>
              <a:pPr>
                <a:spcBef>
                  <a:spcPct val="20000"/>
                </a:spcBef>
              </a:pPr>
              <a:r>
                <a:rPr lang="es-ES_tradnl"/>
                <a:t>8</a:t>
              </a:r>
            </a:p>
          </p:txBody>
        </p:sp>
        <p:sp>
          <p:nvSpPr>
            <p:cNvPr id="37927" name="Line 51"/>
            <p:cNvSpPr>
              <a:spLocks noChangeShapeType="1"/>
            </p:cNvSpPr>
            <p:nvPr/>
          </p:nvSpPr>
          <p:spPr bwMode="auto">
            <a:xfrm>
              <a:off x="2112" y="1344"/>
              <a:ext cx="0" cy="240"/>
            </a:xfrm>
            <a:prstGeom prst="line">
              <a:avLst/>
            </a:prstGeom>
            <a:noFill/>
            <a:ln w="28575">
              <a:solidFill>
                <a:schemeClr val="bg1">
                  <a:lumMod val="95000"/>
                </a:schemeClr>
              </a:solidFill>
              <a:prstDash val="sysDot"/>
              <a:round/>
              <a:headEnd/>
              <a:tailEnd/>
            </a:ln>
          </p:spPr>
          <p:txBody>
            <a:bodyPr wrap="none" anchor="ctr"/>
            <a:lstStyle/>
            <a:p>
              <a:endParaRPr lang="es-ES"/>
            </a:p>
          </p:txBody>
        </p:sp>
        <p:sp>
          <p:nvSpPr>
            <p:cNvPr id="37928" name="Text Box 52"/>
            <p:cNvSpPr txBox="1">
              <a:spLocks noChangeArrowheads="1"/>
            </p:cNvSpPr>
            <p:nvPr/>
          </p:nvSpPr>
          <p:spPr bwMode="auto">
            <a:xfrm>
              <a:off x="2145" y="1296"/>
              <a:ext cx="223" cy="288"/>
            </a:xfrm>
            <a:prstGeom prst="rect">
              <a:avLst/>
            </a:prstGeom>
            <a:noFill/>
            <a:ln w="28575">
              <a:noFill/>
              <a:miter lim="800000"/>
              <a:headEnd/>
              <a:tailEnd/>
            </a:ln>
          </p:spPr>
          <p:txBody>
            <a:bodyPr wrap="none" anchor="ctr">
              <a:spAutoFit/>
            </a:bodyPr>
            <a:lstStyle/>
            <a:p>
              <a:pPr>
                <a:spcBef>
                  <a:spcPct val="20000"/>
                </a:spcBef>
              </a:pPr>
              <a:r>
                <a:rPr lang="es-ES_tradnl" sz="2400"/>
                <a:t>0</a:t>
              </a:r>
            </a:p>
          </p:txBody>
        </p:sp>
        <p:sp>
          <p:nvSpPr>
            <p:cNvPr id="37929" name="Line 53"/>
            <p:cNvSpPr>
              <a:spLocks noChangeShapeType="1"/>
            </p:cNvSpPr>
            <p:nvPr/>
          </p:nvSpPr>
          <p:spPr bwMode="auto">
            <a:xfrm>
              <a:off x="3024" y="1392"/>
              <a:ext cx="0" cy="192"/>
            </a:xfrm>
            <a:prstGeom prst="line">
              <a:avLst/>
            </a:prstGeom>
            <a:noFill/>
            <a:ln w="28575">
              <a:solidFill>
                <a:srgbClr val="FFFF00"/>
              </a:solidFill>
              <a:round/>
              <a:headEnd/>
              <a:tailEnd type="triangle" w="med" len="med"/>
            </a:ln>
          </p:spPr>
          <p:txBody>
            <a:bodyPr wrap="none" anchor="ctr"/>
            <a:lstStyle/>
            <a:p>
              <a:endParaRPr lang="es-ES"/>
            </a:p>
          </p:txBody>
        </p:sp>
        <p:sp>
          <p:nvSpPr>
            <p:cNvPr id="37930" name="Text Box 54"/>
            <p:cNvSpPr txBox="1">
              <a:spLocks noChangeArrowheads="1"/>
            </p:cNvSpPr>
            <p:nvPr/>
          </p:nvSpPr>
          <p:spPr bwMode="auto">
            <a:xfrm>
              <a:off x="2750" y="1152"/>
              <a:ext cx="545" cy="288"/>
            </a:xfrm>
            <a:prstGeom prst="rect">
              <a:avLst/>
            </a:prstGeom>
            <a:noFill/>
            <a:ln w="28575">
              <a:noFill/>
              <a:miter lim="800000"/>
              <a:headEnd/>
              <a:tailEnd/>
            </a:ln>
          </p:spPr>
          <p:txBody>
            <a:bodyPr wrap="none" anchor="ctr">
              <a:spAutoFit/>
            </a:bodyPr>
            <a:lstStyle/>
            <a:p>
              <a:pPr algn="r">
                <a:spcBef>
                  <a:spcPct val="20000"/>
                </a:spcBef>
              </a:pPr>
              <a:r>
                <a:rPr lang="es-ES_tradnl" sz="2400" i="1" dirty="0" err="1">
                  <a:latin typeface="Arial Narrow" pitchFamily="34" charset="0"/>
                </a:rPr>
                <a:t>hword</a:t>
              </a:r>
              <a:endParaRPr lang="es-ES_tradnl" sz="2400" i="1" dirty="0">
                <a:latin typeface="Arial Narrow" pitchFamily="34" charset="0"/>
              </a:endParaRPr>
            </a:p>
          </p:txBody>
        </p:sp>
        <p:sp>
          <p:nvSpPr>
            <p:cNvPr id="37931" name="Freeform 55"/>
            <p:cNvSpPr>
              <a:spLocks/>
            </p:cNvSpPr>
            <p:nvPr/>
          </p:nvSpPr>
          <p:spPr bwMode="auto">
            <a:xfrm>
              <a:off x="2064" y="1584"/>
              <a:ext cx="672" cy="384"/>
            </a:xfrm>
            <a:custGeom>
              <a:avLst/>
              <a:gdLst>
                <a:gd name="T0" fmla="*/ 0 w 960"/>
                <a:gd name="T1" fmla="*/ 0 h 96"/>
                <a:gd name="T2" fmla="*/ 0 w 960"/>
                <a:gd name="T3" fmla="*/ 1572864 h 96"/>
                <a:gd name="T4" fmla="*/ 79 w 960"/>
                <a:gd name="T5" fmla="*/ 1572864 h 96"/>
                <a:gd name="T6" fmla="*/ 0 60000 65536"/>
                <a:gd name="T7" fmla="*/ 0 60000 65536"/>
                <a:gd name="T8" fmla="*/ 0 60000 65536"/>
                <a:gd name="T9" fmla="*/ 0 w 960"/>
                <a:gd name="T10" fmla="*/ 0 h 96"/>
                <a:gd name="T11" fmla="*/ 960 w 960"/>
                <a:gd name="T12" fmla="*/ 96 h 96"/>
              </a:gdLst>
              <a:ahLst/>
              <a:cxnLst>
                <a:cxn ang="T6">
                  <a:pos x="T0" y="T1"/>
                </a:cxn>
                <a:cxn ang="T7">
                  <a:pos x="T2" y="T3"/>
                </a:cxn>
                <a:cxn ang="T8">
                  <a:pos x="T4" y="T5"/>
                </a:cxn>
              </a:cxnLst>
              <a:rect l="T9" t="T10" r="T11" b="T12"/>
              <a:pathLst>
                <a:path w="960" h="96">
                  <a:moveTo>
                    <a:pt x="0" y="0"/>
                  </a:moveTo>
                  <a:lnTo>
                    <a:pt x="0" y="96"/>
                  </a:lnTo>
                  <a:lnTo>
                    <a:pt x="960" y="96"/>
                  </a:lnTo>
                </a:path>
              </a:pathLst>
            </a:custGeom>
            <a:noFill/>
            <a:ln w="28575">
              <a:solidFill>
                <a:schemeClr val="bg1">
                  <a:lumMod val="95000"/>
                </a:schemeClr>
              </a:solidFill>
              <a:round/>
              <a:headEnd/>
              <a:tailEnd type="triangle" w="med" len="med"/>
            </a:ln>
          </p:spPr>
          <p:txBody>
            <a:bodyPr wrap="none" anchor="ctr"/>
            <a:lstStyle/>
            <a:p>
              <a:endParaRPr lang="es-ES"/>
            </a:p>
          </p:txBody>
        </p:sp>
        <p:sp>
          <p:nvSpPr>
            <p:cNvPr id="37932" name="Line 56"/>
            <p:cNvSpPr>
              <a:spLocks noChangeShapeType="1"/>
            </p:cNvSpPr>
            <p:nvPr/>
          </p:nvSpPr>
          <p:spPr bwMode="auto">
            <a:xfrm flipV="1">
              <a:off x="2880" y="2256"/>
              <a:ext cx="240" cy="384"/>
            </a:xfrm>
            <a:prstGeom prst="line">
              <a:avLst/>
            </a:prstGeom>
            <a:noFill/>
            <a:ln w="57150">
              <a:solidFill>
                <a:srgbClr val="FF9966"/>
              </a:solidFill>
              <a:round/>
              <a:headEnd/>
              <a:tailEnd/>
            </a:ln>
          </p:spPr>
          <p:txBody>
            <a:bodyPr wrap="none" anchor="ctr"/>
            <a:lstStyle/>
            <a:p>
              <a:endParaRPr lang="es-ES"/>
            </a:p>
          </p:txBody>
        </p:sp>
        <p:sp>
          <p:nvSpPr>
            <p:cNvPr id="37933" name="Line 57"/>
            <p:cNvSpPr>
              <a:spLocks noChangeShapeType="1"/>
            </p:cNvSpPr>
            <p:nvPr/>
          </p:nvSpPr>
          <p:spPr bwMode="auto">
            <a:xfrm>
              <a:off x="2880" y="2640"/>
              <a:ext cx="240" cy="432"/>
            </a:xfrm>
            <a:prstGeom prst="line">
              <a:avLst/>
            </a:prstGeom>
            <a:noFill/>
            <a:ln w="57150">
              <a:solidFill>
                <a:srgbClr val="FF9966"/>
              </a:solidFill>
              <a:round/>
              <a:headEnd/>
              <a:tailEnd/>
            </a:ln>
          </p:spPr>
          <p:txBody>
            <a:bodyPr wrap="none" anchor="ctr"/>
            <a:lstStyle/>
            <a:p>
              <a:endParaRPr lang="es-ES"/>
            </a:p>
          </p:txBody>
        </p:sp>
        <p:sp>
          <p:nvSpPr>
            <p:cNvPr id="37934" name="Rectangle 58"/>
            <p:cNvSpPr>
              <a:spLocks noChangeArrowheads="1"/>
            </p:cNvSpPr>
            <p:nvPr/>
          </p:nvSpPr>
          <p:spPr bwMode="auto">
            <a:xfrm>
              <a:off x="2784" y="1584"/>
              <a:ext cx="432" cy="1824"/>
            </a:xfrm>
            <a:prstGeom prst="rect">
              <a:avLst/>
            </a:prstGeom>
            <a:noFill/>
            <a:ln w="28575">
              <a:solidFill>
                <a:srgbClr val="FFFF00"/>
              </a:solidFill>
              <a:prstDash val="sysDot"/>
              <a:miter lim="800000"/>
              <a:headEnd/>
              <a:tailEnd/>
            </a:ln>
          </p:spPr>
          <p:txBody>
            <a:bodyPr wrap="none" anchor="ctr"/>
            <a:lstStyle/>
            <a:p>
              <a:endParaRPr lang="es-ES"/>
            </a:p>
          </p:txBody>
        </p:sp>
        <p:sp>
          <p:nvSpPr>
            <p:cNvPr id="37935" name="Text Box 59"/>
            <p:cNvSpPr txBox="1">
              <a:spLocks noChangeArrowheads="1"/>
            </p:cNvSpPr>
            <p:nvPr/>
          </p:nvSpPr>
          <p:spPr bwMode="auto">
            <a:xfrm>
              <a:off x="514" y="1603"/>
              <a:ext cx="1379" cy="250"/>
            </a:xfrm>
            <a:prstGeom prst="rect">
              <a:avLst/>
            </a:prstGeom>
            <a:noFill/>
            <a:ln w="28575">
              <a:noFill/>
              <a:miter lim="800000"/>
              <a:headEnd/>
              <a:tailEnd/>
            </a:ln>
          </p:spPr>
          <p:txBody>
            <a:bodyPr wrap="none" anchor="ctr">
              <a:spAutoFit/>
            </a:bodyPr>
            <a:lstStyle/>
            <a:p>
              <a:pPr>
                <a:spcBef>
                  <a:spcPct val="20000"/>
                </a:spcBef>
              </a:pPr>
              <a:r>
                <a:rPr lang="es-ES_tradnl"/>
                <a:t>Dirección efectiva</a:t>
              </a:r>
            </a:p>
          </p:txBody>
        </p:sp>
        <p:sp>
          <p:nvSpPr>
            <p:cNvPr id="37936" name="Text Box 60"/>
            <p:cNvSpPr txBox="1">
              <a:spLocks noChangeArrowheads="1"/>
            </p:cNvSpPr>
            <p:nvPr/>
          </p:nvSpPr>
          <p:spPr bwMode="auto">
            <a:xfrm>
              <a:off x="588" y="2755"/>
              <a:ext cx="712" cy="250"/>
            </a:xfrm>
            <a:prstGeom prst="rect">
              <a:avLst/>
            </a:prstGeom>
            <a:noFill/>
            <a:ln w="28575">
              <a:noFill/>
              <a:miter lim="800000"/>
              <a:headEnd/>
              <a:tailEnd/>
            </a:ln>
          </p:spPr>
          <p:txBody>
            <a:bodyPr wrap="none" anchor="ctr">
              <a:spAutoFit/>
            </a:bodyPr>
            <a:lstStyle/>
            <a:p>
              <a:pPr>
                <a:spcBef>
                  <a:spcPct val="20000"/>
                </a:spcBef>
              </a:pPr>
              <a:r>
                <a:rPr lang="es-ES_tradnl"/>
                <a:t>Registro</a:t>
              </a:r>
            </a:p>
          </p:txBody>
        </p:sp>
      </p:grpSp>
      <p:sp>
        <p:nvSpPr>
          <p:cNvPr id="37894" name="Rectangle 63"/>
          <p:cNvSpPr>
            <a:spLocks noGrp="1" noChangeArrowheads="1"/>
          </p:cNvSpPr>
          <p:nvPr>
            <p:ph type="body" idx="1"/>
          </p:nvPr>
        </p:nvSpPr>
        <p:spPr>
          <a:xfrm>
            <a:off x="609600" y="1066800"/>
            <a:ext cx="8305800" cy="5334000"/>
          </a:xfrm>
          <a:noFill/>
        </p:spPr>
        <p:txBody>
          <a:bodyPr/>
          <a:lstStyle/>
          <a:p>
            <a:r>
              <a:rPr lang="es-ES" dirty="0"/>
              <a:t>CPU de 32 bits</a:t>
            </a:r>
          </a:p>
          <a:p>
            <a:pPr lvl="1"/>
            <a:r>
              <a:rPr lang="es-ES" dirty="0"/>
              <a:t>Dirección efectiva múltiplo de 2 (bit A</a:t>
            </a:r>
            <a:r>
              <a:rPr lang="es-ES" baseline="-25000" dirty="0"/>
              <a:t>0</a:t>
            </a:r>
            <a:r>
              <a:rPr lang="es-ES" dirty="0"/>
              <a:t> = 0)</a:t>
            </a:r>
          </a:p>
        </p:txBody>
      </p:sp>
      <p:sp>
        <p:nvSpPr>
          <p:cNvPr id="8" name="2 Marcador de número de diapositiva">
            <a:extLst>
              <a:ext uri="{FF2B5EF4-FFF2-40B4-BE49-F238E27FC236}">
                <a16:creationId xmlns:a16="http://schemas.microsoft.com/office/drawing/2014/main" id="{16E8264E-CA9E-54AF-6100-BD01622F21E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reeform 64"/>
          <p:cNvSpPr>
            <a:spLocks/>
          </p:cNvSpPr>
          <p:nvPr/>
        </p:nvSpPr>
        <p:spPr bwMode="blackWhite">
          <a:xfrm>
            <a:off x="323850" y="2133600"/>
            <a:ext cx="5111750" cy="4032250"/>
          </a:xfrm>
          <a:custGeom>
            <a:avLst/>
            <a:gdLst>
              <a:gd name="T0" fmla="*/ 2147483647 w 3220"/>
              <a:gd name="T1" fmla="*/ 0 h 2540"/>
              <a:gd name="T2" fmla="*/ 2147483647 w 3220"/>
              <a:gd name="T3" fmla="*/ 0 h 2540"/>
              <a:gd name="T4" fmla="*/ 2147483647 w 3220"/>
              <a:gd name="T5" fmla="*/ 2147483647 h 2540"/>
              <a:gd name="T6" fmla="*/ 2147483647 w 3220"/>
              <a:gd name="T7" fmla="*/ 2147483647 h 2540"/>
              <a:gd name="T8" fmla="*/ 2147483647 w 3220"/>
              <a:gd name="T9" fmla="*/ 2147483647 h 2540"/>
              <a:gd name="T10" fmla="*/ 0 w 3220"/>
              <a:gd name="T11" fmla="*/ 2147483647 h 2540"/>
              <a:gd name="T12" fmla="*/ 2147483647 w 3220"/>
              <a:gd name="T13" fmla="*/ 2147483647 h 2540"/>
              <a:gd name="T14" fmla="*/ 2147483647 w 3220"/>
              <a:gd name="T15" fmla="*/ 2147483647 h 2540"/>
              <a:gd name="T16" fmla="*/ 2147483647 w 3220"/>
              <a:gd name="T17" fmla="*/ 2147483647 h 2540"/>
              <a:gd name="T18" fmla="*/ 2147483647 w 3220"/>
              <a:gd name="T19" fmla="*/ 2147483647 h 2540"/>
              <a:gd name="T20" fmla="*/ 2147483647 w 3220"/>
              <a:gd name="T21" fmla="*/ 2147483647 h 2540"/>
              <a:gd name="T22" fmla="*/ 2147483647 w 3220"/>
              <a:gd name="T23" fmla="*/ 0 h 2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20"/>
              <a:gd name="T37" fmla="*/ 0 h 2540"/>
              <a:gd name="T38" fmla="*/ 3220 w 3220"/>
              <a:gd name="T39" fmla="*/ 2540 h 25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20" h="2540">
                <a:moveTo>
                  <a:pt x="91" y="0"/>
                </a:moveTo>
                <a:lnTo>
                  <a:pt x="3220" y="0"/>
                </a:lnTo>
                <a:lnTo>
                  <a:pt x="3220" y="2540"/>
                </a:lnTo>
                <a:lnTo>
                  <a:pt x="91" y="2540"/>
                </a:lnTo>
                <a:lnTo>
                  <a:pt x="181" y="2177"/>
                </a:lnTo>
                <a:lnTo>
                  <a:pt x="0" y="1632"/>
                </a:lnTo>
                <a:lnTo>
                  <a:pt x="136" y="1360"/>
                </a:lnTo>
                <a:lnTo>
                  <a:pt x="181" y="952"/>
                </a:lnTo>
                <a:lnTo>
                  <a:pt x="136" y="680"/>
                </a:lnTo>
                <a:lnTo>
                  <a:pt x="227" y="453"/>
                </a:lnTo>
                <a:cubicBezTo>
                  <a:pt x="220" y="377"/>
                  <a:pt x="114" y="301"/>
                  <a:pt x="91" y="226"/>
                </a:cubicBezTo>
                <a:cubicBezTo>
                  <a:pt x="68" y="151"/>
                  <a:pt x="91" y="47"/>
                  <a:pt x="91" y="0"/>
                </a:cubicBezTo>
                <a:close/>
              </a:path>
            </a:pathLst>
          </a:custGeom>
          <a:solidFill>
            <a:schemeClr val="accent5">
              <a:lumMod val="20000"/>
              <a:lumOff val="80000"/>
            </a:schemeClr>
          </a:solidFill>
          <a:ln w="9525">
            <a:round/>
            <a:headEnd/>
            <a:tailEnd/>
          </a:ln>
          <a:scene3d>
            <a:camera prst="legacyObliqueTopRight"/>
            <a:lightRig rig="legacyFlat3" dir="b"/>
          </a:scene3d>
          <a:sp3d extrusionH="49200" prstMaterial="legacyMetal">
            <a:bevelT w="13500" h="13500" prst="angle"/>
            <a:bevelB w="13500" h="13500" prst="angle"/>
            <a:extrusionClr>
              <a:schemeClr val="folHlink"/>
            </a:extrusionClr>
          </a:sp3d>
        </p:spPr>
        <p:txBody>
          <a:bodyPr lIns="0" tIns="0" rIns="0" bIns="0" anchor="ctr">
            <a:flatTx/>
          </a:bodyPr>
          <a:lstStyle/>
          <a:p>
            <a:endParaRPr lang="es-ES"/>
          </a:p>
        </p:txBody>
      </p:sp>
      <p:sp>
        <p:nvSpPr>
          <p:cNvPr id="38916" name="Rectangle 2"/>
          <p:cNvSpPr>
            <a:spLocks noGrp="1" noChangeArrowheads="1"/>
          </p:cNvSpPr>
          <p:nvPr>
            <p:ph type="title"/>
          </p:nvPr>
        </p:nvSpPr>
        <p:spPr/>
        <p:txBody>
          <a:bodyPr/>
          <a:lstStyle/>
          <a:p>
            <a:r>
              <a:rPr lang="es-ES"/>
              <a:t>Acceso a un byte (8 bits)</a:t>
            </a:r>
          </a:p>
        </p:txBody>
      </p:sp>
      <p:grpSp>
        <p:nvGrpSpPr>
          <p:cNvPr id="2" name="Group 61"/>
          <p:cNvGrpSpPr>
            <a:grpSpLocks/>
          </p:cNvGrpSpPr>
          <p:nvPr/>
        </p:nvGrpSpPr>
        <p:grpSpPr bwMode="auto">
          <a:xfrm>
            <a:off x="815975" y="2362200"/>
            <a:ext cx="7947025" cy="3581400"/>
            <a:chOff x="514" y="1152"/>
            <a:chExt cx="5006" cy="2256"/>
          </a:xfrm>
        </p:grpSpPr>
        <p:sp>
          <p:nvSpPr>
            <p:cNvPr id="38919" name="Rectangle 4"/>
            <p:cNvSpPr>
              <a:spLocks noChangeArrowheads="1"/>
            </p:cNvSpPr>
            <p:nvPr/>
          </p:nvSpPr>
          <p:spPr bwMode="auto">
            <a:xfrm>
              <a:off x="528" y="1344"/>
              <a:ext cx="1872" cy="240"/>
            </a:xfrm>
            <a:prstGeom prst="rect">
              <a:avLst/>
            </a:prstGeom>
            <a:noFill/>
            <a:ln w="28575">
              <a:solidFill>
                <a:schemeClr val="bg1">
                  <a:lumMod val="95000"/>
                </a:schemeClr>
              </a:solidFill>
              <a:miter lim="800000"/>
              <a:headEnd/>
              <a:tailEnd/>
            </a:ln>
          </p:spPr>
          <p:txBody>
            <a:bodyPr wrap="none" anchor="ctr"/>
            <a:lstStyle/>
            <a:p>
              <a:endParaRPr lang="es-ES"/>
            </a:p>
          </p:txBody>
        </p:sp>
        <p:sp>
          <p:nvSpPr>
            <p:cNvPr id="38920" name="Text Box 5"/>
            <p:cNvSpPr txBox="1">
              <a:spLocks noChangeArrowheads="1"/>
            </p:cNvSpPr>
            <p:nvPr/>
          </p:nvSpPr>
          <p:spPr bwMode="auto">
            <a:xfrm>
              <a:off x="514" y="1603"/>
              <a:ext cx="1379" cy="250"/>
            </a:xfrm>
            <a:prstGeom prst="rect">
              <a:avLst/>
            </a:prstGeom>
            <a:noFill/>
            <a:ln w="28575">
              <a:noFill/>
              <a:miter lim="800000"/>
              <a:headEnd/>
              <a:tailEnd/>
            </a:ln>
          </p:spPr>
          <p:txBody>
            <a:bodyPr wrap="none" anchor="ctr">
              <a:spAutoFit/>
            </a:bodyPr>
            <a:lstStyle/>
            <a:p>
              <a:pPr>
                <a:spcBef>
                  <a:spcPct val="20000"/>
                </a:spcBef>
              </a:pPr>
              <a:r>
                <a:rPr lang="es-ES_tradnl"/>
                <a:t>Dirección efectiva</a:t>
              </a:r>
            </a:p>
          </p:txBody>
        </p:sp>
        <p:sp>
          <p:nvSpPr>
            <p:cNvPr id="38921" name="Text Box 6"/>
            <p:cNvSpPr txBox="1">
              <a:spLocks noChangeArrowheads="1"/>
            </p:cNvSpPr>
            <p:nvPr/>
          </p:nvSpPr>
          <p:spPr bwMode="auto">
            <a:xfrm>
              <a:off x="570" y="1296"/>
              <a:ext cx="33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31</a:t>
              </a:r>
              <a:endParaRPr lang="es-ES_tradnl" sz="2400"/>
            </a:p>
          </p:txBody>
        </p:sp>
        <p:sp>
          <p:nvSpPr>
            <p:cNvPr id="38922" name="Text Box 7"/>
            <p:cNvSpPr txBox="1">
              <a:spLocks noChangeArrowheads="1"/>
            </p:cNvSpPr>
            <p:nvPr/>
          </p:nvSpPr>
          <p:spPr bwMode="auto">
            <a:xfrm>
              <a:off x="1396" y="1296"/>
              <a:ext cx="279"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2</a:t>
              </a:r>
              <a:endParaRPr lang="es-ES_tradnl" sz="2400"/>
            </a:p>
          </p:txBody>
        </p:sp>
        <p:sp>
          <p:nvSpPr>
            <p:cNvPr id="38923" name="Text Box 8"/>
            <p:cNvSpPr txBox="1">
              <a:spLocks noChangeArrowheads="1"/>
            </p:cNvSpPr>
            <p:nvPr/>
          </p:nvSpPr>
          <p:spPr bwMode="auto">
            <a:xfrm>
              <a:off x="1021" y="1296"/>
              <a:ext cx="276" cy="288"/>
            </a:xfrm>
            <a:prstGeom prst="rect">
              <a:avLst/>
            </a:prstGeom>
            <a:noFill/>
            <a:ln w="28575">
              <a:noFill/>
              <a:miter lim="800000"/>
              <a:headEnd/>
              <a:tailEnd/>
            </a:ln>
          </p:spPr>
          <p:txBody>
            <a:bodyPr wrap="none" anchor="ctr">
              <a:spAutoFit/>
            </a:bodyPr>
            <a:lstStyle/>
            <a:p>
              <a:pPr>
                <a:spcBef>
                  <a:spcPct val="20000"/>
                </a:spcBef>
              </a:pPr>
              <a:r>
                <a:rPr lang="es-ES_tradnl" sz="2400"/>
                <a:t>...</a:t>
              </a:r>
            </a:p>
          </p:txBody>
        </p:sp>
        <p:sp>
          <p:nvSpPr>
            <p:cNvPr id="38924" name="Line 9"/>
            <p:cNvSpPr>
              <a:spLocks noChangeShapeType="1"/>
            </p:cNvSpPr>
            <p:nvPr/>
          </p:nvSpPr>
          <p:spPr bwMode="auto">
            <a:xfrm>
              <a:off x="1728" y="1344"/>
              <a:ext cx="0" cy="240"/>
            </a:xfrm>
            <a:prstGeom prst="line">
              <a:avLst/>
            </a:prstGeom>
            <a:noFill/>
            <a:ln w="28575">
              <a:solidFill>
                <a:schemeClr val="bg1">
                  <a:lumMod val="95000"/>
                </a:schemeClr>
              </a:solidFill>
              <a:prstDash val="sysDot"/>
              <a:round/>
              <a:headEnd/>
              <a:tailEnd/>
            </a:ln>
          </p:spPr>
          <p:txBody>
            <a:bodyPr wrap="none" anchor="ctr"/>
            <a:lstStyle/>
            <a:p>
              <a:endParaRPr lang="es-ES"/>
            </a:p>
          </p:txBody>
        </p:sp>
        <p:sp>
          <p:nvSpPr>
            <p:cNvPr id="38925" name="Text Box 10"/>
            <p:cNvSpPr txBox="1">
              <a:spLocks noChangeArrowheads="1"/>
            </p:cNvSpPr>
            <p:nvPr/>
          </p:nvSpPr>
          <p:spPr bwMode="auto">
            <a:xfrm>
              <a:off x="1780" y="1296"/>
              <a:ext cx="279"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1</a:t>
              </a:r>
              <a:endParaRPr lang="es-ES_tradnl" sz="2400"/>
            </a:p>
          </p:txBody>
        </p:sp>
        <p:sp>
          <p:nvSpPr>
            <p:cNvPr id="38926" name="Text Box 11"/>
            <p:cNvSpPr txBox="1">
              <a:spLocks noChangeArrowheads="1"/>
            </p:cNvSpPr>
            <p:nvPr/>
          </p:nvSpPr>
          <p:spPr bwMode="auto">
            <a:xfrm>
              <a:off x="2116" y="1296"/>
              <a:ext cx="279"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0</a:t>
              </a:r>
              <a:endParaRPr lang="es-ES_tradnl" sz="2400"/>
            </a:p>
          </p:txBody>
        </p:sp>
        <p:sp>
          <p:nvSpPr>
            <p:cNvPr id="38927" name="Rectangle 12"/>
            <p:cNvSpPr>
              <a:spLocks noChangeArrowheads="1"/>
            </p:cNvSpPr>
            <p:nvPr/>
          </p:nvSpPr>
          <p:spPr bwMode="auto">
            <a:xfrm>
              <a:off x="2832" y="1632"/>
              <a:ext cx="336" cy="288"/>
            </a:xfrm>
            <a:prstGeom prst="rect">
              <a:avLst/>
            </a:prstGeom>
            <a:noFill/>
            <a:ln w="28575">
              <a:solidFill>
                <a:srgbClr val="FFFF00"/>
              </a:solidFill>
              <a:miter lim="800000"/>
              <a:headEnd/>
              <a:tailEnd/>
            </a:ln>
          </p:spPr>
          <p:txBody>
            <a:bodyPr wrap="none" anchor="ctr"/>
            <a:lstStyle/>
            <a:p>
              <a:endParaRPr lang="es-ES"/>
            </a:p>
          </p:txBody>
        </p:sp>
        <p:grpSp>
          <p:nvGrpSpPr>
            <p:cNvPr id="3" name="Group 13"/>
            <p:cNvGrpSpPr>
              <a:grpSpLocks/>
            </p:cNvGrpSpPr>
            <p:nvPr/>
          </p:nvGrpSpPr>
          <p:grpSpPr bwMode="auto">
            <a:xfrm rot="5400000">
              <a:off x="3528" y="1848"/>
              <a:ext cx="1008" cy="1632"/>
              <a:chOff x="1968" y="2640"/>
              <a:chExt cx="1008" cy="432"/>
            </a:xfrm>
          </p:grpSpPr>
          <p:sp>
            <p:nvSpPr>
              <p:cNvPr id="38972" name="Line 14"/>
              <p:cNvSpPr>
                <a:spLocks noChangeShapeType="1"/>
              </p:cNvSpPr>
              <p:nvPr/>
            </p:nvSpPr>
            <p:spPr bwMode="auto">
              <a:xfrm>
                <a:off x="1968" y="2640"/>
                <a:ext cx="0" cy="432"/>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8973" name="Line 15"/>
              <p:cNvSpPr>
                <a:spLocks noChangeShapeType="1"/>
              </p:cNvSpPr>
              <p:nvPr/>
            </p:nvSpPr>
            <p:spPr bwMode="auto">
              <a:xfrm>
                <a:off x="2304" y="2640"/>
                <a:ext cx="0" cy="432"/>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8974" name="Line 16"/>
              <p:cNvSpPr>
                <a:spLocks noChangeShapeType="1"/>
              </p:cNvSpPr>
              <p:nvPr/>
            </p:nvSpPr>
            <p:spPr bwMode="auto">
              <a:xfrm>
                <a:off x="2640" y="2640"/>
                <a:ext cx="0" cy="432"/>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38975" name="Line 17"/>
              <p:cNvSpPr>
                <a:spLocks noChangeShapeType="1"/>
              </p:cNvSpPr>
              <p:nvPr/>
            </p:nvSpPr>
            <p:spPr bwMode="auto">
              <a:xfrm>
                <a:off x="2976" y="2640"/>
                <a:ext cx="0" cy="432"/>
              </a:xfrm>
              <a:prstGeom prst="line">
                <a:avLst/>
              </a:prstGeom>
              <a:noFill/>
              <a:ln w="57150">
                <a:solidFill>
                  <a:srgbClr val="FF9900"/>
                </a:solidFill>
                <a:round/>
                <a:headEnd type="triangle" w="med" len="med"/>
                <a:tailEnd type="triangle" w="med" len="med"/>
              </a:ln>
            </p:spPr>
            <p:txBody>
              <a:bodyPr wrap="none" anchor="ctr"/>
              <a:lstStyle/>
              <a:p>
                <a:endParaRPr lang="es-ES"/>
              </a:p>
            </p:txBody>
          </p:sp>
        </p:grpSp>
        <p:sp>
          <p:nvSpPr>
            <p:cNvPr id="38929" name="Text Box 18"/>
            <p:cNvSpPr txBox="1">
              <a:spLocks noChangeArrowheads="1"/>
            </p:cNvSpPr>
            <p:nvPr/>
          </p:nvSpPr>
          <p:spPr bwMode="auto">
            <a:xfrm>
              <a:off x="3546" y="1248"/>
              <a:ext cx="294" cy="250"/>
            </a:xfrm>
            <a:prstGeom prst="rect">
              <a:avLst/>
            </a:prstGeom>
            <a:noFill/>
            <a:ln w="28575">
              <a:noFill/>
              <a:miter lim="800000"/>
              <a:headEnd/>
              <a:tailEnd/>
            </a:ln>
          </p:spPr>
          <p:txBody>
            <a:bodyPr wrap="none" anchor="ctr">
              <a:spAutoFit/>
            </a:bodyPr>
            <a:lstStyle/>
            <a:p>
              <a:pPr>
                <a:spcBef>
                  <a:spcPct val="20000"/>
                </a:spcBef>
              </a:pPr>
              <a:r>
                <a:rPr lang="es-ES_tradnl"/>
                <a:t>30</a:t>
              </a:r>
            </a:p>
          </p:txBody>
        </p:sp>
        <p:grpSp>
          <p:nvGrpSpPr>
            <p:cNvPr id="4" name="Group 19"/>
            <p:cNvGrpSpPr>
              <a:grpSpLocks/>
            </p:cNvGrpSpPr>
            <p:nvPr/>
          </p:nvGrpSpPr>
          <p:grpSpPr bwMode="auto">
            <a:xfrm>
              <a:off x="3888" y="1536"/>
              <a:ext cx="864" cy="288"/>
              <a:chOff x="3360" y="1968"/>
              <a:chExt cx="864" cy="288"/>
            </a:xfrm>
          </p:grpSpPr>
          <p:grpSp>
            <p:nvGrpSpPr>
              <p:cNvPr id="5" name="Group 20"/>
              <p:cNvGrpSpPr>
                <a:grpSpLocks/>
              </p:cNvGrpSpPr>
              <p:nvPr/>
            </p:nvGrpSpPr>
            <p:grpSpPr bwMode="auto">
              <a:xfrm>
                <a:off x="3840" y="1968"/>
                <a:ext cx="384" cy="288"/>
                <a:chOff x="3792" y="1968"/>
                <a:chExt cx="384" cy="288"/>
              </a:xfrm>
            </p:grpSpPr>
            <p:sp>
              <p:nvSpPr>
                <p:cNvPr id="38970" name="Text Box 21"/>
                <p:cNvSpPr txBox="1">
                  <a:spLocks noChangeArrowheads="1"/>
                </p:cNvSpPr>
                <p:nvPr/>
              </p:nvSpPr>
              <p:spPr bwMode="auto">
                <a:xfrm>
                  <a:off x="3792" y="1968"/>
                  <a:ext cx="384"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BE</a:t>
                  </a:r>
                  <a:r>
                    <a:rPr lang="es-ES_tradnl" sz="2400" b="1" baseline="-25000">
                      <a:latin typeface="Arial Narrow" pitchFamily="34" charset="0"/>
                    </a:rPr>
                    <a:t>0</a:t>
                  </a:r>
                  <a:endParaRPr lang="es-ES_tradnl" sz="2400"/>
                </a:p>
              </p:txBody>
            </p:sp>
            <p:sp>
              <p:nvSpPr>
                <p:cNvPr id="38971" name="Line 22"/>
                <p:cNvSpPr>
                  <a:spLocks noChangeShapeType="1"/>
                </p:cNvSpPr>
                <p:nvPr/>
              </p:nvSpPr>
              <p:spPr bwMode="auto">
                <a:xfrm>
                  <a:off x="3861" y="2016"/>
                  <a:ext cx="192" cy="0"/>
                </a:xfrm>
                <a:prstGeom prst="line">
                  <a:avLst/>
                </a:prstGeom>
                <a:noFill/>
                <a:ln w="19050">
                  <a:solidFill>
                    <a:schemeClr val="tx1"/>
                  </a:solidFill>
                  <a:round/>
                  <a:headEnd/>
                  <a:tailEnd/>
                </a:ln>
              </p:spPr>
              <p:txBody>
                <a:bodyPr wrap="none" anchor="ctr"/>
                <a:lstStyle/>
                <a:p>
                  <a:endParaRPr lang="es-ES"/>
                </a:p>
              </p:txBody>
            </p:sp>
          </p:grpSp>
          <p:grpSp>
            <p:nvGrpSpPr>
              <p:cNvPr id="6" name="Group 23"/>
              <p:cNvGrpSpPr>
                <a:grpSpLocks/>
              </p:cNvGrpSpPr>
              <p:nvPr/>
            </p:nvGrpSpPr>
            <p:grpSpPr bwMode="auto">
              <a:xfrm>
                <a:off x="3360" y="1968"/>
                <a:ext cx="384" cy="288"/>
                <a:chOff x="3792" y="1968"/>
                <a:chExt cx="384" cy="288"/>
              </a:xfrm>
            </p:grpSpPr>
            <p:sp>
              <p:nvSpPr>
                <p:cNvPr id="38968" name="Text Box 24"/>
                <p:cNvSpPr txBox="1">
                  <a:spLocks noChangeArrowheads="1"/>
                </p:cNvSpPr>
                <p:nvPr/>
              </p:nvSpPr>
              <p:spPr bwMode="auto">
                <a:xfrm>
                  <a:off x="3792" y="1968"/>
                  <a:ext cx="384"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BE</a:t>
                  </a:r>
                  <a:r>
                    <a:rPr lang="es-ES_tradnl" sz="2400" b="1" baseline="-25000">
                      <a:latin typeface="Arial Narrow" pitchFamily="34" charset="0"/>
                    </a:rPr>
                    <a:t>3</a:t>
                  </a:r>
                  <a:endParaRPr lang="es-ES_tradnl" sz="2400"/>
                </a:p>
              </p:txBody>
            </p:sp>
            <p:sp>
              <p:nvSpPr>
                <p:cNvPr id="38969" name="Line 25"/>
                <p:cNvSpPr>
                  <a:spLocks noChangeShapeType="1"/>
                </p:cNvSpPr>
                <p:nvPr/>
              </p:nvSpPr>
              <p:spPr bwMode="auto">
                <a:xfrm>
                  <a:off x="3861" y="2016"/>
                  <a:ext cx="192" cy="0"/>
                </a:xfrm>
                <a:prstGeom prst="line">
                  <a:avLst/>
                </a:prstGeom>
                <a:noFill/>
                <a:ln w="19050">
                  <a:solidFill>
                    <a:schemeClr val="tx1"/>
                  </a:solidFill>
                  <a:round/>
                  <a:headEnd/>
                  <a:tailEnd/>
                </a:ln>
              </p:spPr>
              <p:txBody>
                <a:bodyPr wrap="none" anchor="ctr"/>
                <a:lstStyle/>
                <a:p>
                  <a:endParaRPr lang="es-ES"/>
                </a:p>
              </p:txBody>
            </p:sp>
          </p:grpSp>
          <p:sp>
            <p:nvSpPr>
              <p:cNvPr id="38967" name="Text Box 26"/>
              <p:cNvSpPr txBox="1">
                <a:spLocks noChangeArrowheads="1"/>
              </p:cNvSpPr>
              <p:nvPr/>
            </p:nvSpPr>
            <p:spPr bwMode="auto">
              <a:xfrm>
                <a:off x="3662" y="1968"/>
                <a:ext cx="247"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t>
                </a:r>
              </a:p>
            </p:txBody>
          </p:sp>
        </p:grpSp>
        <p:sp>
          <p:nvSpPr>
            <p:cNvPr id="38931" name="Line 27"/>
            <p:cNvSpPr>
              <a:spLocks noChangeShapeType="1"/>
            </p:cNvSpPr>
            <p:nvPr/>
          </p:nvSpPr>
          <p:spPr bwMode="auto">
            <a:xfrm flipH="1">
              <a:off x="3757" y="1680"/>
              <a:ext cx="96" cy="192"/>
            </a:xfrm>
            <a:prstGeom prst="line">
              <a:avLst/>
            </a:prstGeom>
            <a:noFill/>
            <a:ln w="19050">
              <a:solidFill>
                <a:srgbClr val="92D050"/>
              </a:solidFill>
              <a:round/>
              <a:headEnd/>
              <a:tailEnd/>
            </a:ln>
          </p:spPr>
          <p:txBody>
            <a:bodyPr wrap="none" anchor="ctr"/>
            <a:lstStyle/>
            <a:p>
              <a:endParaRPr lang="es-ES"/>
            </a:p>
          </p:txBody>
        </p:sp>
        <p:sp>
          <p:nvSpPr>
            <p:cNvPr id="38932" name="Text Box 28"/>
            <p:cNvSpPr txBox="1">
              <a:spLocks noChangeArrowheads="1"/>
            </p:cNvSpPr>
            <p:nvPr/>
          </p:nvSpPr>
          <p:spPr bwMode="auto">
            <a:xfrm>
              <a:off x="3600" y="1574"/>
              <a:ext cx="205" cy="250"/>
            </a:xfrm>
            <a:prstGeom prst="rect">
              <a:avLst/>
            </a:prstGeom>
            <a:noFill/>
            <a:ln w="28575">
              <a:noFill/>
              <a:miter lim="800000"/>
              <a:headEnd/>
              <a:tailEnd/>
            </a:ln>
          </p:spPr>
          <p:txBody>
            <a:bodyPr wrap="none" anchor="ctr">
              <a:spAutoFit/>
            </a:bodyPr>
            <a:lstStyle/>
            <a:p>
              <a:pPr>
                <a:spcBef>
                  <a:spcPct val="20000"/>
                </a:spcBef>
              </a:pPr>
              <a:r>
                <a:rPr lang="es-ES_tradnl"/>
                <a:t>4</a:t>
              </a:r>
            </a:p>
          </p:txBody>
        </p:sp>
        <p:sp>
          <p:nvSpPr>
            <p:cNvPr id="38933" name="Rectangle 29"/>
            <p:cNvSpPr>
              <a:spLocks noChangeArrowheads="1"/>
            </p:cNvSpPr>
            <p:nvPr/>
          </p:nvSpPr>
          <p:spPr bwMode="auto">
            <a:xfrm>
              <a:off x="4848" y="1344"/>
              <a:ext cx="672" cy="2016"/>
            </a:xfrm>
            <a:prstGeom prst="rect">
              <a:avLst/>
            </a:prstGeom>
            <a:noFill/>
            <a:ln w="38100">
              <a:solidFill>
                <a:schemeClr val="accent5"/>
              </a:solidFill>
              <a:miter lim="800000"/>
              <a:headEnd/>
              <a:tailEnd/>
            </a:ln>
          </p:spPr>
          <p:txBody>
            <a:bodyPr wrap="none" anchor="ctr"/>
            <a:lstStyle/>
            <a:p>
              <a:pPr>
                <a:spcBef>
                  <a:spcPct val="20000"/>
                </a:spcBef>
              </a:pPr>
              <a:r>
                <a:rPr lang="es-ES_tradnl" sz="2400"/>
                <a:t>MP</a:t>
              </a:r>
            </a:p>
          </p:txBody>
        </p:sp>
        <p:sp>
          <p:nvSpPr>
            <p:cNvPr id="38934" name="Line 30"/>
            <p:cNvSpPr>
              <a:spLocks noChangeShapeType="1"/>
            </p:cNvSpPr>
            <p:nvPr/>
          </p:nvSpPr>
          <p:spPr bwMode="auto">
            <a:xfrm flipH="1">
              <a:off x="2064" y="2736"/>
              <a:ext cx="192" cy="48"/>
            </a:xfrm>
            <a:prstGeom prst="line">
              <a:avLst/>
            </a:prstGeom>
            <a:noFill/>
            <a:ln w="19050">
              <a:solidFill>
                <a:schemeClr val="bg1">
                  <a:lumMod val="95000"/>
                </a:schemeClr>
              </a:solidFill>
              <a:round/>
              <a:headEnd/>
              <a:tailEnd/>
            </a:ln>
          </p:spPr>
          <p:txBody>
            <a:bodyPr wrap="none" anchor="ctr"/>
            <a:lstStyle/>
            <a:p>
              <a:endParaRPr lang="es-ES"/>
            </a:p>
          </p:txBody>
        </p:sp>
        <p:sp>
          <p:nvSpPr>
            <p:cNvPr id="38935" name="Text Box 31"/>
            <p:cNvSpPr txBox="1">
              <a:spLocks noChangeArrowheads="1"/>
            </p:cNvSpPr>
            <p:nvPr/>
          </p:nvSpPr>
          <p:spPr bwMode="auto">
            <a:xfrm>
              <a:off x="1907" y="2640"/>
              <a:ext cx="205" cy="250"/>
            </a:xfrm>
            <a:prstGeom prst="rect">
              <a:avLst/>
            </a:prstGeom>
            <a:noFill/>
            <a:ln w="28575">
              <a:noFill/>
              <a:miter lim="800000"/>
              <a:headEnd/>
              <a:tailEnd/>
            </a:ln>
          </p:spPr>
          <p:txBody>
            <a:bodyPr wrap="none" anchor="ctr">
              <a:spAutoFit/>
            </a:bodyPr>
            <a:lstStyle/>
            <a:p>
              <a:pPr>
                <a:spcBef>
                  <a:spcPct val="20000"/>
                </a:spcBef>
              </a:pPr>
              <a:r>
                <a:rPr lang="es-ES_tradnl"/>
                <a:t>8</a:t>
              </a:r>
            </a:p>
          </p:txBody>
        </p:sp>
        <p:sp>
          <p:nvSpPr>
            <p:cNvPr id="38936" name="Text Box 32"/>
            <p:cNvSpPr txBox="1">
              <a:spLocks noChangeArrowheads="1"/>
            </p:cNvSpPr>
            <p:nvPr/>
          </p:nvSpPr>
          <p:spPr bwMode="auto">
            <a:xfrm>
              <a:off x="3888" y="1200"/>
              <a:ext cx="632"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A</a:t>
              </a:r>
              <a:r>
                <a:rPr lang="es-ES_tradnl" sz="2400" b="1" baseline="-25000">
                  <a:latin typeface="Arial Narrow" pitchFamily="34" charset="0"/>
                </a:rPr>
                <a:t>31</a:t>
              </a:r>
              <a:r>
                <a:rPr lang="es-ES_tradnl" sz="2400">
                  <a:latin typeface="Arial Narrow" pitchFamily="34" charset="0"/>
                </a:rPr>
                <a:t>...A</a:t>
              </a:r>
              <a:r>
                <a:rPr lang="es-ES_tradnl" sz="2400" b="1" baseline="-25000">
                  <a:latin typeface="Arial Narrow" pitchFamily="34" charset="0"/>
                </a:rPr>
                <a:t>2</a:t>
              </a:r>
              <a:endParaRPr lang="es-ES_tradnl" sz="2400">
                <a:latin typeface="Arial Narrow" pitchFamily="34" charset="0"/>
              </a:endParaRPr>
            </a:p>
          </p:txBody>
        </p:sp>
        <p:grpSp>
          <p:nvGrpSpPr>
            <p:cNvPr id="7" name="Group 33"/>
            <p:cNvGrpSpPr>
              <a:grpSpLocks/>
            </p:cNvGrpSpPr>
            <p:nvPr/>
          </p:nvGrpSpPr>
          <p:grpSpPr bwMode="auto">
            <a:xfrm>
              <a:off x="2832" y="1968"/>
              <a:ext cx="336" cy="1392"/>
              <a:chOff x="2448" y="2016"/>
              <a:chExt cx="384" cy="1440"/>
            </a:xfrm>
          </p:grpSpPr>
          <p:sp>
            <p:nvSpPr>
              <p:cNvPr id="38963" name="Rectangle 34"/>
              <p:cNvSpPr>
                <a:spLocks noChangeArrowheads="1"/>
              </p:cNvSpPr>
              <p:nvPr/>
            </p:nvSpPr>
            <p:spPr bwMode="auto">
              <a:xfrm>
                <a:off x="2448" y="2016"/>
                <a:ext cx="384" cy="1440"/>
              </a:xfrm>
              <a:prstGeom prst="rect">
                <a:avLst/>
              </a:prstGeom>
              <a:noFill/>
              <a:ln w="28575">
                <a:solidFill>
                  <a:srgbClr val="FFFF00"/>
                </a:solidFill>
                <a:miter lim="800000"/>
                <a:headEnd/>
                <a:tailEnd/>
              </a:ln>
            </p:spPr>
            <p:txBody>
              <a:bodyPr wrap="none" anchor="ctr"/>
              <a:lstStyle/>
              <a:p>
                <a:endParaRPr lang="es-ES"/>
              </a:p>
            </p:txBody>
          </p:sp>
          <p:sp>
            <p:nvSpPr>
              <p:cNvPr id="38964" name="Text Box 35"/>
              <p:cNvSpPr txBox="1">
                <a:spLocks noChangeArrowheads="1"/>
              </p:cNvSpPr>
              <p:nvPr/>
            </p:nvSpPr>
            <p:spPr bwMode="auto">
              <a:xfrm rot="-5400000">
                <a:off x="2459" y="2569"/>
                <a:ext cx="358" cy="329"/>
              </a:xfrm>
              <a:prstGeom prst="rect">
                <a:avLst/>
              </a:prstGeom>
              <a:noFill/>
              <a:ln w="28575">
                <a:noFill/>
                <a:miter lim="800000"/>
                <a:headEnd/>
                <a:tailEnd/>
              </a:ln>
            </p:spPr>
            <p:txBody>
              <a:bodyPr vert="eaVert" anchor="ctr">
                <a:spAutoFit/>
              </a:bodyPr>
              <a:lstStyle/>
              <a:p>
                <a:pPr>
                  <a:spcBef>
                    <a:spcPct val="20000"/>
                  </a:spcBef>
                </a:pPr>
                <a:endParaRPr lang="es-ES_tradnl" sz="2400"/>
              </a:p>
            </p:txBody>
          </p:sp>
        </p:grpSp>
        <p:sp>
          <p:nvSpPr>
            <p:cNvPr id="38938" name="Text Box 36"/>
            <p:cNvSpPr txBox="1">
              <a:spLocks noChangeArrowheads="1"/>
            </p:cNvSpPr>
            <p:nvPr/>
          </p:nvSpPr>
          <p:spPr bwMode="auto">
            <a:xfrm>
              <a:off x="3888" y="1872"/>
              <a:ext cx="70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31</a:t>
              </a:r>
              <a:r>
                <a:rPr lang="es-ES_tradnl" sz="2400">
                  <a:latin typeface="Arial Narrow" pitchFamily="34" charset="0"/>
                </a:rPr>
                <a:t>...D</a:t>
              </a:r>
              <a:r>
                <a:rPr lang="es-ES_tradnl" sz="2400" b="1" baseline="-25000">
                  <a:latin typeface="Arial Narrow" pitchFamily="34" charset="0"/>
                </a:rPr>
                <a:t>24</a:t>
              </a:r>
              <a:endParaRPr lang="es-ES_tradnl" sz="2400">
                <a:latin typeface="Arial Narrow" pitchFamily="34" charset="0"/>
              </a:endParaRPr>
            </a:p>
          </p:txBody>
        </p:sp>
        <p:sp>
          <p:nvSpPr>
            <p:cNvPr id="38939" name="Text Box 37"/>
            <p:cNvSpPr txBox="1">
              <a:spLocks noChangeArrowheads="1"/>
            </p:cNvSpPr>
            <p:nvPr/>
          </p:nvSpPr>
          <p:spPr bwMode="auto">
            <a:xfrm>
              <a:off x="3888" y="2208"/>
              <a:ext cx="708"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23</a:t>
              </a:r>
              <a:r>
                <a:rPr lang="es-ES_tradnl" sz="2400">
                  <a:latin typeface="Arial Narrow" pitchFamily="34" charset="0"/>
                </a:rPr>
                <a:t>...D</a:t>
              </a:r>
              <a:r>
                <a:rPr lang="es-ES_tradnl" sz="2400" b="1" baseline="-25000">
                  <a:latin typeface="Arial Narrow" pitchFamily="34" charset="0"/>
                </a:rPr>
                <a:t>16</a:t>
              </a:r>
              <a:endParaRPr lang="es-ES_tradnl" sz="2400">
                <a:latin typeface="Arial Narrow" pitchFamily="34" charset="0"/>
              </a:endParaRPr>
            </a:p>
          </p:txBody>
        </p:sp>
        <p:sp>
          <p:nvSpPr>
            <p:cNvPr id="38940" name="Text Box 38"/>
            <p:cNvSpPr txBox="1">
              <a:spLocks noChangeArrowheads="1"/>
            </p:cNvSpPr>
            <p:nvPr/>
          </p:nvSpPr>
          <p:spPr bwMode="auto">
            <a:xfrm>
              <a:off x="3888" y="2544"/>
              <a:ext cx="650"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15</a:t>
              </a:r>
              <a:r>
                <a:rPr lang="es-ES_tradnl" sz="2400">
                  <a:latin typeface="Arial Narrow" pitchFamily="34" charset="0"/>
                </a:rPr>
                <a:t>...D</a:t>
              </a:r>
              <a:r>
                <a:rPr lang="es-ES_tradnl" sz="2400" b="1" baseline="-25000">
                  <a:latin typeface="Arial Narrow" pitchFamily="34" charset="0"/>
                </a:rPr>
                <a:t>8</a:t>
              </a:r>
              <a:endParaRPr lang="es-ES_tradnl" sz="2400">
                <a:latin typeface="Arial Narrow" pitchFamily="34" charset="0"/>
              </a:endParaRPr>
            </a:p>
          </p:txBody>
        </p:sp>
        <p:sp>
          <p:nvSpPr>
            <p:cNvPr id="38941" name="Text Box 39"/>
            <p:cNvSpPr txBox="1">
              <a:spLocks noChangeArrowheads="1"/>
            </p:cNvSpPr>
            <p:nvPr/>
          </p:nvSpPr>
          <p:spPr bwMode="auto">
            <a:xfrm>
              <a:off x="3889" y="2880"/>
              <a:ext cx="591" cy="288"/>
            </a:xfrm>
            <a:prstGeom prst="rect">
              <a:avLst/>
            </a:prstGeom>
            <a:noFill/>
            <a:ln w="28575">
              <a:noFill/>
              <a:miter lim="800000"/>
              <a:headEnd/>
              <a:tailEnd/>
            </a:ln>
          </p:spPr>
          <p:txBody>
            <a:bodyPr wrap="none" anchor="ctr">
              <a:spAutoFit/>
            </a:bodyPr>
            <a:lstStyle/>
            <a:p>
              <a:pPr>
                <a:spcBef>
                  <a:spcPct val="20000"/>
                </a:spcBef>
              </a:pPr>
              <a:r>
                <a:rPr lang="es-ES_tradnl" sz="2400">
                  <a:latin typeface="Arial Narrow" pitchFamily="34" charset="0"/>
                </a:rPr>
                <a:t>D</a:t>
              </a:r>
              <a:r>
                <a:rPr lang="es-ES_tradnl" sz="2400" b="1" baseline="-25000">
                  <a:latin typeface="Arial Narrow" pitchFamily="34" charset="0"/>
                </a:rPr>
                <a:t>7</a:t>
              </a:r>
              <a:r>
                <a:rPr lang="es-ES_tradnl" sz="2400">
                  <a:latin typeface="Arial Narrow" pitchFamily="34" charset="0"/>
                </a:rPr>
                <a:t>...D</a:t>
              </a:r>
              <a:r>
                <a:rPr lang="es-ES_tradnl" sz="2400" b="1" baseline="-25000">
                  <a:latin typeface="Arial Narrow" pitchFamily="34" charset="0"/>
                </a:rPr>
                <a:t>0</a:t>
              </a:r>
              <a:endParaRPr lang="es-ES_tradnl" sz="2400">
                <a:latin typeface="Arial Narrow" pitchFamily="34" charset="0"/>
              </a:endParaRPr>
            </a:p>
          </p:txBody>
        </p:sp>
        <p:sp>
          <p:nvSpPr>
            <p:cNvPr id="38942" name="Text Box 40"/>
            <p:cNvSpPr txBox="1">
              <a:spLocks noChangeArrowheads="1"/>
            </p:cNvSpPr>
            <p:nvPr/>
          </p:nvSpPr>
          <p:spPr bwMode="auto">
            <a:xfrm>
              <a:off x="588" y="2755"/>
              <a:ext cx="712" cy="250"/>
            </a:xfrm>
            <a:prstGeom prst="rect">
              <a:avLst/>
            </a:prstGeom>
            <a:noFill/>
            <a:ln w="28575">
              <a:noFill/>
              <a:miter lim="800000"/>
              <a:headEnd/>
              <a:tailEnd/>
            </a:ln>
          </p:spPr>
          <p:txBody>
            <a:bodyPr wrap="none" anchor="ctr">
              <a:spAutoFit/>
            </a:bodyPr>
            <a:lstStyle/>
            <a:p>
              <a:pPr>
                <a:spcBef>
                  <a:spcPct val="20000"/>
                </a:spcBef>
              </a:pPr>
              <a:r>
                <a:rPr lang="es-ES_tradnl"/>
                <a:t>Registro</a:t>
              </a:r>
            </a:p>
          </p:txBody>
        </p:sp>
        <p:sp>
          <p:nvSpPr>
            <p:cNvPr id="38943" name="Line 41"/>
            <p:cNvSpPr>
              <a:spLocks noChangeShapeType="1"/>
            </p:cNvSpPr>
            <p:nvPr/>
          </p:nvSpPr>
          <p:spPr bwMode="auto">
            <a:xfrm>
              <a:off x="3216" y="1776"/>
              <a:ext cx="1632" cy="0"/>
            </a:xfrm>
            <a:prstGeom prst="line">
              <a:avLst/>
            </a:prstGeom>
            <a:noFill/>
            <a:ln w="28575">
              <a:solidFill>
                <a:srgbClr val="00FF66"/>
              </a:solidFill>
              <a:round/>
              <a:headEnd/>
              <a:tailEnd type="triangle" w="med" len="med"/>
            </a:ln>
          </p:spPr>
          <p:txBody>
            <a:bodyPr wrap="none" anchor="ctr"/>
            <a:lstStyle/>
            <a:p>
              <a:endParaRPr lang="es-ES"/>
            </a:p>
          </p:txBody>
        </p:sp>
        <p:sp>
          <p:nvSpPr>
            <p:cNvPr id="38944" name="Freeform 42"/>
            <p:cNvSpPr>
              <a:spLocks/>
            </p:cNvSpPr>
            <p:nvPr/>
          </p:nvSpPr>
          <p:spPr bwMode="auto">
            <a:xfrm>
              <a:off x="2160" y="2640"/>
              <a:ext cx="624" cy="384"/>
            </a:xfrm>
            <a:custGeom>
              <a:avLst/>
              <a:gdLst>
                <a:gd name="T0" fmla="*/ 0 w 192"/>
                <a:gd name="T1" fmla="*/ 2 h 912"/>
                <a:gd name="T2" fmla="*/ 0 w 192"/>
                <a:gd name="T3" fmla="*/ 0 h 912"/>
                <a:gd name="T4" fmla="*/ 735342 w 192"/>
                <a:gd name="T5" fmla="*/ 0 h 912"/>
                <a:gd name="T6" fmla="*/ 0 60000 65536"/>
                <a:gd name="T7" fmla="*/ 0 60000 65536"/>
                <a:gd name="T8" fmla="*/ 0 60000 65536"/>
                <a:gd name="T9" fmla="*/ 0 w 192"/>
                <a:gd name="T10" fmla="*/ 0 h 912"/>
                <a:gd name="T11" fmla="*/ 192 w 192"/>
                <a:gd name="T12" fmla="*/ 912 h 912"/>
              </a:gdLst>
              <a:ahLst/>
              <a:cxnLst>
                <a:cxn ang="T6">
                  <a:pos x="T0" y="T1"/>
                </a:cxn>
                <a:cxn ang="T7">
                  <a:pos x="T2" y="T3"/>
                </a:cxn>
                <a:cxn ang="T8">
                  <a:pos x="T4" y="T5"/>
                </a:cxn>
              </a:cxnLst>
              <a:rect l="T9" t="T10" r="T11" b="T12"/>
              <a:pathLst>
                <a:path w="192" h="912">
                  <a:moveTo>
                    <a:pt x="0" y="912"/>
                  </a:moveTo>
                  <a:lnTo>
                    <a:pt x="0" y="0"/>
                  </a:lnTo>
                  <a:lnTo>
                    <a:pt x="192" y="0"/>
                  </a:lnTo>
                </a:path>
              </a:pathLst>
            </a:custGeom>
            <a:noFill/>
            <a:ln w="57150">
              <a:solidFill>
                <a:schemeClr val="bg1">
                  <a:lumMod val="95000"/>
                </a:schemeClr>
              </a:solidFill>
              <a:round/>
              <a:headEnd type="triangle" w="med" len="med"/>
              <a:tailEnd type="triangle" w="med" len="med"/>
            </a:ln>
          </p:spPr>
          <p:txBody>
            <a:bodyPr wrap="none" anchor="ctr"/>
            <a:lstStyle/>
            <a:p>
              <a:endParaRPr lang="es-ES"/>
            </a:p>
          </p:txBody>
        </p:sp>
        <p:sp>
          <p:nvSpPr>
            <p:cNvPr id="38945" name="Freeform 43"/>
            <p:cNvSpPr>
              <a:spLocks/>
            </p:cNvSpPr>
            <p:nvPr/>
          </p:nvSpPr>
          <p:spPr bwMode="auto">
            <a:xfrm>
              <a:off x="2064" y="1584"/>
              <a:ext cx="672" cy="384"/>
            </a:xfrm>
            <a:custGeom>
              <a:avLst/>
              <a:gdLst>
                <a:gd name="T0" fmla="*/ 0 w 960"/>
                <a:gd name="T1" fmla="*/ 0 h 96"/>
                <a:gd name="T2" fmla="*/ 0 w 960"/>
                <a:gd name="T3" fmla="*/ 1572864 h 96"/>
                <a:gd name="T4" fmla="*/ 79 w 960"/>
                <a:gd name="T5" fmla="*/ 1572864 h 96"/>
                <a:gd name="T6" fmla="*/ 0 60000 65536"/>
                <a:gd name="T7" fmla="*/ 0 60000 65536"/>
                <a:gd name="T8" fmla="*/ 0 60000 65536"/>
                <a:gd name="T9" fmla="*/ 0 w 960"/>
                <a:gd name="T10" fmla="*/ 0 h 96"/>
                <a:gd name="T11" fmla="*/ 960 w 960"/>
                <a:gd name="T12" fmla="*/ 96 h 96"/>
              </a:gdLst>
              <a:ahLst/>
              <a:cxnLst>
                <a:cxn ang="T6">
                  <a:pos x="T0" y="T1"/>
                </a:cxn>
                <a:cxn ang="T7">
                  <a:pos x="T2" y="T3"/>
                </a:cxn>
                <a:cxn ang="T8">
                  <a:pos x="T4" y="T5"/>
                </a:cxn>
              </a:cxnLst>
              <a:rect l="T9" t="T10" r="T11" b="T12"/>
              <a:pathLst>
                <a:path w="960" h="96">
                  <a:moveTo>
                    <a:pt x="0" y="0"/>
                  </a:moveTo>
                  <a:lnTo>
                    <a:pt x="0" y="96"/>
                  </a:lnTo>
                  <a:lnTo>
                    <a:pt x="960" y="96"/>
                  </a:lnTo>
                </a:path>
              </a:pathLst>
            </a:custGeom>
            <a:noFill/>
            <a:ln w="28575">
              <a:solidFill>
                <a:schemeClr val="bg1">
                  <a:lumMod val="95000"/>
                </a:schemeClr>
              </a:solidFill>
              <a:round/>
              <a:headEnd/>
              <a:tailEnd type="triangle" w="med" len="med"/>
            </a:ln>
          </p:spPr>
          <p:txBody>
            <a:bodyPr wrap="none" anchor="ctr"/>
            <a:lstStyle/>
            <a:p>
              <a:endParaRPr lang="es-ES"/>
            </a:p>
          </p:txBody>
        </p:sp>
        <p:sp>
          <p:nvSpPr>
            <p:cNvPr id="38946" name="Freeform 44"/>
            <p:cNvSpPr>
              <a:spLocks/>
            </p:cNvSpPr>
            <p:nvPr/>
          </p:nvSpPr>
          <p:spPr bwMode="auto">
            <a:xfrm>
              <a:off x="1152" y="1152"/>
              <a:ext cx="3696" cy="336"/>
            </a:xfrm>
            <a:custGeom>
              <a:avLst/>
              <a:gdLst>
                <a:gd name="T0" fmla="*/ 0 w 3696"/>
                <a:gd name="T1" fmla="*/ 192 h 336"/>
                <a:gd name="T2" fmla="*/ 0 w 3696"/>
                <a:gd name="T3" fmla="*/ 0 h 336"/>
                <a:gd name="T4" fmla="*/ 2160 w 3696"/>
                <a:gd name="T5" fmla="*/ 0 h 336"/>
                <a:gd name="T6" fmla="*/ 2160 w 3696"/>
                <a:gd name="T7" fmla="*/ 336 h 336"/>
                <a:gd name="T8" fmla="*/ 3696 w 3696"/>
                <a:gd name="T9" fmla="*/ 336 h 336"/>
                <a:gd name="T10" fmla="*/ 0 60000 65536"/>
                <a:gd name="T11" fmla="*/ 0 60000 65536"/>
                <a:gd name="T12" fmla="*/ 0 60000 65536"/>
                <a:gd name="T13" fmla="*/ 0 60000 65536"/>
                <a:gd name="T14" fmla="*/ 0 60000 65536"/>
                <a:gd name="T15" fmla="*/ 0 w 3696"/>
                <a:gd name="T16" fmla="*/ 0 h 336"/>
                <a:gd name="T17" fmla="*/ 3696 w 3696"/>
                <a:gd name="T18" fmla="*/ 336 h 336"/>
              </a:gdLst>
              <a:ahLst/>
              <a:cxnLst>
                <a:cxn ang="T10">
                  <a:pos x="T0" y="T1"/>
                </a:cxn>
                <a:cxn ang="T11">
                  <a:pos x="T2" y="T3"/>
                </a:cxn>
                <a:cxn ang="T12">
                  <a:pos x="T4" y="T5"/>
                </a:cxn>
                <a:cxn ang="T13">
                  <a:pos x="T6" y="T7"/>
                </a:cxn>
                <a:cxn ang="T14">
                  <a:pos x="T8" y="T9"/>
                </a:cxn>
              </a:cxnLst>
              <a:rect l="T15" t="T16" r="T17" b="T18"/>
              <a:pathLst>
                <a:path w="3696" h="336">
                  <a:moveTo>
                    <a:pt x="0" y="192"/>
                  </a:moveTo>
                  <a:lnTo>
                    <a:pt x="0" y="0"/>
                  </a:lnTo>
                  <a:lnTo>
                    <a:pt x="2160" y="0"/>
                  </a:lnTo>
                  <a:lnTo>
                    <a:pt x="2160" y="336"/>
                  </a:lnTo>
                  <a:lnTo>
                    <a:pt x="3696" y="336"/>
                  </a:lnTo>
                </a:path>
              </a:pathLst>
            </a:custGeom>
            <a:noFill/>
            <a:ln w="57150">
              <a:solidFill>
                <a:srgbClr val="00FF66"/>
              </a:solidFill>
              <a:round/>
              <a:headEnd/>
              <a:tailEnd type="triangle" w="med" len="med"/>
            </a:ln>
          </p:spPr>
          <p:txBody>
            <a:bodyPr wrap="none" anchor="ctr"/>
            <a:lstStyle/>
            <a:p>
              <a:endParaRPr lang="es-ES"/>
            </a:p>
          </p:txBody>
        </p:sp>
        <p:sp>
          <p:nvSpPr>
            <p:cNvPr id="38947" name="Line 45"/>
            <p:cNvSpPr>
              <a:spLocks noChangeShapeType="1"/>
            </p:cNvSpPr>
            <p:nvPr/>
          </p:nvSpPr>
          <p:spPr bwMode="auto">
            <a:xfrm flipH="1">
              <a:off x="3757" y="1344"/>
              <a:ext cx="96" cy="192"/>
            </a:xfrm>
            <a:prstGeom prst="line">
              <a:avLst/>
            </a:prstGeom>
            <a:noFill/>
            <a:ln w="19050">
              <a:solidFill>
                <a:srgbClr val="92D050"/>
              </a:solidFill>
              <a:round/>
              <a:headEnd/>
              <a:tailEnd/>
            </a:ln>
          </p:spPr>
          <p:txBody>
            <a:bodyPr wrap="none" anchor="ctr"/>
            <a:lstStyle/>
            <a:p>
              <a:endParaRPr lang="es-ES"/>
            </a:p>
          </p:txBody>
        </p:sp>
        <p:sp>
          <p:nvSpPr>
            <p:cNvPr id="38948" name="Rectangle 46"/>
            <p:cNvSpPr>
              <a:spLocks noChangeArrowheads="1"/>
            </p:cNvSpPr>
            <p:nvPr/>
          </p:nvSpPr>
          <p:spPr bwMode="auto">
            <a:xfrm>
              <a:off x="528" y="3024"/>
              <a:ext cx="1872" cy="240"/>
            </a:xfrm>
            <a:prstGeom prst="rect">
              <a:avLst/>
            </a:prstGeom>
            <a:noFill/>
            <a:ln w="28575">
              <a:solidFill>
                <a:schemeClr val="bg1">
                  <a:lumMod val="95000"/>
                </a:schemeClr>
              </a:solidFill>
              <a:miter lim="800000"/>
              <a:headEnd/>
              <a:tailEnd/>
            </a:ln>
          </p:spPr>
          <p:txBody>
            <a:bodyPr wrap="none" anchor="ctr"/>
            <a:lstStyle/>
            <a:p>
              <a:endParaRPr lang="es-ES"/>
            </a:p>
          </p:txBody>
        </p:sp>
        <p:sp>
          <p:nvSpPr>
            <p:cNvPr id="38949" name="Line 47"/>
            <p:cNvSpPr>
              <a:spLocks noChangeShapeType="1"/>
            </p:cNvSpPr>
            <p:nvPr/>
          </p:nvSpPr>
          <p:spPr bwMode="auto">
            <a:xfrm>
              <a:off x="1920" y="3024"/>
              <a:ext cx="0" cy="240"/>
            </a:xfrm>
            <a:prstGeom prst="line">
              <a:avLst/>
            </a:prstGeom>
            <a:noFill/>
            <a:ln w="28575">
              <a:solidFill>
                <a:schemeClr val="bg1">
                  <a:lumMod val="95000"/>
                </a:schemeClr>
              </a:solidFill>
              <a:prstDash val="sysDot"/>
              <a:round/>
              <a:headEnd/>
              <a:tailEnd/>
            </a:ln>
          </p:spPr>
          <p:txBody>
            <a:bodyPr wrap="none" anchor="ctr"/>
            <a:lstStyle/>
            <a:p>
              <a:endParaRPr lang="es-ES"/>
            </a:p>
          </p:txBody>
        </p:sp>
        <p:sp>
          <p:nvSpPr>
            <p:cNvPr id="38950" name="Line 48"/>
            <p:cNvSpPr>
              <a:spLocks noChangeShapeType="1"/>
            </p:cNvSpPr>
            <p:nvPr/>
          </p:nvSpPr>
          <p:spPr bwMode="auto">
            <a:xfrm flipH="1">
              <a:off x="3757" y="2064"/>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8951" name="Line 49"/>
            <p:cNvSpPr>
              <a:spLocks noChangeShapeType="1"/>
            </p:cNvSpPr>
            <p:nvPr/>
          </p:nvSpPr>
          <p:spPr bwMode="auto">
            <a:xfrm flipH="1">
              <a:off x="3757" y="2400"/>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8952" name="Line 50"/>
            <p:cNvSpPr>
              <a:spLocks noChangeShapeType="1"/>
            </p:cNvSpPr>
            <p:nvPr/>
          </p:nvSpPr>
          <p:spPr bwMode="auto">
            <a:xfrm flipH="1">
              <a:off x="3757" y="2736"/>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8953" name="Line 51"/>
            <p:cNvSpPr>
              <a:spLocks noChangeShapeType="1"/>
            </p:cNvSpPr>
            <p:nvPr/>
          </p:nvSpPr>
          <p:spPr bwMode="auto">
            <a:xfrm flipH="1">
              <a:off x="3757" y="3072"/>
              <a:ext cx="96" cy="192"/>
            </a:xfrm>
            <a:prstGeom prst="line">
              <a:avLst/>
            </a:prstGeom>
            <a:noFill/>
            <a:ln w="19050">
              <a:solidFill>
                <a:schemeClr val="accent5">
                  <a:lumMod val="40000"/>
                  <a:lumOff val="60000"/>
                </a:schemeClr>
              </a:solidFill>
              <a:round/>
              <a:headEnd/>
              <a:tailEnd/>
            </a:ln>
          </p:spPr>
          <p:txBody>
            <a:bodyPr wrap="none" anchor="ctr"/>
            <a:lstStyle/>
            <a:p>
              <a:endParaRPr lang="es-ES"/>
            </a:p>
          </p:txBody>
        </p:sp>
        <p:sp>
          <p:nvSpPr>
            <p:cNvPr id="38954" name="Text Box 52"/>
            <p:cNvSpPr txBox="1">
              <a:spLocks noChangeArrowheads="1"/>
            </p:cNvSpPr>
            <p:nvPr/>
          </p:nvSpPr>
          <p:spPr bwMode="auto">
            <a:xfrm>
              <a:off x="3613" y="1920"/>
              <a:ext cx="205" cy="250"/>
            </a:xfrm>
            <a:prstGeom prst="rect">
              <a:avLst/>
            </a:prstGeom>
            <a:noFill/>
            <a:ln w="28575">
              <a:noFill/>
              <a:miter lim="800000"/>
              <a:headEnd/>
              <a:tailEnd/>
            </a:ln>
          </p:spPr>
          <p:txBody>
            <a:bodyPr wrap="none" anchor="ctr">
              <a:spAutoFit/>
            </a:bodyPr>
            <a:lstStyle/>
            <a:p>
              <a:pPr>
                <a:spcBef>
                  <a:spcPct val="20000"/>
                </a:spcBef>
              </a:pPr>
              <a:r>
                <a:rPr lang="es-ES_tradnl"/>
                <a:t>8</a:t>
              </a:r>
            </a:p>
          </p:txBody>
        </p:sp>
        <p:sp>
          <p:nvSpPr>
            <p:cNvPr id="38955" name="Line 53"/>
            <p:cNvSpPr>
              <a:spLocks noChangeShapeType="1"/>
            </p:cNvSpPr>
            <p:nvPr/>
          </p:nvSpPr>
          <p:spPr bwMode="auto">
            <a:xfrm>
              <a:off x="3024" y="1392"/>
              <a:ext cx="0" cy="192"/>
            </a:xfrm>
            <a:prstGeom prst="line">
              <a:avLst/>
            </a:prstGeom>
            <a:noFill/>
            <a:ln w="28575">
              <a:solidFill>
                <a:srgbClr val="FFFF00"/>
              </a:solidFill>
              <a:round/>
              <a:headEnd/>
              <a:tailEnd type="triangle" w="med" len="med"/>
            </a:ln>
          </p:spPr>
          <p:txBody>
            <a:bodyPr wrap="none" anchor="ctr"/>
            <a:lstStyle/>
            <a:p>
              <a:endParaRPr lang="es-ES"/>
            </a:p>
          </p:txBody>
        </p:sp>
        <p:sp>
          <p:nvSpPr>
            <p:cNvPr id="38956" name="Text Box 54"/>
            <p:cNvSpPr txBox="1">
              <a:spLocks noChangeArrowheads="1"/>
            </p:cNvSpPr>
            <p:nvPr/>
          </p:nvSpPr>
          <p:spPr bwMode="auto">
            <a:xfrm>
              <a:off x="2817" y="1160"/>
              <a:ext cx="414" cy="288"/>
            </a:xfrm>
            <a:prstGeom prst="rect">
              <a:avLst/>
            </a:prstGeom>
            <a:noFill/>
            <a:ln w="28575">
              <a:noFill/>
              <a:miter lim="800000"/>
              <a:headEnd/>
              <a:tailEnd/>
            </a:ln>
          </p:spPr>
          <p:txBody>
            <a:bodyPr wrap="none" anchor="ctr">
              <a:spAutoFit/>
            </a:bodyPr>
            <a:lstStyle/>
            <a:p>
              <a:pPr>
                <a:spcBef>
                  <a:spcPct val="20000"/>
                </a:spcBef>
              </a:pPr>
              <a:r>
                <a:rPr lang="es-ES_tradnl" sz="2400" i="1" dirty="0">
                  <a:latin typeface="Arial Narrow" pitchFamily="34" charset="0"/>
                </a:rPr>
                <a:t>byte</a:t>
              </a:r>
            </a:p>
          </p:txBody>
        </p:sp>
        <p:grpSp>
          <p:nvGrpSpPr>
            <p:cNvPr id="8" name="Group 55"/>
            <p:cNvGrpSpPr>
              <a:grpSpLocks/>
            </p:cNvGrpSpPr>
            <p:nvPr/>
          </p:nvGrpSpPr>
          <p:grpSpPr bwMode="auto">
            <a:xfrm>
              <a:off x="2880" y="2160"/>
              <a:ext cx="240" cy="1008"/>
              <a:chOff x="2880" y="2160"/>
              <a:chExt cx="240" cy="1008"/>
            </a:xfrm>
          </p:grpSpPr>
          <p:sp>
            <p:nvSpPr>
              <p:cNvPr id="38959" name="Line 56"/>
              <p:cNvSpPr>
                <a:spLocks noChangeShapeType="1"/>
              </p:cNvSpPr>
              <p:nvPr/>
            </p:nvSpPr>
            <p:spPr bwMode="auto">
              <a:xfrm flipV="1">
                <a:off x="2880" y="2160"/>
                <a:ext cx="240" cy="480"/>
              </a:xfrm>
              <a:prstGeom prst="line">
                <a:avLst/>
              </a:prstGeom>
              <a:noFill/>
              <a:ln w="57150">
                <a:solidFill>
                  <a:srgbClr val="FF9966"/>
                </a:solidFill>
                <a:round/>
                <a:headEnd/>
                <a:tailEnd/>
              </a:ln>
            </p:spPr>
            <p:txBody>
              <a:bodyPr wrap="none" anchor="ctr"/>
              <a:lstStyle/>
              <a:p>
                <a:endParaRPr lang="es-ES"/>
              </a:p>
            </p:txBody>
          </p:sp>
          <p:sp>
            <p:nvSpPr>
              <p:cNvPr id="38960" name="Line 57"/>
              <p:cNvSpPr>
                <a:spLocks noChangeShapeType="1"/>
              </p:cNvSpPr>
              <p:nvPr/>
            </p:nvSpPr>
            <p:spPr bwMode="auto">
              <a:xfrm flipV="1">
                <a:off x="2880" y="2496"/>
                <a:ext cx="240" cy="144"/>
              </a:xfrm>
              <a:prstGeom prst="line">
                <a:avLst/>
              </a:prstGeom>
              <a:noFill/>
              <a:ln w="57150">
                <a:solidFill>
                  <a:srgbClr val="FF9966"/>
                </a:solidFill>
                <a:round/>
                <a:headEnd/>
                <a:tailEnd/>
              </a:ln>
            </p:spPr>
            <p:txBody>
              <a:bodyPr wrap="none" anchor="ctr"/>
              <a:lstStyle/>
              <a:p>
                <a:endParaRPr lang="es-ES"/>
              </a:p>
            </p:txBody>
          </p:sp>
          <p:sp>
            <p:nvSpPr>
              <p:cNvPr id="38961" name="Line 58"/>
              <p:cNvSpPr>
                <a:spLocks noChangeShapeType="1"/>
              </p:cNvSpPr>
              <p:nvPr/>
            </p:nvSpPr>
            <p:spPr bwMode="auto">
              <a:xfrm>
                <a:off x="2880" y="2640"/>
                <a:ext cx="240" cy="528"/>
              </a:xfrm>
              <a:prstGeom prst="line">
                <a:avLst/>
              </a:prstGeom>
              <a:noFill/>
              <a:ln w="57150">
                <a:solidFill>
                  <a:srgbClr val="FF9966"/>
                </a:solidFill>
                <a:round/>
                <a:headEnd/>
                <a:tailEnd/>
              </a:ln>
            </p:spPr>
            <p:txBody>
              <a:bodyPr wrap="none" anchor="ctr"/>
              <a:lstStyle/>
              <a:p>
                <a:endParaRPr lang="es-ES"/>
              </a:p>
            </p:txBody>
          </p:sp>
          <p:sp>
            <p:nvSpPr>
              <p:cNvPr id="38962" name="Line 59"/>
              <p:cNvSpPr>
                <a:spLocks noChangeShapeType="1"/>
              </p:cNvSpPr>
              <p:nvPr/>
            </p:nvSpPr>
            <p:spPr bwMode="auto">
              <a:xfrm>
                <a:off x="2880" y="2640"/>
                <a:ext cx="240" cy="144"/>
              </a:xfrm>
              <a:prstGeom prst="line">
                <a:avLst/>
              </a:prstGeom>
              <a:noFill/>
              <a:ln w="57150">
                <a:solidFill>
                  <a:srgbClr val="FF9966"/>
                </a:solidFill>
                <a:round/>
                <a:headEnd/>
                <a:tailEnd/>
              </a:ln>
            </p:spPr>
            <p:txBody>
              <a:bodyPr wrap="none" anchor="ctr"/>
              <a:lstStyle/>
              <a:p>
                <a:endParaRPr lang="es-ES"/>
              </a:p>
            </p:txBody>
          </p:sp>
        </p:grpSp>
        <p:sp>
          <p:nvSpPr>
            <p:cNvPr id="38958" name="Rectangle 60"/>
            <p:cNvSpPr>
              <a:spLocks noChangeArrowheads="1"/>
            </p:cNvSpPr>
            <p:nvPr/>
          </p:nvSpPr>
          <p:spPr bwMode="auto">
            <a:xfrm>
              <a:off x="2784" y="1584"/>
              <a:ext cx="432" cy="1824"/>
            </a:xfrm>
            <a:prstGeom prst="rect">
              <a:avLst/>
            </a:prstGeom>
            <a:noFill/>
            <a:ln w="28575">
              <a:solidFill>
                <a:srgbClr val="FFFF00"/>
              </a:solidFill>
              <a:prstDash val="sysDot"/>
              <a:miter lim="800000"/>
              <a:headEnd/>
              <a:tailEnd/>
            </a:ln>
          </p:spPr>
          <p:txBody>
            <a:bodyPr wrap="none" anchor="ctr"/>
            <a:lstStyle/>
            <a:p>
              <a:endParaRPr lang="es-ES"/>
            </a:p>
          </p:txBody>
        </p:sp>
      </p:grpSp>
      <p:sp>
        <p:nvSpPr>
          <p:cNvPr id="38918" name="Rectangle 63"/>
          <p:cNvSpPr>
            <a:spLocks noChangeArrowheads="1"/>
          </p:cNvSpPr>
          <p:nvPr/>
        </p:nvSpPr>
        <p:spPr bwMode="auto">
          <a:xfrm>
            <a:off x="609600" y="1066800"/>
            <a:ext cx="8229600" cy="990600"/>
          </a:xfrm>
          <a:prstGeom prst="rect">
            <a:avLst/>
          </a:prstGeom>
          <a:noFill/>
          <a:ln w="9525">
            <a:noFill/>
            <a:miter lim="800000"/>
            <a:headEnd/>
            <a:tailEnd/>
          </a:ln>
        </p:spPr>
        <p:txBody>
          <a:bodyPr/>
          <a:lstStyle/>
          <a:p>
            <a:pPr marL="365125" indent="-282575" algn="l">
              <a:lnSpc>
                <a:spcPts val="3000"/>
              </a:lnSpc>
              <a:spcBef>
                <a:spcPts val="600"/>
              </a:spcBef>
              <a:buClr>
                <a:schemeClr val="accent2">
                  <a:lumMod val="75000"/>
                </a:schemeClr>
              </a:buClr>
              <a:buSzPct val="80000"/>
              <a:buFont typeface="Wingdings 2" pitchFamily="18" charset="2"/>
              <a:buChar char=""/>
            </a:pPr>
            <a:r>
              <a:rPr lang="es-ES" sz="2400" dirty="0">
                <a:latin typeface="+mn-lt"/>
                <a:ea typeface="+mn-ea"/>
              </a:rPr>
              <a:t>CPU de 32 bits</a:t>
            </a:r>
            <a:endParaRPr lang="es-ES_tradnl" sz="2400" dirty="0">
              <a:latin typeface="+mn-lt"/>
              <a:ea typeface="+mn-ea"/>
            </a:endParaRPr>
          </a:p>
          <a:p>
            <a:pPr marL="742950" lvl="1" indent="-285750" algn="l">
              <a:spcBef>
                <a:spcPct val="20000"/>
              </a:spcBef>
              <a:buFontTx/>
              <a:buChar char="–"/>
            </a:pPr>
            <a:r>
              <a:rPr lang="es-ES_tradnl" dirty="0"/>
              <a:t>La dirección efectiva puede tomar cualquier valor</a:t>
            </a:r>
          </a:p>
        </p:txBody>
      </p:sp>
      <p:sp>
        <p:nvSpPr>
          <p:cNvPr id="9" name="2 Marcador de número de diapositiva">
            <a:extLst>
              <a:ext uri="{FF2B5EF4-FFF2-40B4-BE49-F238E27FC236}">
                <a16:creationId xmlns:a16="http://schemas.microsoft.com/office/drawing/2014/main" id="{964CDB35-939F-ABF4-C66F-76BF6E39DE58}"/>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ABB4E-7C26-2B95-4218-FB363E9AEE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6980B1-D3BE-3DFF-F6BF-75EF2357083A}"/>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E86B3E1B-EA4A-E3AF-7D52-8AA23AD69A6F}"/>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731838" lvl="1" indent="-457200">
              <a:lnSpc>
                <a:spcPct val="90000"/>
              </a:lnSpc>
            </a:pPr>
            <a:r>
              <a:rPr lang="es-ES" dirty="0"/>
              <a:t>¿Qué es la memoria y dónde se sitúa?</a:t>
            </a:r>
          </a:p>
          <a:p>
            <a:pPr marL="731838" lvl="1" indent="-457200">
              <a:lnSpc>
                <a:spcPct val="90000"/>
              </a:lnSpc>
            </a:pPr>
            <a:r>
              <a:rPr lang="es-ES" dirty="0"/>
              <a:t>Jerarquía de memoria</a:t>
            </a:r>
          </a:p>
          <a:p>
            <a:pPr marL="82550" indent="0">
              <a:buNone/>
            </a:pPr>
            <a:r>
              <a:rPr lang="es-ES" dirty="0">
                <a:solidFill>
                  <a:srgbClr val="FF0000"/>
                </a:solidFill>
              </a:rPr>
              <a:t>2 - Memoria principal: RESUMEN</a:t>
            </a:r>
          </a:p>
          <a:p>
            <a:pPr marL="731838" lvl="1" indent="-457200">
              <a:lnSpc>
                <a:spcPct val="90000"/>
              </a:lnSpc>
            </a:pPr>
            <a:r>
              <a:rPr lang="es-ES" dirty="0"/>
              <a:t>Interfaz externa</a:t>
            </a:r>
          </a:p>
          <a:p>
            <a:pPr marL="731838" lvl="1" indent="-457200">
              <a:lnSpc>
                <a:spcPct val="90000"/>
              </a:lnSpc>
            </a:pPr>
            <a:r>
              <a:rPr lang="es-ES" dirty="0"/>
              <a:t>Direccionamiento de memoria: selección de bytes</a:t>
            </a:r>
          </a:p>
          <a:p>
            <a:pPr marL="731838" lvl="1" indent="-457200">
              <a:lnSpc>
                <a:spcPct val="90000"/>
              </a:lnSpc>
            </a:pPr>
            <a:r>
              <a:rPr lang="es-ES" dirty="0"/>
              <a:t>Estructura de buses</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64C5D76F-E4D8-E5E8-0788-33EB79A1A046}"/>
              </a:ext>
            </a:extLst>
          </p:cNvPr>
          <p:cNvSpPr>
            <a:spLocks noGrp="1"/>
          </p:cNvSpPr>
          <p:nvPr>
            <p:ph type="sldNum" sz="quarter" idx="12"/>
          </p:nvPr>
        </p:nvSpPr>
        <p:spPr/>
        <p:txBody>
          <a:bodyPr/>
          <a:lstStyle/>
          <a:p>
            <a:pPr>
              <a:defRPr/>
            </a:pPr>
            <a:fld id="{50B7A251-C820-4EFF-8270-C7613E20881F}" type="slidenum">
              <a:rPr lang="en-US" smtClean="0"/>
              <a:pPr>
                <a:defRPr/>
              </a:pPr>
              <a:t>30</a:t>
            </a:fld>
            <a:endParaRPr lang="en-US" dirty="0"/>
          </a:p>
        </p:txBody>
      </p:sp>
    </p:spTree>
    <p:extLst>
      <p:ext uri="{BB962C8B-B14F-4D97-AF65-F5344CB8AC3E}">
        <p14:creationId xmlns:p14="http://schemas.microsoft.com/office/powerpoint/2010/main" val="3385103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Resumen Acceso a memoria</a:t>
            </a:r>
          </a:p>
        </p:txBody>
      </p:sp>
      <p:pic>
        <p:nvPicPr>
          <p:cNvPr id="9" name="Imagen 8">
            <a:extLst>
              <a:ext uri="{FF2B5EF4-FFF2-40B4-BE49-F238E27FC236}">
                <a16:creationId xmlns:a16="http://schemas.microsoft.com/office/drawing/2014/main" id="{D1B210D5-E593-40CF-8611-0239BC4D165C}"/>
              </a:ext>
            </a:extLst>
          </p:cNvPr>
          <p:cNvPicPr>
            <a:picLocks noChangeAspect="1"/>
          </p:cNvPicPr>
          <p:nvPr/>
        </p:nvPicPr>
        <p:blipFill>
          <a:blip r:embed="rId3"/>
          <a:stretch>
            <a:fillRect/>
          </a:stretch>
        </p:blipFill>
        <p:spPr>
          <a:xfrm>
            <a:off x="704706" y="2420888"/>
            <a:ext cx="4608512" cy="3536393"/>
          </a:xfrm>
          <a:prstGeom prst="rect">
            <a:avLst/>
          </a:prstGeom>
        </p:spPr>
      </p:pic>
      <p:sp>
        <p:nvSpPr>
          <p:cNvPr id="10" name="CuadroTexto 9">
            <a:extLst>
              <a:ext uri="{FF2B5EF4-FFF2-40B4-BE49-F238E27FC236}">
                <a16:creationId xmlns:a16="http://schemas.microsoft.com/office/drawing/2014/main" id="{CAF35387-5392-47A8-B7D0-C0649EB48465}"/>
              </a:ext>
            </a:extLst>
          </p:cNvPr>
          <p:cNvSpPr txBox="1"/>
          <p:nvPr/>
        </p:nvSpPr>
        <p:spPr>
          <a:xfrm>
            <a:off x="5311092" y="4013472"/>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8138864" cy="1354088"/>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El procesador desde su juego de instrucciones tiene direcciones efectivas de X bits, lo que quiere decir que la memoria principal puede ser de hasta 2</a:t>
            </a:r>
            <a:r>
              <a:rPr lang="es-ES" baseline="30000" dirty="0"/>
              <a:t>X</a:t>
            </a:r>
            <a:r>
              <a:rPr lang="es-ES" dirty="0"/>
              <a:t> Bytes</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2699792" y="3429000"/>
            <a:ext cx="2611300" cy="158417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5043709" y="2997347"/>
            <a:ext cx="453970" cy="307777"/>
          </a:xfrm>
          <a:prstGeom prst="rect">
            <a:avLst/>
          </a:prstGeom>
          <a:noFill/>
        </p:spPr>
        <p:txBody>
          <a:bodyPr wrap="none" rtlCol="0">
            <a:spAutoFit/>
          </a:bodyPr>
          <a:lstStyle/>
          <a:p>
            <a:r>
              <a:rPr lang="es-ES" sz="1400" dirty="0">
                <a:solidFill>
                  <a:schemeClr val="accent1">
                    <a:lumMod val="75000"/>
                  </a:schemeClr>
                </a:solidFill>
              </a:rPr>
              <a:t>MP</a:t>
            </a:r>
          </a:p>
        </p:txBody>
      </p:sp>
      <p:sp>
        <p:nvSpPr>
          <p:cNvPr id="69" name="Rectangle 63">
            <a:extLst>
              <a:ext uri="{FF2B5EF4-FFF2-40B4-BE49-F238E27FC236}">
                <a16:creationId xmlns:a16="http://schemas.microsoft.com/office/drawing/2014/main" id="{D57DC177-DEBC-42AE-9566-028248131CE7}"/>
              </a:ext>
            </a:extLst>
          </p:cNvPr>
          <p:cNvSpPr txBox="1">
            <a:spLocks noChangeArrowheads="1"/>
          </p:cNvSpPr>
          <p:nvPr/>
        </p:nvSpPr>
        <p:spPr>
          <a:xfrm>
            <a:off x="5479864" y="2595679"/>
            <a:ext cx="3124584" cy="3361601"/>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Pero la MP se organiza en columnas de tamaño un Byte, que se seleccionan de modo independiente</a:t>
            </a:r>
          </a:p>
          <a:p>
            <a:r>
              <a:rPr lang="es-ES" dirty="0"/>
              <a:t>Por ejemplo: si los datos tienen 32 bits serían 4 columnas </a:t>
            </a:r>
          </a:p>
        </p:txBody>
      </p:sp>
      <p:sp>
        <p:nvSpPr>
          <p:cNvPr id="70" name="2 Botón de acción: Inicio">
            <a:hlinkClick r:id="rId4" action="ppaction://hlinksldjump" highlightClick="1"/>
            <a:extLst>
              <a:ext uri="{FF2B5EF4-FFF2-40B4-BE49-F238E27FC236}">
                <a16:creationId xmlns:a16="http://schemas.microsoft.com/office/drawing/2014/main" id="{EC2EF0F1-AC3C-42D5-B051-677B4B558B1F}"/>
              </a:ext>
            </a:extLst>
          </p:cNvPr>
          <p:cNvSpPr/>
          <p:nvPr/>
        </p:nvSpPr>
        <p:spPr bwMode="auto">
          <a:xfrm>
            <a:off x="539552" y="5733256"/>
            <a:ext cx="216024" cy="288032"/>
          </a:xfrm>
          <a:prstGeom prst="actionButtonHom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2 Marcador de número de diapositiva">
            <a:extLst>
              <a:ext uri="{FF2B5EF4-FFF2-40B4-BE49-F238E27FC236}">
                <a16:creationId xmlns:a16="http://schemas.microsoft.com/office/drawing/2014/main" id="{A5681125-AF7E-E60E-D794-15EDEA6645AE}"/>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31</a:t>
            </a:fld>
            <a:endParaRPr lang="en-US" dirty="0"/>
          </a:p>
        </p:txBody>
      </p:sp>
    </p:spTree>
    <p:extLst>
      <p:ext uri="{BB962C8B-B14F-4D97-AF65-F5344CB8AC3E}">
        <p14:creationId xmlns:p14="http://schemas.microsoft.com/office/powerpoint/2010/main" val="3905110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Resumen Acceso a memoria</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7778824" cy="584774"/>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endParaRPr lang="es-ES" sz="1200" dirty="0"/>
          </a:p>
        </p:txBody>
      </p:sp>
      <p:grpSp>
        <p:nvGrpSpPr>
          <p:cNvPr id="3" name="Grupo 2">
            <a:extLst>
              <a:ext uri="{FF2B5EF4-FFF2-40B4-BE49-F238E27FC236}">
                <a16:creationId xmlns:a16="http://schemas.microsoft.com/office/drawing/2014/main" id="{0530EC0E-89E9-48C6-B5A2-DA4CDFD675F5}"/>
              </a:ext>
            </a:extLst>
          </p:cNvPr>
          <p:cNvGrpSpPr/>
          <p:nvPr/>
        </p:nvGrpSpPr>
        <p:grpSpPr>
          <a:xfrm>
            <a:off x="1475656" y="2992995"/>
            <a:ext cx="5119668" cy="3536393"/>
            <a:chOff x="704706" y="2420888"/>
            <a:chExt cx="5119668" cy="3536393"/>
          </a:xfrm>
        </p:grpSpPr>
        <p:pic>
          <p:nvPicPr>
            <p:cNvPr id="9" name="Imagen 8">
              <a:extLst>
                <a:ext uri="{FF2B5EF4-FFF2-40B4-BE49-F238E27FC236}">
                  <a16:creationId xmlns:a16="http://schemas.microsoft.com/office/drawing/2014/main" id="{D1B210D5-E593-40CF-8611-0239BC4D165C}"/>
                </a:ext>
              </a:extLst>
            </p:cNvPr>
            <p:cNvPicPr>
              <a:picLocks noChangeAspect="1"/>
            </p:cNvPicPr>
            <p:nvPr/>
          </p:nvPicPr>
          <p:blipFill>
            <a:blip r:embed="rId3"/>
            <a:stretch>
              <a:fillRect/>
            </a:stretch>
          </p:blipFill>
          <p:spPr>
            <a:xfrm>
              <a:off x="704706" y="2420888"/>
              <a:ext cx="4608512" cy="3536393"/>
            </a:xfrm>
            <a:prstGeom prst="rect">
              <a:avLst/>
            </a:prstGeom>
          </p:spPr>
        </p:pic>
        <p:grpSp>
          <p:nvGrpSpPr>
            <p:cNvPr id="2" name="Grupo 1">
              <a:extLst>
                <a:ext uri="{FF2B5EF4-FFF2-40B4-BE49-F238E27FC236}">
                  <a16:creationId xmlns:a16="http://schemas.microsoft.com/office/drawing/2014/main" id="{D3277B0B-E76B-483E-AB6D-AF2F3716DA61}"/>
                </a:ext>
              </a:extLst>
            </p:cNvPr>
            <p:cNvGrpSpPr/>
            <p:nvPr/>
          </p:nvGrpSpPr>
          <p:grpSpPr>
            <a:xfrm>
              <a:off x="2699792" y="2997347"/>
              <a:ext cx="3124582" cy="2015829"/>
              <a:chOff x="2699792" y="2997347"/>
              <a:chExt cx="3124582" cy="2015829"/>
            </a:xfrm>
          </p:grpSpPr>
          <p:sp>
            <p:nvSpPr>
              <p:cNvPr id="10" name="CuadroTexto 9">
                <a:extLst>
                  <a:ext uri="{FF2B5EF4-FFF2-40B4-BE49-F238E27FC236}">
                    <a16:creationId xmlns:a16="http://schemas.microsoft.com/office/drawing/2014/main" id="{CAF35387-5392-47A8-B7D0-C0649EB48465}"/>
                  </a:ext>
                </a:extLst>
              </p:cNvPr>
              <p:cNvSpPr txBox="1"/>
              <p:nvPr/>
            </p:nvSpPr>
            <p:spPr>
              <a:xfrm>
                <a:off x="5311092" y="4013472"/>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2699792" y="3429000"/>
                <a:ext cx="2611300" cy="158417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5043709" y="2997347"/>
                <a:ext cx="453970" cy="307777"/>
              </a:xfrm>
              <a:prstGeom prst="rect">
                <a:avLst/>
              </a:prstGeom>
              <a:noFill/>
            </p:spPr>
            <p:txBody>
              <a:bodyPr wrap="none" rtlCol="0">
                <a:spAutoFit/>
              </a:bodyPr>
              <a:lstStyle/>
              <a:p>
                <a:r>
                  <a:rPr lang="es-ES" sz="1400" dirty="0">
                    <a:solidFill>
                      <a:schemeClr val="accent1">
                        <a:lumMod val="75000"/>
                      </a:schemeClr>
                    </a:solidFill>
                  </a:rPr>
                  <a:t>MP</a:t>
                </a:r>
              </a:p>
            </p:txBody>
          </p:sp>
        </p:grpSp>
      </p:grpSp>
      <p:sp>
        <p:nvSpPr>
          <p:cNvPr id="12" name="Rectangle 63">
            <a:extLst>
              <a:ext uri="{FF2B5EF4-FFF2-40B4-BE49-F238E27FC236}">
                <a16:creationId xmlns:a16="http://schemas.microsoft.com/office/drawing/2014/main" id="{5802428C-3CC9-4827-8F9C-0CDAC057C4FD}"/>
              </a:ext>
            </a:extLst>
          </p:cNvPr>
          <p:cNvSpPr txBox="1">
            <a:spLocks noChangeArrowheads="1"/>
          </p:cNvSpPr>
          <p:nvPr/>
        </p:nvSpPr>
        <p:spPr>
          <a:xfrm>
            <a:off x="609600" y="1066800"/>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Suponga que se está ejecutando una instrucción de acceso a byte:  </a:t>
            </a:r>
            <a:r>
              <a:rPr lang="es-ES" dirty="0">
                <a:latin typeface="Courier New" panose="02070309020205020404" pitchFamily="49" charset="0"/>
                <a:cs typeface="Courier New" panose="02070309020205020404" pitchFamily="49" charset="0"/>
              </a:rPr>
              <a:t>lb t0,1(t1)</a:t>
            </a:r>
            <a:r>
              <a:rPr lang="es-ES" dirty="0"/>
              <a:t>y </a:t>
            </a:r>
            <a:r>
              <a:rPr lang="es-ES" dirty="0">
                <a:latin typeface="Courier New" panose="02070309020205020404" pitchFamily="49" charset="0"/>
                <a:cs typeface="Courier New" panose="02070309020205020404" pitchFamily="49" charset="0"/>
              </a:rPr>
              <a:t>t1 </a:t>
            </a:r>
            <a:r>
              <a:rPr lang="es-ES" dirty="0"/>
              <a:t>=   0x1000 0000</a:t>
            </a:r>
          </a:p>
        </p:txBody>
      </p:sp>
      <p:sp>
        <p:nvSpPr>
          <p:cNvPr id="13" name="Rectangle 63">
            <a:extLst>
              <a:ext uri="{FF2B5EF4-FFF2-40B4-BE49-F238E27FC236}">
                <a16:creationId xmlns:a16="http://schemas.microsoft.com/office/drawing/2014/main" id="{F4EA8551-7DAB-4203-AF54-26141870E804}"/>
              </a:ext>
            </a:extLst>
          </p:cNvPr>
          <p:cNvSpPr txBox="1">
            <a:spLocks noChangeArrowheads="1"/>
          </p:cNvSpPr>
          <p:nvPr/>
        </p:nvSpPr>
        <p:spPr>
          <a:xfrm>
            <a:off x="618463" y="1931987"/>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Dirección efectiva =   0x1000 0001</a:t>
            </a:r>
          </a:p>
          <a:p>
            <a:r>
              <a:rPr lang="es-ES" dirty="0"/>
              <a:t>Por el bus se emite </a:t>
            </a:r>
            <a:r>
              <a:rPr lang="es-ES" dirty="0">
                <a:solidFill>
                  <a:srgbClr val="FF0000"/>
                </a:solidFill>
              </a:rPr>
              <a:t>=   0x400 0000  </a:t>
            </a:r>
            <a:r>
              <a:rPr lang="es-ES" dirty="0"/>
              <a:t>y  líneas /BE3 a /BE0  </a:t>
            </a:r>
          </a:p>
        </p:txBody>
      </p:sp>
      <p:sp>
        <p:nvSpPr>
          <p:cNvPr id="4" name="CuadroTexto 3">
            <a:extLst>
              <a:ext uri="{FF2B5EF4-FFF2-40B4-BE49-F238E27FC236}">
                <a16:creationId xmlns:a16="http://schemas.microsoft.com/office/drawing/2014/main" id="{08BF7753-379B-49DE-87DE-187CC7E8D383}"/>
              </a:ext>
            </a:extLst>
          </p:cNvPr>
          <p:cNvSpPr txBox="1"/>
          <p:nvPr/>
        </p:nvSpPr>
        <p:spPr>
          <a:xfrm>
            <a:off x="3818496" y="2876092"/>
            <a:ext cx="2776828" cy="1341906"/>
          </a:xfrm>
          <a:prstGeom prst="rect">
            <a:avLst/>
          </a:prstGeom>
          <a:noFill/>
        </p:spPr>
        <p:txBody>
          <a:bodyPr wrap="square" rtlCol="0">
            <a:spAutoFit/>
          </a:bodyPr>
          <a:lstStyle/>
          <a:p>
            <a:pPr algn="l"/>
            <a:r>
              <a:rPr lang="es-ES" sz="1400" dirty="0">
                <a:solidFill>
                  <a:srgbClr val="FF0000"/>
                </a:solidFill>
              </a:rPr>
              <a:t>                                1</a:t>
            </a:r>
          </a:p>
          <a:p>
            <a:pPr algn="l"/>
            <a:r>
              <a:rPr lang="es-ES" sz="1400" dirty="0">
                <a:solidFill>
                  <a:srgbClr val="FF0000"/>
                </a:solidFill>
              </a:rPr>
              <a:t>                        0</a:t>
            </a:r>
          </a:p>
          <a:p>
            <a:pPr algn="l"/>
            <a:r>
              <a:rPr lang="es-ES" sz="1400" dirty="0">
                <a:solidFill>
                  <a:srgbClr val="FF0000"/>
                </a:solidFill>
              </a:rPr>
              <a:t>            1</a:t>
            </a:r>
          </a:p>
          <a:p>
            <a:pPr algn="l"/>
            <a:r>
              <a:rPr lang="es-ES" sz="1400" dirty="0">
                <a:solidFill>
                  <a:srgbClr val="FF0000"/>
                </a:solidFill>
              </a:rPr>
              <a:t> 1</a:t>
            </a:r>
          </a:p>
          <a:p>
            <a:endParaRPr lang="es-ES" sz="1400" dirty="0">
              <a:solidFill>
                <a:srgbClr val="FF0000"/>
              </a:solidFill>
            </a:endParaRPr>
          </a:p>
        </p:txBody>
      </p:sp>
      <p:cxnSp>
        <p:nvCxnSpPr>
          <p:cNvPr id="6" name="Conector recto 5">
            <a:extLst>
              <a:ext uri="{FF2B5EF4-FFF2-40B4-BE49-F238E27FC236}">
                <a16:creationId xmlns:a16="http://schemas.microsoft.com/office/drawing/2014/main" id="{3BB0DA6B-FD4A-4DA8-A360-C32FEB8E7075}"/>
              </a:ext>
            </a:extLst>
          </p:cNvPr>
          <p:cNvCxnSpPr/>
          <p:nvPr/>
        </p:nvCxnSpPr>
        <p:spPr bwMode="auto">
          <a:xfrm>
            <a:off x="3470742" y="4437112"/>
            <a:ext cx="26332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CuadroTexto 6">
            <a:extLst>
              <a:ext uri="{FF2B5EF4-FFF2-40B4-BE49-F238E27FC236}">
                <a16:creationId xmlns:a16="http://schemas.microsoft.com/office/drawing/2014/main" id="{3F048440-35FB-49DA-B6FA-2F2CC0365E6A}"/>
              </a:ext>
            </a:extLst>
          </p:cNvPr>
          <p:cNvSpPr txBox="1"/>
          <p:nvPr/>
        </p:nvSpPr>
        <p:spPr>
          <a:xfrm>
            <a:off x="6035424" y="4228415"/>
            <a:ext cx="1632920" cy="307777"/>
          </a:xfrm>
          <a:prstGeom prst="rect">
            <a:avLst/>
          </a:prstGeom>
          <a:noFill/>
        </p:spPr>
        <p:txBody>
          <a:bodyPr wrap="square" rtlCol="0">
            <a:spAutoFit/>
          </a:bodyPr>
          <a:lstStyle/>
          <a:p>
            <a:r>
              <a:rPr lang="es-ES" sz="1400" dirty="0">
                <a:solidFill>
                  <a:srgbClr val="FF0000"/>
                </a:solidFill>
              </a:rPr>
              <a:t>Fila 0x400 0000</a:t>
            </a:r>
          </a:p>
        </p:txBody>
      </p:sp>
      <p:sp>
        <p:nvSpPr>
          <p:cNvPr id="8" name="Flecha: hacia arriba 7">
            <a:extLst>
              <a:ext uri="{FF2B5EF4-FFF2-40B4-BE49-F238E27FC236}">
                <a16:creationId xmlns:a16="http://schemas.microsoft.com/office/drawing/2014/main" id="{236EF77C-27B0-4DCF-89CE-8108DDF416A6}"/>
              </a:ext>
            </a:extLst>
          </p:cNvPr>
          <p:cNvSpPr/>
          <p:nvPr/>
        </p:nvSpPr>
        <p:spPr bwMode="auto">
          <a:xfrm>
            <a:off x="5076056" y="6309320"/>
            <a:ext cx="288032" cy="415889"/>
          </a:xfrm>
          <a:prstGeom prst="upArrow">
            <a:avLst/>
          </a:prstGeom>
          <a:solidFill>
            <a:schemeClr val="bg1"/>
          </a:solidFill>
          <a:ln w="19050">
            <a:solidFill>
              <a:schemeClr val="accent3"/>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B9B70B3F-65D9-4F25-8B9D-9E136416CE32}"/>
              </a:ext>
            </a:extLst>
          </p:cNvPr>
          <p:cNvSpPr txBox="1"/>
          <p:nvPr/>
        </p:nvSpPr>
        <p:spPr>
          <a:xfrm>
            <a:off x="5361732" y="6325856"/>
            <a:ext cx="2980304" cy="307777"/>
          </a:xfrm>
          <a:prstGeom prst="rect">
            <a:avLst/>
          </a:prstGeom>
          <a:noFill/>
        </p:spPr>
        <p:txBody>
          <a:bodyPr wrap="none" rtlCol="0">
            <a:spAutoFit/>
          </a:bodyPr>
          <a:lstStyle/>
          <a:p>
            <a:r>
              <a:rPr lang="es-ES" sz="1400" dirty="0">
                <a:solidFill>
                  <a:schemeClr val="accent1">
                    <a:lumMod val="75000"/>
                  </a:schemeClr>
                </a:solidFill>
              </a:rPr>
              <a:t>Solo por ese byte sale información.</a:t>
            </a:r>
          </a:p>
        </p:txBody>
      </p:sp>
      <p:sp>
        <p:nvSpPr>
          <p:cNvPr id="5" name="2 Marcador de número de diapositiva">
            <a:extLst>
              <a:ext uri="{FF2B5EF4-FFF2-40B4-BE49-F238E27FC236}">
                <a16:creationId xmlns:a16="http://schemas.microsoft.com/office/drawing/2014/main" id="{AE65D398-C041-B342-6BC3-3A870B662D4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32</a:t>
            </a:fld>
            <a:endParaRPr lang="en-US" dirty="0"/>
          </a:p>
        </p:txBody>
      </p:sp>
    </p:spTree>
    <p:extLst>
      <p:ext uri="{BB962C8B-B14F-4D97-AF65-F5344CB8AC3E}">
        <p14:creationId xmlns:p14="http://schemas.microsoft.com/office/powerpoint/2010/main" val="1731313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Resumen Acceso a memoria</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7778824" cy="584774"/>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endParaRPr lang="es-ES" sz="1200" dirty="0"/>
          </a:p>
        </p:txBody>
      </p:sp>
      <p:grpSp>
        <p:nvGrpSpPr>
          <p:cNvPr id="3" name="Grupo 2">
            <a:extLst>
              <a:ext uri="{FF2B5EF4-FFF2-40B4-BE49-F238E27FC236}">
                <a16:creationId xmlns:a16="http://schemas.microsoft.com/office/drawing/2014/main" id="{0530EC0E-89E9-48C6-B5A2-DA4CDFD675F5}"/>
              </a:ext>
            </a:extLst>
          </p:cNvPr>
          <p:cNvGrpSpPr/>
          <p:nvPr/>
        </p:nvGrpSpPr>
        <p:grpSpPr>
          <a:xfrm>
            <a:off x="1475656" y="2992995"/>
            <a:ext cx="5119668" cy="3536393"/>
            <a:chOff x="704706" y="2420888"/>
            <a:chExt cx="5119668" cy="3536393"/>
          </a:xfrm>
        </p:grpSpPr>
        <p:pic>
          <p:nvPicPr>
            <p:cNvPr id="9" name="Imagen 8">
              <a:extLst>
                <a:ext uri="{FF2B5EF4-FFF2-40B4-BE49-F238E27FC236}">
                  <a16:creationId xmlns:a16="http://schemas.microsoft.com/office/drawing/2014/main" id="{D1B210D5-E593-40CF-8611-0239BC4D165C}"/>
                </a:ext>
              </a:extLst>
            </p:cNvPr>
            <p:cNvPicPr>
              <a:picLocks noChangeAspect="1"/>
            </p:cNvPicPr>
            <p:nvPr/>
          </p:nvPicPr>
          <p:blipFill>
            <a:blip r:embed="rId3"/>
            <a:stretch>
              <a:fillRect/>
            </a:stretch>
          </p:blipFill>
          <p:spPr>
            <a:xfrm>
              <a:off x="704706" y="2420888"/>
              <a:ext cx="4608512" cy="3536393"/>
            </a:xfrm>
            <a:prstGeom prst="rect">
              <a:avLst/>
            </a:prstGeom>
          </p:spPr>
        </p:pic>
        <p:grpSp>
          <p:nvGrpSpPr>
            <p:cNvPr id="2" name="Grupo 1">
              <a:extLst>
                <a:ext uri="{FF2B5EF4-FFF2-40B4-BE49-F238E27FC236}">
                  <a16:creationId xmlns:a16="http://schemas.microsoft.com/office/drawing/2014/main" id="{D3277B0B-E76B-483E-AB6D-AF2F3716DA61}"/>
                </a:ext>
              </a:extLst>
            </p:cNvPr>
            <p:cNvGrpSpPr/>
            <p:nvPr/>
          </p:nvGrpSpPr>
          <p:grpSpPr>
            <a:xfrm>
              <a:off x="2699792" y="2997347"/>
              <a:ext cx="3124582" cy="2015829"/>
              <a:chOff x="2699792" y="2997347"/>
              <a:chExt cx="3124582" cy="2015829"/>
            </a:xfrm>
          </p:grpSpPr>
          <p:sp>
            <p:nvSpPr>
              <p:cNvPr id="10" name="CuadroTexto 9">
                <a:extLst>
                  <a:ext uri="{FF2B5EF4-FFF2-40B4-BE49-F238E27FC236}">
                    <a16:creationId xmlns:a16="http://schemas.microsoft.com/office/drawing/2014/main" id="{CAF35387-5392-47A8-B7D0-C0649EB48465}"/>
                  </a:ext>
                </a:extLst>
              </p:cNvPr>
              <p:cNvSpPr txBox="1"/>
              <p:nvPr/>
            </p:nvSpPr>
            <p:spPr>
              <a:xfrm>
                <a:off x="5311092" y="4013472"/>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2699792" y="3429000"/>
                <a:ext cx="2611300" cy="158417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5043709" y="2997347"/>
                <a:ext cx="453970" cy="307777"/>
              </a:xfrm>
              <a:prstGeom prst="rect">
                <a:avLst/>
              </a:prstGeom>
              <a:noFill/>
            </p:spPr>
            <p:txBody>
              <a:bodyPr wrap="none" rtlCol="0">
                <a:spAutoFit/>
              </a:bodyPr>
              <a:lstStyle/>
              <a:p>
                <a:r>
                  <a:rPr lang="es-ES" sz="1400" dirty="0">
                    <a:solidFill>
                      <a:schemeClr val="accent1">
                        <a:lumMod val="75000"/>
                      </a:schemeClr>
                    </a:solidFill>
                  </a:rPr>
                  <a:t>MP</a:t>
                </a:r>
              </a:p>
            </p:txBody>
          </p:sp>
        </p:grpSp>
      </p:grpSp>
      <p:sp>
        <p:nvSpPr>
          <p:cNvPr id="12" name="Rectangle 63">
            <a:extLst>
              <a:ext uri="{FF2B5EF4-FFF2-40B4-BE49-F238E27FC236}">
                <a16:creationId xmlns:a16="http://schemas.microsoft.com/office/drawing/2014/main" id="{5802428C-3CC9-4827-8F9C-0CDAC057C4FD}"/>
              </a:ext>
            </a:extLst>
          </p:cNvPr>
          <p:cNvSpPr txBox="1">
            <a:spLocks noChangeArrowheads="1"/>
          </p:cNvSpPr>
          <p:nvPr/>
        </p:nvSpPr>
        <p:spPr>
          <a:xfrm>
            <a:off x="609600" y="1066800"/>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Suponga que se está ejecutando una instrucción de acceso a byte: </a:t>
            </a:r>
            <a:r>
              <a:rPr lang="es-ES" dirty="0">
                <a:latin typeface="Courier New" panose="02070309020205020404" pitchFamily="49" charset="0"/>
                <a:cs typeface="Courier New" panose="02070309020205020404" pitchFamily="49" charset="0"/>
              </a:rPr>
              <a:t>lb t0,2(t1)</a:t>
            </a:r>
            <a:r>
              <a:rPr lang="es-ES" dirty="0"/>
              <a:t>y </a:t>
            </a:r>
            <a:r>
              <a:rPr lang="es-ES" dirty="0">
                <a:latin typeface="Courier New" panose="02070309020205020404" pitchFamily="49" charset="0"/>
                <a:cs typeface="Courier New" panose="02070309020205020404" pitchFamily="49" charset="0"/>
              </a:rPr>
              <a:t>t1 </a:t>
            </a:r>
            <a:r>
              <a:rPr lang="es-ES" dirty="0"/>
              <a:t>=   0x1000 0000</a:t>
            </a:r>
          </a:p>
        </p:txBody>
      </p:sp>
      <p:sp>
        <p:nvSpPr>
          <p:cNvPr id="13" name="Rectangle 63">
            <a:extLst>
              <a:ext uri="{FF2B5EF4-FFF2-40B4-BE49-F238E27FC236}">
                <a16:creationId xmlns:a16="http://schemas.microsoft.com/office/drawing/2014/main" id="{F4EA8551-7DAB-4203-AF54-26141870E804}"/>
              </a:ext>
            </a:extLst>
          </p:cNvPr>
          <p:cNvSpPr txBox="1">
            <a:spLocks noChangeArrowheads="1"/>
          </p:cNvSpPr>
          <p:nvPr/>
        </p:nvSpPr>
        <p:spPr>
          <a:xfrm>
            <a:off x="618463" y="1931987"/>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Dirección efectiva =   0x1000 0002</a:t>
            </a:r>
          </a:p>
          <a:p>
            <a:r>
              <a:rPr lang="es-ES" dirty="0"/>
              <a:t>Por el bus se emite </a:t>
            </a:r>
            <a:r>
              <a:rPr lang="es-ES" dirty="0">
                <a:solidFill>
                  <a:srgbClr val="FF0000"/>
                </a:solidFill>
              </a:rPr>
              <a:t>= 0x400 0000 </a:t>
            </a:r>
            <a:r>
              <a:rPr lang="es-ES" dirty="0"/>
              <a:t>y  líneas /BE3 a /BE0  </a:t>
            </a:r>
          </a:p>
        </p:txBody>
      </p:sp>
      <p:sp>
        <p:nvSpPr>
          <p:cNvPr id="4" name="CuadroTexto 3">
            <a:extLst>
              <a:ext uri="{FF2B5EF4-FFF2-40B4-BE49-F238E27FC236}">
                <a16:creationId xmlns:a16="http://schemas.microsoft.com/office/drawing/2014/main" id="{08BF7753-379B-49DE-87DE-187CC7E8D383}"/>
              </a:ext>
            </a:extLst>
          </p:cNvPr>
          <p:cNvSpPr txBox="1"/>
          <p:nvPr/>
        </p:nvSpPr>
        <p:spPr>
          <a:xfrm>
            <a:off x="3818496" y="2876092"/>
            <a:ext cx="2776828" cy="1341906"/>
          </a:xfrm>
          <a:prstGeom prst="rect">
            <a:avLst/>
          </a:prstGeom>
          <a:noFill/>
        </p:spPr>
        <p:txBody>
          <a:bodyPr wrap="square" rtlCol="0">
            <a:spAutoFit/>
          </a:bodyPr>
          <a:lstStyle/>
          <a:p>
            <a:pPr algn="l"/>
            <a:r>
              <a:rPr lang="es-ES" sz="1400" dirty="0">
                <a:solidFill>
                  <a:srgbClr val="FF0000"/>
                </a:solidFill>
              </a:rPr>
              <a:t>                                1</a:t>
            </a:r>
          </a:p>
          <a:p>
            <a:pPr algn="l"/>
            <a:r>
              <a:rPr lang="es-ES" sz="1400" dirty="0">
                <a:solidFill>
                  <a:srgbClr val="FF0000"/>
                </a:solidFill>
              </a:rPr>
              <a:t>                        1</a:t>
            </a:r>
          </a:p>
          <a:p>
            <a:pPr algn="l"/>
            <a:r>
              <a:rPr lang="es-ES" sz="1400" dirty="0">
                <a:solidFill>
                  <a:srgbClr val="FF0000"/>
                </a:solidFill>
              </a:rPr>
              <a:t>            0</a:t>
            </a:r>
          </a:p>
          <a:p>
            <a:pPr algn="l"/>
            <a:r>
              <a:rPr lang="es-ES" sz="1400" dirty="0">
                <a:solidFill>
                  <a:srgbClr val="FF0000"/>
                </a:solidFill>
              </a:rPr>
              <a:t> 1</a:t>
            </a:r>
          </a:p>
          <a:p>
            <a:endParaRPr lang="es-ES" sz="1400" dirty="0">
              <a:solidFill>
                <a:srgbClr val="FF0000"/>
              </a:solidFill>
            </a:endParaRPr>
          </a:p>
        </p:txBody>
      </p:sp>
      <p:cxnSp>
        <p:nvCxnSpPr>
          <p:cNvPr id="6" name="Conector recto 5">
            <a:extLst>
              <a:ext uri="{FF2B5EF4-FFF2-40B4-BE49-F238E27FC236}">
                <a16:creationId xmlns:a16="http://schemas.microsoft.com/office/drawing/2014/main" id="{3BB0DA6B-FD4A-4DA8-A360-C32FEB8E7075}"/>
              </a:ext>
            </a:extLst>
          </p:cNvPr>
          <p:cNvCxnSpPr/>
          <p:nvPr/>
        </p:nvCxnSpPr>
        <p:spPr bwMode="auto">
          <a:xfrm>
            <a:off x="3470742" y="4437112"/>
            <a:ext cx="26332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CuadroTexto 6">
            <a:extLst>
              <a:ext uri="{FF2B5EF4-FFF2-40B4-BE49-F238E27FC236}">
                <a16:creationId xmlns:a16="http://schemas.microsoft.com/office/drawing/2014/main" id="{3F048440-35FB-49DA-B6FA-2F2CC0365E6A}"/>
              </a:ext>
            </a:extLst>
          </p:cNvPr>
          <p:cNvSpPr txBox="1"/>
          <p:nvPr/>
        </p:nvSpPr>
        <p:spPr>
          <a:xfrm>
            <a:off x="6035424" y="4228415"/>
            <a:ext cx="1632920" cy="307777"/>
          </a:xfrm>
          <a:prstGeom prst="rect">
            <a:avLst/>
          </a:prstGeom>
          <a:noFill/>
        </p:spPr>
        <p:txBody>
          <a:bodyPr wrap="square" rtlCol="0">
            <a:spAutoFit/>
          </a:bodyPr>
          <a:lstStyle/>
          <a:p>
            <a:r>
              <a:rPr lang="es-ES" sz="1400" dirty="0">
                <a:solidFill>
                  <a:srgbClr val="FF0000"/>
                </a:solidFill>
              </a:rPr>
              <a:t>Fila 0x400 0000</a:t>
            </a:r>
          </a:p>
        </p:txBody>
      </p:sp>
      <p:sp>
        <p:nvSpPr>
          <p:cNvPr id="8" name="Flecha: hacia arriba 7">
            <a:extLst>
              <a:ext uri="{FF2B5EF4-FFF2-40B4-BE49-F238E27FC236}">
                <a16:creationId xmlns:a16="http://schemas.microsoft.com/office/drawing/2014/main" id="{236EF77C-27B0-4DCF-89CE-8108DDF416A6}"/>
              </a:ext>
            </a:extLst>
          </p:cNvPr>
          <p:cNvSpPr/>
          <p:nvPr/>
        </p:nvSpPr>
        <p:spPr bwMode="auto">
          <a:xfrm>
            <a:off x="4355976" y="6309320"/>
            <a:ext cx="288032" cy="415889"/>
          </a:xfrm>
          <a:prstGeom prst="upArrow">
            <a:avLst/>
          </a:prstGeom>
          <a:solidFill>
            <a:schemeClr val="bg1"/>
          </a:solidFill>
          <a:ln w="19050">
            <a:solidFill>
              <a:schemeClr val="accent3"/>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B9B70B3F-65D9-4F25-8B9D-9E136416CE32}"/>
              </a:ext>
            </a:extLst>
          </p:cNvPr>
          <p:cNvSpPr txBox="1"/>
          <p:nvPr/>
        </p:nvSpPr>
        <p:spPr>
          <a:xfrm>
            <a:off x="4716016" y="6325856"/>
            <a:ext cx="2980304" cy="307777"/>
          </a:xfrm>
          <a:prstGeom prst="rect">
            <a:avLst/>
          </a:prstGeom>
          <a:noFill/>
        </p:spPr>
        <p:txBody>
          <a:bodyPr wrap="none" rtlCol="0">
            <a:spAutoFit/>
          </a:bodyPr>
          <a:lstStyle/>
          <a:p>
            <a:r>
              <a:rPr lang="es-ES" sz="1400" dirty="0">
                <a:solidFill>
                  <a:schemeClr val="accent1">
                    <a:lumMod val="75000"/>
                  </a:schemeClr>
                </a:solidFill>
              </a:rPr>
              <a:t>Solo por ese byte sale información.</a:t>
            </a:r>
          </a:p>
        </p:txBody>
      </p:sp>
      <p:sp>
        <p:nvSpPr>
          <p:cNvPr id="5" name="2 Marcador de número de diapositiva">
            <a:extLst>
              <a:ext uri="{FF2B5EF4-FFF2-40B4-BE49-F238E27FC236}">
                <a16:creationId xmlns:a16="http://schemas.microsoft.com/office/drawing/2014/main" id="{1FEA9F4A-4A31-F3FC-264E-F3065D0D359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33</a:t>
            </a:fld>
            <a:endParaRPr lang="en-US" dirty="0"/>
          </a:p>
        </p:txBody>
      </p:sp>
    </p:spTree>
    <p:extLst>
      <p:ext uri="{BB962C8B-B14F-4D97-AF65-F5344CB8AC3E}">
        <p14:creationId xmlns:p14="http://schemas.microsoft.com/office/powerpoint/2010/main" val="3942664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Resumen Acceso a memoria</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7778824" cy="584774"/>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endParaRPr lang="es-ES" sz="1200" dirty="0"/>
          </a:p>
        </p:txBody>
      </p:sp>
      <p:grpSp>
        <p:nvGrpSpPr>
          <p:cNvPr id="3" name="Grupo 2">
            <a:extLst>
              <a:ext uri="{FF2B5EF4-FFF2-40B4-BE49-F238E27FC236}">
                <a16:creationId xmlns:a16="http://schemas.microsoft.com/office/drawing/2014/main" id="{0530EC0E-89E9-48C6-B5A2-DA4CDFD675F5}"/>
              </a:ext>
            </a:extLst>
          </p:cNvPr>
          <p:cNvGrpSpPr/>
          <p:nvPr/>
        </p:nvGrpSpPr>
        <p:grpSpPr>
          <a:xfrm>
            <a:off x="1475656" y="2992995"/>
            <a:ext cx="5119668" cy="3536393"/>
            <a:chOff x="704706" y="2420888"/>
            <a:chExt cx="5119668" cy="3536393"/>
          </a:xfrm>
        </p:grpSpPr>
        <p:pic>
          <p:nvPicPr>
            <p:cNvPr id="9" name="Imagen 8">
              <a:extLst>
                <a:ext uri="{FF2B5EF4-FFF2-40B4-BE49-F238E27FC236}">
                  <a16:creationId xmlns:a16="http://schemas.microsoft.com/office/drawing/2014/main" id="{D1B210D5-E593-40CF-8611-0239BC4D165C}"/>
                </a:ext>
              </a:extLst>
            </p:cNvPr>
            <p:cNvPicPr>
              <a:picLocks noChangeAspect="1"/>
            </p:cNvPicPr>
            <p:nvPr/>
          </p:nvPicPr>
          <p:blipFill>
            <a:blip r:embed="rId3"/>
            <a:stretch>
              <a:fillRect/>
            </a:stretch>
          </p:blipFill>
          <p:spPr>
            <a:xfrm>
              <a:off x="704706" y="2420888"/>
              <a:ext cx="4608512" cy="3536393"/>
            </a:xfrm>
            <a:prstGeom prst="rect">
              <a:avLst/>
            </a:prstGeom>
          </p:spPr>
        </p:pic>
        <p:grpSp>
          <p:nvGrpSpPr>
            <p:cNvPr id="2" name="Grupo 1">
              <a:extLst>
                <a:ext uri="{FF2B5EF4-FFF2-40B4-BE49-F238E27FC236}">
                  <a16:creationId xmlns:a16="http://schemas.microsoft.com/office/drawing/2014/main" id="{D3277B0B-E76B-483E-AB6D-AF2F3716DA61}"/>
                </a:ext>
              </a:extLst>
            </p:cNvPr>
            <p:cNvGrpSpPr/>
            <p:nvPr/>
          </p:nvGrpSpPr>
          <p:grpSpPr>
            <a:xfrm>
              <a:off x="2699792" y="2997347"/>
              <a:ext cx="3124582" cy="2015829"/>
              <a:chOff x="2699792" y="2997347"/>
              <a:chExt cx="3124582" cy="2015829"/>
            </a:xfrm>
          </p:grpSpPr>
          <p:sp>
            <p:nvSpPr>
              <p:cNvPr id="10" name="CuadroTexto 9">
                <a:extLst>
                  <a:ext uri="{FF2B5EF4-FFF2-40B4-BE49-F238E27FC236}">
                    <a16:creationId xmlns:a16="http://schemas.microsoft.com/office/drawing/2014/main" id="{CAF35387-5392-47A8-B7D0-C0649EB48465}"/>
                  </a:ext>
                </a:extLst>
              </p:cNvPr>
              <p:cNvSpPr txBox="1"/>
              <p:nvPr/>
            </p:nvSpPr>
            <p:spPr>
              <a:xfrm>
                <a:off x="5311092" y="4013472"/>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2699792" y="3429000"/>
                <a:ext cx="2611300" cy="158417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5043709" y="2997347"/>
                <a:ext cx="453970" cy="307777"/>
              </a:xfrm>
              <a:prstGeom prst="rect">
                <a:avLst/>
              </a:prstGeom>
              <a:noFill/>
            </p:spPr>
            <p:txBody>
              <a:bodyPr wrap="none" rtlCol="0">
                <a:spAutoFit/>
              </a:bodyPr>
              <a:lstStyle/>
              <a:p>
                <a:r>
                  <a:rPr lang="es-ES" sz="1400" dirty="0">
                    <a:solidFill>
                      <a:schemeClr val="accent1">
                        <a:lumMod val="75000"/>
                      </a:schemeClr>
                    </a:solidFill>
                  </a:rPr>
                  <a:t>MP</a:t>
                </a:r>
              </a:p>
            </p:txBody>
          </p:sp>
        </p:grpSp>
      </p:grpSp>
      <p:sp>
        <p:nvSpPr>
          <p:cNvPr id="12" name="Rectangle 63">
            <a:extLst>
              <a:ext uri="{FF2B5EF4-FFF2-40B4-BE49-F238E27FC236}">
                <a16:creationId xmlns:a16="http://schemas.microsoft.com/office/drawing/2014/main" id="{5802428C-3CC9-4827-8F9C-0CDAC057C4FD}"/>
              </a:ext>
            </a:extLst>
          </p:cNvPr>
          <p:cNvSpPr txBox="1">
            <a:spLocks noChangeArrowheads="1"/>
          </p:cNvSpPr>
          <p:nvPr/>
        </p:nvSpPr>
        <p:spPr>
          <a:xfrm>
            <a:off x="609600" y="1066800"/>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Suponga que se está ejecutando una instrucción de acceso a </a:t>
            </a:r>
            <a:r>
              <a:rPr lang="es-ES" dirty="0" err="1"/>
              <a:t>word</a:t>
            </a:r>
            <a:r>
              <a:rPr lang="es-ES" dirty="0"/>
              <a:t>: </a:t>
            </a:r>
            <a:r>
              <a:rPr lang="es-ES" dirty="0" err="1">
                <a:latin typeface="Courier New" panose="02070309020205020404" pitchFamily="49" charset="0"/>
                <a:cs typeface="Courier New" panose="02070309020205020404" pitchFamily="49" charset="0"/>
              </a:rPr>
              <a:t>lw</a:t>
            </a:r>
            <a:r>
              <a:rPr lang="es-ES" dirty="0">
                <a:latin typeface="Courier New" panose="02070309020205020404" pitchFamily="49" charset="0"/>
                <a:cs typeface="Courier New" panose="02070309020205020404" pitchFamily="49" charset="0"/>
              </a:rPr>
              <a:t> t0,0(t1)</a:t>
            </a:r>
            <a:r>
              <a:rPr lang="es-ES" dirty="0"/>
              <a:t>y </a:t>
            </a:r>
            <a:r>
              <a:rPr lang="es-ES" dirty="0">
                <a:latin typeface="Courier New" panose="02070309020205020404" pitchFamily="49" charset="0"/>
                <a:cs typeface="Courier New" panose="02070309020205020404" pitchFamily="49" charset="0"/>
              </a:rPr>
              <a:t>t1 </a:t>
            </a:r>
            <a:r>
              <a:rPr lang="es-ES" dirty="0"/>
              <a:t>=   0x1000 0000</a:t>
            </a:r>
          </a:p>
        </p:txBody>
      </p:sp>
      <p:sp>
        <p:nvSpPr>
          <p:cNvPr id="13" name="Rectangle 63">
            <a:extLst>
              <a:ext uri="{FF2B5EF4-FFF2-40B4-BE49-F238E27FC236}">
                <a16:creationId xmlns:a16="http://schemas.microsoft.com/office/drawing/2014/main" id="{F4EA8551-7DAB-4203-AF54-26141870E804}"/>
              </a:ext>
            </a:extLst>
          </p:cNvPr>
          <p:cNvSpPr txBox="1">
            <a:spLocks noChangeArrowheads="1"/>
          </p:cNvSpPr>
          <p:nvPr/>
        </p:nvSpPr>
        <p:spPr>
          <a:xfrm>
            <a:off x="618463" y="1931987"/>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Dirección efectiva =   0x1000 0000</a:t>
            </a:r>
          </a:p>
          <a:p>
            <a:r>
              <a:rPr lang="es-ES" dirty="0"/>
              <a:t>Por el bus se emite </a:t>
            </a:r>
            <a:r>
              <a:rPr lang="es-ES" dirty="0">
                <a:solidFill>
                  <a:srgbClr val="FF0000"/>
                </a:solidFill>
              </a:rPr>
              <a:t>= 0x400 0000  </a:t>
            </a:r>
            <a:r>
              <a:rPr lang="es-ES" dirty="0"/>
              <a:t>y  líneas /BE3 a /BE0  </a:t>
            </a:r>
          </a:p>
        </p:txBody>
      </p:sp>
      <p:sp>
        <p:nvSpPr>
          <p:cNvPr id="4" name="CuadroTexto 3">
            <a:extLst>
              <a:ext uri="{FF2B5EF4-FFF2-40B4-BE49-F238E27FC236}">
                <a16:creationId xmlns:a16="http://schemas.microsoft.com/office/drawing/2014/main" id="{08BF7753-379B-49DE-87DE-187CC7E8D383}"/>
              </a:ext>
            </a:extLst>
          </p:cNvPr>
          <p:cNvSpPr txBox="1"/>
          <p:nvPr/>
        </p:nvSpPr>
        <p:spPr>
          <a:xfrm>
            <a:off x="3818496" y="2876092"/>
            <a:ext cx="2776828" cy="1341906"/>
          </a:xfrm>
          <a:prstGeom prst="rect">
            <a:avLst/>
          </a:prstGeom>
          <a:noFill/>
        </p:spPr>
        <p:txBody>
          <a:bodyPr wrap="square" rtlCol="0">
            <a:spAutoFit/>
          </a:bodyPr>
          <a:lstStyle/>
          <a:p>
            <a:pPr algn="l"/>
            <a:r>
              <a:rPr lang="es-ES" sz="1400" dirty="0">
                <a:solidFill>
                  <a:srgbClr val="FF0000"/>
                </a:solidFill>
              </a:rPr>
              <a:t>                                0</a:t>
            </a:r>
          </a:p>
          <a:p>
            <a:pPr algn="l"/>
            <a:r>
              <a:rPr lang="es-ES" sz="1400" dirty="0">
                <a:solidFill>
                  <a:srgbClr val="FF0000"/>
                </a:solidFill>
              </a:rPr>
              <a:t>                        0</a:t>
            </a:r>
          </a:p>
          <a:p>
            <a:pPr algn="l"/>
            <a:r>
              <a:rPr lang="es-ES" sz="1400" dirty="0">
                <a:solidFill>
                  <a:srgbClr val="FF0000"/>
                </a:solidFill>
              </a:rPr>
              <a:t>            0</a:t>
            </a:r>
          </a:p>
          <a:p>
            <a:pPr algn="l"/>
            <a:r>
              <a:rPr lang="es-ES" sz="1400" dirty="0">
                <a:solidFill>
                  <a:srgbClr val="FF0000"/>
                </a:solidFill>
              </a:rPr>
              <a:t> 0</a:t>
            </a:r>
          </a:p>
          <a:p>
            <a:endParaRPr lang="es-ES" sz="1400" dirty="0">
              <a:solidFill>
                <a:srgbClr val="FF0000"/>
              </a:solidFill>
            </a:endParaRPr>
          </a:p>
        </p:txBody>
      </p:sp>
      <p:cxnSp>
        <p:nvCxnSpPr>
          <p:cNvPr id="6" name="Conector recto 5">
            <a:extLst>
              <a:ext uri="{FF2B5EF4-FFF2-40B4-BE49-F238E27FC236}">
                <a16:creationId xmlns:a16="http://schemas.microsoft.com/office/drawing/2014/main" id="{3BB0DA6B-FD4A-4DA8-A360-C32FEB8E7075}"/>
              </a:ext>
            </a:extLst>
          </p:cNvPr>
          <p:cNvCxnSpPr/>
          <p:nvPr/>
        </p:nvCxnSpPr>
        <p:spPr bwMode="auto">
          <a:xfrm>
            <a:off x="3470742" y="4437112"/>
            <a:ext cx="26332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CuadroTexto 6">
            <a:extLst>
              <a:ext uri="{FF2B5EF4-FFF2-40B4-BE49-F238E27FC236}">
                <a16:creationId xmlns:a16="http://schemas.microsoft.com/office/drawing/2014/main" id="{3F048440-35FB-49DA-B6FA-2F2CC0365E6A}"/>
              </a:ext>
            </a:extLst>
          </p:cNvPr>
          <p:cNvSpPr txBox="1"/>
          <p:nvPr/>
        </p:nvSpPr>
        <p:spPr>
          <a:xfrm>
            <a:off x="6035424" y="4228415"/>
            <a:ext cx="1632920" cy="307777"/>
          </a:xfrm>
          <a:prstGeom prst="rect">
            <a:avLst/>
          </a:prstGeom>
          <a:noFill/>
        </p:spPr>
        <p:txBody>
          <a:bodyPr wrap="square" rtlCol="0">
            <a:spAutoFit/>
          </a:bodyPr>
          <a:lstStyle/>
          <a:p>
            <a:r>
              <a:rPr lang="es-ES" sz="1400" dirty="0">
                <a:solidFill>
                  <a:srgbClr val="FF0000"/>
                </a:solidFill>
              </a:rPr>
              <a:t>Fila 0x400 0000</a:t>
            </a:r>
          </a:p>
        </p:txBody>
      </p:sp>
      <p:sp>
        <p:nvSpPr>
          <p:cNvPr id="14" name="CuadroTexto 13">
            <a:extLst>
              <a:ext uri="{FF2B5EF4-FFF2-40B4-BE49-F238E27FC236}">
                <a16:creationId xmlns:a16="http://schemas.microsoft.com/office/drawing/2014/main" id="{B9B70B3F-65D9-4F25-8B9D-9E136416CE32}"/>
              </a:ext>
            </a:extLst>
          </p:cNvPr>
          <p:cNvSpPr txBox="1"/>
          <p:nvPr/>
        </p:nvSpPr>
        <p:spPr>
          <a:xfrm>
            <a:off x="3926211" y="6405042"/>
            <a:ext cx="3119765" cy="307777"/>
          </a:xfrm>
          <a:prstGeom prst="rect">
            <a:avLst/>
          </a:prstGeom>
          <a:noFill/>
        </p:spPr>
        <p:txBody>
          <a:bodyPr wrap="none" rtlCol="0">
            <a:spAutoFit/>
          </a:bodyPr>
          <a:lstStyle/>
          <a:p>
            <a:r>
              <a:rPr lang="es-ES" sz="1400" dirty="0">
                <a:solidFill>
                  <a:schemeClr val="accent1">
                    <a:lumMod val="75000"/>
                  </a:schemeClr>
                </a:solidFill>
              </a:rPr>
              <a:t>Sale por todos los bytes información.</a:t>
            </a:r>
          </a:p>
        </p:txBody>
      </p:sp>
      <p:sp>
        <p:nvSpPr>
          <p:cNvPr id="5" name="2 Marcador de número de diapositiva">
            <a:extLst>
              <a:ext uri="{FF2B5EF4-FFF2-40B4-BE49-F238E27FC236}">
                <a16:creationId xmlns:a16="http://schemas.microsoft.com/office/drawing/2014/main" id="{9D2CEF36-674D-9367-2CBF-28C62D83915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34</a:t>
            </a:fld>
            <a:endParaRPr lang="en-US" dirty="0"/>
          </a:p>
        </p:txBody>
      </p:sp>
    </p:spTree>
    <p:extLst>
      <p:ext uri="{BB962C8B-B14F-4D97-AF65-F5344CB8AC3E}">
        <p14:creationId xmlns:p14="http://schemas.microsoft.com/office/powerpoint/2010/main" val="39702699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Resumen Acceso a memoria</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7778824" cy="584774"/>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endParaRPr lang="es-ES" sz="1200" dirty="0"/>
          </a:p>
        </p:txBody>
      </p:sp>
      <p:grpSp>
        <p:nvGrpSpPr>
          <p:cNvPr id="3" name="Grupo 2">
            <a:extLst>
              <a:ext uri="{FF2B5EF4-FFF2-40B4-BE49-F238E27FC236}">
                <a16:creationId xmlns:a16="http://schemas.microsoft.com/office/drawing/2014/main" id="{0530EC0E-89E9-48C6-B5A2-DA4CDFD675F5}"/>
              </a:ext>
            </a:extLst>
          </p:cNvPr>
          <p:cNvGrpSpPr/>
          <p:nvPr/>
        </p:nvGrpSpPr>
        <p:grpSpPr>
          <a:xfrm>
            <a:off x="1475656" y="2992995"/>
            <a:ext cx="5119668" cy="3536393"/>
            <a:chOff x="704706" y="2420888"/>
            <a:chExt cx="5119668" cy="3536393"/>
          </a:xfrm>
        </p:grpSpPr>
        <p:pic>
          <p:nvPicPr>
            <p:cNvPr id="9" name="Imagen 8">
              <a:extLst>
                <a:ext uri="{FF2B5EF4-FFF2-40B4-BE49-F238E27FC236}">
                  <a16:creationId xmlns:a16="http://schemas.microsoft.com/office/drawing/2014/main" id="{D1B210D5-E593-40CF-8611-0239BC4D165C}"/>
                </a:ext>
              </a:extLst>
            </p:cNvPr>
            <p:cNvPicPr>
              <a:picLocks noChangeAspect="1"/>
            </p:cNvPicPr>
            <p:nvPr/>
          </p:nvPicPr>
          <p:blipFill>
            <a:blip r:embed="rId3"/>
            <a:stretch>
              <a:fillRect/>
            </a:stretch>
          </p:blipFill>
          <p:spPr>
            <a:xfrm>
              <a:off x="704706" y="2420888"/>
              <a:ext cx="4608512" cy="3536393"/>
            </a:xfrm>
            <a:prstGeom prst="rect">
              <a:avLst/>
            </a:prstGeom>
          </p:spPr>
        </p:pic>
        <p:grpSp>
          <p:nvGrpSpPr>
            <p:cNvPr id="2" name="Grupo 1">
              <a:extLst>
                <a:ext uri="{FF2B5EF4-FFF2-40B4-BE49-F238E27FC236}">
                  <a16:creationId xmlns:a16="http://schemas.microsoft.com/office/drawing/2014/main" id="{D3277B0B-E76B-483E-AB6D-AF2F3716DA61}"/>
                </a:ext>
              </a:extLst>
            </p:cNvPr>
            <p:cNvGrpSpPr/>
            <p:nvPr/>
          </p:nvGrpSpPr>
          <p:grpSpPr>
            <a:xfrm>
              <a:off x="2699792" y="2997347"/>
              <a:ext cx="3124582" cy="2015829"/>
              <a:chOff x="2699792" y="2997347"/>
              <a:chExt cx="3124582" cy="2015829"/>
            </a:xfrm>
          </p:grpSpPr>
          <p:sp>
            <p:nvSpPr>
              <p:cNvPr id="10" name="CuadroTexto 9">
                <a:extLst>
                  <a:ext uri="{FF2B5EF4-FFF2-40B4-BE49-F238E27FC236}">
                    <a16:creationId xmlns:a16="http://schemas.microsoft.com/office/drawing/2014/main" id="{CAF35387-5392-47A8-B7D0-C0649EB48465}"/>
                  </a:ext>
                </a:extLst>
              </p:cNvPr>
              <p:cNvSpPr txBox="1"/>
              <p:nvPr/>
            </p:nvSpPr>
            <p:spPr>
              <a:xfrm>
                <a:off x="5311092" y="4013472"/>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2699792" y="3429000"/>
                <a:ext cx="2611300" cy="158417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5043709" y="2997347"/>
                <a:ext cx="453970" cy="307777"/>
              </a:xfrm>
              <a:prstGeom prst="rect">
                <a:avLst/>
              </a:prstGeom>
              <a:noFill/>
            </p:spPr>
            <p:txBody>
              <a:bodyPr wrap="none" rtlCol="0">
                <a:spAutoFit/>
              </a:bodyPr>
              <a:lstStyle/>
              <a:p>
                <a:r>
                  <a:rPr lang="es-ES" sz="1400" dirty="0">
                    <a:solidFill>
                      <a:schemeClr val="accent1">
                        <a:lumMod val="75000"/>
                      </a:schemeClr>
                    </a:solidFill>
                  </a:rPr>
                  <a:t>MP</a:t>
                </a:r>
              </a:p>
            </p:txBody>
          </p:sp>
        </p:grpSp>
      </p:grpSp>
      <p:sp>
        <p:nvSpPr>
          <p:cNvPr id="12" name="Rectangle 63">
            <a:extLst>
              <a:ext uri="{FF2B5EF4-FFF2-40B4-BE49-F238E27FC236}">
                <a16:creationId xmlns:a16="http://schemas.microsoft.com/office/drawing/2014/main" id="{5802428C-3CC9-4827-8F9C-0CDAC057C4FD}"/>
              </a:ext>
            </a:extLst>
          </p:cNvPr>
          <p:cNvSpPr txBox="1">
            <a:spLocks noChangeArrowheads="1"/>
          </p:cNvSpPr>
          <p:nvPr/>
        </p:nvSpPr>
        <p:spPr>
          <a:xfrm>
            <a:off x="609600" y="1066800"/>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Suponga que se está ejecutando una instrucción de acceso a </a:t>
            </a:r>
            <a:r>
              <a:rPr lang="es-ES" dirty="0" err="1"/>
              <a:t>half</a:t>
            </a:r>
            <a:r>
              <a:rPr lang="es-ES" dirty="0"/>
              <a:t>: </a:t>
            </a:r>
            <a:r>
              <a:rPr lang="es-ES" dirty="0" err="1">
                <a:latin typeface="Courier New" panose="02070309020205020404" pitchFamily="49" charset="0"/>
                <a:cs typeface="Courier New" panose="02070309020205020404" pitchFamily="49" charset="0"/>
              </a:rPr>
              <a:t>lh</a:t>
            </a:r>
            <a:r>
              <a:rPr lang="es-ES" dirty="0">
                <a:latin typeface="Courier New" panose="02070309020205020404" pitchFamily="49" charset="0"/>
                <a:cs typeface="Courier New" panose="02070309020205020404" pitchFamily="49" charset="0"/>
              </a:rPr>
              <a:t> t0,2(t1)</a:t>
            </a:r>
            <a:r>
              <a:rPr lang="es-ES" dirty="0"/>
              <a:t>y </a:t>
            </a:r>
            <a:r>
              <a:rPr lang="es-ES" dirty="0">
                <a:latin typeface="Courier New" panose="02070309020205020404" pitchFamily="49" charset="0"/>
                <a:cs typeface="Courier New" panose="02070309020205020404" pitchFamily="49" charset="0"/>
              </a:rPr>
              <a:t>t1 </a:t>
            </a:r>
            <a:r>
              <a:rPr lang="es-ES" dirty="0"/>
              <a:t>=   0x1000 0002</a:t>
            </a:r>
          </a:p>
        </p:txBody>
      </p:sp>
      <p:sp>
        <p:nvSpPr>
          <p:cNvPr id="13" name="Rectangle 63">
            <a:extLst>
              <a:ext uri="{FF2B5EF4-FFF2-40B4-BE49-F238E27FC236}">
                <a16:creationId xmlns:a16="http://schemas.microsoft.com/office/drawing/2014/main" id="{F4EA8551-7DAB-4203-AF54-26141870E804}"/>
              </a:ext>
            </a:extLst>
          </p:cNvPr>
          <p:cNvSpPr txBox="1">
            <a:spLocks noChangeArrowheads="1"/>
          </p:cNvSpPr>
          <p:nvPr/>
        </p:nvSpPr>
        <p:spPr>
          <a:xfrm>
            <a:off x="618463" y="1931987"/>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Dirección efectiva =   0x1000 0004</a:t>
            </a:r>
          </a:p>
          <a:p>
            <a:r>
              <a:rPr lang="es-ES" dirty="0"/>
              <a:t>Por el bus se emite </a:t>
            </a:r>
            <a:r>
              <a:rPr lang="es-ES" dirty="0">
                <a:solidFill>
                  <a:srgbClr val="FF0000"/>
                </a:solidFill>
              </a:rPr>
              <a:t>=  0x400 0001   </a:t>
            </a:r>
            <a:r>
              <a:rPr lang="es-ES" dirty="0"/>
              <a:t>y  líneas /BE3 a /BE0  </a:t>
            </a:r>
          </a:p>
        </p:txBody>
      </p:sp>
      <p:sp>
        <p:nvSpPr>
          <p:cNvPr id="4" name="CuadroTexto 3">
            <a:extLst>
              <a:ext uri="{FF2B5EF4-FFF2-40B4-BE49-F238E27FC236}">
                <a16:creationId xmlns:a16="http://schemas.microsoft.com/office/drawing/2014/main" id="{08BF7753-379B-49DE-87DE-187CC7E8D383}"/>
              </a:ext>
            </a:extLst>
          </p:cNvPr>
          <p:cNvSpPr txBox="1"/>
          <p:nvPr/>
        </p:nvSpPr>
        <p:spPr>
          <a:xfrm>
            <a:off x="3818496" y="2876092"/>
            <a:ext cx="2776828" cy="1341906"/>
          </a:xfrm>
          <a:prstGeom prst="rect">
            <a:avLst/>
          </a:prstGeom>
          <a:noFill/>
        </p:spPr>
        <p:txBody>
          <a:bodyPr wrap="square" rtlCol="0">
            <a:spAutoFit/>
          </a:bodyPr>
          <a:lstStyle/>
          <a:p>
            <a:pPr algn="l"/>
            <a:r>
              <a:rPr lang="es-ES" sz="1400" dirty="0">
                <a:solidFill>
                  <a:srgbClr val="FF0000"/>
                </a:solidFill>
              </a:rPr>
              <a:t>                                0</a:t>
            </a:r>
          </a:p>
          <a:p>
            <a:pPr algn="l"/>
            <a:r>
              <a:rPr lang="es-ES" sz="1400" dirty="0">
                <a:solidFill>
                  <a:srgbClr val="FF0000"/>
                </a:solidFill>
              </a:rPr>
              <a:t>                        0</a:t>
            </a:r>
          </a:p>
          <a:p>
            <a:pPr algn="l"/>
            <a:r>
              <a:rPr lang="es-ES" sz="1400" dirty="0">
                <a:solidFill>
                  <a:srgbClr val="FF0000"/>
                </a:solidFill>
              </a:rPr>
              <a:t>            1</a:t>
            </a:r>
          </a:p>
          <a:p>
            <a:pPr algn="l"/>
            <a:r>
              <a:rPr lang="es-ES" sz="1400" dirty="0">
                <a:solidFill>
                  <a:srgbClr val="FF0000"/>
                </a:solidFill>
              </a:rPr>
              <a:t> 1</a:t>
            </a:r>
          </a:p>
          <a:p>
            <a:endParaRPr lang="es-ES" sz="1400" dirty="0">
              <a:solidFill>
                <a:srgbClr val="FF0000"/>
              </a:solidFill>
            </a:endParaRPr>
          </a:p>
        </p:txBody>
      </p:sp>
      <p:cxnSp>
        <p:nvCxnSpPr>
          <p:cNvPr id="6" name="Conector recto 5">
            <a:extLst>
              <a:ext uri="{FF2B5EF4-FFF2-40B4-BE49-F238E27FC236}">
                <a16:creationId xmlns:a16="http://schemas.microsoft.com/office/drawing/2014/main" id="{3BB0DA6B-FD4A-4DA8-A360-C32FEB8E7075}"/>
              </a:ext>
            </a:extLst>
          </p:cNvPr>
          <p:cNvCxnSpPr/>
          <p:nvPr/>
        </p:nvCxnSpPr>
        <p:spPr bwMode="auto">
          <a:xfrm>
            <a:off x="3470742" y="4437112"/>
            <a:ext cx="26332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CuadroTexto 6">
            <a:extLst>
              <a:ext uri="{FF2B5EF4-FFF2-40B4-BE49-F238E27FC236}">
                <a16:creationId xmlns:a16="http://schemas.microsoft.com/office/drawing/2014/main" id="{3F048440-35FB-49DA-B6FA-2F2CC0365E6A}"/>
              </a:ext>
            </a:extLst>
          </p:cNvPr>
          <p:cNvSpPr txBox="1"/>
          <p:nvPr/>
        </p:nvSpPr>
        <p:spPr>
          <a:xfrm>
            <a:off x="6035424" y="4228415"/>
            <a:ext cx="1632920" cy="307777"/>
          </a:xfrm>
          <a:prstGeom prst="rect">
            <a:avLst/>
          </a:prstGeom>
          <a:noFill/>
        </p:spPr>
        <p:txBody>
          <a:bodyPr wrap="square" rtlCol="0">
            <a:spAutoFit/>
          </a:bodyPr>
          <a:lstStyle/>
          <a:p>
            <a:r>
              <a:rPr lang="es-ES" sz="1400" dirty="0">
                <a:solidFill>
                  <a:srgbClr val="FF0000"/>
                </a:solidFill>
              </a:rPr>
              <a:t>Fila 0x400 0001</a:t>
            </a:r>
          </a:p>
        </p:txBody>
      </p:sp>
      <p:sp>
        <p:nvSpPr>
          <p:cNvPr id="14" name="CuadroTexto 13">
            <a:extLst>
              <a:ext uri="{FF2B5EF4-FFF2-40B4-BE49-F238E27FC236}">
                <a16:creationId xmlns:a16="http://schemas.microsoft.com/office/drawing/2014/main" id="{B9B70B3F-65D9-4F25-8B9D-9E136416CE32}"/>
              </a:ext>
            </a:extLst>
          </p:cNvPr>
          <p:cNvSpPr txBox="1"/>
          <p:nvPr/>
        </p:nvSpPr>
        <p:spPr>
          <a:xfrm>
            <a:off x="3474167" y="6405042"/>
            <a:ext cx="4023858" cy="307777"/>
          </a:xfrm>
          <a:prstGeom prst="rect">
            <a:avLst/>
          </a:prstGeom>
          <a:noFill/>
        </p:spPr>
        <p:txBody>
          <a:bodyPr wrap="none" rtlCol="0">
            <a:spAutoFit/>
          </a:bodyPr>
          <a:lstStyle/>
          <a:p>
            <a:r>
              <a:rPr lang="es-ES" sz="1400" dirty="0">
                <a:solidFill>
                  <a:schemeClr val="accent1">
                    <a:lumMod val="75000"/>
                  </a:schemeClr>
                </a:solidFill>
              </a:rPr>
              <a:t>Sale por los 2 bytes de menor peso información.</a:t>
            </a:r>
          </a:p>
        </p:txBody>
      </p:sp>
      <p:sp>
        <p:nvSpPr>
          <p:cNvPr id="5" name="Rectángulo 4">
            <a:extLst>
              <a:ext uri="{FF2B5EF4-FFF2-40B4-BE49-F238E27FC236}">
                <a16:creationId xmlns:a16="http://schemas.microsoft.com/office/drawing/2014/main" id="{48400298-E832-4A47-A7FA-107D65293786}"/>
              </a:ext>
            </a:extLst>
          </p:cNvPr>
          <p:cNvSpPr/>
          <p:nvPr/>
        </p:nvSpPr>
        <p:spPr bwMode="auto">
          <a:xfrm>
            <a:off x="3723355" y="1964363"/>
            <a:ext cx="1833624" cy="865187"/>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8D9D6BE6-8D64-44D0-850C-E80E91DB948F}"/>
              </a:ext>
            </a:extLst>
          </p:cNvPr>
          <p:cNvSpPr/>
          <p:nvPr/>
        </p:nvSpPr>
        <p:spPr bwMode="auto">
          <a:xfrm>
            <a:off x="5346186" y="2874294"/>
            <a:ext cx="468473" cy="217063"/>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Flecha: hacia arriba 20">
            <a:extLst>
              <a:ext uri="{FF2B5EF4-FFF2-40B4-BE49-F238E27FC236}">
                <a16:creationId xmlns:a16="http://schemas.microsoft.com/office/drawing/2014/main" id="{5D1A6D88-8DE9-4D05-8DAF-8B65F2FAE43A}"/>
              </a:ext>
            </a:extLst>
          </p:cNvPr>
          <p:cNvSpPr/>
          <p:nvPr/>
        </p:nvSpPr>
        <p:spPr bwMode="auto">
          <a:xfrm>
            <a:off x="5304808" y="5727346"/>
            <a:ext cx="288032" cy="415889"/>
          </a:xfrm>
          <a:prstGeom prst="upArrow">
            <a:avLst/>
          </a:prstGeom>
          <a:solidFill>
            <a:schemeClr val="bg1"/>
          </a:solidFill>
          <a:ln w="19050">
            <a:solidFill>
              <a:schemeClr val="accent3"/>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Flecha: hacia arriba 21">
            <a:extLst>
              <a:ext uri="{FF2B5EF4-FFF2-40B4-BE49-F238E27FC236}">
                <a16:creationId xmlns:a16="http://schemas.microsoft.com/office/drawing/2014/main" id="{ADD76DA7-F43C-4289-9D7A-B38E2A742A5D}"/>
              </a:ext>
            </a:extLst>
          </p:cNvPr>
          <p:cNvSpPr/>
          <p:nvPr/>
        </p:nvSpPr>
        <p:spPr bwMode="auto">
          <a:xfrm>
            <a:off x="5815964" y="5709158"/>
            <a:ext cx="288032" cy="415889"/>
          </a:xfrm>
          <a:prstGeom prst="upArrow">
            <a:avLst/>
          </a:prstGeom>
          <a:solidFill>
            <a:schemeClr val="bg1"/>
          </a:solidFill>
          <a:ln w="19050">
            <a:solidFill>
              <a:schemeClr val="accent3"/>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A153B867-A27D-8368-D380-DEA4998D5EC6}"/>
              </a:ext>
            </a:extLst>
          </p:cNvPr>
          <p:cNvSpPr/>
          <p:nvPr/>
        </p:nvSpPr>
        <p:spPr bwMode="auto">
          <a:xfrm>
            <a:off x="5111949" y="3174474"/>
            <a:ext cx="468473" cy="217063"/>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84C757B8-10FE-74AE-76A4-78305ED091C1}"/>
              </a:ext>
            </a:extLst>
          </p:cNvPr>
          <p:cNvSpPr/>
          <p:nvPr/>
        </p:nvSpPr>
        <p:spPr bwMode="auto">
          <a:xfrm>
            <a:off x="4499012" y="3461265"/>
            <a:ext cx="468473" cy="217063"/>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973E4307-8982-2447-AD29-709223D70C2E}"/>
              </a:ext>
            </a:extLst>
          </p:cNvPr>
          <p:cNvSpPr/>
          <p:nvPr/>
        </p:nvSpPr>
        <p:spPr bwMode="auto">
          <a:xfrm>
            <a:off x="3962230" y="3673461"/>
            <a:ext cx="468473" cy="217063"/>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696ADB15-2EB9-424D-F016-29E0578235E5}"/>
              </a:ext>
            </a:extLst>
          </p:cNvPr>
          <p:cNvSpPr/>
          <p:nvPr/>
        </p:nvSpPr>
        <p:spPr bwMode="auto">
          <a:xfrm>
            <a:off x="6217080" y="4262742"/>
            <a:ext cx="1739296" cy="307776"/>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Botón de acción: ir a inicio 24">
            <a:hlinkClick r:id="rId4" action="ppaction://hlinksldjump" highlightClick="1"/>
            <a:extLst>
              <a:ext uri="{FF2B5EF4-FFF2-40B4-BE49-F238E27FC236}">
                <a16:creationId xmlns:a16="http://schemas.microsoft.com/office/drawing/2014/main" id="{A7CC84EF-7B54-4E5F-95C8-BAA44C209990}"/>
              </a:ext>
            </a:extLst>
          </p:cNvPr>
          <p:cNvSpPr/>
          <p:nvPr/>
        </p:nvSpPr>
        <p:spPr bwMode="auto">
          <a:xfrm>
            <a:off x="8460432" y="6237312"/>
            <a:ext cx="360040" cy="292076"/>
          </a:xfrm>
          <a:prstGeom prst="actionButtonHom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2 Marcador de número de diapositiva">
            <a:extLst>
              <a:ext uri="{FF2B5EF4-FFF2-40B4-BE49-F238E27FC236}">
                <a16:creationId xmlns:a16="http://schemas.microsoft.com/office/drawing/2014/main" id="{C11EC9D7-4799-2D7F-08F2-FD7FEEC0975C}"/>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35</a:t>
            </a:fld>
            <a:endParaRPr lang="en-US" dirty="0"/>
          </a:p>
        </p:txBody>
      </p:sp>
    </p:spTree>
    <p:extLst>
      <p:ext uri="{BB962C8B-B14F-4D97-AF65-F5344CB8AC3E}">
        <p14:creationId xmlns:p14="http://schemas.microsoft.com/office/powerpoint/2010/main" val="226246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animBg="1"/>
      <p:bldP spid="8" grpId="0" animBg="1"/>
      <p:bldP spid="15"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Resumen Acceso a memoria</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7778824" cy="584774"/>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endParaRPr lang="es-ES" sz="1200" dirty="0"/>
          </a:p>
        </p:txBody>
      </p:sp>
      <p:sp>
        <p:nvSpPr>
          <p:cNvPr id="12" name="Rectangle 63">
            <a:extLst>
              <a:ext uri="{FF2B5EF4-FFF2-40B4-BE49-F238E27FC236}">
                <a16:creationId xmlns:a16="http://schemas.microsoft.com/office/drawing/2014/main" id="{5802428C-3CC9-4827-8F9C-0CDAC057C4FD}"/>
              </a:ext>
            </a:extLst>
          </p:cNvPr>
          <p:cNvSpPr txBox="1">
            <a:spLocks noChangeArrowheads="1"/>
          </p:cNvSpPr>
          <p:nvPr/>
        </p:nvSpPr>
        <p:spPr>
          <a:xfrm>
            <a:off x="609600" y="1066800"/>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Si el procesador tuviera 16 bits/palabra.  ¿Cuántas líneas /</a:t>
            </a:r>
            <a:r>
              <a:rPr lang="es-ES" dirty="0" err="1"/>
              <a:t>Bei</a:t>
            </a:r>
            <a:r>
              <a:rPr lang="es-ES" dirty="0"/>
              <a:t> tendría?</a:t>
            </a:r>
          </a:p>
        </p:txBody>
      </p:sp>
      <p:sp>
        <p:nvSpPr>
          <p:cNvPr id="13" name="Rectangle 63">
            <a:extLst>
              <a:ext uri="{FF2B5EF4-FFF2-40B4-BE49-F238E27FC236}">
                <a16:creationId xmlns:a16="http://schemas.microsoft.com/office/drawing/2014/main" id="{F4EA8551-7DAB-4203-AF54-26141870E804}"/>
              </a:ext>
            </a:extLst>
          </p:cNvPr>
          <p:cNvSpPr txBox="1">
            <a:spLocks noChangeArrowheads="1"/>
          </p:cNvSpPr>
          <p:nvPr/>
        </p:nvSpPr>
        <p:spPr>
          <a:xfrm>
            <a:off x="618463" y="1931987"/>
            <a:ext cx="8138864" cy="865187"/>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s-ES" dirty="0"/>
              <a:t>  </a:t>
            </a:r>
            <a:r>
              <a:rPr lang="es-ES" dirty="0">
                <a:solidFill>
                  <a:srgbClr val="FF0000"/>
                </a:solidFill>
              </a:rPr>
              <a:t>Tendría 2 líneas, una para cada byte</a:t>
            </a:r>
          </a:p>
        </p:txBody>
      </p:sp>
      <p:pic>
        <p:nvPicPr>
          <p:cNvPr id="5" name="Imagen 4">
            <a:extLst>
              <a:ext uri="{FF2B5EF4-FFF2-40B4-BE49-F238E27FC236}">
                <a16:creationId xmlns:a16="http://schemas.microsoft.com/office/drawing/2014/main" id="{E948B663-577E-49D7-9718-0E6CC4718602}"/>
              </a:ext>
            </a:extLst>
          </p:cNvPr>
          <p:cNvPicPr>
            <a:picLocks noChangeAspect="1"/>
          </p:cNvPicPr>
          <p:nvPr/>
        </p:nvPicPr>
        <p:blipFill>
          <a:blip r:embed="rId3"/>
          <a:stretch>
            <a:fillRect/>
          </a:stretch>
        </p:blipFill>
        <p:spPr>
          <a:xfrm>
            <a:off x="1835696" y="2516761"/>
            <a:ext cx="4892308" cy="3868917"/>
          </a:xfrm>
          <a:prstGeom prst="rect">
            <a:avLst/>
          </a:prstGeom>
        </p:spPr>
      </p:pic>
      <p:sp>
        <p:nvSpPr>
          <p:cNvPr id="18" name="CuadroTexto 17">
            <a:extLst>
              <a:ext uri="{FF2B5EF4-FFF2-40B4-BE49-F238E27FC236}">
                <a16:creationId xmlns:a16="http://schemas.microsoft.com/office/drawing/2014/main" id="{E10D2081-F820-4464-B04E-7288F8EAE85F}"/>
              </a:ext>
            </a:extLst>
          </p:cNvPr>
          <p:cNvSpPr txBox="1"/>
          <p:nvPr/>
        </p:nvSpPr>
        <p:spPr>
          <a:xfrm>
            <a:off x="7308304" y="4167983"/>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19" name="Rectángulo 18">
            <a:extLst>
              <a:ext uri="{FF2B5EF4-FFF2-40B4-BE49-F238E27FC236}">
                <a16:creationId xmlns:a16="http://schemas.microsoft.com/office/drawing/2014/main" id="{BAD0EEE9-2B6C-4EFC-9215-EADBF7360AE8}"/>
              </a:ext>
            </a:extLst>
          </p:cNvPr>
          <p:cNvSpPr/>
          <p:nvPr/>
        </p:nvSpPr>
        <p:spPr bwMode="auto">
          <a:xfrm>
            <a:off x="4697004" y="3583511"/>
            <a:ext cx="2611300" cy="158417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E8D57C6D-FF97-47B2-A1B8-884ECAF8F47E}"/>
              </a:ext>
            </a:extLst>
          </p:cNvPr>
          <p:cNvSpPr txBox="1"/>
          <p:nvPr/>
        </p:nvSpPr>
        <p:spPr>
          <a:xfrm>
            <a:off x="7040921" y="3151858"/>
            <a:ext cx="453970" cy="307777"/>
          </a:xfrm>
          <a:prstGeom prst="rect">
            <a:avLst/>
          </a:prstGeom>
          <a:noFill/>
        </p:spPr>
        <p:txBody>
          <a:bodyPr wrap="none" rtlCol="0">
            <a:spAutoFit/>
          </a:bodyPr>
          <a:lstStyle/>
          <a:p>
            <a:r>
              <a:rPr lang="es-ES" sz="1400" dirty="0">
                <a:solidFill>
                  <a:schemeClr val="accent1">
                    <a:lumMod val="75000"/>
                  </a:schemeClr>
                </a:solidFill>
              </a:rPr>
              <a:t>MP</a:t>
            </a:r>
          </a:p>
        </p:txBody>
      </p:sp>
      <p:sp>
        <p:nvSpPr>
          <p:cNvPr id="8" name="Rectángulo 7">
            <a:extLst>
              <a:ext uri="{FF2B5EF4-FFF2-40B4-BE49-F238E27FC236}">
                <a16:creationId xmlns:a16="http://schemas.microsoft.com/office/drawing/2014/main" id="{410BB692-C8F4-4D43-AC3E-5E9BB9568E32}"/>
              </a:ext>
            </a:extLst>
          </p:cNvPr>
          <p:cNvSpPr/>
          <p:nvPr/>
        </p:nvSpPr>
        <p:spPr bwMode="auto">
          <a:xfrm>
            <a:off x="1043608" y="1931987"/>
            <a:ext cx="7481929" cy="4665365"/>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2 Marcador de número de diapositiva">
            <a:extLst>
              <a:ext uri="{FF2B5EF4-FFF2-40B4-BE49-F238E27FC236}">
                <a16:creationId xmlns:a16="http://schemas.microsoft.com/office/drawing/2014/main" id="{13087DE0-1966-FE02-9155-014A8DDA59E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36</a:t>
            </a:fld>
            <a:endParaRPr lang="en-US" dirty="0"/>
          </a:p>
        </p:txBody>
      </p:sp>
    </p:spTree>
    <p:extLst>
      <p:ext uri="{BB962C8B-B14F-4D97-AF65-F5344CB8AC3E}">
        <p14:creationId xmlns:p14="http://schemas.microsoft.com/office/powerpoint/2010/main" val="63086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7AC8-C96B-FA4D-6341-AF585F84B1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396BD2-D373-FBA6-752D-D05762296AE8}"/>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B8F6BB6E-5C65-0F7C-B13E-919BF825E072}"/>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solidFill>
                  <a:srgbClr val="FF0000"/>
                </a:solidFill>
              </a:rPr>
              <a:t>Estáticas</a:t>
            </a:r>
          </a:p>
          <a:p>
            <a:pPr lvl="1"/>
            <a:r>
              <a:rPr lang="es-ES" dirty="0"/>
              <a:t>Dinámicas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89427CC9-1ACD-4A51-BE7E-9E3DCEFC9592}"/>
              </a:ext>
            </a:extLst>
          </p:cNvPr>
          <p:cNvSpPr>
            <a:spLocks noGrp="1"/>
          </p:cNvSpPr>
          <p:nvPr>
            <p:ph type="sldNum" sz="quarter" idx="12"/>
          </p:nvPr>
        </p:nvSpPr>
        <p:spPr/>
        <p:txBody>
          <a:bodyPr/>
          <a:lstStyle/>
          <a:p>
            <a:pPr>
              <a:defRPr/>
            </a:pPr>
            <a:fld id="{50B7A251-C820-4EFF-8270-C7613E20881F}" type="slidenum">
              <a:rPr lang="en-US" smtClean="0"/>
              <a:pPr>
                <a:defRPr/>
              </a:pPr>
              <a:t>37</a:t>
            </a:fld>
            <a:endParaRPr lang="en-US" dirty="0"/>
          </a:p>
        </p:txBody>
      </p:sp>
    </p:spTree>
    <p:extLst>
      <p:ext uri="{BB962C8B-B14F-4D97-AF65-F5344CB8AC3E}">
        <p14:creationId xmlns:p14="http://schemas.microsoft.com/office/powerpoint/2010/main" val="3830747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D7B99A1D-5CC5-C9CC-7377-69F75294CC89}"/>
              </a:ext>
            </a:extLst>
          </p:cNvPr>
          <p:cNvSpPr>
            <a:spLocks noGrp="1" noChangeArrowheads="1"/>
          </p:cNvSpPr>
          <p:nvPr>
            <p:ph type="title"/>
          </p:nvPr>
        </p:nvSpPr>
        <p:spPr/>
        <p:txBody>
          <a:bodyPr/>
          <a:lstStyle/>
          <a:p>
            <a:r>
              <a:rPr lang="es-ES" altLang="es-ES" dirty="0"/>
              <a:t>Memoria RAM estática (SRAM)</a:t>
            </a:r>
          </a:p>
        </p:txBody>
      </p:sp>
      <p:sp>
        <p:nvSpPr>
          <p:cNvPr id="35844" name="Rectangle 3">
            <a:extLst>
              <a:ext uri="{FF2B5EF4-FFF2-40B4-BE49-F238E27FC236}">
                <a16:creationId xmlns:a16="http://schemas.microsoft.com/office/drawing/2014/main" id="{9F15149E-19A5-8BB9-13CC-774339D013FB}"/>
              </a:ext>
            </a:extLst>
          </p:cNvPr>
          <p:cNvSpPr>
            <a:spLocks noGrp="1" noChangeArrowheads="1"/>
          </p:cNvSpPr>
          <p:nvPr>
            <p:ph type="body" idx="1"/>
          </p:nvPr>
        </p:nvSpPr>
        <p:spPr/>
        <p:txBody>
          <a:bodyPr/>
          <a:lstStyle/>
          <a:p>
            <a:pPr marL="82550" indent="0">
              <a:buNone/>
            </a:pPr>
            <a:r>
              <a:rPr lang="es-ES" altLang="es-ES" sz="3200" dirty="0">
                <a:solidFill>
                  <a:schemeClr val="accent5"/>
                </a:solidFill>
              </a:rPr>
              <a:t>La celda básica</a:t>
            </a:r>
          </a:p>
          <a:p>
            <a:r>
              <a:rPr lang="es-ES" altLang="es-ES" dirty="0"/>
              <a:t>Hay un biestable por cada bit almacenado</a:t>
            </a:r>
          </a:p>
          <a:p>
            <a:r>
              <a:rPr lang="es-ES" altLang="es-ES" dirty="0"/>
              <a:t>Se usan de 6 a 8 transistores para construir cada celda</a:t>
            </a:r>
          </a:p>
          <a:p>
            <a:r>
              <a:rPr lang="es-ES" altLang="es-ES" dirty="0"/>
              <a:t>Características básicas</a:t>
            </a:r>
          </a:p>
          <a:p>
            <a:pPr lvl="1"/>
            <a:r>
              <a:rPr lang="es-ES" altLang="es-ES" dirty="0"/>
              <a:t>Anchos de banda muy elevados</a:t>
            </a:r>
          </a:p>
          <a:p>
            <a:pPr lvl="1"/>
            <a:r>
              <a:rPr lang="es-ES" altLang="es-ES" dirty="0"/>
              <a:t>Baja densidad de integración</a:t>
            </a:r>
            <a:endParaRPr lang="en-US" altLang="es-ES" dirty="0"/>
          </a:p>
        </p:txBody>
      </p:sp>
      <p:pic>
        <p:nvPicPr>
          <p:cNvPr id="35845" name="Picture 4">
            <a:extLst>
              <a:ext uri="{FF2B5EF4-FFF2-40B4-BE49-F238E27FC236}">
                <a16:creationId xmlns:a16="http://schemas.microsoft.com/office/drawing/2014/main" id="{B1EE353C-F230-5B2A-690D-D863A60D78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9525" y="2780928"/>
            <a:ext cx="3816350"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2 Marcador de número de diapositiva">
            <a:extLst>
              <a:ext uri="{FF2B5EF4-FFF2-40B4-BE49-F238E27FC236}">
                <a16:creationId xmlns:a16="http://schemas.microsoft.com/office/drawing/2014/main" id="{42E9FC80-12AB-3CD6-7969-DE75815B1DDD}"/>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7" name="Group 50">
            <a:extLst>
              <a:ext uri="{FF2B5EF4-FFF2-40B4-BE49-F238E27FC236}">
                <a16:creationId xmlns:a16="http://schemas.microsoft.com/office/drawing/2014/main" id="{060E5796-A526-7F0A-4694-42703FFDCD73}"/>
              </a:ext>
            </a:extLst>
          </p:cNvPr>
          <p:cNvGrpSpPr>
            <a:grpSpLocks/>
          </p:cNvGrpSpPr>
          <p:nvPr/>
        </p:nvGrpSpPr>
        <p:grpSpPr bwMode="auto">
          <a:xfrm>
            <a:off x="4987925" y="5589588"/>
            <a:ext cx="1511300" cy="431800"/>
            <a:chOff x="2109" y="1752"/>
            <a:chExt cx="952" cy="1361"/>
          </a:xfrm>
        </p:grpSpPr>
        <p:sp>
          <p:nvSpPr>
            <p:cNvPr id="36918" name="Line 51">
              <a:extLst>
                <a:ext uri="{FF2B5EF4-FFF2-40B4-BE49-F238E27FC236}">
                  <a16:creationId xmlns:a16="http://schemas.microsoft.com/office/drawing/2014/main" id="{A3ECAABC-2009-A902-0AA7-1D9C3C2A02BB}"/>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19" name="Line 52">
              <a:extLst>
                <a:ext uri="{FF2B5EF4-FFF2-40B4-BE49-F238E27FC236}">
                  <a16:creationId xmlns:a16="http://schemas.microsoft.com/office/drawing/2014/main" id="{685456F5-B092-7A45-AE2D-34C70C8881F8}"/>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20" name="Line 53">
              <a:extLst>
                <a:ext uri="{FF2B5EF4-FFF2-40B4-BE49-F238E27FC236}">
                  <a16:creationId xmlns:a16="http://schemas.microsoft.com/office/drawing/2014/main" id="{73008DB6-49B9-1CCE-919D-F0E4FDCAB6F6}"/>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21" name="Line 54">
              <a:extLst>
                <a:ext uri="{FF2B5EF4-FFF2-40B4-BE49-F238E27FC236}">
                  <a16:creationId xmlns:a16="http://schemas.microsoft.com/office/drawing/2014/main" id="{0A556E68-C02A-C3B1-02BE-3698F06B0513}"/>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22" name="Line 55">
              <a:extLst>
                <a:ext uri="{FF2B5EF4-FFF2-40B4-BE49-F238E27FC236}">
                  <a16:creationId xmlns:a16="http://schemas.microsoft.com/office/drawing/2014/main" id="{DD21FF02-FC00-FE59-ADA0-E6DC5839A4CF}"/>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23" name="Line 56">
              <a:extLst>
                <a:ext uri="{FF2B5EF4-FFF2-40B4-BE49-F238E27FC236}">
                  <a16:creationId xmlns:a16="http://schemas.microsoft.com/office/drawing/2014/main" id="{8F2BDD08-76F6-9897-165C-36BDAE75B9B8}"/>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24" name="Line 57">
              <a:extLst>
                <a:ext uri="{FF2B5EF4-FFF2-40B4-BE49-F238E27FC236}">
                  <a16:creationId xmlns:a16="http://schemas.microsoft.com/office/drawing/2014/main" id="{EFDFECC1-C5CA-73D5-B318-267179CAC2F0}"/>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25" name="Line 58">
              <a:extLst>
                <a:ext uri="{FF2B5EF4-FFF2-40B4-BE49-F238E27FC236}">
                  <a16:creationId xmlns:a16="http://schemas.microsoft.com/office/drawing/2014/main" id="{D70679F6-20FA-BD9C-1D37-E404BE34A555}"/>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grpSp>
      <p:grpSp>
        <p:nvGrpSpPr>
          <p:cNvPr id="36868" name="Group 48">
            <a:extLst>
              <a:ext uri="{FF2B5EF4-FFF2-40B4-BE49-F238E27FC236}">
                <a16:creationId xmlns:a16="http://schemas.microsoft.com/office/drawing/2014/main" id="{6ADA5397-EA95-8A59-2DCB-2BB9E3865623}"/>
              </a:ext>
            </a:extLst>
          </p:cNvPr>
          <p:cNvGrpSpPr>
            <a:grpSpLocks/>
          </p:cNvGrpSpPr>
          <p:nvPr/>
        </p:nvGrpSpPr>
        <p:grpSpPr bwMode="auto">
          <a:xfrm>
            <a:off x="4987925" y="2492375"/>
            <a:ext cx="1511300" cy="2520950"/>
            <a:chOff x="2109" y="1752"/>
            <a:chExt cx="952" cy="1361"/>
          </a:xfrm>
        </p:grpSpPr>
        <p:sp>
          <p:nvSpPr>
            <p:cNvPr id="36910" name="Line 40">
              <a:extLst>
                <a:ext uri="{FF2B5EF4-FFF2-40B4-BE49-F238E27FC236}">
                  <a16:creationId xmlns:a16="http://schemas.microsoft.com/office/drawing/2014/main" id="{E2D6AFC0-9300-5ED9-F47A-EA4CB1FA9CBD}"/>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1" name="Line 41">
              <a:extLst>
                <a:ext uri="{FF2B5EF4-FFF2-40B4-BE49-F238E27FC236}">
                  <a16:creationId xmlns:a16="http://schemas.microsoft.com/office/drawing/2014/main" id="{07B28F09-E2B8-2211-617F-A3B8C1131DC7}"/>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2" name="Line 42">
              <a:extLst>
                <a:ext uri="{FF2B5EF4-FFF2-40B4-BE49-F238E27FC236}">
                  <a16:creationId xmlns:a16="http://schemas.microsoft.com/office/drawing/2014/main" id="{59A14023-445C-07E7-12DA-804EEFF7C763}"/>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3" name="Line 43">
              <a:extLst>
                <a:ext uri="{FF2B5EF4-FFF2-40B4-BE49-F238E27FC236}">
                  <a16:creationId xmlns:a16="http://schemas.microsoft.com/office/drawing/2014/main" id="{F057D996-B4EF-D8D0-4F7A-E07D467E41C7}"/>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4" name="Line 44">
              <a:extLst>
                <a:ext uri="{FF2B5EF4-FFF2-40B4-BE49-F238E27FC236}">
                  <a16:creationId xmlns:a16="http://schemas.microsoft.com/office/drawing/2014/main" id="{A59C5A73-27A3-76A9-219A-337B3B41A56D}"/>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5" name="Line 45">
              <a:extLst>
                <a:ext uri="{FF2B5EF4-FFF2-40B4-BE49-F238E27FC236}">
                  <a16:creationId xmlns:a16="http://schemas.microsoft.com/office/drawing/2014/main" id="{70DB0EF5-F98C-A552-5DBB-A102983B99FA}"/>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6" name="Line 46">
              <a:extLst>
                <a:ext uri="{FF2B5EF4-FFF2-40B4-BE49-F238E27FC236}">
                  <a16:creationId xmlns:a16="http://schemas.microsoft.com/office/drawing/2014/main" id="{FB53E2A1-4AE4-ED0B-B60F-3346FDCA4F16}"/>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6917" name="Line 47">
              <a:extLst>
                <a:ext uri="{FF2B5EF4-FFF2-40B4-BE49-F238E27FC236}">
                  <a16:creationId xmlns:a16="http://schemas.microsoft.com/office/drawing/2014/main" id="{0016D73A-42A9-6AD3-93B2-EE2216C3D06A}"/>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grpSp>
      <p:sp>
        <p:nvSpPr>
          <p:cNvPr id="36869" name="Rectangle 2">
            <a:extLst>
              <a:ext uri="{FF2B5EF4-FFF2-40B4-BE49-F238E27FC236}">
                <a16:creationId xmlns:a16="http://schemas.microsoft.com/office/drawing/2014/main" id="{65E03FE7-0491-3CFB-B4F9-5E4655C15ACF}"/>
              </a:ext>
            </a:extLst>
          </p:cNvPr>
          <p:cNvSpPr>
            <a:spLocks noGrp="1" noChangeArrowheads="1"/>
          </p:cNvSpPr>
          <p:nvPr>
            <p:ph type="title"/>
          </p:nvPr>
        </p:nvSpPr>
        <p:spPr/>
        <p:txBody>
          <a:bodyPr/>
          <a:lstStyle/>
          <a:p>
            <a:r>
              <a:rPr lang="es-ES" altLang="es-ES" dirty="0"/>
              <a:t>Memoria RAM estática (SRAM)</a:t>
            </a:r>
          </a:p>
        </p:txBody>
      </p:sp>
      <p:sp>
        <p:nvSpPr>
          <p:cNvPr id="36870" name="Rectangle 3">
            <a:extLst>
              <a:ext uri="{FF2B5EF4-FFF2-40B4-BE49-F238E27FC236}">
                <a16:creationId xmlns:a16="http://schemas.microsoft.com/office/drawing/2014/main" id="{765F8236-118F-6F94-819D-1CB5C75FE0D0}"/>
              </a:ext>
            </a:extLst>
          </p:cNvPr>
          <p:cNvSpPr>
            <a:spLocks noGrp="1" noChangeArrowheads="1"/>
          </p:cNvSpPr>
          <p:nvPr>
            <p:ph type="body" idx="1"/>
          </p:nvPr>
        </p:nvSpPr>
        <p:spPr>
          <a:xfrm>
            <a:off x="250825" y="1052513"/>
            <a:ext cx="8785225" cy="936625"/>
          </a:xfrm>
        </p:spPr>
        <p:txBody>
          <a:bodyPr/>
          <a:lstStyle/>
          <a:p>
            <a:r>
              <a:rPr lang="es-ES" altLang="es-ES"/>
              <a:t>SRAM de 2</a:t>
            </a:r>
            <a:r>
              <a:rPr lang="es-ES" altLang="es-ES" b="1" baseline="30000"/>
              <a:t>n</a:t>
            </a:r>
            <a:r>
              <a:rPr lang="es-ES" altLang="es-ES">
                <a:cs typeface="Arial" panose="020B0604020202020204" pitchFamily="34" charset="0"/>
              </a:rPr>
              <a:t>×w bits, w≤8</a:t>
            </a:r>
          </a:p>
          <a:p>
            <a:pPr lvl="1"/>
            <a:r>
              <a:rPr lang="es-ES" altLang="es-ES">
                <a:cs typeface="Arial" panose="020B0604020202020204" pitchFamily="34" charset="0"/>
              </a:rPr>
              <a:t>Es equivalente a 2</a:t>
            </a:r>
            <a:r>
              <a:rPr lang="es-ES" altLang="es-ES" b="1" i="1" baseline="30000">
                <a:cs typeface="Arial" panose="020B0604020202020204" pitchFamily="34" charset="0"/>
              </a:rPr>
              <a:t>n</a:t>
            </a:r>
            <a:r>
              <a:rPr lang="es-ES" altLang="es-ES">
                <a:cs typeface="Arial" panose="020B0604020202020204" pitchFamily="34" charset="0"/>
              </a:rPr>
              <a:t> registros de </a:t>
            </a:r>
            <a:r>
              <a:rPr lang="es-ES" altLang="es-ES" i="1">
                <a:cs typeface="Arial" panose="020B0604020202020204" pitchFamily="34" charset="0"/>
              </a:rPr>
              <a:t>w</a:t>
            </a:r>
            <a:r>
              <a:rPr lang="es-ES" altLang="es-ES">
                <a:cs typeface="Arial" panose="020B0604020202020204" pitchFamily="34" charset="0"/>
              </a:rPr>
              <a:t> bits, seleccionables mediante la dirección</a:t>
            </a:r>
          </a:p>
        </p:txBody>
      </p:sp>
      <p:sp>
        <p:nvSpPr>
          <p:cNvPr id="36871" name="Rectangle 10">
            <a:extLst>
              <a:ext uri="{FF2B5EF4-FFF2-40B4-BE49-F238E27FC236}">
                <a16:creationId xmlns:a16="http://schemas.microsoft.com/office/drawing/2014/main" id="{F514D151-E1FE-245B-8094-641F61F5B3AD}"/>
              </a:ext>
            </a:extLst>
          </p:cNvPr>
          <p:cNvSpPr>
            <a:spLocks noChangeArrowheads="1"/>
          </p:cNvSpPr>
          <p:nvPr/>
        </p:nvSpPr>
        <p:spPr bwMode="blackWhite">
          <a:xfrm>
            <a:off x="4627563" y="2636838"/>
            <a:ext cx="2303462" cy="287337"/>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a:endParaRPr lang="es-ES" altLang="es-ES"/>
          </a:p>
        </p:txBody>
      </p:sp>
      <p:sp>
        <p:nvSpPr>
          <p:cNvPr id="36872" name="Line 11">
            <a:extLst>
              <a:ext uri="{FF2B5EF4-FFF2-40B4-BE49-F238E27FC236}">
                <a16:creationId xmlns:a16="http://schemas.microsoft.com/office/drawing/2014/main" id="{900184FC-36E0-4B70-92AD-3DD3FE79A07E}"/>
              </a:ext>
            </a:extLst>
          </p:cNvPr>
          <p:cNvSpPr>
            <a:spLocks noChangeShapeType="1"/>
          </p:cNvSpPr>
          <p:nvPr/>
        </p:nvSpPr>
        <p:spPr bwMode="auto">
          <a:xfrm>
            <a:off x="4627563" y="2349500"/>
            <a:ext cx="22320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873" name="Text Box 12">
            <a:extLst>
              <a:ext uri="{FF2B5EF4-FFF2-40B4-BE49-F238E27FC236}">
                <a16:creationId xmlns:a16="http://schemas.microsoft.com/office/drawing/2014/main" id="{E0D73777-B3E9-FD93-CBC8-A9BD710A2075}"/>
              </a:ext>
            </a:extLst>
          </p:cNvPr>
          <p:cNvSpPr txBox="1">
            <a:spLocks noChangeArrowheads="1"/>
          </p:cNvSpPr>
          <p:nvPr/>
        </p:nvSpPr>
        <p:spPr bwMode="auto">
          <a:xfrm>
            <a:off x="5491163" y="2028825"/>
            <a:ext cx="649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t>w bits</a:t>
            </a:r>
          </a:p>
        </p:txBody>
      </p:sp>
      <p:sp>
        <p:nvSpPr>
          <p:cNvPr id="36874" name="Rectangle 13">
            <a:extLst>
              <a:ext uri="{FF2B5EF4-FFF2-40B4-BE49-F238E27FC236}">
                <a16:creationId xmlns:a16="http://schemas.microsoft.com/office/drawing/2014/main" id="{590A92BE-736C-0819-DCA0-582A8B03204A}"/>
              </a:ext>
            </a:extLst>
          </p:cNvPr>
          <p:cNvSpPr>
            <a:spLocks noChangeArrowheads="1"/>
          </p:cNvSpPr>
          <p:nvPr/>
        </p:nvSpPr>
        <p:spPr bwMode="blackWhite">
          <a:xfrm rot="10800000">
            <a:off x="3187700" y="2924175"/>
            <a:ext cx="431800" cy="1441450"/>
          </a:xfrm>
          <a:prstGeom prst="rect">
            <a:avLst/>
          </a:prstGeom>
          <a:solidFill>
            <a:srgbClr val="0066FF"/>
          </a:solidFill>
          <a:ln w="19050">
            <a:solidFill>
              <a:schemeClr val="accent1"/>
            </a:solidFill>
            <a:miter lim="800000"/>
            <a:headEnd/>
            <a:tailEnd/>
          </a:ln>
        </p:spPr>
        <p:txBody>
          <a:bodyPr vert="eaVert"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solidFill>
                  <a:srgbClr val="FFCC00"/>
                </a:solidFill>
              </a:rPr>
              <a:t>desc </a:t>
            </a:r>
            <a:r>
              <a:rPr lang="es-ES" altLang="es-ES" i="1">
                <a:solidFill>
                  <a:srgbClr val="FFCC00"/>
                </a:solidFill>
              </a:rPr>
              <a:t>n</a:t>
            </a:r>
            <a:r>
              <a:rPr lang="es-ES" altLang="es-ES">
                <a:solidFill>
                  <a:srgbClr val="FFCC00"/>
                </a:solidFill>
              </a:rPr>
              <a:t> a 2</a:t>
            </a:r>
            <a:r>
              <a:rPr lang="es-ES" altLang="es-ES" b="1" i="1" baseline="40000">
                <a:solidFill>
                  <a:srgbClr val="FFCC00"/>
                </a:solidFill>
              </a:rPr>
              <a:t>n</a:t>
            </a:r>
          </a:p>
        </p:txBody>
      </p:sp>
      <p:sp>
        <p:nvSpPr>
          <p:cNvPr id="36875" name="Rectangle 14">
            <a:extLst>
              <a:ext uri="{FF2B5EF4-FFF2-40B4-BE49-F238E27FC236}">
                <a16:creationId xmlns:a16="http://schemas.microsoft.com/office/drawing/2014/main" id="{559C6577-951F-59EE-F9F0-EDC41B94EFE5}"/>
              </a:ext>
            </a:extLst>
          </p:cNvPr>
          <p:cNvSpPr>
            <a:spLocks noChangeArrowheads="1"/>
          </p:cNvSpPr>
          <p:nvPr/>
        </p:nvSpPr>
        <p:spPr bwMode="blackWhite">
          <a:xfrm>
            <a:off x="4627563" y="3068638"/>
            <a:ext cx="2303462" cy="287337"/>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6876" name="Rectangle 15">
            <a:extLst>
              <a:ext uri="{FF2B5EF4-FFF2-40B4-BE49-F238E27FC236}">
                <a16:creationId xmlns:a16="http://schemas.microsoft.com/office/drawing/2014/main" id="{72E58670-3F38-06B5-D00A-A33F0453E1A5}"/>
              </a:ext>
            </a:extLst>
          </p:cNvPr>
          <p:cNvSpPr>
            <a:spLocks noChangeArrowheads="1"/>
          </p:cNvSpPr>
          <p:nvPr/>
        </p:nvSpPr>
        <p:spPr bwMode="blackWhite">
          <a:xfrm>
            <a:off x="4627563" y="3500438"/>
            <a:ext cx="2303462" cy="287337"/>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6877" name="Rectangle 18">
            <a:extLst>
              <a:ext uri="{FF2B5EF4-FFF2-40B4-BE49-F238E27FC236}">
                <a16:creationId xmlns:a16="http://schemas.microsoft.com/office/drawing/2014/main" id="{1BAEF10C-DA69-AC1F-C47D-AAC54CB9B8F1}"/>
              </a:ext>
            </a:extLst>
          </p:cNvPr>
          <p:cNvSpPr>
            <a:spLocks noChangeArrowheads="1"/>
          </p:cNvSpPr>
          <p:nvPr/>
        </p:nvSpPr>
        <p:spPr bwMode="blackWhite">
          <a:xfrm>
            <a:off x="4627563" y="4437063"/>
            <a:ext cx="2303462" cy="287337"/>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6878" name="Text Box 19">
            <a:extLst>
              <a:ext uri="{FF2B5EF4-FFF2-40B4-BE49-F238E27FC236}">
                <a16:creationId xmlns:a16="http://schemas.microsoft.com/office/drawing/2014/main" id="{8877B7BF-A59D-2150-8B06-04BAF15B382B}"/>
              </a:ext>
            </a:extLst>
          </p:cNvPr>
          <p:cNvSpPr txBox="1">
            <a:spLocks noChangeArrowheads="1"/>
          </p:cNvSpPr>
          <p:nvPr/>
        </p:nvSpPr>
        <p:spPr bwMode="auto">
          <a:xfrm>
            <a:off x="7075488" y="2619375"/>
            <a:ext cx="115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0</a:t>
            </a:r>
          </a:p>
        </p:txBody>
      </p:sp>
      <p:sp>
        <p:nvSpPr>
          <p:cNvPr id="36879" name="Text Box 20">
            <a:extLst>
              <a:ext uri="{FF2B5EF4-FFF2-40B4-BE49-F238E27FC236}">
                <a16:creationId xmlns:a16="http://schemas.microsoft.com/office/drawing/2014/main" id="{B3C52E8C-57B4-929F-7510-D761573940FB}"/>
              </a:ext>
            </a:extLst>
          </p:cNvPr>
          <p:cNvSpPr txBox="1">
            <a:spLocks noChangeArrowheads="1"/>
          </p:cNvSpPr>
          <p:nvPr/>
        </p:nvSpPr>
        <p:spPr bwMode="auto">
          <a:xfrm>
            <a:off x="7075488" y="3068638"/>
            <a:ext cx="115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1</a:t>
            </a:r>
          </a:p>
        </p:txBody>
      </p:sp>
      <p:sp>
        <p:nvSpPr>
          <p:cNvPr id="36880" name="Text Box 21">
            <a:extLst>
              <a:ext uri="{FF2B5EF4-FFF2-40B4-BE49-F238E27FC236}">
                <a16:creationId xmlns:a16="http://schemas.microsoft.com/office/drawing/2014/main" id="{1276910D-7913-08D2-26B6-6889D5ABD537}"/>
              </a:ext>
            </a:extLst>
          </p:cNvPr>
          <p:cNvSpPr txBox="1">
            <a:spLocks noChangeArrowheads="1"/>
          </p:cNvSpPr>
          <p:nvPr/>
        </p:nvSpPr>
        <p:spPr bwMode="auto">
          <a:xfrm>
            <a:off x="7075488" y="3484563"/>
            <a:ext cx="115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2</a:t>
            </a:r>
          </a:p>
        </p:txBody>
      </p:sp>
      <p:sp>
        <p:nvSpPr>
          <p:cNvPr id="36881" name="Text Box 22">
            <a:extLst>
              <a:ext uri="{FF2B5EF4-FFF2-40B4-BE49-F238E27FC236}">
                <a16:creationId xmlns:a16="http://schemas.microsoft.com/office/drawing/2014/main" id="{4A6D94E5-5146-FC19-9126-8D082988C4A5}"/>
              </a:ext>
            </a:extLst>
          </p:cNvPr>
          <p:cNvSpPr txBox="1">
            <a:spLocks noChangeArrowheads="1"/>
          </p:cNvSpPr>
          <p:nvPr/>
        </p:nvSpPr>
        <p:spPr bwMode="auto">
          <a:xfrm>
            <a:off x="7029450" y="4437063"/>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2</a:t>
            </a:r>
            <a:r>
              <a:rPr lang="es-ES" altLang="es-ES" b="1" baseline="30000"/>
              <a:t>n</a:t>
            </a:r>
            <a:r>
              <a:rPr lang="es-ES" altLang="es-ES" b="1" baseline="30000">
                <a:cs typeface="Arial" panose="020B0604020202020204" pitchFamily="34" charset="0"/>
              </a:rPr>
              <a:t>−1</a:t>
            </a:r>
            <a:endParaRPr lang="es-ES" altLang="es-ES" b="1">
              <a:cs typeface="Arial" panose="020B0604020202020204" pitchFamily="34" charset="0"/>
            </a:endParaRPr>
          </a:p>
        </p:txBody>
      </p:sp>
      <p:sp>
        <p:nvSpPr>
          <p:cNvPr id="36882" name="Line 23">
            <a:extLst>
              <a:ext uri="{FF2B5EF4-FFF2-40B4-BE49-F238E27FC236}">
                <a16:creationId xmlns:a16="http://schemas.microsoft.com/office/drawing/2014/main" id="{6E542E5E-8B99-5586-2C12-395393BBCA0C}"/>
              </a:ext>
            </a:extLst>
          </p:cNvPr>
          <p:cNvSpPr>
            <a:spLocks noChangeShapeType="1"/>
          </p:cNvSpPr>
          <p:nvPr/>
        </p:nvSpPr>
        <p:spPr bwMode="auto">
          <a:xfrm>
            <a:off x="2609850" y="3070225"/>
            <a:ext cx="50482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883" name="Text Box 24">
            <a:extLst>
              <a:ext uri="{FF2B5EF4-FFF2-40B4-BE49-F238E27FC236}">
                <a16:creationId xmlns:a16="http://schemas.microsoft.com/office/drawing/2014/main" id="{00858378-B307-0F0B-B728-9386574EB8BA}"/>
              </a:ext>
            </a:extLst>
          </p:cNvPr>
          <p:cNvSpPr txBox="1">
            <a:spLocks noChangeArrowheads="1"/>
          </p:cNvSpPr>
          <p:nvPr/>
        </p:nvSpPr>
        <p:spPr bwMode="auto">
          <a:xfrm>
            <a:off x="2132013" y="39878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a</a:t>
            </a:r>
            <a:r>
              <a:rPr lang="es-ES" altLang="es-ES" b="1" baseline="-25000"/>
              <a:t>n</a:t>
            </a:r>
            <a:r>
              <a:rPr lang="es-ES" altLang="es-ES" b="1" baseline="-25000">
                <a:cs typeface="Arial" panose="020B0604020202020204" pitchFamily="34" charset="0"/>
              </a:rPr>
              <a:t>−1</a:t>
            </a:r>
          </a:p>
        </p:txBody>
      </p:sp>
      <p:sp>
        <p:nvSpPr>
          <p:cNvPr id="36884" name="Text Box 25">
            <a:extLst>
              <a:ext uri="{FF2B5EF4-FFF2-40B4-BE49-F238E27FC236}">
                <a16:creationId xmlns:a16="http://schemas.microsoft.com/office/drawing/2014/main" id="{C4E09E2C-FE3D-48C4-A374-318C862D081B}"/>
              </a:ext>
            </a:extLst>
          </p:cNvPr>
          <p:cNvSpPr txBox="1">
            <a:spLocks noChangeArrowheads="1"/>
          </p:cNvSpPr>
          <p:nvPr/>
        </p:nvSpPr>
        <p:spPr bwMode="auto">
          <a:xfrm>
            <a:off x="2330450" y="2908300"/>
            <a:ext cx="207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a</a:t>
            </a:r>
            <a:r>
              <a:rPr lang="es-ES" altLang="es-ES" b="1" baseline="-25000">
                <a:cs typeface="Arial" panose="020B0604020202020204" pitchFamily="34" charset="0"/>
              </a:rPr>
              <a:t>0</a:t>
            </a:r>
          </a:p>
        </p:txBody>
      </p:sp>
      <p:sp>
        <p:nvSpPr>
          <p:cNvPr id="36885" name="Text Box 26">
            <a:extLst>
              <a:ext uri="{FF2B5EF4-FFF2-40B4-BE49-F238E27FC236}">
                <a16:creationId xmlns:a16="http://schemas.microsoft.com/office/drawing/2014/main" id="{54F698A4-41BD-02AB-4B2C-494183C4C285}"/>
              </a:ext>
            </a:extLst>
          </p:cNvPr>
          <p:cNvSpPr txBox="1">
            <a:spLocks noChangeArrowheads="1"/>
          </p:cNvSpPr>
          <p:nvPr/>
        </p:nvSpPr>
        <p:spPr bwMode="auto">
          <a:xfrm>
            <a:off x="2330450" y="3213100"/>
            <a:ext cx="207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a</a:t>
            </a:r>
            <a:r>
              <a:rPr lang="es-ES" altLang="es-ES" b="1" baseline="-25000">
                <a:cs typeface="Arial" panose="020B0604020202020204" pitchFamily="34" charset="0"/>
              </a:rPr>
              <a:t>1</a:t>
            </a:r>
          </a:p>
        </p:txBody>
      </p:sp>
      <p:sp>
        <p:nvSpPr>
          <p:cNvPr id="36886" name="Line 27">
            <a:extLst>
              <a:ext uri="{FF2B5EF4-FFF2-40B4-BE49-F238E27FC236}">
                <a16:creationId xmlns:a16="http://schemas.microsoft.com/office/drawing/2014/main" id="{9C45C9ED-B1FE-5663-1C1F-0B475D83E4A8}"/>
              </a:ext>
            </a:extLst>
          </p:cNvPr>
          <p:cNvSpPr>
            <a:spLocks noChangeShapeType="1"/>
          </p:cNvSpPr>
          <p:nvPr/>
        </p:nvSpPr>
        <p:spPr bwMode="auto">
          <a:xfrm>
            <a:off x="2609850" y="3357563"/>
            <a:ext cx="50482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887" name="Line 28">
            <a:extLst>
              <a:ext uri="{FF2B5EF4-FFF2-40B4-BE49-F238E27FC236}">
                <a16:creationId xmlns:a16="http://schemas.microsoft.com/office/drawing/2014/main" id="{4796310E-077D-041C-138F-3FA8F3D85E7A}"/>
              </a:ext>
            </a:extLst>
          </p:cNvPr>
          <p:cNvSpPr>
            <a:spLocks noChangeShapeType="1"/>
          </p:cNvSpPr>
          <p:nvPr/>
        </p:nvSpPr>
        <p:spPr bwMode="auto">
          <a:xfrm>
            <a:off x="2609850" y="4148138"/>
            <a:ext cx="50482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888" name="Text Box 29">
            <a:extLst>
              <a:ext uri="{FF2B5EF4-FFF2-40B4-BE49-F238E27FC236}">
                <a16:creationId xmlns:a16="http://schemas.microsoft.com/office/drawing/2014/main" id="{53B49C9B-24FB-BD45-B9E4-C58FF951F769}"/>
              </a:ext>
            </a:extLst>
          </p:cNvPr>
          <p:cNvSpPr txBox="1">
            <a:spLocks noChangeArrowheads="1"/>
          </p:cNvSpPr>
          <p:nvPr/>
        </p:nvSpPr>
        <p:spPr bwMode="auto">
          <a:xfrm>
            <a:off x="827088" y="3284538"/>
            <a:ext cx="1328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t>Direc</a:t>
            </a:r>
            <a:r>
              <a:rPr lang="es-ES" altLang="fil-PH"/>
              <a:t>c</a:t>
            </a:r>
            <a:r>
              <a:rPr lang="es-ES" altLang="es-ES"/>
              <a:t>iones</a:t>
            </a:r>
          </a:p>
        </p:txBody>
      </p:sp>
      <p:sp>
        <p:nvSpPr>
          <p:cNvPr id="36889" name="Line 30">
            <a:extLst>
              <a:ext uri="{FF2B5EF4-FFF2-40B4-BE49-F238E27FC236}">
                <a16:creationId xmlns:a16="http://schemas.microsoft.com/office/drawing/2014/main" id="{E91103A2-0C35-E755-585D-6CAE4D458102}"/>
              </a:ext>
            </a:extLst>
          </p:cNvPr>
          <p:cNvSpPr>
            <a:spLocks noChangeShapeType="1"/>
          </p:cNvSpPr>
          <p:nvPr/>
        </p:nvSpPr>
        <p:spPr bwMode="auto">
          <a:xfrm>
            <a:off x="2825750" y="3644900"/>
            <a:ext cx="0" cy="287338"/>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890" name="Line 31">
            <a:extLst>
              <a:ext uri="{FF2B5EF4-FFF2-40B4-BE49-F238E27FC236}">
                <a16:creationId xmlns:a16="http://schemas.microsoft.com/office/drawing/2014/main" id="{1B1DFDA5-0A26-E4F0-21C1-6A2549BFE60B}"/>
              </a:ext>
            </a:extLst>
          </p:cNvPr>
          <p:cNvSpPr>
            <a:spLocks noChangeShapeType="1"/>
          </p:cNvSpPr>
          <p:nvPr/>
        </p:nvSpPr>
        <p:spPr bwMode="auto">
          <a:xfrm>
            <a:off x="4411663" y="3933825"/>
            <a:ext cx="0" cy="287338"/>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grpSp>
        <p:nvGrpSpPr>
          <p:cNvPr id="36891" name="Group 65">
            <a:extLst>
              <a:ext uri="{FF2B5EF4-FFF2-40B4-BE49-F238E27FC236}">
                <a16:creationId xmlns:a16="http://schemas.microsoft.com/office/drawing/2014/main" id="{76857D37-7680-63EB-8EA0-6583DB4D81B6}"/>
              </a:ext>
            </a:extLst>
          </p:cNvPr>
          <p:cNvGrpSpPr>
            <a:grpSpLocks/>
          </p:cNvGrpSpPr>
          <p:nvPr/>
        </p:nvGrpSpPr>
        <p:grpSpPr bwMode="auto">
          <a:xfrm>
            <a:off x="3690938" y="2781300"/>
            <a:ext cx="863600" cy="1800225"/>
            <a:chOff x="1383" y="1752"/>
            <a:chExt cx="544" cy="1134"/>
          </a:xfrm>
        </p:grpSpPr>
        <p:sp>
          <p:nvSpPr>
            <p:cNvPr id="36906" name="Freeform 36">
              <a:extLst>
                <a:ext uri="{FF2B5EF4-FFF2-40B4-BE49-F238E27FC236}">
                  <a16:creationId xmlns:a16="http://schemas.microsoft.com/office/drawing/2014/main" id="{F481DF43-EF66-2CDD-DFA6-3DF805A67A7F}"/>
                </a:ext>
              </a:extLst>
            </p:cNvPr>
            <p:cNvSpPr>
              <a:spLocks/>
            </p:cNvSpPr>
            <p:nvPr/>
          </p:nvSpPr>
          <p:spPr bwMode="auto">
            <a:xfrm>
              <a:off x="1383" y="1752"/>
              <a:ext cx="544" cy="227"/>
            </a:xfrm>
            <a:custGeom>
              <a:avLst/>
              <a:gdLst>
                <a:gd name="T0" fmla="*/ 0 w 498"/>
                <a:gd name="T1" fmla="*/ 448 h 181"/>
                <a:gd name="T2" fmla="*/ 258 w 498"/>
                <a:gd name="T3" fmla="*/ 448 h 181"/>
                <a:gd name="T4" fmla="*/ 258 w 498"/>
                <a:gd name="T5" fmla="*/ 0 h 181"/>
                <a:gd name="T6" fmla="*/ 709 w 498"/>
                <a:gd name="T7" fmla="*/ 0 h 181"/>
                <a:gd name="T8" fmla="*/ 0 60000 65536"/>
                <a:gd name="T9" fmla="*/ 0 60000 65536"/>
                <a:gd name="T10" fmla="*/ 0 60000 65536"/>
                <a:gd name="T11" fmla="*/ 0 60000 65536"/>
                <a:gd name="T12" fmla="*/ 0 w 498"/>
                <a:gd name="T13" fmla="*/ 0 h 181"/>
                <a:gd name="T14" fmla="*/ 498 w 498"/>
                <a:gd name="T15" fmla="*/ 181 h 181"/>
              </a:gdLst>
              <a:ahLst/>
              <a:cxnLst>
                <a:cxn ang="T8">
                  <a:pos x="T0" y="T1"/>
                </a:cxn>
                <a:cxn ang="T9">
                  <a:pos x="T2" y="T3"/>
                </a:cxn>
                <a:cxn ang="T10">
                  <a:pos x="T4" y="T5"/>
                </a:cxn>
                <a:cxn ang="T11">
                  <a:pos x="T6" y="T7"/>
                </a:cxn>
              </a:cxnLst>
              <a:rect l="T12" t="T13" r="T14" b="T15"/>
              <a:pathLst>
                <a:path w="498" h="181">
                  <a:moveTo>
                    <a:pt x="0" y="181"/>
                  </a:moveTo>
                  <a:lnTo>
                    <a:pt x="181" y="181"/>
                  </a:lnTo>
                  <a:lnTo>
                    <a:pt x="181" y="0"/>
                  </a:lnTo>
                  <a:lnTo>
                    <a:pt x="498"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sp>
          <p:nvSpPr>
            <p:cNvPr id="36907" name="Freeform 37">
              <a:extLst>
                <a:ext uri="{FF2B5EF4-FFF2-40B4-BE49-F238E27FC236}">
                  <a16:creationId xmlns:a16="http://schemas.microsoft.com/office/drawing/2014/main" id="{7DD76AE4-0074-482A-E748-42E9C294F5F6}"/>
                </a:ext>
              </a:extLst>
            </p:cNvPr>
            <p:cNvSpPr>
              <a:spLocks/>
            </p:cNvSpPr>
            <p:nvPr/>
          </p:nvSpPr>
          <p:spPr bwMode="auto">
            <a:xfrm flipV="1">
              <a:off x="1383" y="2659"/>
              <a:ext cx="544" cy="227"/>
            </a:xfrm>
            <a:custGeom>
              <a:avLst/>
              <a:gdLst>
                <a:gd name="T0" fmla="*/ 0 w 498"/>
                <a:gd name="T1" fmla="*/ 448 h 181"/>
                <a:gd name="T2" fmla="*/ 258 w 498"/>
                <a:gd name="T3" fmla="*/ 448 h 181"/>
                <a:gd name="T4" fmla="*/ 258 w 498"/>
                <a:gd name="T5" fmla="*/ 0 h 181"/>
                <a:gd name="T6" fmla="*/ 709 w 498"/>
                <a:gd name="T7" fmla="*/ 0 h 181"/>
                <a:gd name="T8" fmla="*/ 0 60000 65536"/>
                <a:gd name="T9" fmla="*/ 0 60000 65536"/>
                <a:gd name="T10" fmla="*/ 0 60000 65536"/>
                <a:gd name="T11" fmla="*/ 0 60000 65536"/>
                <a:gd name="T12" fmla="*/ 0 w 498"/>
                <a:gd name="T13" fmla="*/ 0 h 181"/>
                <a:gd name="T14" fmla="*/ 498 w 498"/>
                <a:gd name="T15" fmla="*/ 181 h 181"/>
              </a:gdLst>
              <a:ahLst/>
              <a:cxnLst>
                <a:cxn ang="T8">
                  <a:pos x="T0" y="T1"/>
                </a:cxn>
                <a:cxn ang="T9">
                  <a:pos x="T2" y="T3"/>
                </a:cxn>
                <a:cxn ang="T10">
                  <a:pos x="T4" y="T5"/>
                </a:cxn>
                <a:cxn ang="T11">
                  <a:pos x="T6" y="T7"/>
                </a:cxn>
              </a:cxnLst>
              <a:rect l="T12" t="T13" r="T14" b="T15"/>
              <a:pathLst>
                <a:path w="498" h="181">
                  <a:moveTo>
                    <a:pt x="0" y="181"/>
                  </a:moveTo>
                  <a:lnTo>
                    <a:pt x="181" y="181"/>
                  </a:lnTo>
                  <a:lnTo>
                    <a:pt x="181" y="0"/>
                  </a:lnTo>
                  <a:lnTo>
                    <a:pt x="498"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sp>
          <p:nvSpPr>
            <p:cNvPr id="36908" name="Freeform 38">
              <a:extLst>
                <a:ext uri="{FF2B5EF4-FFF2-40B4-BE49-F238E27FC236}">
                  <a16:creationId xmlns:a16="http://schemas.microsoft.com/office/drawing/2014/main" id="{BC02F981-628D-BB1F-CBE6-2A9B14779991}"/>
                </a:ext>
              </a:extLst>
            </p:cNvPr>
            <p:cNvSpPr>
              <a:spLocks/>
            </p:cNvSpPr>
            <p:nvPr/>
          </p:nvSpPr>
          <p:spPr bwMode="auto">
            <a:xfrm flipH="1" flipV="1">
              <a:off x="1383" y="2024"/>
              <a:ext cx="544" cy="91"/>
            </a:xfrm>
            <a:custGeom>
              <a:avLst/>
              <a:gdLst>
                <a:gd name="T0" fmla="*/ 0 w 498"/>
                <a:gd name="T1" fmla="*/ 12 h 181"/>
                <a:gd name="T2" fmla="*/ 258 w 498"/>
                <a:gd name="T3" fmla="*/ 12 h 181"/>
                <a:gd name="T4" fmla="*/ 258 w 498"/>
                <a:gd name="T5" fmla="*/ 0 h 181"/>
                <a:gd name="T6" fmla="*/ 709 w 498"/>
                <a:gd name="T7" fmla="*/ 0 h 181"/>
                <a:gd name="T8" fmla="*/ 0 60000 65536"/>
                <a:gd name="T9" fmla="*/ 0 60000 65536"/>
                <a:gd name="T10" fmla="*/ 0 60000 65536"/>
                <a:gd name="T11" fmla="*/ 0 60000 65536"/>
                <a:gd name="T12" fmla="*/ 0 w 498"/>
                <a:gd name="T13" fmla="*/ 0 h 181"/>
                <a:gd name="T14" fmla="*/ 498 w 498"/>
                <a:gd name="T15" fmla="*/ 181 h 181"/>
              </a:gdLst>
              <a:ahLst/>
              <a:cxnLst>
                <a:cxn ang="T8">
                  <a:pos x="T0" y="T1"/>
                </a:cxn>
                <a:cxn ang="T9">
                  <a:pos x="T2" y="T3"/>
                </a:cxn>
                <a:cxn ang="T10">
                  <a:pos x="T4" y="T5"/>
                </a:cxn>
                <a:cxn ang="T11">
                  <a:pos x="T6" y="T7"/>
                </a:cxn>
              </a:cxnLst>
              <a:rect l="T12" t="T13" r="T14" b="T15"/>
              <a:pathLst>
                <a:path w="498" h="181">
                  <a:moveTo>
                    <a:pt x="0" y="181"/>
                  </a:moveTo>
                  <a:lnTo>
                    <a:pt x="181" y="181"/>
                  </a:lnTo>
                  <a:lnTo>
                    <a:pt x="181" y="0"/>
                  </a:lnTo>
                  <a:lnTo>
                    <a:pt x="498"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sp>
          <p:nvSpPr>
            <p:cNvPr id="36909" name="Freeform 39">
              <a:extLst>
                <a:ext uri="{FF2B5EF4-FFF2-40B4-BE49-F238E27FC236}">
                  <a16:creationId xmlns:a16="http://schemas.microsoft.com/office/drawing/2014/main" id="{7F29C69B-9111-E204-73DF-F2E24A78C6E8}"/>
                </a:ext>
              </a:extLst>
            </p:cNvPr>
            <p:cNvSpPr>
              <a:spLocks/>
            </p:cNvSpPr>
            <p:nvPr/>
          </p:nvSpPr>
          <p:spPr bwMode="auto">
            <a:xfrm flipH="1">
              <a:off x="1383" y="2251"/>
              <a:ext cx="544" cy="45"/>
            </a:xfrm>
            <a:custGeom>
              <a:avLst/>
              <a:gdLst>
                <a:gd name="T0" fmla="*/ 0 w 498"/>
                <a:gd name="T1" fmla="*/ 1 h 181"/>
                <a:gd name="T2" fmla="*/ 258 w 498"/>
                <a:gd name="T3" fmla="*/ 1 h 181"/>
                <a:gd name="T4" fmla="*/ 258 w 498"/>
                <a:gd name="T5" fmla="*/ 0 h 181"/>
                <a:gd name="T6" fmla="*/ 709 w 498"/>
                <a:gd name="T7" fmla="*/ 0 h 181"/>
                <a:gd name="T8" fmla="*/ 0 60000 65536"/>
                <a:gd name="T9" fmla="*/ 0 60000 65536"/>
                <a:gd name="T10" fmla="*/ 0 60000 65536"/>
                <a:gd name="T11" fmla="*/ 0 60000 65536"/>
                <a:gd name="T12" fmla="*/ 0 w 498"/>
                <a:gd name="T13" fmla="*/ 0 h 181"/>
                <a:gd name="T14" fmla="*/ 498 w 498"/>
                <a:gd name="T15" fmla="*/ 181 h 181"/>
              </a:gdLst>
              <a:ahLst/>
              <a:cxnLst>
                <a:cxn ang="T8">
                  <a:pos x="T0" y="T1"/>
                </a:cxn>
                <a:cxn ang="T9">
                  <a:pos x="T2" y="T3"/>
                </a:cxn>
                <a:cxn ang="T10">
                  <a:pos x="T4" y="T5"/>
                </a:cxn>
                <a:cxn ang="T11">
                  <a:pos x="T6" y="T7"/>
                </a:cxn>
              </a:cxnLst>
              <a:rect l="T12" t="T13" r="T14" b="T15"/>
              <a:pathLst>
                <a:path w="498" h="181">
                  <a:moveTo>
                    <a:pt x="0" y="181"/>
                  </a:moveTo>
                  <a:lnTo>
                    <a:pt x="181" y="181"/>
                  </a:lnTo>
                  <a:lnTo>
                    <a:pt x="181" y="0"/>
                  </a:lnTo>
                  <a:lnTo>
                    <a:pt x="498"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grpSp>
      <p:sp>
        <p:nvSpPr>
          <p:cNvPr id="36892" name="Rectangle 49">
            <a:extLst>
              <a:ext uri="{FF2B5EF4-FFF2-40B4-BE49-F238E27FC236}">
                <a16:creationId xmlns:a16="http://schemas.microsoft.com/office/drawing/2014/main" id="{E73833B4-CE0E-F3E3-AFDD-26E82CDF1D80}"/>
              </a:ext>
            </a:extLst>
          </p:cNvPr>
          <p:cNvSpPr>
            <a:spLocks noChangeArrowheads="1"/>
          </p:cNvSpPr>
          <p:nvPr/>
        </p:nvSpPr>
        <p:spPr bwMode="blackWhite">
          <a:xfrm>
            <a:off x="4627563" y="5084763"/>
            <a:ext cx="2305050" cy="431800"/>
          </a:xfrm>
          <a:prstGeom prst="rect">
            <a:avLst/>
          </a:prstGeom>
          <a:solidFill>
            <a:srgbClr val="0066FF"/>
          </a:solidFill>
          <a:ln w="9525">
            <a:miter lim="800000"/>
            <a:headEnd/>
            <a:tailEnd/>
          </a:ln>
          <a:scene3d>
            <a:camera prst="legacyObliqueTopRight"/>
            <a:lightRig rig="legacyFlat3" dir="b"/>
          </a:scene3d>
          <a:sp3d extrusionH="49200" prstMaterial="legacyMetal">
            <a:bevelT w="13500" h="13500" prst="angle"/>
            <a:bevelB w="13500" h="13500" prst="angle"/>
            <a:extrusionClr>
              <a:srgbClr val="0066FF"/>
            </a:extrusionClr>
            <a:contourClr>
              <a:srgbClr val="0066FF"/>
            </a:contourClr>
          </a:sp3d>
        </p:spPr>
        <p:txBody>
          <a:bodyPr wrap="none" lIns="0" tIns="0" rIns="0" bIns="0" anchor="ctr">
            <a:flatTx/>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t>transductores</a:t>
            </a:r>
          </a:p>
        </p:txBody>
      </p:sp>
      <p:sp>
        <p:nvSpPr>
          <p:cNvPr id="36893" name="Text Box 59">
            <a:extLst>
              <a:ext uri="{FF2B5EF4-FFF2-40B4-BE49-F238E27FC236}">
                <a16:creationId xmlns:a16="http://schemas.microsoft.com/office/drawing/2014/main" id="{FDD22353-F57B-9934-D92C-3B91378F131A}"/>
              </a:ext>
            </a:extLst>
          </p:cNvPr>
          <p:cNvSpPr txBox="1">
            <a:spLocks noChangeArrowheads="1"/>
          </p:cNvSpPr>
          <p:nvPr/>
        </p:nvSpPr>
        <p:spPr bwMode="auto">
          <a:xfrm>
            <a:off x="4759325" y="6076950"/>
            <a:ext cx="444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b</a:t>
            </a:r>
            <a:r>
              <a:rPr lang="es-ES" altLang="es-ES" b="1" baseline="-25000"/>
              <a:t>w</a:t>
            </a:r>
            <a:r>
              <a:rPr lang="es-ES" altLang="es-ES" b="1" baseline="-25000">
                <a:cs typeface="Arial" panose="020B0604020202020204" pitchFamily="34" charset="0"/>
              </a:rPr>
              <a:t>−1</a:t>
            </a:r>
          </a:p>
        </p:txBody>
      </p:sp>
      <p:sp>
        <p:nvSpPr>
          <p:cNvPr id="36894" name="Text Box 60">
            <a:extLst>
              <a:ext uri="{FF2B5EF4-FFF2-40B4-BE49-F238E27FC236}">
                <a16:creationId xmlns:a16="http://schemas.microsoft.com/office/drawing/2014/main" id="{CDA92F5B-74C6-E65F-865C-6A79FDC694CC}"/>
              </a:ext>
            </a:extLst>
          </p:cNvPr>
          <p:cNvSpPr txBox="1">
            <a:spLocks noChangeArrowheads="1"/>
          </p:cNvSpPr>
          <p:nvPr/>
        </p:nvSpPr>
        <p:spPr bwMode="auto">
          <a:xfrm>
            <a:off x="6354763" y="609282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b</a:t>
            </a:r>
            <a:r>
              <a:rPr lang="es-ES" altLang="es-ES" b="1" baseline="-25000">
                <a:cs typeface="Arial" panose="020B0604020202020204" pitchFamily="34" charset="0"/>
              </a:rPr>
              <a:t>0</a:t>
            </a:r>
          </a:p>
        </p:txBody>
      </p:sp>
      <p:sp>
        <p:nvSpPr>
          <p:cNvPr id="36895" name="Line 62">
            <a:extLst>
              <a:ext uri="{FF2B5EF4-FFF2-40B4-BE49-F238E27FC236}">
                <a16:creationId xmlns:a16="http://schemas.microsoft.com/office/drawing/2014/main" id="{B3480917-C50A-E31A-6CB1-EE2F848A7BAF}"/>
              </a:ext>
            </a:extLst>
          </p:cNvPr>
          <p:cNvSpPr>
            <a:spLocks noChangeShapeType="1"/>
          </p:cNvSpPr>
          <p:nvPr/>
        </p:nvSpPr>
        <p:spPr bwMode="auto">
          <a:xfrm>
            <a:off x="5491163" y="6308725"/>
            <a:ext cx="360362"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grpSp>
        <p:nvGrpSpPr>
          <p:cNvPr id="36896" name="Group 66">
            <a:extLst>
              <a:ext uri="{FF2B5EF4-FFF2-40B4-BE49-F238E27FC236}">
                <a16:creationId xmlns:a16="http://schemas.microsoft.com/office/drawing/2014/main" id="{C8A3D845-E3D7-904A-7754-2B6E98B47F67}"/>
              </a:ext>
            </a:extLst>
          </p:cNvPr>
          <p:cNvGrpSpPr>
            <a:grpSpLocks/>
          </p:cNvGrpSpPr>
          <p:nvPr/>
        </p:nvGrpSpPr>
        <p:grpSpPr bwMode="auto">
          <a:xfrm>
            <a:off x="1906588" y="4724400"/>
            <a:ext cx="904875" cy="609600"/>
            <a:chOff x="77" y="3067"/>
            <a:chExt cx="570" cy="384"/>
          </a:xfrm>
        </p:grpSpPr>
        <p:sp>
          <p:nvSpPr>
            <p:cNvPr id="36904" name="Text Box 67">
              <a:extLst>
                <a:ext uri="{FF2B5EF4-FFF2-40B4-BE49-F238E27FC236}">
                  <a16:creationId xmlns:a16="http://schemas.microsoft.com/office/drawing/2014/main" id="{73E0CD0C-8F5D-3960-902E-A62771325F6E}"/>
                </a:ext>
              </a:extLst>
            </p:cNvPr>
            <p:cNvSpPr txBox="1">
              <a:spLocks noChangeArrowheads="1"/>
            </p:cNvSpPr>
            <p:nvPr/>
          </p:nvSpPr>
          <p:spPr bwMode="auto">
            <a:xfrm>
              <a:off x="77" y="3067"/>
              <a:ext cx="5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Selección</a:t>
              </a:r>
              <a:br>
                <a:rPr lang="es-ES" altLang="es-ES"/>
              </a:br>
              <a:r>
                <a:rPr lang="es-ES" altLang="es-ES"/>
                <a:t>(</a:t>
              </a:r>
              <a:r>
                <a:rPr lang="es-ES" altLang="es-ES" b="1"/>
                <a:t>CS</a:t>
              </a:r>
              <a:r>
                <a:rPr lang="es-ES" altLang="es-ES"/>
                <a:t>)</a:t>
              </a:r>
            </a:p>
          </p:txBody>
        </p:sp>
        <p:sp>
          <p:nvSpPr>
            <p:cNvPr id="36905" name="Line 68">
              <a:extLst>
                <a:ext uri="{FF2B5EF4-FFF2-40B4-BE49-F238E27FC236}">
                  <a16:creationId xmlns:a16="http://schemas.microsoft.com/office/drawing/2014/main" id="{106E0E63-E014-0016-4313-CEC2849D3A9A}"/>
                </a:ext>
              </a:extLst>
            </p:cNvPr>
            <p:cNvSpPr>
              <a:spLocks noChangeShapeType="1"/>
            </p:cNvSpPr>
            <p:nvPr/>
          </p:nvSpPr>
          <p:spPr bwMode="auto">
            <a:xfrm>
              <a:off x="266" y="3268"/>
              <a:ext cx="20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grpSp>
      <p:sp>
        <p:nvSpPr>
          <p:cNvPr id="36897" name="Freeform 69">
            <a:extLst>
              <a:ext uri="{FF2B5EF4-FFF2-40B4-BE49-F238E27FC236}">
                <a16:creationId xmlns:a16="http://schemas.microsoft.com/office/drawing/2014/main" id="{755DD2F0-C9C4-CACC-E1EA-1D2C869EB391}"/>
              </a:ext>
            </a:extLst>
          </p:cNvPr>
          <p:cNvSpPr>
            <a:spLocks/>
          </p:cNvSpPr>
          <p:nvPr/>
        </p:nvSpPr>
        <p:spPr bwMode="auto">
          <a:xfrm>
            <a:off x="2828925" y="4437063"/>
            <a:ext cx="574675" cy="720725"/>
          </a:xfrm>
          <a:custGeom>
            <a:avLst/>
            <a:gdLst>
              <a:gd name="T0" fmla="*/ 0 w 226"/>
              <a:gd name="T1" fmla="*/ 2147483647 h 317"/>
              <a:gd name="T2" fmla="*/ 2147483647 w 226"/>
              <a:gd name="T3" fmla="*/ 2147483647 h 317"/>
              <a:gd name="T4" fmla="*/ 2147483647 w 226"/>
              <a:gd name="T5" fmla="*/ 0 h 317"/>
              <a:gd name="T6" fmla="*/ 0 60000 65536"/>
              <a:gd name="T7" fmla="*/ 0 60000 65536"/>
              <a:gd name="T8" fmla="*/ 0 60000 65536"/>
              <a:gd name="T9" fmla="*/ 0 w 226"/>
              <a:gd name="T10" fmla="*/ 0 h 317"/>
              <a:gd name="T11" fmla="*/ 226 w 226"/>
              <a:gd name="T12" fmla="*/ 317 h 317"/>
            </a:gdLst>
            <a:ahLst/>
            <a:cxnLst>
              <a:cxn ang="T6">
                <a:pos x="T0" y="T1"/>
              </a:cxn>
              <a:cxn ang="T7">
                <a:pos x="T2" y="T3"/>
              </a:cxn>
              <a:cxn ang="T8">
                <a:pos x="T4" y="T5"/>
              </a:cxn>
            </a:cxnLst>
            <a:rect l="T9" t="T10" r="T11" b="T12"/>
            <a:pathLst>
              <a:path w="226" h="317">
                <a:moveTo>
                  <a:pt x="0" y="317"/>
                </a:moveTo>
                <a:lnTo>
                  <a:pt x="226" y="317"/>
                </a:lnTo>
                <a:lnTo>
                  <a:pt x="226"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sp>
        <p:nvSpPr>
          <p:cNvPr id="36898" name="Line 70">
            <a:extLst>
              <a:ext uri="{FF2B5EF4-FFF2-40B4-BE49-F238E27FC236}">
                <a16:creationId xmlns:a16="http://schemas.microsoft.com/office/drawing/2014/main" id="{67DF30D1-9D58-020D-8FD8-BDFCDAEEBF62}"/>
              </a:ext>
            </a:extLst>
          </p:cNvPr>
          <p:cNvSpPr>
            <a:spLocks noChangeShapeType="1"/>
          </p:cNvSpPr>
          <p:nvPr/>
        </p:nvSpPr>
        <p:spPr bwMode="auto">
          <a:xfrm>
            <a:off x="3403600" y="5157788"/>
            <a:ext cx="115093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899" name="Text Box 77">
            <a:extLst>
              <a:ext uri="{FF2B5EF4-FFF2-40B4-BE49-F238E27FC236}">
                <a16:creationId xmlns:a16="http://schemas.microsoft.com/office/drawing/2014/main" id="{DCCF38AC-E487-9BFE-7274-267B690CC5EE}"/>
              </a:ext>
            </a:extLst>
          </p:cNvPr>
          <p:cNvSpPr txBox="1">
            <a:spLocks noChangeArrowheads="1"/>
          </p:cNvSpPr>
          <p:nvPr/>
        </p:nvSpPr>
        <p:spPr bwMode="auto">
          <a:xfrm>
            <a:off x="1616075" y="5483225"/>
            <a:ext cx="10842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Operación</a:t>
            </a:r>
            <a:br>
              <a:rPr lang="es-ES" altLang="es-ES"/>
            </a:br>
            <a:r>
              <a:rPr lang="es-ES" altLang="es-ES"/>
              <a:t>(</a:t>
            </a:r>
            <a:r>
              <a:rPr lang="es-ES" altLang="es-ES" b="1"/>
              <a:t>OE, WE</a:t>
            </a:r>
            <a:r>
              <a:rPr lang="es-ES" altLang="es-ES"/>
              <a:t>)</a:t>
            </a:r>
          </a:p>
        </p:txBody>
      </p:sp>
      <p:sp>
        <p:nvSpPr>
          <p:cNvPr id="36900" name="Line 78">
            <a:extLst>
              <a:ext uri="{FF2B5EF4-FFF2-40B4-BE49-F238E27FC236}">
                <a16:creationId xmlns:a16="http://schemas.microsoft.com/office/drawing/2014/main" id="{D5444E81-D0FA-F218-D346-2156CD464735}"/>
              </a:ext>
            </a:extLst>
          </p:cNvPr>
          <p:cNvSpPr>
            <a:spLocks noChangeShapeType="1"/>
          </p:cNvSpPr>
          <p:nvPr/>
        </p:nvSpPr>
        <p:spPr bwMode="auto">
          <a:xfrm>
            <a:off x="1730375" y="5802313"/>
            <a:ext cx="32067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6901" name="Freeform 79">
            <a:extLst>
              <a:ext uri="{FF2B5EF4-FFF2-40B4-BE49-F238E27FC236}">
                <a16:creationId xmlns:a16="http://schemas.microsoft.com/office/drawing/2014/main" id="{BADA73AB-0E57-BF0E-3861-4E9FB56ADE68}"/>
              </a:ext>
            </a:extLst>
          </p:cNvPr>
          <p:cNvSpPr>
            <a:spLocks/>
          </p:cNvSpPr>
          <p:nvPr/>
        </p:nvSpPr>
        <p:spPr bwMode="auto">
          <a:xfrm>
            <a:off x="2827338" y="5445125"/>
            <a:ext cx="1727200" cy="503238"/>
          </a:xfrm>
          <a:custGeom>
            <a:avLst/>
            <a:gdLst>
              <a:gd name="T0" fmla="*/ 0 w 1088"/>
              <a:gd name="T1" fmla="*/ 2147483647 h 136"/>
              <a:gd name="T2" fmla="*/ 2147483647 w 1088"/>
              <a:gd name="T3" fmla="*/ 2147483647 h 136"/>
              <a:gd name="T4" fmla="*/ 2147483647 w 1088"/>
              <a:gd name="T5" fmla="*/ 0 h 136"/>
              <a:gd name="T6" fmla="*/ 2147483647 w 1088"/>
              <a:gd name="T7" fmla="*/ 0 h 136"/>
              <a:gd name="T8" fmla="*/ 0 60000 65536"/>
              <a:gd name="T9" fmla="*/ 0 60000 65536"/>
              <a:gd name="T10" fmla="*/ 0 60000 65536"/>
              <a:gd name="T11" fmla="*/ 0 60000 65536"/>
              <a:gd name="T12" fmla="*/ 0 w 1088"/>
              <a:gd name="T13" fmla="*/ 0 h 136"/>
              <a:gd name="T14" fmla="*/ 1088 w 1088"/>
              <a:gd name="T15" fmla="*/ 136 h 136"/>
            </a:gdLst>
            <a:ahLst/>
            <a:cxnLst>
              <a:cxn ang="T8">
                <a:pos x="T0" y="T1"/>
              </a:cxn>
              <a:cxn ang="T9">
                <a:pos x="T2" y="T3"/>
              </a:cxn>
              <a:cxn ang="T10">
                <a:pos x="T4" y="T5"/>
              </a:cxn>
              <a:cxn ang="T11">
                <a:pos x="T6" y="T7"/>
              </a:cxn>
            </a:cxnLst>
            <a:rect l="T12" t="T13" r="T14" b="T15"/>
            <a:pathLst>
              <a:path w="1088" h="136">
                <a:moveTo>
                  <a:pt x="0" y="136"/>
                </a:moveTo>
                <a:lnTo>
                  <a:pt x="363" y="136"/>
                </a:lnTo>
                <a:lnTo>
                  <a:pt x="363" y="0"/>
                </a:lnTo>
                <a:lnTo>
                  <a:pt x="1088"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sp>
        <p:nvSpPr>
          <p:cNvPr id="36902" name="Text Box 80">
            <a:extLst>
              <a:ext uri="{FF2B5EF4-FFF2-40B4-BE49-F238E27FC236}">
                <a16:creationId xmlns:a16="http://schemas.microsoft.com/office/drawing/2014/main" id="{086D8C02-0CDF-5883-5D72-8E3B4DD79DF9}"/>
              </a:ext>
            </a:extLst>
          </p:cNvPr>
          <p:cNvSpPr txBox="1">
            <a:spLocks noChangeArrowheads="1"/>
          </p:cNvSpPr>
          <p:nvPr/>
        </p:nvSpPr>
        <p:spPr bwMode="auto">
          <a:xfrm>
            <a:off x="7004050" y="6076950"/>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t>Datos</a:t>
            </a:r>
          </a:p>
        </p:txBody>
      </p:sp>
      <p:sp>
        <p:nvSpPr>
          <p:cNvPr id="36903" name="Line 82">
            <a:extLst>
              <a:ext uri="{FF2B5EF4-FFF2-40B4-BE49-F238E27FC236}">
                <a16:creationId xmlns:a16="http://schemas.microsoft.com/office/drawing/2014/main" id="{12571CC1-AE0C-4EC9-B7D2-BD29D4598697}"/>
              </a:ext>
            </a:extLst>
          </p:cNvPr>
          <p:cNvSpPr>
            <a:spLocks noChangeShapeType="1"/>
          </p:cNvSpPr>
          <p:nvPr/>
        </p:nvSpPr>
        <p:spPr bwMode="auto">
          <a:xfrm>
            <a:off x="2268538" y="5805488"/>
            <a:ext cx="32067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2" name="2 Marcador de número de diapositiva">
            <a:extLst>
              <a:ext uri="{FF2B5EF4-FFF2-40B4-BE49-F238E27FC236}">
                <a16:creationId xmlns:a16="http://schemas.microsoft.com/office/drawing/2014/main" id="{047D9364-94D1-79C0-0DCE-1421911F1B79}"/>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1" name="Group 163">
            <a:extLst>
              <a:ext uri="{FF2B5EF4-FFF2-40B4-BE49-F238E27FC236}">
                <a16:creationId xmlns:a16="http://schemas.microsoft.com/office/drawing/2014/main" id="{1FBC21A9-EFF2-69F1-A02D-0386CF62CFAF}"/>
              </a:ext>
            </a:extLst>
          </p:cNvPr>
          <p:cNvGrpSpPr>
            <a:grpSpLocks/>
          </p:cNvGrpSpPr>
          <p:nvPr/>
        </p:nvGrpSpPr>
        <p:grpSpPr bwMode="auto">
          <a:xfrm>
            <a:off x="2051050" y="2852738"/>
            <a:ext cx="6767513" cy="1800225"/>
            <a:chOff x="1292" y="1797"/>
            <a:chExt cx="4263" cy="1134"/>
          </a:xfrm>
        </p:grpSpPr>
        <p:grpSp>
          <p:nvGrpSpPr>
            <p:cNvPr id="38040" name="Group 162">
              <a:extLst>
                <a:ext uri="{FF2B5EF4-FFF2-40B4-BE49-F238E27FC236}">
                  <a16:creationId xmlns:a16="http://schemas.microsoft.com/office/drawing/2014/main" id="{182BB42E-52BB-C9AA-F9BA-1A7E2E2E2539}"/>
                </a:ext>
              </a:extLst>
            </p:cNvPr>
            <p:cNvGrpSpPr>
              <a:grpSpLocks/>
            </p:cNvGrpSpPr>
            <p:nvPr/>
          </p:nvGrpSpPr>
          <p:grpSpPr bwMode="auto">
            <a:xfrm>
              <a:off x="1292" y="1797"/>
              <a:ext cx="680" cy="1134"/>
              <a:chOff x="1292" y="1797"/>
              <a:chExt cx="680" cy="1134"/>
            </a:xfrm>
          </p:grpSpPr>
          <p:sp>
            <p:nvSpPr>
              <p:cNvPr id="38046" name="Freeform 145">
                <a:extLst>
                  <a:ext uri="{FF2B5EF4-FFF2-40B4-BE49-F238E27FC236}">
                    <a16:creationId xmlns:a16="http://schemas.microsoft.com/office/drawing/2014/main" id="{AD1ED89A-5C73-E2C1-547A-8A9667E531D5}"/>
                  </a:ext>
                </a:extLst>
              </p:cNvPr>
              <p:cNvSpPr>
                <a:spLocks/>
              </p:cNvSpPr>
              <p:nvPr/>
            </p:nvSpPr>
            <p:spPr bwMode="auto">
              <a:xfrm>
                <a:off x="1292" y="1797"/>
                <a:ext cx="680" cy="137"/>
              </a:xfrm>
              <a:custGeom>
                <a:avLst/>
                <a:gdLst>
                  <a:gd name="T0" fmla="*/ 0 w 680"/>
                  <a:gd name="T1" fmla="*/ 59 h 182"/>
                  <a:gd name="T2" fmla="*/ 136 w 680"/>
                  <a:gd name="T3" fmla="*/ 59 h 182"/>
                  <a:gd name="T4" fmla="*/ 136 w 680"/>
                  <a:gd name="T5" fmla="*/ 0 h 182"/>
                  <a:gd name="T6" fmla="*/ 680 w 680"/>
                  <a:gd name="T7" fmla="*/ 0 h 182"/>
                  <a:gd name="T8" fmla="*/ 0 60000 65536"/>
                  <a:gd name="T9" fmla="*/ 0 60000 65536"/>
                  <a:gd name="T10" fmla="*/ 0 60000 65536"/>
                  <a:gd name="T11" fmla="*/ 0 60000 65536"/>
                  <a:gd name="T12" fmla="*/ 0 w 680"/>
                  <a:gd name="T13" fmla="*/ 0 h 182"/>
                  <a:gd name="T14" fmla="*/ 680 w 680"/>
                  <a:gd name="T15" fmla="*/ 182 h 182"/>
                </a:gdLst>
                <a:ahLst/>
                <a:cxnLst>
                  <a:cxn ang="T8">
                    <a:pos x="T0" y="T1"/>
                  </a:cxn>
                  <a:cxn ang="T9">
                    <a:pos x="T2" y="T3"/>
                  </a:cxn>
                  <a:cxn ang="T10">
                    <a:pos x="T4" y="T5"/>
                  </a:cxn>
                  <a:cxn ang="T11">
                    <a:pos x="T6" y="T7"/>
                  </a:cxn>
                </a:cxnLst>
                <a:rect l="T12" t="T13" r="T14" b="T15"/>
                <a:pathLst>
                  <a:path w="680" h="182">
                    <a:moveTo>
                      <a:pt x="0" y="182"/>
                    </a:moveTo>
                    <a:lnTo>
                      <a:pt x="136" y="182"/>
                    </a:lnTo>
                    <a:lnTo>
                      <a:pt x="136" y="0"/>
                    </a:lnTo>
                    <a:lnTo>
                      <a:pt x="680"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sp>
            <p:nvSpPr>
              <p:cNvPr id="38047" name="Freeform 146">
                <a:extLst>
                  <a:ext uri="{FF2B5EF4-FFF2-40B4-BE49-F238E27FC236}">
                    <a16:creationId xmlns:a16="http://schemas.microsoft.com/office/drawing/2014/main" id="{1852946F-1A91-09E7-507B-DEFFF1C1446A}"/>
                  </a:ext>
                </a:extLst>
              </p:cNvPr>
              <p:cNvSpPr>
                <a:spLocks/>
              </p:cNvSpPr>
              <p:nvPr/>
            </p:nvSpPr>
            <p:spPr bwMode="auto">
              <a:xfrm flipV="1">
                <a:off x="1292" y="2024"/>
                <a:ext cx="680" cy="45"/>
              </a:xfrm>
              <a:custGeom>
                <a:avLst/>
                <a:gdLst>
                  <a:gd name="T0" fmla="*/ 0 w 680"/>
                  <a:gd name="T1" fmla="*/ 2 h 136"/>
                  <a:gd name="T2" fmla="*/ 227 w 680"/>
                  <a:gd name="T3" fmla="*/ 2 h 136"/>
                  <a:gd name="T4" fmla="*/ 227 w 680"/>
                  <a:gd name="T5" fmla="*/ 0 h 136"/>
                  <a:gd name="T6" fmla="*/ 680 w 680"/>
                  <a:gd name="T7" fmla="*/ 0 h 136"/>
                  <a:gd name="T8" fmla="*/ 0 60000 65536"/>
                  <a:gd name="T9" fmla="*/ 0 60000 65536"/>
                  <a:gd name="T10" fmla="*/ 0 60000 65536"/>
                  <a:gd name="T11" fmla="*/ 0 60000 65536"/>
                  <a:gd name="T12" fmla="*/ 0 w 680"/>
                  <a:gd name="T13" fmla="*/ 0 h 136"/>
                  <a:gd name="T14" fmla="*/ 680 w 680"/>
                  <a:gd name="T15" fmla="*/ 136 h 136"/>
                </a:gdLst>
                <a:ahLst/>
                <a:cxnLst>
                  <a:cxn ang="T8">
                    <a:pos x="T0" y="T1"/>
                  </a:cxn>
                  <a:cxn ang="T9">
                    <a:pos x="T2" y="T3"/>
                  </a:cxn>
                  <a:cxn ang="T10">
                    <a:pos x="T4" y="T5"/>
                  </a:cxn>
                  <a:cxn ang="T11">
                    <a:pos x="T6" y="T7"/>
                  </a:cxn>
                </a:cxnLst>
                <a:rect l="T12" t="T13" r="T14" b="T15"/>
                <a:pathLst>
                  <a:path w="680" h="136">
                    <a:moveTo>
                      <a:pt x="0" y="136"/>
                    </a:moveTo>
                    <a:lnTo>
                      <a:pt x="227" y="136"/>
                    </a:lnTo>
                    <a:lnTo>
                      <a:pt x="227" y="0"/>
                    </a:lnTo>
                    <a:lnTo>
                      <a:pt x="680"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sp>
            <p:nvSpPr>
              <p:cNvPr id="38048" name="Freeform 147">
                <a:extLst>
                  <a:ext uri="{FF2B5EF4-FFF2-40B4-BE49-F238E27FC236}">
                    <a16:creationId xmlns:a16="http://schemas.microsoft.com/office/drawing/2014/main" id="{126BEFB7-A3AA-37D3-A8AA-067523C08DEE}"/>
                  </a:ext>
                </a:extLst>
              </p:cNvPr>
              <p:cNvSpPr>
                <a:spLocks/>
              </p:cNvSpPr>
              <p:nvPr/>
            </p:nvSpPr>
            <p:spPr bwMode="auto">
              <a:xfrm flipV="1">
                <a:off x="1292" y="2115"/>
                <a:ext cx="680" cy="181"/>
              </a:xfrm>
              <a:custGeom>
                <a:avLst/>
                <a:gdLst>
                  <a:gd name="T0" fmla="*/ 0 w 680"/>
                  <a:gd name="T1" fmla="*/ 427 h 136"/>
                  <a:gd name="T2" fmla="*/ 227 w 680"/>
                  <a:gd name="T3" fmla="*/ 427 h 136"/>
                  <a:gd name="T4" fmla="*/ 227 w 680"/>
                  <a:gd name="T5" fmla="*/ 0 h 136"/>
                  <a:gd name="T6" fmla="*/ 680 w 680"/>
                  <a:gd name="T7" fmla="*/ 0 h 136"/>
                  <a:gd name="T8" fmla="*/ 0 60000 65536"/>
                  <a:gd name="T9" fmla="*/ 0 60000 65536"/>
                  <a:gd name="T10" fmla="*/ 0 60000 65536"/>
                  <a:gd name="T11" fmla="*/ 0 60000 65536"/>
                  <a:gd name="T12" fmla="*/ 0 w 680"/>
                  <a:gd name="T13" fmla="*/ 0 h 136"/>
                  <a:gd name="T14" fmla="*/ 680 w 680"/>
                  <a:gd name="T15" fmla="*/ 136 h 136"/>
                </a:gdLst>
                <a:ahLst/>
                <a:cxnLst>
                  <a:cxn ang="T8">
                    <a:pos x="T0" y="T1"/>
                  </a:cxn>
                  <a:cxn ang="T9">
                    <a:pos x="T2" y="T3"/>
                  </a:cxn>
                  <a:cxn ang="T10">
                    <a:pos x="T4" y="T5"/>
                  </a:cxn>
                  <a:cxn ang="T11">
                    <a:pos x="T6" y="T7"/>
                  </a:cxn>
                </a:cxnLst>
                <a:rect l="T12" t="T13" r="T14" b="T15"/>
                <a:pathLst>
                  <a:path w="680" h="136">
                    <a:moveTo>
                      <a:pt x="0" y="136"/>
                    </a:moveTo>
                    <a:lnTo>
                      <a:pt x="227" y="136"/>
                    </a:lnTo>
                    <a:lnTo>
                      <a:pt x="227" y="0"/>
                    </a:lnTo>
                    <a:lnTo>
                      <a:pt x="680"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sp>
            <p:nvSpPr>
              <p:cNvPr id="38049" name="Freeform 148">
                <a:extLst>
                  <a:ext uri="{FF2B5EF4-FFF2-40B4-BE49-F238E27FC236}">
                    <a16:creationId xmlns:a16="http://schemas.microsoft.com/office/drawing/2014/main" id="{AE20CD45-3E64-2A60-ED5B-C37F8985D5F1}"/>
                  </a:ext>
                </a:extLst>
              </p:cNvPr>
              <p:cNvSpPr>
                <a:spLocks/>
              </p:cNvSpPr>
              <p:nvPr/>
            </p:nvSpPr>
            <p:spPr bwMode="auto">
              <a:xfrm flipV="1">
                <a:off x="1292" y="2568"/>
                <a:ext cx="680" cy="363"/>
              </a:xfrm>
              <a:custGeom>
                <a:avLst/>
                <a:gdLst>
                  <a:gd name="T0" fmla="*/ 0 w 680"/>
                  <a:gd name="T1" fmla="*/ 2880 h 182"/>
                  <a:gd name="T2" fmla="*/ 136 w 680"/>
                  <a:gd name="T3" fmla="*/ 2880 h 182"/>
                  <a:gd name="T4" fmla="*/ 136 w 680"/>
                  <a:gd name="T5" fmla="*/ 0 h 182"/>
                  <a:gd name="T6" fmla="*/ 680 w 680"/>
                  <a:gd name="T7" fmla="*/ 0 h 182"/>
                  <a:gd name="T8" fmla="*/ 0 60000 65536"/>
                  <a:gd name="T9" fmla="*/ 0 60000 65536"/>
                  <a:gd name="T10" fmla="*/ 0 60000 65536"/>
                  <a:gd name="T11" fmla="*/ 0 60000 65536"/>
                  <a:gd name="T12" fmla="*/ 0 w 680"/>
                  <a:gd name="T13" fmla="*/ 0 h 182"/>
                  <a:gd name="T14" fmla="*/ 680 w 680"/>
                  <a:gd name="T15" fmla="*/ 182 h 182"/>
                </a:gdLst>
                <a:ahLst/>
                <a:cxnLst>
                  <a:cxn ang="T8">
                    <a:pos x="T0" y="T1"/>
                  </a:cxn>
                  <a:cxn ang="T9">
                    <a:pos x="T2" y="T3"/>
                  </a:cxn>
                  <a:cxn ang="T10">
                    <a:pos x="T4" y="T5"/>
                  </a:cxn>
                  <a:cxn ang="T11">
                    <a:pos x="T6" y="T7"/>
                  </a:cxn>
                </a:cxnLst>
                <a:rect l="T12" t="T13" r="T14" b="T15"/>
                <a:pathLst>
                  <a:path w="680" h="182">
                    <a:moveTo>
                      <a:pt x="0" y="182"/>
                    </a:moveTo>
                    <a:lnTo>
                      <a:pt x="136" y="182"/>
                    </a:lnTo>
                    <a:lnTo>
                      <a:pt x="136" y="0"/>
                    </a:lnTo>
                    <a:lnTo>
                      <a:pt x="680" y="0"/>
                    </a:lnTo>
                  </a:path>
                </a:pathLst>
              </a:cu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solidFill>
                      <a:srgbClr val="FFFFFF"/>
                    </a:solidFill>
                  </a14:hiddenFill>
                </a:ext>
              </a:extLst>
            </p:spPr>
            <p:txBody>
              <a:bodyPr lIns="0" tIns="0" rIns="0" bIns="0" anchor="ctr">
                <a:flatTx/>
              </a:bodyPr>
              <a:lstStyle/>
              <a:p>
                <a:endParaRPr lang="es-ES"/>
              </a:p>
            </p:txBody>
          </p:sp>
        </p:grpSp>
        <p:grpSp>
          <p:nvGrpSpPr>
            <p:cNvPr id="38041" name="Group 158">
              <a:extLst>
                <a:ext uri="{FF2B5EF4-FFF2-40B4-BE49-F238E27FC236}">
                  <a16:creationId xmlns:a16="http://schemas.microsoft.com/office/drawing/2014/main" id="{11281E95-3C52-E863-266D-80E2552F880D}"/>
                </a:ext>
              </a:extLst>
            </p:cNvPr>
            <p:cNvGrpSpPr>
              <a:grpSpLocks/>
            </p:cNvGrpSpPr>
            <p:nvPr/>
          </p:nvGrpSpPr>
          <p:grpSpPr bwMode="auto">
            <a:xfrm>
              <a:off x="1881" y="1797"/>
              <a:ext cx="3674" cy="1134"/>
              <a:chOff x="1927" y="1797"/>
              <a:chExt cx="3765" cy="1134"/>
            </a:xfrm>
          </p:grpSpPr>
          <p:sp>
            <p:nvSpPr>
              <p:cNvPr id="38042" name="Line 153">
                <a:extLst>
                  <a:ext uri="{FF2B5EF4-FFF2-40B4-BE49-F238E27FC236}">
                    <a16:creationId xmlns:a16="http://schemas.microsoft.com/office/drawing/2014/main" id="{32FD1B6E-8DB1-08E7-E90A-DA169BCF0946}"/>
                  </a:ext>
                </a:extLst>
              </p:cNvPr>
              <p:cNvSpPr>
                <a:spLocks noChangeShapeType="1"/>
              </p:cNvSpPr>
              <p:nvPr/>
            </p:nvSpPr>
            <p:spPr bwMode="auto">
              <a:xfrm>
                <a:off x="1927" y="2931"/>
                <a:ext cx="3765" cy="0"/>
              </a:xfrm>
              <a:prstGeom prst="line">
                <a:avLst/>
              </a:pr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43" name="Line 154">
                <a:extLst>
                  <a:ext uri="{FF2B5EF4-FFF2-40B4-BE49-F238E27FC236}">
                    <a16:creationId xmlns:a16="http://schemas.microsoft.com/office/drawing/2014/main" id="{EDEEE192-9324-4DB1-121F-795271389D70}"/>
                  </a:ext>
                </a:extLst>
              </p:cNvPr>
              <p:cNvSpPr>
                <a:spLocks noChangeShapeType="1"/>
              </p:cNvSpPr>
              <p:nvPr/>
            </p:nvSpPr>
            <p:spPr bwMode="auto">
              <a:xfrm>
                <a:off x="1927" y="2296"/>
                <a:ext cx="3765" cy="0"/>
              </a:xfrm>
              <a:prstGeom prst="line">
                <a:avLst/>
              </a:pr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44" name="Line 155">
                <a:extLst>
                  <a:ext uri="{FF2B5EF4-FFF2-40B4-BE49-F238E27FC236}">
                    <a16:creationId xmlns:a16="http://schemas.microsoft.com/office/drawing/2014/main" id="{96B8448D-212C-C778-2468-5202ADF30677}"/>
                  </a:ext>
                </a:extLst>
              </p:cNvPr>
              <p:cNvSpPr>
                <a:spLocks noChangeShapeType="1"/>
              </p:cNvSpPr>
              <p:nvPr/>
            </p:nvSpPr>
            <p:spPr bwMode="auto">
              <a:xfrm>
                <a:off x="1927" y="2069"/>
                <a:ext cx="3765" cy="0"/>
              </a:xfrm>
              <a:prstGeom prst="line">
                <a:avLst/>
              </a:pr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45" name="Line 156">
                <a:extLst>
                  <a:ext uri="{FF2B5EF4-FFF2-40B4-BE49-F238E27FC236}">
                    <a16:creationId xmlns:a16="http://schemas.microsoft.com/office/drawing/2014/main" id="{8CA7DD85-0B54-C778-1531-69E34C850BAF}"/>
                  </a:ext>
                </a:extLst>
              </p:cNvPr>
              <p:cNvSpPr>
                <a:spLocks noChangeShapeType="1"/>
              </p:cNvSpPr>
              <p:nvPr/>
            </p:nvSpPr>
            <p:spPr bwMode="auto">
              <a:xfrm>
                <a:off x="1927" y="1797"/>
                <a:ext cx="3765" cy="0"/>
              </a:xfrm>
              <a:prstGeom prst="line">
                <a:avLst/>
              </a:prstGeom>
              <a:noFill/>
              <a:ln w="9525">
                <a:solidFill>
                  <a:srgbClr val="CCFF66"/>
                </a:solidFill>
                <a:round/>
                <a:headEnd/>
                <a:tailEnd/>
              </a:ln>
              <a:scene3d>
                <a:camera prst="legacyObliqueTopRight"/>
                <a:lightRig rig="legacyFlat3" dir="b"/>
              </a:scene3d>
              <a:sp3d extrusionH="49200" prstMaterial="legacyMatte">
                <a:bevelT w="13500" h="13500" prst="angle"/>
                <a:bevelB w="13500" h="13500" prst="angle"/>
                <a:extrusionClr>
                  <a:srgbClr val="CCFF66"/>
                </a:extrusionClr>
                <a:contourClr>
                  <a:srgbClr val="CCFF66"/>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grpSp>
      </p:grpSp>
      <p:sp>
        <p:nvSpPr>
          <p:cNvPr id="37892" name="Rectangle 20">
            <a:extLst>
              <a:ext uri="{FF2B5EF4-FFF2-40B4-BE49-F238E27FC236}">
                <a16:creationId xmlns:a16="http://schemas.microsoft.com/office/drawing/2014/main" id="{C9D82D56-9776-0947-FCC1-2A5DE598D095}"/>
              </a:ext>
            </a:extLst>
          </p:cNvPr>
          <p:cNvSpPr>
            <a:spLocks noGrp="1" noChangeArrowheads="1"/>
          </p:cNvSpPr>
          <p:nvPr>
            <p:ph type="title"/>
          </p:nvPr>
        </p:nvSpPr>
        <p:spPr/>
        <p:txBody>
          <a:bodyPr/>
          <a:lstStyle/>
          <a:p>
            <a:r>
              <a:rPr lang="es-ES" altLang="es-ES" dirty="0"/>
              <a:t>Memoria RAM estática (SRAM)</a:t>
            </a:r>
          </a:p>
        </p:txBody>
      </p:sp>
      <p:sp>
        <p:nvSpPr>
          <p:cNvPr id="37893" name="Rectangle 21">
            <a:extLst>
              <a:ext uri="{FF2B5EF4-FFF2-40B4-BE49-F238E27FC236}">
                <a16:creationId xmlns:a16="http://schemas.microsoft.com/office/drawing/2014/main" id="{894B2116-E2D0-72D6-151D-B719D477C6BA}"/>
              </a:ext>
            </a:extLst>
          </p:cNvPr>
          <p:cNvSpPr>
            <a:spLocks noGrp="1" noChangeArrowheads="1"/>
          </p:cNvSpPr>
          <p:nvPr>
            <p:ph type="body" idx="1"/>
          </p:nvPr>
        </p:nvSpPr>
        <p:spPr>
          <a:xfrm>
            <a:off x="250825" y="1052513"/>
            <a:ext cx="8785225" cy="936625"/>
          </a:xfrm>
        </p:spPr>
        <p:txBody>
          <a:bodyPr/>
          <a:lstStyle/>
          <a:p>
            <a:r>
              <a:rPr lang="es-ES" altLang="es-ES"/>
              <a:t>SRAM de 2</a:t>
            </a:r>
            <a:r>
              <a:rPr lang="es-ES" altLang="es-ES" b="1" baseline="30000"/>
              <a:t>n</a:t>
            </a:r>
            <a:r>
              <a:rPr lang="es-ES" altLang="es-ES"/>
              <a:t> bytes = 2</a:t>
            </a:r>
            <a:r>
              <a:rPr lang="es-ES" altLang="es-ES" b="1" baseline="30000"/>
              <a:t>n</a:t>
            </a:r>
            <a:r>
              <a:rPr lang="es-ES" altLang="es-ES" b="1" baseline="30000">
                <a:cs typeface="Arial" panose="020B0604020202020204" pitchFamily="34" charset="0"/>
              </a:rPr>
              <a:t>−2</a:t>
            </a:r>
            <a:r>
              <a:rPr lang="es-ES" altLang="es-ES">
                <a:cs typeface="Arial" panose="020B0604020202020204" pitchFamily="34" charset="0"/>
              </a:rPr>
              <a:t>×32 bits</a:t>
            </a:r>
          </a:p>
          <a:p>
            <a:pPr lvl="1"/>
            <a:r>
              <a:rPr lang="es-ES" altLang="es-ES">
                <a:cs typeface="Arial" panose="020B0604020202020204" pitchFamily="34" charset="0"/>
              </a:rPr>
              <a:t>Cada byte de la palabra seleccionada se activa independientemente</a:t>
            </a:r>
          </a:p>
        </p:txBody>
      </p:sp>
      <p:sp>
        <p:nvSpPr>
          <p:cNvPr id="37894" name="Rectangle 25">
            <a:extLst>
              <a:ext uri="{FF2B5EF4-FFF2-40B4-BE49-F238E27FC236}">
                <a16:creationId xmlns:a16="http://schemas.microsoft.com/office/drawing/2014/main" id="{9539691E-4464-362F-DA2E-AC4FD073A7E1}"/>
              </a:ext>
            </a:extLst>
          </p:cNvPr>
          <p:cNvSpPr>
            <a:spLocks noChangeArrowheads="1"/>
          </p:cNvSpPr>
          <p:nvPr/>
        </p:nvSpPr>
        <p:spPr bwMode="blackWhite">
          <a:xfrm rot="10800000">
            <a:off x="1474788" y="2852738"/>
            <a:ext cx="431800" cy="1512887"/>
          </a:xfrm>
          <a:prstGeom prst="rect">
            <a:avLst/>
          </a:prstGeom>
          <a:solidFill>
            <a:srgbClr val="0066FF"/>
          </a:solidFill>
          <a:ln w="19050">
            <a:solidFill>
              <a:schemeClr val="accent1"/>
            </a:solidFill>
            <a:miter lim="800000"/>
            <a:headEnd/>
            <a:tailEnd/>
          </a:ln>
        </p:spPr>
        <p:txBody>
          <a:bodyPr vert="eaVert"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solidFill>
                  <a:srgbClr val="FFCC00"/>
                </a:solidFill>
                <a:latin typeface="Arial Narrow" panose="020B0606020202030204" pitchFamily="34" charset="0"/>
              </a:rPr>
              <a:t>desc </a:t>
            </a:r>
            <a:r>
              <a:rPr lang="es-ES" altLang="es-ES" i="1">
                <a:solidFill>
                  <a:srgbClr val="FFCC00"/>
                </a:solidFill>
                <a:latin typeface="Arial Narrow" panose="020B0606020202030204" pitchFamily="34" charset="0"/>
              </a:rPr>
              <a:t>n</a:t>
            </a:r>
            <a:r>
              <a:rPr lang="es-ES" altLang="es-ES" i="1">
                <a:solidFill>
                  <a:srgbClr val="FFCC00"/>
                </a:solidFill>
                <a:latin typeface="Arial Narrow" panose="020B0606020202030204" pitchFamily="34" charset="0"/>
                <a:cs typeface="Arial" panose="020B0604020202020204" pitchFamily="34" charset="0"/>
              </a:rPr>
              <a:t>−2</a:t>
            </a:r>
            <a:r>
              <a:rPr lang="es-ES" altLang="es-ES">
                <a:solidFill>
                  <a:srgbClr val="FFCC00"/>
                </a:solidFill>
                <a:latin typeface="Arial Narrow" panose="020B0606020202030204" pitchFamily="34" charset="0"/>
              </a:rPr>
              <a:t> a 2</a:t>
            </a:r>
            <a:r>
              <a:rPr lang="es-ES" altLang="es-ES" b="1" i="1" baseline="40000">
                <a:solidFill>
                  <a:srgbClr val="FFCC00"/>
                </a:solidFill>
                <a:latin typeface="Arial Narrow" panose="020B0606020202030204" pitchFamily="34" charset="0"/>
              </a:rPr>
              <a:t>n</a:t>
            </a:r>
            <a:r>
              <a:rPr lang="es-ES" altLang="es-ES" b="1" i="1" baseline="40000">
                <a:solidFill>
                  <a:srgbClr val="FFCC00"/>
                </a:solidFill>
                <a:latin typeface="Arial Narrow" panose="020B0606020202030204" pitchFamily="34" charset="0"/>
                <a:cs typeface="Arial" panose="020B0604020202020204" pitchFamily="34" charset="0"/>
              </a:rPr>
              <a:t>−2</a:t>
            </a:r>
          </a:p>
        </p:txBody>
      </p:sp>
      <p:sp>
        <p:nvSpPr>
          <p:cNvPr id="37895" name="Line 34">
            <a:extLst>
              <a:ext uri="{FF2B5EF4-FFF2-40B4-BE49-F238E27FC236}">
                <a16:creationId xmlns:a16="http://schemas.microsoft.com/office/drawing/2014/main" id="{3033E4A0-943C-2A98-D9D0-CCAD01BFC203}"/>
              </a:ext>
            </a:extLst>
          </p:cNvPr>
          <p:cNvSpPr>
            <a:spLocks noChangeShapeType="1"/>
          </p:cNvSpPr>
          <p:nvPr/>
        </p:nvSpPr>
        <p:spPr bwMode="auto">
          <a:xfrm>
            <a:off x="896938" y="3070225"/>
            <a:ext cx="50482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896" name="Text Box 35">
            <a:extLst>
              <a:ext uri="{FF2B5EF4-FFF2-40B4-BE49-F238E27FC236}">
                <a16:creationId xmlns:a16="http://schemas.microsoft.com/office/drawing/2014/main" id="{5B4B0869-52C6-250D-402C-96E59A30F20E}"/>
              </a:ext>
            </a:extLst>
          </p:cNvPr>
          <p:cNvSpPr txBox="1">
            <a:spLocks noChangeArrowheads="1"/>
          </p:cNvSpPr>
          <p:nvPr/>
        </p:nvSpPr>
        <p:spPr bwMode="auto">
          <a:xfrm>
            <a:off x="419100" y="39878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a</a:t>
            </a:r>
            <a:r>
              <a:rPr lang="es-ES" altLang="es-ES" b="1" baseline="-25000"/>
              <a:t>n</a:t>
            </a:r>
            <a:r>
              <a:rPr lang="es-ES" altLang="es-ES" b="1" baseline="-25000">
                <a:cs typeface="Arial" panose="020B0604020202020204" pitchFamily="34" charset="0"/>
              </a:rPr>
              <a:t>−1</a:t>
            </a:r>
          </a:p>
        </p:txBody>
      </p:sp>
      <p:sp>
        <p:nvSpPr>
          <p:cNvPr id="37897" name="Text Box 36">
            <a:extLst>
              <a:ext uri="{FF2B5EF4-FFF2-40B4-BE49-F238E27FC236}">
                <a16:creationId xmlns:a16="http://schemas.microsoft.com/office/drawing/2014/main" id="{F009CD9C-3BA0-F718-1A05-CCBAD5DABBF4}"/>
              </a:ext>
            </a:extLst>
          </p:cNvPr>
          <p:cNvSpPr txBox="1">
            <a:spLocks noChangeArrowheads="1"/>
          </p:cNvSpPr>
          <p:nvPr/>
        </p:nvSpPr>
        <p:spPr bwMode="auto">
          <a:xfrm>
            <a:off x="617538" y="2908300"/>
            <a:ext cx="2079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a</a:t>
            </a:r>
            <a:r>
              <a:rPr lang="es-ES" altLang="es-ES" b="1" baseline="-25000">
                <a:cs typeface="Arial" panose="020B0604020202020204" pitchFamily="34" charset="0"/>
              </a:rPr>
              <a:t>2</a:t>
            </a:r>
          </a:p>
        </p:txBody>
      </p:sp>
      <p:sp>
        <p:nvSpPr>
          <p:cNvPr id="37898" name="Text Box 37">
            <a:extLst>
              <a:ext uri="{FF2B5EF4-FFF2-40B4-BE49-F238E27FC236}">
                <a16:creationId xmlns:a16="http://schemas.microsoft.com/office/drawing/2014/main" id="{3A568116-6158-EDCD-8CA3-1899B499101A}"/>
              </a:ext>
            </a:extLst>
          </p:cNvPr>
          <p:cNvSpPr txBox="1">
            <a:spLocks noChangeArrowheads="1"/>
          </p:cNvSpPr>
          <p:nvPr/>
        </p:nvSpPr>
        <p:spPr bwMode="auto">
          <a:xfrm>
            <a:off x="617538" y="3213100"/>
            <a:ext cx="2079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a</a:t>
            </a:r>
            <a:r>
              <a:rPr lang="es-ES" altLang="es-ES" b="1" baseline="-25000">
                <a:cs typeface="Arial" panose="020B0604020202020204" pitchFamily="34" charset="0"/>
              </a:rPr>
              <a:t>3</a:t>
            </a:r>
          </a:p>
        </p:txBody>
      </p:sp>
      <p:sp>
        <p:nvSpPr>
          <p:cNvPr id="37899" name="Line 38">
            <a:extLst>
              <a:ext uri="{FF2B5EF4-FFF2-40B4-BE49-F238E27FC236}">
                <a16:creationId xmlns:a16="http://schemas.microsoft.com/office/drawing/2014/main" id="{A2ECEB32-3432-901F-30B0-579A90A55080}"/>
              </a:ext>
            </a:extLst>
          </p:cNvPr>
          <p:cNvSpPr>
            <a:spLocks noChangeShapeType="1"/>
          </p:cNvSpPr>
          <p:nvPr/>
        </p:nvSpPr>
        <p:spPr bwMode="auto">
          <a:xfrm>
            <a:off x="896938" y="3357563"/>
            <a:ext cx="50482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00" name="Line 39">
            <a:extLst>
              <a:ext uri="{FF2B5EF4-FFF2-40B4-BE49-F238E27FC236}">
                <a16:creationId xmlns:a16="http://schemas.microsoft.com/office/drawing/2014/main" id="{FA2FFECA-8F62-C708-2F3B-55FA86CC8A79}"/>
              </a:ext>
            </a:extLst>
          </p:cNvPr>
          <p:cNvSpPr>
            <a:spLocks noChangeShapeType="1"/>
          </p:cNvSpPr>
          <p:nvPr/>
        </p:nvSpPr>
        <p:spPr bwMode="auto">
          <a:xfrm>
            <a:off x="896938" y="4148138"/>
            <a:ext cx="50482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01" name="Text Box 40">
            <a:extLst>
              <a:ext uri="{FF2B5EF4-FFF2-40B4-BE49-F238E27FC236}">
                <a16:creationId xmlns:a16="http://schemas.microsoft.com/office/drawing/2014/main" id="{883B905E-CEC3-B809-6A2B-28489696C0F2}"/>
              </a:ext>
            </a:extLst>
          </p:cNvPr>
          <p:cNvSpPr txBox="1">
            <a:spLocks noChangeArrowheads="1"/>
          </p:cNvSpPr>
          <p:nvPr/>
        </p:nvSpPr>
        <p:spPr bwMode="auto">
          <a:xfrm>
            <a:off x="150812" y="2488406"/>
            <a:ext cx="13096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sz="2400" dirty="0">
                <a:latin typeface="Arial Narrow" panose="020B0606020202030204" pitchFamily="34" charset="0"/>
              </a:rPr>
              <a:t>Direcciones</a:t>
            </a:r>
          </a:p>
        </p:txBody>
      </p:sp>
      <p:sp>
        <p:nvSpPr>
          <p:cNvPr id="37902" name="Line 41">
            <a:extLst>
              <a:ext uri="{FF2B5EF4-FFF2-40B4-BE49-F238E27FC236}">
                <a16:creationId xmlns:a16="http://schemas.microsoft.com/office/drawing/2014/main" id="{0FF02C89-9801-E74F-C7BD-24939BB075BB}"/>
              </a:ext>
            </a:extLst>
          </p:cNvPr>
          <p:cNvSpPr>
            <a:spLocks noChangeShapeType="1"/>
          </p:cNvSpPr>
          <p:nvPr/>
        </p:nvSpPr>
        <p:spPr bwMode="auto">
          <a:xfrm>
            <a:off x="1112838" y="3644900"/>
            <a:ext cx="0" cy="287338"/>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03" name="Line 42">
            <a:extLst>
              <a:ext uri="{FF2B5EF4-FFF2-40B4-BE49-F238E27FC236}">
                <a16:creationId xmlns:a16="http://schemas.microsoft.com/office/drawing/2014/main" id="{355639ED-7684-C5DE-F3E3-F07EBE71EE86}"/>
              </a:ext>
            </a:extLst>
          </p:cNvPr>
          <p:cNvSpPr>
            <a:spLocks noChangeShapeType="1"/>
          </p:cNvSpPr>
          <p:nvPr/>
        </p:nvSpPr>
        <p:spPr bwMode="auto">
          <a:xfrm>
            <a:off x="2195513" y="3573463"/>
            <a:ext cx="0" cy="287337"/>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04" name="Freeform 43">
            <a:extLst>
              <a:ext uri="{FF2B5EF4-FFF2-40B4-BE49-F238E27FC236}">
                <a16:creationId xmlns:a16="http://schemas.microsoft.com/office/drawing/2014/main" id="{CA3F27DE-7B6A-B6F4-44D7-65B2A87DE020}"/>
              </a:ext>
            </a:extLst>
          </p:cNvPr>
          <p:cNvSpPr>
            <a:spLocks/>
          </p:cNvSpPr>
          <p:nvPr/>
        </p:nvSpPr>
        <p:spPr bwMode="auto">
          <a:xfrm>
            <a:off x="1116013" y="4437063"/>
            <a:ext cx="574675" cy="720725"/>
          </a:xfrm>
          <a:custGeom>
            <a:avLst/>
            <a:gdLst>
              <a:gd name="T0" fmla="*/ 0 w 226"/>
              <a:gd name="T1" fmla="*/ 2147483647 h 317"/>
              <a:gd name="T2" fmla="*/ 2147483647 w 226"/>
              <a:gd name="T3" fmla="*/ 2147483647 h 317"/>
              <a:gd name="T4" fmla="*/ 2147483647 w 226"/>
              <a:gd name="T5" fmla="*/ 0 h 317"/>
              <a:gd name="T6" fmla="*/ 0 60000 65536"/>
              <a:gd name="T7" fmla="*/ 0 60000 65536"/>
              <a:gd name="T8" fmla="*/ 0 60000 65536"/>
              <a:gd name="T9" fmla="*/ 0 w 226"/>
              <a:gd name="T10" fmla="*/ 0 h 317"/>
              <a:gd name="T11" fmla="*/ 226 w 226"/>
              <a:gd name="T12" fmla="*/ 317 h 317"/>
            </a:gdLst>
            <a:ahLst/>
            <a:cxnLst>
              <a:cxn ang="T6">
                <a:pos x="T0" y="T1"/>
              </a:cxn>
              <a:cxn ang="T7">
                <a:pos x="T2" y="T3"/>
              </a:cxn>
              <a:cxn ang="T8">
                <a:pos x="T4" y="T5"/>
              </a:cxn>
            </a:cxnLst>
            <a:rect l="T9" t="T10" r="T11" b="T12"/>
            <a:pathLst>
              <a:path w="226" h="317">
                <a:moveTo>
                  <a:pt x="0" y="317"/>
                </a:moveTo>
                <a:lnTo>
                  <a:pt x="226" y="317"/>
                </a:lnTo>
                <a:lnTo>
                  <a:pt x="226"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grpSp>
        <p:nvGrpSpPr>
          <p:cNvPr id="37905" name="Group 144">
            <a:extLst>
              <a:ext uri="{FF2B5EF4-FFF2-40B4-BE49-F238E27FC236}">
                <a16:creationId xmlns:a16="http://schemas.microsoft.com/office/drawing/2014/main" id="{E4A8ECAC-2DE4-01C2-613C-9F6F457B1594}"/>
              </a:ext>
            </a:extLst>
          </p:cNvPr>
          <p:cNvGrpSpPr>
            <a:grpSpLocks/>
          </p:cNvGrpSpPr>
          <p:nvPr/>
        </p:nvGrpSpPr>
        <p:grpSpPr bwMode="auto">
          <a:xfrm>
            <a:off x="2916238" y="2492375"/>
            <a:ext cx="1223962" cy="3529013"/>
            <a:chOff x="1973" y="1570"/>
            <a:chExt cx="771" cy="2223"/>
          </a:xfrm>
        </p:grpSpPr>
        <p:grpSp>
          <p:nvGrpSpPr>
            <p:cNvPr id="38016" name="Group 11">
              <a:extLst>
                <a:ext uri="{FF2B5EF4-FFF2-40B4-BE49-F238E27FC236}">
                  <a16:creationId xmlns:a16="http://schemas.microsoft.com/office/drawing/2014/main" id="{93F97956-E8A2-A08D-8724-56BAC685283F}"/>
                </a:ext>
              </a:extLst>
            </p:cNvPr>
            <p:cNvGrpSpPr>
              <a:grpSpLocks/>
            </p:cNvGrpSpPr>
            <p:nvPr/>
          </p:nvGrpSpPr>
          <p:grpSpPr bwMode="auto">
            <a:xfrm>
              <a:off x="2094" y="1570"/>
              <a:ext cx="505" cy="1588"/>
              <a:chOff x="2109" y="1752"/>
              <a:chExt cx="952" cy="1361"/>
            </a:xfrm>
          </p:grpSpPr>
          <p:sp>
            <p:nvSpPr>
              <p:cNvPr id="38032" name="Line 12">
                <a:extLst>
                  <a:ext uri="{FF2B5EF4-FFF2-40B4-BE49-F238E27FC236}">
                    <a16:creationId xmlns:a16="http://schemas.microsoft.com/office/drawing/2014/main" id="{4694623B-6689-53D3-7FA0-ADDD730C3F93}"/>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3" name="Line 13">
                <a:extLst>
                  <a:ext uri="{FF2B5EF4-FFF2-40B4-BE49-F238E27FC236}">
                    <a16:creationId xmlns:a16="http://schemas.microsoft.com/office/drawing/2014/main" id="{ECBE50A5-D2CA-4F0F-4CEC-D4BFEFCE2B4D}"/>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4" name="Line 14">
                <a:extLst>
                  <a:ext uri="{FF2B5EF4-FFF2-40B4-BE49-F238E27FC236}">
                    <a16:creationId xmlns:a16="http://schemas.microsoft.com/office/drawing/2014/main" id="{12B2E6E6-B52A-A449-2BA9-E057CA8D42D6}"/>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5" name="Line 15">
                <a:extLst>
                  <a:ext uri="{FF2B5EF4-FFF2-40B4-BE49-F238E27FC236}">
                    <a16:creationId xmlns:a16="http://schemas.microsoft.com/office/drawing/2014/main" id="{DBB10E9E-FB4C-58C4-B20E-7C1BB77BDA51}"/>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6" name="Line 16">
                <a:extLst>
                  <a:ext uri="{FF2B5EF4-FFF2-40B4-BE49-F238E27FC236}">
                    <a16:creationId xmlns:a16="http://schemas.microsoft.com/office/drawing/2014/main" id="{ED6209F0-81C4-D2F7-7F1B-053F269219B4}"/>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7" name="Line 17">
                <a:extLst>
                  <a:ext uri="{FF2B5EF4-FFF2-40B4-BE49-F238E27FC236}">
                    <a16:creationId xmlns:a16="http://schemas.microsoft.com/office/drawing/2014/main" id="{B9312567-C2D3-4650-A5AA-A2CD919573A8}"/>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8" name="Line 18">
                <a:extLst>
                  <a:ext uri="{FF2B5EF4-FFF2-40B4-BE49-F238E27FC236}">
                    <a16:creationId xmlns:a16="http://schemas.microsoft.com/office/drawing/2014/main" id="{41E2D5F6-DD3D-BE6C-6FCC-6295A4A800C7}"/>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39" name="Line 19">
                <a:extLst>
                  <a:ext uri="{FF2B5EF4-FFF2-40B4-BE49-F238E27FC236}">
                    <a16:creationId xmlns:a16="http://schemas.microsoft.com/office/drawing/2014/main" id="{6B6F0490-7CF4-5829-7A01-EB56DABF79EC}"/>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grpSp>
        <p:grpSp>
          <p:nvGrpSpPr>
            <p:cNvPr id="38017" name="Group 55">
              <a:extLst>
                <a:ext uri="{FF2B5EF4-FFF2-40B4-BE49-F238E27FC236}">
                  <a16:creationId xmlns:a16="http://schemas.microsoft.com/office/drawing/2014/main" id="{AF415C31-8D73-EFCC-433A-69EC1DD9354E}"/>
                </a:ext>
              </a:extLst>
            </p:cNvPr>
            <p:cNvGrpSpPr>
              <a:grpSpLocks/>
            </p:cNvGrpSpPr>
            <p:nvPr/>
          </p:nvGrpSpPr>
          <p:grpSpPr bwMode="auto">
            <a:xfrm>
              <a:off x="1973" y="1661"/>
              <a:ext cx="771" cy="1315"/>
              <a:chOff x="1973" y="1661"/>
              <a:chExt cx="1451" cy="1315"/>
            </a:xfrm>
          </p:grpSpPr>
          <p:sp>
            <p:nvSpPr>
              <p:cNvPr id="38028" name="Rectangle 22">
                <a:extLst>
                  <a:ext uri="{FF2B5EF4-FFF2-40B4-BE49-F238E27FC236}">
                    <a16:creationId xmlns:a16="http://schemas.microsoft.com/office/drawing/2014/main" id="{75808A03-74AA-78EA-E033-97C879EAE9E8}"/>
                  </a:ext>
                </a:extLst>
              </p:cNvPr>
              <p:cNvSpPr>
                <a:spLocks noChangeArrowheads="1"/>
              </p:cNvSpPr>
              <p:nvPr/>
            </p:nvSpPr>
            <p:spPr bwMode="blackWhite">
              <a:xfrm>
                <a:off x="1973" y="1661"/>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a:endParaRPr lang="es-ES" altLang="es-ES"/>
              </a:p>
            </p:txBody>
          </p:sp>
          <p:sp>
            <p:nvSpPr>
              <p:cNvPr id="38029" name="Rectangle 26">
                <a:extLst>
                  <a:ext uri="{FF2B5EF4-FFF2-40B4-BE49-F238E27FC236}">
                    <a16:creationId xmlns:a16="http://schemas.microsoft.com/office/drawing/2014/main" id="{C5546716-C12B-5120-F566-AAB595462970}"/>
                  </a:ext>
                </a:extLst>
              </p:cNvPr>
              <p:cNvSpPr>
                <a:spLocks noChangeArrowheads="1"/>
              </p:cNvSpPr>
              <p:nvPr/>
            </p:nvSpPr>
            <p:spPr bwMode="blackWhite">
              <a:xfrm>
                <a:off x="1973" y="1933"/>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8030" name="Rectangle 27">
                <a:extLst>
                  <a:ext uri="{FF2B5EF4-FFF2-40B4-BE49-F238E27FC236}">
                    <a16:creationId xmlns:a16="http://schemas.microsoft.com/office/drawing/2014/main" id="{BCCAF3AD-92DC-18A8-0B6A-B392CFA39135}"/>
                  </a:ext>
                </a:extLst>
              </p:cNvPr>
              <p:cNvSpPr>
                <a:spLocks noChangeArrowheads="1"/>
              </p:cNvSpPr>
              <p:nvPr/>
            </p:nvSpPr>
            <p:spPr bwMode="blackWhite">
              <a:xfrm>
                <a:off x="1973" y="220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8031" name="Rectangle 29">
                <a:extLst>
                  <a:ext uri="{FF2B5EF4-FFF2-40B4-BE49-F238E27FC236}">
                    <a16:creationId xmlns:a16="http://schemas.microsoft.com/office/drawing/2014/main" id="{ABA8E89D-73DF-7A6C-E53C-EEE49F92EDCA}"/>
                  </a:ext>
                </a:extLst>
              </p:cNvPr>
              <p:cNvSpPr>
                <a:spLocks noChangeArrowheads="1"/>
              </p:cNvSpPr>
              <p:nvPr/>
            </p:nvSpPr>
            <p:spPr bwMode="blackWhite">
              <a:xfrm>
                <a:off x="1973" y="279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grpSp>
        <p:grpSp>
          <p:nvGrpSpPr>
            <p:cNvPr id="38018" name="Group 2">
              <a:extLst>
                <a:ext uri="{FF2B5EF4-FFF2-40B4-BE49-F238E27FC236}">
                  <a16:creationId xmlns:a16="http://schemas.microsoft.com/office/drawing/2014/main" id="{883C3504-A358-4B20-CEF2-22153A299FFF}"/>
                </a:ext>
              </a:extLst>
            </p:cNvPr>
            <p:cNvGrpSpPr>
              <a:grpSpLocks/>
            </p:cNvGrpSpPr>
            <p:nvPr/>
          </p:nvGrpSpPr>
          <p:grpSpPr bwMode="auto">
            <a:xfrm>
              <a:off x="2094" y="3521"/>
              <a:ext cx="505" cy="272"/>
              <a:chOff x="2109" y="1752"/>
              <a:chExt cx="952" cy="1361"/>
            </a:xfrm>
          </p:grpSpPr>
          <p:sp>
            <p:nvSpPr>
              <p:cNvPr id="38020" name="Line 3">
                <a:extLst>
                  <a:ext uri="{FF2B5EF4-FFF2-40B4-BE49-F238E27FC236}">
                    <a16:creationId xmlns:a16="http://schemas.microsoft.com/office/drawing/2014/main" id="{0A9F83CB-65A1-0AD1-B845-6EC34268C423}"/>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1" name="Line 4">
                <a:extLst>
                  <a:ext uri="{FF2B5EF4-FFF2-40B4-BE49-F238E27FC236}">
                    <a16:creationId xmlns:a16="http://schemas.microsoft.com/office/drawing/2014/main" id="{C9FF14AF-AAAC-A27C-1143-12D612975B5A}"/>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2" name="Line 5">
                <a:extLst>
                  <a:ext uri="{FF2B5EF4-FFF2-40B4-BE49-F238E27FC236}">
                    <a16:creationId xmlns:a16="http://schemas.microsoft.com/office/drawing/2014/main" id="{37EF75B4-7D49-F2FF-A865-E5E66D4EB2F2}"/>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3" name="Line 6">
                <a:extLst>
                  <a:ext uri="{FF2B5EF4-FFF2-40B4-BE49-F238E27FC236}">
                    <a16:creationId xmlns:a16="http://schemas.microsoft.com/office/drawing/2014/main" id="{6630DB3A-332D-8917-362C-EAED42BA0A6C}"/>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4" name="Line 7">
                <a:extLst>
                  <a:ext uri="{FF2B5EF4-FFF2-40B4-BE49-F238E27FC236}">
                    <a16:creationId xmlns:a16="http://schemas.microsoft.com/office/drawing/2014/main" id="{487DB20C-019F-6DD2-C3B0-333C2A4D1D55}"/>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5" name="Line 8">
                <a:extLst>
                  <a:ext uri="{FF2B5EF4-FFF2-40B4-BE49-F238E27FC236}">
                    <a16:creationId xmlns:a16="http://schemas.microsoft.com/office/drawing/2014/main" id="{1C4643EA-A792-02D0-B185-7C4E9F3AF32C}"/>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6" name="Line 9">
                <a:extLst>
                  <a:ext uri="{FF2B5EF4-FFF2-40B4-BE49-F238E27FC236}">
                    <a16:creationId xmlns:a16="http://schemas.microsoft.com/office/drawing/2014/main" id="{F99CEA94-0B95-BDB0-0A2A-27D3B3286E9F}"/>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27" name="Line 10">
                <a:extLst>
                  <a:ext uri="{FF2B5EF4-FFF2-40B4-BE49-F238E27FC236}">
                    <a16:creationId xmlns:a16="http://schemas.microsoft.com/office/drawing/2014/main" id="{E7E08EAA-EBE3-9D38-AB19-8A220C70AF35}"/>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grpSp>
        <p:sp>
          <p:nvSpPr>
            <p:cNvPr id="38019" name="Rectangle 48">
              <a:extLst>
                <a:ext uri="{FF2B5EF4-FFF2-40B4-BE49-F238E27FC236}">
                  <a16:creationId xmlns:a16="http://schemas.microsoft.com/office/drawing/2014/main" id="{EC843F0F-A7F4-8F83-A9D6-7EED88B41151}"/>
                </a:ext>
              </a:extLst>
            </p:cNvPr>
            <p:cNvSpPr>
              <a:spLocks noChangeArrowheads="1"/>
            </p:cNvSpPr>
            <p:nvPr/>
          </p:nvSpPr>
          <p:spPr bwMode="blackWhite">
            <a:xfrm>
              <a:off x="1973" y="3203"/>
              <a:ext cx="771" cy="272"/>
            </a:xfrm>
            <a:prstGeom prst="rect">
              <a:avLst/>
            </a:prstGeom>
            <a:solidFill>
              <a:srgbClr val="0066FF"/>
            </a:solidFill>
            <a:ln w="9525">
              <a:miter lim="800000"/>
              <a:headEnd/>
              <a:tailEnd/>
            </a:ln>
            <a:scene3d>
              <a:camera prst="legacyObliqueTopRight"/>
              <a:lightRig rig="legacyFlat3" dir="b"/>
            </a:scene3d>
            <a:sp3d extrusionH="49200" prstMaterial="legacyMetal">
              <a:bevelT w="13500" h="13500" prst="angle"/>
              <a:bevelB w="13500" h="13500" prst="angle"/>
              <a:extrusionClr>
                <a:srgbClr val="0066FF"/>
              </a:extrusionClr>
              <a:contourClr>
                <a:srgbClr val="0066FF"/>
              </a:contourClr>
            </a:sp3d>
          </p:spPr>
          <p:txBody>
            <a:bodyPr wrap="none" lIns="0" tIns="0" rIns="0" bIns="0" anchor="ctr">
              <a:flatTx/>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transductores</a:t>
              </a:r>
            </a:p>
          </p:txBody>
        </p:sp>
      </p:grpSp>
      <p:sp>
        <p:nvSpPr>
          <p:cNvPr id="37906" name="Text Box 49">
            <a:extLst>
              <a:ext uri="{FF2B5EF4-FFF2-40B4-BE49-F238E27FC236}">
                <a16:creationId xmlns:a16="http://schemas.microsoft.com/office/drawing/2014/main" id="{AAA7CF22-948E-918A-F0D3-0038AB2641BE}"/>
              </a:ext>
            </a:extLst>
          </p:cNvPr>
          <p:cNvSpPr txBox="1">
            <a:spLocks noChangeArrowheads="1"/>
          </p:cNvSpPr>
          <p:nvPr/>
        </p:nvSpPr>
        <p:spPr bwMode="auto">
          <a:xfrm>
            <a:off x="3067050" y="6076950"/>
            <a:ext cx="909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b</a:t>
            </a:r>
            <a:r>
              <a:rPr lang="es-ES" altLang="es-ES" b="1" baseline="-25000"/>
              <a:t>3</a:t>
            </a:r>
            <a:r>
              <a:rPr lang="es-ES" altLang="es-ES" b="1" baseline="-25000">
                <a:cs typeface="Arial" panose="020B0604020202020204" pitchFamily="34" charset="0"/>
              </a:rPr>
              <a:t>1 </a:t>
            </a:r>
            <a:r>
              <a:rPr lang="es-ES" altLang="es-ES" b="1">
                <a:latin typeface="Arial Narrow" panose="020B0606020202030204" pitchFamily="34" charset="0"/>
                <a:cs typeface="Arial" panose="020B0604020202020204" pitchFamily="34" charset="0"/>
              </a:rPr>
              <a:t>...</a:t>
            </a:r>
            <a:r>
              <a:rPr lang="es-ES" altLang="es-ES" b="1">
                <a:cs typeface="Arial" panose="020B0604020202020204" pitchFamily="34" charset="0"/>
              </a:rPr>
              <a:t> </a:t>
            </a:r>
            <a:r>
              <a:rPr lang="es-ES" altLang="es-ES" b="1">
                <a:latin typeface="Arial Narrow" panose="020B0606020202030204" pitchFamily="34" charset="0"/>
              </a:rPr>
              <a:t>b</a:t>
            </a:r>
            <a:r>
              <a:rPr lang="es-ES" altLang="es-ES" b="1" baseline="-25000">
                <a:cs typeface="Arial" panose="020B0604020202020204" pitchFamily="34" charset="0"/>
              </a:rPr>
              <a:t>24</a:t>
            </a:r>
          </a:p>
        </p:txBody>
      </p:sp>
      <p:grpSp>
        <p:nvGrpSpPr>
          <p:cNvPr id="37907" name="Group 175">
            <a:extLst>
              <a:ext uri="{FF2B5EF4-FFF2-40B4-BE49-F238E27FC236}">
                <a16:creationId xmlns:a16="http://schemas.microsoft.com/office/drawing/2014/main" id="{1BC8839D-E7F1-D5E0-DFF9-4567C90452F3}"/>
              </a:ext>
            </a:extLst>
          </p:cNvPr>
          <p:cNvGrpSpPr>
            <a:grpSpLocks/>
          </p:cNvGrpSpPr>
          <p:nvPr/>
        </p:nvGrpSpPr>
        <p:grpSpPr bwMode="auto">
          <a:xfrm>
            <a:off x="122238" y="4652963"/>
            <a:ext cx="904875" cy="609600"/>
            <a:chOff x="77" y="3067"/>
            <a:chExt cx="570" cy="384"/>
          </a:xfrm>
        </p:grpSpPr>
        <p:sp>
          <p:nvSpPr>
            <p:cNvPr id="38014" name="Text Box 53">
              <a:extLst>
                <a:ext uri="{FF2B5EF4-FFF2-40B4-BE49-F238E27FC236}">
                  <a16:creationId xmlns:a16="http://schemas.microsoft.com/office/drawing/2014/main" id="{D0BFD6BC-F0C9-6AB3-F271-EE033A1D63CF}"/>
                </a:ext>
              </a:extLst>
            </p:cNvPr>
            <p:cNvSpPr txBox="1">
              <a:spLocks noChangeArrowheads="1"/>
            </p:cNvSpPr>
            <p:nvPr/>
          </p:nvSpPr>
          <p:spPr bwMode="auto">
            <a:xfrm>
              <a:off x="77" y="3067"/>
              <a:ext cx="5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Selección</a:t>
              </a:r>
              <a:br>
                <a:rPr lang="es-ES" altLang="es-ES"/>
              </a:br>
              <a:r>
                <a:rPr lang="es-ES" altLang="es-ES"/>
                <a:t>(</a:t>
              </a:r>
              <a:r>
                <a:rPr lang="es-ES" altLang="es-ES" b="1"/>
                <a:t>CS</a:t>
              </a:r>
              <a:r>
                <a:rPr lang="es-ES" altLang="es-ES"/>
                <a:t>)</a:t>
              </a:r>
            </a:p>
          </p:txBody>
        </p:sp>
        <p:sp>
          <p:nvSpPr>
            <p:cNvPr id="38015" name="Line 54">
              <a:extLst>
                <a:ext uri="{FF2B5EF4-FFF2-40B4-BE49-F238E27FC236}">
                  <a16:creationId xmlns:a16="http://schemas.microsoft.com/office/drawing/2014/main" id="{97D36EDD-1368-CD1E-8BF5-A4E3666A6E8B}"/>
                </a:ext>
              </a:extLst>
            </p:cNvPr>
            <p:cNvSpPr>
              <a:spLocks noChangeShapeType="1"/>
            </p:cNvSpPr>
            <p:nvPr/>
          </p:nvSpPr>
          <p:spPr bwMode="auto">
            <a:xfrm>
              <a:off x="266" y="3268"/>
              <a:ext cx="20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grpSp>
      <p:grpSp>
        <p:nvGrpSpPr>
          <p:cNvPr id="37908" name="Group 143">
            <a:extLst>
              <a:ext uri="{FF2B5EF4-FFF2-40B4-BE49-F238E27FC236}">
                <a16:creationId xmlns:a16="http://schemas.microsoft.com/office/drawing/2014/main" id="{CB441C5F-DEE6-FFF9-2E28-9CBFB44691F9}"/>
              </a:ext>
            </a:extLst>
          </p:cNvPr>
          <p:cNvGrpSpPr>
            <a:grpSpLocks/>
          </p:cNvGrpSpPr>
          <p:nvPr/>
        </p:nvGrpSpPr>
        <p:grpSpPr bwMode="auto">
          <a:xfrm>
            <a:off x="4500563" y="2492375"/>
            <a:ext cx="1223962" cy="3529013"/>
            <a:chOff x="2835" y="1570"/>
            <a:chExt cx="771" cy="2223"/>
          </a:xfrm>
        </p:grpSpPr>
        <p:grpSp>
          <p:nvGrpSpPr>
            <p:cNvPr id="37990" name="Group 62">
              <a:extLst>
                <a:ext uri="{FF2B5EF4-FFF2-40B4-BE49-F238E27FC236}">
                  <a16:creationId xmlns:a16="http://schemas.microsoft.com/office/drawing/2014/main" id="{4D9AB5F4-B7FC-1645-B98E-A8CC2750A2EF}"/>
                </a:ext>
              </a:extLst>
            </p:cNvPr>
            <p:cNvGrpSpPr>
              <a:grpSpLocks/>
            </p:cNvGrpSpPr>
            <p:nvPr/>
          </p:nvGrpSpPr>
          <p:grpSpPr bwMode="auto">
            <a:xfrm>
              <a:off x="2956" y="1570"/>
              <a:ext cx="505" cy="1588"/>
              <a:chOff x="2109" y="1752"/>
              <a:chExt cx="952" cy="1361"/>
            </a:xfrm>
          </p:grpSpPr>
          <p:sp>
            <p:nvSpPr>
              <p:cNvPr id="38006" name="Line 63">
                <a:extLst>
                  <a:ext uri="{FF2B5EF4-FFF2-40B4-BE49-F238E27FC236}">
                    <a16:creationId xmlns:a16="http://schemas.microsoft.com/office/drawing/2014/main" id="{E507545F-04D6-9A94-D73E-63E54AF3D300}"/>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07" name="Line 64">
                <a:extLst>
                  <a:ext uri="{FF2B5EF4-FFF2-40B4-BE49-F238E27FC236}">
                    <a16:creationId xmlns:a16="http://schemas.microsoft.com/office/drawing/2014/main" id="{7E39D4FE-BDD6-8630-6A59-C71612E844B9}"/>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08" name="Line 65">
                <a:extLst>
                  <a:ext uri="{FF2B5EF4-FFF2-40B4-BE49-F238E27FC236}">
                    <a16:creationId xmlns:a16="http://schemas.microsoft.com/office/drawing/2014/main" id="{1E65D1F3-1734-41E4-8CD6-2C6946109B34}"/>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09" name="Line 66">
                <a:extLst>
                  <a:ext uri="{FF2B5EF4-FFF2-40B4-BE49-F238E27FC236}">
                    <a16:creationId xmlns:a16="http://schemas.microsoft.com/office/drawing/2014/main" id="{19B8A903-DA5A-E5E3-A2EA-6B2E15670D73}"/>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10" name="Line 67">
                <a:extLst>
                  <a:ext uri="{FF2B5EF4-FFF2-40B4-BE49-F238E27FC236}">
                    <a16:creationId xmlns:a16="http://schemas.microsoft.com/office/drawing/2014/main" id="{69B7E619-71FE-7119-0FB1-55C11918EB7C}"/>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11" name="Line 68">
                <a:extLst>
                  <a:ext uri="{FF2B5EF4-FFF2-40B4-BE49-F238E27FC236}">
                    <a16:creationId xmlns:a16="http://schemas.microsoft.com/office/drawing/2014/main" id="{DBA9FB81-2AAF-F6FE-6BF0-5F526825A3A6}"/>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12" name="Line 69">
                <a:extLst>
                  <a:ext uri="{FF2B5EF4-FFF2-40B4-BE49-F238E27FC236}">
                    <a16:creationId xmlns:a16="http://schemas.microsoft.com/office/drawing/2014/main" id="{19BBB207-2808-C667-E0FE-AB48E96FD55F}"/>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8013" name="Line 70">
                <a:extLst>
                  <a:ext uri="{FF2B5EF4-FFF2-40B4-BE49-F238E27FC236}">
                    <a16:creationId xmlns:a16="http://schemas.microsoft.com/office/drawing/2014/main" id="{1B69A303-296F-120C-7E58-75CD54403DDB}"/>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grpSp>
        <p:grpSp>
          <p:nvGrpSpPr>
            <p:cNvPr id="37991" name="Group 71">
              <a:extLst>
                <a:ext uri="{FF2B5EF4-FFF2-40B4-BE49-F238E27FC236}">
                  <a16:creationId xmlns:a16="http://schemas.microsoft.com/office/drawing/2014/main" id="{1783DFDD-78CB-83DC-1B70-B80787B7F7D0}"/>
                </a:ext>
              </a:extLst>
            </p:cNvPr>
            <p:cNvGrpSpPr>
              <a:grpSpLocks/>
            </p:cNvGrpSpPr>
            <p:nvPr/>
          </p:nvGrpSpPr>
          <p:grpSpPr bwMode="auto">
            <a:xfrm>
              <a:off x="2835" y="1661"/>
              <a:ext cx="771" cy="1315"/>
              <a:chOff x="1973" y="1661"/>
              <a:chExt cx="1451" cy="1315"/>
            </a:xfrm>
          </p:grpSpPr>
          <p:sp>
            <p:nvSpPr>
              <p:cNvPr id="38002" name="Rectangle 72">
                <a:extLst>
                  <a:ext uri="{FF2B5EF4-FFF2-40B4-BE49-F238E27FC236}">
                    <a16:creationId xmlns:a16="http://schemas.microsoft.com/office/drawing/2014/main" id="{C9A68687-30D5-3814-52A4-20BA1AD24833}"/>
                  </a:ext>
                </a:extLst>
              </p:cNvPr>
              <p:cNvSpPr>
                <a:spLocks noChangeArrowheads="1"/>
              </p:cNvSpPr>
              <p:nvPr/>
            </p:nvSpPr>
            <p:spPr bwMode="blackWhite">
              <a:xfrm>
                <a:off x="1973" y="1661"/>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a:endParaRPr lang="es-ES" altLang="es-ES"/>
              </a:p>
            </p:txBody>
          </p:sp>
          <p:sp>
            <p:nvSpPr>
              <p:cNvPr id="38003" name="Rectangle 73">
                <a:extLst>
                  <a:ext uri="{FF2B5EF4-FFF2-40B4-BE49-F238E27FC236}">
                    <a16:creationId xmlns:a16="http://schemas.microsoft.com/office/drawing/2014/main" id="{A8AF185D-B3DD-1684-6F5A-822935F19618}"/>
                  </a:ext>
                </a:extLst>
              </p:cNvPr>
              <p:cNvSpPr>
                <a:spLocks noChangeArrowheads="1"/>
              </p:cNvSpPr>
              <p:nvPr/>
            </p:nvSpPr>
            <p:spPr bwMode="blackWhite">
              <a:xfrm>
                <a:off x="1973" y="1933"/>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8004" name="Rectangle 74">
                <a:extLst>
                  <a:ext uri="{FF2B5EF4-FFF2-40B4-BE49-F238E27FC236}">
                    <a16:creationId xmlns:a16="http://schemas.microsoft.com/office/drawing/2014/main" id="{82CF6035-73FC-A71C-6B73-15F06B8A1568}"/>
                  </a:ext>
                </a:extLst>
              </p:cNvPr>
              <p:cNvSpPr>
                <a:spLocks noChangeArrowheads="1"/>
              </p:cNvSpPr>
              <p:nvPr/>
            </p:nvSpPr>
            <p:spPr bwMode="blackWhite">
              <a:xfrm>
                <a:off x="1973" y="220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8005" name="Rectangle 75">
                <a:extLst>
                  <a:ext uri="{FF2B5EF4-FFF2-40B4-BE49-F238E27FC236}">
                    <a16:creationId xmlns:a16="http://schemas.microsoft.com/office/drawing/2014/main" id="{7D9AF4E5-D904-5F4D-7107-C63E1B75B438}"/>
                  </a:ext>
                </a:extLst>
              </p:cNvPr>
              <p:cNvSpPr>
                <a:spLocks noChangeArrowheads="1"/>
              </p:cNvSpPr>
              <p:nvPr/>
            </p:nvSpPr>
            <p:spPr bwMode="blackWhite">
              <a:xfrm>
                <a:off x="1973" y="279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grpSp>
        <p:grpSp>
          <p:nvGrpSpPr>
            <p:cNvPr id="37992" name="Group 76">
              <a:extLst>
                <a:ext uri="{FF2B5EF4-FFF2-40B4-BE49-F238E27FC236}">
                  <a16:creationId xmlns:a16="http://schemas.microsoft.com/office/drawing/2014/main" id="{DEF8AA98-137A-AC57-B37D-595075E70C11}"/>
                </a:ext>
              </a:extLst>
            </p:cNvPr>
            <p:cNvGrpSpPr>
              <a:grpSpLocks/>
            </p:cNvGrpSpPr>
            <p:nvPr/>
          </p:nvGrpSpPr>
          <p:grpSpPr bwMode="auto">
            <a:xfrm>
              <a:off x="2956" y="3521"/>
              <a:ext cx="505" cy="272"/>
              <a:chOff x="2109" y="1752"/>
              <a:chExt cx="952" cy="1361"/>
            </a:xfrm>
          </p:grpSpPr>
          <p:sp>
            <p:nvSpPr>
              <p:cNvPr id="37994" name="Line 77">
                <a:extLst>
                  <a:ext uri="{FF2B5EF4-FFF2-40B4-BE49-F238E27FC236}">
                    <a16:creationId xmlns:a16="http://schemas.microsoft.com/office/drawing/2014/main" id="{8E80E682-5E9D-77C6-922E-A681F7C78AEA}"/>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95" name="Line 78">
                <a:extLst>
                  <a:ext uri="{FF2B5EF4-FFF2-40B4-BE49-F238E27FC236}">
                    <a16:creationId xmlns:a16="http://schemas.microsoft.com/office/drawing/2014/main" id="{BC8DA81A-983F-D55E-F1AD-3682496CB306}"/>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96" name="Line 79">
                <a:extLst>
                  <a:ext uri="{FF2B5EF4-FFF2-40B4-BE49-F238E27FC236}">
                    <a16:creationId xmlns:a16="http://schemas.microsoft.com/office/drawing/2014/main" id="{CF60C894-65BB-728E-60C2-CD0AE018A097}"/>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97" name="Line 80">
                <a:extLst>
                  <a:ext uri="{FF2B5EF4-FFF2-40B4-BE49-F238E27FC236}">
                    <a16:creationId xmlns:a16="http://schemas.microsoft.com/office/drawing/2014/main" id="{65DBF668-F08E-841F-FC6F-2234B3EFF717}"/>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98" name="Line 81">
                <a:extLst>
                  <a:ext uri="{FF2B5EF4-FFF2-40B4-BE49-F238E27FC236}">
                    <a16:creationId xmlns:a16="http://schemas.microsoft.com/office/drawing/2014/main" id="{49810ECB-2246-008B-F0DA-4AE03ABB6285}"/>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99" name="Line 82">
                <a:extLst>
                  <a:ext uri="{FF2B5EF4-FFF2-40B4-BE49-F238E27FC236}">
                    <a16:creationId xmlns:a16="http://schemas.microsoft.com/office/drawing/2014/main" id="{C8D9CA4B-23B3-23C9-CAE4-0904E6694E54}"/>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00" name="Line 83">
                <a:extLst>
                  <a:ext uri="{FF2B5EF4-FFF2-40B4-BE49-F238E27FC236}">
                    <a16:creationId xmlns:a16="http://schemas.microsoft.com/office/drawing/2014/main" id="{93A3886C-975C-3707-708C-23697361EC5D}"/>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8001" name="Line 84">
                <a:extLst>
                  <a:ext uri="{FF2B5EF4-FFF2-40B4-BE49-F238E27FC236}">
                    <a16:creationId xmlns:a16="http://schemas.microsoft.com/office/drawing/2014/main" id="{81A887E8-B253-DBD1-C5B6-36F28EE56DF1}"/>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grpSp>
        <p:sp>
          <p:nvSpPr>
            <p:cNvPr id="37993" name="Rectangle 85">
              <a:extLst>
                <a:ext uri="{FF2B5EF4-FFF2-40B4-BE49-F238E27FC236}">
                  <a16:creationId xmlns:a16="http://schemas.microsoft.com/office/drawing/2014/main" id="{8F955B43-DD05-E0B1-F39B-5F81C59CD8E9}"/>
                </a:ext>
              </a:extLst>
            </p:cNvPr>
            <p:cNvSpPr>
              <a:spLocks noChangeArrowheads="1"/>
            </p:cNvSpPr>
            <p:nvPr/>
          </p:nvSpPr>
          <p:spPr bwMode="blackWhite">
            <a:xfrm>
              <a:off x="2835" y="3203"/>
              <a:ext cx="771" cy="272"/>
            </a:xfrm>
            <a:prstGeom prst="rect">
              <a:avLst/>
            </a:prstGeom>
            <a:solidFill>
              <a:srgbClr val="0066FF"/>
            </a:solidFill>
            <a:ln w="9525">
              <a:miter lim="800000"/>
              <a:headEnd/>
              <a:tailEnd/>
            </a:ln>
            <a:scene3d>
              <a:camera prst="legacyObliqueTopRight"/>
              <a:lightRig rig="legacyFlat3" dir="b"/>
            </a:scene3d>
            <a:sp3d extrusionH="49200" prstMaterial="legacyMetal">
              <a:bevelT w="13500" h="13500" prst="angle"/>
              <a:bevelB w="13500" h="13500" prst="angle"/>
              <a:extrusionClr>
                <a:srgbClr val="0066FF"/>
              </a:extrusionClr>
              <a:contourClr>
                <a:srgbClr val="0066FF"/>
              </a:contourClr>
            </a:sp3d>
          </p:spPr>
          <p:txBody>
            <a:bodyPr wrap="none" lIns="0" tIns="0" rIns="0" bIns="0" anchor="ctr">
              <a:flatTx/>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transductores</a:t>
              </a:r>
            </a:p>
          </p:txBody>
        </p:sp>
      </p:grpSp>
      <p:grpSp>
        <p:nvGrpSpPr>
          <p:cNvPr id="37909" name="Group 142">
            <a:extLst>
              <a:ext uri="{FF2B5EF4-FFF2-40B4-BE49-F238E27FC236}">
                <a16:creationId xmlns:a16="http://schemas.microsoft.com/office/drawing/2014/main" id="{5CBFB724-8A3A-7821-3786-38CD2AED847C}"/>
              </a:ext>
            </a:extLst>
          </p:cNvPr>
          <p:cNvGrpSpPr>
            <a:grpSpLocks/>
          </p:cNvGrpSpPr>
          <p:nvPr/>
        </p:nvGrpSpPr>
        <p:grpSpPr bwMode="auto">
          <a:xfrm>
            <a:off x="6084888" y="2492375"/>
            <a:ext cx="1223962" cy="3529013"/>
            <a:chOff x="3696" y="1570"/>
            <a:chExt cx="771" cy="2223"/>
          </a:xfrm>
        </p:grpSpPr>
        <p:grpSp>
          <p:nvGrpSpPr>
            <p:cNvPr id="37966" name="Group 88">
              <a:extLst>
                <a:ext uri="{FF2B5EF4-FFF2-40B4-BE49-F238E27FC236}">
                  <a16:creationId xmlns:a16="http://schemas.microsoft.com/office/drawing/2014/main" id="{B30C306E-EE78-3CC7-1EDA-50354C8525B4}"/>
                </a:ext>
              </a:extLst>
            </p:cNvPr>
            <p:cNvGrpSpPr>
              <a:grpSpLocks/>
            </p:cNvGrpSpPr>
            <p:nvPr/>
          </p:nvGrpSpPr>
          <p:grpSpPr bwMode="auto">
            <a:xfrm>
              <a:off x="3817" y="1570"/>
              <a:ext cx="505" cy="1588"/>
              <a:chOff x="2109" y="1752"/>
              <a:chExt cx="952" cy="1361"/>
            </a:xfrm>
          </p:grpSpPr>
          <p:sp>
            <p:nvSpPr>
              <p:cNvPr id="37982" name="Line 89">
                <a:extLst>
                  <a:ext uri="{FF2B5EF4-FFF2-40B4-BE49-F238E27FC236}">
                    <a16:creationId xmlns:a16="http://schemas.microsoft.com/office/drawing/2014/main" id="{82F4479C-B058-6B1C-91AB-BF48805C5CE9}"/>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3" name="Line 90">
                <a:extLst>
                  <a:ext uri="{FF2B5EF4-FFF2-40B4-BE49-F238E27FC236}">
                    <a16:creationId xmlns:a16="http://schemas.microsoft.com/office/drawing/2014/main" id="{C43118CB-83BC-3D68-BD08-894E5FBFCC40}"/>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4" name="Line 91">
                <a:extLst>
                  <a:ext uri="{FF2B5EF4-FFF2-40B4-BE49-F238E27FC236}">
                    <a16:creationId xmlns:a16="http://schemas.microsoft.com/office/drawing/2014/main" id="{84D96E35-FE6F-E7A3-7A2C-B09AEABEC57F}"/>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5" name="Line 92">
                <a:extLst>
                  <a:ext uri="{FF2B5EF4-FFF2-40B4-BE49-F238E27FC236}">
                    <a16:creationId xmlns:a16="http://schemas.microsoft.com/office/drawing/2014/main" id="{D36B5856-C42A-2241-319A-FB89CEBE4DE0}"/>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6" name="Line 93">
                <a:extLst>
                  <a:ext uri="{FF2B5EF4-FFF2-40B4-BE49-F238E27FC236}">
                    <a16:creationId xmlns:a16="http://schemas.microsoft.com/office/drawing/2014/main" id="{F91289FD-66D0-F940-E358-E00CE94D7713}"/>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7" name="Line 94">
                <a:extLst>
                  <a:ext uri="{FF2B5EF4-FFF2-40B4-BE49-F238E27FC236}">
                    <a16:creationId xmlns:a16="http://schemas.microsoft.com/office/drawing/2014/main" id="{A7978CE4-5465-F078-A836-262F2215CA51}"/>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8" name="Line 95">
                <a:extLst>
                  <a:ext uri="{FF2B5EF4-FFF2-40B4-BE49-F238E27FC236}">
                    <a16:creationId xmlns:a16="http://schemas.microsoft.com/office/drawing/2014/main" id="{4113FD30-243A-4255-5ABF-D8487E98AC40}"/>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89" name="Line 96">
                <a:extLst>
                  <a:ext uri="{FF2B5EF4-FFF2-40B4-BE49-F238E27FC236}">
                    <a16:creationId xmlns:a16="http://schemas.microsoft.com/office/drawing/2014/main" id="{F0736223-01D4-8F36-EFF9-B0CD22998FD3}"/>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grpSp>
        <p:grpSp>
          <p:nvGrpSpPr>
            <p:cNvPr id="37967" name="Group 97">
              <a:extLst>
                <a:ext uri="{FF2B5EF4-FFF2-40B4-BE49-F238E27FC236}">
                  <a16:creationId xmlns:a16="http://schemas.microsoft.com/office/drawing/2014/main" id="{9195747C-8F01-E183-D3B7-56F30D622C52}"/>
                </a:ext>
              </a:extLst>
            </p:cNvPr>
            <p:cNvGrpSpPr>
              <a:grpSpLocks/>
            </p:cNvGrpSpPr>
            <p:nvPr/>
          </p:nvGrpSpPr>
          <p:grpSpPr bwMode="auto">
            <a:xfrm>
              <a:off x="3696" y="1661"/>
              <a:ext cx="771" cy="1315"/>
              <a:chOff x="1973" y="1661"/>
              <a:chExt cx="1451" cy="1315"/>
            </a:xfrm>
          </p:grpSpPr>
          <p:sp>
            <p:nvSpPr>
              <p:cNvPr id="37978" name="Rectangle 98">
                <a:extLst>
                  <a:ext uri="{FF2B5EF4-FFF2-40B4-BE49-F238E27FC236}">
                    <a16:creationId xmlns:a16="http://schemas.microsoft.com/office/drawing/2014/main" id="{0FCBD41C-B82D-7D8E-67D8-0C9702BBCD0E}"/>
                  </a:ext>
                </a:extLst>
              </p:cNvPr>
              <p:cNvSpPr>
                <a:spLocks noChangeArrowheads="1"/>
              </p:cNvSpPr>
              <p:nvPr/>
            </p:nvSpPr>
            <p:spPr bwMode="blackWhite">
              <a:xfrm>
                <a:off x="1973" y="1661"/>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a:endParaRPr lang="es-ES" altLang="es-ES"/>
              </a:p>
            </p:txBody>
          </p:sp>
          <p:sp>
            <p:nvSpPr>
              <p:cNvPr id="37979" name="Rectangle 99">
                <a:extLst>
                  <a:ext uri="{FF2B5EF4-FFF2-40B4-BE49-F238E27FC236}">
                    <a16:creationId xmlns:a16="http://schemas.microsoft.com/office/drawing/2014/main" id="{CB659C36-D22B-0973-376C-0FA64E0A46CB}"/>
                  </a:ext>
                </a:extLst>
              </p:cNvPr>
              <p:cNvSpPr>
                <a:spLocks noChangeArrowheads="1"/>
              </p:cNvSpPr>
              <p:nvPr/>
            </p:nvSpPr>
            <p:spPr bwMode="blackWhite">
              <a:xfrm>
                <a:off x="1973" y="1933"/>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7980" name="Rectangle 100">
                <a:extLst>
                  <a:ext uri="{FF2B5EF4-FFF2-40B4-BE49-F238E27FC236}">
                    <a16:creationId xmlns:a16="http://schemas.microsoft.com/office/drawing/2014/main" id="{9D4862AA-3DE1-9F35-0CB3-8B14E3C0E45D}"/>
                  </a:ext>
                </a:extLst>
              </p:cNvPr>
              <p:cNvSpPr>
                <a:spLocks noChangeArrowheads="1"/>
              </p:cNvSpPr>
              <p:nvPr/>
            </p:nvSpPr>
            <p:spPr bwMode="blackWhite">
              <a:xfrm>
                <a:off x="1973" y="220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7981" name="Rectangle 101">
                <a:extLst>
                  <a:ext uri="{FF2B5EF4-FFF2-40B4-BE49-F238E27FC236}">
                    <a16:creationId xmlns:a16="http://schemas.microsoft.com/office/drawing/2014/main" id="{58F8152C-F435-C245-B7C0-B9F8E57868E8}"/>
                  </a:ext>
                </a:extLst>
              </p:cNvPr>
              <p:cNvSpPr>
                <a:spLocks noChangeArrowheads="1"/>
              </p:cNvSpPr>
              <p:nvPr/>
            </p:nvSpPr>
            <p:spPr bwMode="blackWhite">
              <a:xfrm>
                <a:off x="1973" y="279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grpSp>
        <p:grpSp>
          <p:nvGrpSpPr>
            <p:cNvPr id="37968" name="Group 102">
              <a:extLst>
                <a:ext uri="{FF2B5EF4-FFF2-40B4-BE49-F238E27FC236}">
                  <a16:creationId xmlns:a16="http://schemas.microsoft.com/office/drawing/2014/main" id="{DD3330E9-486B-655B-5086-F928D0129496}"/>
                </a:ext>
              </a:extLst>
            </p:cNvPr>
            <p:cNvGrpSpPr>
              <a:grpSpLocks/>
            </p:cNvGrpSpPr>
            <p:nvPr/>
          </p:nvGrpSpPr>
          <p:grpSpPr bwMode="auto">
            <a:xfrm>
              <a:off x="3817" y="3521"/>
              <a:ext cx="505" cy="272"/>
              <a:chOff x="2109" y="1752"/>
              <a:chExt cx="952" cy="1361"/>
            </a:xfrm>
          </p:grpSpPr>
          <p:sp>
            <p:nvSpPr>
              <p:cNvPr id="37970" name="Line 103">
                <a:extLst>
                  <a:ext uri="{FF2B5EF4-FFF2-40B4-BE49-F238E27FC236}">
                    <a16:creationId xmlns:a16="http://schemas.microsoft.com/office/drawing/2014/main" id="{0752AD52-7DF6-8B36-615C-9A45349225ED}"/>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1" name="Line 104">
                <a:extLst>
                  <a:ext uri="{FF2B5EF4-FFF2-40B4-BE49-F238E27FC236}">
                    <a16:creationId xmlns:a16="http://schemas.microsoft.com/office/drawing/2014/main" id="{1CB36A3F-7CC7-FAAA-03C8-4DF728FBEE81}"/>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2" name="Line 105">
                <a:extLst>
                  <a:ext uri="{FF2B5EF4-FFF2-40B4-BE49-F238E27FC236}">
                    <a16:creationId xmlns:a16="http://schemas.microsoft.com/office/drawing/2014/main" id="{8C6C406C-76FA-1513-C6A8-2BA4137F31BD}"/>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3" name="Line 106">
                <a:extLst>
                  <a:ext uri="{FF2B5EF4-FFF2-40B4-BE49-F238E27FC236}">
                    <a16:creationId xmlns:a16="http://schemas.microsoft.com/office/drawing/2014/main" id="{802D358D-92C0-6EB7-376A-D641CFA8B521}"/>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4" name="Line 107">
                <a:extLst>
                  <a:ext uri="{FF2B5EF4-FFF2-40B4-BE49-F238E27FC236}">
                    <a16:creationId xmlns:a16="http://schemas.microsoft.com/office/drawing/2014/main" id="{3C2BC6EB-315A-A9D2-392E-F9F5FCD10394}"/>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5" name="Line 108">
                <a:extLst>
                  <a:ext uri="{FF2B5EF4-FFF2-40B4-BE49-F238E27FC236}">
                    <a16:creationId xmlns:a16="http://schemas.microsoft.com/office/drawing/2014/main" id="{1F70A511-2BBB-B785-0689-EFE1162808AB}"/>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6" name="Line 109">
                <a:extLst>
                  <a:ext uri="{FF2B5EF4-FFF2-40B4-BE49-F238E27FC236}">
                    <a16:creationId xmlns:a16="http://schemas.microsoft.com/office/drawing/2014/main" id="{6494AD74-B2B7-7074-400F-CDBB805B0CCD}"/>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77" name="Line 110">
                <a:extLst>
                  <a:ext uri="{FF2B5EF4-FFF2-40B4-BE49-F238E27FC236}">
                    <a16:creationId xmlns:a16="http://schemas.microsoft.com/office/drawing/2014/main" id="{585F7AAA-F388-7874-71A4-61F20637F874}"/>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grpSp>
        <p:sp>
          <p:nvSpPr>
            <p:cNvPr id="37969" name="Rectangle 111">
              <a:extLst>
                <a:ext uri="{FF2B5EF4-FFF2-40B4-BE49-F238E27FC236}">
                  <a16:creationId xmlns:a16="http://schemas.microsoft.com/office/drawing/2014/main" id="{875D56EB-13A1-57D1-E23B-4F45F7B1C4E0}"/>
                </a:ext>
              </a:extLst>
            </p:cNvPr>
            <p:cNvSpPr>
              <a:spLocks noChangeArrowheads="1"/>
            </p:cNvSpPr>
            <p:nvPr/>
          </p:nvSpPr>
          <p:spPr bwMode="blackWhite">
            <a:xfrm>
              <a:off x="3696" y="3203"/>
              <a:ext cx="771" cy="272"/>
            </a:xfrm>
            <a:prstGeom prst="rect">
              <a:avLst/>
            </a:prstGeom>
            <a:solidFill>
              <a:srgbClr val="0066FF"/>
            </a:solidFill>
            <a:ln w="9525">
              <a:miter lim="800000"/>
              <a:headEnd/>
              <a:tailEnd/>
            </a:ln>
            <a:scene3d>
              <a:camera prst="legacyObliqueTopRight"/>
              <a:lightRig rig="legacyFlat3" dir="b"/>
            </a:scene3d>
            <a:sp3d extrusionH="49200" prstMaterial="legacyMetal">
              <a:bevelT w="13500" h="13500" prst="angle"/>
              <a:bevelB w="13500" h="13500" prst="angle"/>
              <a:extrusionClr>
                <a:srgbClr val="0066FF"/>
              </a:extrusionClr>
              <a:contourClr>
                <a:srgbClr val="0066FF"/>
              </a:contourClr>
            </a:sp3d>
          </p:spPr>
          <p:txBody>
            <a:bodyPr wrap="none" lIns="0" tIns="0" rIns="0" bIns="0" anchor="ctr">
              <a:flatTx/>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transductores</a:t>
              </a:r>
            </a:p>
          </p:txBody>
        </p:sp>
      </p:grpSp>
      <p:grpSp>
        <p:nvGrpSpPr>
          <p:cNvPr id="37910" name="Group 141">
            <a:extLst>
              <a:ext uri="{FF2B5EF4-FFF2-40B4-BE49-F238E27FC236}">
                <a16:creationId xmlns:a16="http://schemas.microsoft.com/office/drawing/2014/main" id="{DC6A0049-E677-BB70-2C75-4FF08A62AD4E}"/>
              </a:ext>
            </a:extLst>
          </p:cNvPr>
          <p:cNvGrpSpPr>
            <a:grpSpLocks/>
          </p:cNvGrpSpPr>
          <p:nvPr/>
        </p:nvGrpSpPr>
        <p:grpSpPr bwMode="auto">
          <a:xfrm>
            <a:off x="7669213" y="2492375"/>
            <a:ext cx="1223962" cy="3529013"/>
            <a:chOff x="4558" y="1570"/>
            <a:chExt cx="771" cy="2223"/>
          </a:xfrm>
        </p:grpSpPr>
        <p:grpSp>
          <p:nvGrpSpPr>
            <p:cNvPr id="37942" name="Group 114">
              <a:extLst>
                <a:ext uri="{FF2B5EF4-FFF2-40B4-BE49-F238E27FC236}">
                  <a16:creationId xmlns:a16="http://schemas.microsoft.com/office/drawing/2014/main" id="{1B4AD9B6-093A-A916-83BA-D4B5798AE101}"/>
                </a:ext>
              </a:extLst>
            </p:cNvPr>
            <p:cNvGrpSpPr>
              <a:grpSpLocks/>
            </p:cNvGrpSpPr>
            <p:nvPr/>
          </p:nvGrpSpPr>
          <p:grpSpPr bwMode="auto">
            <a:xfrm>
              <a:off x="4679" y="1570"/>
              <a:ext cx="505" cy="1588"/>
              <a:chOff x="2109" y="1752"/>
              <a:chExt cx="952" cy="1361"/>
            </a:xfrm>
          </p:grpSpPr>
          <p:sp>
            <p:nvSpPr>
              <p:cNvPr id="37958" name="Line 115">
                <a:extLst>
                  <a:ext uri="{FF2B5EF4-FFF2-40B4-BE49-F238E27FC236}">
                    <a16:creationId xmlns:a16="http://schemas.microsoft.com/office/drawing/2014/main" id="{24FD4D6C-B436-ECE1-CE44-DA3A9C8C5476}"/>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59" name="Line 116">
                <a:extLst>
                  <a:ext uri="{FF2B5EF4-FFF2-40B4-BE49-F238E27FC236}">
                    <a16:creationId xmlns:a16="http://schemas.microsoft.com/office/drawing/2014/main" id="{F579BEF4-B368-77A7-15B0-4D3AD6BD6ED1}"/>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60" name="Line 117">
                <a:extLst>
                  <a:ext uri="{FF2B5EF4-FFF2-40B4-BE49-F238E27FC236}">
                    <a16:creationId xmlns:a16="http://schemas.microsoft.com/office/drawing/2014/main" id="{A0D7AF21-F065-48C5-947C-C98D2709A5B4}"/>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61" name="Line 118">
                <a:extLst>
                  <a:ext uri="{FF2B5EF4-FFF2-40B4-BE49-F238E27FC236}">
                    <a16:creationId xmlns:a16="http://schemas.microsoft.com/office/drawing/2014/main" id="{D146B3F2-1283-EE43-C2D5-48C939E35F1B}"/>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62" name="Line 119">
                <a:extLst>
                  <a:ext uri="{FF2B5EF4-FFF2-40B4-BE49-F238E27FC236}">
                    <a16:creationId xmlns:a16="http://schemas.microsoft.com/office/drawing/2014/main" id="{AFA9B507-3553-F1E5-9206-0CAAC3B38813}"/>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63" name="Line 120">
                <a:extLst>
                  <a:ext uri="{FF2B5EF4-FFF2-40B4-BE49-F238E27FC236}">
                    <a16:creationId xmlns:a16="http://schemas.microsoft.com/office/drawing/2014/main" id="{3D0C2C04-670B-7792-ACA6-6EC2F717ECA3}"/>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64" name="Line 121">
                <a:extLst>
                  <a:ext uri="{FF2B5EF4-FFF2-40B4-BE49-F238E27FC236}">
                    <a16:creationId xmlns:a16="http://schemas.microsoft.com/office/drawing/2014/main" id="{43AB7A2A-16A2-3C76-DB50-BFAF5B5C7C95}"/>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sp>
            <p:nvSpPr>
              <p:cNvPr id="37965" name="Line 122">
                <a:extLst>
                  <a:ext uri="{FF2B5EF4-FFF2-40B4-BE49-F238E27FC236}">
                    <a16:creationId xmlns:a16="http://schemas.microsoft.com/office/drawing/2014/main" id="{7BF4910D-AC39-7EBE-46F1-5543910244A4}"/>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scene3d>
                <a:camera prst="legacyObliqueTopRight"/>
                <a:lightRig rig="legacyFlat3" dir="b"/>
              </a:scene3d>
              <a:sp3d extrusionH="492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noFill/>
                  </a14:hiddenFill>
                </a:ext>
              </a:extLst>
            </p:spPr>
            <p:txBody>
              <a:bodyPr lIns="0" tIns="0" rIns="0" bIns="0" anchor="ctr">
                <a:flatTx/>
              </a:bodyPr>
              <a:lstStyle/>
              <a:p>
                <a:endParaRPr lang="es-ES"/>
              </a:p>
            </p:txBody>
          </p:sp>
        </p:grpSp>
        <p:grpSp>
          <p:nvGrpSpPr>
            <p:cNvPr id="37943" name="Group 123">
              <a:extLst>
                <a:ext uri="{FF2B5EF4-FFF2-40B4-BE49-F238E27FC236}">
                  <a16:creationId xmlns:a16="http://schemas.microsoft.com/office/drawing/2014/main" id="{A02011C9-9B4D-E8E7-8052-7535F474A829}"/>
                </a:ext>
              </a:extLst>
            </p:cNvPr>
            <p:cNvGrpSpPr>
              <a:grpSpLocks/>
            </p:cNvGrpSpPr>
            <p:nvPr/>
          </p:nvGrpSpPr>
          <p:grpSpPr bwMode="auto">
            <a:xfrm>
              <a:off x="4558" y="1661"/>
              <a:ext cx="771" cy="1315"/>
              <a:chOff x="1973" y="1661"/>
              <a:chExt cx="1451" cy="1315"/>
            </a:xfrm>
          </p:grpSpPr>
          <p:sp>
            <p:nvSpPr>
              <p:cNvPr id="37954" name="Rectangle 124">
                <a:extLst>
                  <a:ext uri="{FF2B5EF4-FFF2-40B4-BE49-F238E27FC236}">
                    <a16:creationId xmlns:a16="http://schemas.microsoft.com/office/drawing/2014/main" id="{A94BAE11-9CD4-42A4-4634-946D787805A3}"/>
                  </a:ext>
                </a:extLst>
              </p:cNvPr>
              <p:cNvSpPr>
                <a:spLocks noChangeArrowheads="1"/>
              </p:cNvSpPr>
              <p:nvPr/>
            </p:nvSpPr>
            <p:spPr bwMode="blackWhite">
              <a:xfrm>
                <a:off x="1973" y="1661"/>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a:endParaRPr lang="es-ES" altLang="es-ES"/>
              </a:p>
            </p:txBody>
          </p:sp>
          <p:sp>
            <p:nvSpPr>
              <p:cNvPr id="37955" name="Rectangle 125">
                <a:extLst>
                  <a:ext uri="{FF2B5EF4-FFF2-40B4-BE49-F238E27FC236}">
                    <a16:creationId xmlns:a16="http://schemas.microsoft.com/office/drawing/2014/main" id="{2E866C57-C548-BBA5-621A-126DA120096C}"/>
                  </a:ext>
                </a:extLst>
              </p:cNvPr>
              <p:cNvSpPr>
                <a:spLocks noChangeArrowheads="1"/>
              </p:cNvSpPr>
              <p:nvPr/>
            </p:nvSpPr>
            <p:spPr bwMode="blackWhite">
              <a:xfrm>
                <a:off x="1973" y="1933"/>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7956" name="Rectangle 126">
                <a:extLst>
                  <a:ext uri="{FF2B5EF4-FFF2-40B4-BE49-F238E27FC236}">
                    <a16:creationId xmlns:a16="http://schemas.microsoft.com/office/drawing/2014/main" id="{9B99B6E8-C60E-9116-E01D-6BF7FDB15E46}"/>
                  </a:ext>
                </a:extLst>
              </p:cNvPr>
              <p:cNvSpPr>
                <a:spLocks noChangeArrowheads="1"/>
              </p:cNvSpPr>
              <p:nvPr/>
            </p:nvSpPr>
            <p:spPr bwMode="blackWhite">
              <a:xfrm>
                <a:off x="1973" y="220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sp>
            <p:nvSpPr>
              <p:cNvPr id="37957" name="Rectangle 127">
                <a:extLst>
                  <a:ext uri="{FF2B5EF4-FFF2-40B4-BE49-F238E27FC236}">
                    <a16:creationId xmlns:a16="http://schemas.microsoft.com/office/drawing/2014/main" id="{DE7B52E5-2851-272B-71B4-34E33227EDED}"/>
                  </a:ext>
                </a:extLst>
              </p:cNvPr>
              <p:cNvSpPr>
                <a:spLocks noChangeArrowheads="1"/>
              </p:cNvSpPr>
              <p:nvPr/>
            </p:nvSpPr>
            <p:spPr bwMode="blackWhite">
              <a:xfrm>
                <a:off x="1973" y="2795"/>
                <a:ext cx="1451" cy="181"/>
              </a:xfrm>
              <a:prstGeom prst="rect">
                <a:avLst/>
              </a:prstGeom>
              <a:solidFill>
                <a:srgbClr val="0066FF"/>
              </a:solidFill>
              <a:ln w="19050">
                <a:solidFill>
                  <a:schemeClr val="accent1"/>
                </a:solidFill>
                <a:miter lim="800000"/>
                <a:headEnd/>
                <a:tailEnd/>
              </a:ln>
            </p:spPr>
            <p:txBody>
              <a:bodyPr wrap="none" lIns="0" tIns="0" rIns="0" bIns="0"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endParaRPr lang="es-ES" altLang="es-ES"/>
              </a:p>
            </p:txBody>
          </p:sp>
        </p:grpSp>
        <p:grpSp>
          <p:nvGrpSpPr>
            <p:cNvPr id="37944" name="Group 128">
              <a:extLst>
                <a:ext uri="{FF2B5EF4-FFF2-40B4-BE49-F238E27FC236}">
                  <a16:creationId xmlns:a16="http://schemas.microsoft.com/office/drawing/2014/main" id="{60A82F1E-A770-C595-734B-BE739E42AC35}"/>
                </a:ext>
              </a:extLst>
            </p:cNvPr>
            <p:cNvGrpSpPr>
              <a:grpSpLocks/>
            </p:cNvGrpSpPr>
            <p:nvPr/>
          </p:nvGrpSpPr>
          <p:grpSpPr bwMode="auto">
            <a:xfrm>
              <a:off x="4679" y="3521"/>
              <a:ext cx="505" cy="272"/>
              <a:chOff x="2109" y="1752"/>
              <a:chExt cx="952" cy="1361"/>
            </a:xfrm>
          </p:grpSpPr>
          <p:sp>
            <p:nvSpPr>
              <p:cNvPr id="37946" name="Line 129">
                <a:extLst>
                  <a:ext uri="{FF2B5EF4-FFF2-40B4-BE49-F238E27FC236}">
                    <a16:creationId xmlns:a16="http://schemas.microsoft.com/office/drawing/2014/main" id="{FD73FE29-B32B-3868-3DC6-93A038A190B8}"/>
                  </a:ext>
                </a:extLst>
              </p:cNvPr>
              <p:cNvSpPr>
                <a:spLocks noChangeShapeType="1"/>
              </p:cNvSpPr>
              <p:nvPr/>
            </p:nvSpPr>
            <p:spPr bwMode="auto">
              <a:xfrm>
                <a:off x="210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47" name="Line 130">
                <a:extLst>
                  <a:ext uri="{FF2B5EF4-FFF2-40B4-BE49-F238E27FC236}">
                    <a16:creationId xmlns:a16="http://schemas.microsoft.com/office/drawing/2014/main" id="{8633B762-A4C5-47FB-BD6B-D704A7075B04}"/>
                  </a:ext>
                </a:extLst>
              </p:cNvPr>
              <p:cNvSpPr>
                <a:spLocks noChangeShapeType="1"/>
              </p:cNvSpPr>
              <p:nvPr/>
            </p:nvSpPr>
            <p:spPr bwMode="auto">
              <a:xfrm>
                <a:off x="224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48" name="Line 131">
                <a:extLst>
                  <a:ext uri="{FF2B5EF4-FFF2-40B4-BE49-F238E27FC236}">
                    <a16:creationId xmlns:a16="http://schemas.microsoft.com/office/drawing/2014/main" id="{2B15B170-4D97-B800-7F6D-A479984E0C2C}"/>
                  </a:ext>
                </a:extLst>
              </p:cNvPr>
              <p:cNvSpPr>
                <a:spLocks noChangeShapeType="1"/>
              </p:cNvSpPr>
              <p:nvPr/>
            </p:nvSpPr>
            <p:spPr bwMode="auto">
              <a:xfrm>
                <a:off x="238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49" name="Line 132">
                <a:extLst>
                  <a:ext uri="{FF2B5EF4-FFF2-40B4-BE49-F238E27FC236}">
                    <a16:creationId xmlns:a16="http://schemas.microsoft.com/office/drawing/2014/main" id="{E686A890-0646-5AC4-E90F-160DEDA2DA05}"/>
                  </a:ext>
                </a:extLst>
              </p:cNvPr>
              <p:cNvSpPr>
                <a:spLocks noChangeShapeType="1"/>
              </p:cNvSpPr>
              <p:nvPr/>
            </p:nvSpPr>
            <p:spPr bwMode="auto">
              <a:xfrm>
                <a:off x="2517"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50" name="Line 133">
                <a:extLst>
                  <a:ext uri="{FF2B5EF4-FFF2-40B4-BE49-F238E27FC236}">
                    <a16:creationId xmlns:a16="http://schemas.microsoft.com/office/drawing/2014/main" id="{6468A130-8001-75E7-DF43-608931A6894B}"/>
                  </a:ext>
                </a:extLst>
              </p:cNvPr>
              <p:cNvSpPr>
                <a:spLocks noChangeShapeType="1"/>
              </p:cNvSpPr>
              <p:nvPr/>
            </p:nvSpPr>
            <p:spPr bwMode="auto">
              <a:xfrm>
                <a:off x="2653"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51" name="Line 134">
                <a:extLst>
                  <a:ext uri="{FF2B5EF4-FFF2-40B4-BE49-F238E27FC236}">
                    <a16:creationId xmlns:a16="http://schemas.microsoft.com/office/drawing/2014/main" id="{42273EA6-59DB-3C26-99D2-94EC5F63602D}"/>
                  </a:ext>
                </a:extLst>
              </p:cNvPr>
              <p:cNvSpPr>
                <a:spLocks noChangeShapeType="1"/>
              </p:cNvSpPr>
              <p:nvPr/>
            </p:nvSpPr>
            <p:spPr bwMode="auto">
              <a:xfrm>
                <a:off x="2789"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52" name="Line 135">
                <a:extLst>
                  <a:ext uri="{FF2B5EF4-FFF2-40B4-BE49-F238E27FC236}">
                    <a16:creationId xmlns:a16="http://schemas.microsoft.com/office/drawing/2014/main" id="{EFBD1A8E-69CB-731F-B597-150A25E959DF}"/>
                  </a:ext>
                </a:extLst>
              </p:cNvPr>
              <p:cNvSpPr>
                <a:spLocks noChangeShapeType="1"/>
              </p:cNvSpPr>
              <p:nvPr/>
            </p:nvSpPr>
            <p:spPr bwMode="auto">
              <a:xfrm>
                <a:off x="2925"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53" name="Line 136">
                <a:extLst>
                  <a:ext uri="{FF2B5EF4-FFF2-40B4-BE49-F238E27FC236}">
                    <a16:creationId xmlns:a16="http://schemas.microsoft.com/office/drawing/2014/main" id="{D6C66E56-5942-9AB9-F5F2-C7CDC0418BA8}"/>
                  </a:ext>
                </a:extLst>
              </p:cNvPr>
              <p:cNvSpPr>
                <a:spLocks noChangeShapeType="1"/>
              </p:cNvSpPr>
              <p:nvPr/>
            </p:nvSpPr>
            <p:spPr bwMode="auto">
              <a:xfrm>
                <a:off x="3061" y="1752"/>
                <a:ext cx="0" cy="1361"/>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grpSp>
        <p:sp>
          <p:nvSpPr>
            <p:cNvPr id="37945" name="Rectangle 137">
              <a:extLst>
                <a:ext uri="{FF2B5EF4-FFF2-40B4-BE49-F238E27FC236}">
                  <a16:creationId xmlns:a16="http://schemas.microsoft.com/office/drawing/2014/main" id="{F2B92924-7F5B-0789-5909-56232D92FD65}"/>
                </a:ext>
              </a:extLst>
            </p:cNvPr>
            <p:cNvSpPr>
              <a:spLocks noChangeArrowheads="1"/>
            </p:cNvSpPr>
            <p:nvPr/>
          </p:nvSpPr>
          <p:spPr bwMode="blackWhite">
            <a:xfrm>
              <a:off x="4558" y="3203"/>
              <a:ext cx="771" cy="272"/>
            </a:xfrm>
            <a:prstGeom prst="rect">
              <a:avLst/>
            </a:prstGeom>
            <a:solidFill>
              <a:srgbClr val="0066FF"/>
            </a:solidFill>
            <a:ln w="9525">
              <a:miter lim="800000"/>
              <a:headEnd/>
              <a:tailEnd/>
            </a:ln>
            <a:scene3d>
              <a:camera prst="legacyObliqueTopRight"/>
              <a:lightRig rig="legacyFlat3" dir="b"/>
            </a:scene3d>
            <a:sp3d extrusionH="49200" prstMaterial="legacyMetal">
              <a:bevelT w="13500" h="13500" prst="angle"/>
              <a:bevelB w="13500" h="13500" prst="angle"/>
              <a:extrusionClr>
                <a:srgbClr val="0066FF"/>
              </a:extrusionClr>
              <a:contourClr>
                <a:srgbClr val="0066FF"/>
              </a:contourClr>
            </a:sp3d>
          </p:spPr>
          <p:txBody>
            <a:bodyPr wrap="none" lIns="0" tIns="0" rIns="0" bIns="0" anchor="ctr">
              <a:flatTx/>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transductores</a:t>
              </a:r>
            </a:p>
          </p:txBody>
        </p:sp>
      </p:grpSp>
      <p:sp>
        <p:nvSpPr>
          <p:cNvPr id="37911" name="Text Box 138">
            <a:extLst>
              <a:ext uri="{FF2B5EF4-FFF2-40B4-BE49-F238E27FC236}">
                <a16:creationId xmlns:a16="http://schemas.microsoft.com/office/drawing/2014/main" id="{63CF0100-FDA7-7C9B-B9AC-02D891423597}"/>
              </a:ext>
            </a:extLst>
          </p:cNvPr>
          <p:cNvSpPr txBox="1">
            <a:spLocks noChangeArrowheads="1"/>
          </p:cNvSpPr>
          <p:nvPr/>
        </p:nvSpPr>
        <p:spPr bwMode="auto">
          <a:xfrm>
            <a:off x="4643438" y="6092825"/>
            <a:ext cx="9096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b</a:t>
            </a:r>
            <a:r>
              <a:rPr lang="es-ES" altLang="es-ES" b="1" baseline="-25000"/>
              <a:t>23</a:t>
            </a:r>
            <a:r>
              <a:rPr lang="es-ES" altLang="es-ES" b="1" baseline="-25000">
                <a:cs typeface="Arial" panose="020B0604020202020204" pitchFamily="34" charset="0"/>
              </a:rPr>
              <a:t> </a:t>
            </a:r>
            <a:r>
              <a:rPr lang="es-ES" altLang="es-ES" b="1">
                <a:latin typeface="Arial Narrow" panose="020B0606020202030204" pitchFamily="34" charset="0"/>
                <a:cs typeface="Arial" panose="020B0604020202020204" pitchFamily="34" charset="0"/>
              </a:rPr>
              <a:t>...</a:t>
            </a:r>
            <a:r>
              <a:rPr lang="es-ES" altLang="es-ES" b="1">
                <a:cs typeface="Arial" panose="020B0604020202020204" pitchFamily="34" charset="0"/>
              </a:rPr>
              <a:t> </a:t>
            </a:r>
            <a:r>
              <a:rPr lang="es-ES" altLang="es-ES" b="1">
                <a:latin typeface="Arial Narrow" panose="020B0606020202030204" pitchFamily="34" charset="0"/>
              </a:rPr>
              <a:t>b</a:t>
            </a:r>
            <a:r>
              <a:rPr lang="es-ES" altLang="es-ES" b="1" baseline="-25000">
                <a:cs typeface="Arial" panose="020B0604020202020204" pitchFamily="34" charset="0"/>
              </a:rPr>
              <a:t>16</a:t>
            </a:r>
          </a:p>
        </p:txBody>
      </p:sp>
      <p:sp>
        <p:nvSpPr>
          <p:cNvPr id="37912" name="Text Box 139">
            <a:extLst>
              <a:ext uri="{FF2B5EF4-FFF2-40B4-BE49-F238E27FC236}">
                <a16:creationId xmlns:a16="http://schemas.microsoft.com/office/drawing/2014/main" id="{690B98AE-42A1-5722-4F02-6444F3AB04E2}"/>
              </a:ext>
            </a:extLst>
          </p:cNvPr>
          <p:cNvSpPr txBox="1">
            <a:spLocks noChangeArrowheads="1"/>
          </p:cNvSpPr>
          <p:nvPr/>
        </p:nvSpPr>
        <p:spPr bwMode="auto">
          <a:xfrm>
            <a:off x="6275388" y="6092825"/>
            <a:ext cx="817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b</a:t>
            </a:r>
            <a:r>
              <a:rPr lang="es-ES" altLang="es-ES" b="1" baseline="-25000"/>
              <a:t>15</a:t>
            </a:r>
            <a:r>
              <a:rPr lang="es-ES" altLang="es-ES" b="1" baseline="-25000">
                <a:cs typeface="Arial" panose="020B0604020202020204" pitchFamily="34" charset="0"/>
              </a:rPr>
              <a:t> </a:t>
            </a:r>
            <a:r>
              <a:rPr lang="es-ES" altLang="es-ES" b="1">
                <a:latin typeface="Arial Narrow" panose="020B0606020202030204" pitchFamily="34" charset="0"/>
                <a:cs typeface="Arial" panose="020B0604020202020204" pitchFamily="34" charset="0"/>
              </a:rPr>
              <a:t>...</a:t>
            </a:r>
            <a:r>
              <a:rPr lang="es-ES" altLang="es-ES" b="1">
                <a:cs typeface="Arial" panose="020B0604020202020204" pitchFamily="34" charset="0"/>
              </a:rPr>
              <a:t> </a:t>
            </a:r>
            <a:r>
              <a:rPr lang="es-ES" altLang="es-ES" b="1">
                <a:latin typeface="Arial Narrow" panose="020B0606020202030204" pitchFamily="34" charset="0"/>
              </a:rPr>
              <a:t>b</a:t>
            </a:r>
            <a:r>
              <a:rPr lang="es-ES" altLang="es-ES" b="1" baseline="-25000">
                <a:cs typeface="Arial" panose="020B0604020202020204" pitchFamily="34" charset="0"/>
              </a:rPr>
              <a:t>8</a:t>
            </a:r>
          </a:p>
        </p:txBody>
      </p:sp>
      <p:sp>
        <p:nvSpPr>
          <p:cNvPr id="37913" name="Text Box 140">
            <a:extLst>
              <a:ext uri="{FF2B5EF4-FFF2-40B4-BE49-F238E27FC236}">
                <a16:creationId xmlns:a16="http://schemas.microsoft.com/office/drawing/2014/main" id="{924206B6-2E63-DCE2-944D-FEA5829F638F}"/>
              </a:ext>
            </a:extLst>
          </p:cNvPr>
          <p:cNvSpPr txBox="1">
            <a:spLocks noChangeArrowheads="1"/>
          </p:cNvSpPr>
          <p:nvPr/>
        </p:nvSpPr>
        <p:spPr bwMode="auto">
          <a:xfrm>
            <a:off x="7878763" y="6092825"/>
            <a:ext cx="725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b</a:t>
            </a:r>
            <a:r>
              <a:rPr lang="es-ES" altLang="es-ES" b="1" baseline="-25000"/>
              <a:t>7</a:t>
            </a:r>
            <a:r>
              <a:rPr lang="es-ES" altLang="es-ES" b="1" baseline="-25000">
                <a:cs typeface="Arial" panose="020B0604020202020204" pitchFamily="34" charset="0"/>
              </a:rPr>
              <a:t> </a:t>
            </a:r>
            <a:r>
              <a:rPr lang="es-ES" altLang="es-ES" b="1">
                <a:latin typeface="Arial Narrow" panose="020B0606020202030204" pitchFamily="34" charset="0"/>
                <a:cs typeface="Arial" panose="020B0604020202020204" pitchFamily="34" charset="0"/>
              </a:rPr>
              <a:t>...</a:t>
            </a:r>
            <a:r>
              <a:rPr lang="es-ES" altLang="es-ES" b="1">
                <a:cs typeface="Arial" panose="020B0604020202020204" pitchFamily="34" charset="0"/>
              </a:rPr>
              <a:t> </a:t>
            </a:r>
            <a:r>
              <a:rPr lang="es-ES" altLang="es-ES" b="1">
                <a:latin typeface="Arial Narrow" panose="020B0606020202030204" pitchFamily="34" charset="0"/>
              </a:rPr>
              <a:t>b</a:t>
            </a:r>
            <a:r>
              <a:rPr lang="es-ES" altLang="es-ES" b="1" baseline="-25000">
                <a:cs typeface="Arial" panose="020B0604020202020204" pitchFamily="34" charset="0"/>
              </a:rPr>
              <a:t>0</a:t>
            </a:r>
          </a:p>
        </p:txBody>
      </p:sp>
      <p:sp>
        <p:nvSpPr>
          <p:cNvPr id="37914" name="Freeform 150">
            <a:extLst>
              <a:ext uri="{FF2B5EF4-FFF2-40B4-BE49-F238E27FC236}">
                <a16:creationId xmlns:a16="http://schemas.microsoft.com/office/drawing/2014/main" id="{196166C8-08CB-5102-8215-6F9137022469}"/>
              </a:ext>
            </a:extLst>
          </p:cNvPr>
          <p:cNvSpPr>
            <a:spLocks/>
          </p:cNvSpPr>
          <p:nvPr/>
        </p:nvSpPr>
        <p:spPr bwMode="auto">
          <a:xfrm>
            <a:off x="2700338" y="2349500"/>
            <a:ext cx="215900" cy="2159000"/>
          </a:xfrm>
          <a:custGeom>
            <a:avLst/>
            <a:gdLst>
              <a:gd name="T0" fmla="*/ 0 w 136"/>
              <a:gd name="T1" fmla="*/ 0 h 1224"/>
              <a:gd name="T2" fmla="*/ 0 w 136"/>
              <a:gd name="T3" fmla="*/ 2147483647 h 1224"/>
              <a:gd name="T4" fmla="*/ 2147483647 w 136"/>
              <a:gd name="T5" fmla="*/ 2147483647 h 1224"/>
              <a:gd name="T6" fmla="*/ 0 60000 65536"/>
              <a:gd name="T7" fmla="*/ 0 60000 65536"/>
              <a:gd name="T8" fmla="*/ 0 60000 65536"/>
              <a:gd name="T9" fmla="*/ 0 w 136"/>
              <a:gd name="T10" fmla="*/ 0 h 1224"/>
              <a:gd name="T11" fmla="*/ 136 w 136"/>
              <a:gd name="T12" fmla="*/ 1224 h 1224"/>
            </a:gdLst>
            <a:ahLst/>
            <a:cxnLst>
              <a:cxn ang="T6">
                <a:pos x="T0" y="T1"/>
              </a:cxn>
              <a:cxn ang="T7">
                <a:pos x="T2" y="T3"/>
              </a:cxn>
              <a:cxn ang="T8">
                <a:pos x="T4" y="T5"/>
              </a:cxn>
            </a:cxnLst>
            <a:rect l="T9" t="T10" r="T11" b="T12"/>
            <a:pathLst>
              <a:path w="136" h="1224">
                <a:moveTo>
                  <a:pt x="0" y="0"/>
                </a:moveTo>
                <a:lnTo>
                  <a:pt x="0" y="1224"/>
                </a:lnTo>
                <a:lnTo>
                  <a:pt x="136" y="1224"/>
                </a:lnTo>
              </a:path>
            </a:pathLst>
          </a:custGeom>
          <a:noFill/>
          <a:ln w="3810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sp>
        <p:nvSpPr>
          <p:cNvPr id="37915" name="Freeform 164">
            <a:extLst>
              <a:ext uri="{FF2B5EF4-FFF2-40B4-BE49-F238E27FC236}">
                <a16:creationId xmlns:a16="http://schemas.microsoft.com/office/drawing/2014/main" id="{A7F5236F-4C63-F039-CBC0-84034EC5E12B}"/>
              </a:ext>
            </a:extLst>
          </p:cNvPr>
          <p:cNvSpPr>
            <a:spLocks/>
          </p:cNvSpPr>
          <p:nvPr/>
        </p:nvSpPr>
        <p:spPr bwMode="auto">
          <a:xfrm>
            <a:off x="4284663" y="2349500"/>
            <a:ext cx="215900" cy="2159000"/>
          </a:xfrm>
          <a:custGeom>
            <a:avLst/>
            <a:gdLst>
              <a:gd name="T0" fmla="*/ 0 w 136"/>
              <a:gd name="T1" fmla="*/ 0 h 1224"/>
              <a:gd name="T2" fmla="*/ 0 w 136"/>
              <a:gd name="T3" fmla="*/ 2147483647 h 1224"/>
              <a:gd name="T4" fmla="*/ 2147483647 w 136"/>
              <a:gd name="T5" fmla="*/ 2147483647 h 1224"/>
              <a:gd name="T6" fmla="*/ 0 60000 65536"/>
              <a:gd name="T7" fmla="*/ 0 60000 65536"/>
              <a:gd name="T8" fmla="*/ 0 60000 65536"/>
              <a:gd name="T9" fmla="*/ 0 w 136"/>
              <a:gd name="T10" fmla="*/ 0 h 1224"/>
              <a:gd name="T11" fmla="*/ 136 w 136"/>
              <a:gd name="T12" fmla="*/ 1224 h 1224"/>
            </a:gdLst>
            <a:ahLst/>
            <a:cxnLst>
              <a:cxn ang="T6">
                <a:pos x="T0" y="T1"/>
              </a:cxn>
              <a:cxn ang="T7">
                <a:pos x="T2" y="T3"/>
              </a:cxn>
              <a:cxn ang="T8">
                <a:pos x="T4" y="T5"/>
              </a:cxn>
            </a:cxnLst>
            <a:rect l="T9" t="T10" r="T11" b="T12"/>
            <a:pathLst>
              <a:path w="136" h="1224">
                <a:moveTo>
                  <a:pt x="0" y="0"/>
                </a:moveTo>
                <a:lnTo>
                  <a:pt x="0" y="1224"/>
                </a:lnTo>
                <a:lnTo>
                  <a:pt x="136" y="1224"/>
                </a:lnTo>
              </a:path>
            </a:pathLst>
          </a:custGeom>
          <a:noFill/>
          <a:ln w="3810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sp>
        <p:nvSpPr>
          <p:cNvPr id="37916" name="Freeform 165">
            <a:extLst>
              <a:ext uri="{FF2B5EF4-FFF2-40B4-BE49-F238E27FC236}">
                <a16:creationId xmlns:a16="http://schemas.microsoft.com/office/drawing/2014/main" id="{F79D89BA-B2E0-6573-C062-C7DB911A5DA1}"/>
              </a:ext>
            </a:extLst>
          </p:cNvPr>
          <p:cNvSpPr>
            <a:spLocks/>
          </p:cNvSpPr>
          <p:nvPr/>
        </p:nvSpPr>
        <p:spPr bwMode="auto">
          <a:xfrm>
            <a:off x="5867400" y="2349500"/>
            <a:ext cx="215900" cy="2159000"/>
          </a:xfrm>
          <a:custGeom>
            <a:avLst/>
            <a:gdLst>
              <a:gd name="T0" fmla="*/ 0 w 136"/>
              <a:gd name="T1" fmla="*/ 0 h 1224"/>
              <a:gd name="T2" fmla="*/ 0 w 136"/>
              <a:gd name="T3" fmla="*/ 2147483647 h 1224"/>
              <a:gd name="T4" fmla="*/ 2147483647 w 136"/>
              <a:gd name="T5" fmla="*/ 2147483647 h 1224"/>
              <a:gd name="T6" fmla="*/ 0 60000 65536"/>
              <a:gd name="T7" fmla="*/ 0 60000 65536"/>
              <a:gd name="T8" fmla="*/ 0 60000 65536"/>
              <a:gd name="T9" fmla="*/ 0 w 136"/>
              <a:gd name="T10" fmla="*/ 0 h 1224"/>
              <a:gd name="T11" fmla="*/ 136 w 136"/>
              <a:gd name="T12" fmla="*/ 1224 h 1224"/>
            </a:gdLst>
            <a:ahLst/>
            <a:cxnLst>
              <a:cxn ang="T6">
                <a:pos x="T0" y="T1"/>
              </a:cxn>
              <a:cxn ang="T7">
                <a:pos x="T2" y="T3"/>
              </a:cxn>
              <a:cxn ang="T8">
                <a:pos x="T4" y="T5"/>
              </a:cxn>
            </a:cxnLst>
            <a:rect l="T9" t="T10" r="T11" b="T12"/>
            <a:pathLst>
              <a:path w="136" h="1224">
                <a:moveTo>
                  <a:pt x="0" y="0"/>
                </a:moveTo>
                <a:lnTo>
                  <a:pt x="0" y="1224"/>
                </a:lnTo>
                <a:lnTo>
                  <a:pt x="136" y="1224"/>
                </a:lnTo>
              </a:path>
            </a:pathLst>
          </a:custGeom>
          <a:noFill/>
          <a:ln w="3810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sp>
        <p:nvSpPr>
          <p:cNvPr id="37917" name="Freeform 166">
            <a:extLst>
              <a:ext uri="{FF2B5EF4-FFF2-40B4-BE49-F238E27FC236}">
                <a16:creationId xmlns:a16="http://schemas.microsoft.com/office/drawing/2014/main" id="{424835D7-8B56-D2AA-4717-689FAC27BA74}"/>
              </a:ext>
            </a:extLst>
          </p:cNvPr>
          <p:cNvSpPr>
            <a:spLocks/>
          </p:cNvSpPr>
          <p:nvPr/>
        </p:nvSpPr>
        <p:spPr bwMode="auto">
          <a:xfrm>
            <a:off x="7451725" y="2349500"/>
            <a:ext cx="215900" cy="2159000"/>
          </a:xfrm>
          <a:custGeom>
            <a:avLst/>
            <a:gdLst>
              <a:gd name="T0" fmla="*/ 0 w 136"/>
              <a:gd name="T1" fmla="*/ 0 h 1224"/>
              <a:gd name="T2" fmla="*/ 0 w 136"/>
              <a:gd name="T3" fmla="*/ 2147483647 h 1224"/>
              <a:gd name="T4" fmla="*/ 2147483647 w 136"/>
              <a:gd name="T5" fmla="*/ 2147483647 h 1224"/>
              <a:gd name="T6" fmla="*/ 0 60000 65536"/>
              <a:gd name="T7" fmla="*/ 0 60000 65536"/>
              <a:gd name="T8" fmla="*/ 0 60000 65536"/>
              <a:gd name="T9" fmla="*/ 0 w 136"/>
              <a:gd name="T10" fmla="*/ 0 h 1224"/>
              <a:gd name="T11" fmla="*/ 136 w 136"/>
              <a:gd name="T12" fmla="*/ 1224 h 1224"/>
            </a:gdLst>
            <a:ahLst/>
            <a:cxnLst>
              <a:cxn ang="T6">
                <a:pos x="T0" y="T1"/>
              </a:cxn>
              <a:cxn ang="T7">
                <a:pos x="T2" y="T3"/>
              </a:cxn>
              <a:cxn ang="T8">
                <a:pos x="T4" y="T5"/>
              </a:cxn>
            </a:cxnLst>
            <a:rect l="T9" t="T10" r="T11" b="T12"/>
            <a:pathLst>
              <a:path w="136" h="1224">
                <a:moveTo>
                  <a:pt x="0" y="0"/>
                </a:moveTo>
                <a:lnTo>
                  <a:pt x="0" y="1224"/>
                </a:lnTo>
                <a:lnTo>
                  <a:pt x="136" y="1224"/>
                </a:lnTo>
              </a:path>
            </a:pathLst>
          </a:custGeom>
          <a:noFill/>
          <a:ln w="3810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grpSp>
        <p:nvGrpSpPr>
          <p:cNvPr id="37918" name="Group 173">
            <a:extLst>
              <a:ext uri="{FF2B5EF4-FFF2-40B4-BE49-F238E27FC236}">
                <a16:creationId xmlns:a16="http://schemas.microsoft.com/office/drawing/2014/main" id="{682937A3-576A-0DA1-9241-A224CEB9AF4A}"/>
              </a:ext>
            </a:extLst>
          </p:cNvPr>
          <p:cNvGrpSpPr>
            <a:grpSpLocks/>
          </p:cNvGrpSpPr>
          <p:nvPr/>
        </p:nvGrpSpPr>
        <p:grpSpPr bwMode="auto">
          <a:xfrm>
            <a:off x="2484438" y="2044700"/>
            <a:ext cx="5256212" cy="304800"/>
            <a:chOff x="1565" y="1288"/>
            <a:chExt cx="3311" cy="192"/>
          </a:xfrm>
        </p:grpSpPr>
        <p:sp>
          <p:nvSpPr>
            <p:cNvPr id="37938" name="Rectangle 169">
              <a:extLst>
                <a:ext uri="{FF2B5EF4-FFF2-40B4-BE49-F238E27FC236}">
                  <a16:creationId xmlns:a16="http://schemas.microsoft.com/office/drawing/2014/main" id="{D2DC4E1D-686C-5C44-DFE3-50A03A706D7D}"/>
                </a:ext>
              </a:extLst>
            </p:cNvPr>
            <p:cNvSpPr>
              <a:spLocks noChangeArrowheads="1"/>
            </p:cNvSpPr>
            <p:nvPr/>
          </p:nvSpPr>
          <p:spPr bwMode="auto">
            <a:xfrm>
              <a:off x="1565" y="1288"/>
              <a:ext cx="3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_tradnl" altLang="es-ES"/>
                <a:t>BE</a:t>
              </a:r>
              <a:r>
                <a:rPr lang="es-ES_tradnl" altLang="es-ES" b="1" baseline="-25000"/>
                <a:t>3</a:t>
              </a:r>
              <a:r>
                <a:rPr lang="es-ES_tradnl" altLang="es-ES"/>
                <a:t>*</a:t>
              </a:r>
              <a:endParaRPr lang="es-ES" altLang="es-ES"/>
            </a:p>
          </p:txBody>
        </p:sp>
        <p:sp>
          <p:nvSpPr>
            <p:cNvPr id="37939" name="Rectangle 170">
              <a:extLst>
                <a:ext uri="{FF2B5EF4-FFF2-40B4-BE49-F238E27FC236}">
                  <a16:creationId xmlns:a16="http://schemas.microsoft.com/office/drawing/2014/main" id="{52A5B32E-138E-09A9-7192-EB86B06C0835}"/>
                </a:ext>
              </a:extLst>
            </p:cNvPr>
            <p:cNvSpPr>
              <a:spLocks noChangeArrowheads="1"/>
            </p:cNvSpPr>
            <p:nvPr/>
          </p:nvSpPr>
          <p:spPr bwMode="auto">
            <a:xfrm>
              <a:off x="2531" y="1288"/>
              <a:ext cx="3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_tradnl" altLang="es-ES"/>
                <a:t>BE</a:t>
              </a:r>
              <a:r>
                <a:rPr lang="es-ES_tradnl" altLang="es-ES" b="1" baseline="-25000"/>
                <a:t>2</a:t>
              </a:r>
              <a:r>
                <a:rPr lang="es-ES_tradnl" altLang="es-ES"/>
                <a:t>*</a:t>
              </a:r>
              <a:endParaRPr lang="es-ES" altLang="es-ES"/>
            </a:p>
          </p:txBody>
        </p:sp>
        <p:sp>
          <p:nvSpPr>
            <p:cNvPr id="37940" name="Rectangle 171">
              <a:extLst>
                <a:ext uri="{FF2B5EF4-FFF2-40B4-BE49-F238E27FC236}">
                  <a16:creationId xmlns:a16="http://schemas.microsoft.com/office/drawing/2014/main" id="{21664E13-F746-BD68-3DA6-FD6D2BABCFBF}"/>
                </a:ext>
              </a:extLst>
            </p:cNvPr>
            <p:cNvSpPr>
              <a:spLocks noChangeArrowheads="1"/>
            </p:cNvSpPr>
            <p:nvPr/>
          </p:nvSpPr>
          <p:spPr bwMode="auto">
            <a:xfrm>
              <a:off x="3515" y="1288"/>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_tradnl" altLang="es-ES"/>
                <a:t>BE</a:t>
              </a:r>
              <a:r>
                <a:rPr lang="es-ES_tradnl" altLang="es-ES" b="1" baseline="-25000"/>
                <a:t>1</a:t>
              </a:r>
              <a:r>
                <a:rPr lang="es-ES_tradnl" altLang="es-ES"/>
                <a:t>*</a:t>
              </a:r>
              <a:endParaRPr lang="es-ES" altLang="es-ES"/>
            </a:p>
          </p:txBody>
        </p:sp>
        <p:sp>
          <p:nvSpPr>
            <p:cNvPr id="37941" name="Rectangle 172">
              <a:extLst>
                <a:ext uri="{FF2B5EF4-FFF2-40B4-BE49-F238E27FC236}">
                  <a16:creationId xmlns:a16="http://schemas.microsoft.com/office/drawing/2014/main" id="{32318FD3-34F3-47E1-1F08-E271FE29DD0B}"/>
                </a:ext>
              </a:extLst>
            </p:cNvPr>
            <p:cNvSpPr>
              <a:spLocks noChangeArrowheads="1"/>
            </p:cNvSpPr>
            <p:nvPr/>
          </p:nvSpPr>
          <p:spPr bwMode="auto">
            <a:xfrm>
              <a:off x="4513" y="1288"/>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_tradnl" altLang="es-ES"/>
                <a:t>BE</a:t>
              </a:r>
              <a:r>
                <a:rPr lang="es-ES_tradnl" altLang="es-ES" b="1" baseline="-25000"/>
                <a:t>0</a:t>
              </a:r>
              <a:r>
                <a:rPr lang="es-ES_tradnl" altLang="es-ES"/>
                <a:t>*</a:t>
              </a:r>
              <a:endParaRPr lang="es-ES" altLang="es-ES"/>
            </a:p>
          </p:txBody>
        </p:sp>
      </p:grpSp>
      <p:sp>
        <p:nvSpPr>
          <p:cNvPr id="37919" name="Line 176">
            <a:extLst>
              <a:ext uri="{FF2B5EF4-FFF2-40B4-BE49-F238E27FC236}">
                <a16:creationId xmlns:a16="http://schemas.microsoft.com/office/drawing/2014/main" id="{0B903DA4-A027-926F-1CF9-239F224A246C}"/>
              </a:ext>
            </a:extLst>
          </p:cNvPr>
          <p:cNvSpPr>
            <a:spLocks noChangeShapeType="1"/>
          </p:cNvSpPr>
          <p:nvPr/>
        </p:nvSpPr>
        <p:spPr bwMode="auto">
          <a:xfrm>
            <a:off x="1692275" y="5157788"/>
            <a:ext cx="115093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0" name="Freeform 185">
            <a:extLst>
              <a:ext uri="{FF2B5EF4-FFF2-40B4-BE49-F238E27FC236}">
                <a16:creationId xmlns:a16="http://schemas.microsoft.com/office/drawing/2014/main" id="{5A43D0B5-21E9-AC13-37B1-7452DC434F55}"/>
              </a:ext>
            </a:extLst>
          </p:cNvPr>
          <p:cNvSpPr>
            <a:spLocks/>
          </p:cNvSpPr>
          <p:nvPr/>
        </p:nvSpPr>
        <p:spPr bwMode="auto">
          <a:xfrm>
            <a:off x="1116013" y="5373688"/>
            <a:ext cx="1727200" cy="503237"/>
          </a:xfrm>
          <a:custGeom>
            <a:avLst/>
            <a:gdLst>
              <a:gd name="T0" fmla="*/ 0 w 1088"/>
              <a:gd name="T1" fmla="*/ 2147483647 h 136"/>
              <a:gd name="T2" fmla="*/ 2147483647 w 1088"/>
              <a:gd name="T3" fmla="*/ 2147483647 h 136"/>
              <a:gd name="T4" fmla="*/ 2147483647 w 1088"/>
              <a:gd name="T5" fmla="*/ 0 h 136"/>
              <a:gd name="T6" fmla="*/ 2147483647 w 1088"/>
              <a:gd name="T7" fmla="*/ 0 h 136"/>
              <a:gd name="T8" fmla="*/ 0 60000 65536"/>
              <a:gd name="T9" fmla="*/ 0 60000 65536"/>
              <a:gd name="T10" fmla="*/ 0 60000 65536"/>
              <a:gd name="T11" fmla="*/ 0 60000 65536"/>
              <a:gd name="T12" fmla="*/ 0 w 1088"/>
              <a:gd name="T13" fmla="*/ 0 h 136"/>
              <a:gd name="T14" fmla="*/ 1088 w 1088"/>
              <a:gd name="T15" fmla="*/ 136 h 136"/>
            </a:gdLst>
            <a:ahLst/>
            <a:cxnLst>
              <a:cxn ang="T8">
                <a:pos x="T0" y="T1"/>
              </a:cxn>
              <a:cxn ang="T9">
                <a:pos x="T2" y="T3"/>
              </a:cxn>
              <a:cxn ang="T10">
                <a:pos x="T4" y="T5"/>
              </a:cxn>
              <a:cxn ang="T11">
                <a:pos x="T6" y="T7"/>
              </a:cxn>
            </a:cxnLst>
            <a:rect l="T12" t="T13" r="T14" b="T15"/>
            <a:pathLst>
              <a:path w="1088" h="136">
                <a:moveTo>
                  <a:pt x="0" y="136"/>
                </a:moveTo>
                <a:lnTo>
                  <a:pt x="363" y="136"/>
                </a:lnTo>
                <a:lnTo>
                  <a:pt x="363" y="0"/>
                </a:lnTo>
                <a:lnTo>
                  <a:pt x="1088"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s-ES"/>
          </a:p>
        </p:txBody>
      </p:sp>
      <p:sp>
        <p:nvSpPr>
          <p:cNvPr id="37922" name="Line 187">
            <a:extLst>
              <a:ext uri="{FF2B5EF4-FFF2-40B4-BE49-F238E27FC236}">
                <a16:creationId xmlns:a16="http://schemas.microsoft.com/office/drawing/2014/main" id="{50612734-8429-0F70-5854-412D349DD4DA}"/>
              </a:ext>
            </a:extLst>
          </p:cNvPr>
          <p:cNvSpPr>
            <a:spLocks noChangeShapeType="1"/>
          </p:cNvSpPr>
          <p:nvPr/>
        </p:nvSpPr>
        <p:spPr bwMode="auto">
          <a:xfrm>
            <a:off x="2700338" y="2708275"/>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3" name="Line 188">
            <a:extLst>
              <a:ext uri="{FF2B5EF4-FFF2-40B4-BE49-F238E27FC236}">
                <a16:creationId xmlns:a16="http://schemas.microsoft.com/office/drawing/2014/main" id="{20081369-F031-E6FA-5572-A5470CAFFA4C}"/>
              </a:ext>
            </a:extLst>
          </p:cNvPr>
          <p:cNvSpPr>
            <a:spLocks noChangeShapeType="1"/>
          </p:cNvSpPr>
          <p:nvPr/>
        </p:nvSpPr>
        <p:spPr bwMode="auto">
          <a:xfrm>
            <a:off x="2700338" y="31416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4" name="Line 189">
            <a:extLst>
              <a:ext uri="{FF2B5EF4-FFF2-40B4-BE49-F238E27FC236}">
                <a16:creationId xmlns:a16="http://schemas.microsoft.com/office/drawing/2014/main" id="{4D20ED58-1CDA-09D6-0E28-FFA8366B503C}"/>
              </a:ext>
            </a:extLst>
          </p:cNvPr>
          <p:cNvSpPr>
            <a:spLocks noChangeShapeType="1"/>
          </p:cNvSpPr>
          <p:nvPr/>
        </p:nvSpPr>
        <p:spPr bwMode="auto">
          <a:xfrm>
            <a:off x="2700338" y="35734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5" name="Line 190">
            <a:extLst>
              <a:ext uri="{FF2B5EF4-FFF2-40B4-BE49-F238E27FC236}">
                <a16:creationId xmlns:a16="http://schemas.microsoft.com/office/drawing/2014/main" id="{B377FDF7-312A-4591-5485-FCB59AD104D1}"/>
              </a:ext>
            </a:extLst>
          </p:cNvPr>
          <p:cNvSpPr>
            <a:spLocks noChangeShapeType="1"/>
          </p:cNvSpPr>
          <p:nvPr/>
        </p:nvSpPr>
        <p:spPr bwMode="auto">
          <a:xfrm>
            <a:off x="4284663" y="2708275"/>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6" name="Line 191">
            <a:extLst>
              <a:ext uri="{FF2B5EF4-FFF2-40B4-BE49-F238E27FC236}">
                <a16:creationId xmlns:a16="http://schemas.microsoft.com/office/drawing/2014/main" id="{72DDA9EA-4926-955E-AB32-F644887C5AB4}"/>
              </a:ext>
            </a:extLst>
          </p:cNvPr>
          <p:cNvSpPr>
            <a:spLocks noChangeShapeType="1"/>
          </p:cNvSpPr>
          <p:nvPr/>
        </p:nvSpPr>
        <p:spPr bwMode="auto">
          <a:xfrm>
            <a:off x="4284663" y="31416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7" name="Line 192">
            <a:extLst>
              <a:ext uri="{FF2B5EF4-FFF2-40B4-BE49-F238E27FC236}">
                <a16:creationId xmlns:a16="http://schemas.microsoft.com/office/drawing/2014/main" id="{DC8A446E-F236-9ECB-1DC2-D61AE51F8F88}"/>
              </a:ext>
            </a:extLst>
          </p:cNvPr>
          <p:cNvSpPr>
            <a:spLocks noChangeShapeType="1"/>
          </p:cNvSpPr>
          <p:nvPr/>
        </p:nvSpPr>
        <p:spPr bwMode="auto">
          <a:xfrm>
            <a:off x="4284663" y="35734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8" name="Line 193">
            <a:extLst>
              <a:ext uri="{FF2B5EF4-FFF2-40B4-BE49-F238E27FC236}">
                <a16:creationId xmlns:a16="http://schemas.microsoft.com/office/drawing/2014/main" id="{F693E372-88CD-DA44-9232-9848A23B07DF}"/>
              </a:ext>
            </a:extLst>
          </p:cNvPr>
          <p:cNvSpPr>
            <a:spLocks noChangeShapeType="1"/>
          </p:cNvSpPr>
          <p:nvPr/>
        </p:nvSpPr>
        <p:spPr bwMode="auto">
          <a:xfrm>
            <a:off x="5867400" y="2708275"/>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29" name="Line 194">
            <a:extLst>
              <a:ext uri="{FF2B5EF4-FFF2-40B4-BE49-F238E27FC236}">
                <a16:creationId xmlns:a16="http://schemas.microsoft.com/office/drawing/2014/main" id="{B6817CF9-5842-4468-E0AD-51AFC51233C2}"/>
              </a:ext>
            </a:extLst>
          </p:cNvPr>
          <p:cNvSpPr>
            <a:spLocks noChangeShapeType="1"/>
          </p:cNvSpPr>
          <p:nvPr/>
        </p:nvSpPr>
        <p:spPr bwMode="auto">
          <a:xfrm>
            <a:off x="5867400" y="31416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30" name="Line 195">
            <a:extLst>
              <a:ext uri="{FF2B5EF4-FFF2-40B4-BE49-F238E27FC236}">
                <a16:creationId xmlns:a16="http://schemas.microsoft.com/office/drawing/2014/main" id="{02764B2A-78F3-61E2-F006-C1F39BAF6141}"/>
              </a:ext>
            </a:extLst>
          </p:cNvPr>
          <p:cNvSpPr>
            <a:spLocks noChangeShapeType="1"/>
          </p:cNvSpPr>
          <p:nvPr/>
        </p:nvSpPr>
        <p:spPr bwMode="auto">
          <a:xfrm>
            <a:off x="5867400" y="35734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31" name="Line 196">
            <a:extLst>
              <a:ext uri="{FF2B5EF4-FFF2-40B4-BE49-F238E27FC236}">
                <a16:creationId xmlns:a16="http://schemas.microsoft.com/office/drawing/2014/main" id="{63577B06-C4EB-D35D-0801-5AD87EB0C676}"/>
              </a:ext>
            </a:extLst>
          </p:cNvPr>
          <p:cNvSpPr>
            <a:spLocks noChangeShapeType="1"/>
          </p:cNvSpPr>
          <p:nvPr/>
        </p:nvSpPr>
        <p:spPr bwMode="auto">
          <a:xfrm>
            <a:off x="7451725" y="2708275"/>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32" name="Line 197">
            <a:extLst>
              <a:ext uri="{FF2B5EF4-FFF2-40B4-BE49-F238E27FC236}">
                <a16:creationId xmlns:a16="http://schemas.microsoft.com/office/drawing/2014/main" id="{C0BEA820-F1D4-B47F-623D-A4519878060B}"/>
              </a:ext>
            </a:extLst>
          </p:cNvPr>
          <p:cNvSpPr>
            <a:spLocks noChangeShapeType="1"/>
          </p:cNvSpPr>
          <p:nvPr/>
        </p:nvSpPr>
        <p:spPr bwMode="auto">
          <a:xfrm>
            <a:off x="7451725" y="31416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33" name="Line 198">
            <a:extLst>
              <a:ext uri="{FF2B5EF4-FFF2-40B4-BE49-F238E27FC236}">
                <a16:creationId xmlns:a16="http://schemas.microsoft.com/office/drawing/2014/main" id="{507D287D-40E5-E8B8-5097-41F9BC57E0C1}"/>
              </a:ext>
            </a:extLst>
          </p:cNvPr>
          <p:cNvSpPr>
            <a:spLocks noChangeShapeType="1"/>
          </p:cNvSpPr>
          <p:nvPr/>
        </p:nvSpPr>
        <p:spPr bwMode="auto">
          <a:xfrm>
            <a:off x="7451725" y="3573463"/>
            <a:ext cx="215900" cy="0"/>
          </a:xfrm>
          <a:prstGeom prst="line">
            <a:avLst/>
          </a:prstGeom>
          <a:noFill/>
          <a:ln w="38100">
            <a:solidFill>
              <a:srgbClr val="FFCC0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34" name="Text Box 199">
            <a:extLst>
              <a:ext uri="{FF2B5EF4-FFF2-40B4-BE49-F238E27FC236}">
                <a16:creationId xmlns:a16="http://schemas.microsoft.com/office/drawing/2014/main" id="{4B8A3EFD-9975-09E1-EE41-EB105A294131}"/>
              </a:ext>
            </a:extLst>
          </p:cNvPr>
          <p:cNvSpPr txBox="1">
            <a:spLocks noChangeArrowheads="1"/>
          </p:cNvSpPr>
          <p:nvPr/>
        </p:nvSpPr>
        <p:spPr bwMode="auto">
          <a:xfrm>
            <a:off x="2165350" y="6092825"/>
            <a:ext cx="5794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b="1">
                <a:latin typeface="Arial Narrow" panose="020B0606020202030204" pitchFamily="34" charset="0"/>
              </a:rPr>
              <a:t>Datos</a:t>
            </a:r>
          </a:p>
        </p:txBody>
      </p:sp>
      <p:sp>
        <p:nvSpPr>
          <p:cNvPr id="37935" name="Text Box 200">
            <a:extLst>
              <a:ext uri="{FF2B5EF4-FFF2-40B4-BE49-F238E27FC236}">
                <a16:creationId xmlns:a16="http://schemas.microsoft.com/office/drawing/2014/main" id="{88F29EE5-598B-0E8A-3D42-4BDF92DC814A}"/>
              </a:ext>
            </a:extLst>
          </p:cNvPr>
          <p:cNvSpPr txBox="1">
            <a:spLocks noChangeArrowheads="1"/>
          </p:cNvSpPr>
          <p:nvPr/>
        </p:nvSpPr>
        <p:spPr bwMode="auto">
          <a:xfrm>
            <a:off x="34925" y="5483225"/>
            <a:ext cx="10842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s-ES" altLang="es-ES">
                <a:latin typeface="Arial Narrow" panose="020B0606020202030204" pitchFamily="34" charset="0"/>
              </a:rPr>
              <a:t>Operación</a:t>
            </a:r>
            <a:br>
              <a:rPr lang="es-ES" altLang="es-ES"/>
            </a:br>
            <a:r>
              <a:rPr lang="es-ES" altLang="es-ES"/>
              <a:t>(</a:t>
            </a:r>
            <a:r>
              <a:rPr lang="es-ES" altLang="es-ES" b="1"/>
              <a:t>OE, WE</a:t>
            </a:r>
            <a:r>
              <a:rPr lang="es-ES" altLang="es-ES"/>
              <a:t>)</a:t>
            </a:r>
          </a:p>
        </p:txBody>
      </p:sp>
      <p:sp>
        <p:nvSpPr>
          <p:cNvPr id="37936" name="Line 201">
            <a:extLst>
              <a:ext uri="{FF2B5EF4-FFF2-40B4-BE49-F238E27FC236}">
                <a16:creationId xmlns:a16="http://schemas.microsoft.com/office/drawing/2014/main" id="{661197FA-9818-CA60-170D-30D2E56C6355}"/>
              </a:ext>
            </a:extLst>
          </p:cNvPr>
          <p:cNvSpPr>
            <a:spLocks noChangeShapeType="1"/>
          </p:cNvSpPr>
          <p:nvPr/>
        </p:nvSpPr>
        <p:spPr bwMode="auto">
          <a:xfrm>
            <a:off x="149225" y="5802313"/>
            <a:ext cx="32067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37937" name="Line 202">
            <a:extLst>
              <a:ext uri="{FF2B5EF4-FFF2-40B4-BE49-F238E27FC236}">
                <a16:creationId xmlns:a16="http://schemas.microsoft.com/office/drawing/2014/main" id="{A02A3E90-034E-D8D3-081B-D506E8D34F07}"/>
              </a:ext>
            </a:extLst>
          </p:cNvPr>
          <p:cNvSpPr>
            <a:spLocks noChangeShapeType="1"/>
          </p:cNvSpPr>
          <p:nvPr/>
        </p:nvSpPr>
        <p:spPr bwMode="auto">
          <a:xfrm>
            <a:off x="687388" y="5805488"/>
            <a:ext cx="320675"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lstStyle/>
          <a:p>
            <a:endParaRPr lang="es-ES"/>
          </a:p>
        </p:txBody>
      </p:sp>
      <p:sp>
        <p:nvSpPr>
          <p:cNvPr id="2" name="2 Marcador de número de diapositiva">
            <a:extLst>
              <a:ext uri="{FF2B5EF4-FFF2-40B4-BE49-F238E27FC236}">
                <a16:creationId xmlns:a16="http://schemas.microsoft.com/office/drawing/2014/main" id="{3CE0E694-704C-E0C3-D123-BE6CC5AAB921}"/>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E4242C42-22EA-47A7-536B-D01C281BB771}"/>
              </a:ext>
            </a:extLst>
          </p:cNvPr>
          <p:cNvSpPr>
            <a:spLocks noGrp="1" noChangeArrowheads="1"/>
          </p:cNvSpPr>
          <p:nvPr>
            <p:ph type="title"/>
          </p:nvPr>
        </p:nvSpPr>
        <p:spPr/>
        <p:txBody>
          <a:bodyPr/>
          <a:lstStyle/>
          <a:p>
            <a:r>
              <a:rPr lang="es-ES" altLang="es-ES" dirty="0"/>
              <a:t>Valoración de la SRAM</a:t>
            </a:r>
          </a:p>
        </p:txBody>
      </p:sp>
      <p:sp>
        <p:nvSpPr>
          <p:cNvPr id="40964" name="Rectangle 3">
            <a:extLst>
              <a:ext uri="{FF2B5EF4-FFF2-40B4-BE49-F238E27FC236}">
                <a16:creationId xmlns:a16="http://schemas.microsoft.com/office/drawing/2014/main" id="{695579DD-EB31-2B53-0037-CB427A35C42C}"/>
              </a:ext>
            </a:extLst>
          </p:cNvPr>
          <p:cNvSpPr>
            <a:spLocks noGrp="1" noChangeArrowheads="1"/>
          </p:cNvSpPr>
          <p:nvPr>
            <p:ph type="body" idx="1"/>
          </p:nvPr>
        </p:nvSpPr>
        <p:spPr/>
        <p:txBody>
          <a:bodyPr/>
          <a:lstStyle/>
          <a:p>
            <a:r>
              <a:rPr lang="es-ES" altLang="es-ES"/>
              <a:t>Celda </a:t>
            </a:r>
          </a:p>
          <a:p>
            <a:pPr lvl="1"/>
            <a:r>
              <a:rPr lang="es-ES" altLang="es-ES"/>
              <a:t>Un biestable de 6 a 8 transistores por celda. El espacio de chip es excesivo</a:t>
            </a:r>
          </a:p>
          <a:p>
            <a:pPr lvl="1"/>
            <a:r>
              <a:rPr lang="es-ES" altLang="es-ES"/>
              <a:t>Hay que buscar una celda más pequeña</a:t>
            </a:r>
          </a:p>
          <a:p>
            <a:r>
              <a:rPr lang="es-ES" altLang="es-ES"/>
              <a:t>Descodificación de direcciones</a:t>
            </a:r>
          </a:p>
          <a:p>
            <a:pPr lvl="1"/>
            <a:r>
              <a:rPr lang="es-ES" altLang="es-ES"/>
              <a:t>Un descodificador de </a:t>
            </a:r>
            <a:r>
              <a:rPr lang="es-ES" altLang="es-ES" i="1"/>
              <a:t>n</a:t>
            </a:r>
            <a:r>
              <a:rPr lang="es-ES" altLang="es-ES"/>
              <a:t> a 2</a:t>
            </a:r>
            <a:r>
              <a:rPr lang="es-ES" altLang="es-ES" b="1" i="1" baseline="30000"/>
              <a:t>n</a:t>
            </a:r>
            <a:r>
              <a:rPr lang="es-ES" altLang="es-ES"/>
              <a:t> está formado por 2</a:t>
            </a:r>
            <a:r>
              <a:rPr lang="es-ES" altLang="es-ES" b="1" i="1" baseline="30000"/>
              <a:t>n</a:t>
            </a:r>
            <a:r>
              <a:rPr lang="es-ES" altLang="es-ES"/>
              <a:t> puertas de </a:t>
            </a:r>
            <a:r>
              <a:rPr lang="es-ES" altLang="es-ES" i="1"/>
              <a:t>n</a:t>
            </a:r>
            <a:r>
              <a:rPr lang="es-ES" altLang="es-ES"/>
              <a:t> entradas</a:t>
            </a:r>
          </a:p>
          <a:p>
            <a:pPr lvl="1"/>
            <a:r>
              <a:rPr lang="es-ES" altLang="es-ES"/>
              <a:t>Hay que buscar un sistema menos costoso</a:t>
            </a:r>
          </a:p>
          <a:p>
            <a:r>
              <a:rPr lang="es-ES" altLang="es-ES"/>
              <a:t>Ancho de banda</a:t>
            </a:r>
          </a:p>
          <a:p>
            <a:pPr lvl="1"/>
            <a:r>
              <a:rPr lang="es-ES" altLang="es-ES"/>
              <a:t>La transferencia de un bloque tiene un ancho de banda </a:t>
            </a:r>
            <a:r>
              <a:rPr lang="es-ES" altLang="es-ES" i="1"/>
              <a:t>B</a:t>
            </a:r>
            <a:r>
              <a:rPr lang="es-ES" altLang="es-ES"/>
              <a:t> = w/T</a:t>
            </a:r>
            <a:r>
              <a:rPr lang="es-ES" altLang="es-ES" b="1" baseline="-25000"/>
              <a:t>ciclo</a:t>
            </a:r>
            <a:r>
              <a:rPr lang="es-ES" altLang="es-ES"/>
              <a:t> bps</a:t>
            </a:r>
            <a:endParaRPr lang="es-ES" altLang="es-ES" b="1" baseline="-25000"/>
          </a:p>
          <a:p>
            <a:r>
              <a:rPr lang="es-ES" altLang="es-ES"/>
              <a:t>Aplicaciones</a:t>
            </a:r>
          </a:p>
          <a:p>
            <a:pPr lvl="1"/>
            <a:r>
              <a:rPr lang="es-ES" altLang="es-ES"/>
              <a:t>Sistemas empotrados</a:t>
            </a:r>
          </a:p>
          <a:p>
            <a:pPr lvl="1"/>
            <a:r>
              <a:rPr lang="es-ES" altLang="es-ES"/>
              <a:t>Memoria cache </a:t>
            </a:r>
          </a:p>
        </p:txBody>
      </p:sp>
      <p:sp>
        <p:nvSpPr>
          <p:cNvPr id="2" name="2 Marcador de número de diapositiva">
            <a:extLst>
              <a:ext uri="{FF2B5EF4-FFF2-40B4-BE49-F238E27FC236}">
                <a16:creationId xmlns:a16="http://schemas.microsoft.com/office/drawing/2014/main" id="{25B8BA7D-97B4-5748-F157-CBED6F985327}"/>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34675-CDA5-452C-0A7F-6A36989628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55615F-3915-6D59-8BDE-4EE6C9ABEA74}"/>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1962243B-58F4-6F64-7B0C-30BB7F04EC11}"/>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t>Organización</a:t>
            </a:r>
          </a:p>
          <a:p>
            <a:pPr marL="977900" lvl="2" indent="-457200">
              <a:lnSpc>
                <a:spcPct val="90000"/>
              </a:lnSpc>
              <a:buFont typeface="+mj-lt"/>
              <a:buAutoNum type="romanUcPeriod"/>
            </a:pPr>
            <a:r>
              <a:rPr lang="es-ES" dirty="0"/>
              <a:t>Direccionamiento</a:t>
            </a:r>
          </a:p>
          <a:p>
            <a:pPr marL="977900" lvl="2" indent="-457200">
              <a:lnSpc>
                <a:spcPct val="90000"/>
              </a:lnSpc>
              <a:buFont typeface="+mj-lt"/>
              <a:buAutoNum type="romanUcPeriod"/>
            </a:pPr>
            <a:r>
              <a:rPr lang="es-ES" dirty="0"/>
              <a:t>Temporización</a:t>
            </a:r>
          </a:p>
          <a:p>
            <a:pPr marL="977900" lvl="2" indent="-457200">
              <a:lnSpc>
                <a:spcPct val="90000"/>
              </a:lnSpc>
              <a:buFont typeface="+mj-lt"/>
              <a:buAutoNum type="romanUcPeriod"/>
            </a:pPr>
            <a:r>
              <a:rPr lang="es-ES" dirty="0"/>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A83D97F2-C6C0-7301-BB99-6F5962C8CADA}"/>
              </a:ext>
            </a:extLst>
          </p:cNvPr>
          <p:cNvSpPr>
            <a:spLocks noGrp="1"/>
          </p:cNvSpPr>
          <p:nvPr>
            <p:ph type="sldNum" sz="quarter" idx="12"/>
          </p:nvPr>
        </p:nvSpPr>
        <p:spPr/>
        <p:txBody>
          <a:bodyPr/>
          <a:lstStyle/>
          <a:p>
            <a:pPr>
              <a:defRPr/>
            </a:pPr>
            <a:fld id="{50B7A251-C820-4EFF-8270-C7613E20881F}" type="slidenum">
              <a:rPr lang="en-US" smtClean="0"/>
              <a:pPr>
                <a:defRPr/>
              </a:pPr>
              <a:t>42</a:t>
            </a:fld>
            <a:endParaRPr lang="en-US" dirty="0"/>
          </a:p>
        </p:txBody>
      </p:sp>
      <p:sp>
        <p:nvSpPr>
          <p:cNvPr id="5" name="Rectángulo 4">
            <a:extLst>
              <a:ext uri="{FF2B5EF4-FFF2-40B4-BE49-F238E27FC236}">
                <a16:creationId xmlns:a16="http://schemas.microsoft.com/office/drawing/2014/main" id="{FFC31FCE-07B0-E451-D5ED-BB83A7AA9C32}"/>
              </a:ext>
            </a:extLst>
          </p:cNvPr>
          <p:cNvSpPr/>
          <p:nvPr/>
        </p:nvSpPr>
        <p:spPr>
          <a:xfrm>
            <a:off x="4550370" y="2633647"/>
            <a:ext cx="4122221" cy="1471172"/>
          </a:xfrm>
          <a:prstGeom prst="rect">
            <a:avLst/>
          </a:prstGeom>
        </p:spPr>
        <p:txBody>
          <a:bodyPr wrap="square">
            <a:spAutoFit/>
          </a:bodyPr>
          <a:lstStyle/>
          <a:p>
            <a:pPr algn="l"/>
            <a:r>
              <a:rPr lang="es-ES" sz="1600" dirty="0">
                <a:solidFill>
                  <a:schemeClr val="accent1">
                    <a:lumMod val="75000"/>
                  </a:schemeClr>
                </a:solidFill>
              </a:rPr>
              <a:t>Vídeos relacionados:</a:t>
            </a:r>
          </a:p>
          <a:p>
            <a:pPr marL="742950" lvl="1" indent="-285750" algn="l">
              <a:buFont typeface="Arial" panose="020B0604020202020204" pitchFamily="34" charset="0"/>
              <a:buChar char="•"/>
            </a:pPr>
            <a:r>
              <a:rPr lang="es-ES" sz="1600" dirty="0">
                <a:solidFill>
                  <a:schemeClr val="accent1">
                    <a:lumMod val="75000"/>
                  </a:schemeClr>
                </a:solidFill>
              </a:rPr>
              <a:t>Vídeo 2. “Geometría DRAM”</a:t>
            </a:r>
          </a:p>
          <a:p>
            <a:pPr marL="742950" lvl="1" indent="-285750" algn="l">
              <a:buFont typeface="Arial" panose="020B0604020202020204" pitchFamily="34" charset="0"/>
              <a:buChar char="•"/>
            </a:pPr>
            <a:r>
              <a:rPr lang="es-ES" sz="1600" dirty="0">
                <a:solidFill>
                  <a:schemeClr val="accent1">
                    <a:lumMod val="75000"/>
                  </a:schemeClr>
                </a:solidFill>
              </a:rPr>
              <a:t>Vídeo 3. “Geometría DRAM: Ejemplo”</a:t>
            </a:r>
          </a:p>
          <a:p>
            <a:pPr lvl="1" algn="l"/>
            <a:endParaRPr lang="es-ES" sz="1600" dirty="0">
              <a:solidFill>
                <a:schemeClr val="accent1">
                  <a:lumMod val="75000"/>
                </a:schemeClr>
              </a:solidFill>
            </a:endParaRPr>
          </a:p>
        </p:txBody>
      </p:sp>
      <p:sp>
        <p:nvSpPr>
          <p:cNvPr id="6" name="Rectángulo 5">
            <a:extLst>
              <a:ext uri="{FF2B5EF4-FFF2-40B4-BE49-F238E27FC236}">
                <a16:creationId xmlns:a16="http://schemas.microsoft.com/office/drawing/2014/main" id="{1C4AFB6C-BF1C-D5BA-7077-8942B4604E21}"/>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Tree>
    <p:extLst>
      <p:ext uri="{BB962C8B-B14F-4D97-AF65-F5344CB8AC3E}">
        <p14:creationId xmlns:p14="http://schemas.microsoft.com/office/powerpoint/2010/main" val="2102192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es-ES" dirty="0"/>
              <a:t>Memorias RAM dinámicas</a:t>
            </a:r>
          </a:p>
        </p:txBody>
      </p:sp>
      <p:sp>
        <p:nvSpPr>
          <p:cNvPr id="51204" name="Rectangle 3"/>
          <p:cNvSpPr>
            <a:spLocks noGrp="1" noChangeArrowheads="1"/>
          </p:cNvSpPr>
          <p:nvPr>
            <p:ph type="body" idx="1"/>
          </p:nvPr>
        </p:nvSpPr>
        <p:spPr>
          <a:xfrm>
            <a:off x="683568" y="908720"/>
            <a:ext cx="6264051" cy="5256212"/>
          </a:xfrm>
        </p:spPr>
        <p:txBody>
          <a:bodyPr/>
          <a:lstStyle/>
          <a:p>
            <a:pPr>
              <a:lnSpc>
                <a:spcPct val="100000"/>
              </a:lnSpc>
            </a:pPr>
            <a:r>
              <a:rPr lang="es-ES" sz="2000" dirty="0"/>
              <a:t>¿Por qué RAM dinámica en la memoria principal?</a:t>
            </a:r>
          </a:p>
          <a:p>
            <a:pPr lvl="1">
              <a:lnSpc>
                <a:spcPct val="100000"/>
              </a:lnSpc>
            </a:pPr>
            <a:r>
              <a:rPr lang="es-ES" sz="1800" dirty="0"/>
              <a:t>Alta integración</a:t>
            </a:r>
          </a:p>
          <a:p>
            <a:pPr lvl="2">
              <a:lnSpc>
                <a:spcPct val="100000"/>
              </a:lnSpc>
            </a:pPr>
            <a:r>
              <a:rPr lang="es-ES" sz="1600" dirty="0"/>
              <a:t>La celda de memoria dinámica (transistor+ condensador ) ocupa menor área de silicio que la celdilla de la SRAM (</a:t>
            </a:r>
            <a:r>
              <a:rPr lang="es-ES" sz="1600" dirty="0" err="1"/>
              <a:t>biestable</a:t>
            </a:r>
            <a:r>
              <a:rPr lang="es-ES" sz="1600" dirty="0"/>
              <a:t>) </a:t>
            </a:r>
          </a:p>
          <a:p>
            <a:pPr lvl="2">
              <a:lnSpc>
                <a:spcPct val="100000"/>
              </a:lnSpc>
            </a:pPr>
            <a:r>
              <a:rPr lang="es-ES" sz="1600" dirty="0"/>
              <a:t>Al mismo coste de fabricación, más capacidad que SRAM</a:t>
            </a:r>
          </a:p>
          <a:p>
            <a:pPr lvl="2">
              <a:lnSpc>
                <a:spcPct val="100000"/>
              </a:lnSpc>
            </a:pPr>
            <a:r>
              <a:rPr lang="es-ES" sz="1600" dirty="0"/>
              <a:t>Menor coste por bit</a:t>
            </a:r>
          </a:p>
          <a:p>
            <a:pPr lvl="1">
              <a:lnSpc>
                <a:spcPct val="100000"/>
              </a:lnSpc>
            </a:pPr>
            <a:r>
              <a:rPr lang="es-ES" sz="1800" dirty="0"/>
              <a:t>Bajo consumo en relación a SRAM</a:t>
            </a:r>
          </a:p>
          <a:p>
            <a:pPr lvl="1">
              <a:lnSpc>
                <a:spcPct val="100000"/>
              </a:lnSpc>
            </a:pPr>
            <a:r>
              <a:rPr lang="es-ES" sz="1800" dirty="0"/>
              <a:t>Con las actuales memorias DRAM síncronas (SDRAM) se consigue un mayor ancho de banda en el acceso por bloques</a:t>
            </a:r>
          </a:p>
          <a:p>
            <a:pPr lvl="2">
              <a:lnSpc>
                <a:spcPct val="100000"/>
              </a:lnSpc>
            </a:pPr>
            <a:r>
              <a:rPr lang="es-ES" sz="1600" dirty="0"/>
              <a:t>Se adapta a los procesadores con memoria cache</a:t>
            </a:r>
          </a:p>
          <a:p>
            <a:pPr>
              <a:lnSpc>
                <a:spcPct val="100000"/>
              </a:lnSpc>
            </a:pPr>
            <a:r>
              <a:rPr lang="es-ES" sz="2000" dirty="0"/>
              <a:t>Inconvenientes</a:t>
            </a:r>
          </a:p>
          <a:p>
            <a:pPr lvl="1">
              <a:lnSpc>
                <a:spcPct val="100000"/>
              </a:lnSpc>
            </a:pPr>
            <a:r>
              <a:rPr lang="es-ES" sz="1800" dirty="0"/>
              <a:t>Son más lentas que las SRAM</a:t>
            </a:r>
          </a:p>
          <a:p>
            <a:pPr lvl="1">
              <a:lnSpc>
                <a:spcPct val="100000"/>
              </a:lnSpc>
            </a:pPr>
            <a:r>
              <a:rPr lang="es-ES" sz="1800" dirty="0"/>
              <a:t>Requieren refresco periódico para evitar pérdida de información</a:t>
            </a:r>
          </a:p>
        </p:txBody>
      </p:sp>
      <p:grpSp>
        <p:nvGrpSpPr>
          <p:cNvPr id="5" name="4 Grupo"/>
          <p:cNvGrpSpPr/>
          <p:nvPr/>
        </p:nvGrpSpPr>
        <p:grpSpPr>
          <a:xfrm>
            <a:off x="6926878" y="1503572"/>
            <a:ext cx="2020151" cy="3888432"/>
            <a:chOff x="6127750" y="1771640"/>
            <a:chExt cx="2849396" cy="4368172"/>
          </a:xfrm>
        </p:grpSpPr>
        <p:sp>
          <p:nvSpPr>
            <p:cNvPr id="6" name="Rectangle 40"/>
            <p:cNvSpPr>
              <a:spLocks noChangeArrowheads="1"/>
            </p:cNvSpPr>
            <p:nvPr/>
          </p:nvSpPr>
          <p:spPr bwMode="auto">
            <a:xfrm>
              <a:off x="6127750" y="1771640"/>
              <a:ext cx="2819400" cy="2895600"/>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7" name="Line 39"/>
            <p:cNvSpPr>
              <a:spLocks noChangeShapeType="1"/>
            </p:cNvSpPr>
            <p:nvPr/>
          </p:nvSpPr>
          <p:spPr bwMode="auto">
            <a:xfrm>
              <a:off x="6692900" y="1939121"/>
              <a:ext cx="0" cy="2713037"/>
            </a:xfrm>
            <a:prstGeom prst="line">
              <a:avLst/>
            </a:prstGeom>
            <a:noFill/>
            <a:ln w="38100">
              <a:solidFill>
                <a:srgbClr val="FF8000"/>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8" name="Line 38"/>
            <p:cNvSpPr>
              <a:spLocks noChangeShapeType="1"/>
            </p:cNvSpPr>
            <p:nvPr/>
          </p:nvSpPr>
          <p:spPr bwMode="auto">
            <a:xfrm>
              <a:off x="7842250" y="2335203"/>
              <a:ext cx="914399" cy="0"/>
            </a:xfrm>
            <a:prstGeom prst="line">
              <a:avLst/>
            </a:prstGeom>
            <a:noFill/>
            <a:ln w="38100">
              <a:solidFill>
                <a:srgbClr val="D2533C"/>
              </a:solidFill>
              <a:prstDash val="sysDot"/>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9" name="Line 7"/>
            <p:cNvSpPr>
              <a:spLocks noChangeShapeType="1"/>
            </p:cNvSpPr>
            <p:nvPr/>
          </p:nvSpPr>
          <p:spPr bwMode="auto">
            <a:xfrm>
              <a:off x="6394450" y="2335203"/>
              <a:ext cx="19050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0" name="Line 8"/>
            <p:cNvSpPr>
              <a:spLocks noChangeShapeType="1"/>
            </p:cNvSpPr>
            <p:nvPr/>
          </p:nvSpPr>
          <p:spPr bwMode="auto">
            <a:xfrm flipH="1">
              <a:off x="6692900" y="2106603"/>
              <a:ext cx="0" cy="1524000"/>
            </a:xfrm>
            <a:prstGeom prst="line">
              <a:avLst/>
            </a:prstGeom>
            <a:noFill/>
            <a:ln w="38100">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1" name="Line 9"/>
            <p:cNvSpPr>
              <a:spLocks noChangeShapeType="1"/>
            </p:cNvSpPr>
            <p:nvPr/>
          </p:nvSpPr>
          <p:spPr bwMode="auto">
            <a:xfrm>
              <a:off x="7461250" y="2335203"/>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2" name="Line 10"/>
            <p:cNvSpPr>
              <a:spLocks noChangeShapeType="1"/>
            </p:cNvSpPr>
            <p:nvPr/>
          </p:nvSpPr>
          <p:spPr bwMode="auto">
            <a:xfrm flipH="1">
              <a:off x="7080250" y="2792403"/>
              <a:ext cx="762000" cy="0"/>
            </a:xfrm>
            <a:prstGeom prst="line">
              <a:avLst/>
            </a:prstGeom>
            <a:noFill/>
            <a:ln w="571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3" name="Freeform 17"/>
            <p:cNvSpPr>
              <a:spLocks/>
            </p:cNvSpPr>
            <p:nvPr/>
          </p:nvSpPr>
          <p:spPr bwMode="auto">
            <a:xfrm>
              <a:off x="6690805" y="2926308"/>
              <a:ext cx="529146" cy="305844"/>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4" name="Freeform 18"/>
            <p:cNvSpPr>
              <a:spLocks/>
            </p:cNvSpPr>
            <p:nvPr/>
          </p:nvSpPr>
          <p:spPr bwMode="auto">
            <a:xfrm>
              <a:off x="7712074" y="2950645"/>
              <a:ext cx="511175" cy="527557"/>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5" name="Line 11"/>
            <p:cNvSpPr>
              <a:spLocks noChangeShapeType="1"/>
            </p:cNvSpPr>
            <p:nvPr/>
          </p:nvSpPr>
          <p:spPr bwMode="auto">
            <a:xfrm flipH="1">
              <a:off x="7080249" y="2944803"/>
              <a:ext cx="276226" cy="0"/>
            </a:xfrm>
            <a:prstGeom prst="line">
              <a:avLst/>
            </a:prstGeom>
            <a:noFill/>
            <a:ln w="571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6" name="Line 19"/>
            <p:cNvSpPr>
              <a:spLocks noChangeShapeType="1"/>
            </p:cNvSpPr>
            <p:nvPr/>
          </p:nvSpPr>
          <p:spPr bwMode="auto">
            <a:xfrm>
              <a:off x="8223250" y="3630603"/>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7" name="Line 15"/>
            <p:cNvSpPr>
              <a:spLocks noChangeShapeType="1"/>
            </p:cNvSpPr>
            <p:nvPr/>
          </p:nvSpPr>
          <p:spPr bwMode="auto">
            <a:xfrm>
              <a:off x="7918450" y="3478203"/>
              <a:ext cx="609600" cy="0"/>
            </a:xfrm>
            <a:prstGeom prst="line">
              <a:avLst/>
            </a:prstGeom>
            <a:noFill/>
            <a:ln w="7620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8" name="Line 16"/>
            <p:cNvSpPr>
              <a:spLocks noChangeShapeType="1"/>
            </p:cNvSpPr>
            <p:nvPr/>
          </p:nvSpPr>
          <p:spPr bwMode="auto">
            <a:xfrm>
              <a:off x="7918450" y="3630603"/>
              <a:ext cx="609600" cy="0"/>
            </a:xfrm>
            <a:prstGeom prst="line">
              <a:avLst/>
            </a:prstGeom>
            <a:noFill/>
            <a:ln w="7620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19" name="Group 20"/>
            <p:cNvGrpSpPr>
              <a:grpSpLocks/>
            </p:cNvGrpSpPr>
            <p:nvPr/>
          </p:nvGrpSpPr>
          <p:grpSpPr bwMode="auto">
            <a:xfrm>
              <a:off x="7994650" y="4087803"/>
              <a:ext cx="457200" cy="152400"/>
              <a:chOff x="4800" y="2448"/>
              <a:chExt cx="288" cy="96"/>
            </a:xfrm>
          </p:grpSpPr>
          <p:sp>
            <p:nvSpPr>
              <p:cNvPr id="32" name="Line 21"/>
              <p:cNvSpPr>
                <a:spLocks noChangeShapeType="1"/>
              </p:cNvSpPr>
              <p:nvPr/>
            </p:nvSpPr>
            <p:spPr bwMode="auto">
              <a:xfrm>
                <a:off x="4800" y="2448"/>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3" name="Line 22"/>
              <p:cNvSpPr>
                <a:spLocks noChangeShapeType="1"/>
              </p:cNvSpPr>
              <p:nvPr/>
            </p:nvSpPr>
            <p:spPr bwMode="auto">
              <a:xfrm flipH="1">
                <a:off x="4800" y="2448"/>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4" name="Line 23"/>
              <p:cNvSpPr>
                <a:spLocks noChangeShapeType="1"/>
              </p:cNvSpPr>
              <p:nvPr/>
            </p:nvSpPr>
            <p:spPr bwMode="auto">
              <a:xfrm flipH="1">
                <a:off x="4848" y="2448"/>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5" name="Line 24"/>
              <p:cNvSpPr>
                <a:spLocks noChangeShapeType="1"/>
              </p:cNvSpPr>
              <p:nvPr/>
            </p:nvSpPr>
            <p:spPr bwMode="auto">
              <a:xfrm flipH="1">
                <a:off x="4896" y="2448"/>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6" name="Line 25"/>
              <p:cNvSpPr>
                <a:spLocks noChangeShapeType="1"/>
              </p:cNvSpPr>
              <p:nvPr/>
            </p:nvSpPr>
            <p:spPr bwMode="auto">
              <a:xfrm flipH="1">
                <a:off x="4944" y="2448"/>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7" name="Line 26"/>
              <p:cNvSpPr>
                <a:spLocks noChangeShapeType="1"/>
              </p:cNvSpPr>
              <p:nvPr/>
            </p:nvSpPr>
            <p:spPr bwMode="auto">
              <a:xfrm flipH="1">
                <a:off x="4992" y="2448"/>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8" name="Line 27"/>
              <p:cNvSpPr>
                <a:spLocks noChangeShapeType="1"/>
              </p:cNvSpPr>
              <p:nvPr/>
            </p:nvSpPr>
            <p:spPr bwMode="auto">
              <a:xfrm flipH="1">
                <a:off x="5040" y="2448"/>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20" name="Text Box 41"/>
            <p:cNvSpPr txBox="1">
              <a:spLocks noChangeArrowheads="1"/>
            </p:cNvSpPr>
            <p:nvPr/>
          </p:nvSpPr>
          <p:spPr bwMode="auto">
            <a:xfrm>
              <a:off x="8510588" y="329564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2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2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2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2000">
                  <a:solidFill>
                    <a:schemeClr val="tx1"/>
                  </a:solidFill>
                  <a:latin typeface="Arial" charset="0"/>
                  <a:ea typeface="ＭＳ Ｐゴシック" charset="0"/>
                </a:defRPr>
              </a:lvl9pPr>
            </a:lstStyle>
            <a:p>
              <a:r>
                <a:rPr lang="en-GB" sz="2400" b="1"/>
                <a:t>C</a:t>
              </a:r>
            </a:p>
          </p:txBody>
        </p:sp>
        <p:sp>
          <p:nvSpPr>
            <p:cNvPr id="21" name="Text Box 42"/>
            <p:cNvSpPr txBox="1">
              <a:spLocks noChangeArrowheads="1"/>
            </p:cNvSpPr>
            <p:nvPr/>
          </p:nvSpPr>
          <p:spPr bwMode="auto">
            <a:xfrm>
              <a:off x="6564954" y="1931845"/>
              <a:ext cx="2225290" cy="380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2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2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2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2000">
                  <a:solidFill>
                    <a:schemeClr val="tx1"/>
                  </a:solidFill>
                  <a:latin typeface="Arial" charset="0"/>
                  <a:ea typeface="ＭＳ Ｐゴシック" charset="0"/>
                </a:defRPr>
              </a:lvl9pPr>
            </a:lstStyle>
            <a:p>
              <a:r>
                <a:rPr lang="en-GB" sz="1600" b="1" dirty="0" err="1"/>
                <a:t>Activación</a:t>
              </a:r>
              <a:r>
                <a:rPr lang="en-GB" sz="1600" b="1" dirty="0"/>
                <a:t> fila</a:t>
              </a:r>
            </a:p>
          </p:txBody>
        </p:sp>
        <p:sp>
          <p:nvSpPr>
            <p:cNvPr id="22" name="Line 49"/>
            <p:cNvSpPr>
              <a:spLocks noChangeShapeType="1"/>
            </p:cNvSpPr>
            <p:nvPr/>
          </p:nvSpPr>
          <p:spPr bwMode="auto">
            <a:xfrm flipH="1">
              <a:off x="6692900" y="4240203"/>
              <a:ext cx="0" cy="731837"/>
            </a:xfrm>
            <a:prstGeom prst="line">
              <a:avLst/>
            </a:prstGeom>
            <a:noFill/>
            <a:ln w="38100">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3" name="Rectangle 50"/>
            <p:cNvSpPr>
              <a:spLocks noChangeArrowheads="1"/>
            </p:cNvSpPr>
            <p:nvPr/>
          </p:nvSpPr>
          <p:spPr bwMode="auto">
            <a:xfrm>
              <a:off x="6332538" y="5000261"/>
              <a:ext cx="747712" cy="369332"/>
            </a:xfrm>
            <a:prstGeom prst="rect">
              <a:avLst/>
            </a:prstGeom>
            <a:solidFill>
              <a:srgbClr val="CCFFCC"/>
            </a:solidFill>
            <a:ln w="28575">
              <a:solidFill>
                <a:srgbClr val="66FF33"/>
              </a:solidFill>
              <a:miter lim="800000"/>
              <a:headEnd/>
              <a:tailEnd/>
            </a:ln>
          </p:spPr>
          <p:txBody>
            <a:bodyPr anchor="ctr">
              <a:spAutoFit/>
            </a:bodyPr>
            <a:lstStyle/>
            <a:p>
              <a:endParaRPr lang="en-GB"/>
            </a:p>
          </p:txBody>
        </p:sp>
        <p:sp>
          <p:nvSpPr>
            <p:cNvPr id="24" name="Text Box 51"/>
            <p:cNvSpPr txBox="1">
              <a:spLocks noChangeArrowheads="1"/>
            </p:cNvSpPr>
            <p:nvPr/>
          </p:nvSpPr>
          <p:spPr bwMode="auto">
            <a:xfrm>
              <a:off x="6993784" y="4979377"/>
              <a:ext cx="1983362" cy="380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2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2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2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2000">
                  <a:solidFill>
                    <a:schemeClr val="tx1"/>
                  </a:solidFill>
                  <a:latin typeface="Arial" charset="0"/>
                  <a:ea typeface="ＭＳ Ｐゴシック" charset="0"/>
                </a:defRPr>
              </a:lvl9pPr>
            </a:lstStyle>
            <a:p>
              <a:r>
                <a:rPr lang="en-GB" sz="1600" b="1" dirty="0" err="1"/>
                <a:t>amplificador</a:t>
              </a:r>
              <a:endParaRPr lang="en-GB" sz="1600" b="1" dirty="0"/>
            </a:p>
          </p:txBody>
        </p:sp>
        <p:sp>
          <p:nvSpPr>
            <p:cNvPr id="25" name="Line 53"/>
            <p:cNvSpPr>
              <a:spLocks noChangeShapeType="1"/>
            </p:cNvSpPr>
            <p:nvPr/>
          </p:nvSpPr>
          <p:spPr bwMode="auto">
            <a:xfrm flipH="1">
              <a:off x="6934200" y="5377812"/>
              <a:ext cx="0" cy="762000"/>
            </a:xfrm>
            <a:prstGeom prst="line">
              <a:avLst/>
            </a:prstGeom>
            <a:noFill/>
            <a:ln w="38100">
              <a:solidFill>
                <a:srgbClr val="FF8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GB"/>
            </a:p>
          </p:txBody>
        </p:sp>
        <p:sp>
          <p:nvSpPr>
            <p:cNvPr id="26" name="Line 55"/>
            <p:cNvSpPr>
              <a:spLocks noChangeShapeType="1"/>
            </p:cNvSpPr>
            <p:nvPr/>
          </p:nvSpPr>
          <p:spPr bwMode="auto">
            <a:xfrm flipH="1">
              <a:off x="6477000" y="5377812"/>
              <a:ext cx="0" cy="762000"/>
            </a:xfrm>
            <a:prstGeom prst="line">
              <a:avLst/>
            </a:prstGeom>
            <a:noFill/>
            <a:ln w="38100">
              <a:solidFill>
                <a:srgbClr val="FF8000"/>
              </a:solidFill>
              <a:round/>
              <a:headEnd type="triangle" w="med" len="me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7" name="Text Box 59"/>
            <p:cNvSpPr txBox="1">
              <a:spLocks noChangeArrowheads="1"/>
            </p:cNvSpPr>
            <p:nvPr/>
          </p:nvSpPr>
          <p:spPr bwMode="auto">
            <a:xfrm rot="16200000">
              <a:off x="5689057" y="2960040"/>
              <a:ext cx="1413969" cy="477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2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2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2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2000">
                  <a:solidFill>
                    <a:schemeClr val="tx1"/>
                  </a:solidFill>
                  <a:latin typeface="Arial" charset="0"/>
                  <a:ea typeface="ＭＳ Ｐゴシック" charset="0"/>
                </a:defRPr>
              </a:lvl9pPr>
            </a:lstStyle>
            <a:p>
              <a:r>
                <a:rPr lang="en-GB" sz="1600" b="1" dirty="0" err="1">
                  <a:solidFill>
                    <a:schemeClr val="tx2"/>
                  </a:solidFill>
                </a:rPr>
                <a:t>línea</a:t>
              </a:r>
              <a:r>
                <a:rPr lang="en-GB" sz="1600" b="1" dirty="0">
                  <a:solidFill>
                    <a:schemeClr val="tx2"/>
                  </a:solidFill>
                </a:rPr>
                <a:t> de bit</a:t>
              </a:r>
            </a:p>
          </p:txBody>
        </p:sp>
        <p:sp>
          <p:nvSpPr>
            <p:cNvPr id="28" name="Line 38"/>
            <p:cNvSpPr>
              <a:spLocks noChangeShapeType="1"/>
            </p:cNvSpPr>
            <p:nvPr/>
          </p:nvSpPr>
          <p:spPr bwMode="auto">
            <a:xfrm>
              <a:off x="6226761" y="2335203"/>
              <a:ext cx="434389" cy="0"/>
            </a:xfrm>
            <a:prstGeom prst="line">
              <a:avLst/>
            </a:prstGeom>
            <a:noFill/>
            <a:ln w="38100">
              <a:solidFill>
                <a:schemeClr val="tx2"/>
              </a:solidFill>
              <a:prstDash val="sysDot"/>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9" name="Elipse 51"/>
            <p:cNvSpPr/>
            <p:nvPr/>
          </p:nvSpPr>
          <p:spPr>
            <a:xfrm>
              <a:off x="6645275" y="3182410"/>
              <a:ext cx="99483" cy="99483"/>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0" name="Elipse 52"/>
            <p:cNvSpPr/>
            <p:nvPr/>
          </p:nvSpPr>
          <p:spPr>
            <a:xfrm>
              <a:off x="7407805" y="2285469"/>
              <a:ext cx="99483" cy="99483"/>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1" name="Line 11"/>
            <p:cNvSpPr>
              <a:spLocks noChangeShapeType="1"/>
            </p:cNvSpPr>
            <p:nvPr/>
          </p:nvSpPr>
          <p:spPr bwMode="auto">
            <a:xfrm flipH="1">
              <a:off x="7566024" y="2942698"/>
              <a:ext cx="276226" cy="0"/>
            </a:xfrm>
            <a:prstGeom prst="line">
              <a:avLst/>
            </a:prstGeom>
            <a:noFill/>
            <a:ln w="571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sp>
        <p:nvSpPr>
          <p:cNvPr id="2" name="1 CuadroTexto"/>
          <p:cNvSpPr txBox="1"/>
          <p:nvPr/>
        </p:nvSpPr>
        <p:spPr>
          <a:xfrm>
            <a:off x="6967824" y="5517232"/>
            <a:ext cx="712054" cy="307777"/>
          </a:xfrm>
          <a:prstGeom prst="rect">
            <a:avLst/>
          </a:prstGeom>
          <a:noFill/>
        </p:spPr>
        <p:txBody>
          <a:bodyPr wrap="none" rtlCol="0">
            <a:spAutoFit/>
          </a:bodyPr>
          <a:lstStyle/>
          <a:p>
            <a:r>
              <a:rPr lang="en-US" sz="1400" b="1" dirty="0"/>
              <a:t>Bit I/O</a:t>
            </a:r>
          </a:p>
        </p:txBody>
      </p:sp>
      <p:sp>
        <p:nvSpPr>
          <p:cNvPr id="3" name="2 Marcador de número de diapositiva">
            <a:extLst>
              <a:ext uri="{FF2B5EF4-FFF2-40B4-BE49-F238E27FC236}">
                <a16:creationId xmlns:a16="http://schemas.microsoft.com/office/drawing/2014/main" id="{A0FB2AA4-A0DE-864F-9EC8-23477B631F81}"/>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bwMode="auto">
          <a:xfrm>
            <a:off x="5148065" y="980728"/>
            <a:ext cx="3909156" cy="5760640"/>
          </a:xfrm>
          <a:prstGeom prst="roundRect">
            <a:avLst/>
          </a:prstGeom>
          <a:solidFill>
            <a:schemeClr val="accent5">
              <a:lumMod val="20000"/>
              <a:lumOff val="80000"/>
            </a:schemeClr>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563" name="Rectangle 2"/>
          <p:cNvSpPr>
            <a:spLocks noGrp="1" noChangeArrowheads="1"/>
          </p:cNvSpPr>
          <p:nvPr>
            <p:ph type="title"/>
          </p:nvPr>
        </p:nvSpPr>
        <p:spPr/>
        <p:txBody>
          <a:bodyPr/>
          <a:lstStyle/>
          <a:p>
            <a:r>
              <a:rPr lang="es-ES" dirty="0"/>
              <a:t>Memorias RAM dinámicas SDRAM</a:t>
            </a:r>
          </a:p>
        </p:txBody>
      </p:sp>
      <p:sp>
        <p:nvSpPr>
          <p:cNvPr id="66564" name="Rectangle 3"/>
          <p:cNvSpPr>
            <a:spLocks noGrp="1" noChangeArrowheads="1"/>
          </p:cNvSpPr>
          <p:nvPr>
            <p:ph type="body" idx="1"/>
          </p:nvPr>
        </p:nvSpPr>
        <p:spPr>
          <a:xfrm>
            <a:off x="228600" y="1219200"/>
            <a:ext cx="4876800" cy="5334000"/>
          </a:xfrm>
        </p:spPr>
        <p:txBody>
          <a:bodyPr/>
          <a:lstStyle/>
          <a:p>
            <a:pPr>
              <a:lnSpc>
                <a:spcPct val="100000"/>
              </a:lnSpc>
            </a:pPr>
            <a:r>
              <a:rPr lang="es-ES" dirty="0"/>
              <a:t>Interf</a:t>
            </a:r>
            <a:r>
              <a:rPr lang="es-ES" altLang="ja-JP" dirty="0">
                <a:ea typeface="Geneva" pitchFamily="1" charset="-128"/>
              </a:rPr>
              <a:t>az del chip</a:t>
            </a:r>
          </a:p>
          <a:p>
            <a:pPr marL="819150" lvl="1">
              <a:lnSpc>
                <a:spcPct val="100000"/>
              </a:lnSpc>
            </a:pPr>
            <a:r>
              <a:rPr lang="es-ES" dirty="0"/>
              <a:t>Órdenes: son combinaciones de tres señales (</a:t>
            </a:r>
            <a:r>
              <a:rPr lang="es-ES" spc="-20" dirty="0"/>
              <a:t>RAS*, CAS* y WE*</a:t>
            </a:r>
            <a:r>
              <a:rPr lang="es-ES" dirty="0"/>
              <a:t>)</a:t>
            </a:r>
          </a:p>
          <a:p>
            <a:pPr marL="819150" lvl="1">
              <a:lnSpc>
                <a:spcPct val="100000"/>
              </a:lnSpc>
            </a:pPr>
            <a:r>
              <a:rPr lang="es-ES" dirty="0"/>
              <a:t>Banco: Selecci</a:t>
            </a:r>
            <a:r>
              <a:rPr lang="es-ES" dirty="0">
                <a:ea typeface="Geneva" pitchFamily="1" charset="-128"/>
              </a:rPr>
              <a:t>ona uno de los bancos internos de la SDRAM</a:t>
            </a:r>
            <a:endParaRPr lang="es-ES" dirty="0"/>
          </a:p>
          <a:p>
            <a:pPr marL="819150" lvl="1">
              <a:lnSpc>
                <a:spcPct val="100000"/>
              </a:lnSpc>
            </a:pPr>
            <a:r>
              <a:rPr lang="es-ES" dirty="0"/>
              <a:t>Dirección: según el orden, aprovechan para especificar una fila o una columna. El número de bits de la fila suele determinar el número de líneas</a:t>
            </a:r>
          </a:p>
          <a:p>
            <a:pPr marL="819150" lvl="1">
              <a:lnSpc>
                <a:spcPct val="100000"/>
              </a:lnSpc>
            </a:pPr>
            <a:r>
              <a:rPr lang="es-ES" dirty="0"/>
              <a:t>Datos: tantas líneas como el ancho de palabra</a:t>
            </a:r>
          </a:p>
          <a:p>
            <a:pPr marL="819150" lvl="1">
              <a:lnSpc>
                <a:spcPct val="100000"/>
              </a:lnSpc>
            </a:pPr>
            <a:r>
              <a:rPr lang="es-ES" dirty="0"/>
              <a:t>M</a:t>
            </a:r>
            <a:r>
              <a:rPr lang="es-ES" altLang="ja-JP" dirty="0">
                <a:ea typeface="Geneva" pitchFamily="1" charset="-128"/>
              </a:rPr>
              <a:t>áscara de datos: útil para seleccionar octetos dentro de la palabra</a:t>
            </a:r>
            <a:endParaRPr lang="es-ES" dirty="0"/>
          </a:p>
        </p:txBody>
      </p:sp>
      <p:sp>
        <p:nvSpPr>
          <p:cNvPr id="66565" name="Rectangle 4"/>
          <p:cNvSpPr>
            <a:spLocks noChangeArrowheads="1"/>
          </p:cNvSpPr>
          <p:nvPr/>
        </p:nvSpPr>
        <p:spPr bwMode="auto">
          <a:xfrm>
            <a:off x="7054850" y="1196975"/>
            <a:ext cx="914400" cy="5356225"/>
          </a:xfrm>
          <a:prstGeom prst="rect">
            <a:avLst/>
          </a:prstGeom>
          <a:solidFill>
            <a:schemeClr val="bg2">
              <a:lumMod val="90000"/>
            </a:schemeClr>
          </a:solidFill>
          <a:ln w="28575">
            <a:solidFill>
              <a:schemeClr val="tx1"/>
            </a:solidFill>
            <a:miter lim="800000"/>
            <a:headEnd/>
            <a:tailEnd/>
          </a:ln>
        </p:spPr>
        <p:txBody>
          <a:bodyPr anchor="ctr">
            <a:spAutoFit/>
          </a:bodyPr>
          <a:lstStyle/>
          <a:p>
            <a:endParaRPr lang="es-ES"/>
          </a:p>
        </p:txBody>
      </p:sp>
      <p:sp>
        <p:nvSpPr>
          <p:cNvPr id="66566" name="Line 5"/>
          <p:cNvSpPr>
            <a:spLocks noChangeShapeType="1"/>
          </p:cNvSpPr>
          <p:nvPr/>
        </p:nvSpPr>
        <p:spPr bwMode="auto">
          <a:xfrm>
            <a:off x="6445250" y="18478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67" name="Text Box 6"/>
          <p:cNvSpPr txBox="1">
            <a:spLocks noChangeArrowheads="1"/>
          </p:cNvSpPr>
          <p:nvPr/>
        </p:nvSpPr>
        <p:spPr bwMode="auto">
          <a:xfrm>
            <a:off x="7131050" y="1284288"/>
            <a:ext cx="493713" cy="304800"/>
          </a:xfrm>
          <a:prstGeom prst="rect">
            <a:avLst/>
          </a:prstGeom>
          <a:noFill/>
          <a:ln w="12700">
            <a:noFill/>
            <a:miter lim="800000"/>
            <a:headEnd/>
            <a:tailEnd/>
          </a:ln>
        </p:spPr>
        <p:txBody>
          <a:bodyPr wrap="none" lIns="0" tIns="0" rIns="0" bIns="0" anchor="ctr">
            <a:spAutoFit/>
          </a:bodyPr>
          <a:lstStyle/>
          <a:p>
            <a:r>
              <a:rPr lang="es-ES_tradnl"/>
              <a:t>CLK</a:t>
            </a:r>
          </a:p>
        </p:txBody>
      </p:sp>
      <p:sp>
        <p:nvSpPr>
          <p:cNvPr id="66568" name="Text Box 7"/>
          <p:cNvSpPr txBox="1">
            <a:spLocks noChangeArrowheads="1"/>
          </p:cNvSpPr>
          <p:nvPr/>
        </p:nvSpPr>
        <p:spPr bwMode="auto">
          <a:xfrm>
            <a:off x="7127875" y="1649413"/>
            <a:ext cx="841375" cy="396875"/>
          </a:xfrm>
          <a:prstGeom prst="rect">
            <a:avLst/>
          </a:prstGeom>
          <a:noFill/>
          <a:ln w="19050">
            <a:noFill/>
            <a:miter lim="800000"/>
            <a:headEnd/>
            <a:tailEnd/>
          </a:ln>
        </p:spPr>
        <p:txBody>
          <a:bodyPr lIns="0" tIns="0" rIns="0" bIns="0" anchor="ctr"/>
          <a:lstStyle/>
          <a:p>
            <a:pPr algn="l"/>
            <a:r>
              <a:rPr lang="es-ES_tradnl" dirty="0"/>
              <a:t>CS*</a:t>
            </a:r>
          </a:p>
        </p:txBody>
      </p:sp>
      <p:sp>
        <p:nvSpPr>
          <p:cNvPr id="66569" name="Line 8"/>
          <p:cNvSpPr>
            <a:spLocks noChangeShapeType="1"/>
          </p:cNvSpPr>
          <p:nvPr/>
        </p:nvSpPr>
        <p:spPr bwMode="auto">
          <a:xfrm>
            <a:off x="6445250" y="1436688"/>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0" name="Text Box 9"/>
          <p:cNvSpPr txBox="1">
            <a:spLocks noChangeArrowheads="1"/>
          </p:cNvSpPr>
          <p:nvPr/>
        </p:nvSpPr>
        <p:spPr bwMode="auto">
          <a:xfrm>
            <a:off x="5724128" y="1196752"/>
            <a:ext cx="720080" cy="396875"/>
          </a:xfrm>
          <a:prstGeom prst="rect">
            <a:avLst/>
          </a:prstGeom>
          <a:noFill/>
          <a:ln w="19050">
            <a:noFill/>
            <a:miter lim="800000"/>
            <a:headEnd/>
            <a:tailEnd/>
          </a:ln>
        </p:spPr>
        <p:txBody>
          <a:bodyPr lIns="0" tIns="0" rIns="0" bIns="0" anchor="ctr"/>
          <a:lstStyle/>
          <a:p>
            <a:pPr algn="l"/>
            <a:r>
              <a:rPr lang="es-ES_tradnl" sz="1600" dirty="0"/>
              <a:t>Reloj</a:t>
            </a:r>
          </a:p>
        </p:txBody>
      </p:sp>
      <p:sp>
        <p:nvSpPr>
          <p:cNvPr id="66571" name="Text Box 10"/>
          <p:cNvSpPr txBox="1">
            <a:spLocks noChangeArrowheads="1"/>
          </p:cNvSpPr>
          <p:nvPr/>
        </p:nvSpPr>
        <p:spPr bwMode="auto">
          <a:xfrm>
            <a:off x="5302576" y="2556589"/>
            <a:ext cx="787074" cy="246221"/>
          </a:xfrm>
          <a:prstGeom prst="rect">
            <a:avLst/>
          </a:prstGeom>
          <a:noFill/>
          <a:ln w="19050">
            <a:noFill/>
            <a:miter lim="800000"/>
            <a:headEnd/>
            <a:tailEnd/>
          </a:ln>
        </p:spPr>
        <p:txBody>
          <a:bodyPr wrap="none" lIns="0" tIns="0" rIns="0" bIns="0" anchor="ctr">
            <a:spAutoFit/>
          </a:bodyPr>
          <a:lstStyle/>
          <a:p>
            <a:pPr algn="r"/>
            <a:r>
              <a:rPr lang="es-ES_tradnl" sz="1600" dirty="0"/>
              <a:t>Órdenes</a:t>
            </a:r>
          </a:p>
        </p:txBody>
      </p:sp>
      <p:sp>
        <p:nvSpPr>
          <p:cNvPr id="66572" name="Text Box 11"/>
          <p:cNvSpPr txBox="1">
            <a:spLocks noChangeArrowheads="1"/>
          </p:cNvSpPr>
          <p:nvPr/>
        </p:nvSpPr>
        <p:spPr bwMode="auto">
          <a:xfrm>
            <a:off x="5439758" y="434174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dirección</a:t>
            </a:r>
          </a:p>
        </p:txBody>
      </p:sp>
      <p:sp>
        <p:nvSpPr>
          <p:cNvPr id="66573" name="Line 13"/>
          <p:cNvSpPr>
            <a:spLocks noChangeShapeType="1"/>
          </p:cNvSpPr>
          <p:nvPr/>
        </p:nvSpPr>
        <p:spPr bwMode="auto">
          <a:xfrm>
            <a:off x="6445250" y="2420938"/>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4" name="Text Box 14"/>
          <p:cNvSpPr txBox="1">
            <a:spLocks noChangeArrowheads="1"/>
          </p:cNvSpPr>
          <p:nvPr/>
        </p:nvSpPr>
        <p:spPr bwMode="auto">
          <a:xfrm>
            <a:off x="7127875" y="2206625"/>
            <a:ext cx="841375" cy="396875"/>
          </a:xfrm>
          <a:prstGeom prst="rect">
            <a:avLst/>
          </a:prstGeom>
          <a:noFill/>
          <a:ln w="19050">
            <a:noFill/>
            <a:miter lim="800000"/>
            <a:headEnd/>
            <a:tailEnd/>
          </a:ln>
        </p:spPr>
        <p:txBody>
          <a:bodyPr lIns="0" tIns="0" rIns="0" bIns="0" anchor="ctr"/>
          <a:lstStyle/>
          <a:p>
            <a:pPr algn="l"/>
            <a:r>
              <a:rPr lang="es-ES_tradnl" dirty="0"/>
              <a:t>RAS*</a:t>
            </a:r>
          </a:p>
        </p:txBody>
      </p:sp>
      <p:sp>
        <p:nvSpPr>
          <p:cNvPr id="66575" name="Line 15"/>
          <p:cNvSpPr>
            <a:spLocks noChangeShapeType="1"/>
          </p:cNvSpPr>
          <p:nvPr/>
        </p:nvSpPr>
        <p:spPr bwMode="auto">
          <a:xfrm>
            <a:off x="6445250" y="45529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6" name="Text Box 16"/>
          <p:cNvSpPr txBox="1">
            <a:spLocks noChangeArrowheads="1"/>
          </p:cNvSpPr>
          <p:nvPr/>
        </p:nvSpPr>
        <p:spPr bwMode="auto">
          <a:xfrm>
            <a:off x="7127875" y="4354513"/>
            <a:ext cx="307975" cy="396875"/>
          </a:xfrm>
          <a:prstGeom prst="rect">
            <a:avLst/>
          </a:prstGeom>
          <a:noFill/>
          <a:ln w="19050">
            <a:noFill/>
            <a:miter lim="800000"/>
            <a:headEnd/>
            <a:tailEnd/>
          </a:ln>
        </p:spPr>
        <p:txBody>
          <a:bodyPr lIns="0" tIns="0" rIns="0" bIns="0" anchor="ctr"/>
          <a:lstStyle/>
          <a:p>
            <a:pPr algn="l"/>
            <a:r>
              <a:rPr lang="es-ES_tradnl"/>
              <a:t>A</a:t>
            </a:r>
            <a:r>
              <a:rPr lang="es-ES_tradnl" b="1" baseline="-25000"/>
              <a:t>i</a:t>
            </a:r>
            <a:endParaRPr lang="es-ES_tradnl"/>
          </a:p>
        </p:txBody>
      </p:sp>
      <p:sp>
        <p:nvSpPr>
          <p:cNvPr id="66577" name="Line 17"/>
          <p:cNvSpPr>
            <a:spLocks noChangeShapeType="1"/>
          </p:cNvSpPr>
          <p:nvPr/>
        </p:nvSpPr>
        <p:spPr bwMode="auto">
          <a:xfrm>
            <a:off x="6445250" y="2708275"/>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8" name="Text Box 18"/>
          <p:cNvSpPr txBox="1">
            <a:spLocks noChangeArrowheads="1"/>
          </p:cNvSpPr>
          <p:nvPr/>
        </p:nvSpPr>
        <p:spPr bwMode="auto">
          <a:xfrm>
            <a:off x="7127875" y="2511425"/>
            <a:ext cx="841375" cy="396875"/>
          </a:xfrm>
          <a:prstGeom prst="rect">
            <a:avLst/>
          </a:prstGeom>
          <a:noFill/>
          <a:ln w="19050">
            <a:noFill/>
            <a:miter lim="800000"/>
            <a:headEnd/>
            <a:tailEnd/>
          </a:ln>
        </p:spPr>
        <p:txBody>
          <a:bodyPr lIns="0" tIns="0" rIns="0" bIns="0" anchor="ctr"/>
          <a:lstStyle/>
          <a:p>
            <a:pPr algn="l"/>
            <a:r>
              <a:rPr lang="es-ES_tradnl" dirty="0"/>
              <a:t>CAS*</a:t>
            </a:r>
          </a:p>
        </p:txBody>
      </p:sp>
      <p:sp>
        <p:nvSpPr>
          <p:cNvPr id="66579" name="Line 19"/>
          <p:cNvSpPr>
            <a:spLocks noChangeShapeType="1"/>
          </p:cNvSpPr>
          <p:nvPr/>
        </p:nvSpPr>
        <p:spPr bwMode="auto">
          <a:xfrm>
            <a:off x="6445250" y="35623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80" name="Text Box 20"/>
          <p:cNvSpPr txBox="1">
            <a:spLocks noChangeArrowheads="1"/>
          </p:cNvSpPr>
          <p:nvPr/>
        </p:nvSpPr>
        <p:spPr bwMode="auto">
          <a:xfrm>
            <a:off x="7127875" y="2816225"/>
            <a:ext cx="841375" cy="396875"/>
          </a:xfrm>
          <a:prstGeom prst="rect">
            <a:avLst/>
          </a:prstGeom>
          <a:noFill/>
          <a:ln w="19050">
            <a:noFill/>
            <a:miter lim="800000"/>
            <a:headEnd/>
            <a:tailEnd/>
          </a:ln>
        </p:spPr>
        <p:txBody>
          <a:bodyPr lIns="0" tIns="0" rIns="0" bIns="0" anchor="ctr"/>
          <a:lstStyle/>
          <a:p>
            <a:pPr algn="l"/>
            <a:r>
              <a:rPr lang="es-ES_tradnl" dirty="0"/>
              <a:t>WE*</a:t>
            </a:r>
          </a:p>
        </p:txBody>
      </p:sp>
      <p:sp>
        <p:nvSpPr>
          <p:cNvPr id="66581" name="AutoShape 22"/>
          <p:cNvSpPr>
            <a:spLocks/>
          </p:cNvSpPr>
          <p:nvPr/>
        </p:nvSpPr>
        <p:spPr bwMode="auto">
          <a:xfrm>
            <a:off x="6197600" y="2298700"/>
            <a:ext cx="174625" cy="838200"/>
          </a:xfrm>
          <a:prstGeom prst="leftBrace">
            <a:avLst>
              <a:gd name="adj1" fmla="val 40000"/>
              <a:gd name="adj2" fmla="val 50000"/>
            </a:avLst>
          </a:prstGeom>
          <a:noFill/>
          <a:ln w="12700">
            <a:solidFill>
              <a:schemeClr val="tx1"/>
            </a:solidFill>
            <a:round/>
            <a:headEnd/>
            <a:tailEnd/>
          </a:ln>
        </p:spPr>
        <p:txBody>
          <a:bodyPr wrap="none" lIns="0" tIns="0" rIns="0" bIns="0" anchor="ctr"/>
          <a:lstStyle/>
          <a:p>
            <a:endParaRPr lang="es-ES"/>
          </a:p>
        </p:txBody>
      </p:sp>
      <p:grpSp>
        <p:nvGrpSpPr>
          <p:cNvPr id="2" name="Group 25"/>
          <p:cNvGrpSpPr>
            <a:grpSpLocks/>
          </p:cNvGrpSpPr>
          <p:nvPr/>
        </p:nvGrpSpPr>
        <p:grpSpPr bwMode="auto">
          <a:xfrm>
            <a:off x="7969250" y="4078288"/>
            <a:ext cx="490538" cy="863600"/>
            <a:chOff x="2208" y="2928"/>
            <a:chExt cx="720" cy="768"/>
          </a:xfrm>
        </p:grpSpPr>
        <p:sp>
          <p:nvSpPr>
            <p:cNvPr id="66608" name="Freeform 23"/>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p>
          </p:txBody>
        </p:sp>
        <p:sp>
          <p:nvSpPr>
            <p:cNvPr id="66609" name="Freeform 24"/>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p>
          </p:txBody>
        </p:sp>
      </p:grpSp>
      <p:sp>
        <p:nvSpPr>
          <p:cNvPr id="66583" name="Text Box 26"/>
          <p:cNvSpPr txBox="1">
            <a:spLocks noChangeArrowheads="1"/>
          </p:cNvSpPr>
          <p:nvPr/>
        </p:nvSpPr>
        <p:spPr bwMode="auto">
          <a:xfrm>
            <a:off x="5439758" y="589756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entrada</a:t>
            </a:r>
            <a:br>
              <a:rPr lang="es-ES_tradnl" sz="1600" dirty="0"/>
            </a:br>
            <a:r>
              <a:rPr lang="es-ES_tradnl" sz="1600" dirty="0"/>
              <a:t>salida</a:t>
            </a:r>
            <a:br>
              <a:rPr lang="es-ES_tradnl" sz="1600" dirty="0"/>
            </a:br>
            <a:r>
              <a:rPr lang="es-ES_tradnl" sz="1600" dirty="0"/>
              <a:t>de datos</a:t>
            </a:r>
          </a:p>
        </p:txBody>
      </p:sp>
      <p:sp>
        <p:nvSpPr>
          <p:cNvPr id="66584" name="Line 27"/>
          <p:cNvSpPr>
            <a:spLocks noChangeShapeType="1"/>
          </p:cNvSpPr>
          <p:nvPr/>
        </p:nvSpPr>
        <p:spPr bwMode="auto">
          <a:xfrm>
            <a:off x="6445250" y="6096000"/>
            <a:ext cx="609600" cy="0"/>
          </a:xfrm>
          <a:prstGeom prst="line">
            <a:avLst/>
          </a:prstGeom>
          <a:noFill/>
          <a:ln w="19050">
            <a:solidFill>
              <a:schemeClr val="tx1"/>
            </a:solidFill>
            <a:round/>
            <a:headEnd type="triangle" w="med" len="med"/>
            <a:tailEnd type="triangle" w="med" len="med"/>
          </a:ln>
        </p:spPr>
        <p:txBody>
          <a:bodyPr anchor="ctr">
            <a:spAutoFit/>
          </a:bodyPr>
          <a:lstStyle/>
          <a:p>
            <a:endParaRPr lang="es-ES"/>
          </a:p>
        </p:txBody>
      </p:sp>
      <p:sp>
        <p:nvSpPr>
          <p:cNvPr id="66585" name="Text Box 28"/>
          <p:cNvSpPr txBox="1">
            <a:spLocks noChangeArrowheads="1"/>
          </p:cNvSpPr>
          <p:nvPr/>
        </p:nvSpPr>
        <p:spPr bwMode="auto">
          <a:xfrm>
            <a:off x="7127875" y="5943600"/>
            <a:ext cx="307975" cy="396875"/>
          </a:xfrm>
          <a:prstGeom prst="rect">
            <a:avLst/>
          </a:prstGeom>
          <a:noFill/>
          <a:ln w="19050">
            <a:noFill/>
            <a:miter lim="800000"/>
            <a:headEnd/>
            <a:tailEnd/>
          </a:ln>
        </p:spPr>
        <p:txBody>
          <a:bodyPr lIns="0" tIns="0" rIns="0" bIns="0" anchor="ctr"/>
          <a:lstStyle/>
          <a:p>
            <a:pPr algn="l"/>
            <a:r>
              <a:rPr lang="es-ES_tradnl"/>
              <a:t>D</a:t>
            </a:r>
            <a:r>
              <a:rPr lang="es-ES_tradnl" b="1" baseline="-25000"/>
              <a:t>i</a:t>
            </a:r>
            <a:endParaRPr lang="es-ES_tradnl"/>
          </a:p>
        </p:txBody>
      </p:sp>
      <p:sp>
        <p:nvSpPr>
          <p:cNvPr id="66586" name="Text Box 29"/>
          <p:cNvSpPr txBox="1">
            <a:spLocks noChangeArrowheads="1"/>
          </p:cNvSpPr>
          <p:nvPr/>
        </p:nvSpPr>
        <p:spPr bwMode="auto">
          <a:xfrm>
            <a:off x="5377815" y="1694577"/>
            <a:ext cx="886460" cy="246221"/>
          </a:xfrm>
          <a:prstGeom prst="rect">
            <a:avLst/>
          </a:prstGeom>
          <a:noFill/>
          <a:ln w="19050">
            <a:noFill/>
            <a:miter lim="800000"/>
            <a:headEnd/>
            <a:tailEnd/>
          </a:ln>
        </p:spPr>
        <p:txBody>
          <a:bodyPr wrap="none" lIns="0" tIns="0" rIns="0" bIns="0" anchor="ctr">
            <a:spAutoFit/>
          </a:bodyPr>
          <a:lstStyle/>
          <a:p>
            <a:pPr algn="r"/>
            <a:r>
              <a:rPr lang="es-ES_tradnl" sz="1600" dirty="0"/>
              <a:t>Selecci</a:t>
            </a:r>
            <a:r>
              <a:rPr lang="es-ES_tradnl" altLang="ja-JP" sz="1600" dirty="0">
                <a:ea typeface="Geneva" pitchFamily="1" charset="-128"/>
              </a:rPr>
              <a:t>ón</a:t>
            </a:r>
            <a:endParaRPr lang="es-ES_tradnl" sz="1600" dirty="0"/>
          </a:p>
        </p:txBody>
      </p:sp>
      <p:sp>
        <p:nvSpPr>
          <p:cNvPr id="66587" name="Rectangle 32"/>
          <p:cNvSpPr>
            <a:spLocks noChangeArrowheads="1"/>
          </p:cNvSpPr>
          <p:nvPr/>
        </p:nvSpPr>
        <p:spPr bwMode="blackWhite">
          <a:xfrm rot="10800000">
            <a:off x="8459788" y="3633788"/>
            <a:ext cx="287337" cy="874712"/>
          </a:xfrm>
          <a:prstGeom prst="rect">
            <a:avLst/>
          </a:prstGeom>
          <a:solidFill>
            <a:srgbClr val="FF8000"/>
          </a:solidFill>
          <a:ln w="12700">
            <a:solidFill>
              <a:schemeClr val="accent5">
                <a:lumMod val="75000"/>
              </a:schemeClr>
            </a:solidFill>
            <a:miter lim="800000"/>
            <a:headEnd/>
            <a:tailEnd/>
          </a:ln>
        </p:spPr>
        <p:txBody>
          <a:bodyPr vert="eaVert" lIns="0" tIns="0" rIns="0" bIns="0" anchor="ctr"/>
          <a:lstStyle/>
          <a:p>
            <a:r>
              <a:rPr lang="es-ES"/>
              <a:t>Fila</a:t>
            </a:r>
          </a:p>
        </p:txBody>
      </p:sp>
      <p:sp>
        <p:nvSpPr>
          <p:cNvPr id="66588" name="Rectangle 42"/>
          <p:cNvSpPr>
            <a:spLocks noChangeArrowheads="1"/>
          </p:cNvSpPr>
          <p:nvPr/>
        </p:nvSpPr>
        <p:spPr bwMode="blackWhite">
          <a:xfrm rot="10800000">
            <a:off x="8459788" y="4510088"/>
            <a:ext cx="287337" cy="919162"/>
          </a:xfrm>
          <a:prstGeom prst="rect">
            <a:avLst/>
          </a:prstGeom>
          <a:solidFill>
            <a:srgbClr val="99FF66"/>
          </a:solidFill>
          <a:ln w="12700">
            <a:solidFill>
              <a:schemeClr val="accent5">
                <a:lumMod val="75000"/>
              </a:schemeClr>
            </a:solidFill>
            <a:miter lim="800000"/>
            <a:headEnd/>
            <a:tailEnd/>
          </a:ln>
        </p:spPr>
        <p:txBody>
          <a:bodyPr vert="eaVert" lIns="0" tIns="0" rIns="0" bIns="0" anchor="ctr"/>
          <a:lstStyle/>
          <a:p>
            <a:r>
              <a:rPr lang="es-ES" dirty="0">
                <a:latin typeface="Arial Narrow" pitchFamily="34" charset="0"/>
              </a:rPr>
              <a:t>Columna</a:t>
            </a:r>
          </a:p>
        </p:txBody>
      </p:sp>
      <p:sp>
        <p:nvSpPr>
          <p:cNvPr id="66589" name="Text Box 43"/>
          <p:cNvSpPr txBox="1">
            <a:spLocks noChangeArrowheads="1"/>
          </p:cNvSpPr>
          <p:nvPr/>
        </p:nvSpPr>
        <p:spPr bwMode="auto">
          <a:xfrm>
            <a:off x="7127875" y="3392488"/>
            <a:ext cx="496888" cy="396875"/>
          </a:xfrm>
          <a:prstGeom prst="rect">
            <a:avLst/>
          </a:prstGeom>
          <a:noFill/>
          <a:ln w="19050">
            <a:noFill/>
            <a:miter lim="800000"/>
            <a:headEnd/>
            <a:tailEnd/>
          </a:ln>
        </p:spPr>
        <p:txBody>
          <a:bodyPr lIns="0" tIns="0" rIns="0" bIns="0" anchor="ctr"/>
          <a:lstStyle/>
          <a:p>
            <a:pPr algn="l"/>
            <a:r>
              <a:rPr lang="es-ES_tradnl"/>
              <a:t>BA</a:t>
            </a:r>
            <a:r>
              <a:rPr lang="es-ES_tradnl" b="1" baseline="-25000"/>
              <a:t>i</a:t>
            </a:r>
            <a:endParaRPr lang="es-ES_tradnl"/>
          </a:p>
        </p:txBody>
      </p:sp>
      <p:sp>
        <p:nvSpPr>
          <p:cNvPr id="66590" name="Text Box 44"/>
          <p:cNvSpPr txBox="1">
            <a:spLocks noChangeArrowheads="1"/>
          </p:cNvSpPr>
          <p:nvPr/>
        </p:nvSpPr>
        <p:spPr bwMode="auto">
          <a:xfrm>
            <a:off x="5651500" y="3357563"/>
            <a:ext cx="641350" cy="396875"/>
          </a:xfrm>
          <a:prstGeom prst="rect">
            <a:avLst/>
          </a:prstGeom>
          <a:noFill/>
          <a:ln w="19050">
            <a:noFill/>
            <a:miter lim="800000"/>
            <a:headEnd/>
            <a:tailEnd/>
          </a:ln>
        </p:spPr>
        <p:txBody>
          <a:bodyPr wrap="none" lIns="0" tIns="0" rIns="0" bIns="0" anchor="ctr"/>
          <a:lstStyle/>
          <a:p>
            <a:pPr algn="r">
              <a:lnSpc>
                <a:spcPct val="80000"/>
              </a:lnSpc>
            </a:pPr>
            <a:r>
              <a:rPr lang="es-ES_tradnl" sz="1600" dirty="0"/>
              <a:t>banco</a:t>
            </a:r>
          </a:p>
        </p:txBody>
      </p:sp>
      <p:sp>
        <p:nvSpPr>
          <p:cNvPr id="66591" name="Line 45"/>
          <p:cNvSpPr>
            <a:spLocks noChangeShapeType="1"/>
          </p:cNvSpPr>
          <p:nvPr/>
        </p:nvSpPr>
        <p:spPr bwMode="auto">
          <a:xfrm>
            <a:off x="6443663" y="299720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92" name="Line 46"/>
          <p:cNvSpPr>
            <a:spLocks noChangeShapeType="1"/>
          </p:cNvSpPr>
          <p:nvPr/>
        </p:nvSpPr>
        <p:spPr bwMode="auto">
          <a:xfrm>
            <a:off x="7969250" y="1436688"/>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3" name="Line 47"/>
          <p:cNvSpPr>
            <a:spLocks noChangeShapeType="1"/>
          </p:cNvSpPr>
          <p:nvPr/>
        </p:nvSpPr>
        <p:spPr bwMode="auto">
          <a:xfrm>
            <a:off x="7969250" y="1844675"/>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4" name="Line 48"/>
          <p:cNvSpPr>
            <a:spLocks noChangeShapeType="1"/>
          </p:cNvSpPr>
          <p:nvPr/>
        </p:nvSpPr>
        <p:spPr bwMode="auto">
          <a:xfrm>
            <a:off x="7969250" y="2420938"/>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5" name="Line 49"/>
          <p:cNvSpPr>
            <a:spLocks noChangeShapeType="1"/>
          </p:cNvSpPr>
          <p:nvPr/>
        </p:nvSpPr>
        <p:spPr bwMode="auto">
          <a:xfrm>
            <a:off x="7969250" y="2708275"/>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6" name="Line 50"/>
          <p:cNvSpPr>
            <a:spLocks noChangeShapeType="1"/>
          </p:cNvSpPr>
          <p:nvPr/>
        </p:nvSpPr>
        <p:spPr bwMode="auto">
          <a:xfrm>
            <a:off x="7969250" y="2995613"/>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7" name="Rectangle 51"/>
          <p:cNvSpPr>
            <a:spLocks noChangeArrowheads="1"/>
          </p:cNvSpPr>
          <p:nvPr/>
        </p:nvSpPr>
        <p:spPr bwMode="auto">
          <a:xfrm rot="10800000">
            <a:off x="8243888" y="1196975"/>
            <a:ext cx="360362" cy="2016125"/>
          </a:xfrm>
          <a:prstGeom prst="rect">
            <a:avLst/>
          </a:prstGeom>
          <a:noFill/>
          <a:ln w="19050">
            <a:solidFill>
              <a:schemeClr val="tx1"/>
            </a:solidFill>
            <a:prstDash val="dash"/>
            <a:miter lim="800000"/>
            <a:headEnd/>
            <a:tailEnd/>
          </a:ln>
        </p:spPr>
        <p:txBody>
          <a:bodyPr vert="eaVert" wrap="none" lIns="0" tIns="0" rIns="0" bIns="0" anchor="ctr"/>
          <a:lstStyle/>
          <a:p>
            <a:r>
              <a:rPr lang="es-ES_tradnl"/>
              <a:t>Control</a:t>
            </a:r>
            <a:endParaRPr lang="es-ES"/>
          </a:p>
        </p:txBody>
      </p:sp>
      <p:sp>
        <p:nvSpPr>
          <p:cNvPr id="66598" name="Line 53"/>
          <p:cNvSpPr>
            <a:spLocks noChangeShapeType="1"/>
          </p:cNvSpPr>
          <p:nvPr/>
        </p:nvSpPr>
        <p:spPr bwMode="auto">
          <a:xfrm>
            <a:off x="7969250" y="3573463"/>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grpSp>
        <p:nvGrpSpPr>
          <p:cNvPr id="3" name="Group 55"/>
          <p:cNvGrpSpPr>
            <a:grpSpLocks/>
          </p:cNvGrpSpPr>
          <p:nvPr/>
        </p:nvGrpSpPr>
        <p:grpSpPr bwMode="auto">
          <a:xfrm>
            <a:off x="7969250" y="5867400"/>
            <a:ext cx="490538" cy="449263"/>
            <a:chOff x="2208" y="2928"/>
            <a:chExt cx="720" cy="768"/>
          </a:xfrm>
        </p:grpSpPr>
        <p:sp>
          <p:nvSpPr>
            <p:cNvPr id="66606" name="Freeform 56"/>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p>
          </p:txBody>
        </p:sp>
        <p:sp>
          <p:nvSpPr>
            <p:cNvPr id="66607" name="Freeform 57"/>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p>
          </p:txBody>
        </p:sp>
      </p:grpSp>
      <p:sp>
        <p:nvSpPr>
          <p:cNvPr id="66600" name="Text Box 58"/>
          <p:cNvSpPr txBox="1">
            <a:spLocks noChangeArrowheads="1"/>
          </p:cNvSpPr>
          <p:nvPr/>
        </p:nvSpPr>
        <p:spPr bwMode="auto">
          <a:xfrm>
            <a:off x="8454492" y="5863427"/>
            <a:ext cx="602729" cy="492443"/>
          </a:xfrm>
          <a:prstGeom prst="rect">
            <a:avLst/>
          </a:prstGeom>
          <a:noFill/>
          <a:ln w="19050">
            <a:noFill/>
            <a:miter lim="800000"/>
            <a:headEnd/>
            <a:tailEnd/>
          </a:ln>
        </p:spPr>
        <p:txBody>
          <a:bodyPr wrap="none" lIns="0" tIns="0" rIns="0" bIns="0" anchor="ctr">
            <a:spAutoFit/>
          </a:bodyPr>
          <a:lstStyle/>
          <a:p>
            <a:r>
              <a:rPr lang="es-ES_tradnl" sz="1600" dirty="0"/>
              <a:t>L</a:t>
            </a:r>
            <a:r>
              <a:rPr lang="es-ES_tradnl" altLang="ja-JP" sz="1600" dirty="0">
                <a:ea typeface="Geneva" pitchFamily="1" charset="-128"/>
              </a:rPr>
              <a:t>ógica</a:t>
            </a:r>
            <a:br>
              <a:rPr lang="es-ES_tradnl" altLang="ja-JP" sz="1600" dirty="0">
                <a:ea typeface="Geneva" pitchFamily="1" charset="-128"/>
              </a:rPr>
            </a:br>
            <a:r>
              <a:rPr lang="es-ES_tradnl" altLang="ja-JP" sz="1600" dirty="0">
                <a:ea typeface="Geneva" pitchFamily="1" charset="-128"/>
              </a:rPr>
              <a:t>E/S</a:t>
            </a:r>
            <a:endParaRPr lang="es-ES_tradnl" sz="1600" dirty="0"/>
          </a:p>
        </p:txBody>
      </p:sp>
      <p:sp>
        <p:nvSpPr>
          <p:cNvPr id="66601" name="Text Box 59"/>
          <p:cNvSpPr txBox="1">
            <a:spLocks noChangeArrowheads="1"/>
          </p:cNvSpPr>
          <p:nvPr/>
        </p:nvSpPr>
        <p:spPr bwMode="auto">
          <a:xfrm>
            <a:off x="5477681" y="5226050"/>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m</a:t>
            </a:r>
            <a:r>
              <a:rPr lang="es-ES_tradnl" altLang="ja-JP" sz="1600" dirty="0">
                <a:ea typeface="Geneva" pitchFamily="1" charset="-128"/>
              </a:rPr>
              <a:t>áscara</a:t>
            </a:r>
            <a:br>
              <a:rPr lang="es-ES_tradnl" altLang="ja-JP" sz="1600" dirty="0">
                <a:ea typeface="Geneva" pitchFamily="1" charset="-128"/>
              </a:rPr>
            </a:br>
            <a:r>
              <a:rPr lang="es-ES_tradnl" altLang="ja-JP" sz="1600" dirty="0">
                <a:ea typeface="Geneva" pitchFamily="1" charset="-128"/>
              </a:rPr>
              <a:t>de datos</a:t>
            </a:r>
            <a:endParaRPr lang="es-ES_tradnl" sz="1600" dirty="0"/>
          </a:p>
        </p:txBody>
      </p:sp>
      <p:sp>
        <p:nvSpPr>
          <p:cNvPr id="66602" name="Line 60"/>
          <p:cNvSpPr>
            <a:spLocks noChangeShapeType="1"/>
          </p:cNvSpPr>
          <p:nvPr/>
        </p:nvSpPr>
        <p:spPr bwMode="auto">
          <a:xfrm>
            <a:off x="6445250" y="548640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603" name="Text Box 61"/>
          <p:cNvSpPr txBox="1">
            <a:spLocks noChangeArrowheads="1"/>
          </p:cNvSpPr>
          <p:nvPr/>
        </p:nvSpPr>
        <p:spPr bwMode="auto">
          <a:xfrm>
            <a:off x="7127875" y="5318125"/>
            <a:ext cx="720725" cy="396875"/>
          </a:xfrm>
          <a:prstGeom prst="rect">
            <a:avLst/>
          </a:prstGeom>
          <a:noFill/>
          <a:ln w="19050">
            <a:noFill/>
            <a:miter lim="800000"/>
            <a:headEnd/>
            <a:tailEnd/>
          </a:ln>
        </p:spPr>
        <p:txBody>
          <a:bodyPr lIns="0" tIns="0" rIns="0" bIns="0" anchor="ctr"/>
          <a:lstStyle/>
          <a:p>
            <a:pPr algn="l"/>
            <a:r>
              <a:rPr lang="es-ES_tradnl" dirty="0"/>
              <a:t>DQM</a:t>
            </a:r>
          </a:p>
        </p:txBody>
      </p:sp>
      <p:sp>
        <p:nvSpPr>
          <p:cNvPr id="66604" name="Line 62"/>
          <p:cNvSpPr>
            <a:spLocks noChangeShapeType="1"/>
          </p:cNvSpPr>
          <p:nvPr/>
        </p:nvSpPr>
        <p:spPr bwMode="auto">
          <a:xfrm>
            <a:off x="7969250" y="5486400"/>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5" name="2 Marcador de número de diapositiva">
            <a:extLst>
              <a:ext uri="{FF2B5EF4-FFF2-40B4-BE49-F238E27FC236}">
                <a16:creationId xmlns:a16="http://schemas.microsoft.com/office/drawing/2014/main" id="{9FECA352-8670-31D5-5FF1-6FD94157DA1A}"/>
              </a:ext>
            </a:extLst>
          </p:cNvPr>
          <p:cNvSpPr>
            <a:spLocks noGrp="1"/>
          </p:cNvSpPr>
          <p:nvPr>
            <p:ph type="sldNum" sz="quarter" idx="12"/>
          </p:nvPr>
        </p:nvSpPr>
        <p:spPr>
          <a:xfrm>
            <a:off x="8686800" y="6525344"/>
            <a:ext cx="457200" cy="328612"/>
          </a:xfrm>
        </p:spPr>
        <p:txBody>
          <a:bodyPr/>
          <a:lstStyle/>
          <a:p>
            <a:pPr>
              <a:defRPr/>
            </a:pPr>
            <a:fld id="{51035083-A155-4028-8A67-2E61E721E30B}" type="slidenum">
              <a:rPr lang="en-US" smtClean="0"/>
              <a:pPr>
                <a:defRPr/>
              </a:pPr>
              <a:t>44</a:t>
            </a:fld>
            <a:endParaRPr lang="en-US" dirty="0"/>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57466-290B-23B7-38B9-994FC82BEF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0F6ED8-BAF2-7E50-7ACD-1DE6C2BA618E}"/>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1D787AF8-FF12-8DA5-C876-F8B88E0F293E}"/>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solidFill>
                  <a:srgbClr val="FF0000"/>
                </a:solidFill>
              </a:rPr>
              <a:t>Organización</a:t>
            </a:r>
          </a:p>
          <a:p>
            <a:pPr marL="977900" lvl="2" indent="-457200">
              <a:lnSpc>
                <a:spcPct val="90000"/>
              </a:lnSpc>
              <a:buFont typeface="+mj-lt"/>
              <a:buAutoNum type="romanUcPeriod"/>
            </a:pPr>
            <a:r>
              <a:rPr lang="es-ES" dirty="0"/>
              <a:t>Direccionamiento</a:t>
            </a:r>
          </a:p>
          <a:p>
            <a:pPr marL="977900" lvl="2" indent="-457200">
              <a:lnSpc>
                <a:spcPct val="90000"/>
              </a:lnSpc>
              <a:buFont typeface="+mj-lt"/>
              <a:buAutoNum type="romanUcPeriod"/>
            </a:pPr>
            <a:r>
              <a:rPr lang="es-ES" dirty="0"/>
              <a:t>Temporización</a:t>
            </a:r>
          </a:p>
          <a:p>
            <a:pPr marL="977900" lvl="2" indent="-457200">
              <a:lnSpc>
                <a:spcPct val="90000"/>
              </a:lnSpc>
              <a:buFont typeface="+mj-lt"/>
              <a:buAutoNum type="romanUcPeriod"/>
            </a:pPr>
            <a:r>
              <a:rPr lang="es-ES" dirty="0"/>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D5B58E34-F358-74A7-AE80-989FB358C3A4}"/>
              </a:ext>
            </a:extLst>
          </p:cNvPr>
          <p:cNvSpPr>
            <a:spLocks noGrp="1"/>
          </p:cNvSpPr>
          <p:nvPr>
            <p:ph type="sldNum" sz="quarter" idx="12"/>
          </p:nvPr>
        </p:nvSpPr>
        <p:spPr/>
        <p:txBody>
          <a:bodyPr/>
          <a:lstStyle/>
          <a:p>
            <a:pPr>
              <a:defRPr/>
            </a:pPr>
            <a:fld id="{50B7A251-C820-4EFF-8270-C7613E20881F}" type="slidenum">
              <a:rPr lang="en-US" smtClean="0"/>
              <a:pPr>
                <a:defRPr/>
              </a:pPr>
              <a:t>45</a:t>
            </a:fld>
            <a:endParaRPr lang="en-US" dirty="0"/>
          </a:p>
        </p:txBody>
      </p:sp>
      <p:sp>
        <p:nvSpPr>
          <p:cNvPr id="5" name="Rectángulo 4">
            <a:extLst>
              <a:ext uri="{FF2B5EF4-FFF2-40B4-BE49-F238E27FC236}">
                <a16:creationId xmlns:a16="http://schemas.microsoft.com/office/drawing/2014/main" id="{3BCCD970-F260-BF96-9E14-D1BD8B2CCBA0}"/>
              </a:ext>
            </a:extLst>
          </p:cNvPr>
          <p:cNvSpPr/>
          <p:nvPr/>
        </p:nvSpPr>
        <p:spPr>
          <a:xfrm>
            <a:off x="4550370" y="2633647"/>
            <a:ext cx="4122221" cy="1471172"/>
          </a:xfrm>
          <a:prstGeom prst="rect">
            <a:avLst/>
          </a:prstGeom>
        </p:spPr>
        <p:txBody>
          <a:bodyPr wrap="square">
            <a:spAutoFit/>
          </a:bodyPr>
          <a:lstStyle/>
          <a:p>
            <a:pPr algn="l"/>
            <a:r>
              <a:rPr lang="es-ES" sz="1600" dirty="0">
                <a:solidFill>
                  <a:schemeClr val="accent1">
                    <a:lumMod val="75000"/>
                  </a:schemeClr>
                </a:solidFill>
              </a:rPr>
              <a:t>Vídeos relacionados:</a:t>
            </a:r>
          </a:p>
          <a:p>
            <a:pPr marL="742950" lvl="1" indent="-285750" algn="l">
              <a:buFont typeface="Arial" panose="020B0604020202020204" pitchFamily="34" charset="0"/>
              <a:buChar char="•"/>
            </a:pPr>
            <a:r>
              <a:rPr lang="es-ES" sz="1600" dirty="0">
                <a:solidFill>
                  <a:schemeClr val="accent1">
                    <a:lumMod val="75000"/>
                  </a:schemeClr>
                </a:solidFill>
              </a:rPr>
              <a:t>Vídeo 2. “Geometría DRAM”</a:t>
            </a:r>
          </a:p>
          <a:p>
            <a:pPr marL="742950" lvl="1" indent="-285750" algn="l">
              <a:buFont typeface="Arial" panose="020B0604020202020204" pitchFamily="34" charset="0"/>
              <a:buChar char="•"/>
            </a:pPr>
            <a:r>
              <a:rPr lang="es-ES" sz="1600" dirty="0">
                <a:solidFill>
                  <a:schemeClr val="accent1">
                    <a:lumMod val="75000"/>
                  </a:schemeClr>
                </a:solidFill>
              </a:rPr>
              <a:t>Vídeo 3. “Geometría DRAM: Ejemplo”</a:t>
            </a:r>
          </a:p>
          <a:p>
            <a:pPr lvl="1" algn="l"/>
            <a:endParaRPr lang="es-ES" sz="1600" dirty="0">
              <a:solidFill>
                <a:schemeClr val="accent1">
                  <a:lumMod val="75000"/>
                </a:schemeClr>
              </a:solidFill>
            </a:endParaRPr>
          </a:p>
        </p:txBody>
      </p:sp>
      <p:sp>
        <p:nvSpPr>
          <p:cNvPr id="6" name="Rectángulo 5">
            <a:extLst>
              <a:ext uri="{FF2B5EF4-FFF2-40B4-BE49-F238E27FC236}">
                <a16:creationId xmlns:a16="http://schemas.microsoft.com/office/drawing/2014/main" id="{C6666BEB-6358-6F86-E821-FDA2F4C5AAC1}"/>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Tree>
    <p:extLst>
      <p:ext uri="{BB962C8B-B14F-4D97-AF65-F5344CB8AC3E}">
        <p14:creationId xmlns:p14="http://schemas.microsoft.com/office/powerpoint/2010/main" val="2422681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Memorias RAM dinámicas</a:t>
            </a:r>
            <a:endParaRPr lang="es-ES_tradnl" dirty="0"/>
          </a:p>
        </p:txBody>
      </p:sp>
      <p:sp>
        <p:nvSpPr>
          <p:cNvPr id="3" name="Marcador de contenido 2"/>
          <p:cNvSpPr>
            <a:spLocks noGrp="1"/>
          </p:cNvSpPr>
          <p:nvPr>
            <p:ph idx="1"/>
          </p:nvPr>
        </p:nvSpPr>
        <p:spPr>
          <a:xfrm>
            <a:off x="597365" y="1960713"/>
            <a:ext cx="4284897" cy="4876800"/>
          </a:xfrm>
        </p:spPr>
        <p:txBody>
          <a:bodyPr>
            <a:normAutofit/>
          </a:bodyPr>
          <a:lstStyle/>
          <a:p>
            <a:r>
              <a:rPr lang="en-GB" sz="2000" dirty="0" err="1"/>
              <a:t>Organización</a:t>
            </a:r>
            <a:r>
              <a:rPr lang="en-GB" sz="2000" dirty="0"/>
              <a:t> de las </a:t>
            </a:r>
            <a:r>
              <a:rPr lang="en-GB" sz="2000" dirty="0" err="1"/>
              <a:t>celdas</a:t>
            </a:r>
            <a:r>
              <a:rPr lang="en-GB" sz="2000" dirty="0"/>
              <a:t> </a:t>
            </a:r>
            <a:r>
              <a:rPr lang="en-GB" sz="2000" dirty="0" err="1"/>
              <a:t>internas</a:t>
            </a:r>
            <a:r>
              <a:rPr lang="en-GB" sz="2000" dirty="0"/>
              <a:t> </a:t>
            </a:r>
            <a:r>
              <a:rPr lang="en-GB" sz="2000" dirty="0" err="1"/>
              <a:t>en</a:t>
            </a:r>
            <a:r>
              <a:rPr lang="en-GB" sz="2000" dirty="0"/>
              <a:t> </a:t>
            </a:r>
            <a:r>
              <a:rPr lang="en-GB" sz="2000" dirty="0" err="1"/>
              <a:t>una</a:t>
            </a:r>
            <a:r>
              <a:rPr lang="en-GB" sz="2000" dirty="0"/>
              <a:t> </a:t>
            </a:r>
            <a:r>
              <a:rPr lang="en-GB" sz="2000" dirty="0" err="1"/>
              <a:t>matriz</a:t>
            </a:r>
            <a:endParaRPr lang="en-GB" sz="2000" dirty="0"/>
          </a:p>
          <a:p>
            <a:pPr lvl="1"/>
            <a:r>
              <a:rPr lang="en-GB" sz="1800" dirty="0" err="1"/>
              <a:t>Acceso</a:t>
            </a:r>
            <a:r>
              <a:rPr lang="en-GB" sz="1800" dirty="0"/>
              <a:t> </a:t>
            </a:r>
            <a:r>
              <a:rPr lang="en-GB" sz="1800" dirty="0" err="1"/>
              <a:t>en</a:t>
            </a:r>
            <a:r>
              <a:rPr lang="en-GB" sz="1800" dirty="0"/>
              <a:t> dos </a:t>
            </a:r>
            <a:r>
              <a:rPr lang="en-GB" sz="1800" dirty="0" err="1"/>
              <a:t>pasos</a:t>
            </a:r>
            <a:r>
              <a:rPr lang="en-GB" sz="1800" dirty="0"/>
              <a:t>: primero fila y </a:t>
            </a:r>
            <a:r>
              <a:rPr lang="en-GB" sz="1800" dirty="0" err="1"/>
              <a:t>después</a:t>
            </a:r>
            <a:r>
              <a:rPr lang="en-GB" sz="1800" dirty="0"/>
              <a:t> </a:t>
            </a:r>
            <a:r>
              <a:rPr lang="en-GB" sz="1800" dirty="0" err="1"/>
              <a:t>columna</a:t>
            </a:r>
            <a:endParaRPr lang="en-GB" sz="1800" dirty="0"/>
          </a:p>
          <a:p>
            <a:r>
              <a:rPr lang="en-GB" sz="2000" dirty="0"/>
              <a:t>Se </a:t>
            </a:r>
            <a:r>
              <a:rPr lang="en-GB" sz="2000" dirty="0" err="1"/>
              <a:t>vuelcan</a:t>
            </a:r>
            <a:r>
              <a:rPr lang="en-GB" sz="2000" dirty="0"/>
              <a:t> a </a:t>
            </a:r>
            <a:r>
              <a:rPr lang="en-GB" sz="2000" dirty="0" err="1"/>
              <a:t>los</a:t>
            </a:r>
            <a:r>
              <a:rPr lang="en-GB" sz="2000" dirty="0"/>
              <a:t> </a:t>
            </a:r>
            <a:r>
              <a:rPr lang="en-GB" sz="2000" dirty="0" err="1"/>
              <a:t>amplificadores</a:t>
            </a:r>
            <a:r>
              <a:rPr lang="en-GB" sz="2000" dirty="0"/>
              <a:t> </a:t>
            </a:r>
            <a:r>
              <a:rPr lang="en-GB" sz="2000" dirty="0" err="1"/>
              <a:t>todos</a:t>
            </a:r>
            <a:r>
              <a:rPr lang="en-GB" sz="2000" dirty="0"/>
              <a:t> </a:t>
            </a:r>
            <a:r>
              <a:rPr lang="en-GB" sz="2000" dirty="0" err="1"/>
              <a:t>los</a:t>
            </a:r>
            <a:r>
              <a:rPr lang="en-GB" sz="2000" dirty="0"/>
              <a:t> bits de la fila</a:t>
            </a:r>
          </a:p>
          <a:p>
            <a:r>
              <a:rPr lang="en-GB" sz="2000" dirty="0"/>
              <a:t>Se </a:t>
            </a:r>
            <a:r>
              <a:rPr lang="en-GB" sz="2000" dirty="0" err="1"/>
              <a:t>puede</a:t>
            </a:r>
            <a:r>
              <a:rPr lang="en-GB" sz="2000" dirty="0"/>
              <a:t> leer los bits de </a:t>
            </a:r>
            <a:r>
              <a:rPr lang="en-GB" sz="2000" dirty="0" err="1"/>
              <a:t>columnas</a:t>
            </a:r>
            <a:r>
              <a:rPr lang="en-GB" sz="2000" dirty="0"/>
              <a:t> </a:t>
            </a:r>
            <a:r>
              <a:rPr lang="en-GB" sz="2000" dirty="0" err="1"/>
              <a:t>consecutivas</a:t>
            </a:r>
            <a:r>
              <a:rPr lang="en-GB" sz="2000" dirty="0"/>
              <a:t> sin </a:t>
            </a:r>
            <a:r>
              <a:rPr lang="en-GB" sz="2000" dirty="0" err="1"/>
              <a:t>necesidad</a:t>
            </a:r>
            <a:r>
              <a:rPr lang="en-GB" sz="2000" dirty="0"/>
              <a:t> de </a:t>
            </a:r>
            <a:r>
              <a:rPr lang="en-GB" sz="2000" dirty="0" err="1"/>
              <a:t>volver</a:t>
            </a:r>
            <a:r>
              <a:rPr lang="en-GB" sz="2000" dirty="0"/>
              <a:t> a </a:t>
            </a:r>
            <a:r>
              <a:rPr lang="en-GB" sz="2000" dirty="0" err="1"/>
              <a:t>especificar</a:t>
            </a:r>
            <a:r>
              <a:rPr lang="en-GB" sz="2000" dirty="0"/>
              <a:t> la fila </a:t>
            </a:r>
          </a:p>
          <a:p>
            <a:r>
              <a:rPr lang="en-GB" sz="2000" dirty="0"/>
              <a:t>El </a:t>
            </a:r>
            <a:r>
              <a:rPr lang="en-GB" sz="2000" dirty="0" err="1"/>
              <a:t>refresco</a:t>
            </a:r>
            <a:r>
              <a:rPr lang="en-GB" sz="2000" dirty="0"/>
              <a:t> se </a:t>
            </a:r>
            <a:r>
              <a:rPr lang="en-GB" sz="2000" dirty="0" err="1"/>
              <a:t>hace</a:t>
            </a:r>
            <a:r>
              <a:rPr lang="en-GB" sz="2000" dirty="0"/>
              <a:t> </a:t>
            </a:r>
            <a:r>
              <a:rPr lang="en-GB" sz="2000" dirty="0" err="1"/>
              <a:t>simultáneamente</a:t>
            </a:r>
            <a:r>
              <a:rPr lang="en-GB" sz="2000" dirty="0"/>
              <a:t> a </a:t>
            </a:r>
            <a:r>
              <a:rPr lang="en-GB" sz="2000" dirty="0" err="1"/>
              <a:t>todos</a:t>
            </a:r>
            <a:r>
              <a:rPr lang="en-GB" sz="2000" dirty="0"/>
              <a:t> </a:t>
            </a:r>
            <a:r>
              <a:rPr lang="en-GB" sz="2000" dirty="0" err="1"/>
              <a:t>los</a:t>
            </a:r>
            <a:r>
              <a:rPr lang="en-GB" sz="2000" dirty="0"/>
              <a:t> bits de </a:t>
            </a:r>
            <a:r>
              <a:rPr lang="en-GB" sz="2000" dirty="0" err="1"/>
              <a:t>una</a:t>
            </a:r>
            <a:r>
              <a:rPr lang="en-GB" sz="2000" dirty="0"/>
              <a:t> </a:t>
            </a:r>
            <a:r>
              <a:rPr lang="en-GB" sz="2000" dirty="0" err="1"/>
              <a:t>misma</a:t>
            </a:r>
            <a:r>
              <a:rPr lang="en-GB" sz="2000" dirty="0"/>
              <a:t> fila</a:t>
            </a:r>
          </a:p>
        </p:txBody>
      </p:sp>
      <p:sp>
        <p:nvSpPr>
          <p:cNvPr id="5" name="Marcador de número de diapositiva 4"/>
          <p:cNvSpPr>
            <a:spLocks noGrp="1"/>
          </p:cNvSpPr>
          <p:nvPr>
            <p:ph type="sldNum" sz="quarter" idx="12"/>
          </p:nvPr>
        </p:nvSpPr>
        <p:spPr/>
        <p:txBody>
          <a:bodyPr/>
          <a:lstStyle/>
          <a:p>
            <a:fld id="{0CFEC368-1D7A-4F81-ABF6-AE0E36BAF64C}" type="slidenum">
              <a:rPr lang="en-US" smtClean="0"/>
              <a:pPr/>
              <a:t>46</a:t>
            </a:fld>
            <a:endParaRPr lang="en-US"/>
          </a:p>
        </p:txBody>
      </p:sp>
      <p:sp>
        <p:nvSpPr>
          <p:cNvPr id="6" name="CuadroTexto 5"/>
          <p:cNvSpPr txBox="1"/>
          <p:nvPr/>
        </p:nvSpPr>
        <p:spPr>
          <a:xfrm>
            <a:off x="70002" y="38285"/>
            <a:ext cx="1937550" cy="276999"/>
          </a:xfrm>
          <a:prstGeom prst="rect">
            <a:avLst/>
          </a:prstGeom>
          <a:noFill/>
        </p:spPr>
        <p:txBody>
          <a:bodyPr wrap="none" rtlCol="0">
            <a:spAutoFit/>
          </a:bodyPr>
          <a:lstStyle/>
          <a:p>
            <a:r>
              <a:rPr lang="en-GB" sz="1200" dirty="0">
                <a:solidFill>
                  <a:srgbClr val="FFFFFF"/>
                </a:solidFill>
              </a:rPr>
              <a:t>4: Dynamic RAM memory</a:t>
            </a:r>
          </a:p>
        </p:txBody>
      </p:sp>
      <p:grpSp>
        <p:nvGrpSpPr>
          <p:cNvPr id="599" name="Agrupar 598"/>
          <p:cNvGrpSpPr/>
          <p:nvPr/>
        </p:nvGrpSpPr>
        <p:grpSpPr>
          <a:xfrm>
            <a:off x="4882741" y="2216885"/>
            <a:ext cx="4080834" cy="3008117"/>
            <a:chOff x="4862662" y="2038088"/>
            <a:chExt cx="4080834" cy="3008117"/>
          </a:xfrm>
        </p:grpSpPr>
        <p:sp>
          <p:nvSpPr>
            <p:cNvPr id="31" name="Rectangle 50"/>
            <p:cNvSpPr>
              <a:spLocks noChangeArrowheads="1"/>
            </p:cNvSpPr>
            <p:nvPr/>
          </p:nvSpPr>
          <p:spPr bwMode="auto">
            <a:xfrm>
              <a:off x="4954956" y="4618818"/>
              <a:ext cx="141216" cy="69753"/>
            </a:xfrm>
            <a:prstGeom prst="rect">
              <a:avLst/>
            </a:prstGeom>
            <a:solidFill>
              <a:srgbClr val="CCFFCC"/>
            </a:solidFill>
            <a:ln w="9525" cmpd="sng">
              <a:solidFill>
                <a:srgbClr val="66FF33"/>
              </a:solidFill>
              <a:miter lim="800000"/>
              <a:headEnd/>
              <a:tailEnd/>
            </a:ln>
          </p:spPr>
          <p:txBody>
            <a:bodyPr anchor="ctr">
              <a:spAutoFit/>
            </a:bodyPr>
            <a:lstStyle/>
            <a:p>
              <a:endParaRPr lang="en-GB"/>
            </a:p>
          </p:txBody>
        </p:sp>
        <p:sp>
          <p:nvSpPr>
            <p:cNvPr id="33" name="Line 53"/>
            <p:cNvSpPr>
              <a:spLocks noChangeShapeType="1"/>
            </p:cNvSpPr>
            <p:nvPr/>
          </p:nvSpPr>
          <p:spPr bwMode="auto">
            <a:xfrm flipH="1">
              <a:off x="5020291" y="4690124"/>
              <a:ext cx="0" cy="143914"/>
            </a:xfrm>
            <a:prstGeom prst="line">
              <a:avLst/>
            </a:prstGeom>
            <a:noFill/>
            <a:ln w="9525" cmpd="sng">
              <a:solidFill>
                <a:srgbClr val="FF8000"/>
              </a:solidFill>
              <a:round/>
              <a:headEnd type="triangle" w="sm" len="sm"/>
              <a:tailEnd type="triangle" w="sm" len="sm"/>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42" name="Agrupar 41"/>
            <p:cNvGrpSpPr/>
            <p:nvPr/>
          </p:nvGrpSpPr>
          <p:grpSpPr>
            <a:xfrm>
              <a:off x="4862662" y="2038653"/>
              <a:ext cx="682626" cy="648000"/>
              <a:chOff x="4862662" y="2038653"/>
              <a:chExt cx="682626" cy="648000"/>
            </a:xfrm>
          </p:grpSpPr>
          <p:sp>
            <p:nvSpPr>
              <p:cNvPr id="7"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10"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1"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2"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3"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4"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5"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6"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7"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8"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9"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20" name="Group 20"/>
              <p:cNvGrpSpPr>
                <a:grpSpLocks/>
              </p:cNvGrpSpPr>
              <p:nvPr/>
            </p:nvGrpSpPr>
            <p:grpSpPr bwMode="auto">
              <a:xfrm>
                <a:off x="5266539" y="2508080"/>
                <a:ext cx="86348" cy="28783"/>
                <a:chOff x="4800" y="2448"/>
                <a:chExt cx="288" cy="96"/>
              </a:xfrm>
            </p:grpSpPr>
            <p:sp>
              <p:nvSpPr>
                <p:cNvPr id="21"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2"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3"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4"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5"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6"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7"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38" name="Elipse 37"/>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9" name="Elipse 38"/>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0"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43" name="Agrupar 42"/>
            <p:cNvGrpSpPr/>
            <p:nvPr/>
          </p:nvGrpSpPr>
          <p:grpSpPr>
            <a:xfrm>
              <a:off x="5542870" y="2038653"/>
              <a:ext cx="682626" cy="648000"/>
              <a:chOff x="4862662" y="2038653"/>
              <a:chExt cx="682626" cy="648000"/>
            </a:xfrm>
          </p:grpSpPr>
          <p:sp>
            <p:nvSpPr>
              <p:cNvPr id="44"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45"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6"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7"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8"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9"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0"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1"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2"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3"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4"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55" name="Group 20"/>
              <p:cNvGrpSpPr>
                <a:grpSpLocks/>
              </p:cNvGrpSpPr>
              <p:nvPr/>
            </p:nvGrpSpPr>
            <p:grpSpPr bwMode="auto">
              <a:xfrm>
                <a:off x="5266539" y="2508080"/>
                <a:ext cx="86348" cy="28783"/>
                <a:chOff x="4800" y="2448"/>
                <a:chExt cx="288" cy="96"/>
              </a:xfrm>
            </p:grpSpPr>
            <p:sp>
              <p:nvSpPr>
                <p:cNvPr id="59"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60"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61"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62"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63"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64"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65"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56" name="Elipse 55"/>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7" name="Elipse 56"/>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8"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66" name="Agrupar 65"/>
            <p:cNvGrpSpPr/>
            <p:nvPr/>
          </p:nvGrpSpPr>
          <p:grpSpPr>
            <a:xfrm>
              <a:off x="6221725" y="2038653"/>
              <a:ext cx="682626" cy="648000"/>
              <a:chOff x="4862662" y="2038653"/>
              <a:chExt cx="682626" cy="648000"/>
            </a:xfrm>
          </p:grpSpPr>
          <p:sp>
            <p:nvSpPr>
              <p:cNvPr id="67"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68"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69"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70"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71"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72"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73"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74"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75"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76"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77"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78" name="Group 20"/>
              <p:cNvGrpSpPr>
                <a:grpSpLocks/>
              </p:cNvGrpSpPr>
              <p:nvPr/>
            </p:nvGrpSpPr>
            <p:grpSpPr bwMode="auto">
              <a:xfrm>
                <a:off x="5266539" y="2508080"/>
                <a:ext cx="86348" cy="28783"/>
                <a:chOff x="4800" y="2448"/>
                <a:chExt cx="288" cy="96"/>
              </a:xfrm>
            </p:grpSpPr>
            <p:sp>
              <p:nvSpPr>
                <p:cNvPr id="82"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83"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84"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85"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86"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87"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88"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79" name="Elipse 78"/>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80" name="Elipse 79"/>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81"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89" name="Agrupar 88"/>
            <p:cNvGrpSpPr/>
            <p:nvPr/>
          </p:nvGrpSpPr>
          <p:grpSpPr>
            <a:xfrm>
              <a:off x="6901933" y="2038653"/>
              <a:ext cx="682626" cy="648000"/>
              <a:chOff x="4862662" y="2038653"/>
              <a:chExt cx="682626" cy="648000"/>
            </a:xfrm>
          </p:grpSpPr>
          <p:sp>
            <p:nvSpPr>
              <p:cNvPr id="90"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91"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92"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93"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94"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95"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96"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97"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98"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99"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00"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101" name="Group 20"/>
              <p:cNvGrpSpPr>
                <a:grpSpLocks/>
              </p:cNvGrpSpPr>
              <p:nvPr/>
            </p:nvGrpSpPr>
            <p:grpSpPr bwMode="auto">
              <a:xfrm>
                <a:off x="5266539" y="2508080"/>
                <a:ext cx="86348" cy="28783"/>
                <a:chOff x="4800" y="2448"/>
                <a:chExt cx="288" cy="96"/>
              </a:xfrm>
            </p:grpSpPr>
            <p:sp>
              <p:nvSpPr>
                <p:cNvPr id="105"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06"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07"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08"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09"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10"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11"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102" name="Elipse 101"/>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03" name="Elipse 102"/>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04"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112" name="Agrupar 111"/>
            <p:cNvGrpSpPr/>
            <p:nvPr/>
          </p:nvGrpSpPr>
          <p:grpSpPr>
            <a:xfrm>
              <a:off x="4862662" y="2682685"/>
              <a:ext cx="682626" cy="648000"/>
              <a:chOff x="4862662" y="2038653"/>
              <a:chExt cx="682626" cy="648000"/>
            </a:xfrm>
          </p:grpSpPr>
          <p:sp>
            <p:nvSpPr>
              <p:cNvPr id="113"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114"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15"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16"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17"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18"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19"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20"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21"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22"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23"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124" name="Group 20"/>
              <p:cNvGrpSpPr>
                <a:grpSpLocks/>
              </p:cNvGrpSpPr>
              <p:nvPr/>
            </p:nvGrpSpPr>
            <p:grpSpPr bwMode="auto">
              <a:xfrm>
                <a:off x="5266539" y="2508080"/>
                <a:ext cx="86348" cy="28783"/>
                <a:chOff x="4800" y="2448"/>
                <a:chExt cx="288" cy="96"/>
              </a:xfrm>
            </p:grpSpPr>
            <p:sp>
              <p:nvSpPr>
                <p:cNvPr id="128"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29"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30"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31"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32"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33"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34"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125" name="Elipse 124"/>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26" name="Elipse 125"/>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27"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135" name="Agrupar 134"/>
            <p:cNvGrpSpPr/>
            <p:nvPr/>
          </p:nvGrpSpPr>
          <p:grpSpPr>
            <a:xfrm>
              <a:off x="5542870" y="2682685"/>
              <a:ext cx="682626" cy="648000"/>
              <a:chOff x="4862662" y="2038653"/>
              <a:chExt cx="682626" cy="648000"/>
            </a:xfrm>
          </p:grpSpPr>
          <p:sp>
            <p:nvSpPr>
              <p:cNvPr id="136"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137"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38"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39"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40"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41"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42"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43"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44"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45"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46"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147" name="Group 20"/>
              <p:cNvGrpSpPr>
                <a:grpSpLocks/>
              </p:cNvGrpSpPr>
              <p:nvPr/>
            </p:nvGrpSpPr>
            <p:grpSpPr bwMode="auto">
              <a:xfrm>
                <a:off x="5266539" y="2508080"/>
                <a:ext cx="86348" cy="28783"/>
                <a:chOff x="4800" y="2448"/>
                <a:chExt cx="288" cy="96"/>
              </a:xfrm>
            </p:grpSpPr>
            <p:sp>
              <p:nvSpPr>
                <p:cNvPr id="151"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52"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53"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54"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55"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56"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57"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148" name="Elipse 147"/>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49" name="Elipse 148"/>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50"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158" name="Agrupar 157"/>
            <p:cNvGrpSpPr/>
            <p:nvPr/>
          </p:nvGrpSpPr>
          <p:grpSpPr>
            <a:xfrm>
              <a:off x="6221725" y="2682685"/>
              <a:ext cx="682626" cy="648000"/>
              <a:chOff x="4862662" y="2038653"/>
              <a:chExt cx="682626" cy="648000"/>
            </a:xfrm>
          </p:grpSpPr>
          <p:sp>
            <p:nvSpPr>
              <p:cNvPr id="159"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160"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61"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62"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63"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64"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65"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66"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67"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68"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69"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170" name="Group 20"/>
              <p:cNvGrpSpPr>
                <a:grpSpLocks/>
              </p:cNvGrpSpPr>
              <p:nvPr/>
            </p:nvGrpSpPr>
            <p:grpSpPr bwMode="auto">
              <a:xfrm>
                <a:off x="5266539" y="2508080"/>
                <a:ext cx="86348" cy="28783"/>
                <a:chOff x="4800" y="2448"/>
                <a:chExt cx="288" cy="96"/>
              </a:xfrm>
            </p:grpSpPr>
            <p:sp>
              <p:nvSpPr>
                <p:cNvPr id="174"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75"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76"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77"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78"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79"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80"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171" name="Elipse 170"/>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72" name="Elipse 171"/>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73"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181" name="Agrupar 180"/>
            <p:cNvGrpSpPr/>
            <p:nvPr/>
          </p:nvGrpSpPr>
          <p:grpSpPr>
            <a:xfrm>
              <a:off x="6901933" y="2682120"/>
              <a:ext cx="682626" cy="648000"/>
              <a:chOff x="4862662" y="2038653"/>
              <a:chExt cx="682626" cy="648000"/>
            </a:xfrm>
          </p:grpSpPr>
          <p:sp>
            <p:nvSpPr>
              <p:cNvPr id="182"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183"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84"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85"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86"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87"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88"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189"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190"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91"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92"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193" name="Group 20"/>
              <p:cNvGrpSpPr>
                <a:grpSpLocks/>
              </p:cNvGrpSpPr>
              <p:nvPr/>
            </p:nvGrpSpPr>
            <p:grpSpPr bwMode="auto">
              <a:xfrm>
                <a:off x="5266539" y="2508080"/>
                <a:ext cx="86348" cy="28783"/>
                <a:chOff x="4800" y="2448"/>
                <a:chExt cx="288" cy="96"/>
              </a:xfrm>
            </p:grpSpPr>
            <p:sp>
              <p:nvSpPr>
                <p:cNvPr id="197"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198"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199"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00"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01"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02"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03"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194" name="Elipse 193"/>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95" name="Elipse 194"/>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196"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205" name="Agrupar 204"/>
            <p:cNvGrpSpPr/>
            <p:nvPr/>
          </p:nvGrpSpPr>
          <p:grpSpPr>
            <a:xfrm>
              <a:off x="7580662" y="2038088"/>
              <a:ext cx="682626" cy="648000"/>
              <a:chOff x="4862662" y="2038653"/>
              <a:chExt cx="682626" cy="648000"/>
            </a:xfrm>
          </p:grpSpPr>
          <p:sp>
            <p:nvSpPr>
              <p:cNvPr id="206"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207"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08"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09"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10"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11"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12"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13"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14"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15"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16"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217" name="Group 20"/>
              <p:cNvGrpSpPr>
                <a:grpSpLocks/>
              </p:cNvGrpSpPr>
              <p:nvPr/>
            </p:nvGrpSpPr>
            <p:grpSpPr bwMode="auto">
              <a:xfrm>
                <a:off x="5266539" y="2508080"/>
                <a:ext cx="86348" cy="28783"/>
                <a:chOff x="4800" y="2448"/>
                <a:chExt cx="288" cy="96"/>
              </a:xfrm>
            </p:grpSpPr>
            <p:sp>
              <p:nvSpPr>
                <p:cNvPr id="221"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22"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23"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24"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25"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26"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27"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218" name="Elipse 217"/>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19" name="Elipse 218"/>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20"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228" name="Agrupar 227"/>
            <p:cNvGrpSpPr/>
            <p:nvPr/>
          </p:nvGrpSpPr>
          <p:grpSpPr>
            <a:xfrm>
              <a:off x="8260870" y="2038088"/>
              <a:ext cx="682626" cy="648000"/>
              <a:chOff x="4862662" y="2038653"/>
              <a:chExt cx="682626" cy="648000"/>
            </a:xfrm>
          </p:grpSpPr>
          <p:sp>
            <p:nvSpPr>
              <p:cNvPr id="229"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230"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31"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32"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33"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34"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35"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36"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37"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38"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39"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240" name="Group 20"/>
              <p:cNvGrpSpPr>
                <a:grpSpLocks/>
              </p:cNvGrpSpPr>
              <p:nvPr/>
            </p:nvGrpSpPr>
            <p:grpSpPr bwMode="auto">
              <a:xfrm>
                <a:off x="5266539" y="2508080"/>
                <a:ext cx="86348" cy="28783"/>
                <a:chOff x="4800" y="2448"/>
                <a:chExt cx="288" cy="96"/>
              </a:xfrm>
            </p:grpSpPr>
            <p:sp>
              <p:nvSpPr>
                <p:cNvPr id="244"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45"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46"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47"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48"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49"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50"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241" name="Elipse 240"/>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42" name="Elipse 241"/>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43"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251" name="Agrupar 250"/>
            <p:cNvGrpSpPr/>
            <p:nvPr/>
          </p:nvGrpSpPr>
          <p:grpSpPr>
            <a:xfrm>
              <a:off x="7580662" y="2682120"/>
              <a:ext cx="682626" cy="648000"/>
              <a:chOff x="4862662" y="2038653"/>
              <a:chExt cx="682626" cy="648000"/>
            </a:xfrm>
          </p:grpSpPr>
          <p:sp>
            <p:nvSpPr>
              <p:cNvPr id="252"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253"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54"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55"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56"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57"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58"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59"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60"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61"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62"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263" name="Group 20"/>
              <p:cNvGrpSpPr>
                <a:grpSpLocks/>
              </p:cNvGrpSpPr>
              <p:nvPr/>
            </p:nvGrpSpPr>
            <p:grpSpPr bwMode="auto">
              <a:xfrm>
                <a:off x="5266539" y="2508080"/>
                <a:ext cx="86348" cy="28783"/>
                <a:chOff x="4800" y="2448"/>
                <a:chExt cx="288" cy="96"/>
              </a:xfrm>
            </p:grpSpPr>
            <p:sp>
              <p:nvSpPr>
                <p:cNvPr id="267"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68"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69"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70"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71"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72"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73"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264" name="Elipse 263"/>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65" name="Elipse 264"/>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66"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274" name="Agrupar 273"/>
            <p:cNvGrpSpPr/>
            <p:nvPr/>
          </p:nvGrpSpPr>
          <p:grpSpPr>
            <a:xfrm>
              <a:off x="8260870" y="2682120"/>
              <a:ext cx="682626" cy="648000"/>
              <a:chOff x="4862662" y="2038653"/>
              <a:chExt cx="682626" cy="648000"/>
            </a:xfrm>
          </p:grpSpPr>
          <p:sp>
            <p:nvSpPr>
              <p:cNvPr id="275"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276"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77"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78"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79"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80"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81"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282"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283"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84"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85"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286" name="Group 20"/>
              <p:cNvGrpSpPr>
                <a:grpSpLocks/>
              </p:cNvGrpSpPr>
              <p:nvPr/>
            </p:nvGrpSpPr>
            <p:grpSpPr bwMode="auto">
              <a:xfrm>
                <a:off x="5266539" y="2508080"/>
                <a:ext cx="86348" cy="28783"/>
                <a:chOff x="4800" y="2448"/>
                <a:chExt cx="288" cy="96"/>
              </a:xfrm>
            </p:grpSpPr>
            <p:sp>
              <p:nvSpPr>
                <p:cNvPr id="290"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291"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92"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93"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94"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95"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296"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287" name="Elipse 286"/>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88" name="Elipse 287"/>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89"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297" name="Agrupar 296"/>
            <p:cNvGrpSpPr/>
            <p:nvPr/>
          </p:nvGrpSpPr>
          <p:grpSpPr>
            <a:xfrm>
              <a:off x="4862662" y="3326786"/>
              <a:ext cx="682626" cy="648000"/>
              <a:chOff x="4862662" y="2038653"/>
              <a:chExt cx="682626" cy="648000"/>
            </a:xfrm>
          </p:grpSpPr>
          <p:sp>
            <p:nvSpPr>
              <p:cNvPr id="298"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299"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00"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01"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02"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03"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04"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05"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06"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07"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08"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309" name="Group 20"/>
              <p:cNvGrpSpPr>
                <a:grpSpLocks/>
              </p:cNvGrpSpPr>
              <p:nvPr/>
            </p:nvGrpSpPr>
            <p:grpSpPr bwMode="auto">
              <a:xfrm>
                <a:off x="5266539" y="2508080"/>
                <a:ext cx="86348" cy="28783"/>
                <a:chOff x="4800" y="2448"/>
                <a:chExt cx="288" cy="96"/>
              </a:xfrm>
            </p:grpSpPr>
            <p:sp>
              <p:nvSpPr>
                <p:cNvPr id="313"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14"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15"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16"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17"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18"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19"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310" name="Elipse 309"/>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11" name="Elipse 310"/>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12"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320" name="Agrupar 319"/>
            <p:cNvGrpSpPr/>
            <p:nvPr/>
          </p:nvGrpSpPr>
          <p:grpSpPr>
            <a:xfrm>
              <a:off x="5542870" y="3326786"/>
              <a:ext cx="682626" cy="648000"/>
              <a:chOff x="4862662" y="2038653"/>
              <a:chExt cx="682626" cy="648000"/>
            </a:xfrm>
          </p:grpSpPr>
          <p:sp>
            <p:nvSpPr>
              <p:cNvPr id="321"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322"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23"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24"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25"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26"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27"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28"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29"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30"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31"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332" name="Group 20"/>
              <p:cNvGrpSpPr>
                <a:grpSpLocks/>
              </p:cNvGrpSpPr>
              <p:nvPr/>
            </p:nvGrpSpPr>
            <p:grpSpPr bwMode="auto">
              <a:xfrm>
                <a:off x="5266539" y="2508080"/>
                <a:ext cx="86348" cy="28783"/>
                <a:chOff x="4800" y="2448"/>
                <a:chExt cx="288" cy="96"/>
              </a:xfrm>
            </p:grpSpPr>
            <p:sp>
              <p:nvSpPr>
                <p:cNvPr id="336"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37"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38"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39"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40"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41"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42"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333" name="Elipse 332"/>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34" name="Elipse 333"/>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35"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343" name="Agrupar 342"/>
            <p:cNvGrpSpPr/>
            <p:nvPr/>
          </p:nvGrpSpPr>
          <p:grpSpPr>
            <a:xfrm>
              <a:off x="6221725" y="3326786"/>
              <a:ext cx="682626" cy="648000"/>
              <a:chOff x="4862662" y="2038653"/>
              <a:chExt cx="682626" cy="648000"/>
            </a:xfrm>
          </p:grpSpPr>
          <p:sp>
            <p:nvSpPr>
              <p:cNvPr id="344"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345"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46"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47"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48"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49"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50"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51"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52"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53"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54"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355" name="Group 20"/>
              <p:cNvGrpSpPr>
                <a:grpSpLocks/>
              </p:cNvGrpSpPr>
              <p:nvPr/>
            </p:nvGrpSpPr>
            <p:grpSpPr bwMode="auto">
              <a:xfrm>
                <a:off x="5266539" y="2508080"/>
                <a:ext cx="86348" cy="28783"/>
                <a:chOff x="4800" y="2448"/>
                <a:chExt cx="288" cy="96"/>
              </a:xfrm>
            </p:grpSpPr>
            <p:sp>
              <p:nvSpPr>
                <p:cNvPr id="359"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60"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61"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62"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63"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64"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65"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356" name="Elipse 355"/>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57" name="Elipse 356"/>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58"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366" name="Agrupar 365"/>
            <p:cNvGrpSpPr/>
            <p:nvPr/>
          </p:nvGrpSpPr>
          <p:grpSpPr>
            <a:xfrm>
              <a:off x="6901933" y="3326786"/>
              <a:ext cx="682626" cy="648000"/>
              <a:chOff x="4862662" y="2038653"/>
              <a:chExt cx="682626" cy="648000"/>
            </a:xfrm>
          </p:grpSpPr>
          <p:sp>
            <p:nvSpPr>
              <p:cNvPr id="367"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368"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69"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70"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71"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72"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73"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74"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75"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76"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77"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378" name="Group 20"/>
              <p:cNvGrpSpPr>
                <a:grpSpLocks/>
              </p:cNvGrpSpPr>
              <p:nvPr/>
            </p:nvGrpSpPr>
            <p:grpSpPr bwMode="auto">
              <a:xfrm>
                <a:off x="5266539" y="2508080"/>
                <a:ext cx="86348" cy="28783"/>
                <a:chOff x="4800" y="2448"/>
                <a:chExt cx="288" cy="96"/>
              </a:xfrm>
            </p:grpSpPr>
            <p:sp>
              <p:nvSpPr>
                <p:cNvPr id="382"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83"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84"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85"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86"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87"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88"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379" name="Elipse 378"/>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80" name="Elipse 379"/>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381"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389" name="Agrupar 388"/>
            <p:cNvGrpSpPr/>
            <p:nvPr/>
          </p:nvGrpSpPr>
          <p:grpSpPr>
            <a:xfrm>
              <a:off x="4862662" y="3970818"/>
              <a:ext cx="682626" cy="648000"/>
              <a:chOff x="4862662" y="2038653"/>
              <a:chExt cx="682626" cy="648000"/>
            </a:xfrm>
          </p:grpSpPr>
          <p:sp>
            <p:nvSpPr>
              <p:cNvPr id="390"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391"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92"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93"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94"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395"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96"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397"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398"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399"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00"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401" name="Group 20"/>
              <p:cNvGrpSpPr>
                <a:grpSpLocks/>
              </p:cNvGrpSpPr>
              <p:nvPr/>
            </p:nvGrpSpPr>
            <p:grpSpPr bwMode="auto">
              <a:xfrm>
                <a:off x="5266539" y="2508080"/>
                <a:ext cx="86348" cy="28783"/>
                <a:chOff x="4800" y="2448"/>
                <a:chExt cx="288" cy="96"/>
              </a:xfrm>
            </p:grpSpPr>
            <p:sp>
              <p:nvSpPr>
                <p:cNvPr id="405"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06"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07"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08"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09"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10"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11"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402" name="Elipse 401"/>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03" name="Elipse 402"/>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04"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412" name="Agrupar 411"/>
            <p:cNvGrpSpPr/>
            <p:nvPr/>
          </p:nvGrpSpPr>
          <p:grpSpPr>
            <a:xfrm>
              <a:off x="5542870" y="3970818"/>
              <a:ext cx="682626" cy="648000"/>
              <a:chOff x="4862662" y="2038653"/>
              <a:chExt cx="682626" cy="648000"/>
            </a:xfrm>
          </p:grpSpPr>
          <p:sp>
            <p:nvSpPr>
              <p:cNvPr id="413"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414"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15"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16"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17"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18"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19"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20"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21"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22"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23"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424" name="Group 20"/>
              <p:cNvGrpSpPr>
                <a:grpSpLocks/>
              </p:cNvGrpSpPr>
              <p:nvPr/>
            </p:nvGrpSpPr>
            <p:grpSpPr bwMode="auto">
              <a:xfrm>
                <a:off x="5266539" y="2508080"/>
                <a:ext cx="86348" cy="28783"/>
                <a:chOff x="4800" y="2448"/>
                <a:chExt cx="288" cy="96"/>
              </a:xfrm>
            </p:grpSpPr>
            <p:sp>
              <p:nvSpPr>
                <p:cNvPr id="428"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29"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30"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31"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32"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33"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34"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425" name="Elipse 424"/>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26" name="Elipse 425"/>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27"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435" name="Agrupar 434"/>
            <p:cNvGrpSpPr/>
            <p:nvPr/>
          </p:nvGrpSpPr>
          <p:grpSpPr>
            <a:xfrm>
              <a:off x="6221725" y="3970818"/>
              <a:ext cx="682626" cy="648000"/>
              <a:chOff x="4862662" y="2038653"/>
              <a:chExt cx="682626" cy="648000"/>
            </a:xfrm>
          </p:grpSpPr>
          <p:sp>
            <p:nvSpPr>
              <p:cNvPr id="436"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437"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38"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39"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40"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41"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42"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43"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44"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45"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46"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447" name="Group 20"/>
              <p:cNvGrpSpPr>
                <a:grpSpLocks/>
              </p:cNvGrpSpPr>
              <p:nvPr/>
            </p:nvGrpSpPr>
            <p:grpSpPr bwMode="auto">
              <a:xfrm>
                <a:off x="5266539" y="2508080"/>
                <a:ext cx="86348" cy="28783"/>
                <a:chOff x="4800" y="2448"/>
                <a:chExt cx="288" cy="96"/>
              </a:xfrm>
            </p:grpSpPr>
            <p:sp>
              <p:nvSpPr>
                <p:cNvPr id="451"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52"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53"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54"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55"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56"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57"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448" name="Elipse 447"/>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49" name="Elipse 448"/>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50"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458" name="Agrupar 457"/>
            <p:cNvGrpSpPr/>
            <p:nvPr/>
          </p:nvGrpSpPr>
          <p:grpSpPr>
            <a:xfrm>
              <a:off x="6901933" y="3970253"/>
              <a:ext cx="682626" cy="648000"/>
              <a:chOff x="4862662" y="2038653"/>
              <a:chExt cx="682626" cy="648000"/>
            </a:xfrm>
          </p:grpSpPr>
          <p:sp>
            <p:nvSpPr>
              <p:cNvPr id="459"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460"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61"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62"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63"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64"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65"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66"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67"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68"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69"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470" name="Group 20"/>
              <p:cNvGrpSpPr>
                <a:grpSpLocks/>
              </p:cNvGrpSpPr>
              <p:nvPr/>
            </p:nvGrpSpPr>
            <p:grpSpPr bwMode="auto">
              <a:xfrm>
                <a:off x="5266539" y="2508080"/>
                <a:ext cx="86348" cy="28783"/>
                <a:chOff x="4800" y="2448"/>
                <a:chExt cx="288" cy="96"/>
              </a:xfrm>
            </p:grpSpPr>
            <p:sp>
              <p:nvSpPr>
                <p:cNvPr id="474"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75"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76"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77"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78"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79"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80"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471" name="Elipse 470"/>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72" name="Elipse 471"/>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73"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481" name="Agrupar 480"/>
            <p:cNvGrpSpPr/>
            <p:nvPr/>
          </p:nvGrpSpPr>
          <p:grpSpPr>
            <a:xfrm>
              <a:off x="7580662" y="3326221"/>
              <a:ext cx="682626" cy="648000"/>
              <a:chOff x="4862662" y="2038653"/>
              <a:chExt cx="682626" cy="648000"/>
            </a:xfrm>
          </p:grpSpPr>
          <p:sp>
            <p:nvSpPr>
              <p:cNvPr id="482"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483"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84"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85"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86"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87"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88"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489"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490"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91"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92"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493" name="Group 20"/>
              <p:cNvGrpSpPr>
                <a:grpSpLocks/>
              </p:cNvGrpSpPr>
              <p:nvPr/>
            </p:nvGrpSpPr>
            <p:grpSpPr bwMode="auto">
              <a:xfrm>
                <a:off x="5266539" y="2508080"/>
                <a:ext cx="86348" cy="28783"/>
                <a:chOff x="4800" y="2448"/>
                <a:chExt cx="288" cy="96"/>
              </a:xfrm>
            </p:grpSpPr>
            <p:sp>
              <p:nvSpPr>
                <p:cNvPr id="497"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498"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499"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00"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01"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02"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03"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494" name="Elipse 493"/>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95" name="Elipse 494"/>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496"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504" name="Agrupar 503"/>
            <p:cNvGrpSpPr/>
            <p:nvPr/>
          </p:nvGrpSpPr>
          <p:grpSpPr>
            <a:xfrm>
              <a:off x="8260870" y="3326221"/>
              <a:ext cx="682626" cy="648000"/>
              <a:chOff x="4862662" y="2038653"/>
              <a:chExt cx="682626" cy="648000"/>
            </a:xfrm>
          </p:grpSpPr>
          <p:sp>
            <p:nvSpPr>
              <p:cNvPr id="505"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506"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07"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08"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09"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10"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11"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12"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13"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14"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15"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516" name="Group 20"/>
              <p:cNvGrpSpPr>
                <a:grpSpLocks/>
              </p:cNvGrpSpPr>
              <p:nvPr/>
            </p:nvGrpSpPr>
            <p:grpSpPr bwMode="auto">
              <a:xfrm>
                <a:off x="5266539" y="2508080"/>
                <a:ext cx="86348" cy="28783"/>
                <a:chOff x="4800" y="2448"/>
                <a:chExt cx="288" cy="96"/>
              </a:xfrm>
            </p:grpSpPr>
            <p:sp>
              <p:nvSpPr>
                <p:cNvPr id="520"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21"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22"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23"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24"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25"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26"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517" name="Elipse 516"/>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18" name="Elipse 517"/>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19"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527" name="Agrupar 526"/>
            <p:cNvGrpSpPr/>
            <p:nvPr/>
          </p:nvGrpSpPr>
          <p:grpSpPr>
            <a:xfrm>
              <a:off x="7580662" y="3970253"/>
              <a:ext cx="682626" cy="648000"/>
              <a:chOff x="4862662" y="2038653"/>
              <a:chExt cx="682626" cy="648000"/>
            </a:xfrm>
          </p:grpSpPr>
          <p:sp>
            <p:nvSpPr>
              <p:cNvPr id="528"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529"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30"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31"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32"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33"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34"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35"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36"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37"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38"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539" name="Group 20"/>
              <p:cNvGrpSpPr>
                <a:grpSpLocks/>
              </p:cNvGrpSpPr>
              <p:nvPr/>
            </p:nvGrpSpPr>
            <p:grpSpPr bwMode="auto">
              <a:xfrm>
                <a:off x="5266539" y="2508080"/>
                <a:ext cx="86348" cy="28783"/>
                <a:chOff x="4800" y="2448"/>
                <a:chExt cx="288" cy="96"/>
              </a:xfrm>
            </p:grpSpPr>
            <p:sp>
              <p:nvSpPr>
                <p:cNvPr id="543"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44"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45"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46"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47"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48"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49"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540" name="Elipse 539"/>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41" name="Elipse 540"/>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42"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grpSp>
          <p:nvGrpSpPr>
            <p:cNvPr id="550" name="Agrupar 549"/>
            <p:cNvGrpSpPr/>
            <p:nvPr/>
          </p:nvGrpSpPr>
          <p:grpSpPr>
            <a:xfrm>
              <a:off x="8260870" y="3970253"/>
              <a:ext cx="682626" cy="648000"/>
              <a:chOff x="4862662" y="2038653"/>
              <a:chExt cx="682626" cy="648000"/>
            </a:xfrm>
          </p:grpSpPr>
          <p:sp>
            <p:nvSpPr>
              <p:cNvPr id="551" name="Rectangle 40"/>
              <p:cNvSpPr>
                <a:spLocks noChangeArrowheads="1"/>
              </p:cNvSpPr>
              <p:nvPr/>
            </p:nvSpPr>
            <p:spPr bwMode="auto">
              <a:xfrm>
                <a:off x="4913950" y="2070641"/>
                <a:ext cx="532482" cy="546874"/>
              </a:xfrm>
              <a:prstGeom prst="rect">
                <a:avLst/>
              </a:prstGeom>
              <a:solidFill>
                <a:schemeClr val="accent5">
                  <a:lumMod val="40000"/>
                  <a:lumOff val="60000"/>
                </a:schemeClr>
              </a:solidFill>
              <a:ln w="12700">
                <a:solidFill>
                  <a:schemeClr val="accent2"/>
                </a:solidFill>
                <a:prstDash val="solid"/>
                <a:miter lim="800000"/>
                <a:headEnd/>
                <a:tailEnd/>
              </a:ln>
            </p:spPr>
            <p:txBody>
              <a:bodyPr wrap="none" anchor="ctr"/>
              <a:lstStyle/>
              <a:p>
                <a:endParaRPr lang="en-GB"/>
              </a:p>
            </p:txBody>
          </p:sp>
          <p:sp>
            <p:nvSpPr>
              <p:cNvPr id="552" name="Line 7"/>
              <p:cNvSpPr>
                <a:spLocks noChangeShapeType="1"/>
              </p:cNvSpPr>
              <p:nvPr/>
            </p:nvSpPr>
            <p:spPr bwMode="auto">
              <a:xfrm>
                <a:off x="4862662" y="2177078"/>
                <a:ext cx="682626" cy="0"/>
              </a:xfrm>
              <a:prstGeom prst="line">
                <a:avLst/>
              </a:prstGeom>
              <a:noFill/>
              <a:ln w="19050" cmpd="sng">
                <a:solidFill>
                  <a:schemeClr val="tx2"/>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53" name="Line 8"/>
              <p:cNvSpPr>
                <a:spLocks noChangeShapeType="1"/>
              </p:cNvSpPr>
              <p:nvPr/>
            </p:nvSpPr>
            <p:spPr bwMode="auto">
              <a:xfrm flipH="1">
                <a:off x="5020686" y="2038653"/>
                <a:ext cx="0" cy="648000"/>
              </a:xfrm>
              <a:prstGeom prst="line">
                <a:avLst/>
              </a:prstGeom>
              <a:noFill/>
              <a:ln w="19050" cmpd="sng">
                <a:solidFill>
                  <a:srgbClr val="FF8000"/>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54" name="Line 9"/>
              <p:cNvSpPr>
                <a:spLocks noChangeShapeType="1"/>
              </p:cNvSpPr>
              <p:nvPr/>
            </p:nvSpPr>
            <p:spPr bwMode="auto">
              <a:xfrm>
                <a:off x="5165800" y="2177078"/>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55" name="Line 10"/>
              <p:cNvSpPr>
                <a:spLocks noChangeShapeType="1"/>
              </p:cNvSpPr>
              <p:nvPr/>
            </p:nvSpPr>
            <p:spPr bwMode="auto">
              <a:xfrm flipH="1">
                <a:off x="5093843" y="2263426"/>
                <a:ext cx="143914"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56" name="Freeform 17"/>
              <p:cNvSpPr>
                <a:spLocks/>
              </p:cNvSpPr>
              <p:nvPr/>
            </p:nvSpPr>
            <p:spPr bwMode="auto">
              <a:xfrm>
                <a:off x="5020291" y="2288716"/>
                <a:ext cx="99936" cy="57763"/>
              </a:xfrm>
              <a:custGeom>
                <a:avLst/>
                <a:gdLst>
                  <a:gd name="T0" fmla="*/ 2147483647 w 288"/>
                  <a:gd name="T1" fmla="*/ 0 h 144"/>
                  <a:gd name="T2" fmla="*/ 2147483647 w 288"/>
                  <a:gd name="T3" fmla="*/ 2147483647 h 144"/>
                  <a:gd name="T4" fmla="*/ 0 w 288"/>
                  <a:gd name="T5" fmla="*/ 2147483647 h 144"/>
                  <a:gd name="T6" fmla="*/ 0 60000 65536"/>
                  <a:gd name="T7" fmla="*/ 0 60000 65536"/>
                  <a:gd name="T8" fmla="*/ 0 60000 65536"/>
                  <a:gd name="T9" fmla="*/ 0 w 288"/>
                  <a:gd name="T10" fmla="*/ 0 h 144"/>
                  <a:gd name="T11" fmla="*/ 288 w 288"/>
                  <a:gd name="T12" fmla="*/ 144 h 144"/>
                  <a:gd name="connsiteX0" fmla="*/ 10000 w 10095"/>
                  <a:gd name="connsiteY0" fmla="*/ 0 h 10000"/>
                  <a:gd name="connsiteX1" fmla="*/ 10095 w 10095"/>
                  <a:gd name="connsiteY1" fmla="*/ 8281 h 10000"/>
                  <a:gd name="connsiteX2" fmla="*/ 0 w 10095"/>
                  <a:gd name="connsiteY2" fmla="*/ 10000 h 10000"/>
                  <a:gd name="connsiteX0" fmla="*/ 10189 w 10284"/>
                  <a:gd name="connsiteY0" fmla="*/ 0 h 8281"/>
                  <a:gd name="connsiteX1" fmla="*/ 10284 w 10284"/>
                  <a:gd name="connsiteY1" fmla="*/ 8281 h 8281"/>
                  <a:gd name="connsiteX2" fmla="*/ 0 w 10284"/>
                  <a:gd name="connsiteY2" fmla="*/ 8166 h 8281"/>
                </a:gdLst>
                <a:ahLst/>
                <a:cxnLst>
                  <a:cxn ang="0">
                    <a:pos x="connsiteX0" y="connsiteY0"/>
                  </a:cxn>
                  <a:cxn ang="0">
                    <a:pos x="connsiteX1" y="connsiteY1"/>
                  </a:cxn>
                  <a:cxn ang="0">
                    <a:pos x="connsiteX2" y="connsiteY2"/>
                  </a:cxn>
                </a:cxnLst>
                <a:rect l="l" t="t" r="r" b="b"/>
                <a:pathLst>
                  <a:path w="10284" h="8281">
                    <a:moveTo>
                      <a:pt x="10189" y="0"/>
                    </a:moveTo>
                    <a:cubicBezTo>
                      <a:pt x="10221" y="2760"/>
                      <a:pt x="10252" y="5521"/>
                      <a:pt x="10284" y="8281"/>
                    </a:cubicBezTo>
                    <a:cubicBezTo>
                      <a:pt x="6951" y="8281"/>
                      <a:pt x="3333" y="8166"/>
                      <a:pt x="0" y="8166"/>
                    </a:cubicBez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57" name="Freeform 18"/>
              <p:cNvSpPr>
                <a:spLocks/>
              </p:cNvSpPr>
              <p:nvPr/>
            </p:nvSpPr>
            <p:spPr bwMode="auto">
              <a:xfrm>
                <a:off x="5213171" y="2293312"/>
                <a:ext cx="96542" cy="99636"/>
              </a:xfrm>
              <a:custGeom>
                <a:avLst/>
                <a:gdLst>
                  <a:gd name="T0" fmla="*/ 0 w 288"/>
                  <a:gd name="T1" fmla="*/ 0 h 336"/>
                  <a:gd name="T2" fmla="*/ 0 w 288"/>
                  <a:gd name="T3" fmla="*/ 2147483647 h 336"/>
                  <a:gd name="T4" fmla="*/ 2147483647 w 288"/>
                  <a:gd name="T5" fmla="*/ 2147483647 h 336"/>
                  <a:gd name="T6" fmla="*/ 2147483647 w 288"/>
                  <a:gd name="T7" fmla="*/ 2147483647 h 336"/>
                  <a:gd name="T8" fmla="*/ 0 60000 65536"/>
                  <a:gd name="T9" fmla="*/ 0 60000 65536"/>
                  <a:gd name="T10" fmla="*/ 0 60000 65536"/>
                  <a:gd name="T11" fmla="*/ 0 60000 65536"/>
                  <a:gd name="T12" fmla="*/ 0 w 288"/>
                  <a:gd name="T13" fmla="*/ 0 h 336"/>
                  <a:gd name="T14" fmla="*/ 288 w 288"/>
                  <a:gd name="T15" fmla="*/ 336 h 336"/>
                  <a:gd name="connsiteX0" fmla="*/ 0 w 10000"/>
                  <a:gd name="connsiteY0" fmla="*/ 0 h 11688"/>
                  <a:gd name="connsiteX1" fmla="*/ 0 w 10000"/>
                  <a:gd name="connsiteY1" fmla="*/ 5974 h 11688"/>
                  <a:gd name="connsiteX2" fmla="*/ 10000 w 10000"/>
                  <a:gd name="connsiteY2" fmla="*/ 5974 h 11688"/>
                  <a:gd name="connsiteX3" fmla="*/ 10000 w 10000"/>
                  <a:gd name="connsiteY3" fmla="*/ 11688 h 11688"/>
                </a:gdLst>
                <a:ahLst/>
                <a:cxnLst>
                  <a:cxn ang="0">
                    <a:pos x="connsiteX0" y="connsiteY0"/>
                  </a:cxn>
                  <a:cxn ang="0">
                    <a:pos x="connsiteX1" y="connsiteY1"/>
                  </a:cxn>
                  <a:cxn ang="0">
                    <a:pos x="connsiteX2" y="connsiteY2"/>
                  </a:cxn>
                  <a:cxn ang="0">
                    <a:pos x="connsiteX3" y="connsiteY3"/>
                  </a:cxn>
                </a:cxnLst>
                <a:rect l="l" t="t" r="r" b="b"/>
                <a:pathLst>
                  <a:path w="10000" h="11688">
                    <a:moveTo>
                      <a:pt x="0" y="0"/>
                    </a:moveTo>
                    <a:lnTo>
                      <a:pt x="0" y="5974"/>
                    </a:lnTo>
                    <a:lnTo>
                      <a:pt x="10000" y="5974"/>
                    </a:lnTo>
                    <a:lnTo>
                      <a:pt x="10000" y="11688"/>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en-GB"/>
              </a:p>
            </p:txBody>
          </p:sp>
          <p:sp>
            <p:nvSpPr>
              <p:cNvPr id="558" name="Line 11"/>
              <p:cNvSpPr>
                <a:spLocks noChangeShapeType="1"/>
              </p:cNvSpPr>
              <p:nvPr/>
            </p:nvSpPr>
            <p:spPr bwMode="auto">
              <a:xfrm flipH="1">
                <a:off x="5093842" y="2292209"/>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sp>
            <p:nvSpPr>
              <p:cNvPr id="559" name="Line 19"/>
              <p:cNvSpPr>
                <a:spLocks noChangeShapeType="1"/>
              </p:cNvSpPr>
              <p:nvPr/>
            </p:nvSpPr>
            <p:spPr bwMode="auto">
              <a:xfrm>
                <a:off x="5309714" y="2421732"/>
                <a:ext cx="0" cy="86348"/>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60" name="Line 15"/>
              <p:cNvSpPr>
                <a:spLocks noChangeShapeType="1"/>
              </p:cNvSpPr>
              <p:nvPr/>
            </p:nvSpPr>
            <p:spPr bwMode="auto">
              <a:xfrm>
                <a:off x="5252148" y="2392949"/>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61" name="Line 16"/>
              <p:cNvSpPr>
                <a:spLocks noChangeShapeType="1"/>
              </p:cNvSpPr>
              <p:nvPr/>
            </p:nvSpPr>
            <p:spPr bwMode="auto">
              <a:xfrm>
                <a:off x="5252148" y="2421732"/>
                <a:ext cx="115131"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grpSp>
            <p:nvGrpSpPr>
              <p:cNvPr id="562" name="Group 20"/>
              <p:cNvGrpSpPr>
                <a:grpSpLocks/>
              </p:cNvGrpSpPr>
              <p:nvPr/>
            </p:nvGrpSpPr>
            <p:grpSpPr bwMode="auto">
              <a:xfrm>
                <a:off x="5266539" y="2508080"/>
                <a:ext cx="86348" cy="28783"/>
                <a:chOff x="4800" y="2448"/>
                <a:chExt cx="288" cy="96"/>
              </a:xfrm>
            </p:grpSpPr>
            <p:sp>
              <p:nvSpPr>
                <p:cNvPr id="566" name="Line 21"/>
                <p:cNvSpPr>
                  <a:spLocks noChangeShapeType="1"/>
                </p:cNvSpPr>
                <p:nvPr/>
              </p:nvSpPr>
              <p:spPr bwMode="auto">
                <a:xfrm>
                  <a:off x="4800" y="2448"/>
                  <a:ext cx="28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GB"/>
                </a:p>
              </p:txBody>
            </p:sp>
            <p:sp>
              <p:nvSpPr>
                <p:cNvPr id="567" name="Line 22"/>
                <p:cNvSpPr>
                  <a:spLocks noChangeShapeType="1"/>
                </p:cNvSpPr>
                <p:nvPr/>
              </p:nvSpPr>
              <p:spPr bwMode="auto">
                <a:xfrm flipH="1">
                  <a:off x="480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68" name="Line 23"/>
                <p:cNvSpPr>
                  <a:spLocks noChangeShapeType="1"/>
                </p:cNvSpPr>
                <p:nvPr/>
              </p:nvSpPr>
              <p:spPr bwMode="auto">
                <a:xfrm flipH="1">
                  <a:off x="4848"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69" name="Line 24"/>
                <p:cNvSpPr>
                  <a:spLocks noChangeShapeType="1"/>
                </p:cNvSpPr>
                <p:nvPr/>
              </p:nvSpPr>
              <p:spPr bwMode="auto">
                <a:xfrm flipH="1">
                  <a:off x="4896"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70" name="Line 25"/>
                <p:cNvSpPr>
                  <a:spLocks noChangeShapeType="1"/>
                </p:cNvSpPr>
                <p:nvPr/>
              </p:nvSpPr>
              <p:spPr bwMode="auto">
                <a:xfrm flipH="1">
                  <a:off x="4944"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71" name="Line 26"/>
                <p:cNvSpPr>
                  <a:spLocks noChangeShapeType="1"/>
                </p:cNvSpPr>
                <p:nvPr/>
              </p:nvSpPr>
              <p:spPr bwMode="auto">
                <a:xfrm flipH="1">
                  <a:off x="4992"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sp>
              <p:nvSpPr>
                <p:cNvPr id="572" name="Line 27"/>
                <p:cNvSpPr>
                  <a:spLocks noChangeShapeType="1"/>
                </p:cNvSpPr>
                <p:nvPr/>
              </p:nvSpPr>
              <p:spPr bwMode="auto">
                <a:xfrm flipH="1">
                  <a:off x="5040" y="2448"/>
                  <a:ext cx="48" cy="9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GB"/>
                </a:p>
              </p:txBody>
            </p:sp>
          </p:grpSp>
          <p:sp>
            <p:nvSpPr>
              <p:cNvPr id="563" name="Elipse 562"/>
              <p:cNvSpPr/>
              <p:nvPr/>
            </p:nvSpPr>
            <p:spPr>
              <a:xfrm>
                <a:off x="5011692" y="2337084"/>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64" name="Elipse 563"/>
              <p:cNvSpPr/>
              <p:nvPr/>
            </p:nvSpPr>
            <p:spPr>
              <a:xfrm>
                <a:off x="5155706" y="2167685"/>
                <a:ext cx="18789" cy="18789"/>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565" name="Line 11"/>
              <p:cNvSpPr>
                <a:spLocks noChangeShapeType="1"/>
              </p:cNvSpPr>
              <p:nvPr/>
            </p:nvSpPr>
            <p:spPr bwMode="auto">
              <a:xfrm flipH="1">
                <a:off x="5185588" y="2291811"/>
                <a:ext cx="52169"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GB"/>
              </a:p>
            </p:txBody>
          </p:sp>
        </p:grpSp>
        <p:sp>
          <p:nvSpPr>
            <p:cNvPr id="574" name="Rectangle 50"/>
            <p:cNvSpPr>
              <a:spLocks noChangeArrowheads="1"/>
            </p:cNvSpPr>
            <p:nvPr/>
          </p:nvSpPr>
          <p:spPr bwMode="auto">
            <a:xfrm>
              <a:off x="5630286" y="4618818"/>
              <a:ext cx="141216" cy="69753"/>
            </a:xfrm>
            <a:prstGeom prst="rect">
              <a:avLst/>
            </a:prstGeom>
            <a:solidFill>
              <a:srgbClr val="CCFFCC"/>
            </a:solidFill>
            <a:ln w="9525" cmpd="sng">
              <a:solidFill>
                <a:srgbClr val="66FF33"/>
              </a:solidFill>
              <a:miter lim="800000"/>
              <a:headEnd/>
              <a:tailEnd/>
            </a:ln>
          </p:spPr>
          <p:txBody>
            <a:bodyPr anchor="ctr">
              <a:spAutoFit/>
            </a:bodyPr>
            <a:lstStyle/>
            <a:p>
              <a:endParaRPr lang="en-GB"/>
            </a:p>
          </p:txBody>
        </p:sp>
        <p:sp>
          <p:nvSpPr>
            <p:cNvPr id="575" name="Line 53"/>
            <p:cNvSpPr>
              <a:spLocks noChangeShapeType="1"/>
            </p:cNvSpPr>
            <p:nvPr/>
          </p:nvSpPr>
          <p:spPr bwMode="auto">
            <a:xfrm flipH="1">
              <a:off x="5704017" y="4690124"/>
              <a:ext cx="0" cy="143914"/>
            </a:xfrm>
            <a:prstGeom prst="line">
              <a:avLst/>
            </a:prstGeom>
            <a:noFill/>
            <a:ln w="9525" cmpd="sng">
              <a:solidFill>
                <a:srgbClr val="FF8000"/>
              </a:solidFill>
              <a:round/>
              <a:headEnd type="triangle" w="sm" len="sm"/>
              <a:tailEnd type="triangle" w="sm" len="sm"/>
            </a:ln>
            <a:extLst>
              <a:ext uri="{909E8E84-426E-40DD-AFC4-6F175D3DCCD1}">
                <a14:hiddenFill xmlns:a14="http://schemas.microsoft.com/office/drawing/2010/main">
                  <a:noFill/>
                </a14:hiddenFill>
              </a:ext>
            </a:extLst>
          </p:spPr>
          <p:txBody>
            <a:bodyPr anchor="ctr">
              <a:spAutoFit/>
            </a:bodyPr>
            <a:lstStyle/>
            <a:p>
              <a:endParaRPr lang="en-GB"/>
            </a:p>
          </p:txBody>
        </p:sp>
        <p:sp>
          <p:nvSpPr>
            <p:cNvPr id="578" name="Rectangle 50"/>
            <p:cNvSpPr>
              <a:spLocks noChangeArrowheads="1"/>
            </p:cNvSpPr>
            <p:nvPr/>
          </p:nvSpPr>
          <p:spPr bwMode="auto">
            <a:xfrm>
              <a:off x="6318936" y="4618253"/>
              <a:ext cx="141216" cy="69753"/>
            </a:xfrm>
            <a:prstGeom prst="rect">
              <a:avLst/>
            </a:prstGeom>
            <a:solidFill>
              <a:srgbClr val="CCFFCC"/>
            </a:solidFill>
            <a:ln w="9525" cmpd="sng">
              <a:solidFill>
                <a:srgbClr val="66FF33"/>
              </a:solidFill>
              <a:miter lim="800000"/>
              <a:headEnd/>
              <a:tailEnd/>
            </a:ln>
          </p:spPr>
          <p:txBody>
            <a:bodyPr anchor="ctr">
              <a:spAutoFit/>
            </a:bodyPr>
            <a:lstStyle/>
            <a:p>
              <a:endParaRPr lang="en-GB"/>
            </a:p>
          </p:txBody>
        </p:sp>
        <p:sp>
          <p:nvSpPr>
            <p:cNvPr id="579" name="Line 53"/>
            <p:cNvSpPr>
              <a:spLocks noChangeShapeType="1"/>
            </p:cNvSpPr>
            <p:nvPr/>
          </p:nvSpPr>
          <p:spPr bwMode="auto">
            <a:xfrm flipH="1">
              <a:off x="6389544" y="4690124"/>
              <a:ext cx="0" cy="143914"/>
            </a:xfrm>
            <a:prstGeom prst="line">
              <a:avLst/>
            </a:prstGeom>
            <a:noFill/>
            <a:ln w="9525" cmpd="sng">
              <a:solidFill>
                <a:srgbClr val="FF8000"/>
              </a:solidFill>
              <a:round/>
              <a:headEnd type="triangle" w="sm" len="sm"/>
              <a:tailEnd type="triangle" w="sm" len="sm"/>
            </a:ln>
            <a:extLst>
              <a:ext uri="{909E8E84-426E-40DD-AFC4-6F175D3DCCD1}">
                <a14:hiddenFill xmlns:a14="http://schemas.microsoft.com/office/drawing/2010/main">
                  <a:noFill/>
                </a14:hiddenFill>
              </a:ext>
            </a:extLst>
          </p:spPr>
          <p:txBody>
            <a:bodyPr anchor="ctr">
              <a:spAutoFit/>
            </a:bodyPr>
            <a:lstStyle/>
            <a:p>
              <a:endParaRPr lang="en-GB"/>
            </a:p>
          </p:txBody>
        </p:sp>
        <p:sp>
          <p:nvSpPr>
            <p:cNvPr id="582" name="Rectangle 50"/>
            <p:cNvSpPr>
              <a:spLocks noChangeArrowheads="1"/>
            </p:cNvSpPr>
            <p:nvPr/>
          </p:nvSpPr>
          <p:spPr bwMode="auto">
            <a:xfrm>
              <a:off x="6994266" y="4618253"/>
              <a:ext cx="141216" cy="69753"/>
            </a:xfrm>
            <a:prstGeom prst="rect">
              <a:avLst/>
            </a:prstGeom>
            <a:solidFill>
              <a:srgbClr val="CCFFCC"/>
            </a:solidFill>
            <a:ln w="9525" cmpd="sng">
              <a:solidFill>
                <a:srgbClr val="66FF33"/>
              </a:solidFill>
              <a:miter lim="800000"/>
              <a:headEnd/>
              <a:tailEnd/>
            </a:ln>
          </p:spPr>
          <p:txBody>
            <a:bodyPr anchor="ctr">
              <a:spAutoFit/>
            </a:bodyPr>
            <a:lstStyle/>
            <a:p>
              <a:endParaRPr lang="en-GB"/>
            </a:p>
          </p:txBody>
        </p:sp>
        <p:sp>
          <p:nvSpPr>
            <p:cNvPr id="583" name="Line 53"/>
            <p:cNvSpPr>
              <a:spLocks noChangeShapeType="1"/>
            </p:cNvSpPr>
            <p:nvPr/>
          </p:nvSpPr>
          <p:spPr bwMode="auto">
            <a:xfrm flipH="1">
              <a:off x="7065380" y="4689559"/>
              <a:ext cx="0" cy="143914"/>
            </a:xfrm>
            <a:prstGeom prst="line">
              <a:avLst/>
            </a:prstGeom>
            <a:noFill/>
            <a:ln w="9525" cmpd="sng">
              <a:solidFill>
                <a:srgbClr val="FF8000"/>
              </a:solidFill>
              <a:round/>
              <a:headEnd type="triangle" w="sm" len="sm"/>
              <a:tailEnd type="triangle" w="sm" len="sm"/>
            </a:ln>
            <a:extLst>
              <a:ext uri="{909E8E84-426E-40DD-AFC4-6F175D3DCCD1}">
                <a14:hiddenFill xmlns:a14="http://schemas.microsoft.com/office/drawing/2010/main">
                  <a:noFill/>
                </a14:hiddenFill>
              </a:ext>
            </a:extLst>
          </p:spPr>
          <p:txBody>
            <a:bodyPr anchor="ctr">
              <a:spAutoFit/>
            </a:bodyPr>
            <a:lstStyle/>
            <a:p>
              <a:endParaRPr lang="en-GB"/>
            </a:p>
          </p:txBody>
        </p:sp>
        <p:sp>
          <p:nvSpPr>
            <p:cNvPr id="586" name="Rectangle 50"/>
            <p:cNvSpPr>
              <a:spLocks noChangeArrowheads="1"/>
            </p:cNvSpPr>
            <p:nvPr/>
          </p:nvSpPr>
          <p:spPr bwMode="auto">
            <a:xfrm>
              <a:off x="7681782" y="4618818"/>
              <a:ext cx="141216" cy="69753"/>
            </a:xfrm>
            <a:prstGeom prst="rect">
              <a:avLst/>
            </a:prstGeom>
            <a:solidFill>
              <a:srgbClr val="CCFFCC"/>
            </a:solidFill>
            <a:ln w="9525" cmpd="sng">
              <a:solidFill>
                <a:srgbClr val="66FF33"/>
              </a:solidFill>
              <a:miter lim="800000"/>
              <a:headEnd/>
              <a:tailEnd/>
            </a:ln>
          </p:spPr>
          <p:txBody>
            <a:bodyPr anchor="ctr">
              <a:spAutoFit/>
            </a:bodyPr>
            <a:lstStyle/>
            <a:p>
              <a:endParaRPr lang="en-GB"/>
            </a:p>
          </p:txBody>
        </p:sp>
        <p:sp>
          <p:nvSpPr>
            <p:cNvPr id="587" name="Line 53"/>
            <p:cNvSpPr>
              <a:spLocks noChangeShapeType="1"/>
            </p:cNvSpPr>
            <p:nvPr/>
          </p:nvSpPr>
          <p:spPr bwMode="auto">
            <a:xfrm flipH="1">
              <a:off x="7752896" y="4690124"/>
              <a:ext cx="0" cy="143914"/>
            </a:xfrm>
            <a:prstGeom prst="line">
              <a:avLst/>
            </a:prstGeom>
            <a:noFill/>
            <a:ln w="9525" cmpd="sng">
              <a:solidFill>
                <a:srgbClr val="FF8000"/>
              </a:solidFill>
              <a:round/>
              <a:headEnd type="triangle" w="sm" len="sm"/>
              <a:tailEnd type="triangle" w="sm" len="sm"/>
            </a:ln>
            <a:extLst>
              <a:ext uri="{909E8E84-426E-40DD-AFC4-6F175D3DCCD1}">
                <a14:hiddenFill xmlns:a14="http://schemas.microsoft.com/office/drawing/2010/main">
                  <a:noFill/>
                </a14:hiddenFill>
              </a:ext>
            </a:extLst>
          </p:spPr>
          <p:txBody>
            <a:bodyPr anchor="ctr">
              <a:spAutoFit/>
            </a:bodyPr>
            <a:lstStyle/>
            <a:p>
              <a:endParaRPr lang="en-GB"/>
            </a:p>
          </p:txBody>
        </p:sp>
        <p:sp>
          <p:nvSpPr>
            <p:cNvPr id="590" name="Rectangle 50"/>
            <p:cNvSpPr>
              <a:spLocks noChangeArrowheads="1"/>
            </p:cNvSpPr>
            <p:nvPr/>
          </p:nvSpPr>
          <p:spPr bwMode="auto">
            <a:xfrm>
              <a:off x="8357112" y="4618818"/>
              <a:ext cx="141216" cy="69753"/>
            </a:xfrm>
            <a:prstGeom prst="rect">
              <a:avLst/>
            </a:prstGeom>
            <a:solidFill>
              <a:srgbClr val="CCFFCC"/>
            </a:solidFill>
            <a:ln w="9525" cmpd="sng">
              <a:solidFill>
                <a:srgbClr val="66FF33"/>
              </a:solidFill>
              <a:miter lim="800000"/>
              <a:headEnd/>
              <a:tailEnd/>
            </a:ln>
          </p:spPr>
          <p:txBody>
            <a:bodyPr anchor="ctr">
              <a:spAutoFit/>
            </a:bodyPr>
            <a:lstStyle/>
            <a:p>
              <a:endParaRPr lang="en-GB"/>
            </a:p>
          </p:txBody>
        </p:sp>
        <p:sp>
          <p:nvSpPr>
            <p:cNvPr id="591" name="Line 53"/>
            <p:cNvSpPr>
              <a:spLocks noChangeShapeType="1"/>
            </p:cNvSpPr>
            <p:nvPr/>
          </p:nvSpPr>
          <p:spPr bwMode="auto">
            <a:xfrm flipH="1">
              <a:off x="8428226" y="4690124"/>
              <a:ext cx="0" cy="143914"/>
            </a:xfrm>
            <a:prstGeom prst="line">
              <a:avLst/>
            </a:prstGeom>
            <a:noFill/>
            <a:ln w="9525" cmpd="sng">
              <a:solidFill>
                <a:srgbClr val="FF8000"/>
              </a:solidFill>
              <a:round/>
              <a:headEnd type="triangle" w="sm" len="sm"/>
              <a:tailEnd type="triangle" w="sm" len="sm"/>
            </a:ln>
            <a:extLst>
              <a:ext uri="{909E8E84-426E-40DD-AFC4-6F175D3DCCD1}">
                <a14:hiddenFill xmlns:a14="http://schemas.microsoft.com/office/drawing/2010/main">
                  <a:noFill/>
                </a14:hiddenFill>
              </a:ext>
            </a:extLst>
          </p:spPr>
          <p:txBody>
            <a:bodyPr anchor="ctr">
              <a:spAutoFit/>
            </a:bodyPr>
            <a:lstStyle/>
            <a:p>
              <a:endParaRPr lang="en-GB"/>
            </a:p>
          </p:txBody>
        </p:sp>
        <p:sp>
          <p:nvSpPr>
            <p:cNvPr id="593" name="Rectángulo 592"/>
            <p:cNvSpPr/>
            <p:nvPr/>
          </p:nvSpPr>
          <p:spPr>
            <a:xfrm>
              <a:off x="4904425" y="4833473"/>
              <a:ext cx="232061" cy="211602"/>
            </a:xfrm>
            <a:prstGeom prst="rect">
              <a:avLst/>
            </a:prstGeom>
            <a:solidFill>
              <a:srgbClr val="3399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4" name="Rectángulo 593"/>
            <p:cNvSpPr/>
            <p:nvPr/>
          </p:nvSpPr>
          <p:spPr>
            <a:xfrm>
              <a:off x="5587986" y="4834038"/>
              <a:ext cx="232061" cy="211602"/>
            </a:xfrm>
            <a:prstGeom prst="rect">
              <a:avLst/>
            </a:prstGeom>
            <a:solidFill>
              <a:srgbClr val="3399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5" name="Rectángulo 594"/>
            <p:cNvSpPr/>
            <p:nvPr/>
          </p:nvSpPr>
          <p:spPr>
            <a:xfrm>
              <a:off x="6282708" y="4834038"/>
              <a:ext cx="232061" cy="211602"/>
            </a:xfrm>
            <a:prstGeom prst="rect">
              <a:avLst/>
            </a:prstGeom>
            <a:solidFill>
              <a:srgbClr val="3399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6" name="Rectángulo 595"/>
            <p:cNvSpPr/>
            <p:nvPr/>
          </p:nvSpPr>
          <p:spPr>
            <a:xfrm>
              <a:off x="6966269" y="4834603"/>
              <a:ext cx="232061" cy="211602"/>
            </a:xfrm>
            <a:prstGeom prst="rect">
              <a:avLst/>
            </a:prstGeom>
            <a:solidFill>
              <a:srgbClr val="3399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7" name="Rectángulo 596"/>
            <p:cNvSpPr/>
            <p:nvPr/>
          </p:nvSpPr>
          <p:spPr>
            <a:xfrm>
              <a:off x="7644570" y="4832908"/>
              <a:ext cx="232061" cy="211602"/>
            </a:xfrm>
            <a:prstGeom prst="rect">
              <a:avLst/>
            </a:prstGeom>
            <a:solidFill>
              <a:srgbClr val="3399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sp>
          <p:nvSpPr>
            <p:cNvPr id="598" name="Rectángulo 597"/>
            <p:cNvSpPr/>
            <p:nvPr/>
          </p:nvSpPr>
          <p:spPr>
            <a:xfrm>
              <a:off x="8328131" y="4833473"/>
              <a:ext cx="232061" cy="211602"/>
            </a:xfrm>
            <a:prstGeom prst="rect">
              <a:avLst/>
            </a:prstGeom>
            <a:solidFill>
              <a:srgbClr val="3399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grpSp>
      <p:sp>
        <p:nvSpPr>
          <p:cNvPr id="600" name="CuadroTexto 599"/>
          <p:cNvSpPr txBox="1"/>
          <p:nvPr/>
        </p:nvSpPr>
        <p:spPr>
          <a:xfrm>
            <a:off x="6195277" y="5417846"/>
            <a:ext cx="1409361" cy="307777"/>
          </a:xfrm>
          <a:prstGeom prst="rect">
            <a:avLst/>
          </a:prstGeom>
          <a:noFill/>
        </p:spPr>
        <p:txBody>
          <a:bodyPr wrap="none" rtlCol="0">
            <a:spAutoFit/>
          </a:bodyPr>
          <a:lstStyle/>
          <a:p>
            <a:r>
              <a:rPr lang="en-GB" sz="1400" dirty="0" err="1"/>
              <a:t>Amplificadores</a:t>
            </a:r>
            <a:r>
              <a:rPr lang="en-GB" sz="1400" dirty="0"/>
              <a:t> </a:t>
            </a:r>
          </a:p>
        </p:txBody>
      </p:sp>
      <p:sp>
        <p:nvSpPr>
          <p:cNvPr id="585" name="Marcador de contenido 2">
            <a:extLst>
              <a:ext uri="{FF2B5EF4-FFF2-40B4-BE49-F238E27FC236}">
                <a16:creationId xmlns:a16="http://schemas.microsoft.com/office/drawing/2014/main" id="{8E54BB8B-BEC7-448B-B372-C86528A32EFB}"/>
              </a:ext>
            </a:extLst>
          </p:cNvPr>
          <p:cNvSpPr txBox="1">
            <a:spLocks/>
          </p:cNvSpPr>
          <p:nvPr/>
        </p:nvSpPr>
        <p:spPr>
          <a:xfrm>
            <a:off x="517223" y="818427"/>
            <a:ext cx="8347495" cy="1011726"/>
          </a:xfrm>
          <a:prstGeom prst="rect">
            <a:avLst/>
          </a:prstGeom>
        </p:spPr>
        <p:txBody>
          <a:bodyPr>
            <a:norm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n-GB" sz="2000" dirty="0" err="1"/>
              <a:t>Internamente</a:t>
            </a:r>
            <a:r>
              <a:rPr lang="en-GB" sz="2000" dirty="0"/>
              <a:t> </a:t>
            </a:r>
            <a:r>
              <a:rPr lang="en-GB" sz="2000" dirty="0" err="1"/>
              <a:t>está</a:t>
            </a:r>
            <a:r>
              <a:rPr lang="en-GB" sz="2000" dirty="0"/>
              <a:t> </a:t>
            </a:r>
            <a:r>
              <a:rPr lang="en-GB" sz="2000" dirty="0" err="1"/>
              <a:t>formada</a:t>
            </a:r>
            <a:r>
              <a:rPr lang="en-GB" sz="2000" dirty="0"/>
              <a:t> por </a:t>
            </a:r>
            <a:r>
              <a:rPr lang="en-GB" sz="2000" dirty="0" err="1"/>
              <a:t>varias</a:t>
            </a:r>
            <a:r>
              <a:rPr lang="en-GB" sz="2000" dirty="0"/>
              <a:t> matrices de 2</a:t>
            </a:r>
            <a:r>
              <a:rPr lang="en-GB" sz="2000" baseline="30000" dirty="0"/>
              <a:t>f</a:t>
            </a:r>
            <a:r>
              <a:rPr lang="en-GB" sz="2000" dirty="0"/>
              <a:t> </a:t>
            </a:r>
            <a:r>
              <a:rPr lang="en-GB" sz="2000" dirty="0" err="1"/>
              <a:t>filas</a:t>
            </a:r>
            <a:r>
              <a:rPr lang="en-GB" sz="2000" dirty="0"/>
              <a:t> con 2</a:t>
            </a:r>
            <a:r>
              <a:rPr lang="en-GB" sz="2000" baseline="30000" dirty="0"/>
              <a:t>c</a:t>
            </a:r>
            <a:r>
              <a:rPr lang="en-GB" sz="2000" dirty="0"/>
              <a:t> </a:t>
            </a:r>
            <a:r>
              <a:rPr lang="en-GB" sz="2000" dirty="0" err="1"/>
              <a:t>columnas</a:t>
            </a:r>
            <a:r>
              <a:rPr lang="en-GB" sz="2000" dirty="0"/>
              <a:t> de palabras.  </a:t>
            </a:r>
            <a:r>
              <a:rPr lang="en-GB" sz="2000" dirty="0" err="1"/>
              <a:t>Cada</a:t>
            </a:r>
            <a:r>
              <a:rPr lang="en-GB" sz="2000" dirty="0"/>
              <a:t> </a:t>
            </a:r>
            <a:r>
              <a:rPr lang="en-GB" sz="2000" dirty="0" err="1"/>
              <a:t>matriz</a:t>
            </a:r>
            <a:r>
              <a:rPr lang="en-GB" sz="2000" dirty="0"/>
              <a:t> </a:t>
            </a:r>
            <a:r>
              <a:rPr lang="en-GB" sz="2000" dirty="0" err="1"/>
              <a:t>recibe</a:t>
            </a:r>
            <a:r>
              <a:rPr lang="en-GB" sz="2000" dirty="0"/>
              <a:t> el </a:t>
            </a:r>
            <a:r>
              <a:rPr lang="en-GB" sz="2000" dirty="0" err="1"/>
              <a:t>nombre</a:t>
            </a:r>
            <a:r>
              <a:rPr lang="en-GB" sz="2000" dirty="0"/>
              <a:t> de BANCO.</a:t>
            </a:r>
          </a:p>
        </p:txBody>
      </p:sp>
    </p:spTree>
    <p:extLst>
      <p:ext uri="{BB962C8B-B14F-4D97-AF65-F5344CB8AC3E}">
        <p14:creationId xmlns:p14="http://schemas.microsoft.com/office/powerpoint/2010/main" val="2771876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FEAD1-0544-4F32-A873-923945FC57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9D0D01-F4A1-C718-FEC0-CC4723C4B67D}"/>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F3262D6D-4ED2-B6FA-61DE-FDB93F840FD4}"/>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t>Organización</a:t>
            </a:r>
          </a:p>
          <a:p>
            <a:pPr marL="977900" lvl="2" indent="-457200">
              <a:lnSpc>
                <a:spcPct val="90000"/>
              </a:lnSpc>
              <a:buFont typeface="+mj-lt"/>
              <a:buAutoNum type="romanUcPeriod"/>
            </a:pPr>
            <a:r>
              <a:rPr lang="es-ES" dirty="0">
                <a:solidFill>
                  <a:srgbClr val="FF0000"/>
                </a:solidFill>
              </a:rPr>
              <a:t>Direccionamiento</a:t>
            </a:r>
          </a:p>
          <a:p>
            <a:pPr marL="977900" lvl="2" indent="-457200">
              <a:lnSpc>
                <a:spcPct val="90000"/>
              </a:lnSpc>
              <a:buFont typeface="+mj-lt"/>
              <a:buAutoNum type="romanUcPeriod"/>
            </a:pPr>
            <a:r>
              <a:rPr lang="es-ES" dirty="0"/>
              <a:t>Temporización</a:t>
            </a:r>
          </a:p>
          <a:p>
            <a:pPr marL="977900" lvl="2" indent="-457200">
              <a:lnSpc>
                <a:spcPct val="90000"/>
              </a:lnSpc>
              <a:buFont typeface="+mj-lt"/>
              <a:buAutoNum type="romanUcPeriod"/>
            </a:pPr>
            <a:r>
              <a:rPr lang="es-ES" dirty="0"/>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74A78B64-3C9B-F698-FB79-4CDA5D41B829}"/>
              </a:ext>
            </a:extLst>
          </p:cNvPr>
          <p:cNvSpPr>
            <a:spLocks noGrp="1"/>
          </p:cNvSpPr>
          <p:nvPr>
            <p:ph type="sldNum" sz="quarter" idx="12"/>
          </p:nvPr>
        </p:nvSpPr>
        <p:spPr/>
        <p:txBody>
          <a:bodyPr/>
          <a:lstStyle/>
          <a:p>
            <a:pPr>
              <a:defRPr/>
            </a:pPr>
            <a:fld id="{50B7A251-C820-4EFF-8270-C7613E20881F}" type="slidenum">
              <a:rPr lang="en-US" smtClean="0"/>
              <a:pPr>
                <a:defRPr/>
              </a:pPr>
              <a:t>47</a:t>
            </a:fld>
            <a:endParaRPr lang="en-US" dirty="0"/>
          </a:p>
        </p:txBody>
      </p:sp>
      <p:sp>
        <p:nvSpPr>
          <p:cNvPr id="5" name="Rectángulo 4">
            <a:extLst>
              <a:ext uri="{FF2B5EF4-FFF2-40B4-BE49-F238E27FC236}">
                <a16:creationId xmlns:a16="http://schemas.microsoft.com/office/drawing/2014/main" id="{ECDF875B-3FC6-EC0A-B4D4-B02425F65233}"/>
              </a:ext>
            </a:extLst>
          </p:cNvPr>
          <p:cNvSpPr/>
          <p:nvPr/>
        </p:nvSpPr>
        <p:spPr>
          <a:xfrm>
            <a:off x="4550370" y="2633647"/>
            <a:ext cx="4122221" cy="1471172"/>
          </a:xfrm>
          <a:prstGeom prst="rect">
            <a:avLst/>
          </a:prstGeom>
        </p:spPr>
        <p:txBody>
          <a:bodyPr wrap="square">
            <a:spAutoFit/>
          </a:bodyPr>
          <a:lstStyle/>
          <a:p>
            <a:pPr algn="l"/>
            <a:r>
              <a:rPr lang="es-ES" sz="1600" dirty="0">
                <a:solidFill>
                  <a:schemeClr val="accent1">
                    <a:lumMod val="75000"/>
                  </a:schemeClr>
                </a:solidFill>
              </a:rPr>
              <a:t>Vídeos relacionados:</a:t>
            </a:r>
          </a:p>
          <a:p>
            <a:pPr marL="742950" lvl="1" indent="-285750" algn="l">
              <a:buFont typeface="Arial" panose="020B0604020202020204" pitchFamily="34" charset="0"/>
              <a:buChar char="•"/>
            </a:pPr>
            <a:r>
              <a:rPr lang="es-ES" sz="1600" dirty="0">
                <a:solidFill>
                  <a:schemeClr val="accent1">
                    <a:lumMod val="75000"/>
                  </a:schemeClr>
                </a:solidFill>
              </a:rPr>
              <a:t>Vídeo 2. “Geometría DRAM”</a:t>
            </a:r>
          </a:p>
          <a:p>
            <a:pPr marL="742950" lvl="1" indent="-285750" algn="l">
              <a:buFont typeface="Arial" panose="020B0604020202020204" pitchFamily="34" charset="0"/>
              <a:buChar char="•"/>
            </a:pPr>
            <a:r>
              <a:rPr lang="es-ES" sz="1600" dirty="0">
                <a:solidFill>
                  <a:schemeClr val="accent1">
                    <a:lumMod val="75000"/>
                  </a:schemeClr>
                </a:solidFill>
              </a:rPr>
              <a:t>Vídeo 3. “Geometría DRAM: Ejemplo”</a:t>
            </a:r>
          </a:p>
          <a:p>
            <a:pPr lvl="1" algn="l"/>
            <a:endParaRPr lang="es-ES" sz="1600" dirty="0">
              <a:solidFill>
                <a:schemeClr val="accent1">
                  <a:lumMod val="75000"/>
                </a:schemeClr>
              </a:solidFill>
            </a:endParaRPr>
          </a:p>
        </p:txBody>
      </p:sp>
      <p:sp>
        <p:nvSpPr>
          <p:cNvPr id="6" name="Rectángulo 5">
            <a:extLst>
              <a:ext uri="{FF2B5EF4-FFF2-40B4-BE49-F238E27FC236}">
                <a16:creationId xmlns:a16="http://schemas.microsoft.com/office/drawing/2014/main" id="{8FA5A641-78F8-AC09-F1E9-62C1DAC4FC8A}"/>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Tree>
    <p:extLst>
      <p:ext uri="{BB962C8B-B14F-4D97-AF65-F5344CB8AC3E}">
        <p14:creationId xmlns:p14="http://schemas.microsoft.com/office/powerpoint/2010/main" val="1475759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p:txBody>
          <a:bodyPr/>
          <a:lstStyle/>
          <a:p>
            <a:r>
              <a:rPr lang="es-ES" dirty="0"/>
              <a:t>Direccionamiento Memorias SDRAM</a:t>
            </a:r>
            <a:endParaRPr lang="es-ES_tradnl" altLang="es-ES_tradnl" dirty="0"/>
          </a:p>
        </p:txBody>
      </p:sp>
      <p:sp>
        <p:nvSpPr>
          <p:cNvPr id="169" name="Rectangle 3"/>
          <p:cNvSpPr txBox="1">
            <a:spLocks noChangeArrowheads="1"/>
          </p:cNvSpPr>
          <p:nvPr/>
        </p:nvSpPr>
        <p:spPr bwMode="auto">
          <a:xfrm>
            <a:off x="533400" y="1052736"/>
            <a:ext cx="8305800"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gn="l">
              <a:buFont typeface="Wingdings" pitchFamily="2" charset="2"/>
              <a:buChar char="§"/>
              <a:defRPr/>
            </a:pPr>
            <a:r>
              <a:rPr lang="es-ES" sz="2400" dirty="0">
                <a:solidFill>
                  <a:prstClr val="black"/>
                </a:solidFill>
              </a:rPr>
              <a:t>Tamaño SDRAM:   2</a:t>
            </a:r>
            <a:r>
              <a:rPr lang="es-ES" sz="2400" b="1" i="1" baseline="40000" dirty="0">
                <a:solidFill>
                  <a:prstClr val="black"/>
                </a:solidFill>
              </a:rPr>
              <a:t>p</a:t>
            </a:r>
            <a:r>
              <a:rPr lang="es-ES" sz="2400" dirty="0">
                <a:solidFill>
                  <a:prstClr val="black"/>
                </a:solidFill>
              </a:rPr>
              <a:t> </a:t>
            </a:r>
            <a:r>
              <a:rPr lang="es-ES" sz="2400" dirty="0">
                <a:solidFill>
                  <a:prstClr val="black"/>
                </a:solidFill>
                <a:sym typeface="Symbol" pitchFamily="18" charset="2"/>
              </a:rPr>
              <a:t></a:t>
            </a:r>
            <a:r>
              <a:rPr lang="es-ES" sz="2400" dirty="0">
                <a:solidFill>
                  <a:prstClr val="black"/>
                </a:solidFill>
              </a:rPr>
              <a:t> </a:t>
            </a:r>
            <a:r>
              <a:rPr lang="es-ES" sz="2400" i="1" dirty="0">
                <a:solidFill>
                  <a:prstClr val="black"/>
                </a:solidFill>
              </a:rPr>
              <a:t>w</a:t>
            </a:r>
            <a:r>
              <a:rPr lang="es-ES" sz="2400" dirty="0">
                <a:solidFill>
                  <a:prstClr val="black"/>
                </a:solidFill>
              </a:rPr>
              <a:t> bits    </a:t>
            </a:r>
            <a:r>
              <a:rPr lang="es-ES" i="1" dirty="0">
                <a:solidFill>
                  <a:prstClr val="black"/>
                </a:solidFill>
              </a:rPr>
              <a:t>(2</a:t>
            </a:r>
            <a:r>
              <a:rPr lang="es-ES" b="1" i="1" baseline="40000" dirty="0">
                <a:solidFill>
                  <a:prstClr val="black"/>
                </a:solidFill>
              </a:rPr>
              <a:t>p</a:t>
            </a:r>
            <a:r>
              <a:rPr lang="es-ES" i="1" dirty="0">
                <a:solidFill>
                  <a:prstClr val="black"/>
                </a:solidFill>
              </a:rPr>
              <a:t> </a:t>
            </a:r>
            <a:r>
              <a:rPr lang="es-ES" i="1" dirty="0">
                <a:solidFill>
                  <a:prstClr val="black"/>
                </a:solidFill>
                <a:sym typeface="Symbol" pitchFamily="18" charset="2"/>
              </a:rPr>
              <a:t>palabras de </a:t>
            </a:r>
            <a:r>
              <a:rPr lang="es-ES" i="1" dirty="0">
                <a:solidFill>
                  <a:prstClr val="black"/>
                </a:solidFill>
              </a:rPr>
              <a:t> w bits)</a:t>
            </a:r>
            <a:endParaRPr lang="es-ES" sz="2400" i="1" dirty="0">
              <a:solidFill>
                <a:prstClr val="black"/>
              </a:solidFill>
            </a:endParaRPr>
          </a:p>
          <a:p>
            <a:pPr marL="342900" indent="-342900" algn="l">
              <a:buFont typeface="Wingdings" pitchFamily="2" charset="2"/>
              <a:buChar char="§"/>
              <a:defRPr/>
            </a:pPr>
            <a:r>
              <a:rPr lang="es-ES" sz="2400" dirty="0">
                <a:solidFill>
                  <a:prstClr val="black"/>
                </a:solidFill>
              </a:rPr>
              <a:t>Organización: 2</a:t>
            </a:r>
            <a:r>
              <a:rPr lang="es-ES" sz="2400" b="1" i="1" baseline="30000" dirty="0">
                <a:solidFill>
                  <a:prstClr val="black"/>
                </a:solidFill>
              </a:rPr>
              <a:t>b</a:t>
            </a:r>
            <a:r>
              <a:rPr lang="es-ES" sz="2400" dirty="0">
                <a:solidFill>
                  <a:prstClr val="black"/>
                </a:solidFill>
              </a:rPr>
              <a:t> bancos </a:t>
            </a:r>
            <a:r>
              <a:rPr lang="es-ES" sz="2400" dirty="0">
                <a:solidFill>
                  <a:prstClr val="black"/>
                </a:solidFill>
                <a:sym typeface="Symbol" pitchFamily="18" charset="2"/>
              </a:rPr>
              <a:t></a:t>
            </a:r>
            <a:r>
              <a:rPr lang="es-ES" sz="2400" dirty="0">
                <a:solidFill>
                  <a:prstClr val="black"/>
                </a:solidFill>
              </a:rPr>
              <a:t> 2</a:t>
            </a:r>
            <a:r>
              <a:rPr lang="es-ES" sz="2400" b="1" i="1" baseline="30000" dirty="0">
                <a:solidFill>
                  <a:prstClr val="black"/>
                </a:solidFill>
              </a:rPr>
              <a:t>f</a:t>
            </a:r>
            <a:r>
              <a:rPr lang="es-ES" sz="2400" baseline="30000" dirty="0">
                <a:solidFill>
                  <a:prstClr val="black"/>
                </a:solidFill>
              </a:rPr>
              <a:t>  </a:t>
            </a:r>
            <a:r>
              <a:rPr lang="es-ES" sz="2400" dirty="0">
                <a:solidFill>
                  <a:prstClr val="black"/>
                </a:solidFill>
                <a:sym typeface="Symbol" pitchFamily="18" charset="2"/>
              </a:rPr>
              <a:t>filas  </a:t>
            </a:r>
            <a:r>
              <a:rPr lang="es-ES" sz="2400" dirty="0">
                <a:solidFill>
                  <a:prstClr val="black"/>
                </a:solidFill>
              </a:rPr>
              <a:t>2</a:t>
            </a:r>
            <a:r>
              <a:rPr lang="es-ES" sz="2400" b="1" i="1" baseline="30000" dirty="0">
                <a:solidFill>
                  <a:prstClr val="black"/>
                </a:solidFill>
              </a:rPr>
              <a:t>c</a:t>
            </a:r>
            <a:r>
              <a:rPr lang="es-ES" sz="2400" dirty="0">
                <a:solidFill>
                  <a:prstClr val="black"/>
                </a:solidFill>
              </a:rPr>
              <a:t> columnas</a:t>
            </a:r>
          </a:p>
          <a:p>
            <a:pPr marL="342900" indent="-342900" algn="l">
              <a:buFont typeface="Wingdings" pitchFamily="2" charset="2"/>
              <a:buChar char="§"/>
              <a:defRPr/>
            </a:pPr>
            <a:r>
              <a:rPr lang="es-ES" altLang="es-ES_tradnl" sz="2400" i="1" kern="0" dirty="0">
                <a:solidFill>
                  <a:prstClr val="black"/>
                </a:solidFill>
                <a:cs typeface="Arial" pitchFamily="34" charset="0"/>
              </a:rPr>
              <a:t>p = b + f +c</a:t>
            </a:r>
          </a:p>
        </p:txBody>
      </p:sp>
      <p:grpSp>
        <p:nvGrpSpPr>
          <p:cNvPr id="27" name="26 Grupo"/>
          <p:cNvGrpSpPr/>
          <p:nvPr/>
        </p:nvGrpSpPr>
        <p:grpSpPr>
          <a:xfrm>
            <a:off x="1907704" y="3286124"/>
            <a:ext cx="6624736" cy="1043052"/>
            <a:chOff x="1907704" y="3286124"/>
            <a:chExt cx="6624736" cy="1043052"/>
          </a:xfrm>
        </p:grpSpPr>
        <p:sp>
          <p:nvSpPr>
            <p:cNvPr id="164" name="Rectangle 15"/>
            <p:cNvSpPr>
              <a:spLocks noChangeArrowheads="1"/>
            </p:cNvSpPr>
            <p:nvPr/>
          </p:nvSpPr>
          <p:spPr bwMode="auto">
            <a:xfrm>
              <a:off x="1907704" y="3286124"/>
              <a:ext cx="6624736" cy="457200"/>
            </a:xfrm>
            <a:prstGeom prst="rect">
              <a:avLst/>
            </a:prstGeom>
            <a:noFill/>
            <a:ln w="19050">
              <a:solidFill>
                <a:schemeClr val="tx1"/>
              </a:solidFill>
              <a:miter lim="800000"/>
              <a:headEnd/>
              <a:tailEnd/>
            </a:ln>
          </p:spPr>
          <p:txBody>
            <a:bodyPr wrap="none" lIns="0" tIns="0" rIns="0" bIns="0" anchor="ctr"/>
            <a:lstStyle/>
            <a:p>
              <a:pPr algn="l"/>
              <a:r>
                <a:rPr lang="es-ES_tradnl" dirty="0">
                  <a:solidFill>
                    <a:prstClr val="black"/>
                  </a:solidFill>
                </a:rPr>
                <a:t>  A</a:t>
              </a:r>
              <a:r>
                <a:rPr lang="es-ES_tradnl" b="1" baseline="-25000" dirty="0">
                  <a:solidFill>
                    <a:prstClr val="black"/>
                  </a:solidFill>
                </a:rPr>
                <a:t>p−1   </a:t>
              </a:r>
              <a:r>
                <a:rPr lang="es-ES_tradnl" b="1" dirty="0">
                  <a:solidFill>
                    <a:prstClr val="black"/>
                  </a:solidFill>
                </a:rPr>
                <a:t>                               …..                                           </a:t>
              </a:r>
              <a:r>
                <a:rPr lang="es-ES_tradnl" dirty="0">
                  <a:solidFill>
                    <a:prstClr val="black"/>
                  </a:solidFill>
                </a:rPr>
                <a:t>A</a:t>
              </a:r>
              <a:r>
                <a:rPr lang="es-ES_tradnl" b="1" baseline="-25000" dirty="0">
                  <a:solidFill>
                    <a:prstClr val="black"/>
                  </a:solidFill>
                </a:rPr>
                <a:t>0</a:t>
              </a:r>
            </a:p>
          </p:txBody>
        </p:sp>
        <p:sp>
          <p:nvSpPr>
            <p:cNvPr id="32" name="31 CuadroTexto"/>
            <p:cNvSpPr txBox="1"/>
            <p:nvPr/>
          </p:nvSpPr>
          <p:spPr>
            <a:xfrm>
              <a:off x="2843808" y="3843624"/>
              <a:ext cx="2300630" cy="369332"/>
            </a:xfrm>
            <a:prstGeom prst="rect">
              <a:avLst/>
            </a:prstGeom>
            <a:noFill/>
          </p:spPr>
          <p:txBody>
            <a:bodyPr wrap="none" rtlCol="0">
              <a:spAutoFit/>
            </a:bodyPr>
            <a:lstStyle/>
            <a:p>
              <a:pPr algn="l"/>
              <a:r>
                <a:rPr lang="es-ES" sz="1800" dirty="0">
                  <a:solidFill>
                    <a:prstClr val="white"/>
                  </a:solidFill>
                </a:rPr>
                <a:t>Dirección de palabra</a:t>
              </a:r>
            </a:p>
          </p:txBody>
        </p:sp>
        <p:sp>
          <p:nvSpPr>
            <p:cNvPr id="33" name="AutoShape 11"/>
            <p:cNvSpPr>
              <a:spLocks/>
            </p:cNvSpPr>
            <p:nvPr/>
          </p:nvSpPr>
          <p:spPr bwMode="auto">
            <a:xfrm rot="5400000">
              <a:off x="5143504" y="571483"/>
              <a:ext cx="142876" cy="6572296"/>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sp>
          <p:nvSpPr>
            <p:cNvPr id="34" name="33 CuadroTexto"/>
            <p:cNvSpPr txBox="1"/>
            <p:nvPr/>
          </p:nvSpPr>
          <p:spPr>
            <a:xfrm>
              <a:off x="4779824" y="3929066"/>
              <a:ext cx="756938" cy="400110"/>
            </a:xfrm>
            <a:prstGeom prst="rect">
              <a:avLst/>
            </a:prstGeom>
            <a:noFill/>
          </p:spPr>
          <p:txBody>
            <a:bodyPr wrap="none" rtlCol="0">
              <a:spAutoFit/>
            </a:bodyPr>
            <a:lstStyle/>
            <a:p>
              <a:r>
                <a:rPr lang="es-ES" i="1" dirty="0">
                  <a:solidFill>
                    <a:prstClr val="black"/>
                  </a:solidFill>
                </a:rPr>
                <a:t>p </a:t>
              </a:r>
              <a:r>
                <a:rPr lang="es-ES" sz="1800" i="1" dirty="0">
                  <a:solidFill>
                    <a:prstClr val="black"/>
                  </a:solidFill>
                </a:rPr>
                <a:t>bits</a:t>
              </a:r>
              <a:endParaRPr lang="es-ES" i="1" dirty="0">
                <a:solidFill>
                  <a:prstClr val="black"/>
                </a:solidFill>
              </a:endParaRPr>
            </a:p>
          </p:txBody>
        </p:sp>
      </p:grpSp>
      <p:sp>
        <p:nvSpPr>
          <p:cNvPr id="35" name="34 CuadroTexto"/>
          <p:cNvSpPr txBox="1"/>
          <p:nvPr/>
        </p:nvSpPr>
        <p:spPr>
          <a:xfrm>
            <a:off x="35496" y="3143248"/>
            <a:ext cx="1877437" cy="701731"/>
          </a:xfrm>
          <a:prstGeom prst="rect">
            <a:avLst/>
          </a:prstGeom>
          <a:noFill/>
        </p:spPr>
        <p:txBody>
          <a:bodyPr wrap="none" rtlCol="0">
            <a:spAutoFit/>
          </a:bodyPr>
          <a:lstStyle/>
          <a:p>
            <a:r>
              <a:rPr lang="es-ES" sz="1800" dirty="0">
                <a:solidFill>
                  <a:srgbClr val="7030A0"/>
                </a:solidFill>
              </a:rPr>
              <a:t>Dirección</a:t>
            </a:r>
          </a:p>
          <a:p>
            <a:r>
              <a:rPr lang="es-ES" sz="1800" dirty="0">
                <a:solidFill>
                  <a:srgbClr val="7030A0"/>
                </a:solidFill>
              </a:rPr>
              <a:t>Palabra SDRAM</a:t>
            </a:r>
          </a:p>
        </p:txBody>
      </p:sp>
      <p:grpSp>
        <p:nvGrpSpPr>
          <p:cNvPr id="26" name="25 Grupo"/>
          <p:cNvGrpSpPr/>
          <p:nvPr/>
        </p:nvGrpSpPr>
        <p:grpSpPr>
          <a:xfrm>
            <a:off x="1890009" y="4348575"/>
            <a:ext cx="6642431" cy="1152127"/>
            <a:chOff x="1890009" y="4348575"/>
            <a:chExt cx="6642431" cy="1152127"/>
          </a:xfrm>
        </p:grpSpPr>
        <p:sp>
          <p:nvSpPr>
            <p:cNvPr id="41" name="Rectangle 4"/>
            <p:cNvSpPr>
              <a:spLocks noChangeArrowheads="1"/>
            </p:cNvSpPr>
            <p:nvPr/>
          </p:nvSpPr>
          <p:spPr bwMode="auto">
            <a:xfrm>
              <a:off x="6084168" y="4460851"/>
              <a:ext cx="2448272" cy="457200"/>
            </a:xfrm>
            <a:prstGeom prst="rect">
              <a:avLst/>
            </a:prstGeom>
            <a:solidFill>
              <a:srgbClr val="CC3300"/>
            </a:solidFill>
            <a:ln w="19050">
              <a:solidFill>
                <a:schemeClr val="tx1"/>
              </a:solidFill>
              <a:miter lim="800000"/>
              <a:headEnd/>
              <a:tailEnd/>
            </a:ln>
          </p:spPr>
          <p:txBody>
            <a:bodyPr wrap="none" lIns="0" tIns="0" rIns="0" bIns="0" anchor="ctr"/>
            <a:lstStyle/>
            <a:p>
              <a:r>
                <a:rPr lang="es-ES_tradnl" sz="1600" b="1" dirty="0" err="1">
                  <a:solidFill>
                    <a:srgbClr val="FFFFFF"/>
                  </a:solidFill>
                </a:rPr>
                <a:t>Sel</a:t>
              </a:r>
              <a:r>
                <a:rPr lang="es-ES_tradnl" sz="1600" b="1" dirty="0">
                  <a:solidFill>
                    <a:srgbClr val="FFFFFF"/>
                  </a:solidFill>
                </a:rPr>
                <a:t>. Columna</a:t>
              </a:r>
              <a:endParaRPr lang="es-ES_tradnl" sz="1600" b="1" baseline="-25000" dirty="0">
                <a:solidFill>
                  <a:prstClr val="black"/>
                </a:solidFill>
              </a:endParaRPr>
            </a:p>
          </p:txBody>
        </p:sp>
        <p:sp>
          <p:nvSpPr>
            <p:cNvPr id="43" name="Rectangle 15"/>
            <p:cNvSpPr>
              <a:spLocks noChangeArrowheads="1"/>
            </p:cNvSpPr>
            <p:nvPr/>
          </p:nvSpPr>
          <p:spPr bwMode="auto">
            <a:xfrm>
              <a:off x="1907704" y="4460851"/>
              <a:ext cx="1152128" cy="457200"/>
            </a:xfrm>
            <a:prstGeom prst="rect">
              <a:avLst/>
            </a:prstGeom>
            <a:solidFill>
              <a:schemeClr val="bg1">
                <a:lumMod val="65000"/>
              </a:schemeClr>
            </a:solidFill>
            <a:ln w="19050">
              <a:solidFill>
                <a:schemeClr val="tx1"/>
              </a:solidFill>
              <a:miter lim="800000"/>
              <a:headEnd/>
              <a:tailEnd/>
            </a:ln>
          </p:spPr>
          <p:txBody>
            <a:bodyPr wrap="none" lIns="0" tIns="0" rIns="0" bIns="0" anchor="ctr"/>
            <a:lstStyle/>
            <a:p>
              <a:r>
                <a:rPr lang="es-ES_tradnl" sz="1600" b="1" dirty="0">
                  <a:solidFill>
                    <a:srgbClr val="FFFFFF"/>
                  </a:solidFill>
                </a:rPr>
                <a:t>  </a:t>
              </a:r>
              <a:r>
                <a:rPr lang="es-ES_tradnl" sz="1600" b="1" dirty="0" err="1">
                  <a:solidFill>
                    <a:srgbClr val="FFFFFF"/>
                  </a:solidFill>
                </a:rPr>
                <a:t>Sel</a:t>
              </a:r>
              <a:r>
                <a:rPr lang="es-ES_tradnl" sz="1600" b="1" dirty="0">
                  <a:solidFill>
                    <a:srgbClr val="FFFFFF"/>
                  </a:solidFill>
                </a:rPr>
                <a:t>. Banco</a:t>
              </a:r>
              <a:endParaRPr lang="es-ES_tradnl" sz="1600" b="1" baseline="-25000" dirty="0">
                <a:solidFill>
                  <a:srgbClr val="FFFFFF"/>
                </a:solidFill>
              </a:endParaRPr>
            </a:p>
          </p:txBody>
        </p:sp>
        <p:sp>
          <p:nvSpPr>
            <p:cNvPr id="44" name="Rectangle 15"/>
            <p:cNvSpPr>
              <a:spLocks noChangeArrowheads="1"/>
            </p:cNvSpPr>
            <p:nvPr/>
          </p:nvSpPr>
          <p:spPr bwMode="auto">
            <a:xfrm>
              <a:off x="3059832" y="4460851"/>
              <a:ext cx="3024336" cy="457200"/>
            </a:xfrm>
            <a:prstGeom prst="rect">
              <a:avLst/>
            </a:prstGeom>
            <a:solidFill>
              <a:srgbClr val="0070C0"/>
            </a:solidFill>
            <a:ln w="19050">
              <a:solidFill>
                <a:schemeClr val="tx1"/>
              </a:solidFill>
              <a:miter lim="800000"/>
              <a:headEnd/>
              <a:tailEnd/>
            </a:ln>
          </p:spPr>
          <p:txBody>
            <a:bodyPr wrap="none" lIns="0" tIns="0" rIns="0" bIns="0" anchor="ctr"/>
            <a:lstStyle/>
            <a:p>
              <a:r>
                <a:rPr lang="es-ES_tradnl" sz="1800" b="1" dirty="0">
                  <a:solidFill>
                    <a:srgbClr val="FFFFFF"/>
                  </a:solidFill>
                </a:rPr>
                <a:t>  </a:t>
              </a:r>
              <a:r>
                <a:rPr lang="es-ES_tradnl" sz="1600" b="1" dirty="0" err="1">
                  <a:solidFill>
                    <a:srgbClr val="FFFFFF"/>
                  </a:solidFill>
                </a:rPr>
                <a:t>Sel</a:t>
              </a:r>
              <a:r>
                <a:rPr lang="es-ES_tradnl" sz="1600" b="1" dirty="0">
                  <a:solidFill>
                    <a:srgbClr val="FFFFFF"/>
                  </a:solidFill>
                </a:rPr>
                <a:t>. Fila</a:t>
              </a:r>
              <a:endParaRPr lang="es-ES_tradnl" sz="1800" b="1" baseline="-25000" dirty="0">
                <a:solidFill>
                  <a:srgbClr val="FFFFFF"/>
                </a:solidFill>
              </a:endParaRPr>
            </a:p>
          </p:txBody>
        </p:sp>
        <p:sp>
          <p:nvSpPr>
            <p:cNvPr id="46" name="45 CuadroTexto"/>
            <p:cNvSpPr txBox="1"/>
            <p:nvPr/>
          </p:nvSpPr>
          <p:spPr>
            <a:xfrm>
              <a:off x="2051720" y="5100592"/>
              <a:ext cx="827471" cy="400110"/>
            </a:xfrm>
            <a:prstGeom prst="rect">
              <a:avLst/>
            </a:prstGeom>
            <a:noFill/>
          </p:spPr>
          <p:txBody>
            <a:bodyPr wrap="none" rtlCol="0">
              <a:spAutoFit/>
            </a:bodyPr>
            <a:lstStyle/>
            <a:p>
              <a:r>
                <a:rPr lang="es-ES" i="1" dirty="0">
                  <a:solidFill>
                    <a:prstClr val="black"/>
                  </a:solidFill>
                </a:rPr>
                <a:t>b  </a:t>
              </a:r>
              <a:r>
                <a:rPr lang="es-ES" sz="1800" i="1" dirty="0">
                  <a:solidFill>
                    <a:prstClr val="black"/>
                  </a:solidFill>
                </a:rPr>
                <a:t>bits</a:t>
              </a:r>
              <a:endParaRPr lang="es-ES" i="1" dirty="0">
                <a:solidFill>
                  <a:prstClr val="black"/>
                </a:solidFill>
              </a:endParaRPr>
            </a:p>
          </p:txBody>
        </p:sp>
        <p:sp>
          <p:nvSpPr>
            <p:cNvPr id="47" name="46 CuadroTexto"/>
            <p:cNvSpPr txBox="1"/>
            <p:nvPr/>
          </p:nvSpPr>
          <p:spPr>
            <a:xfrm>
              <a:off x="4283968" y="5100592"/>
              <a:ext cx="684803" cy="400110"/>
            </a:xfrm>
            <a:prstGeom prst="rect">
              <a:avLst/>
            </a:prstGeom>
            <a:noFill/>
          </p:spPr>
          <p:txBody>
            <a:bodyPr wrap="none" rtlCol="0">
              <a:spAutoFit/>
            </a:bodyPr>
            <a:lstStyle/>
            <a:p>
              <a:r>
                <a:rPr lang="es-ES" i="1" dirty="0">
                  <a:solidFill>
                    <a:prstClr val="black"/>
                  </a:solidFill>
                </a:rPr>
                <a:t>f </a:t>
              </a:r>
              <a:r>
                <a:rPr lang="es-ES" sz="1800" i="1" dirty="0">
                  <a:solidFill>
                    <a:prstClr val="black"/>
                  </a:solidFill>
                </a:rPr>
                <a:t>bits</a:t>
              </a:r>
              <a:endParaRPr lang="es-ES" i="1" dirty="0">
                <a:solidFill>
                  <a:prstClr val="black"/>
                </a:solidFill>
              </a:endParaRPr>
            </a:p>
          </p:txBody>
        </p:sp>
        <p:sp>
          <p:nvSpPr>
            <p:cNvPr id="50" name="49 CuadroTexto"/>
            <p:cNvSpPr txBox="1"/>
            <p:nvPr/>
          </p:nvSpPr>
          <p:spPr>
            <a:xfrm>
              <a:off x="7020272" y="5100592"/>
              <a:ext cx="755335" cy="400110"/>
            </a:xfrm>
            <a:prstGeom prst="rect">
              <a:avLst/>
            </a:prstGeom>
            <a:noFill/>
          </p:spPr>
          <p:txBody>
            <a:bodyPr wrap="none" rtlCol="0">
              <a:spAutoFit/>
            </a:bodyPr>
            <a:lstStyle/>
            <a:p>
              <a:r>
                <a:rPr lang="es-ES" i="1" dirty="0">
                  <a:solidFill>
                    <a:prstClr val="black"/>
                  </a:solidFill>
                </a:rPr>
                <a:t>c </a:t>
              </a:r>
              <a:r>
                <a:rPr lang="es-ES" sz="1800" i="1" dirty="0">
                  <a:solidFill>
                    <a:prstClr val="black"/>
                  </a:solidFill>
                </a:rPr>
                <a:t>bits</a:t>
              </a:r>
              <a:endParaRPr lang="es-ES" i="1" dirty="0">
                <a:solidFill>
                  <a:prstClr val="black"/>
                </a:solidFill>
              </a:endParaRPr>
            </a:p>
          </p:txBody>
        </p:sp>
        <p:sp>
          <p:nvSpPr>
            <p:cNvPr id="51" name="AutoShape 12"/>
            <p:cNvSpPr>
              <a:spLocks/>
            </p:cNvSpPr>
            <p:nvPr/>
          </p:nvSpPr>
          <p:spPr bwMode="auto">
            <a:xfrm rot="5400000">
              <a:off x="7380312" y="3916527"/>
              <a:ext cx="144016" cy="216024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52" name="AutoShape 12"/>
            <p:cNvSpPr>
              <a:spLocks/>
            </p:cNvSpPr>
            <p:nvPr/>
          </p:nvSpPr>
          <p:spPr bwMode="auto">
            <a:xfrm rot="5400000">
              <a:off x="4963852" y="3668691"/>
              <a:ext cx="144016" cy="2655912"/>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53" name="AutoShape 12"/>
            <p:cNvSpPr>
              <a:spLocks/>
            </p:cNvSpPr>
            <p:nvPr/>
          </p:nvSpPr>
          <p:spPr bwMode="auto">
            <a:xfrm rot="5400000">
              <a:off x="2987824" y="4348575"/>
              <a:ext cx="135632" cy="128776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58" name="AutoShape 12"/>
            <p:cNvSpPr>
              <a:spLocks/>
            </p:cNvSpPr>
            <p:nvPr/>
          </p:nvSpPr>
          <p:spPr bwMode="auto">
            <a:xfrm rot="16200000" flipV="1">
              <a:off x="7664152" y="3560679"/>
              <a:ext cx="72008" cy="164780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55" name="AutoShape 11"/>
            <p:cNvSpPr>
              <a:spLocks/>
            </p:cNvSpPr>
            <p:nvPr/>
          </p:nvSpPr>
          <p:spPr bwMode="auto">
            <a:xfrm rot="5400000">
              <a:off x="2394000" y="4420647"/>
              <a:ext cx="144017" cy="1152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sp>
          <p:nvSpPr>
            <p:cNvPr id="56" name="AutoShape 11"/>
            <p:cNvSpPr>
              <a:spLocks/>
            </p:cNvSpPr>
            <p:nvPr/>
          </p:nvSpPr>
          <p:spPr bwMode="auto">
            <a:xfrm rot="5400000">
              <a:off x="4500159" y="3484645"/>
              <a:ext cx="144017" cy="3024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sp>
          <p:nvSpPr>
            <p:cNvPr id="60" name="AutoShape 11"/>
            <p:cNvSpPr>
              <a:spLocks/>
            </p:cNvSpPr>
            <p:nvPr/>
          </p:nvSpPr>
          <p:spPr bwMode="auto">
            <a:xfrm rot="5400000">
              <a:off x="7236431" y="3772647"/>
              <a:ext cx="144017" cy="2448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grpSp>
      <p:sp>
        <p:nvSpPr>
          <p:cNvPr id="36" name="35 CuadroTexto"/>
          <p:cNvSpPr txBox="1"/>
          <p:nvPr/>
        </p:nvSpPr>
        <p:spPr>
          <a:xfrm>
            <a:off x="548164" y="4214818"/>
            <a:ext cx="1287532" cy="1034129"/>
          </a:xfrm>
          <a:prstGeom prst="rect">
            <a:avLst/>
          </a:prstGeom>
          <a:noFill/>
        </p:spPr>
        <p:txBody>
          <a:bodyPr wrap="none" rtlCol="0">
            <a:spAutoFit/>
          </a:bodyPr>
          <a:lstStyle/>
          <a:p>
            <a:r>
              <a:rPr lang="es-ES" sz="1800" dirty="0">
                <a:solidFill>
                  <a:srgbClr val="7030A0"/>
                </a:solidFill>
              </a:rPr>
              <a:t>Estructura</a:t>
            </a:r>
          </a:p>
          <a:p>
            <a:r>
              <a:rPr lang="es-ES" sz="1800" dirty="0">
                <a:solidFill>
                  <a:srgbClr val="7030A0"/>
                </a:solidFill>
              </a:rPr>
              <a:t>física de la</a:t>
            </a:r>
          </a:p>
          <a:p>
            <a:r>
              <a:rPr lang="es-ES" sz="1800" dirty="0">
                <a:solidFill>
                  <a:srgbClr val="7030A0"/>
                </a:solidFill>
              </a:rPr>
              <a:t>dirección</a:t>
            </a:r>
          </a:p>
        </p:txBody>
      </p:sp>
      <p:sp>
        <p:nvSpPr>
          <p:cNvPr id="2" name="2 Marcador de número de diapositiva">
            <a:extLst>
              <a:ext uri="{FF2B5EF4-FFF2-40B4-BE49-F238E27FC236}">
                <a16:creationId xmlns:a16="http://schemas.microsoft.com/office/drawing/2014/main" id="{87937B32-0893-0C3B-4F35-122B59B4229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48</a:t>
            </a:fld>
            <a:endParaRPr lang="en-US" dirty="0"/>
          </a:p>
        </p:txBody>
      </p:sp>
    </p:spTree>
    <p:extLst>
      <p:ext uri="{BB962C8B-B14F-4D97-AF65-F5344CB8AC3E}">
        <p14:creationId xmlns:p14="http://schemas.microsoft.com/office/powerpoint/2010/main" val="4043226522"/>
      </p:ext>
    </p:extLst>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bwMode="auto">
          <a:xfrm>
            <a:off x="5020562" y="977307"/>
            <a:ext cx="3909156" cy="5760640"/>
          </a:xfrm>
          <a:prstGeom prst="roundRect">
            <a:avLst/>
          </a:prstGeom>
          <a:solidFill>
            <a:schemeClr val="accent5">
              <a:lumMod val="20000"/>
              <a:lumOff val="80000"/>
            </a:schemeClr>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dirty="0">
              <a:solidFill>
                <a:prstClr val="white"/>
              </a:solidFill>
            </a:endParaRPr>
          </a:p>
        </p:txBody>
      </p:sp>
      <p:sp>
        <p:nvSpPr>
          <p:cNvPr id="66565" name="Rectangle 4"/>
          <p:cNvSpPr>
            <a:spLocks noChangeArrowheads="1"/>
          </p:cNvSpPr>
          <p:nvPr/>
        </p:nvSpPr>
        <p:spPr bwMode="auto">
          <a:xfrm>
            <a:off x="6927347" y="1196975"/>
            <a:ext cx="914400" cy="5356225"/>
          </a:xfrm>
          <a:prstGeom prst="rect">
            <a:avLst/>
          </a:prstGeom>
          <a:solidFill>
            <a:schemeClr val="bg2">
              <a:lumMod val="90000"/>
            </a:schemeClr>
          </a:solidFill>
          <a:ln w="28575">
            <a:solidFill>
              <a:schemeClr val="tx1"/>
            </a:solidFill>
            <a:miter lim="800000"/>
            <a:headEnd/>
            <a:tailEnd/>
          </a:ln>
        </p:spPr>
        <p:txBody>
          <a:bodyPr anchor="ctr">
            <a:spAutoFit/>
          </a:bodyPr>
          <a:lstStyle/>
          <a:p>
            <a:endParaRPr lang="es-ES">
              <a:solidFill>
                <a:prstClr val="black"/>
              </a:solidFill>
            </a:endParaRPr>
          </a:p>
        </p:txBody>
      </p:sp>
      <p:sp>
        <p:nvSpPr>
          <p:cNvPr id="66566" name="Line 5"/>
          <p:cNvSpPr>
            <a:spLocks noChangeShapeType="1"/>
          </p:cNvSpPr>
          <p:nvPr/>
        </p:nvSpPr>
        <p:spPr bwMode="auto">
          <a:xfrm>
            <a:off x="6317747" y="1847850"/>
            <a:ext cx="6096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567" name="Text Box 6"/>
          <p:cNvSpPr txBox="1">
            <a:spLocks noChangeArrowheads="1"/>
          </p:cNvSpPr>
          <p:nvPr/>
        </p:nvSpPr>
        <p:spPr bwMode="auto">
          <a:xfrm>
            <a:off x="7003547" y="1284288"/>
            <a:ext cx="493713" cy="304800"/>
          </a:xfrm>
          <a:prstGeom prst="rect">
            <a:avLst/>
          </a:prstGeom>
          <a:noFill/>
          <a:ln w="12700">
            <a:noFill/>
            <a:miter lim="800000"/>
            <a:headEnd/>
            <a:tailEnd/>
          </a:ln>
        </p:spPr>
        <p:txBody>
          <a:bodyPr wrap="none" lIns="0" tIns="0" rIns="0" bIns="0" anchor="ctr">
            <a:spAutoFit/>
          </a:bodyPr>
          <a:lstStyle/>
          <a:p>
            <a:r>
              <a:rPr lang="es-ES_tradnl">
                <a:solidFill>
                  <a:prstClr val="black"/>
                </a:solidFill>
              </a:rPr>
              <a:t>CLK</a:t>
            </a:r>
          </a:p>
        </p:txBody>
      </p:sp>
      <p:sp>
        <p:nvSpPr>
          <p:cNvPr id="66568" name="Text Box 7"/>
          <p:cNvSpPr txBox="1">
            <a:spLocks noChangeArrowheads="1"/>
          </p:cNvSpPr>
          <p:nvPr/>
        </p:nvSpPr>
        <p:spPr bwMode="auto">
          <a:xfrm>
            <a:off x="7000372" y="1649413"/>
            <a:ext cx="841375" cy="396875"/>
          </a:xfrm>
          <a:prstGeom prst="rect">
            <a:avLst/>
          </a:prstGeom>
          <a:noFill/>
          <a:ln w="19050">
            <a:noFill/>
            <a:miter lim="800000"/>
            <a:headEnd/>
            <a:tailEnd/>
          </a:ln>
        </p:spPr>
        <p:txBody>
          <a:bodyPr lIns="0" tIns="0" rIns="0" bIns="0" anchor="ctr"/>
          <a:lstStyle/>
          <a:p>
            <a:pPr algn="l"/>
            <a:r>
              <a:rPr lang="es-ES_tradnl" dirty="0">
                <a:solidFill>
                  <a:prstClr val="black"/>
                </a:solidFill>
              </a:rPr>
              <a:t>CS*</a:t>
            </a:r>
          </a:p>
        </p:txBody>
      </p:sp>
      <p:sp>
        <p:nvSpPr>
          <p:cNvPr id="66569" name="Line 8"/>
          <p:cNvSpPr>
            <a:spLocks noChangeShapeType="1"/>
          </p:cNvSpPr>
          <p:nvPr/>
        </p:nvSpPr>
        <p:spPr bwMode="auto">
          <a:xfrm>
            <a:off x="6317747" y="1436688"/>
            <a:ext cx="6096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570" name="Text Box 9"/>
          <p:cNvSpPr txBox="1">
            <a:spLocks noChangeArrowheads="1"/>
          </p:cNvSpPr>
          <p:nvPr/>
        </p:nvSpPr>
        <p:spPr bwMode="auto">
          <a:xfrm>
            <a:off x="5596625" y="1196752"/>
            <a:ext cx="720080" cy="396875"/>
          </a:xfrm>
          <a:prstGeom prst="rect">
            <a:avLst/>
          </a:prstGeom>
          <a:noFill/>
          <a:ln w="19050">
            <a:noFill/>
            <a:miter lim="800000"/>
            <a:headEnd/>
            <a:tailEnd/>
          </a:ln>
        </p:spPr>
        <p:txBody>
          <a:bodyPr lIns="0" tIns="0" rIns="0" bIns="0" anchor="ctr"/>
          <a:lstStyle/>
          <a:p>
            <a:pPr algn="l"/>
            <a:r>
              <a:rPr lang="es-ES_tradnl" sz="1600" dirty="0">
                <a:solidFill>
                  <a:prstClr val="black"/>
                </a:solidFill>
              </a:rPr>
              <a:t>Reloj</a:t>
            </a:r>
          </a:p>
        </p:txBody>
      </p:sp>
      <p:sp>
        <p:nvSpPr>
          <p:cNvPr id="66571" name="Text Box 10"/>
          <p:cNvSpPr txBox="1">
            <a:spLocks noChangeArrowheads="1"/>
          </p:cNvSpPr>
          <p:nvPr/>
        </p:nvSpPr>
        <p:spPr bwMode="auto">
          <a:xfrm>
            <a:off x="5175073" y="2556589"/>
            <a:ext cx="787074" cy="246221"/>
          </a:xfrm>
          <a:prstGeom prst="rect">
            <a:avLst/>
          </a:prstGeom>
          <a:noFill/>
          <a:ln w="19050">
            <a:noFill/>
            <a:miter lim="800000"/>
            <a:headEnd/>
            <a:tailEnd/>
          </a:ln>
        </p:spPr>
        <p:txBody>
          <a:bodyPr wrap="none" lIns="0" tIns="0" rIns="0" bIns="0" anchor="ctr">
            <a:spAutoFit/>
          </a:bodyPr>
          <a:lstStyle/>
          <a:p>
            <a:pPr algn="r"/>
            <a:r>
              <a:rPr lang="es-ES_tradnl" sz="1600" dirty="0">
                <a:solidFill>
                  <a:prstClr val="black"/>
                </a:solidFill>
              </a:rPr>
              <a:t>Órdenes</a:t>
            </a:r>
          </a:p>
        </p:txBody>
      </p:sp>
      <p:sp>
        <p:nvSpPr>
          <p:cNvPr id="66573" name="Line 13"/>
          <p:cNvSpPr>
            <a:spLocks noChangeShapeType="1"/>
          </p:cNvSpPr>
          <p:nvPr/>
        </p:nvSpPr>
        <p:spPr bwMode="auto">
          <a:xfrm>
            <a:off x="6317747" y="2420938"/>
            <a:ext cx="6096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574" name="Text Box 14"/>
          <p:cNvSpPr txBox="1">
            <a:spLocks noChangeArrowheads="1"/>
          </p:cNvSpPr>
          <p:nvPr/>
        </p:nvSpPr>
        <p:spPr bwMode="auto">
          <a:xfrm>
            <a:off x="7000372" y="2206625"/>
            <a:ext cx="841375" cy="396875"/>
          </a:xfrm>
          <a:prstGeom prst="rect">
            <a:avLst/>
          </a:prstGeom>
          <a:noFill/>
          <a:ln w="19050">
            <a:noFill/>
            <a:miter lim="800000"/>
            <a:headEnd/>
            <a:tailEnd/>
          </a:ln>
        </p:spPr>
        <p:txBody>
          <a:bodyPr lIns="0" tIns="0" rIns="0" bIns="0" anchor="ctr"/>
          <a:lstStyle/>
          <a:p>
            <a:pPr algn="l"/>
            <a:r>
              <a:rPr lang="es-ES_tradnl" dirty="0">
                <a:solidFill>
                  <a:prstClr val="black"/>
                </a:solidFill>
              </a:rPr>
              <a:t>RAS*</a:t>
            </a:r>
          </a:p>
        </p:txBody>
      </p:sp>
      <p:sp>
        <p:nvSpPr>
          <p:cNvPr id="66575" name="Line 15"/>
          <p:cNvSpPr>
            <a:spLocks noChangeShapeType="1"/>
          </p:cNvSpPr>
          <p:nvPr/>
        </p:nvSpPr>
        <p:spPr bwMode="auto">
          <a:xfrm>
            <a:off x="4804497" y="4552950"/>
            <a:ext cx="21240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576" name="Text Box 16"/>
          <p:cNvSpPr txBox="1">
            <a:spLocks noChangeArrowheads="1"/>
          </p:cNvSpPr>
          <p:nvPr/>
        </p:nvSpPr>
        <p:spPr bwMode="auto">
          <a:xfrm>
            <a:off x="7000372" y="4354513"/>
            <a:ext cx="307975" cy="396875"/>
          </a:xfrm>
          <a:prstGeom prst="rect">
            <a:avLst/>
          </a:prstGeom>
          <a:noFill/>
          <a:ln w="19050">
            <a:noFill/>
            <a:miter lim="800000"/>
            <a:headEnd/>
            <a:tailEnd/>
          </a:ln>
        </p:spPr>
        <p:txBody>
          <a:bodyPr lIns="0" tIns="0" rIns="0" bIns="0" anchor="ctr"/>
          <a:lstStyle/>
          <a:p>
            <a:pPr algn="l"/>
            <a:r>
              <a:rPr lang="es-ES_tradnl">
                <a:solidFill>
                  <a:prstClr val="black"/>
                </a:solidFill>
              </a:rPr>
              <a:t>A</a:t>
            </a:r>
            <a:r>
              <a:rPr lang="es-ES_tradnl" b="1" baseline="-25000">
                <a:solidFill>
                  <a:prstClr val="black"/>
                </a:solidFill>
              </a:rPr>
              <a:t>i</a:t>
            </a:r>
            <a:endParaRPr lang="es-ES_tradnl">
              <a:solidFill>
                <a:prstClr val="black"/>
              </a:solidFill>
            </a:endParaRPr>
          </a:p>
        </p:txBody>
      </p:sp>
      <p:sp>
        <p:nvSpPr>
          <p:cNvPr id="66577" name="Line 17"/>
          <p:cNvSpPr>
            <a:spLocks noChangeShapeType="1"/>
          </p:cNvSpPr>
          <p:nvPr/>
        </p:nvSpPr>
        <p:spPr bwMode="auto">
          <a:xfrm>
            <a:off x="6317747" y="2708275"/>
            <a:ext cx="6096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578" name="Text Box 18"/>
          <p:cNvSpPr txBox="1">
            <a:spLocks noChangeArrowheads="1"/>
          </p:cNvSpPr>
          <p:nvPr/>
        </p:nvSpPr>
        <p:spPr bwMode="auto">
          <a:xfrm>
            <a:off x="7000372" y="2511425"/>
            <a:ext cx="841375" cy="396875"/>
          </a:xfrm>
          <a:prstGeom prst="rect">
            <a:avLst/>
          </a:prstGeom>
          <a:noFill/>
          <a:ln w="19050">
            <a:noFill/>
            <a:miter lim="800000"/>
            <a:headEnd/>
            <a:tailEnd/>
          </a:ln>
        </p:spPr>
        <p:txBody>
          <a:bodyPr lIns="0" tIns="0" rIns="0" bIns="0" anchor="ctr"/>
          <a:lstStyle/>
          <a:p>
            <a:pPr algn="l"/>
            <a:r>
              <a:rPr lang="es-ES_tradnl" dirty="0">
                <a:solidFill>
                  <a:prstClr val="black"/>
                </a:solidFill>
              </a:rPr>
              <a:t>CAS*</a:t>
            </a:r>
          </a:p>
        </p:txBody>
      </p:sp>
      <p:sp>
        <p:nvSpPr>
          <p:cNvPr id="66579" name="Line 19"/>
          <p:cNvSpPr>
            <a:spLocks noChangeShapeType="1"/>
          </p:cNvSpPr>
          <p:nvPr/>
        </p:nvSpPr>
        <p:spPr bwMode="auto">
          <a:xfrm>
            <a:off x="4948497" y="3553200"/>
            <a:ext cx="1980000" cy="0"/>
          </a:xfrm>
          <a:prstGeom prst="line">
            <a:avLst/>
          </a:prstGeom>
          <a:noFill/>
          <a:ln w="28575">
            <a:solidFill>
              <a:schemeClr val="tx1"/>
            </a:solidFill>
            <a:round/>
            <a:headEnd/>
            <a:tailEnd type="triangle" w="med" len="med"/>
          </a:ln>
        </p:spPr>
        <p:txBody>
          <a:bodyPr anchor="ctr">
            <a:spAutoFit/>
          </a:bodyPr>
          <a:lstStyle/>
          <a:p>
            <a:endParaRPr lang="es-ES">
              <a:solidFill>
                <a:prstClr val="black"/>
              </a:solidFill>
            </a:endParaRPr>
          </a:p>
        </p:txBody>
      </p:sp>
      <p:sp>
        <p:nvSpPr>
          <p:cNvPr id="66580" name="Text Box 20"/>
          <p:cNvSpPr txBox="1">
            <a:spLocks noChangeArrowheads="1"/>
          </p:cNvSpPr>
          <p:nvPr/>
        </p:nvSpPr>
        <p:spPr bwMode="auto">
          <a:xfrm>
            <a:off x="7000372" y="2816225"/>
            <a:ext cx="841375" cy="396875"/>
          </a:xfrm>
          <a:prstGeom prst="rect">
            <a:avLst/>
          </a:prstGeom>
          <a:noFill/>
          <a:ln w="19050">
            <a:noFill/>
            <a:miter lim="800000"/>
            <a:headEnd/>
            <a:tailEnd/>
          </a:ln>
        </p:spPr>
        <p:txBody>
          <a:bodyPr lIns="0" tIns="0" rIns="0" bIns="0" anchor="ctr"/>
          <a:lstStyle/>
          <a:p>
            <a:pPr algn="l"/>
            <a:r>
              <a:rPr lang="es-ES_tradnl" dirty="0">
                <a:solidFill>
                  <a:prstClr val="black"/>
                </a:solidFill>
              </a:rPr>
              <a:t>WE*</a:t>
            </a:r>
          </a:p>
        </p:txBody>
      </p:sp>
      <p:sp>
        <p:nvSpPr>
          <p:cNvPr id="66581" name="AutoShape 22"/>
          <p:cNvSpPr>
            <a:spLocks/>
          </p:cNvSpPr>
          <p:nvPr/>
        </p:nvSpPr>
        <p:spPr bwMode="auto">
          <a:xfrm>
            <a:off x="6070097" y="2298700"/>
            <a:ext cx="174625" cy="838200"/>
          </a:xfrm>
          <a:prstGeom prst="leftBrace">
            <a:avLst>
              <a:gd name="adj1" fmla="val 40000"/>
              <a:gd name="adj2" fmla="val 50000"/>
            </a:avLst>
          </a:prstGeom>
          <a:noFill/>
          <a:ln w="12700">
            <a:solidFill>
              <a:schemeClr val="tx1"/>
            </a:solidFill>
            <a:round/>
            <a:headEnd/>
            <a:tailEnd/>
          </a:ln>
        </p:spPr>
        <p:txBody>
          <a:bodyPr wrap="none" lIns="0" tIns="0" rIns="0" bIns="0" anchor="ctr"/>
          <a:lstStyle/>
          <a:p>
            <a:endParaRPr lang="es-ES">
              <a:solidFill>
                <a:prstClr val="black"/>
              </a:solidFill>
            </a:endParaRPr>
          </a:p>
        </p:txBody>
      </p:sp>
      <p:grpSp>
        <p:nvGrpSpPr>
          <p:cNvPr id="2" name="Group 25"/>
          <p:cNvGrpSpPr>
            <a:grpSpLocks/>
          </p:cNvGrpSpPr>
          <p:nvPr/>
        </p:nvGrpSpPr>
        <p:grpSpPr bwMode="auto">
          <a:xfrm>
            <a:off x="7841747" y="4149739"/>
            <a:ext cx="490538" cy="863600"/>
            <a:chOff x="2208" y="2928"/>
            <a:chExt cx="720" cy="768"/>
          </a:xfrm>
        </p:grpSpPr>
        <p:sp>
          <p:nvSpPr>
            <p:cNvPr id="66608" name="Freeform 23"/>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solidFill>
                  <a:prstClr val="black"/>
                </a:solidFill>
              </a:endParaRPr>
            </a:p>
          </p:txBody>
        </p:sp>
        <p:sp>
          <p:nvSpPr>
            <p:cNvPr id="66609" name="Freeform 24"/>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solidFill>
                  <a:prstClr val="black"/>
                </a:solidFill>
              </a:endParaRPr>
            </a:p>
          </p:txBody>
        </p:sp>
      </p:grpSp>
      <p:sp>
        <p:nvSpPr>
          <p:cNvPr id="66583" name="Text Box 26"/>
          <p:cNvSpPr txBox="1">
            <a:spLocks noChangeArrowheads="1"/>
          </p:cNvSpPr>
          <p:nvPr/>
        </p:nvSpPr>
        <p:spPr bwMode="auto">
          <a:xfrm>
            <a:off x="5312255" y="589756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solidFill>
                  <a:prstClr val="black"/>
                </a:solidFill>
              </a:rPr>
              <a:t>entrada</a:t>
            </a:r>
            <a:br>
              <a:rPr lang="es-ES_tradnl" sz="1600" dirty="0">
                <a:solidFill>
                  <a:prstClr val="black"/>
                </a:solidFill>
              </a:rPr>
            </a:br>
            <a:r>
              <a:rPr lang="es-ES_tradnl" sz="1600" dirty="0">
                <a:solidFill>
                  <a:prstClr val="black"/>
                </a:solidFill>
              </a:rPr>
              <a:t>salida</a:t>
            </a:r>
            <a:br>
              <a:rPr lang="es-ES_tradnl" sz="1600" dirty="0">
                <a:solidFill>
                  <a:prstClr val="black"/>
                </a:solidFill>
              </a:rPr>
            </a:br>
            <a:r>
              <a:rPr lang="es-ES_tradnl" sz="1600" dirty="0">
                <a:solidFill>
                  <a:prstClr val="black"/>
                </a:solidFill>
              </a:rPr>
              <a:t>de datos</a:t>
            </a:r>
          </a:p>
        </p:txBody>
      </p:sp>
      <p:sp>
        <p:nvSpPr>
          <p:cNvPr id="66584" name="Line 27"/>
          <p:cNvSpPr>
            <a:spLocks noChangeShapeType="1"/>
          </p:cNvSpPr>
          <p:nvPr/>
        </p:nvSpPr>
        <p:spPr bwMode="auto">
          <a:xfrm>
            <a:off x="6317747" y="6096000"/>
            <a:ext cx="609600" cy="0"/>
          </a:xfrm>
          <a:prstGeom prst="line">
            <a:avLst/>
          </a:prstGeom>
          <a:noFill/>
          <a:ln w="19050">
            <a:solidFill>
              <a:schemeClr val="tx1"/>
            </a:solidFill>
            <a:round/>
            <a:headEnd type="triangle" w="med" len="med"/>
            <a:tailEnd type="triangle" w="med" len="med"/>
          </a:ln>
        </p:spPr>
        <p:txBody>
          <a:bodyPr anchor="ctr">
            <a:spAutoFit/>
          </a:bodyPr>
          <a:lstStyle/>
          <a:p>
            <a:endParaRPr lang="es-ES">
              <a:solidFill>
                <a:prstClr val="black"/>
              </a:solidFill>
            </a:endParaRPr>
          </a:p>
        </p:txBody>
      </p:sp>
      <p:sp>
        <p:nvSpPr>
          <p:cNvPr id="66585" name="Text Box 28"/>
          <p:cNvSpPr txBox="1">
            <a:spLocks noChangeArrowheads="1"/>
          </p:cNvSpPr>
          <p:nvPr/>
        </p:nvSpPr>
        <p:spPr bwMode="auto">
          <a:xfrm>
            <a:off x="7000372" y="5943600"/>
            <a:ext cx="307975" cy="396875"/>
          </a:xfrm>
          <a:prstGeom prst="rect">
            <a:avLst/>
          </a:prstGeom>
          <a:noFill/>
          <a:ln w="19050">
            <a:noFill/>
            <a:miter lim="800000"/>
            <a:headEnd/>
            <a:tailEnd/>
          </a:ln>
        </p:spPr>
        <p:txBody>
          <a:bodyPr lIns="0" tIns="0" rIns="0" bIns="0" anchor="ctr"/>
          <a:lstStyle/>
          <a:p>
            <a:pPr algn="l"/>
            <a:r>
              <a:rPr lang="es-ES_tradnl">
                <a:solidFill>
                  <a:prstClr val="black"/>
                </a:solidFill>
              </a:rPr>
              <a:t>D</a:t>
            </a:r>
            <a:r>
              <a:rPr lang="es-ES_tradnl" b="1" baseline="-25000">
                <a:solidFill>
                  <a:prstClr val="black"/>
                </a:solidFill>
              </a:rPr>
              <a:t>i</a:t>
            </a:r>
            <a:endParaRPr lang="es-ES_tradnl">
              <a:solidFill>
                <a:prstClr val="black"/>
              </a:solidFill>
            </a:endParaRPr>
          </a:p>
        </p:txBody>
      </p:sp>
      <p:sp>
        <p:nvSpPr>
          <p:cNvPr id="66586" name="Text Box 29"/>
          <p:cNvSpPr txBox="1">
            <a:spLocks noChangeArrowheads="1"/>
          </p:cNvSpPr>
          <p:nvPr/>
        </p:nvSpPr>
        <p:spPr bwMode="auto">
          <a:xfrm>
            <a:off x="5250312" y="1694577"/>
            <a:ext cx="886460" cy="246221"/>
          </a:xfrm>
          <a:prstGeom prst="rect">
            <a:avLst/>
          </a:prstGeom>
          <a:noFill/>
          <a:ln w="19050">
            <a:noFill/>
            <a:miter lim="800000"/>
            <a:headEnd/>
            <a:tailEnd/>
          </a:ln>
        </p:spPr>
        <p:txBody>
          <a:bodyPr wrap="none" lIns="0" tIns="0" rIns="0" bIns="0" anchor="ctr">
            <a:spAutoFit/>
          </a:bodyPr>
          <a:lstStyle/>
          <a:p>
            <a:pPr algn="r"/>
            <a:r>
              <a:rPr lang="es-ES_tradnl" sz="1600" dirty="0">
                <a:solidFill>
                  <a:prstClr val="black"/>
                </a:solidFill>
              </a:rPr>
              <a:t>Selecci</a:t>
            </a:r>
            <a:r>
              <a:rPr lang="es-ES_tradnl" altLang="ja-JP" sz="1600" dirty="0">
                <a:solidFill>
                  <a:prstClr val="black"/>
                </a:solidFill>
                <a:ea typeface="Geneva" pitchFamily="1" charset="-128"/>
              </a:rPr>
              <a:t>ón</a:t>
            </a:r>
            <a:endParaRPr lang="es-ES_tradnl" sz="1600" dirty="0">
              <a:solidFill>
                <a:prstClr val="black"/>
              </a:solidFill>
            </a:endParaRPr>
          </a:p>
        </p:txBody>
      </p:sp>
      <p:sp>
        <p:nvSpPr>
          <p:cNvPr id="66587" name="Rectangle 32"/>
          <p:cNvSpPr>
            <a:spLocks noChangeArrowheads="1"/>
          </p:cNvSpPr>
          <p:nvPr/>
        </p:nvSpPr>
        <p:spPr bwMode="blackWhite">
          <a:xfrm rot="10800000">
            <a:off x="8332284" y="3857627"/>
            <a:ext cx="287337" cy="722323"/>
          </a:xfrm>
          <a:prstGeom prst="rect">
            <a:avLst/>
          </a:prstGeom>
          <a:solidFill>
            <a:srgbClr val="0070C0"/>
          </a:solidFill>
          <a:ln w="12700">
            <a:solidFill>
              <a:schemeClr val="accent5">
                <a:lumMod val="75000"/>
              </a:schemeClr>
            </a:solidFill>
            <a:miter lim="800000"/>
            <a:headEnd/>
            <a:tailEnd/>
          </a:ln>
        </p:spPr>
        <p:txBody>
          <a:bodyPr vert="eaVert" lIns="0" tIns="0" rIns="0" bIns="0" anchor="ctr"/>
          <a:lstStyle/>
          <a:p>
            <a:r>
              <a:rPr lang="es-ES">
                <a:solidFill>
                  <a:prstClr val="white"/>
                </a:solidFill>
              </a:rPr>
              <a:t>Fila</a:t>
            </a:r>
          </a:p>
        </p:txBody>
      </p:sp>
      <p:sp>
        <p:nvSpPr>
          <p:cNvPr id="66588" name="Rectangle 42"/>
          <p:cNvSpPr>
            <a:spLocks noChangeArrowheads="1"/>
          </p:cNvSpPr>
          <p:nvPr/>
        </p:nvSpPr>
        <p:spPr bwMode="blackWhite">
          <a:xfrm rot="10800000">
            <a:off x="8332285" y="4581539"/>
            <a:ext cx="287337" cy="919162"/>
          </a:xfrm>
          <a:prstGeom prst="rect">
            <a:avLst/>
          </a:prstGeom>
          <a:solidFill>
            <a:srgbClr val="CC3300"/>
          </a:solidFill>
          <a:ln w="12700">
            <a:solidFill>
              <a:schemeClr val="accent5">
                <a:lumMod val="75000"/>
              </a:schemeClr>
            </a:solidFill>
            <a:miter lim="800000"/>
            <a:headEnd/>
            <a:tailEnd/>
          </a:ln>
        </p:spPr>
        <p:txBody>
          <a:bodyPr vert="eaVert" lIns="0" tIns="0" rIns="0" bIns="0" anchor="ctr"/>
          <a:lstStyle/>
          <a:p>
            <a:r>
              <a:rPr lang="es-ES" dirty="0">
                <a:solidFill>
                  <a:prstClr val="white"/>
                </a:solidFill>
                <a:latin typeface="Arial Narrow" pitchFamily="34" charset="0"/>
              </a:rPr>
              <a:t>Columna</a:t>
            </a:r>
          </a:p>
        </p:txBody>
      </p:sp>
      <p:sp>
        <p:nvSpPr>
          <p:cNvPr id="66589" name="Text Box 43"/>
          <p:cNvSpPr txBox="1">
            <a:spLocks noChangeArrowheads="1"/>
          </p:cNvSpPr>
          <p:nvPr/>
        </p:nvSpPr>
        <p:spPr bwMode="auto">
          <a:xfrm>
            <a:off x="7000372" y="3392488"/>
            <a:ext cx="496888" cy="396875"/>
          </a:xfrm>
          <a:prstGeom prst="rect">
            <a:avLst/>
          </a:prstGeom>
          <a:noFill/>
          <a:ln w="19050">
            <a:noFill/>
            <a:miter lim="800000"/>
            <a:headEnd/>
            <a:tailEnd/>
          </a:ln>
        </p:spPr>
        <p:txBody>
          <a:bodyPr lIns="0" tIns="0" rIns="0" bIns="0" anchor="ctr"/>
          <a:lstStyle/>
          <a:p>
            <a:pPr algn="l"/>
            <a:r>
              <a:rPr lang="es-ES_tradnl">
                <a:solidFill>
                  <a:prstClr val="black"/>
                </a:solidFill>
              </a:rPr>
              <a:t>BA</a:t>
            </a:r>
            <a:r>
              <a:rPr lang="es-ES_tradnl" b="1" baseline="-25000">
                <a:solidFill>
                  <a:prstClr val="black"/>
                </a:solidFill>
              </a:rPr>
              <a:t>i</a:t>
            </a:r>
            <a:endParaRPr lang="es-ES_tradnl">
              <a:solidFill>
                <a:prstClr val="black"/>
              </a:solidFill>
            </a:endParaRPr>
          </a:p>
        </p:txBody>
      </p:sp>
      <p:sp>
        <p:nvSpPr>
          <p:cNvPr id="66591" name="Line 45"/>
          <p:cNvSpPr>
            <a:spLocks noChangeShapeType="1"/>
          </p:cNvSpPr>
          <p:nvPr/>
        </p:nvSpPr>
        <p:spPr bwMode="auto">
          <a:xfrm>
            <a:off x="6316160" y="2997200"/>
            <a:ext cx="6096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592" name="Line 46"/>
          <p:cNvSpPr>
            <a:spLocks noChangeShapeType="1"/>
          </p:cNvSpPr>
          <p:nvPr/>
        </p:nvSpPr>
        <p:spPr bwMode="auto">
          <a:xfrm>
            <a:off x="7841747" y="1436688"/>
            <a:ext cx="274638" cy="0"/>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sp>
        <p:nvSpPr>
          <p:cNvPr id="66593" name="Line 47"/>
          <p:cNvSpPr>
            <a:spLocks noChangeShapeType="1"/>
          </p:cNvSpPr>
          <p:nvPr/>
        </p:nvSpPr>
        <p:spPr bwMode="auto">
          <a:xfrm>
            <a:off x="7841747" y="1844675"/>
            <a:ext cx="274638" cy="0"/>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sp>
        <p:nvSpPr>
          <p:cNvPr id="66594" name="Line 48"/>
          <p:cNvSpPr>
            <a:spLocks noChangeShapeType="1"/>
          </p:cNvSpPr>
          <p:nvPr/>
        </p:nvSpPr>
        <p:spPr bwMode="auto">
          <a:xfrm>
            <a:off x="7841747" y="2420938"/>
            <a:ext cx="274638" cy="0"/>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sp>
        <p:nvSpPr>
          <p:cNvPr id="66595" name="Line 49"/>
          <p:cNvSpPr>
            <a:spLocks noChangeShapeType="1"/>
          </p:cNvSpPr>
          <p:nvPr/>
        </p:nvSpPr>
        <p:spPr bwMode="auto">
          <a:xfrm>
            <a:off x="7841747" y="2708275"/>
            <a:ext cx="274638" cy="0"/>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sp>
        <p:nvSpPr>
          <p:cNvPr id="66596" name="Line 50"/>
          <p:cNvSpPr>
            <a:spLocks noChangeShapeType="1"/>
          </p:cNvSpPr>
          <p:nvPr/>
        </p:nvSpPr>
        <p:spPr bwMode="auto">
          <a:xfrm>
            <a:off x="7841747" y="2995613"/>
            <a:ext cx="274638" cy="0"/>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sp>
        <p:nvSpPr>
          <p:cNvPr id="66597" name="Rectangle 51"/>
          <p:cNvSpPr>
            <a:spLocks noChangeArrowheads="1"/>
          </p:cNvSpPr>
          <p:nvPr/>
        </p:nvSpPr>
        <p:spPr bwMode="auto">
          <a:xfrm rot="10800000">
            <a:off x="8116385" y="1214421"/>
            <a:ext cx="360362" cy="1873249"/>
          </a:xfrm>
          <a:prstGeom prst="rect">
            <a:avLst/>
          </a:prstGeom>
          <a:noFill/>
          <a:ln w="19050">
            <a:solidFill>
              <a:schemeClr val="tx1"/>
            </a:solidFill>
            <a:prstDash val="dash"/>
            <a:miter lim="800000"/>
            <a:headEnd/>
            <a:tailEnd/>
          </a:ln>
        </p:spPr>
        <p:txBody>
          <a:bodyPr vert="eaVert" wrap="none" lIns="0" tIns="0" rIns="0" bIns="0" anchor="ctr"/>
          <a:lstStyle/>
          <a:p>
            <a:r>
              <a:rPr lang="es-ES_tradnl">
                <a:solidFill>
                  <a:prstClr val="black"/>
                </a:solidFill>
              </a:rPr>
              <a:t>Control</a:t>
            </a:r>
            <a:endParaRPr lang="es-ES">
              <a:solidFill>
                <a:prstClr val="black"/>
              </a:solidFill>
            </a:endParaRPr>
          </a:p>
        </p:txBody>
      </p:sp>
      <p:sp>
        <p:nvSpPr>
          <p:cNvPr id="66598" name="Line 53"/>
          <p:cNvSpPr>
            <a:spLocks noChangeShapeType="1"/>
          </p:cNvSpPr>
          <p:nvPr/>
        </p:nvSpPr>
        <p:spPr bwMode="auto">
          <a:xfrm flipV="1">
            <a:off x="7841746" y="3571876"/>
            <a:ext cx="516467" cy="1587"/>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grpSp>
        <p:nvGrpSpPr>
          <p:cNvPr id="3" name="Group 55"/>
          <p:cNvGrpSpPr>
            <a:grpSpLocks/>
          </p:cNvGrpSpPr>
          <p:nvPr/>
        </p:nvGrpSpPr>
        <p:grpSpPr bwMode="auto">
          <a:xfrm>
            <a:off x="7841747" y="5867400"/>
            <a:ext cx="490538" cy="449263"/>
            <a:chOff x="2208" y="2928"/>
            <a:chExt cx="720" cy="768"/>
          </a:xfrm>
        </p:grpSpPr>
        <p:sp>
          <p:nvSpPr>
            <p:cNvPr id="66606" name="Freeform 56"/>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solidFill>
                  <a:prstClr val="black"/>
                </a:solidFill>
              </a:endParaRPr>
            </a:p>
          </p:txBody>
        </p:sp>
        <p:sp>
          <p:nvSpPr>
            <p:cNvPr id="66607" name="Freeform 57"/>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solidFill>
                  <a:prstClr val="black"/>
                </a:solidFill>
              </a:endParaRPr>
            </a:p>
          </p:txBody>
        </p:sp>
      </p:grpSp>
      <p:sp>
        <p:nvSpPr>
          <p:cNvPr id="66600" name="Text Box 58"/>
          <p:cNvSpPr txBox="1">
            <a:spLocks noChangeArrowheads="1"/>
          </p:cNvSpPr>
          <p:nvPr/>
        </p:nvSpPr>
        <p:spPr bwMode="auto">
          <a:xfrm>
            <a:off x="8326989" y="5863427"/>
            <a:ext cx="602729" cy="492443"/>
          </a:xfrm>
          <a:prstGeom prst="rect">
            <a:avLst/>
          </a:prstGeom>
          <a:noFill/>
          <a:ln w="19050">
            <a:noFill/>
            <a:miter lim="800000"/>
            <a:headEnd/>
            <a:tailEnd/>
          </a:ln>
        </p:spPr>
        <p:txBody>
          <a:bodyPr wrap="none" lIns="0" tIns="0" rIns="0" bIns="0" anchor="ctr">
            <a:spAutoFit/>
          </a:bodyPr>
          <a:lstStyle/>
          <a:p>
            <a:r>
              <a:rPr lang="es-ES_tradnl" sz="1600" dirty="0">
                <a:solidFill>
                  <a:prstClr val="black"/>
                </a:solidFill>
              </a:rPr>
              <a:t>L</a:t>
            </a:r>
            <a:r>
              <a:rPr lang="es-ES_tradnl" altLang="ja-JP" sz="1600" dirty="0">
                <a:solidFill>
                  <a:prstClr val="black"/>
                </a:solidFill>
                <a:ea typeface="Geneva" pitchFamily="1" charset="-128"/>
              </a:rPr>
              <a:t>ógica</a:t>
            </a:r>
            <a:br>
              <a:rPr lang="es-ES_tradnl" altLang="ja-JP" sz="1600" dirty="0">
                <a:solidFill>
                  <a:prstClr val="black"/>
                </a:solidFill>
                <a:ea typeface="Geneva" pitchFamily="1" charset="-128"/>
              </a:rPr>
            </a:br>
            <a:r>
              <a:rPr lang="es-ES_tradnl" altLang="ja-JP" sz="1600" dirty="0">
                <a:solidFill>
                  <a:prstClr val="black"/>
                </a:solidFill>
                <a:ea typeface="Geneva" pitchFamily="1" charset="-128"/>
              </a:rPr>
              <a:t>E/S</a:t>
            </a:r>
            <a:endParaRPr lang="es-ES_tradnl" sz="1600" dirty="0">
              <a:solidFill>
                <a:prstClr val="black"/>
              </a:solidFill>
            </a:endParaRPr>
          </a:p>
        </p:txBody>
      </p:sp>
      <p:sp>
        <p:nvSpPr>
          <p:cNvPr id="66601" name="Text Box 59"/>
          <p:cNvSpPr txBox="1">
            <a:spLocks noChangeArrowheads="1"/>
          </p:cNvSpPr>
          <p:nvPr/>
        </p:nvSpPr>
        <p:spPr bwMode="auto">
          <a:xfrm>
            <a:off x="5350178" y="5226050"/>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solidFill>
                  <a:prstClr val="black"/>
                </a:solidFill>
              </a:rPr>
              <a:t>m</a:t>
            </a:r>
            <a:r>
              <a:rPr lang="es-ES_tradnl" altLang="ja-JP" sz="1600" dirty="0">
                <a:solidFill>
                  <a:prstClr val="black"/>
                </a:solidFill>
                <a:ea typeface="Geneva" pitchFamily="1" charset="-128"/>
              </a:rPr>
              <a:t>áscara</a:t>
            </a:r>
            <a:br>
              <a:rPr lang="es-ES_tradnl" altLang="ja-JP" sz="1600" dirty="0">
                <a:solidFill>
                  <a:prstClr val="black"/>
                </a:solidFill>
                <a:ea typeface="Geneva" pitchFamily="1" charset="-128"/>
              </a:rPr>
            </a:br>
            <a:r>
              <a:rPr lang="es-ES_tradnl" altLang="ja-JP" sz="1600" dirty="0">
                <a:solidFill>
                  <a:prstClr val="black"/>
                </a:solidFill>
                <a:ea typeface="Geneva" pitchFamily="1" charset="-128"/>
              </a:rPr>
              <a:t>de datos</a:t>
            </a:r>
            <a:endParaRPr lang="es-ES_tradnl" sz="1600" dirty="0">
              <a:solidFill>
                <a:prstClr val="black"/>
              </a:solidFill>
            </a:endParaRPr>
          </a:p>
        </p:txBody>
      </p:sp>
      <p:sp>
        <p:nvSpPr>
          <p:cNvPr id="66602" name="Line 60"/>
          <p:cNvSpPr>
            <a:spLocks noChangeShapeType="1"/>
          </p:cNvSpPr>
          <p:nvPr/>
        </p:nvSpPr>
        <p:spPr bwMode="auto">
          <a:xfrm>
            <a:off x="6317747" y="5486400"/>
            <a:ext cx="609600" cy="0"/>
          </a:xfrm>
          <a:prstGeom prst="line">
            <a:avLst/>
          </a:prstGeom>
          <a:noFill/>
          <a:ln w="19050">
            <a:solidFill>
              <a:schemeClr val="tx1"/>
            </a:solidFill>
            <a:round/>
            <a:headEnd/>
            <a:tailEnd type="triangle" w="med" len="med"/>
          </a:ln>
        </p:spPr>
        <p:txBody>
          <a:bodyPr anchor="ctr">
            <a:spAutoFit/>
          </a:bodyPr>
          <a:lstStyle/>
          <a:p>
            <a:endParaRPr lang="es-ES">
              <a:solidFill>
                <a:prstClr val="black"/>
              </a:solidFill>
            </a:endParaRPr>
          </a:p>
        </p:txBody>
      </p:sp>
      <p:sp>
        <p:nvSpPr>
          <p:cNvPr id="66603" name="Text Box 61"/>
          <p:cNvSpPr txBox="1">
            <a:spLocks noChangeArrowheads="1"/>
          </p:cNvSpPr>
          <p:nvPr/>
        </p:nvSpPr>
        <p:spPr bwMode="auto">
          <a:xfrm>
            <a:off x="7000372" y="5318125"/>
            <a:ext cx="720725" cy="396875"/>
          </a:xfrm>
          <a:prstGeom prst="rect">
            <a:avLst/>
          </a:prstGeom>
          <a:noFill/>
          <a:ln w="19050">
            <a:noFill/>
            <a:miter lim="800000"/>
            <a:headEnd/>
            <a:tailEnd/>
          </a:ln>
        </p:spPr>
        <p:txBody>
          <a:bodyPr lIns="0" tIns="0" rIns="0" bIns="0" anchor="ctr"/>
          <a:lstStyle/>
          <a:p>
            <a:pPr algn="l"/>
            <a:r>
              <a:rPr lang="es-ES_tradnl" dirty="0">
                <a:solidFill>
                  <a:prstClr val="black"/>
                </a:solidFill>
              </a:rPr>
              <a:t>DQM</a:t>
            </a:r>
          </a:p>
        </p:txBody>
      </p:sp>
      <p:sp>
        <p:nvSpPr>
          <p:cNvPr id="66604" name="Line 62"/>
          <p:cNvSpPr>
            <a:spLocks noChangeShapeType="1"/>
          </p:cNvSpPr>
          <p:nvPr/>
        </p:nvSpPr>
        <p:spPr bwMode="auto">
          <a:xfrm>
            <a:off x="7841747" y="5486400"/>
            <a:ext cx="274638" cy="0"/>
          </a:xfrm>
          <a:prstGeom prst="line">
            <a:avLst/>
          </a:prstGeom>
          <a:noFill/>
          <a:ln w="19050">
            <a:solidFill>
              <a:schemeClr val="tx1"/>
            </a:solidFill>
            <a:round/>
            <a:headEnd/>
            <a:tailEnd type="triangle" w="med" len="med"/>
          </a:ln>
        </p:spPr>
        <p:txBody>
          <a:bodyPr lIns="0" tIns="0" rIns="0" bIns="0" anchor="ctr"/>
          <a:lstStyle/>
          <a:p>
            <a:endParaRPr lang="es-ES">
              <a:solidFill>
                <a:prstClr val="black"/>
              </a:solidFill>
            </a:endParaRPr>
          </a:p>
        </p:txBody>
      </p:sp>
      <p:sp>
        <p:nvSpPr>
          <p:cNvPr id="51" name="50 Título"/>
          <p:cNvSpPr>
            <a:spLocks noGrp="1"/>
          </p:cNvSpPr>
          <p:nvPr>
            <p:ph type="title"/>
          </p:nvPr>
        </p:nvSpPr>
        <p:spPr/>
        <p:txBody>
          <a:bodyPr/>
          <a:lstStyle/>
          <a:p>
            <a:r>
              <a:rPr lang="es-ES" altLang="es-ES_tradnl" dirty="0"/>
              <a:t>Direccionamiento </a:t>
            </a:r>
            <a:r>
              <a:rPr lang="es-ES" dirty="0"/>
              <a:t>Memorias </a:t>
            </a:r>
            <a:r>
              <a:rPr lang="es-ES" altLang="es-ES_tradnl" dirty="0"/>
              <a:t>SDRAM</a:t>
            </a:r>
            <a:endParaRPr lang="es-ES" dirty="0"/>
          </a:p>
        </p:txBody>
      </p:sp>
      <p:grpSp>
        <p:nvGrpSpPr>
          <p:cNvPr id="5" name="55 Grupo"/>
          <p:cNvGrpSpPr/>
          <p:nvPr/>
        </p:nvGrpSpPr>
        <p:grpSpPr>
          <a:xfrm rot="5400000" flipV="1">
            <a:off x="72033" y="3524436"/>
            <a:ext cx="5256584" cy="457200"/>
            <a:chOff x="1907704" y="4909429"/>
            <a:chExt cx="6624736" cy="457200"/>
          </a:xfrm>
        </p:grpSpPr>
        <p:sp>
          <p:nvSpPr>
            <p:cNvPr id="53" name="Rectangle 4"/>
            <p:cNvSpPr>
              <a:spLocks noChangeArrowheads="1"/>
            </p:cNvSpPr>
            <p:nvPr/>
          </p:nvSpPr>
          <p:spPr bwMode="auto">
            <a:xfrm>
              <a:off x="6084168" y="4909429"/>
              <a:ext cx="2448272" cy="457200"/>
            </a:xfrm>
            <a:prstGeom prst="rect">
              <a:avLst/>
            </a:prstGeom>
            <a:solidFill>
              <a:srgbClr val="CC3300"/>
            </a:solidFill>
            <a:ln w="19050">
              <a:solidFill>
                <a:schemeClr val="tx1"/>
              </a:solidFill>
              <a:miter lim="800000"/>
              <a:headEnd/>
              <a:tailEnd/>
            </a:ln>
          </p:spPr>
          <p:txBody>
            <a:bodyPr wrap="none" lIns="0" tIns="0" rIns="0" bIns="0" anchor="ctr"/>
            <a:lstStyle/>
            <a:p>
              <a:r>
                <a:rPr lang="es-ES_tradnl" sz="1800" b="1" dirty="0">
                  <a:solidFill>
                    <a:srgbClr val="FFFFFF"/>
                  </a:solidFill>
                </a:rPr>
                <a:t>Columna</a:t>
              </a:r>
              <a:endParaRPr lang="es-ES_tradnl" sz="1600" b="1" baseline="-25000" dirty="0">
                <a:solidFill>
                  <a:prstClr val="black"/>
                </a:solidFill>
              </a:endParaRPr>
            </a:p>
          </p:txBody>
        </p:sp>
        <p:sp>
          <p:nvSpPr>
            <p:cNvPr id="54" name="Rectangle 15"/>
            <p:cNvSpPr>
              <a:spLocks noChangeArrowheads="1"/>
            </p:cNvSpPr>
            <p:nvPr/>
          </p:nvSpPr>
          <p:spPr bwMode="auto">
            <a:xfrm>
              <a:off x="1907704" y="4909429"/>
              <a:ext cx="1152128" cy="457200"/>
            </a:xfrm>
            <a:prstGeom prst="rect">
              <a:avLst/>
            </a:prstGeom>
            <a:solidFill>
              <a:schemeClr val="bg1">
                <a:lumMod val="65000"/>
              </a:schemeClr>
            </a:solidFill>
            <a:ln w="19050">
              <a:solidFill>
                <a:schemeClr val="tx1"/>
              </a:solidFill>
              <a:miter lim="800000"/>
              <a:headEnd/>
              <a:tailEnd/>
            </a:ln>
          </p:spPr>
          <p:txBody>
            <a:bodyPr wrap="none" lIns="0" tIns="0" rIns="0" bIns="0" anchor="ctr"/>
            <a:lstStyle/>
            <a:p>
              <a:r>
                <a:rPr lang="es-ES_tradnl" sz="1800" b="1" dirty="0">
                  <a:solidFill>
                    <a:srgbClr val="FFFFFF"/>
                  </a:solidFill>
                </a:rPr>
                <a:t>Banco</a:t>
              </a:r>
              <a:endParaRPr lang="es-ES_tradnl" sz="1600" b="1" baseline="-25000" dirty="0">
                <a:solidFill>
                  <a:srgbClr val="FFFFFF"/>
                </a:solidFill>
              </a:endParaRPr>
            </a:p>
          </p:txBody>
        </p:sp>
        <p:sp>
          <p:nvSpPr>
            <p:cNvPr id="55" name="Rectangle 15"/>
            <p:cNvSpPr>
              <a:spLocks noChangeArrowheads="1"/>
            </p:cNvSpPr>
            <p:nvPr/>
          </p:nvSpPr>
          <p:spPr bwMode="auto">
            <a:xfrm>
              <a:off x="3059832" y="4909429"/>
              <a:ext cx="3024336" cy="457200"/>
            </a:xfrm>
            <a:prstGeom prst="rect">
              <a:avLst/>
            </a:prstGeom>
            <a:solidFill>
              <a:srgbClr val="0070C0"/>
            </a:solidFill>
            <a:ln w="19050">
              <a:solidFill>
                <a:schemeClr val="tx1"/>
              </a:solidFill>
              <a:miter lim="800000"/>
              <a:headEnd/>
              <a:tailEnd/>
            </a:ln>
          </p:spPr>
          <p:txBody>
            <a:bodyPr wrap="none" lIns="0" tIns="0" rIns="0" bIns="0" anchor="ctr"/>
            <a:lstStyle/>
            <a:p>
              <a:r>
                <a:rPr lang="es-ES_tradnl" sz="1800" b="1" dirty="0">
                  <a:solidFill>
                    <a:srgbClr val="FFFFFF"/>
                  </a:solidFill>
                </a:rPr>
                <a:t>Fila</a:t>
              </a:r>
              <a:endParaRPr lang="es-ES_tradnl" sz="1800" b="1" baseline="-25000" dirty="0">
                <a:solidFill>
                  <a:srgbClr val="FFFFFF"/>
                </a:solidFill>
              </a:endParaRPr>
            </a:p>
          </p:txBody>
        </p:sp>
      </p:grpSp>
      <p:grpSp>
        <p:nvGrpSpPr>
          <p:cNvPr id="6" name="Group 25"/>
          <p:cNvGrpSpPr>
            <a:grpSpLocks/>
          </p:cNvGrpSpPr>
          <p:nvPr/>
        </p:nvGrpSpPr>
        <p:grpSpPr bwMode="auto">
          <a:xfrm flipH="1">
            <a:off x="2928925" y="3501504"/>
            <a:ext cx="1862093" cy="2087736"/>
            <a:chOff x="2208" y="2928"/>
            <a:chExt cx="720" cy="768"/>
          </a:xfrm>
        </p:grpSpPr>
        <p:sp>
          <p:nvSpPr>
            <p:cNvPr id="58" name="Freeform 23"/>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none" w="med" len="med"/>
            </a:ln>
          </p:spPr>
          <p:txBody>
            <a:bodyPr wrap="none" lIns="0" tIns="0" rIns="0" bIns="0" anchor="ctr"/>
            <a:lstStyle/>
            <a:p>
              <a:endParaRPr lang="es-ES">
                <a:solidFill>
                  <a:prstClr val="black"/>
                </a:solidFill>
              </a:endParaRPr>
            </a:p>
          </p:txBody>
        </p:sp>
        <p:sp>
          <p:nvSpPr>
            <p:cNvPr id="59" name="Freeform 24"/>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none" w="med" len="med"/>
            </a:ln>
          </p:spPr>
          <p:txBody>
            <a:bodyPr wrap="none" lIns="0" tIns="0" rIns="0" bIns="0" anchor="ctr"/>
            <a:lstStyle/>
            <a:p>
              <a:endParaRPr lang="es-ES">
                <a:solidFill>
                  <a:prstClr val="black"/>
                </a:solidFill>
              </a:endParaRPr>
            </a:p>
          </p:txBody>
        </p:sp>
      </p:grpSp>
      <p:sp>
        <p:nvSpPr>
          <p:cNvPr id="60" name="59 Rectángulo"/>
          <p:cNvSpPr/>
          <p:nvPr/>
        </p:nvSpPr>
        <p:spPr bwMode="auto">
          <a:xfrm rot="16200000">
            <a:off x="3868433" y="4293096"/>
            <a:ext cx="1368152" cy="504056"/>
          </a:xfrm>
          <a:prstGeom prst="rect">
            <a:avLst/>
          </a:prstGeom>
          <a:solidFill>
            <a:srgbClr val="FFFF00"/>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solidFill>
                  <a:prstClr val="black"/>
                </a:solidFill>
              </a:rPr>
              <a:t>MUX</a:t>
            </a:r>
          </a:p>
        </p:txBody>
      </p:sp>
      <p:sp>
        <p:nvSpPr>
          <p:cNvPr id="66" name="Freeform 24"/>
          <p:cNvSpPr>
            <a:spLocks/>
          </p:cNvSpPr>
          <p:nvPr/>
        </p:nvSpPr>
        <p:spPr bwMode="auto">
          <a:xfrm flipV="1">
            <a:off x="2928927" y="1537200"/>
            <a:ext cx="2019626" cy="201622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none" w="med" len="med"/>
          </a:ln>
        </p:spPr>
        <p:txBody>
          <a:bodyPr wrap="none" lIns="0" tIns="0" rIns="0" bIns="0" anchor="ctr"/>
          <a:lstStyle/>
          <a:p>
            <a:endParaRPr lang="es-ES">
              <a:solidFill>
                <a:prstClr val="black"/>
              </a:solidFill>
            </a:endParaRPr>
          </a:p>
        </p:txBody>
      </p:sp>
      <p:cxnSp>
        <p:nvCxnSpPr>
          <p:cNvPr id="68" name="67 Conector recto"/>
          <p:cNvCxnSpPr/>
          <p:nvPr/>
        </p:nvCxnSpPr>
        <p:spPr bwMode="auto">
          <a:xfrm flipV="1">
            <a:off x="3212398" y="1340768"/>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9" name="68 CuadroTexto"/>
          <p:cNvSpPr txBox="1"/>
          <p:nvPr/>
        </p:nvSpPr>
        <p:spPr>
          <a:xfrm>
            <a:off x="3068382" y="1124744"/>
            <a:ext cx="327334" cy="400110"/>
          </a:xfrm>
          <a:prstGeom prst="rect">
            <a:avLst/>
          </a:prstGeom>
          <a:noFill/>
        </p:spPr>
        <p:txBody>
          <a:bodyPr wrap="none" rtlCol="0">
            <a:spAutoFit/>
          </a:bodyPr>
          <a:lstStyle/>
          <a:p>
            <a:r>
              <a:rPr lang="es-ES" dirty="0">
                <a:solidFill>
                  <a:prstClr val="black">
                    <a:lumMod val="65000"/>
                    <a:lumOff val="35000"/>
                  </a:prstClr>
                </a:solidFill>
              </a:rPr>
              <a:t>b</a:t>
            </a:r>
          </a:p>
        </p:txBody>
      </p:sp>
      <p:cxnSp>
        <p:nvCxnSpPr>
          <p:cNvPr id="70" name="69 Conector recto"/>
          <p:cNvCxnSpPr/>
          <p:nvPr/>
        </p:nvCxnSpPr>
        <p:spPr bwMode="auto">
          <a:xfrm flipV="1">
            <a:off x="3140390" y="3284984"/>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1" name="70 CuadroTexto"/>
          <p:cNvSpPr txBox="1"/>
          <p:nvPr/>
        </p:nvSpPr>
        <p:spPr>
          <a:xfrm>
            <a:off x="3032442" y="3068960"/>
            <a:ext cx="255198" cy="400110"/>
          </a:xfrm>
          <a:prstGeom prst="rect">
            <a:avLst/>
          </a:prstGeom>
          <a:noFill/>
        </p:spPr>
        <p:txBody>
          <a:bodyPr wrap="none" rtlCol="0">
            <a:spAutoFit/>
          </a:bodyPr>
          <a:lstStyle/>
          <a:p>
            <a:r>
              <a:rPr lang="es-ES" dirty="0">
                <a:solidFill>
                  <a:prstClr val="black">
                    <a:lumMod val="65000"/>
                    <a:lumOff val="35000"/>
                  </a:prstClr>
                </a:solidFill>
              </a:rPr>
              <a:t>f</a:t>
            </a:r>
          </a:p>
        </p:txBody>
      </p:sp>
      <p:cxnSp>
        <p:nvCxnSpPr>
          <p:cNvPr id="72" name="71 Conector recto"/>
          <p:cNvCxnSpPr/>
          <p:nvPr/>
        </p:nvCxnSpPr>
        <p:spPr bwMode="auto">
          <a:xfrm flipV="1">
            <a:off x="3140390" y="5373216"/>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3" name="72 CuadroTexto"/>
          <p:cNvSpPr txBox="1"/>
          <p:nvPr/>
        </p:nvSpPr>
        <p:spPr>
          <a:xfrm>
            <a:off x="3003588" y="5157192"/>
            <a:ext cx="312906" cy="400110"/>
          </a:xfrm>
          <a:prstGeom prst="rect">
            <a:avLst/>
          </a:prstGeom>
          <a:noFill/>
        </p:spPr>
        <p:txBody>
          <a:bodyPr wrap="none" rtlCol="0">
            <a:spAutoFit/>
          </a:bodyPr>
          <a:lstStyle/>
          <a:p>
            <a:r>
              <a:rPr lang="es-ES" dirty="0">
                <a:solidFill>
                  <a:prstClr val="black">
                    <a:lumMod val="65000"/>
                    <a:lumOff val="35000"/>
                  </a:prstClr>
                </a:solidFill>
              </a:rPr>
              <a:t>c</a:t>
            </a:r>
          </a:p>
        </p:txBody>
      </p:sp>
      <p:cxnSp>
        <p:nvCxnSpPr>
          <p:cNvPr id="74" name="73 Conector recto"/>
          <p:cNvCxnSpPr/>
          <p:nvPr/>
        </p:nvCxnSpPr>
        <p:spPr bwMode="auto">
          <a:xfrm flipV="1">
            <a:off x="5883982" y="4365104"/>
            <a:ext cx="288032" cy="432048"/>
          </a:xfrm>
          <a:prstGeom prst="line">
            <a:avLst/>
          </a:prstGeom>
          <a:ln w="285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5" name="74 CuadroTexto"/>
          <p:cNvSpPr txBox="1"/>
          <p:nvPr/>
        </p:nvSpPr>
        <p:spPr>
          <a:xfrm>
            <a:off x="5271089" y="4000504"/>
            <a:ext cx="1265091" cy="400110"/>
          </a:xfrm>
          <a:prstGeom prst="rect">
            <a:avLst/>
          </a:prstGeom>
          <a:noFill/>
        </p:spPr>
        <p:txBody>
          <a:bodyPr wrap="square" rtlCol="0">
            <a:spAutoFit/>
          </a:bodyPr>
          <a:lstStyle/>
          <a:p>
            <a:r>
              <a:rPr lang="es-ES" b="1" dirty="0" err="1">
                <a:solidFill>
                  <a:prstClr val="black">
                    <a:lumMod val="65000"/>
                    <a:lumOff val="35000"/>
                  </a:prstClr>
                </a:solidFill>
              </a:rPr>
              <a:t>max</a:t>
            </a:r>
            <a:r>
              <a:rPr lang="es-ES" b="1" dirty="0">
                <a:solidFill>
                  <a:prstClr val="black">
                    <a:lumMod val="65000"/>
                    <a:lumOff val="35000"/>
                  </a:prstClr>
                </a:solidFill>
              </a:rPr>
              <a:t> {</a:t>
            </a:r>
            <a:r>
              <a:rPr lang="es-ES" b="1" dirty="0" err="1">
                <a:solidFill>
                  <a:prstClr val="black">
                    <a:lumMod val="65000"/>
                    <a:lumOff val="35000"/>
                  </a:prstClr>
                </a:solidFill>
              </a:rPr>
              <a:t>f,c</a:t>
            </a:r>
            <a:r>
              <a:rPr lang="es-ES" b="1" dirty="0">
                <a:solidFill>
                  <a:prstClr val="black">
                    <a:lumMod val="65000"/>
                    <a:lumOff val="35000"/>
                  </a:prstClr>
                </a:solidFill>
              </a:rPr>
              <a:t>}</a:t>
            </a:r>
          </a:p>
        </p:txBody>
      </p:sp>
      <p:cxnSp>
        <p:nvCxnSpPr>
          <p:cNvPr id="76" name="75 Conector recto"/>
          <p:cNvCxnSpPr/>
          <p:nvPr/>
        </p:nvCxnSpPr>
        <p:spPr bwMode="auto">
          <a:xfrm flipV="1">
            <a:off x="5884657" y="3356992"/>
            <a:ext cx="288032" cy="432048"/>
          </a:xfrm>
          <a:prstGeom prst="line">
            <a:avLst/>
          </a:prstGeom>
          <a:ln w="285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7" name="76 CuadroTexto"/>
          <p:cNvSpPr txBox="1"/>
          <p:nvPr/>
        </p:nvSpPr>
        <p:spPr>
          <a:xfrm>
            <a:off x="5733428" y="3140968"/>
            <a:ext cx="341760" cy="400110"/>
          </a:xfrm>
          <a:prstGeom prst="rect">
            <a:avLst/>
          </a:prstGeom>
          <a:noFill/>
        </p:spPr>
        <p:txBody>
          <a:bodyPr wrap="none" rtlCol="0">
            <a:spAutoFit/>
          </a:bodyPr>
          <a:lstStyle/>
          <a:p>
            <a:r>
              <a:rPr lang="es-ES" b="1" dirty="0">
                <a:solidFill>
                  <a:prstClr val="black">
                    <a:lumMod val="65000"/>
                    <a:lumOff val="35000"/>
                  </a:prstClr>
                </a:solidFill>
              </a:rPr>
              <a:t>b</a:t>
            </a:r>
          </a:p>
        </p:txBody>
      </p:sp>
      <p:grpSp>
        <p:nvGrpSpPr>
          <p:cNvPr id="67" name="Group 25"/>
          <p:cNvGrpSpPr>
            <a:grpSpLocks/>
          </p:cNvGrpSpPr>
          <p:nvPr/>
        </p:nvGrpSpPr>
        <p:grpSpPr bwMode="auto">
          <a:xfrm>
            <a:off x="1501893" y="1571612"/>
            <a:ext cx="972000" cy="3786214"/>
            <a:chOff x="2208" y="2928"/>
            <a:chExt cx="720" cy="768"/>
          </a:xfrm>
        </p:grpSpPr>
        <p:sp>
          <p:nvSpPr>
            <p:cNvPr id="79" name="Freeform 23"/>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none" w="med" len="med"/>
            </a:ln>
          </p:spPr>
          <p:txBody>
            <a:bodyPr wrap="none" lIns="0" tIns="0" rIns="0" bIns="0" anchor="ctr"/>
            <a:lstStyle/>
            <a:p>
              <a:endParaRPr lang="es-ES">
                <a:solidFill>
                  <a:prstClr val="black"/>
                </a:solidFill>
              </a:endParaRPr>
            </a:p>
          </p:txBody>
        </p:sp>
        <p:sp>
          <p:nvSpPr>
            <p:cNvPr id="80" name="Freeform 24"/>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none" w="med" len="med"/>
            </a:ln>
          </p:spPr>
          <p:txBody>
            <a:bodyPr wrap="none" lIns="0" tIns="0" rIns="0" bIns="0" anchor="ctr"/>
            <a:lstStyle/>
            <a:p>
              <a:endParaRPr lang="es-ES">
                <a:solidFill>
                  <a:prstClr val="black"/>
                </a:solidFill>
              </a:endParaRPr>
            </a:p>
          </p:txBody>
        </p:sp>
      </p:grpSp>
      <p:cxnSp>
        <p:nvCxnSpPr>
          <p:cNvPr id="82" name="81 Conector recto"/>
          <p:cNvCxnSpPr/>
          <p:nvPr/>
        </p:nvCxnSpPr>
        <p:spPr bwMode="auto">
          <a:xfrm>
            <a:off x="1224000" y="3466800"/>
            <a:ext cx="1260000" cy="0"/>
          </a:xfrm>
          <a:prstGeom prst="line">
            <a:avLst/>
          </a:prstGeom>
          <a:ln w="349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85 Conector recto"/>
          <p:cNvCxnSpPr/>
          <p:nvPr/>
        </p:nvCxnSpPr>
        <p:spPr bwMode="auto">
          <a:xfrm flipV="1">
            <a:off x="1501306" y="3287834"/>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7" name="86 CuadroTexto"/>
          <p:cNvSpPr txBox="1"/>
          <p:nvPr/>
        </p:nvSpPr>
        <p:spPr>
          <a:xfrm>
            <a:off x="1357290" y="3000372"/>
            <a:ext cx="327334" cy="400110"/>
          </a:xfrm>
          <a:prstGeom prst="rect">
            <a:avLst/>
          </a:prstGeom>
          <a:noFill/>
        </p:spPr>
        <p:txBody>
          <a:bodyPr wrap="none" rtlCol="0">
            <a:spAutoFit/>
          </a:bodyPr>
          <a:lstStyle/>
          <a:p>
            <a:r>
              <a:rPr lang="es-ES" dirty="0">
                <a:solidFill>
                  <a:prstClr val="black">
                    <a:lumMod val="65000"/>
                    <a:lumOff val="35000"/>
                  </a:prstClr>
                </a:solidFill>
              </a:rPr>
              <a:t>p</a:t>
            </a:r>
          </a:p>
        </p:txBody>
      </p:sp>
      <p:sp>
        <p:nvSpPr>
          <p:cNvPr id="88" name="Rectangle 32"/>
          <p:cNvSpPr>
            <a:spLocks noChangeArrowheads="1"/>
          </p:cNvSpPr>
          <p:nvPr/>
        </p:nvSpPr>
        <p:spPr bwMode="blackWhite">
          <a:xfrm rot="10800000">
            <a:off x="8334000" y="3214686"/>
            <a:ext cx="287337" cy="642942"/>
          </a:xfrm>
          <a:prstGeom prst="rect">
            <a:avLst/>
          </a:prstGeom>
          <a:solidFill>
            <a:schemeClr val="bg1">
              <a:lumMod val="65000"/>
            </a:schemeClr>
          </a:solidFill>
          <a:ln w="12700">
            <a:solidFill>
              <a:schemeClr val="accent5">
                <a:lumMod val="75000"/>
              </a:schemeClr>
            </a:solidFill>
            <a:miter lim="800000"/>
            <a:headEnd/>
            <a:tailEnd/>
          </a:ln>
        </p:spPr>
        <p:txBody>
          <a:bodyPr vert="eaVert" lIns="0" tIns="0" rIns="0" bIns="0" anchor="ctr"/>
          <a:lstStyle/>
          <a:p>
            <a:r>
              <a:rPr lang="es-ES" sz="1600" dirty="0">
                <a:solidFill>
                  <a:prstClr val="white"/>
                </a:solidFill>
              </a:rPr>
              <a:t>Banco</a:t>
            </a:r>
          </a:p>
        </p:txBody>
      </p:sp>
      <p:sp>
        <p:nvSpPr>
          <p:cNvPr id="89" name="88 CuadroTexto"/>
          <p:cNvSpPr txBox="1"/>
          <p:nvPr/>
        </p:nvSpPr>
        <p:spPr>
          <a:xfrm>
            <a:off x="289032" y="3753153"/>
            <a:ext cx="1723549" cy="904863"/>
          </a:xfrm>
          <a:prstGeom prst="rect">
            <a:avLst/>
          </a:prstGeom>
          <a:noFill/>
        </p:spPr>
        <p:txBody>
          <a:bodyPr wrap="none" rtlCol="0">
            <a:spAutoFit/>
          </a:bodyPr>
          <a:lstStyle/>
          <a:p>
            <a:r>
              <a:rPr lang="es-ES" sz="2400" b="1" dirty="0">
                <a:solidFill>
                  <a:prstClr val="black">
                    <a:lumMod val="65000"/>
                    <a:lumOff val="35000"/>
                  </a:prstClr>
                </a:solidFill>
              </a:rPr>
              <a:t>Dirección</a:t>
            </a:r>
          </a:p>
          <a:p>
            <a:r>
              <a:rPr lang="es-ES" sz="2400" b="1" dirty="0">
                <a:solidFill>
                  <a:prstClr val="black">
                    <a:lumMod val="65000"/>
                    <a:lumOff val="35000"/>
                  </a:prstClr>
                </a:solidFill>
              </a:rPr>
              <a:t>de palabra</a:t>
            </a:r>
          </a:p>
        </p:txBody>
      </p:sp>
      <p:sp>
        <p:nvSpPr>
          <p:cNvPr id="81" name="77 CuadroTexto">
            <a:extLst>
              <a:ext uri="{FF2B5EF4-FFF2-40B4-BE49-F238E27FC236}">
                <a16:creationId xmlns:a16="http://schemas.microsoft.com/office/drawing/2014/main" id="{B4793A6B-0BF7-4A28-AF5D-78BA7C808613}"/>
              </a:ext>
            </a:extLst>
          </p:cNvPr>
          <p:cNvSpPr txBox="1"/>
          <p:nvPr/>
        </p:nvSpPr>
        <p:spPr>
          <a:xfrm>
            <a:off x="3049836" y="5890172"/>
            <a:ext cx="2441327" cy="338554"/>
          </a:xfrm>
          <a:prstGeom prst="rect">
            <a:avLst/>
          </a:prstGeom>
          <a:solidFill>
            <a:schemeClr val="tx2">
              <a:lumMod val="60000"/>
              <a:lumOff val="40000"/>
            </a:schemeClr>
          </a:solidFill>
        </p:spPr>
        <p:txBody>
          <a:bodyPr wrap="square" rtlCol="0">
            <a:spAutoFit/>
          </a:bodyPr>
          <a:lstStyle/>
          <a:p>
            <a:r>
              <a:rPr lang="es-ES" sz="1600" dirty="0">
                <a:solidFill>
                  <a:prstClr val="white"/>
                </a:solidFill>
              </a:rPr>
              <a:t>Líneas </a:t>
            </a:r>
            <a:r>
              <a:rPr lang="es-ES" sz="1600" dirty="0" err="1">
                <a:solidFill>
                  <a:prstClr val="white"/>
                </a:solidFill>
              </a:rPr>
              <a:t>BeQ</a:t>
            </a:r>
            <a:r>
              <a:rPr lang="es-ES" sz="1600" dirty="0">
                <a:solidFill>
                  <a:prstClr val="white"/>
                </a:solidFill>
              </a:rPr>
              <a:t> a DQM</a:t>
            </a:r>
          </a:p>
        </p:txBody>
      </p:sp>
      <p:sp>
        <p:nvSpPr>
          <p:cNvPr id="7" name="2 Marcador de número de diapositiva">
            <a:extLst>
              <a:ext uri="{FF2B5EF4-FFF2-40B4-BE49-F238E27FC236}">
                <a16:creationId xmlns:a16="http://schemas.microsoft.com/office/drawing/2014/main" id="{4D891CB3-89EE-CAEF-E1B0-5FFDB3BA4DD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49</a:t>
            </a:fld>
            <a:endParaRPr lang="en-US" dirty="0"/>
          </a:p>
        </p:txBody>
      </p:sp>
    </p:spTree>
    <p:extLst>
      <p:ext uri="{BB962C8B-B14F-4D97-AF65-F5344CB8AC3E}">
        <p14:creationId xmlns:p14="http://schemas.microsoft.com/office/powerpoint/2010/main" val="1105824927"/>
      </p:ext>
    </p:extLst>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Rectangle 278"/>
          <p:cNvSpPr>
            <a:spLocks noChangeArrowheads="1"/>
          </p:cNvSpPr>
          <p:nvPr/>
        </p:nvSpPr>
        <p:spPr bwMode="ltGray">
          <a:xfrm>
            <a:off x="4572000" y="4582339"/>
            <a:ext cx="2943225" cy="609600"/>
          </a:xfrm>
          <a:prstGeom prst="rect">
            <a:avLst/>
          </a:prstGeom>
          <a:solidFill>
            <a:schemeClr val="accent1"/>
          </a:solidFill>
          <a:ln w="9525">
            <a:miter lim="800000"/>
            <a:headEnd/>
            <a:tailEnd/>
          </a:ln>
          <a:scene3d>
            <a:camera prst="legacyObliqueTopRight"/>
            <a:lightRig rig="legacyFlat3" dir="b"/>
          </a:scene3d>
          <a:sp3d extrusionH="1116000" prstMaterial="legacyMetal">
            <a:bevelT w="13500" h="13500" prst="angle"/>
            <a:bevelB w="13500" h="13500" prst="angle"/>
            <a:extrusionClr>
              <a:schemeClr val="accent1"/>
            </a:extrusionClr>
          </a:sp3d>
        </p:spPr>
        <p:txBody>
          <a:bodyPr wrap="none" lIns="0" tIns="0" rIns="0" bIns="0" anchor="ctr">
            <a:flatTx/>
          </a:bodyPr>
          <a:lstStyle/>
          <a:p>
            <a:r>
              <a:rPr lang="es-ES" dirty="0">
                <a:solidFill>
                  <a:prstClr val="white">
                    <a:lumMod val="95000"/>
                  </a:prstClr>
                </a:solidFill>
              </a:rPr>
              <a:t>Lógica de E/S</a:t>
            </a:r>
          </a:p>
        </p:txBody>
      </p:sp>
      <p:grpSp>
        <p:nvGrpSpPr>
          <p:cNvPr id="4" name="407 Grupo"/>
          <p:cNvGrpSpPr/>
          <p:nvPr/>
        </p:nvGrpSpPr>
        <p:grpSpPr>
          <a:xfrm>
            <a:off x="4283968" y="1279223"/>
            <a:ext cx="3643313" cy="3068811"/>
            <a:chOff x="4427984" y="1728341"/>
            <a:chExt cx="3643313" cy="3068811"/>
          </a:xfrm>
        </p:grpSpPr>
        <p:sp>
          <p:nvSpPr>
            <p:cNvPr id="409" name="Rectangle 209"/>
            <p:cNvSpPr>
              <a:spLocks noChangeArrowheads="1"/>
            </p:cNvSpPr>
            <p:nvPr/>
          </p:nvSpPr>
          <p:spPr bwMode="blackWhite">
            <a:xfrm>
              <a:off x="4427984" y="1728341"/>
              <a:ext cx="3643313" cy="1844675"/>
            </a:xfrm>
            <a:prstGeom prst="rect">
              <a:avLst/>
            </a:prstGeom>
            <a:solidFill>
              <a:schemeClr val="tx2">
                <a:lumMod val="20000"/>
                <a:lumOff val="80000"/>
              </a:schemeClr>
            </a:solidFill>
            <a:ln w="19050">
              <a:noFill/>
              <a:miter lim="800000"/>
              <a:headEnd/>
              <a:tailEnd/>
            </a:ln>
          </p:spPr>
          <p:txBody>
            <a:bodyPr wrap="none" lIns="0" tIns="0" rIns="0" bIns="0" anchor="ctr"/>
            <a:lstStyle/>
            <a:p>
              <a:endParaRPr lang="es-ES">
                <a:solidFill>
                  <a:prstClr val="black"/>
                </a:solidFill>
              </a:endParaRPr>
            </a:p>
          </p:txBody>
        </p:sp>
        <p:sp>
          <p:nvSpPr>
            <p:cNvPr id="410" name="Rectangle 225"/>
            <p:cNvSpPr>
              <a:spLocks noChangeArrowheads="1"/>
            </p:cNvSpPr>
            <p:nvPr/>
          </p:nvSpPr>
          <p:spPr bwMode="auto">
            <a:xfrm rot="16200000">
              <a:off x="4392000" y="2554703"/>
              <a:ext cx="792089" cy="380441"/>
            </a:xfrm>
            <a:prstGeom prst="rect">
              <a:avLst/>
            </a:prstGeom>
            <a:solidFill>
              <a:schemeClr val="tx2">
                <a:lumMod val="75000"/>
              </a:schemeClr>
            </a:solidFill>
            <a:ln w="12700">
              <a:solidFill>
                <a:schemeClr val="bg2"/>
              </a:solidFill>
              <a:miter lim="800000"/>
              <a:headEnd/>
              <a:tailEnd/>
            </a:ln>
          </p:spPr>
          <p:txBody>
            <a:bodyPr vert="horz" wrap="square" lIns="0" tIns="18000" rIns="0" bIns="18000" anchor="ctr">
              <a:noAutofit/>
            </a:bodyPr>
            <a:lstStyle/>
            <a:p>
              <a:pPr>
                <a:lnSpc>
                  <a:spcPts val="1000"/>
                </a:lnSpc>
              </a:pPr>
              <a:r>
                <a:rPr lang="es-ES" sz="1200" kern="1500" dirty="0">
                  <a:solidFill>
                    <a:prstClr val="white"/>
                  </a:solidFill>
                </a:rPr>
                <a:t>Registro      de fila</a:t>
              </a:r>
            </a:p>
          </p:txBody>
        </p:sp>
        <p:grpSp>
          <p:nvGrpSpPr>
            <p:cNvPr id="7" name="67 Grupo"/>
            <p:cNvGrpSpPr/>
            <p:nvPr/>
          </p:nvGrpSpPr>
          <p:grpSpPr>
            <a:xfrm>
              <a:off x="4968000" y="1988840"/>
              <a:ext cx="2487613" cy="1006475"/>
              <a:chOff x="4732339" y="2571750"/>
              <a:chExt cx="2487613" cy="1006475"/>
            </a:xfrm>
          </p:grpSpPr>
          <p:sp>
            <p:nvSpPr>
              <p:cNvPr id="488" name="Line 213"/>
              <p:cNvSpPr>
                <a:spLocks noChangeShapeType="1"/>
              </p:cNvSpPr>
              <p:nvPr/>
            </p:nvSpPr>
            <p:spPr bwMode="auto">
              <a:xfrm>
                <a:off x="4732339" y="3578225"/>
                <a:ext cx="2487613"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grpSp>
            <p:nvGrpSpPr>
              <p:cNvPr id="10" name="54 Grupo"/>
              <p:cNvGrpSpPr/>
              <p:nvPr/>
            </p:nvGrpSpPr>
            <p:grpSpPr>
              <a:xfrm>
                <a:off x="4732339" y="3241675"/>
                <a:ext cx="2487613" cy="201613"/>
                <a:chOff x="4732339" y="3241675"/>
                <a:chExt cx="2487613" cy="201613"/>
              </a:xfrm>
            </p:grpSpPr>
            <p:sp>
              <p:nvSpPr>
                <p:cNvPr id="496" name="Line 212"/>
                <p:cNvSpPr>
                  <a:spLocks noChangeShapeType="1"/>
                </p:cNvSpPr>
                <p:nvPr/>
              </p:nvSpPr>
              <p:spPr bwMode="auto">
                <a:xfrm>
                  <a:off x="5176839" y="3241675"/>
                  <a:ext cx="2043113"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sp>
              <p:nvSpPr>
                <p:cNvPr id="49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grpSp>
          <p:grpSp>
            <p:nvGrpSpPr>
              <p:cNvPr id="13" name="57 Grupo"/>
              <p:cNvGrpSpPr/>
              <p:nvPr/>
            </p:nvGrpSpPr>
            <p:grpSpPr>
              <a:xfrm>
                <a:off x="4732339" y="2906713"/>
                <a:ext cx="2487613" cy="401638"/>
                <a:chOff x="4732339" y="2906713"/>
                <a:chExt cx="2487613" cy="401638"/>
              </a:xfrm>
            </p:grpSpPr>
            <p:sp>
              <p:nvSpPr>
                <p:cNvPr id="494" name="Line 211"/>
                <p:cNvSpPr>
                  <a:spLocks noChangeShapeType="1"/>
                </p:cNvSpPr>
                <p:nvPr/>
              </p:nvSpPr>
              <p:spPr bwMode="auto">
                <a:xfrm>
                  <a:off x="5065714" y="2906713"/>
                  <a:ext cx="2154238"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sp>
              <p:nvSpPr>
                <p:cNvPr id="495"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grpSp>
          <p:grpSp>
            <p:nvGrpSpPr>
              <p:cNvPr id="16" name="60 Grupo"/>
              <p:cNvGrpSpPr/>
              <p:nvPr/>
            </p:nvGrpSpPr>
            <p:grpSpPr>
              <a:xfrm>
                <a:off x="4732339" y="2571750"/>
                <a:ext cx="2487613" cy="604838"/>
                <a:chOff x="4732339" y="2571750"/>
                <a:chExt cx="2487613" cy="604838"/>
              </a:xfrm>
            </p:grpSpPr>
            <p:sp>
              <p:nvSpPr>
                <p:cNvPr id="492" name="Line 210"/>
                <p:cNvSpPr>
                  <a:spLocks noChangeShapeType="1"/>
                </p:cNvSpPr>
                <p:nvPr/>
              </p:nvSpPr>
              <p:spPr bwMode="auto">
                <a:xfrm>
                  <a:off x="4954589" y="2571750"/>
                  <a:ext cx="2265363"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sp>
              <p:nvSpPr>
                <p:cNvPr id="49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grpSp>
        </p:grpSp>
        <p:grpSp>
          <p:nvGrpSpPr>
            <p:cNvPr id="19" name="67 Grupo"/>
            <p:cNvGrpSpPr/>
            <p:nvPr/>
          </p:nvGrpSpPr>
          <p:grpSpPr>
            <a:xfrm>
              <a:off x="5724128" y="2074291"/>
              <a:ext cx="2054225" cy="1230313"/>
              <a:chOff x="5510214" y="2705100"/>
              <a:chExt cx="2054225" cy="1230313"/>
            </a:xfrm>
          </p:grpSpPr>
          <p:sp>
            <p:nvSpPr>
              <p:cNvPr id="480" name="Line 214"/>
              <p:cNvSpPr>
                <a:spLocks noChangeShapeType="1"/>
              </p:cNvSpPr>
              <p:nvPr/>
            </p:nvSpPr>
            <p:spPr bwMode="auto">
              <a:xfrm flipH="1">
                <a:off x="5510214" y="2705100"/>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1" name="Line 215"/>
              <p:cNvSpPr>
                <a:spLocks noChangeShapeType="1"/>
              </p:cNvSpPr>
              <p:nvPr/>
            </p:nvSpPr>
            <p:spPr bwMode="auto">
              <a:xfrm flipH="1">
                <a:off x="5732464" y="2705100"/>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2" name="Line 216"/>
              <p:cNvSpPr>
                <a:spLocks noChangeShapeType="1"/>
              </p:cNvSpPr>
              <p:nvPr/>
            </p:nvSpPr>
            <p:spPr bwMode="auto">
              <a:xfrm flipH="1">
                <a:off x="6119814" y="2705100"/>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3" name="Line 217"/>
              <p:cNvSpPr>
                <a:spLocks noChangeShapeType="1"/>
              </p:cNvSpPr>
              <p:nvPr/>
            </p:nvSpPr>
            <p:spPr bwMode="auto">
              <a:xfrm flipH="1">
                <a:off x="6342064" y="2705100"/>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4" name="Line 218"/>
              <p:cNvSpPr>
                <a:spLocks noChangeShapeType="1"/>
              </p:cNvSpPr>
              <p:nvPr/>
            </p:nvSpPr>
            <p:spPr bwMode="auto">
              <a:xfrm flipH="1">
                <a:off x="6731001" y="2716213"/>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5" name="Line 219"/>
              <p:cNvSpPr>
                <a:spLocks noChangeShapeType="1"/>
              </p:cNvSpPr>
              <p:nvPr/>
            </p:nvSpPr>
            <p:spPr bwMode="auto">
              <a:xfrm flipH="1">
                <a:off x="6953251" y="2716213"/>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6" name="Line 220"/>
              <p:cNvSpPr>
                <a:spLocks noChangeShapeType="1"/>
              </p:cNvSpPr>
              <p:nvPr/>
            </p:nvSpPr>
            <p:spPr bwMode="auto">
              <a:xfrm flipH="1">
                <a:off x="7342189" y="2725738"/>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sp>
            <p:nvSpPr>
              <p:cNvPr id="487" name="Line 221"/>
              <p:cNvSpPr>
                <a:spLocks noChangeShapeType="1"/>
              </p:cNvSpPr>
              <p:nvPr/>
            </p:nvSpPr>
            <p:spPr bwMode="auto">
              <a:xfrm flipH="1">
                <a:off x="7564439" y="2725738"/>
                <a:ext cx="0" cy="1209675"/>
              </a:xfrm>
              <a:prstGeom prst="line">
                <a:avLst/>
              </a:prstGeom>
              <a:noFill/>
              <a:ln w="28575">
                <a:solidFill>
                  <a:srgbClr val="FF3300"/>
                </a:solidFill>
                <a:round/>
                <a:headEnd/>
                <a:tailEnd/>
              </a:ln>
            </p:spPr>
            <p:txBody>
              <a:bodyPr anchor="ctr">
                <a:spAutoFit/>
              </a:bodyPr>
              <a:lstStyle/>
              <a:p>
                <a:endParaRPr lang="es-ES">
                  <a:solidFill>
                    <a:prstClr val="black"/>
                  </a:solidFill>
                </a:endParaRPr>
              </a:p>
            </p:txBody>
          </p:sp>
        </p:grpSp>
        <p:grpSp>
          <p:nvGrpSpPr>
            <p:cNvPr id="22" name="76 Grupo"/>
            <p:cNvGrpSpPr/>
            <p:nvPr/>
          </p:nvGrpSpPr>
          <p:grpSpPr>
            <a:xfrm>
              <a:off x="5607893" y="3278559"/>
              <a:ext cx="2276475" cy="134938"/>
              <a:chOff x="5399089" y="3913188"/>
              <a:chExt cx="2276475" cy="134938"/>
            </a:xfrm>
          </p:grpSpPr>
          <p:sp>
            <p:nvSpPr>
              <p:cNvPr id="47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47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grpSp>
        <p:grpSp>
          <p:nvGrpSpPr>
            <p:cNvPr id="25" name="Group 266"/>
            <p:cNvGrpSpPr>
              <a:grpSpLocks/>
            </p:cNvGrpSpPr>
            <p:nvPr/>
          </p:nvGrpSpPr>
          <p:grpSpPr bwMode="auto">
            <a:xfrm>
              <a:off x="5724128" y="3411909"/>
              <a:ext cx="2054225" cy="1385243"/>
              <a:chOff x="2724" y="2704"/>
              <a:chExt cx="1678" cy="267"/>
            </a:xfrm>
          </p:grpSpPr>
          <p:sp>
            <p:nvSpPr>
              <p:cNvPr id="464" name="Line 267"/>
              <p:cNvSpPr>
                <a:spLocks noChangeShapeType="1"/>
              </p:cNvSpPr>
              <p:nvPr/>
            </p:nvSpPr>
            <p:spPr bwMode="auto">
              <a:xfrm flipH="1">
                <a:off x="272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65" name="Line 268"/>
              <p:cNvSpPr>
                <a:spLocks noChangeShapeType="1"/>
              </p:cNvSpPr>
              <p:nvPr/>
            </p:nvSpPr>
            <p:spPr bwMode="auto">
              <a:xfrm flipH="1">
                <a:off x="2905"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66" name="Line 269"/>
              <p:cNvSpPr>
                <a:spLocks noChangeShapeType="1"/>
              </p:cNvSpPr>
              <p:nvPr/>
            </p:nvSpPr>
            <p:spPr bwMode="auto">
              <a:xfrm flipH="1">
                <a:off x="322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67" name="Line 270"/>
              <p:cNvSpPr>
                <a:spLocks noChangeShapeType="1"/>
              </p:cNvSpPr>
              <p:nvPr/>
            </p:nvSpPr>
            <p:spPr bwMode="auto">
              <a:xfrm flipH="1">
                <a:off x="340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68" name="Line 271"/>
              <p:cNvSpPr>
                <a:spLocks noChangeShapeType="1"/>
              </p:cNvSpPr>
              <p:nvPr/>
            </p:nvSpPr>
            <p:spPr bwMode="auto">
              <a:xfrm flipH="1">
                <a:off x="372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69" name="Line 272"/>
              <p:cNvSpPr>
                <a:spLocks noChangeShapeType="1"/>
              </p:cNvSpPr>
              <p:nvPr/>
            </p:nvSpPr>
            <p:spPr bwMode="auto">
              <a:xfrm flipH="1">
                <a:off x="390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70" name="Line 273"/>
              <p:cNvSpPr>
                <a:spLocks noChangeShapeType="1"/>
              </p:cNvSpPr>
              <p:nvPr/>
            </p:nvSpPr>
            <p:spPr bwMode="auto">
              <a:xfrm flipH="1">
                <a:off x="4221"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sp>
            <p:nvSpPr>
              <p:cNvPr id="471" name="Line 274"/>
              <p:cNvSpPr>
                <a:spLocks noChangeShapeType="1"/>
              </p:cNvSpPr>
              <p:nvPr/>
            </p:nvSpPr>
            <p:spPr bwMode="auto">
              <a:xfrm flipH="1">
                <a:off x="440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solidFill>
                    <a:prstClr val="black"/>
                  </a:solidFill>
                </a:endParaRPr>
              </a:p>
            </p:txBody>
          </p:sp>
        </p:grpSp>
        <p:grpSp>
          <p:nvGrpSpPr>
            <p:cNvPr id="28" name="78 Grupo"/>
            <p:cNvGrpSpPr/>
            <p:nvPr/>
          </p:nvGrpSpPr>
          <p:grpSpPr>
            <a:xfrm>
              <a:off x="5607893" y="1916832"/>
              <a:ext cx="2276475" cy="1208088"/>
              <a:chOff x="4772892" y="2564904"/>
              <a:chExt cx="2276475" cy="1208088"/>
            </a:xfrm>
            <a:solidFill>
              <a:schemeClr val="tx2">
                <a:lumMod val="60000"/>
                <a:lumOff val="40000"/>
              </a:schemeClr>
            </a:solidFill>
          </p:grpSpPr>
          <p:grpSp>
            <p:nvGrpSpPr>
              <p:cNvPr id="31" name="3 Grupo"/>
              <p:cNvGrpSpPr/>
              <p:nvPr/>
            </p:nvGrpSpPr>
            <p:grpSpPr>
              <a:xfrm>
                <a:off x="4772892" y="2564904"/>
                <a:ext cx="444500" cy="200025"/>
                <a:chOff x="5399089" y="2505075"/>
                <a:chExt cx="444500" cy="200025"/>
              </a:xfrm>
              <a:grpFill/>
            </p:grpSpPr>
            <p:sp>
              <p:nvSpPr>
                <p:cNvPr id="462"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63"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34" name="6 Grupo"/>
              <p:cNvGrpSpPr/>
              <p:nvPr/>
            </p:nvGrpSpPr>
            <p:grpSpPr>
              <a:xfrm>
                <a:off x="4772892" y="2899867"/>
                <a:ext cx="444500" cy="201613"/>
                <a:chOff x="5399089" y="2840038"/>
                <a:chExt cx="444500" cy="201613"/>
              </a:xfrm>
              <a:grpFill/>
            </p:grpSpPr>
            <p:sp>
              <p:nvSpPr>
                <p:cNvPr id="460"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61"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37" name="9 Grupo"/>
              <p:cNvGrpSpPr/>
              <p:nvPr/>
            </p:nvGrpSpPr>
            <p:grpSpPr>
              <a:xfrm>
                <a:off x="4772892" y="3236417"/>
                <a:ext cx="444500" cy="200025"/>
                <a:chOff x="5399089" y="3176588"/>
                <a:chExt cx="444500" cy="200025"/>
              </a:xfrm>
              <a:grpFill/>
            </p:grpSpPr>
            <p:sp>
              <p:nvSpPr>
                <p:cNvPr id="458"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59"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40" name="12 Grupo"/>
              <p:cNvGrpSpPr/>
              <p:nvPr/>
            </p:nvGrpSpPr>
            <p:grpSpPr>
              <a:xfrm>
                <a:off x="4772892" y="3571379"/>
                <a:ext cx="444500" cy="201613"/>
                <a:chOff x="5399089" y="3511550"/>
                <a:chExt cx="444500" cy="201613"/>
              </a:xfrm>
              <a:grpFill/>
            </p:grpSpPr>
            <p:sp>
              <p:nvSpPr>
                <p:cNvPr id="456"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57"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43" name="419 Grupo"/>
              <p:cNvGrpSpPr/>
              <p:nvPr/>
            </p:nvGrpSpPr>
            <p:grpSpPr>
              <a:xfrm>
                <a:off x="5384079" y="2564904"/>
                <a:ext cx="444500" cy="200025"/>
                <a:chOff x="6010276" y="2505075"/>
                <a:chExt cx="444500" cy="200025"/>
              </a:xfrm>
              <a:grpFill/>
            </p:grpSpPr>
            <p:sp>
              <p:nvSpPr>
                <p:cNvPr id="454"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55"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46" name="18 Grupo"/>
              <p:cNvGrpSpPr/>
              <p:nvPr/>
            </p:nvGrpSpPr>
            <p:grpSpPr>
              <a:xfrm>
                <a:off x="5384079" y="2899867"/>
                <a:ext cx="444500" cy="201613"/>
                <a:chOff x="6010276" y="2840038"/>
                <a:chExt cx="444500" cy="201613"/>
              </a:xfrm>
              <a:grpFill/>
            </p:grpSpPr>
            <p:sp>
              <p:nvSpPr>
                <p:cNvPr id="452"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53"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49" name="85 Grupo"/>
              <p:cNvGrpSpPr/>
              <p:nvPr/>
            </p:nvGrpSpPr>
            <p:grpSpPr>
              <a:xfrm>
                <a:off x="5384079" y="3236417"/>
                <a:ext cx="444500" cy="200025"/>
                <a:chOff x="6010276" y="3176588"/>
                <a:chExt cx="444500" cy="200025"/>
              </a:xfrm>
              <a:grpFill/>
            </p:grpSpPr>
            <p:sp>
              <p:nvSpPr>
                <p:cNvPr id="450"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51"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55" name="24 Grupo"/>
              <p:cNvGrpSpPr/>
              <p:nvPr/>
            </p:nvGrpSpPr>
            <p:grpSpPr>
              <a:xfrm>
                <a:off x="5384079" y="3571379"/>
                <a:ext cx="444500" cy="201613"/>
                <a:chOff x="6010276" y="3511550"/>
                <a:chExt cx="444500" cy="201613"/>
              </a:xfrm>
              <a:grpFill/>
            </p:grpSpPr>
            <p:sp>
              <p:nvSpPr>
                <p:cNvPr id="448"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49"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58" name="27 Grupo"/>
              <p:cNvGrpSpPr/>
              <p:nvPr/>
            </p:nvGrpSpPr>
            <p:grpSpPr>
              <a:xfrm>
                <a:off x="5995267" y="2564904"/>
                <a:ext cx="442913" cy="200025"/>
                <a:chOff x="6621464" y="2505075"/>
                <a:chExt cx="442913" cy="200025"/>
              </a:xfrm>
              <a:grpFill/>
            </p:grpSpPr>
            <p:sp>
              <p:nvSpPr>
                <p:cNvPr id="446"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47"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61" name="30 Grupo"/>
              <p:cNvGrpSpPr/>
              <p:nvPr/>
            </p:nvGrpSpPr>
            <p:grpSpPr>
              <a:xfrm>
                <a:off x="5995267" y="2899867"/>
                <a:ext cx="442913" cy="201613"/>
                <a:chOff x="6621464" y="2840038"/>
                <a:chExt cx="442913" cy="201613"/>
              </a:xfrm>
              <a:grpFill/>
            </p:grpSpPr>
            <p:sp>
              <p:nvSpPr>
                <p:cNvPr id="444"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45"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192" name="33 Grupo"/>
              <p:cNvGrpSpPr/>
              <p:nvPr/>
            </p:nvGrpSpPr>
            <p:grpSpPr>
              <a:xfrm>
                <a:off x="5995267" y="3236417"/>
                <a:ext cx="442913" cy="200025"/>
                <a:chOff x="6621464" y="3176588"/>
                <a:chExt cx="442913" cy="200025"/>
              </a:xfrm>
              <a:grpFill/>
            </p:grpSpPr>
            <p:sp>
              <p:nvSpPr>
                <p:cNvPr id="442"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43"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01" name="36 Grupo"/>
              <p:cNvGrpSpPr/>
              <p:nvPr/>
            </p:nvGrpSpPr>
            <p:grpSpPr>
              <a:xfrm>
                <a:off x="5995267" y="3571379"/>
                <a:ext cx="442913" cy="201613"/>
                <a:chOff x="6621464" y="3511550"/>
                <a:chExt cx="442913" cy="201613"/>
              </a:xfrm>
              <a:grpFill/>
            </p:grpSpPr>
            <p:sp>
              <p:nvSpPr>
                <p:cNvPr id="440"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41"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10" name="39 Grupo"/>
              <p:cNvGrpSpPr/>
              <p:nvPr/>
            </p:nvGrpSpPr>
            <p:grpSpPr>
              <a:xfrm>
                <a:off x="6604867" y="2564904"/>
                <a:ext cx="444500" cy="200025"/>
                <a:chOff x="7231064" y="2505075"/>
                <a:chExt cx="444500" cy="200025"/>
              </a:xfrm>
              <a:grpFill/>
            </p:grpSpPr>
            <p:sp>
              <p:nvSpPr>
                <p:cNvPr id="438"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39"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22" name="42 Grupo"/>
              <p:cNvGrpSpPr/>
              <p:nvPr/>
            </p:nvGrpSpPr>
            <p:grpSpPr>
              <a:xfrm>
                <a:off x="6604867" y="2899867"/>
                <a:ext cx="444500" cy="201613"/>
                <a:chOff x="7231064" y="2840038"/>
                <a:chExt cx="444500" cy="201613"/>
              </a:xfrm>
              <a:grpFill/>
            </p:grpSpPr>
            <p:sp>
              <p:nvSpPr>
                <p:cNvPr id="436"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37"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23" name="45 Grupo"/>
              <p:cNvGrpSpPr/>
              <p:nvPr/>
            </p:nvGrpSpPr>
            <p:grpSpPr>
              <a:xfrm>
                <a:off x="6604867" y="3236417"/>
                <a:ext cx="444500" cy="200025"/>
                <a:chOff x="7231064" y="3176588"/>
                <a:chExt cx="444500" cy="200025"/>
              </a:xfrm>
              <a:grpFill/>
            </p:grpSpPr>
            <p:sp>
              <p:nvSpPr>
                <p:cNvPr id="434"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35"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28" name="48 Grupo"/>
              <p:cNvGrpSpPr/>
              <p:nvPr/>
            </p:nvGrpSpPr>
            <p:grpSpPr>
              <a:xfrm>
                <a:off x="6604867" y="3571379"/>
                <a:ext cx="444500" cy="201613"/>
                <a:chOff x="7231064" y="3511550"/>
                <a:chExt cx="444500" cy="201613"/>
              </a:xfrm>
              <a:grpFill/>
            </p:grpSpPr>
            <p:sp>
              <p:nvSpPr>
                <p:cNvPr id="432"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33"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grpSp>
      <p:sp>
        <p:nvSpPr>
          <p:cNvPr id="52" name="Rectangle 209"/>
          <p:cNvSpPr>
            <a:spLocks noChangeArrowheads="1"/>
          </p:cNvSpPr>
          <p:nvPr/>
        </p:nvSpPr>
        <p:spPr bwMode="blackWhite">
          <a:xfrm>
            <a:off x="3592983" y="2170852"/>
            <a:ext cx="3643313" cy="1844675"/>
          </a:xfrm>
          <a:prstGeom prst="rect">
            <a:avLst/>
          </a:prstGeom>
          <a:solidFill>
            <a:schemeClr val="accent6">
              <a:lumMod val="20000"/>
              <a:lumOff val="80000"/>
            </a:schemeClr>
          </a:solidFill>
          <a:ln w="19050">
            <a:noFill/>
            <a:miter lim="800000"/>
            <a:headEnd/>
            <a:tailEnd/>
          </a:ln>
        </p:spPr>
        <p:txBody>
          <a:bodyPr wrap="none" lIns="0" tIns="0" rIns="0" bIns="0" anchor="ctr"/>
          <a:lstStyle/>
          <a:p>
            <a:endParaRPr lang="es-ES">
              <a:solidFill>
                <a:prstClr val="black"/>
              </a:solidFill>
            </a:endParaRPr>
          </a:p>
        </p:txBody>
      </p:sp>
      <p:sp>
        <p:nvSpPr>
          <p:cNvPr id="2" name="1 Título"/>
          <p:cNvSpPr>
            <a:spLocks noGrp="1"/>
          </p:cNvSpPr>
          <p:nvPr>
            <p:ph type="title"/>
          </p:nvPr>
        </p:nvSpPr>
        <p:spPr/>
        <p:txBody>
          <a:bodyPr/>
          <a:lstStyle/>
          <a:p>
            <a:r>
              <a:rPr lang="es-ES" dirty="0"/>
              <a:t>Direccionamiento Memorias SDRAM</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solidFill>
                  <a:srgbClr val="E7DEC9">
                    <a:shade val="50000"/>
                    <a:satMod val="200000"/>
                  </a:srgbClr>
                </a:solidFill>
              </a:rPr>
              <a:pPr>
                <a:defRPr/>
              </a:pPr>
              <a:t>50</a:t>
            </a:fld>
            <a:endParaRPr lang="en-US" dirty="0">
              <a:solidFill>
                <a:srgbClr val="E7DEC9">
                  <a:shade val="50000"/>
                  <a:satMod val="200000"/>
                </a:srgbClr>
              </a:solidFill>
            </a:endParaRPr>
          </a:p>
        </p:txBody>
      </p:sp>
      <p:sp>
        <p:nvSpPr>
          <p:cNvPr id="53" name="Rectangle 225"/>
          <p:cNvSpPr>
            <a:spLocks noChangeArrowheads="1"/>
          </p:cNvSpPr>
          <p:nvPr/>
        </p:nvSpPr>
        <p:spPr bwMode="auto">
          <a:xfrm rot="16200000">
            <a:off x="3528000" y="2997214"/>
            <a:ext cx="792089" cy="380441"/>
          </a:xfrm>
          <a:prstGeom prst="rect">
            <a:avLst/>
          </a:prstGeom>
          <a:solidFill>
            <a:schemeClr val="accent6">
              <a:lumMod val="75000"/>
            </a:schemeClr>
          </a:solidFill>
          <a:ln w="12700">
            <a:solidFill>
              <a:schemeClr val="bg2"/>
            </a:solidFill>
            <a:miter lim="800000"/>
            <a:headEnd/>
            <a:tailEnd/>
          </a:ln>
        </p:spPr>
        <p:txBody>
          <a:bodyPr vert="horz" wrap="square" lIns="0" tIns="18000" rIns="0" bIns="18000" anchor="ctr">
            <a:noAutofit/>
          </a:bodyPr>
          <a:lstStyle/>
          <a:p>
            <a:r>
              <a:rPr lang="es-ES" sz="1200" kern="1500" dirty="0">
                <a:solidFill>
                  <a:prstClr val="white"/>
                </a:solidFill>
              </a:rPr>
              <a:t>Registro  de </a:t>
            </a:r>
            <a:r>
              <a:rPr lang="es-ES" sz="1200" b="1" kern="1500" dirty="0">
                <a:solidFill>
                  <a:prstClr val="white"/>
                </a:solidFill>
              </a:rPr>
              <a:t>fila</a:t>
            </a:r>
          </a:p>
        </p:txBody>
      </p:sp>
      <p:grpSp>
        <p:nvGrpSpPr>
          <p:cNvPr id="230" name="63 Grupo"/>
          <p:cNvGrpSpPr/>
          <p:nvPr/>
        </p:nvGrpSpPr>
        <p:grpSpPr>
          <a:xfrm>
            <a:off x="4100611" y="2431351"/>
            <a:ext cx="2487613" cy="1006475"/>
            <a:chOff x="4732339" y="2571750"/>
            <a:chExt cx="2487613" cy="1006475"/>
          </a:xfrm>
        </p:grpSpPr>
        <p:sp>
          <p:nvSpPr>
            <p:cNvPr id="54" name="Line 213"/>
            <p:cNvSpPr>
              <a:spLocks noChangeShapeType="1"/>
            </p:cNvSpPr>
            <p:nvPr/>
          </p:nvSpPr>
          <p:spPr bwMode="auto">
            <a:xfrm>
              <a:off x="4732339" y="3578225"/>
              <a:ext cx="2487613" cy="0"/>
            </a:xfrm>
            <a:prstGeom prst="line">
              <a:avLst/>
            </a:pr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grpSp>
          <p:nvGrpSpPr>
            <p:cNvPr id="231" name="54 Grupo"/>
            <p:cNvGrpSpPr/>
            <p:nvPr/>
          </p:nvGrpSpPr>
          <p:grpSpPr>
            <a:xfrm>
              <a:off x="4732339" y="3241675"/>
              <a:ext cx="2487613" cy="201613"/>
              <a:chOff x="4732339" y="3241675"/>
              <a:chExt cx="2487613" cy="201613"/>
            </a:xfrm>
          </p:grpSpPr>
          <p:sp>
            <p:nvSpPr>
              <p:cNvPr id="56" name="Line 212"/>
              <p:cNvSpPr>
                <a:spLocks noChangeShapeType="1"/>
              </p:cNvSpPr>
              <p:nvPr/>
            </p:nvSpPr>
            <p:spPr bwMode="auto">
              <a:xfrm>
                <a:off x="5176839" y="3241675"/>
                <a:ext cx="2043113" cy="0"/>
              </a:xfrm>
              <a:prstGeom prst="line">
                <a:avLst/>
              </a:pr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sp>
            <p:nvSpPr>
              <p:cNvPr id="5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grpSp>
        <p:grpSp>
          <p:nvGrpSpPr>
            <p:cNvPr id="239" name="57 Grupo"/>
            <p:cNvGrpSpPr/>
            <p:nvPr/>
          </p:nvGrpSpPr>
          <p:grpSpPr>
            <a:xfrm>
              <a:off x="4732339" y="2906713"/>
              <a:ext cx="2487613" cy="401638"/>
              <a:chOff x="4732339" y="2906713"/>
              <a:chExt cx="2487613" cy="401638"/>
            </a:xfrm>
          </p:grpSpPr>
          <p:sp>
            <p:nvSpPr>
              <p:cNvPr id="59" name="Line 211"/>
              <p:cNvSpPr>
                <a:spLocks noChangeShapeType="1"/>
              </p:cNvSpPr>
              <p:nvPr/>
            </p:nvSpPr>
            <p:spPr bwMode="auto">
              <a:xfrm>
                <a:off x="5065714" y="2906713"/>
                <a:ext cx="2154238" cy="0"/>
              </a:xfrm>
              <a:prstGeom prst="line">
                <a:avLst/>
              </a:pr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sp>
            <p:nvSpPr>
              <p:cNvPr id="60"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grpSp>
        <p:grpSp>
          <p:nvGrpSpPr>
            <p:cNvPr id="241" name="60 Grupo"/>
            <p:cNvGrpSpPr/>
            <p:nvPr/>
          </p:nvGrpSpPr>
          <p:grpSpPr>
            <a:xfrm>
              <a:off x="4732339" y="2571750"/>
              <a:ext cx="2487613" cy="604838"/>
              <a:chOff x="4732339" y="2571750"/>
              <a:chExt cx="2487613" cy="604838"/>
            </a:xfrm>
          </p:grpSpPr>
          <p:sp>
            <p:nvSpPr>
              <p:cNvPr id="62" name="Line 210"/>
              <p:cNvSpPr>
                <a:spLocks noChangeShapeType="1"/>
              </p:cNvSpPr>
              <p:nvPr/>
            </p:nvSpPr>
            <p:spPr bwMode="auto">
              <a:xfrm>
                <a:off x="4954589" y="2571750"/>
                <a:ext cx="2265363" cy="0"/>
              </a:xfrm>
              <a:prstGeom prst="line">
                <a:avLst/>
              </a:pr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sp>
            <p:nvSpPr>
              <p:cNvPr id="6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solidFill>
                    <a:prstClr val="black"/>
                  </a:solidFill>
                </a:endParaRPr>
              </a:p>
            </p:txBody>
          </p:sp>
        </p:grpSp>
      </p:grpSp>
      <p:grpSp>
        <p:nvGrpSpPr>
          <p:cNvPr id="242" name="191 Grupo"/>
          <p:cNvGrpSpPr/>
          <p:nvPr/>
        </p:nvGrpSpPr>
        <p:grpSpPr>
          <a:xfrm>
            <a:off x="4860032" y="2503359"/>
            <a:ext cx="2054225" cy="1230313"/>
            <a:chOff x="5510214" y="2705100"/>
            <a:chExt cx="2054225" cy="1230313"/>
          </a:xfrm>
        </p:grpSpPr>
        <p:sp>
          <p:nvSpPr>
            <p:cNvPr id="193" name="Line 214"/>
            <p:cNvSpPr>
              <a:spLocks noChangeShapeType="1"/>
            </p:cNvSpPr>
            <p:nvPr/>
          </p:nvSpPr>
          <p:spPr bwMode="auto">
            <a:xfrm flipH="1">
              <a:off x="5510214" y="2705100"/>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194" name="Line 215"/>
            <p:cNvSpPr>
              <a:spLocks noChangeShapeType="1"/>
            </p:cNvSpPr>
            <p:nvPr/>
          </p:nvSpPr>
          <p:spPr bwMode="auto">
            <a:xfrm flipH="1">
              <a:off x="5732464" y="2705100"/>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195" name="Line 216"/>
            <p:cNvSpPr>
              <a:spLocks noChangeShapeType="1"/>
            </p:cNvSpPr>
            <p:nvPr/>
          </p:nvSpPr>
          <p:spPr bwMode="auto">
            <a:xfrm flipH="1">
              <a:off x="6119814" y="2705100"/>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196" name="Line 217"/>
            <p:cNvSpPr>
              <a:spLocks noChangeShapeType="1"/>
            </p:cNvSpPr>
            <p:nvPr/>
          </p:nvSpPr>
          <p:spPr bwMode="auto">
            <a:xfrm flipH="1">
              <a:off x="6342064" y="2705100"/>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197" name="Line 218"/>
            <p:cNvSpPr>
              <a:spLocks noChangeShapeType="1"/>
            </p:cNvSpPr>
            <p:nvPr/>
          </p:nvSpPr>
          <p:spPr bwMode="auto">
            <a:xfrm flipH="1">
              <a:off x="6731001" y="2716213"/>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198" name="Line 219"/>
            <p:cNvSpPr>
              <a:spLocks noChangeShapeType="1"/>
            </p:cNvSpPr>
            <p:nvPr/>
          </p:nvSpPr>
          <p:spPr bwMode="auto">
            <a:xfrm flipH="1">
              <a:off x="6953251" y="2716213"/>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199" name="Line 220"/>
            <p:cNvSpPr>
              <a:spLocks noChangeShapeType="1"/>
            </p:cNvSpPr>
            <p:nvPr/>
          </p:nvSpPr>
          <p:spPr bwMode="auto">
            <a:xfrm flipH="1">
              <a:off x="7342189" y="2725738"/>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sp>
          <p:nvSpPr>
            <p:cNvPr id="200" name="Line 221"/>
            <p:cNvSpPr>
              <a:spLocks noChangeShapeType="1"/>
            </p:cNvSpPr>
            <p:nvPr/>
          </p:nvSpPr>
          <p:spPr bwMode="auto">
            <a:xfrm flipH="1">
              <a:off x="7564439" y="2725738"/>
              <a:ext cx="0" cy="1209675"/>
            </a:xfrm>
            <a:prstGeom prst="line">
              <a:avLst/>
            </a:prstGeom>
            <a:noFill/>
            <a:ln w="28575">
              <a:solidFill>
                <a:srgbClr val="00B050"/>
              </a:solidFill>
              <a:round/>
              <a:headEnd/>
              <a:tailEnd/>
            </a:ln>
          </p:spPr>
          <p:txBody>
            <a:bodyPr anchor="ctr">
              <a:spAutoFit/>
            </a:bodyPr>
            <a:lstStyle/>
            <a:p>
              <a:endParaRPr lang="es-ES">
                <a:solidFill>
                  <a:prstClr val="black"/>
                </a:solidFill>
              </a:endParaRPr>
            </a:p>
          </p:txBody>
        </p:sp>
      </p:grpSp>
      <p:grpSp>
        <p:nvGrpSpPr>
          <p:cNvPr id="244" name="64 Grupo"/>
          <p:cNvGrpSpPr/>
          <p:nvPr/>
        </p:nvGrpSpPr>
        <p:grpSpPr>
          <a:xfrm>
            <a:off x="4772892" y="2359343"/>
            <a:ext cx="2276475" cy="1208088"/>
            <a:chOff x="4772892" y="2564904"/>
            <a:chExt cx="2276475" cy="1208088"/>
          </a:xfrm>
        </p:grpSpPr>
        <p:grpSp>
          <p:nvGrpSpPr>
            <p:cNvPr id="247" name="3 Grupo"/>
            <p:cNvGrpSpPr/>
            <p:nvPr/>
          </p:nvGrpSpPr>
          <p:grpSpPr>
            <a:xfrm>
              <a:off x="4772892" y="2564904"/>
              <a:ext cx="444500" cy="200025"/>
              <a:chOff x="5399089" y="2505075"/>
              <a:chExt cx="444500" cy="200025"/>
            </a:xfrm>
            <a:solidFill>
              <a:schemeClr val="accent6">
                <a:lumMod val="60000"/>
                <a:lumOff val="40000"/>
              </a:schemeClr>
            </a:solidFill>
          </p:grpSpPr>
          <p:sp>
            <p:nvSpPr>
              <p:cNvPr id="5"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6"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48" name="6 Grupo"/>
            <p:cNvGrpSpPr/>
            <p:nvPr/>
          </p:nvGrpSpPr>
          <p:grpSpPr>
            <a:xfrm>
              <a:off x="4772892" y="2899867"/>
              <a:ext cx="444500" cy="201613"/>
              <a:chOff x="5399089" y="2840038"/>
              <a:chExt cx="444500" cy="201613"/>
            </a:xfrm>
            <a:solidFill>
              <a:schemeClr val="accent6">
                <a:lumMod val="60000"/>
                <a:lumOff val="40000"/>
              </a:schemeClr>
            </a:solidFill>
          </p:grpSpPr>
          <p:sp>
            <p:nvSpPr>
              <p:cNvPr id="8"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9"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50" name="9 Grupo"/>
            <p:cNvGrpSpPr/>
            <p:nvPr/>
          </p:nvGrpSpPr>
          <p:grpSpPr>
            <a:xfrm>
              <a:off x="4772892" y="3236417"/>
              <a:ext cx="444500" cy="200025"/>
              <a:chOff x="5399089" y="3176588"/>
              <a:chExt cx="444500" cy="200025"/>
            </a:xfrm>
            <a:solidFill>
              <a:schemeClr val="accent6">
                <a:lumMod val="60000"/>
                <a:lumOff val="40000"/>
              </a:schemeClr>
            </a:solidFill>
          </p:grpSpPr>
          <p:sp>
            <p:nvSpPr>
              <p:cNvPr id="11"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12"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53" name="12 Grupo"/>
            <p:cNvGrpSpPr/>
            <p:nvPr/>
          </p:nvGrpSpPr>
          <p:grpSpPr>
            <a:xfrm>
              <a:off x="4772892" y="3571379"/>
              <a:ext cx="444500" cy="201613"/>
              <a:chOff x="5399089" y="3511550"/>
              <a:chExt cx="444500" cy="201613"/>
            </a:xfrm>
            <a:solidFill>
              <a:schemeClr val="accent6">
                <a:lumMod val="60000"/>
                <a:lumOff val="40000"/>
              </a:schemeClr>
            </a:solidFill>
          </p:grpSpPr>
          <p:sp>
            <p:nvSpPr>
              <p:cNvPr id="14"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15"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54" name="15 Grupo"/>
            <p:cNvGrpSpPr/>
            <p:nvPr/>
          </p:nvGrpSpPr>
          <p:grpSpPr>
            <a:xfrm>
              <a:off x="5384079" y="2564904"/>
              <a:ext cx="444500" cy="200025"/>
              <a:chOff x="6010276" y="2505075"/>
              <a:chExt cx="444500" cy="200025"/>
            </a:xfrm>
            <a:solidFill>
              <a:schemeClr val="accent6">
                <a:lumMod val="60000"/>
                <a:lumOff val="40000"/>
              </a:schemeClr>
            </a:solidFill>
          </p:grpSpPr>
          <p:sp>
            <p:nvSpPr>
              <p:cNvPr id="17"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18"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55" name="18 Grupo"/>
            <p:cNvGrpSpPr/>
            <p:nvPr/>
          </p:nvGrpSpPr>
          <p:grpSpPr>
            <a:xfrm>
              <a:off x="5384079" y="2899867"/>
              <a:ext cx="444500" cy="201613"/>
              <a:chOff x="6010276" y="2840038"/>
              <a:chExt cx="444500" cy="201613"/>
            </a:xfrm>
            <a:solidFill>
              <a:schemeClr val="accent6">
                <a:lumMod val="60000"/>
                <a:lumOff val="40000"/>
              </a:schemeClr>
            </a:solidFill>
          </p:grpSpPr>
          <p:sp>
            <p:nvSpPr>
              <p:cNvPr id="20"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21"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88" name="21 Grupo"/>
            <p:cNvGrpSpPr/>
            <p:nvPr/>
          </p:nvGrpSpPr>
          <p:grpSpPr>
            <a:xfrm>
              <a:off x="5384079" y="3236417"/>
              <a:ext cx="444500" cy="200025"/>
              <a:chOff x="6010276" y="3176588"/>
              <a:chExt cx="444500" cy="200025"/>
            </a:xfrm>
            <a:solidFill>
              <a:schemeClr val="accent6">
                <a:lumMod val="60000"/>
                <a:lumOff val="40000"/>
              </a:schemeClr>
            </a:solidFill>
          </p:grpSpPr>
          <p:sp>
            <p:nvSpPr>
              <p:cNvPr id="23"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24"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89" name="24 Grupo"/>
            <p:cNvGrpSpPr/>
            <p:nvPr/>
          </p:nvGrpSpPr>
          <p:grpSpPr>
            <a:xfrm>
              <a:off x="5384079" y="3571379"/>
              <a:ext cx="444500" cy="201613"/>
              <a:chOff x="6010276" y="3511550"/>
              <a:chExt cx="444500" cy="201613"/>
            </a:xfrm>
            <a:solidFill>
              <a:schemeClr val="accent6">
                <a:lumMod val="60000"/>
                <a:lumOff val="40000"/>
              </a:schemeClr>
            </a:solidFill>
          </p:grpSpPr>
          <p:sp>
            <p:nvSpPr>
              <p:cNvPr id="26"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27"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0" name="27 Grupo"/>
            <p:cNvGrpSpPr/>
            <p:nvPr/>
          </p:nvGrpSpPr>
          <p:grpSpPr>
            <a:xfrm>
              <a:off x="5995267" y="2564904"/>
              <a:ext cx="442913" cy="200025"/>
              <a:chOff x="6621464" y="2505075"/>
              <a:chExt cx="442913" cy="200025"/>
            </a:xfrm>
            <a:solidFill>
              <a:schemeClr val="accent6">
                <a:lumMod val="60000"/>
                <a:lumOff val="40000"/>
              </a:schemeClr>
            </a:solidFill>
          </p:grpSpPr>
          <p:sp>
            <p:nvSpPr>
              <p:cNvPr id="29"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30"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1" name="30 Grupo"/>
            <p:cNvGrpSpPr/>
            <p:nvPr/>
          </p:nvGrpSpPr>
          <p:grpSpPr>
            <a:xfrm>
              <a:off x="5995267" y="2899867"/>
              <a:ext cx="442913" cy="201613"/>
              <a:chOff x="6621464" y="2840038"/>
              <a:chExt cx="442913" cy="201613"/>
            </a:xfrm>
            <a:solidFill>
              <a:schemeClr val="accent6">
                <a:lumMod val="60000"/>
                <a:lumOff val="40000"/>
              </a:schemeClr>
            </a:solidFill>
          </p:grpSpPr>
          <p:sp>
            <p:nvSpPr>
              <p:cNvPr id="32"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33"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2" name="33 Grupo"/>
            <p:cNvGrpSpPr/>
            <p:nvPr/>
          </p:nvGrpSpPr>
          <p:grpSpPr>
            <a:xfrm>
              <a:off x="5995267" y="3236417"/>
              <a:ext cx="442913" cy="200025"/>
              <a:chOff x="6621464" y="3176588"/>
              <a:chExt cx="442913" cy="200025"/>
            </a:xfrm>
            <a:solidFill>
              <a:schemeClr val="accent6">
                <a:lumMod val="60000"/>
                <a:lumOff val="40000"/>
              </a:schemeClr>
            </a:solidFill>
          </p:grpSpPr>
          <p:sp>
            <p:nvSpPr>
              <p:cNvPr id="35"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36"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3" name="36 Grupo"/>
            <p:cNvGrpSpPr/>
            <p:nvPr/>
          </p:nvGrpSpPr>
          <p:grpSpPr>
            <a:xfrm>
              <a:off x="5995267" y="3571379"/>
              <a:ext cx="442913" cy="201613"/>
              <a:chOff x="6621464" y="3511550"/>
              <a:chExt cx="442913" cy="201613"/>
            </a:xfrm>
            <a:solidFill>
              <a:schemeClr val="accent6">
                <a:lumMod val="60000"/>
                <a:lumOff val="40000"/>
              </a:schemeClr>
            </a:solidFill>
          </p:grpSpPr>
          <p:sp>
            <p:nvSpPr>
              <p:cNvPr id="38"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39"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4" name="39 Grupo"/>
            <p:cNvGrpSpPr/>
            <p:nvPr/>
          </p:nvGrpSpPr>
          <p:grpSpPr>
            <a:xfrm>
              <a:off x="6604867" y="2564904"/>
              <a:ext cx="444500" cy="200025"/>
              <a:chOff x="7231064" y="2505075"/>
              <a:chExt cx="444500" cy="200025"/>
            </a:xfrm>
            <a:solidFill>
              <a:schemeClr val="accent6">
                <a:lumMod val="60000"/>
                <a:lumOff val="40000"/>
              </a:schemeClr>
            </a:solidFill>
          </p:grpSpPr>
          <p:sp>
            <p:nvSpPr>
              <p:cNvPr id="41"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2"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5" name="42 Grupo"/>
            <p:cNvGrpSpPr/>
            <p:nvPr/>
          </p:nvGrpSpPr>
          <p:grpSpPr>
            <a:xfrm>
              <a:off x="6604867" y="2899867"/>
              <a:ext cx="444500" cy="201613"/>
              <a:chOff x="7231064" y="2840038"/>
              <a:chExt cx="444500" cy="201613"/>
            </a:xfrm>
            <a:solidFill>
              <a:schemeClr val="accent6">
                <a:lumMod val="60000"/>
                <a:lumOff val="40000"/>
              </a:schemeClr>
            </a:solidFill>
          </p:grpSpPr>
          <p:sp>
            <p:nvSpPr>
              <p:cNvPr id="44"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5"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6" name="45 Grupo"/>
            <p:cNvGrpSpPr/>
            <p:nvPr/>
          </p:nvGrpSpPr>
          <p:grpSpPr>
            <a:xfrm>
              <a:off x="6604867" y="3236417"/>
              <a:ext cx="444500" cy="200025"/>
              <a:chOff x="7231064" y="3176588"/>
              <a:chExt cx="444500" cy="200025"/>
            </a:xfrm>
            <a:solidFill>
              <a:schemeClr val="accent6">
                <a:lumMod val="60000"/>
                <a:lumOff val="40000"/>
              </a:schemeClr>
            </a:solidFill>
          </p:grpSpPr>
          <p:sp>
            <p:nvSpPr>
              <p:cNvPr id="47"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48"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nvGrpSpPr>
            <p:cNvPr id="297" name="48 Grupo"/>
            <p:cNvGrpSpPr/>
            <p:nvPr/>
          </p:nvGrpSpPr>
          <p:grpSpPr>
            <a:xfrm>
              <a:off x="6604867" y="3571379"/>
              <a:ext cx="444500" cy="201613"/>
              <a:chOff x="7231064" y="3511550"/>
              <a:chExt cx="444500" cy="201613"/>
            </a:xfrm>
            <a:solidFill>
              <a:schemeClr val="accent6">
                <a:lumMod val="60000"/>
                <a:lumOff val="40000"/>
              </a:schemeClr>
            </a:solidFill>
          </p:grpSpPr>
          <p:sp>
            <p:nvSpPr>
              <p:cNvPr id="50"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sp>
            <p:nvSpPr>
              <p:cNvPr id="51"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solidFill>
                    <a:prstClr val="black"/>
                  </a:solidFill>
                </a:endParaRPr>
              </a:p>
            </p:txBody>
          </p:sp>
        </p:grpSp>
      </p:grpSp>
      <p:grpSp>
        <p:nvGrpSpPr>
          <p:cNvPr id="298" name="200 Grupo"/>
          <p:cNvGrpSpPr/>
          <p:nvPr/>
        </p:nvGrpSpPr>
        <p:grpSpPr>
          <a:xfrm>
            <a:off x="4743797" y="3707627"/>
            <a:ext cx="2276475" cy="134938"/>
            <a:chOff x="5399089" y="3913188"/>
            <a:chExt cx="2276475" cy="134938"/>
          </a:xfrm>
        </p:grpSpPr>
        <p:sp>
          <p:nvSpPr>
            <p:cNvPr id="20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sp>
          <p:nvSpPr>
            <p:cNvPr id="20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solidFill>
                  <a:prstClr val="black"/>
                </a:solidFill>
              </a:endParaRPr>
            </a:p>
          </p:txBody>
        </p:sp>
      </p:grpSp>
      <p:grpSp>
        <p:nvGrpSpPr>
          <p:cNvPr id="299" name="Group 266"/>
          <p:cNvGrpSpPr>
            <a:grpSpLocks/>
          </p:cNvGrpSpPr>
          <p:nvPr/>
        </p:nvGrpSpPr>
        <p:grpSpPr bwMode="auto">
          <a:xfrm>
            <a:off x="4860032" y="3840977"/>
            <a:ext cx="2054225" cy="665163"/>
            <a:chOff x="2724" y="2704"/>
            <a:chExt cx="1678" cy="267"/>
          </a:xfrm>
        </p:grpSpPr>
        <p:sp>
          <p:nvSpPr>
            <p:cNvPr id="211" name="Line 267"/>
            <p:cNvSpPr>
              <a:spLocks noChangeShapeType="1"/>
            </p:cNvSpPr>
            <p:nvPr/>
          </p:nvSpPr>
          <p:spPr bwMode="auto">
            <a:xfrm flipH="1">
              <a:off x="272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2" name="Line 268"/>
            <p:cNvSpPr>
              <a:spLocks noChangeShapeType="1"/>
            </p:cNvSpPr>
            <p:nvPr/>
          </p:nvSpPr>
          <p:spPr bwMode="auto">
            <a:xfrm flipH="1">
              <a:off x="2905"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3" name="Line 269"/>
            <p:cNvSpPr>
              <a:spLocks noChangeShapeType="1"/>
            </p:cNvSpPr>
            <p:nvPr/>
          </p:nvSpPr>
          <p:spPr bwMode="auto">
            <a:xfrm flipH="1">
              <a:off x="322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4" name="Line 270"/>
            <p:cNvSpPr>
              <a:spLocks noChangeShapeType="1"/>
            </p:cNvSpPr>
            <p:nvPr/>
          </p:nvSpPr>
          <p:spPr bwMode="auto">
            <a:xfrm flipH="1">
              <a:off x="340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5" name="Line 271"/>
            <p:cNvSpPr>
              <a:spLocks noChangeShapeType="1"/>
            </p:cNvSpPr>
            <p:nvPr/>
          </p:nvSpPr>
          <p:spPr bwMode="auto">
            <a:xfrm flipH="1">
              <a:off x="372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6" name="Line 272"/>
            <p:cNvSpPr>
              <a:spLocks noChangeShapeType="1"/>
            </p:cNvSpPr>
            <p:nvPr/>
          </p:nvSpPr>
          <p:spPr bwMode="auto">
            <a:xfrm flipH="1">
              <a:off x="390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7" name="Line 273"/>
            <p:cNvSpPr>
              <a:spLocks noChangeShapeType="1"/>
            </p:cNvSpPr>
            <p:nvPr/>
          </p:nvSpPr>
          <p:spPr bwMode="auto">
            <a:xfrm flipH="1">
              <a:off x="4221"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sp>
          <p:nvSpPr>
            <p:cNvPr id="218" name="Line 274"/>
            <p:cNvSpPr>
              <a:spLocks noChangeShapeType="1"/>
            </p:cNvSpPr>
            <p:nvPr/>
          </p:nvSpPr>
          <p:spPr bwMode="auto">
            <a:xfrm flipH="1">
              <a:off x="440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solidFill>
                  <a:prstClr val="black"/>
                </a:solidFill>
              </a:endParaRPr>
            </a:p>
          </p:txBody>
        </p:sp>
      </p:grpSp>
      <p:cxnSp>
        <p:nvCxnSpPr>
          <p:cNvPr id="219" name="218 Conector recto de flecha"/>
          <p:cNvCxnSpPr/>
          <p:nvPr/>
        </p:nvCxnSpPr>
        <p:spPr bwMode="auto">
          <a:xfrm>
            <a:off x="2857488" y="3151431"/>
            <a:ext cx="864096" cy="1588"/>
          </a:xfrm>
          <a:prstGeom prst="straightConnector1">
            <a:avLst/>
          </a:prstGeom>
          <a:noFill/>
          <a:ln w="82550" cap="flat" cmpd="sng" algn="ctr">
            <a:solidFill>
              <a:srgbClr val="FF0000"/>
            </a:solidFill>
            <a:prstDash val="solid"/>
            <a:round/>
            <a:headEnd type="none" w="med" len="med"/>
            <a:tailEnd type="arrow"/>
          </a:ln>
          <a:effectLst/>
        </p:spPr>
      </p:cxnSp>
      <p:grpSp>
        <p:nvGrpSpPr>
          <p:cNvPr id="300" name="221 Grupo"/>
          <p:cNvGrpSpPr/>
          <p:nvPr/>
        </p:nvGrpSpPr>
        <p:grpSpPr>
          <a:xfrm>
            <a:off x="3635896" y="847175"/>
            <a:ext cx="595313" cy="1944032"/>
            <a:chOff x="3635896" y="1052736"/>
            <a:chExt cx="595313" cy="1944032"/>
          </a:xfrm>
        </p:grpSpPr>
        <p:sp>
          <p:nvSpPr>
            <p:cNvPr id="220" name="Text Box 145"/>
            <p:cNvSpPr txBox="1">
              <a:spLocks noChangeArrowheads="1"/>
            </p:cNvSpPr>
            <p:nvPr/>
          </p:nvSpPr>
          <p:spPr bwMode="auto">
            <a:xfrm>
              <a:off x="3635896" y="1052736"/>
              <a:ext cx="595313" cy="276999"/>
            </a:xfrm>
            <a:prstGeom prst="rect">
              <a:avLst/>
            </a:prstGeom>
            <a:noFill/>
            <a:ln w="12700">
              <a:noFill/>
              <a:miter lim="800000"/>
              <a:headEnd/>
              <a:tailEnd/>
            </a:ln>
          </p:spPr>
          <p:txBody>
            <a:bodyPr lIns="0" tIns="0" rIns="0" bIns="0">
              <a:spAutoFit/>
            </a:bodyPr>
            <a:lstStyle/>
            <a:p>
              <a:r>
                <a:rPr lang="es-ES" sz="1800" dirty="0">
                  <a:solidFill>
                    <a:prstClr val="black"/>
                  </a:solidFill>
                </a:rPr>
                <a:t>RAS*</a:t>
              </a:r>
            </a:p>
          </p:txBody>
        </p:sp>
        <p:sp>
          <p:nvSpPr>
            <p:cNvPr id="221" name="Line 155"/>
            <p:cNvSpPr>
              <a:spLocks noChangeShapeType="1"/>
            </p:cNvSpPr>
            <p:nvPr/>
          </p:nvSpPr>
          <p:spPr bwMode="auto">
            <a:xfrm>
              <a:off x="3923928" y="1340768"/>
              <a:ext cx="0" cy="1656000"/>
            </a:xfrm>
            <a:prstGeom prst="line">
              <a:avLst/>
            </a:prstGeom>
            <a:noFill/>
            <a:ln w="15875">
              <a:solidFill>
                <a:srgbClr val="FFCC00"/>
              </a:solidFill>
              <a:round/>
              <a:headEnd/>
              <a:tailEnd type="triangle" w="med" len="med"/>
            </a:ln>
          </p:spPr>
          <p:txBody>
            <a:bodyPr anchor="ctr">
              <a:spAutoFit/>
            </a:bodyPr>
            <a:lstStyle/>
            <a:p>
              <a:endParaRPr lang="es-ES">
                <a:solidFill>
                  <a:prstClr val="black"/>
                </a:solidFill>
              </a:endParaRPr>
            </a:p>
          </p:txBody>
        </p:sp>
      </p:grpSp>
      <p:cxnSp>
        <p:nvCxnSpPr>
          <p:cNvPr id="314" name="313 Forma"/>
          <p:cNvCxnSpPr/>
          <p:nvPr/>
        </p:nvCxnSpPr>
        <p:spPr bwMode="auto">
          <a:xfrm>
            <a:off x="3923928" y="1594789"/>
            <a:ext cx="720101" cy="304972"/>
          </a:xfrm>
          <a:prstGeom prst="bentConnector2">
            <a:avLst/>
          </a:prstGeom>
          <a:ln w="15875">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301" name="222 Grupo"/>
          <p:cNvGrpSpPr/>
          <p:nvPr/>
        </p:nvGrpSpPr>
        <p:grpSpPr>
          <a:xfrm>
            <a:off x="7740352" y="3943519"/>
            <a:ext cx="760655" cy="1178936"/>
            <a:chOff x="7740352" y="4149080"/>
            <a:chExt cx="760655" cy="1178936"/>
          </a:xfrm>
        </p:grpSpPr>
        <p:sp>
          <p:nvSpPr>
            <p:cNvPr id="500" name="Freeform 288"/>
            <p:cNvSpPr>
              <a:spLocks/>
            </p:cNvSpPr>
            <p:nvPr/>
          </p:nvSpPr>
          <p:spPr bwMode="auto">
            <a:xfrm>
              <a:off x="7740352" y="4471988"/>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a:tailEnd type="triangle" w="med" len="med"/>
            </a:ln>
          </p:spPr>
          <p:txBody>
            <a:bodyPr anchor="ctr">
              <a:spAutoFit/>
            </a:bodyPr>
            <a:lstStyle/>
            <a:p>
              <a:endParaRPr lang="es-ES">
                <a:solidFill>
                  <a:prstClr val="black"/>
                </a:solidFill>
              </a:endParaRPr>
            </a:p>
          </p:txBody>
        </p:sp>
        <p:sp>
          <p:nvSpPr>
            <p:cNvPr id="501" name="Freeform 291"/>
            <p:cNvSpPr>
              <a:spLocks/>
            </p:cNvSpPr>
            <p:nvPr/>
          </p:nvSpPr>
          <p:spPr bwMode="auto">
            <a:xfrm flipV="1">
              <a:off x="7740352" y="4978400"/>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type="triangle" w="med" len="med"/>
              <a:tailEnd/>
            </a:ln>
          </p:spPr>
          <p:txBody>
            <a:bodyPr anchor="ctr">
              <a:spAutoFit/>
            </a:bodyPr>
            <a:lstStyle/>
            <a:p>
              <a:endParaRPr lang="es-ES">
                <a:solidFill>
                  <a:prstClr val="black"/>
                </a:solidFill>
              </a:endParaRPr>
            </a:p>
          </p:txBody>
        </p:sp>
        <p:cxnSp>
          <p:nvCxnSpPr>
            <p:cNvPr id="502" name="501 Conector recto"/>
            <p:cNvCxnSpPr/>
            <p:nvPr/>
          </p:nvCxnSpPr>
          <p:spPr bwMode="auto">
            <a:xfrm flipH="1">
              <a:off x="8285756" y="5184000"/>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3" name="502 CuadroTexto"/>
            <p:cNvSpPr txBox="1"/>
            <p:nvPr/>
          </p:nvSpPr>
          <p:spPr>
            <a:xfrm>
              <a:off x="8168864" y="4941168"/>
              <a:ext cx="332143" cy="338554"/>
            </a:xfrm>
            <a:prstGeom prst="rect">
              <a:avLst/>
            </a:prstGeom>
            <a:noFill/>
          </p:spPr>
          <p:txBody>
            <a:bodyPr wrap="none" rtlCol="0">
              <a:spAutoFit/>
            </a:bodyPr>
            <a:lstStyle/>
            <a:p>
              <a:r>
                <a:rPr lang="es-ES" sz="1600" i="1" dirty="0">
                  <a:solidFill>
                    <a:prstClr val="black"/>
                  </a:solidFill>
                </a:rPr>
                <a:t>w</a:t>
              </a:r>
            </a:p>
          </p:txBody>
        </p:sp>
        <p:cxnSp>
          <p:nvCxnSpPr>
            <p:cNvPr id="504" name="503 Conector recto"/>
            <p:cNvCxnSpPr/>
            <p:nvPr/>
          </p:nvCxnSpPr>
          <p:spPr bwMode="auto">
            <a:xfrm flipH="1">
              <a:off x="8214521" y="4391912"/>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5" name="504 CuadroTexto"/>
            <p:cNvSpPr txBox="1"/>
            <p:nvPr/>
          </p:nvSpPr>
          <p:spPr>
            <a:xfrm>
              <a:off x="8097629" y="4149080"/>
              <a:ext cx="332143" cy="338554"/>
            </a:xfrm>
            <a:prstGeom prst="rect">
              <a:avLst/>
            </a:prstGeom>
            <a:noFill/>
          </p:spPr>
          <p:txBody>
            <a:bodyPr wrap="none" rtlCol="0">
              <a:spAutoFit/>
            </a:bodyPr>
            <a:lstStyle/>
            <a:p>
              <a:r>
                <a:rPr lang="es-ES" sz="1600" i="1" dirty="0">
                  <a:solidFill>
                    <a:prstClr val="black"/>
                  </a:solidFill>
                </a:rPr>
                <a:t>w</a:t>
              </a:r>
            </a:p>
          </p:txBody>
        </p:sp>
      </p:grpSp>
      <p:grpSp>
        <p:nvGrpSpPr>
          <p:cNvPr id="302" name="506 Grupo"/>
          <p:cNvGrpSpPr/>
          <p:nvPr/>
        </p:nvGrpSpPr>
        <p:grpSpPr>
          <a:xfrm>
            <a:off x="3995936" y="5214974"/>
            <a:ext cx="3096344" cy="766546"/>
            <a:chOff x="4514851" y="5321300"/>
            <a:chExt cx="3527425" cy="936625"/>
          </a:xfrm>
        </p:grpSpPr>
        <p:sp>
          <p:nvSpPr>
            <p:cNvPr id="508" name="Line 296"/>
            <p:cNvSpPr>
              <a:spLocks noChangeShapeType="1"/>
            </p:cNvSpPr>
            <p:nvPr/>
          </p:nvSpPr>
          <p:spPr bwMode="auto">
            <a:xfrm flipV="1">
              <a:off x="5665789" y="5321300"/>
              <a:ext cx="0" cy="503238"/>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solidFill>
                  <a:prstClr val="black"/>
                </a:solidFill>
              </a:endParaRPr>
            </a:p>
          </p:txBody>
        </p:sp>
        <p:sp>
          <p:nvSpPr>
            <p:cNvPr id="509" name="Line 297"/>
            <p:cNvSpPr>
              <a:spLocks noChangeShapeType="1"/>
            </p:cNvSpPr>
            <p:nvPr/>
          </p:nvSpPr>
          <p:spPr bwMode="auto">
            <a:xfrm flipV="1">
              <a:off x="6457951" y="5321300"/>
              <a:ext cx="0" cy="647700"/>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solidFill>
                  <a:prstClr val="black"/>
                </a:solidFill>
              </a:endParaRPr>
            </a:p>
          </p:txBody>
        </p:sp>
        <p:sp>
          <p:nvSpPr>
            <p:cNvPr id="510" name="Line 298"/>
            <p:cNvSpPr>
              <a:spLocks noChangeShapeType="1"/>
            </p:cNvSpPr>
            <p:nvPr/>
          </p:nvSpPr>
          <p:spPr bwMode="auto">
            <a:xfrm flipV="1">
              <a:off x="7250114" y="5321300"/>
              <a:ext cx="0" cy="792163"/>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solidFill>
                  <a:prstClr val="black"/>
                </a:solidFill>
              </a:endParaRPr>
            </a:p>
          </p:txBody>
        </p:sp>
        <p:sp>
          <p:nvSpPr>
            <p:cNvPr id="511" name="Line 299"/>
            <p:cNvSpPr>
              <a:spLocks noChangeShapeType="1"/>
            </p:cNvSpPr>
            <p:nvPr/>
          </p:nvSpPr>
          <p:spPr bwMode="auto">
            <a:xfrm flipV="1">
              <a:off x="8042276" y="5321300"/>
              <a:ext cx="0" cy="936625"/>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solidFill>
                  <a:prstClr val="black"/>
                </a:solidFill>
              </a:endParaRPr>
            </a:p>
          </p:txBody>
        </p:sp>
        <p:sp>
          <p:nvSpPr>
            <p:cNvPr id="512" name="Line 301"/>
            <p:cNvSpPr>
              <a:spLocks noChangeShapeType="1"/>
            </p:cNvSpPr>
            <p:nvPr/>
          </p:nvSpPr>
          <p:spPr bwMode="auto">
            <a:xfrm>
              <a:off x="4514851" y="5824538"/>
              <a:ext cx="1150938"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sp>
          <p:nvSpPr>
            <p:cNvPr id="513" name="Line 302"/>
            <p:cNvSpPr>
              <a:spLocks noChangeShapeType="1"/>
            </p:cNvSpPr>
            <p:nvPr/>
          </p:nvSpPr>
          <p:spPr bwMode="auto">
            <a:xfrm>
              <a:off x="4514851" y="5969000"/>
              <a:ext cx="1943100"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sp>
          <p:nvSpPr>
            <p:cNvPr id="514" name="Line 303"/>
            <p:cNvSpPr>
              <a:spLocks noChangeShapeType="1"/>
            </p:cNvSpPr>
            <p:nvPr/>
          </p:nvSpPr>
          <p:spPr bwMode="auto">
            <a:xfrm>
              <a:off x="4514851" y="6113463"/>
              <a:ext cx="2735263"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sp>
          <p:nvSpPr>
            <p:cNvPr id="515" name="Line 304"/>
            <p:cNvSpPr>
              <a:spLocks noChangeShapeType="1"/>
            </p:cNvSpPr>
            <p:nvPr/>
          </p:nvSpPr>
          <p:spPr bwMode="auto">
            <a:xfrm>
              <a:off x="4514851" y="6256338"/>
              <a:ext cx="3527425" cy="0"/>
            </a:xfrm>
            <a:prstGeom prst="line">
              <a:avLst/>
            </a:prstGeom>
            <a:noFill/>
            <a:ln w="38100">
              <a:solidFill>
                <a:schemeClr val="tx2">
                  <a:lumMod val="60000"/>
                  <a:lumOff val="40000"/>
                </a:schemeClr>
              </a:solidFill>
              <a:round/>
              <a:headEnd/>
              <a:tailEnd/>
            </a:ln>
          </p:spPr>
          <p:txBody>
            <a:bodyPr anchor="ctr">
              <a:spAutoFit/>
            </a:bodyPr>
            <a:lstStyle/>
            <a:p>
              <a:endParaRPr lang="es-ES">
                <a:solidFill>
                  <a:prstClr val="black"/>
                </a:solidFill>
              </a:endParaRPr>
            </a:p>
          </p:txBody>
        </p:sp>
      </p:grpSp>
      <p:sp>
        <p:nvSpPr>
          <p:cNvPr id="516" name="Rectangle 300"/>
          <p:cNvSpPr>
            <a:spLocks noChangeArrowheads="1"/>
          </p:cNvSpPr>
          <p:nvPr/>
        </p:nvSpPr>
        <p:spPr bwMode="auto">
          <a:xfrm>
            <a:off x="3667254" y="5329975"/>
            <a:ext cx="400690" cy="846386"/>
          </a:xfrm>
          <a:prstGeom prst="rect">
            <a:avLst/>
          </a:prstGeom>
          <a:solidFill>
            <a:schemeClr val="accent2">
              <a:lumMod val="50000"/>
            </a:schemeClr>
          </a:solidFill>
          <a:ln w="12700">
            <a:solidFill>
              <a:schemeClr val="bg2"/>
            </a:solidFill>
            <a:miter lim="800000"/>
            <a:headEnd/>
            <a:tailEnd/>
          </a:ln>
        </p:spPr>
        <p:txBody>
          <a:bodyPr vert="vert270" wrap="square" lIns="0" tIns="0" rIns="0" bIns="0" anchor="ctr">
            <a:noAutofit/>
          </a:bodyPr>
          <a:lstStyle/>
          <a:p>
            <a:r>
              <a:rPr lang="es-ES" sz="1200" dirty="0">
                <a:solidFill>
                  <a:prstClr val="white"/>
                </a:solidFill>
              </a:rPr>
              <a:t>Registro de </a:t>
            </a:r>
            <a:r>
              <a:rPr lang="es-ES" sz="1200" b="1" dirty="0">
                <a:solidFill>
                  <a:prstClr val="white"/>
                </a:solidFill>
              </a:rPr>
              <a:t>columna</a:t>
            </a:r>
          </a:p>
        </p:txBody>
      </p:sp>
      <p:cxnSp>
        <p:nvCxnSpPr>
          <p:cNvPr id="517" name="516 Conector recto de flecha"/>
          <p:cNvCxnSpPr/>
          <p:nvPr/>
        </p:nvCxnSpPr>
        <p:spPr bwMode="auto">
          <a:xfrm>
            <a:off x="2786050" y="5742725"/>
            <a:ext cx="864096" cy="1588"/>
          </a:xfrm>
          <a:prstGeom prst="straightConnector1">
            <a:avLst/>
          </a:prstGeom>
          <a:noFill/>
          <a:ln w="82550" cap="flat" cmpd="sng" algn="ctr">
            <a:solidFill>
              <a:srgbClr val="FF0000"/>
            </a:solidFill>
            <a:prstDash val="solid"/>
            <a:round/>
            <a:headEnd type="none" w="med" len="med"/>
            <a:tailEnd type="arrow"/>
          </a:ln>
          <a:effectLst/>
        </p:spPr>
      </p:cxnSp>
      <p:cxnSp>
        <p:nvCxnSpPr>
          <p:cNvPr id="519" name="518 Conector recto de flecha"/>
          <p:cNvCxnSpPr/>
          <p:nvPr/>
        </p:nvCxnSpPr>
        <p:spPr bwMode="auto">
          <a:xfrm>
            <a:off x="3707904" y="4807615"/>
            <a:ext cx="864096" cy="1588"/>
          </a:xfrm>
          <a:prstGeom prst="straightConnector1">
            <a:avLst/>
          </a:prstGeom>
          <a:noFill/>
          <a:ln w="82550" cap="flat" cmpd="sng" algn="ctr">
            <a:solidFill>
              <a:srgbClr val="FF0000"/>
            </a:solidFill>
            <a:prstDash val="solid"/>
            <a:round/>
            <a:headEnd type="none" w="med" len="med"/>
            <a:tailEnd type="arrow"/>
          </a:ln>
          <a:effectLst/>
        </p:spPr>
      </p:cxnSp>
      <p:grpSp>
        <p:nvGrpSpPr>
          <p:cNvPr id="303" name="230 Grupo"/>
          <p:cNvGrpSpPr/>
          <p:nvPr/>
        </p:nvGrpSpPr>
        <p:grpSpPr>
          <a:xfrm>
            <a:off x="3428992" y="986836"/>
            <a:ext cx="4523708" cy="3330198"/>
            <a:chOff x="3428992" y="986836"/>
            <a:chExt cx="4523708" cy="3330198"/>
          </a:xfrm>
        </p:grpSpPr>
        <p:sp>
          <p:nvSpPr>
            <p:cNvPr id="224" name="223 CuadroTexto"/>
            <p:cNvSpPr txBox="1"/>
            <p:nvPr/>
          </p:nvSpPr>
          <p:spPr>
            <a:xfrm>
              <a:off x="3428992" y="4009257"/>
              <a:ext cx="880370" cy="307777"/>
            </a:xfrm>
            <a:prstGeom prst="rect">
              <a:avLst/>
            </a:prstGeom>
            <a:noFill/>
          </p:spPr>
          <p:txBody>
            <a:bodyPr wrap="none" rtlCol="0">
              <a:spAutoFit/>
            </a:bodyPr>
            <a:lstStyle/>
            <a:p>
              <a:r>
                <a:rPr lang="es-ES" sz="1400" b="1" dirty="0">
                  <a:solidFill>
                    <a:srgbClr val="475A8D">
                      <a:lumMod val="60000"/>
                      <a:lumOff val="40000"/>
                    </a:srgbClr>
                  </a:solidFill>
                </a:rPr>
                <a:t>Banco 0</a:t>
              </a:r>
            </a:p>
          </p:txBody>
        </p:sp>
        <p:sp>
          <p:nvSpPr>
            <p:cNvPr id="225" name="224 CuadroTexto"/>
            <p:cNvSpPr txBox="1"/>
            <p:nvPr/>
          </p:nvSpPr>
          <p:spPr>
            <a:xfrm>
              <a:off x="7072330" y="986836"/>
              <a:ext cx="880370" cy="307777"/>
            </a:xfrm>
            <a:prstGeom prst="rect">
              <a:avLst/>
            </a:prstGeom>
            <a:noFill/>
          </p:spPr>
          <p:txBody>
            <a:bodyPr wrap="none" rtlCol="0">
              <a:spAutoFit/>
            </a:bodyPr>
            <a:lstStyle/>
            <a:p>
              <a:r>
                <a:rPr lang="es-ES" sz="1400" b="1" dirty="0">
                  <a:solidFill>
                    <a:srgbClr val="4F271C">
                      <a:lumMod val="60000"/>
                      <a:lumOff val="40000"/>
                    </a:srgbClr>
                  </a:solidFill>
                </a:rPr>
                <a:t>Banco 1</a:t>
              </a:r>
            </a:p>
          </p:txBody>
        </p:sp>
      </p:grpSp>
      <p:sp>
        <p:nvSpPr>
          <p:cNvPr id="226" name="225 CuadroTexto"/>
          <p:cNvSpPr txBox="1"/>
          <p:nvPr/>
        </p:nvSpPr>
        <p:spPr>
          <a:xfrm>
            <a:off x="7665710" y="3580629"/>
            <a:ext cx="1478290" cy="307777"/>
          </a:xfrm>
          <a:prstGeom prst="rect">
            <a:avLst/>
          </a:prstGeom>
          <a:noFill/>
        </p:spPr>
        <p:txBody>
          <a:bodyPr wrap="none" rtlCol="0">
            <a:spAutoFit/>
          </a:bodyPr>
          <a:lstStyle/>
          <a:p>
            <a:r>
              <a:rPr lang="es-ES" sz="1400" b="1" dirty="0">
                <a:solidFill>
                  <a:srgbClr val="00B050"/>
                </a:solidFill>
              </a:rPr>
              <a:t>Amplificadores</a:t>
            </a:r>
          </a:p>
        </p:txBody>
      </p:sp>
      <p:grpSp>
        <p:nvGrpSpPr>
          <p:cNvPr id="304" name="229 Grupo"/>
          <p:cNvGrpSpPr/>
          <p:nvPr/>
        </p:nvGrpSpPr>
        <p:grpSpPr>
          <a:xfrm>
            <a:off x="3571868" y="6176361"/>
            <a:ext cx="595313" cy="610225"/>
            <a:chOff x="3571868" y="6176361"/>
            <a:chExt cx="595313" cy="610225"/>
          </a:xfrm>
        </p:grpSpPr>
        <p:sp>
          <p:nvSpPr>
            <p:cNvPr id="227" name="Text Box 145"/>
            <p:cNvSpPr txBox="1">
              <a:spLocks noChangeArrowheads="1"/>
            </p:cNvSpPr>
            <p:nvPr/>
          </p:nvSpPr>
          <p:spPr bwMode="auto">
            <a:xfrm>
              <a:off x="3571868" y="6509587"/>
              <a:ext cx="595313" cy="276999"/>
            </a:xfrm>
            <a:prstGeom prst="rect">
              <a:avLst/>
            </a:prstGeom>
            <a:noFill/>
            <a:ln w="12700">
              <a:noFill/>
              <a:miter lim="800000"/>
              <a:headEnd/>
              <a:tailEnd/>
            </a:ln>
          </p:spPr>
          <p:txBody>
            <a:bodyPr lIns="0" tIns="0" rIns="0" bIns="0">
              <a:spAutoFit/>
            </a:bodyPr>
            <a:lstStyle/>
            <a:p>
              <a:r>
                <a:rPr lang="es-ES" sz="1800" dirty="0">
                  <a:solidFill>
                    <a:prstClr val="black"/>
                  </a:solidFill>
                </a:rPr>
                <a:t>CAS*</a:t>
              </a:r>
            </a:p>
          </p:txBody>
        </p:sp>
        <p:cxnSp>
          <p:nvCxnSpPr>
            <p:cNvPr id="229" name="228 Conector recto de flecha"/>
            <p:cNvCxnSpPr>
              <a:stCxn id="227" idx="0"/>
              <a:endCxn id="516" idx="2"/>
            </p:cNvCxnSpPr>
            <p:nvPr/>
          </p:nvCxnSpPr>
          <p:spPr bwMode="auto">
            <a:xfrm rot="16200000" flipV="1">
              <a:off x="3701949" y="6342011"/>
              <a:ext cx="333226" cy="1926"/>
            </a:xfrm>
            <a:prstGeom prst="straightConnector1">
              <a:avLst/>
            </a:prstGeom>
            <a:ln w="22225">
              <a:solidFill>
                <a:schemeClr val="accent2">
                  <a:lumMod val="60000"/>
                  <a:lumOff val="4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sp>
        <p:nvSpPr>
          <p:cNvPr id="232" name="231 CuadroTexto"/>
          <p:cNvSpPr txBox="1"/>
          <p:nvPr/>
        </p:nvSpPr>
        <p:spPr>
          <a:xfrm>
            <a:off x="2214546" y="2714620"/>
            <a:ext cx="582211" cy="369332"/>
          </a:xfrm>
          <a:prstGeom prst="rect">
            <a:avLst/>
          </a:prstGeom>
          <a:noFill/>
        </p:spPr>
        <p:txBody>
          <a:bodyPr wrap="none" rtlCol="0">
            <a:spAutoFit/>
          </a:bodyPr>
          <a:lstStyle/>
          <a:p>
            <a:r>
              <a:rPr lang="es-ES" sz="1800" b="1" dirty="0">
                <a:solidFill>
                  <a:prstClr val="black">
                    <a:lumMod val="65000"/>
                    <a:lumOff val="35000"/>
                  </a:prstClr>
                </a:solidFill>
              </a:rPr>
              <a:t>Fila</a:t>
            </a:r>
          </a:p>
        </p:txBody>
      </p:sp>
      <p:sp>
        <p:nvSpPr>
          <p:cNvPr id="233" name="232 CuadroTexto"/>
          <p:cNvSpPr txBox="1"/>
          <p:nvPr/>
        </p:nvSpPr>
        <p:spPr>
          <a:xfrm>
            <a:off x="2681882" y="4429132"/>
            <a:ext cx="889987" cy="369332"/>
          </a:xfrm>
          <a:prstGeom prst="rect">
            <a:avLst/>
          </a:prstGeom>
          <a:noFill/>
        </p:spPr>
        <p:txBody>
          <a:bodyPr wrap="none" rtlCol="0">
            <a:spAutoFit/>
          </a:bodyPr>
          <a:lstStyle/>
          <a:p>
            <a:r>
              <a:rPr lang="es-ES" sz="1800" b="1" dirty="0">
                <a:solidFill>
                  <a:prstClr val="black">
                    <a:lumMod val="65000"/>
                    <a:lumOff val="35000"/>
                  </a:prstClr>
                </a:solidFill>
              </a:rPr>
              <a:t>Banco</a:t>
            </a:r>
          </a:p>
        </p:txBody>
      </p:sp>
      <p:sp>
        <p:nvSpPr>
          <p:cNvPr id="234" name="233 CuadroTexto"/>
          <p:cNvSpPr txBox="1"/>
          <p:nvPr/>
        </p:nvSpPr>
        <p:spPr>
          <a:xfrm>
            <a:off x="2045982" y="5863290"/>
            <a:ext cx="1172116" cy="369332"/>
          </a:xfrm>
          <a:prstGeom prst="rect">
            <a:avLst/>
          </a:prstGeom>
          <a:noFill/>
        </p:spPr>
        <p:txBody>
          <a:bodyPr wrap="none" rtlCol="0">
            <a:spAutoFit/>
          </a:bodyPr>
          <a:lstStyle/>
          <a:p>
            <a:r>
              <a:rPr lang="es-ES" sz="1800" b="1" dirty="0">
                <a:solidFill>
                  <a:prstClr val="black">
                    <a:lumMod val="65000"/>
                    <a:lumOff val="35000"/>
                  </a:prstClr>
                </a:solidFill>
              </a:rPr>
              <a:t>Columna</a:t>
            </a:r>
          </a:p>
        </p:txBody>
      </p:sp>
      <p:sp>
        <p:nvSpPr>
          <p:cNvPr id="235" name="234 CuadroTexto"/>
          <p:cNvSpPr txBox="1"/>
          <p:nvPr/>
        </p:nvSpPr>
        <p:spPr>
          <a:xfrm>
            <a:off x="753957" y="1571612"/>
            <a:ext cx="2300566" cy="523220"/>
          </a:xfrm>
          <a:prstGeom prst="rect">
            <a:avLst/>
          </a:prstGeom>
          <a:noFill/>
        </p:spPr>
        <p:txBody>
          <a:bodyPr wrap="none" rtlCol="0">
            <a:spAutoFit/>
          </a:bodyPr>
          <a:lstStyle/>
          <a:p>
            <a:r>
              <a:rPr lang="es-ES" sz="2800" dirty="0">
                <a:solidFill>
                  <a:prstClr val="black">
                    <a:lumMod val="75000"/>
                    <a:lumOff val="25000"/>
                  </a:prstClr>
                </a:solidFill>
              </a:rPr>
              <a:t>P = B x F x C</a:t>
            </a:r>
          </a:p>
        </p:txBody>
      </p:sp>
      <p:sp>
        <p:nvSpPr>
          <p:cNvPr id="236" name="235 CuadroTexto"/>
          <p:cNvSpPr txBox="1"/>
          <p:nvPr/>
        </p:nvSpPr>
        <p:spPr>
          <a:xfrm>
            <a:off x="214473" y="1000108"/>
            <a:ext cx="3319370" cy="461665"/>
          </a:xfrm>
          <a:prstGeom prst="rect">
            <a:avLst/>
          </a:prstGeom>
          <a:noFill/>
        </p:spPr>
        <p:txBody>
          <a:bodyPr wrap="none" rtlCol="0">
            <a:spAutoFit/>
          </a:bodyPr>
          <a:lstStyle/>
          <a:p>
            <a:r>
              <a:rPr lang="es-ES" sz="2400" dirty="0">
                <a:solidFill>
                  <a:prstClr val="black">
                    <a:lumMod val="75000"/>
                    <a:lumOff val="25000"/>
                  </a:prstClr>
                </a:solidFill>
              </a:rPr>
              <a:t>Capacidad = P x w bits</a:t>
            </a:r>
          </a:p>
        </p:txBody>
      </p:sp>
      <p:grpSp>
        <p:nvGrpSpPr>
          <p:cNvPr id="305" name="252 Grupo"/>
          <p:cNvGrpSpPr/>
          <p:nvPr/>
        </p:nvGrpSpPr>
        <p:grpSpPr>
          <a:xfrm>
            <a:off x="4786314" y="752757"/>
            <a:ext cx="3904740" cy="2819119"/>
            <a:chOff x="4786314" y="752757"/>
            <a:chExt cx="3904740" cy="2819119"/>
          </a:xfrm>
        </p:grpSpPr>
        <p:sp>
          <p:nvSpPr>
            <p:cNvPr id="237" name="236 Cerrar llave"/>
            <p:cNvSpPr/>
            <p:nvPr/>
          </p:nvSpPr>
          <p:spPr bwMode="auto">
            <a:xfrm>
              <a:off x="7072330" y="2357430"/>
              <a:ext cx="214314" cy="1214446"/>
            </a:xfrm>
            <a:prstGeom prst="rightBrace">
              <a:avLst>
                <a:gd name="adj1" fmla="val 8333"/>
                <a:gd name="adj2" fmla="val 50000"/>
              </a:avLst>
            </a:prstGeom>
            <a:ln w="15875">
              <a:solidFill>
                <a:schemeClr val="accent6">
                  <a:lumMod val="60000"/>
                  <a:lumOff val="40000"/>
                </a:schemeClr>
              </a:solidFill>
            </a:ln>
          </p:spPr>
          <p:style>
            <a:lnRef idx="1">
              <a:schemeClr val="accent3"/>
            </a:lnRef>
            <a:fillRef idx="0">
              <a:schemeClr val="accent3"/>
            </a:fillRef>
            <a:effectRef idx="0">
              <a:schemeClr val="accent3"/>
            </a:effectRef>
            <a:fontRef idx="minor">
              <a:schemeClr val="tx1"/>
            </a:fontRef>
          </p:style>
          <p:txBody>
            <a:bodyPr rtlCol="0" anchor="ctr"/>
            <a:lstStyle/>
            <a:p>
              <a:endParaRPr lang="es-ES">
                <a:solidFill>
                  <a:prstClr val="black"/>
                </a:solidFill>
              </a:endParaRPr>
            </a:p>
          </p:txBody>
        </p:sp>
        <p:sp>
          <p:nvSpPr>
            <p:cNvPr id="238" name="237 Cerrar llave"/>
            <p:cNvSpPr/>
            <p:nvPr/>
          </p:nvSpPr>
          <p:spPr bwMode="auto">
            <a:xfrm rot="16200000">
              <a:off x="5857884" y="1142984"/>
              <a:ext cx="142876" cy="2286016"/>
            </a:xfrm>
            <a:prstGeom prst="rightBrace">
              <a:avLst>
                <a:gd name="adj1" fmla="val 8333"/>
                <a:gd name="adj2" fmla="val 50000"/>
              </a:avLst>
            </a:prstGeom>
            <a:ln w="15875">
              <a:solidFill>
                <a:schemeClr val="accent6">
                  <a:lumMod val="60000"/>
                  <a:lumOff val="40000"/>
                </a:schemeClr>
              </a:solidFill>
            </a:ln>
          </p:spPr>
          <p:style>
            <a:lnRef idx="1">
              <a:schemeClr val="accent3"/>
            </a:lnRef>
            <a:fillRef idx="0">
              <a:schemeClr val="accent3"/>
            </a:fillRef>
            <a:effectRef idx="0">
              <a:schemeClr val="accent3"/>
            </a:effectRef>
            <a:fontRef idx="minor">
              <a:schemeClr val="tx1"/>
            </a:fontRef>
          </p:style>
          <p:txBody>
            <a:bodyPr rtlCol="0" anchor="ctr"/>
            <a:lstStyle/>
            <a:p>
              <a:endParaRPr lang="es-ES">
                <a:solidFill>
                  <a:prstClr val="black"/>
                </a:solidFill>
              </a:endParaRPr>
            </a:p>
          </p:txBody>
        </p:sp>
        <p:cxnSp>
          <p:nvCxnSpPr>
            <p:cNvPr id="240" name="239 Conector recto de flecha"/>
            <p:cNvCxnSpPr>
              <a:endCxn id="238" idx="1"/>
            </p:cNvCxnSpPr>
            <p:nvPr/>
          </p:nvCxnSpPr>
          <p:spPr bwMode="auto">
            <a:xfrm rot="5400000">
              <a:off x="5679293" y="1393017"/>
              <a:ext cx="1071567" cy="571507"/>
            </a:xfrm>
            <a:prstGeom prst="straightConnector1">
              <a:avLst/>
            </a:prstGeom>
            <a:ln w="127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43" name="242 Conector recto de flecha"/>
            <p:cNvCxnSpPr>
              <a:endCxn id="237" idx="1"/>
            </p:cNvCxnSpPr>
            <p:nvPr/>
          </p:nvCxnSpPr>
          <p:spPr bwMode="auto">
            <a:xfrm rot="10800000">
              <a:off x="7286644" y="2964654"/>
              <a:ext cx="1000132" cy="250035"/>
            </a:xfrm>
            <a:prstGeom prst="straightConnector1">
              <a:avLst/>
            </a:prstGeom>
            <a:ln w="127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245" name="244 CuadroTexto"/>
            <p:cNvSpPr txBox="1"/>
            <p:nvPr/>
          </p:nvSpPr>
          <p:spPr>
            <a:xfrm>
              <a:off x="6410954" y="752757"/>
              <a:ext cx="444352" cy="523220"/>
            </a:xfrm>
            <a:prstGeom prst="rect">
              <a:avLst/>
            </a:prstGeom>
            <a:noFill/>
          </p:spPr>
          <p:txBody>
            <a:bodyPr wrap="none" rtlCol="0">
              <a:spAutoFit/>
            </a:bodyPr>
            <a:lstStyle/>
            <a:p>
              <a:r>
                <a:rPr lang="es-ES" sz="2800" b="1" dirty="0">
                  <a:solidFill>
                    <a:prstClr val="black">
                      <a:lumMod val="65000"/>
                      <a:lumOff val="35000"/>
                    </a:prstClr>
                  </a:solidFill>
                </a:rPr>
                <a:t>C</a:t>
              </a:r>
            </a:p>
          </p:txBody>
        </p:sp>
        <p:sp>
          <p:nvSpPr>
            <p:cNvPr id="246" name="245 CuadroTexto"/>
            <p:cNvSpPr txBox="1"/>
            <p:nvPr/>
          </p:nvSpPr>
          <p:spPr>
            <a:xfrm>
              <a:off x="8286776" y="3000372"/>
              <a:ext cx="404278" cy="523220"/>
            </a:xfrm>
            <a:prstGeom prst="rect">
              <a:avLst/>
            </a:prstGeom>
            <a:noFill/>
          </p:spPr>
          <p:txBody>
            <a:bodyPr wrap="none" rtlCol="0">
              <a:spAutoFit/>
            </a:bodyPr>
            <a:lstStyle/>
            <a:p>
              <a:r>
                <a:rPr lang="es-ES" sz="2800" b="1" dirty="0">
                  <a:solidFill>
                    <a:prstClr val="black">
                      <a:lumMod val="65000"/>
                      <a:lumOff val="35000"/>
                    </a:prstClr>
                  </a:solidFill>
                </a:rPr>
                <a:t>F</a:t>
              </a:r>
            </a:p>
          </p:txBody>
        </p:sp>
      </p:grpSp>
      <p:grpSp>
        <p:nvGrpSpPr>
          <p:cNvPr id="306" name="253 Grupo"/>
          <p:cNvGrpSpPr/>
          <p:nvPr/>
        </p:nvGrpSpPr>
        <p:grpSpPr>
          <a:xfrm>
            <a:off x="7215206" y="1285860"/>
            <a:ext cx="1694169" cy="1000132"/>
            <a:chOff x="7215206" y="1285860"/>
            <a:chExt cx="1694169" cy="1000132"/>
          </a:xfrm>
        </p:grpSpPr>
        <p:cxnSp>
          <p:nvCxnSpPr>
            <p:cNvPr id="249" name="248 Conector recto de flecha"/>
            <p:cNvCxnSpPr/>
            <p:nvPr/>
          </p:nvCxnSpPr>
          <p:spPr bwMode="auto">
            <a:xfrm rot="10800000">
              <a:off x="7858148" y="1285860"/>
              <a:ext cx="642942" cy="428628"/>
            </a:xfrm>
            <a:prstGeom prst="straightConnector1">
              <a:avLst/>
            </a:prstGeom>
            <a:ln w="127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51" name="250 Conector recto de flecha"/>
            <p:cNvCxnSpPr/>
            <p:nvPr/>
          </p:nvCxnSpPr>
          <p:spPr bwMode="auto">
            <a:xfrm rot="10800000" flipV="1">
              <a:off x="7215206" y="1785926"/>
              <a:ext cx="1285884" cy="500066"/>
            </a:xfrm>
            <a:prstGeom prst="straightConnector1">
              <a:avLst/>
            </a:prstGeom>
            <a:ln w="127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252" name="251 CuadroTexto"/>
            <p:cNvSpPr txBox="1"/>
            <p:nvPr/>
          </p:nvSpPr>
          <p:spPr>
            <a:xfrm>
              <a:off x="8465023" y="1500174"/>
              <a:ext cx="444352" cy="523220"/>
            </a:xfrm>
            <a:prstGeom prst="rect">
              <a:avLst/>
            </a:prstGeom>
            <a:noFill/>
          </p:spPr>
          <p:txBody>
            <a:bodyPr wrap="none" rtlCol="0">
              <a:spAutoFit/>
            </a:bodyPr>
            <a:lstStyle/>
            <a:p>
              <a:r>
                <a:rPr lang="es-ES" sz="2800" b="1" dirty="0">
                  <a:solidFill>
                    <a:prstClr val="black">
                      <a:lumMod val="65000"/>
                      <a:lumOff val="35000"/>
                    </a:prstClr>
                  </a:solidFill>
                </a:rPr>
                <a:t>B</a:t>
              </a:r>
            </a:p>
          </p:txBody>
        </p:sp>
      </p:grpSp>
      <p:sp>
        <p:nvSpPr>
          <p:cNvPr id="257" name="256 CuadroTexto"/>
          <p:cNvSpPr txBox="1"/>
          <p:nvPr/>
        </p:nvSpPr>
        <p:spPr>
          <a:xfrm>
            <a:off x="571472" y="3429000"/>
            <a:ext cx="1587294" cy="461665"/>
          </a:xfrm>
          <a:prstGeom prst="rect">
            <a:avLst/>
          </a:prstGeom>
          <a:noFill/>
        </p:spPr>
        <p:txBody>
          <a:bodyPr wrap="none" rtlCol="0">
            <a:spAutoFit/>
          </a:bodyPr>
          <a:lstStyle/>
          <a:p>
            <a:r>
              <a:rPr lang="es-ES" sz="2400" b="1" dirty="0">
                <a:solidFill>
                  <a:prstClr val="black">
                    <a:lumMod val="65000"/>
                    <a:lumOff val="35000"/>
                  </a:prstClr>
                </a:solidFill>
              </a:rPr>
              <a:t>Dirección</a:t>
            </a:r>
          </a:p>
        </p:txBody>
      </p:sp>
      <p:sp>
        <p:nvSpPr>
          <p:cNvPr id="259" name="258 CuadroTexto"/>
          <p:cNvSpPr txBox="1"/>
          <p:nvPr/>
        </p:nvSpPr>
        <p:spPr>
          <a:xfrm>
            <a:off x="611081" y="2048524"/>
            <a:ext cx="2603597" cy="523220"/>
          </a:xfrm>
          <a:prstGeom prst="rect">
            <a:avLst/>
          </a:prstGeom>
          <a:noFill/>
        </p:spPr>
        <p:txBody>
          <a:bodyPr wrap="none" rtlCol="0">
            <a:spAutoFit/>
          </a:bodyPr>
          <a:lstStyle/>
          <a:p>
            <a:r>
              <a:rPr lang="es-ES" sz="2800" dirty="0">
                <a:solidFill>
                  <a:prstClr val="black">
                    <a:lumMod val="75000"/>
                    <a:lumOff val="25000"/>
                  </a:prstClr>
                </a:solidFill>
              </a:rPr>
              <a:t>2</a:t>
            </a:r>
            <a:r>
              <a:rPr lang="es-ES" sz="2800" baseline="50000" dirty="0">
                <a:solidFill>
                  <a:prstClr val="black">
                    <a:lumMod val="75000"/>
                    <a:lumOff val="25000"/>
                  </a:prstClr>
                </a:solidFill>
              </a:rPr>
              <a:t>p</a:t>
            </a:r>
            <a:r>
              <a:rPr lang="es-ES" sz="2800" dirty="0">
                <a:solidFill>
                  <a:prstClr val="black">
                    <a:lumMod val="75000"/>
                    <a:lumOff val="25000"/>
                  </a:prstClr>
                </a:solidFill>
              </a:rPr>
              <a:t> = 2</a:t>
            </a:r>
            <a:r>
              <a:rPr lang="es-ES" sz="2800" baseline="30000" dirty="0">
                <a:solidFill>
                  <a:prstClr val="black">
                    <a:lumMod val="75000"/>
                    <a:lumOff val="25000"/>
                  </a:prstClr>
                </a:solidFill>
              </a:rPr>
              <a:t>b</a:t>
            </a:r>
            <a:r>
              <a:rPr lang="es-ES" sz="2800" dirty="0">
                <a:solidFill>
                  <a:prstClr val="black">
                    <a:lumMod val="75000"/>
                    <a:lumOff val="25000"/>
                  </a:prstClr>
                </a:solidFill>
              </a:rPr>
              <a:t> x 2</a:t>
            </a:r>
            <a:r>
              <a:rPr lang="es-ES" sz="2800" baseline="30000" dirty="0">
                <a:solidFill>
                  <a:prstClr val="black">
                    <a:lumMod val="75000"/>
                    <a:lumOff val="25000"/>
                  </a:prstClr>
                </a:solidFill>
              </a:rPr>
              <a:t>f</a:t>
            </a:r>
            <a:r>
              <a:rPr lang="es-ES" sz="2800" dirty="0">
                <a:solidFill>
                  <a:prstClr val="black">
                    <a:lumMod val="75000"/>
                    <a:lumOff val="25000"/>
                  </a:prstClr>
                </a:solidFill>
              </a:rPr>
              <a:t> x 2</a:t>
            </a:r>
            <a:r>
              <a:rPr lang="es-ES" sz="2800" baseline="30000" dirty="0">
                <a:solidFill>
                  <a:prstClr val="black">
                    <a:lumMod val="75000"/>
                    <a:lumOff val="25000"/>
                  </a:prstClr>
                </a:solidFill>
              </a:rPr>
              <a:t>c</a:t>
            </a:r>
          </a:p>
        </p:txBody>
      </p:sp>
      <p:grpSp>
        <p:nvGrpSpPr>
          <p:cNvPr id="277" name="276 Grupo"/>
          <p:cNvGrpSpPr/>
          <p:nvPr/>
        </p:nvGrpSpPr>
        <p:grpSpPr>
          <a:xfrm>
            <a:off x="978744" y="3151430"/>
            <a:ext cx="2736000" cy="2592883"/>
            <a:chOff x="978744" y="3151430"/>
            <a:chExt cx="2736000" cy="2592883"/>
          </a:xfrm>
        </p:grpSpPr>
        <p:cxnSp>
          <p:nvCxnSpPr>
            <p:cNvPr id="268" name="267 Conector recto"/>
            <p:cNvCxnSpPr/>
            <p:nvPr/>
          </p:nvCxnSpPr>
          <p:spPr bwMode="auto">
            <a:xfrm>
              <a:off x="978744" y="4807615"/>
              <a:ext cx="2736000" cy="0"/>
            </a:xfrm>
            <a:prstGeom prst="line">
              <a:avLst/>
            </a:prstGeom>
            <a:ln w="8255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274" name="Freeform 23"/>
            <p:cNvSpPr>
              <a:spLocks/>
            </p:cNvSpPr>
            <p:nvPr/>
          </p:nvSpPr>
          <p:spPr bwMode="auto">
            <a:xfrm>
              <a:off x="1643042" y="3151430"/>
              <a:ext cx="1214446" cy="1656000"/>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82550">
              <a:solidFill>
                <a:srgbClr val="FF0000"/>
              </a:solidFill>
              <a:round/>
              <a:headEnd/>
              <a:tailEnd type="none" w="med" len="med"/>
            </a:ln>
          </p:spPr>
          <p:txBody>
            <a:bodyPr wrap="none" lIns="0" tIns="0" rIns="0" bIns="0" anchor="ctr"/>
            <a:lstStyle/>
            <a:p>
              <a:endParaRPr lang="es-ES">
                <a:solidFill>
                  <a:prstClr val="black"/>
                </a:solidFill>
              </a:endParaRPr>
            </a:p>
          </p:txBody>
        </p:sp>
        <p:sp>
          <p:nvSpPr>
            <p:cNvPr id="275" name="Freeform 23"/>
            <p:cNvSpPr>
              <a:spLocks/>
            </p:cNvSpPr>
            <p:nvPr/>
          </p:nvSpPr>
          <p:spPr bwMode="auto">
            <a:xfrm flipH="1">
              <a:off x="1714480" y="4808313"/>
              <a:ext cx="1214446" cy="936000"/>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82550">
              <a:solidFill>
                <a:srgbClr val="FF0000"/>
              </a:solidFill>
              <a:round/>
              <a:headEnd/>
              <a:tailEnd type="none" w="med" len="med"/>
            </a:ln>
          </p:spPr>
          <p:txBody>
            <a:bodyPr wrap="none" lIns="0" tIns="0" rIns="0" bIns="0" anchor="ctr"/>
            <a:lstStyle/>
            <a:p>
              <a:endParaRPr lang="es-ES">
                <a:solidFill>
                  <a:prstClr val="black"/>
                </a:solidFill>
              </a:endParaRPr>
            </a:p>
          </p:txBody>
        </p:sp>
      </p:grpSp>
      <p:grpSp>
        <p:nvGrpSpPr>
          <p:cNvPr id="284" name="283 Grupo"/>
          <p:cNvGrpSpPr/>
          <p:nvPr/>
        </p:nvGrpSpPr>
        <p:grpSpPr>
          <a:xfrm>
            <a:off x="2912897" y="2714620"/>
            <a:ext cx="373219" cy="642942"/>
            <a:chOff x="2912897" y="2714620"/>
            <a:chExt cx="373219" cy="642942"/>
          </a:xfrm>
        </p:grpSpPr>
        <p:cxnSp>
          <p:nvCxnSpPr>
            <p:cNvPr id="278" name="277 Conector recto"/>
            <p:cNvCxnSpPr/>
            <p:nvPr/>
          </p:nvCxnSpPr>
          <p:spPr bwMode="auto">
            <a:xfrm flipV="1">
              <a:off x="2998084" y="2925514"/>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81" name="280 CuadroTexto"/>
            <p:cNvSpPr txBox="1"/>
            <p:nvPr/>
          </p:nvSpPr>
          <p:spPr>
            <a:xfrm>
              <a:off x="2912897" y="2714620"/>
              <a:ext cx="287259" cy="461665"/>
            </a:xfrm>
            <a:prstGeom prst="rect">
              <a:avLst/>
            </a:prstGeom>
            <a:noFill/>
          </p:spPr>
          <p:txBody>
            <a:bodyPr wrap="none" rtlCol="0">
              <a:spAutoFit/>
            </a:bodyPr>
            <a:lstStyle/>
            <a:p>
              <a:r>
                <a:rPr lang="es-ES" sz="2400" b="1" dirty="0">
                  <a:solidFill>
                    <a:prstClr val="black"/>
                  </a:solidFill>
                </a:rPr>
                <a:t>f</a:t>
              </a:r>
            </a:p>
          </p:txBody>
        </p:sp>
      </p:grpSp>
      <p:grpSp>
        <p:nvGrpSpPr>
          <p:cNvPr id="285" name="284 Grupo"/>
          <p:cNvGrpSpPr/>
          <p:nvPr/>
        </p:nvGrpSpPr>
        <p:grpSpPr>
          <a:xfrm>
            <a:off x="3742196" y="4357694"/>
            <a:ext cx="401176" cy="642942"/>
            <a:chOff x="3742196" y="4357694"/>
            <a:chExt cx="401176" cy="642942"/>
          </a:xfrm>
        </p:grpSpPr>
        <p:cxnSp>
          <p:nvCxnSpPr>
            <p:cNvPr id="279" name="278 Conector recto"/>
            <p:cNvCxnSpPr/>
            <p:nvPr/>
          </p:nvCxnSpPr>
          <p:spPr bwMode="auto">
            <a:xfrm flipV="1">
              <a:off x="3855340" y="4568588"/>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82" name="281 CuadroTexto"/>
            <p:cNvSpPr txBox="1"/>
            <p:nvPr/>
          </p:nvSpPr>
          <p:spPr>
            <a:xfrm>
              <a:off x="3742196" y="4357694"/>
              <a:ext cx="372218" cy="461665"/>
            </a:xfrm>
            <a:prstGeom prst="rect">
              <a:avLst/>
            </a:prstGeom>
            <a:noFill/>
          </p:spPr>
          <p:txBody>
            <a:bodyPr wrap="none" rtlCol="0">
              <a:spAutoFit/>
            </a:bodyPr>
            <a:lstStyle/>
            <a:p>
              <a:r>
                <a:rPr lang="es-ES" sz="2400" b="1" dirty="0">
                  <a:solidFill>
                    <a:prstClr val="black"/>
                  </a:solidFill>
                </a:rPr>
                <a:t>b</a:t>
              </a:r>
            </a:p>
          </p:txBody>
        </p:sp>
      </p:grpSp>
      <p:grpSp>
        <p:nvGrpSpPr>
          <p:cNvPr id="286" name="285 Grupo"/>
          <p:cNvGrpSpPr/>
          <p:nvPr/>
        </p:nvGrpSpPr>
        <p:grpSpPr>
          <a:xfrm>
            <a:off x="2823024" y="5286388"/>
            <a:ext cx="393934" cy="714380"/>
            <a:chOff x="2823024" y="5286388"/>
            <a:chExt cx="393934" cy="714380"/>
          </a:xfrm>
        </p:grpSpPr>
        <p:cxnSp>
          <p:nvCxnSpPr>
            <p:cNvPr id="280" name="279 Conector recto"/>
            <p:cNvCxnSpPr/>
            <p:nvPr/>
          </p:nvCxnSpPr>
          <p:spPr bwMode="auto">
            <a:xfrm flipV="1">
              <a:off x="2928926" y="5568720"/>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83" name="282 CuadroTexto"/>
            <p:cNvSpPr txBox="1"/>
            <p:nvPr/>
          </p:nvSpPr>
          <p:spPr>
            <a:xfrm>
              <a:off x="2823024" y="5286388"/>
              <a:ext cx="356188" cy="461665"/>
            </a:xfrm>
            <a:prstGeom prst="rect">
              <a:avLst/>
            </a:prstGeom>
            <a:noFill/>
          </p:spPr>
          <p:txBody>
            <a:bodyPr wrap="none" rtlCol="0">
              <a:spAutoFit/>
            </a:bodyPr>
            <a:lstStyle/>
            <a:p>
              <a:r>
                <a:rPr lang="es-ES" sz="2400" b="1" dirty="0">
                  <a:solidFill>
                    <a:prstClr val="black"/>
                  </a:solidFill>
                </a:rPr>
                <a:t>c</a:t>
              </a:r>
            </a:p>
          </p:txBody>
        </p:sp>
      </p:grpSp>
      <p:grpSp>
        <p:nvGrpSpPr>
          <p:cNvPr id="287" name="286 Grupo"/>
          <p:cNvGrpSpPr/>
          <p:nvPr/>
        </p:nvGrpSpPr>
        <p:grpSpPr>
          <a:xfrm>
            <a:off x="1134961" y="4286256"/>
            <a:ext cx="401949" cy="747417"/>
            <a:chOff x="2815009" y="5253351"/>
            <a:chExt cx="401949" cy="747417"/>
          </a:xfrm>
        </p:grpSpPr>
        <p:cxnSp>
          <p:nvCxnSpPr>
            <p:cNvPr id="307" name="306 Conector recto"/>
            <p:cNvCxnSpPr/>
            <p:nvPr/>
          </p:nvCxnSpPr>
          <p:spPr bwMode="auto">
            <a:xfrm flipV="1">
              <a:off x="2928926" y="5568720"/>
              <a:ext cx="288032" cy="432048"/>
            </a:xfrm>
            <a:prstGeom prst="line">
              <a:avLst/>
            </a:prstGeom>
            <a:ln w="190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308" name="307 CuadroTexto"/>
            <p:cNvSpPr txBox="1"/>
            <p:nvPr/>
          </p:nvSpPr>
          <p:spPr>
            <a:xfrm>
              <a:off x="2815009" y="5253351"/>
              <a:ext cx="372218" cy="461665"/>
            </a:xfrm>
            <a:prstGeom prst="rect">
              <a:avLst/>
            </a:prstGeom>
            <a:noFill/>
          </p:spPr>
          <p:txBody>
            <a:bodyPr wrap="none" rtlCol="0">
              <a:spAutoFit/>
            </a:bodyPr>
            <a:lstStyle/>
            <a:p>
              <a:r>
                <a:rPr lang="es-ES" sz="2400" b="1" dirty="0">
                  <a:solidFill>
                    <a:prstClr val="black"/>
                  </a:solidFill>
                </a:rPr>
                <a:t>p</a:t>
              </a:r>
            </a:p>
          </p:txBody>
        </p:sp>
      </p:grpSp>
      <p:sp>
        <p:nvSpPr>
          <p:cNvPr id="309" name="308 CuadroTexto"/>
          <p:cNvSpPr txBox="1"/>
          <p:nvPr/>
        </p:nvSpPr>
        <p:spPr>
          <a:xfrm>
            <a:off x="453431" y="5000636"/>
            <a:ext cx="1832553" cy="461665"/>
          </a:xfrm>
          <a:prstGeom prst="rect">
            <a:avLst/>
          </a:prstGeom>
          <a:noFill/>
        </p:spPr>
        <p:txBody>
          <a:bodyPr wrap="none" rtlCol="0">
            <a:spAutoFit/>
          </a:bodyPr>
          <a:lstStyle/>
          <a:p>
            <a:r>
              <a:rPr lang="es-ES" sz="2400" dirty="0">
                <a:solidFill>
                  <a:prstClr val="black">
                    <a:lumMod val="75000"/>
                    <a:lumOff val="25000"/>
                  </a:prstClr>
                </a:solidFill>
              </a:rPr>
              <a:t>p = b + f + c</a:t>
            </a:r>
          </a:p>
        </p:txBody>
      </p:sp>
      <p:grpSp>
        <p:nvGrpSpPr>
          <p:cNvPr id="270" name="269 Grupo"/>
          <p:cNvGrpSpPr/>
          <p:nvPr/>
        </p:nvGrpSpPr>
        <p:grpSpPr>
          <a:xfrm>
            <a:off x="3286116" y="3571876"/>
            <a:ext cx="1117961" cy="307777"/>
            <a:chOff x="7643834" y="5929330"/>
            <a:chExt cx="1117961" cy="307777"/>
          </a:xfrm>
        </p:grpSpPr>
        <p:sp>
          <p:nvSpPr>
            <p:cNvPr id="258" name="257 CuadroTexto"/>
            <p:cNvSpPr txBox="1"/>
            <p:nvPr/>
          </p:nvSpPr>
          <p:spPr>
            <a:xfrm>
              <a:off x="8172000" y="5929330"/>
              <a:ext cx="234360" cy="307777"/>
            </a:xfrm>
            <a:prstGeom prst="rect">
              <a:avLst/>
            </a:prstGeom>
            <a:noFill/>
          </p:spPr>
          <p:txBody>
            <a:bodyPr wrap="none" rtlCol="0">
              <a:spAutoFit/>
            </a:bodyPr>
            <a:lstStyle/>
            <a:p>
              <a:r>
                <a:rPr lang="es-ES" sz="1400" dirty="0">
                  <a:solidFill>
                    <a:prstClr val="black">
                      <a:lumMod val="75000"/>
                      <a:lumOff val="25000"/>
                    </a:prstClr>
                  </a:solidFill>
                </a:rPr>
                <a:t>f</a:t>
              </a:r>
            </a:p>
          </p:txBody>
        </p:sp>
        <p:sp>
          <p:nvSpPr>
            <p:cNvPr id="260" name="259 CuadroTexto"/>
            <p:cNvSpPr txBox="1"/>
            <p:nvPr/>
          </p:nvSpPr>
          <p:spPr>
            <a:xfrm>
              <a:off x="8429652" y="5929330"/>
              <a:ext cx="332143" cy="307777"/>
            </a:xfrm>
            <a:prstGeom prst="rect">
              <a:avLst/>
            </a:prstGeom>
            <a:noFill/>
          </p:spPr>
          <p:txBody>
            <a:bodyPr wrap="none" rtlCol="0">
              <a:spAutoFit/>
            </a:bodyPr>
            <a:lstStyle/>
            <a:p>
              <a:r>
                <a:rPr lang="es-ES" sz="1400" dirty="0">
                  <a:solidFill>
                    <a:prstClr val="black">
                      <a:lumMod val="75000"/>
                      <a:lumOff val="25000"/>
                    </a:prstClr>
                  </a:solidFill>
                </a:rPr>
                <a:t>2</a:t>
              </a:r>
              <a:r>
                <a:rPr lang="es-ES" baseline="30000" dirty="0">
                  <a:solidFill>
                    <a:prstClr val="black">
                      <a:lumMod val="75000"/>
                      <a:lumOff val="25000"/>
                    </a:prstClr>
                  </a:solidFill>
                </a:rPr>
                <a:t>f</a:t>
              </a:r>
              <a:endParaRPr lang="es-ES" sz="1400" baseline="30000" dirty="0">
                <a:solidFill>
                  <a:prstClr val="black">
                    <a:lumMod val="75000"/>
                    <a:lumOff val="25000"/>
                  </a:prstClr>
                </a:solidFill>
              </a:endParaRPr>
            </a:p>
          </p:txBody>
        </p:sp>
        <p:cxnSp>
          <p:nvCxnSpPr>
            <p:cNvPr id="262" name="261 Conector recto de flecha"/>
            <p:cNvCxnSpPr/>
            <p:nvPr/>
          </p:nvCxnSpPr>
          <p:spPr bwMode="auto">
            <a:xfrm>
              <a:off x="8358214" y="6072206"/>
              <a:ext cx="142876" cy="1588"/>
            </a:xfrm>
            <a:prstGeom prst="straightConnector1">
              <a:avLst/>
            </a:prstGeom>
            <a:ln w="12700">
              <a:solidFill>
                <a:schemeClr val="tx1">
                  <a:lumMod val="75000"/>
                  <a:lumOff val="2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64" name="263 CuadroTexto"/>
            <p:cNvSpPr txBox="1"/>
            <p:nvPr/>
          </p:nvSpPr>
          <p:spPr>
            <a:xfrm>
              <a:off x="7643834" y="5929330"/>
              <a:ext cx="643125" cy="307777"/>
            </a:xfrm>
            <a:prstGeom prst="rect">
              <a:avLst/>
            </a:prstGeom>
            <a:noFill/>
          </p:spPr>
          <p:txBody>
            <a:bodyPr wrap="none" rtlCol="0">
              <a:spAutoFit/>
            </a:bodyPr>
            <a:lstStyle/>
            <a:p>
              <a:r>
                <a:rPr lang="es-ES" sz="1400" dirty="0">
                  <a:solidFill>
                    <a:prstClr val="black">
                      <a:lumMod val="75000"/>
                      <a:lumOff val="25000"/>
                    </a:prstClr>
                  </a:solidFill>
                </a:rPr>
                <a:t>Desc.</a:t>
              </a:r>
            </a:p>
          </p:txBody>
        </p:sp>
      </p:grpSp>
      <p:grpSp>
        <p:nvGrpSpPr>
          <p:cNvPr id="271" name="270 Grupo"/>
          <p:cNvGrpSpPr/>
          <p:nvPr/>
        </p:nvGrpSpPr>
        <p:grpSpPr>
          <a:xfrm>
            <a:off x="3286116" y="5000636"/>
            <a:ext cx="1136396" cy="307777"/>
            <a:chOff x="7796234" y="5572140"/>
            <a:chExt cx="1136396" cy="307777"/>
          </a:xfrm>
        </p:grpSpPr>
        <p:sp>
          <p:nvSpPr>
            <p:cNvPr id="265" name="264 CuadroTexto"/>
            <p:cNvSpPr txBox="1"/>
            <p:nvPr/>
          </p:nvSpPr>
          <p:spPr>
            <a:xfrm>
              <a:off x="8304363" y="5572140"/>
              <a:ext cx="274434" cy="307777"/>
            </a:xfrm>
            <a:prstGeom prst="rect">
              <a:avLst/>
            </a:prstGeom>
            <a:noFill/>
          </p:spPr>
          <p:txBody>
            <a:bodyPr wrap="none" rtlCol="0">
              <a:spAutoFit/>
            </a:bodyPr>
            <a:lstStyle/>
            <a:p>
              <a:r>
                <a:rPr lang="es-ES" sz="1400" dirty="0">
                  <a:solidFill>
                    <a:prstClr val="black">
                      <a:lumMod val="75000"/>
                      <a:lumOff val="25000"/>
                    </a:prstClr>
                  </a:solidFill>
                </a:rPr>
                <a:t>c</a:t>
              </a:r>
            </a:p>
          </p:txBody>
        </p:sp>
        <p:sp>
          <p:nvSpPr>
            <p:cNvPr id="266" name="265 CuadroTexto"/>
            <p:cNvSpPr txBox="1"/>
            <p:nvPr/>
          </p:nvSpPr>
          <p:spPr>
            <a:xfrm>
              <a:off x="8563618" y="5572140"/>
              <a:ext cx="369012" cy="307777"/>
            </a:xfrm>
            <a:prstGeom prst="rect">
              <a:avLst/>
            </a:prstGeom>
            <a:noFill/>
          </p:spPr>
          <p:txBody>
            <a:bodyPr wrap="none" rtlCol="0">
              <a:spAutoFit/>
            </a:bodyPr>
            <a:lstStyle/>
            <a:p>
              <a:r>
                <a:rPr lang="es-ES" sz="1400" dirty="0">
                  <a:solidFill>
                    <a:prstClr val="black">
                      <a:lumMod val="75000"/>
                      <a:lumOff val="25000"/>
                    </a:prstClr>
                  </a:solidFill>
                </a:rPr>
                <a:t>2</a:t>
              </a:r>
              <a:r>
                <a:rPr lang="es-ES" baseline="30000" dirty="0">
                  <a:solidFill>
                    <a:prstClr val="black">
                      <a:lumMod val="75000"/>
                      <a:lumOff val="25000"/>
                    </a:prstClr>
                  </a:solidFill>
                </a:rPr>
                <a:t>c</a:t>
              </a:r>
              <a:endParaRPr lang="es-ES" sz="1400" baseline="30000" dirty="0">
                <a:solidFill>
                  <a:prstClr val="black">
                    <a:lumMod val="75000"/>
                    <a:lumOff val="25000"/>
                  </a:prstClr>
                </a:solidFill>
              </a:endParaRPr>
            </a:p>
          </p:txBody>
        </p:sp>
        <p:cxnSp>
          <p:nvCxnSpPr>
            <p:cNvPr id="267" name="266 Conector recto de flecha"/>
            <p:cNvCxnSpPr/>
            <p:nvPr/>
          </p:nvCxnSpPr>
          <p:spPr bwMode="auto">
            <a:xfrm>
              <a:off x="8510614" y="5715016"/>
              <a:ext cx="142876" cy="1588"/>
            </a:xfrm>
            <a:prstGeom prst="straightConnector1">
              <a:avLst/>
            </a:prstGeom>
            <a:ln w="12700">
              <a:solidFill>
                <a:schemeClr val="tx1">
                  <a:lumMod val="75000"/>
                  <a:lumOff val="2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69" name="268 CuadroTexto"/>
            <p:cNvSpPr txBox="1"/>
            <p:nvPr/>
          </p:nvSpPr>
          <p:spPr>
            <a:xfrm>
              <a:off x="7796234" y="5572140"/>
              <a:ext cx="643125" cy="307777"/>
            </a:xfrm>
            <a:prstGeom prst="rect">
              <a:avLst/>
            </a:prstGeom>
            <a:noFill/>
          </p:spPr>
          <p:txBody>
            <a:bodyPr wrap="none" rtlCol="0">
              <a:spAutoFit/>
            </a:bodyPr>
            <a:lstStyle/>
            <a:p>
              <a:r>
                <a:rPr lang="es-ES" sz="1400" dirty="0">
                  <a:solidFill>
                    <a:prstClr val="black">
                      <a:lumMod val="75000"/>
                      <a:lumOff val="25000"/>
                    </a:prstClr>
                  </a:solidFill>
                </a:rPr>
                <a:t>Desc.</a:t>
              </a:r>
            </a:p>
          </p:txBody>
        </p:sp>
      </p:grpSp>
      <p:sp>
        <p:nvSpPr>
          <p:cNvPr id="261" name="260 CuadroTexto"/>
          <p:cNvSpPr txBox="1"/>
          <p:nvPr/>
        </p:nvSpPr>
        <p:spPr>
          <a:xfrm>
            <a:off x="7668344" y="5349895"/>
            <a:ext cx="1186543" cy="1366528"/>
          </a:xfrm>
          <a:prstGeom prst="rect">
            <a:avLst/>
          </a:prstGeom>
          <a:solidFill>
            <a:schemeClr val="bg1"/>
          </a:solidFill>
        </p:spPr>
        <p:txBody>
          <a:bodyPr wrap="none" rtlCol="0">
            <a:spAutoFit/>
          </a:bodyPr>
          <a:lstStyle/>
          <a:p>
            <a:pPr algn="l"/>
            <a:r>
              <a:rPr lang="es-ES" sz="1800" dirty="0">
                <a:solidFill>
                  <a:prstClr val="black">
                    <a:lumMod val="75000"/>
                    <a:lumOff val="25000"/>
                  </a:prstClr>
                </a:solidFill>
              </a:rPr>
              <a:t>p = log</a:t>
            </a:r>
            <a:r>
              <a:rPr lang="es-ES" sz="1800" baseline="-25000" dirty="0">
                <a:solidFill>
                  <a:prstClr val="black">
                    <a:lumMod val="75000"/>
                    <a:lumOff val="25000"/>
                  </a:prstClr>
                </a:solidFill>
              </a:rPr>
              <a:t>2</a:t>
            </a:r>
            <a:r>
              <a:rPr lang="es-ES" sz="1800" dirty="0">
                <a:solidFill>
                  <a:prstClr val="black">
                    <a:lumMod val="75000"/>
                    <a:lumOff val="25000"/>
                  </a:prstClr>
                </a:solidFill>
              </a:rPr>
              <a:t> P</a:t>
            </a:r>
          </a:p>
          <a:p>
            <a:pPr algn="l"/>
            <a:r>
              <a:rPr lang="es-ES" sz="1800" dirty="0">
                <a:solidFill>
                  <a:prstClr val="black">
                    <a:lumMod val="75000"/>
                    <a:lumOff val="25000"/>
                  </a:prstClr>
                </a:solidFill>
              </a:rPr>
              <a:t>b = log</a:t>
            </a:r>
            <a:r>
              <a:rPr lang="es-ES" sz="1800" baseline="-25000" dirty="0">
                <a:solidFill>
                  <a:prstClr val="black">
                    <a:lumMod val="75000"/>
                    <a:lumOff val="25000"/>
                  </a:prstClr>
                </a:solidFill>
              </a:rPr>
              <a:t>2</a:t>
            </a:r>
            <a:r>
              <a:rPr lang="es-ES" sz="1800" dirty="0">
                <a:solidFill>
                  <a:prstClr val="black">
                    <a:lumMod val="75000"/>
                    <a:lumOff val="25000"/>
                  </a:prstClr>
                </a:solidFill>
              </a:rPr>
              <a:t> B</a:t>
            </a:r>
          </a:p>
          <a:p>
            <a:pPr algn="l"/>
            <a:r>
              <a:rPr lang="es-ES" sz="1800" dirty="0">
                <a:solidFill>
                  <a:prstClr val="black">
                    <a:lumMod val="75000"/>
                    <a:lumOff val="25000"/>
                  </a:prstClr>
                </a:solidFill>
              </a:rPr>
              <a:t>f= log</a:t>
            </a:r>
            <a:r>
              <a:rPr lang="es-ES" sz="1800" baseline="-25000" dirty="0">
                <a:solidFill>
                  <a:prstClr val="black">
                    <a:lumMod val="75000"/>
                    <a:lumOff val="25000"/>
                  </a:prstClr>
                </a:solidFill>
              </a:rPr>
              <a:t>2</a:t>
            </a:r>
            <a:r>
              <a:rPr lang="es-ES" sz="1800" dirty="0">
                <a:solidFill>
                  <a:prstClr val="black">
                    <a:lumMod val="75000"/>
                    <a:lumOff val="25000"/>
                  </a:prstClr>
                </a:solidFill>
              </a:rPr>
              <a:t> F</a:t>
            </a:r>
          </a:p>
          <a:p>
            <a:pPr algn="l"/>
            <a:r>
              <a:rPr lang="es-ES" sz="1800" dirty="0">
                <a:solidFill>
                  <a:prstClr val="black">
                    <a:lumMod val="75000"/>
                    <a:lumOff val="25000"/>
                  </a:prstClr>
                </a:solidFill>
              </a:rPr>
              <a:t>c= log</a:t>
            </a:r>
            <a:r>
              <a:rPr lang="es-ES" sz="1800" baseline="-25000" dirty="0">
                <a:solidFill>
                  <a:prstClr val="black">
                    <a:lumMod val="75000"/>
                    <a:lumOff val="25000"/>
                  </a:prstClr>
                </a:solidFill>
              </a:rPr>
              <a:t>2</a:t>
            </a:r>
            <a:r>
              <a:rPr lang="es-ES" sz="1800" dirty="0">
                <a:solidFill>
                  <a:prstClr val="black">
                    <a:lumMod val="75000"/>
                    <a:lumOff val="25000"/>
                  </a:prstClr>
                </a:solidFill>
              </a:rPr>
              <a:t> C</a:t>
            </a:r>
          </a:p>
        </p:txBody>
      </p:sp>
    </p:spTree>
    <p:extLst>
      <p:ext uri="{BB962C8B-B14F-4D97-AF65-F5344CB8AC3E}">
        <p14:creationId xmlns:p14="http://schemas.microsoft.com/office/powerpoint/2010/main" val="2621589584"/>
      </p:ext>
    </p:extLst>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s-ES" dirty="0"/>
              <a:t>Direccionamiento Memorias SDRAM</a:t>
            </a:r>
          </a:p>
        </p:txBody>
      </p:sp>
      <p:sp>
        <p:nvSpPr>
          <p:cNvPr id="62468" name="Rectangle 3"/>
          <p:cNvSpPr>
            <a:spLocks noGrp="1" noChangeArrowheads="1"/>
          </p:cNvSpPr>
          <p:nvPr>
            <p:ph type="body" idx="1"/>
          </p:nvPr>
        </p:nvSpPr>
        <p:spPr>
          <a:xfrm>
            <a:off x="539552" y="1108946"/>
            <a:ext cx="8461604" cy="2896118"/>
          </a:xfrm>
        </p:spPr>
        <p:txBody>
          <a:bodyPr/>
          <a:lstStyle/>
          <a:p>
            <a:pPr>
              <a:lnSpc>
                <a:spcPct val="100000"/>
              </a:lnSpc>
            </a:pPr>
            <a:r>
              <a:rPr lang="es-ES" dirty="0"/>
              <a:t>Acceso a bloque de memoria</a:t>
            </a:r>
          </a:p>
          <a:p>
            <a:pPr lvl="1">
              <a:lnSpc>
                <a:spcPct val="100000"/>
              </a:lnSpc>
            </a:pPr>
            <a:r>
              <a:rPr lang="es-ES" dirty="0"/>
              <a:t>Un bloque está formado por </a:t>
            </a:r>
            <a:r>
              <a:rPr lang="es-ES" i="1" dirty="0"/>
              <a:t>R</a:t>
            </a:r>
            <a:r>
              <a:rPr lang="es-ES" dirty="0"/>
              <a:t> = 2</a:t>
            </a:r>
            <a:r>
              <a:rPr lang="es-ES" b="1" i="1" baseline="30000" dirty="0"/>
              <a:t>r</a:t>
            </a:r>
            <a:r>
              <a:rPr lang="es-ES" dirty="0"/>
              <a:t> palabras (típicamente 4 o 8) consecutivas</a:t>
            </a:r>
            <a:endParaRPr lang="es-ES" b="1" baseline="30000" dirty="0"/>
          </a:p>
          <a:p>
            <a:pPr lvl="1">
              <a:lnSpc>
                <a:spcPct val="100000"/>
              </a:lnSpc>
            </a:pPr>
            <a:r>
              <a:rPr lang="es-ES" dirty="0"/>
              <a:t>El tamaño </a:t>
            </a:r>
            <a:r>
              <a:rPr lang="es-ES" i="1" dirty="0"/>
              <a:t>R </a:t>
            </a:r>
            <a:r>
              <a:rPr lang="es-ES" dirty="0"/>
              <a:t>del bloque es una constante para un computador dado, pero configurable en los chips SDRAM</a:t>
            </a:r>
          </a:p>
          <a:p>
            <a:pPr lvl="1">
              <a:lnSpc>
                <a:spcPct val="100000"/>
              </a:lnSpc>
            </a:pPr>
            <a:r>
              <a:rPr lang="es-ES" dirty="0"/>
              <a:t>El acceso a una única palabra es un caso especial de acceso a bloque de tamaño igual 1.</a:t>
            </a:r>
          </a:p>
          <a:p>
            <a:pPr lvl="1">
              <a:lnSpc>
                <a:spcPct val="100000"/>
              </a:lnSpc>
            </a:pPr>
            <a:r>
              <a:rPr lang="es-ES" dirty="0"/>
              <a:t>Constituyen el medio más habitual de acceso a memoria principal (</a:t>
            </a:r>
            <a:r>
              <a:rPr lang="es-ES" dirty="0" err="1"/>
              <a:t>p.e</a:t>
            </a:r>
            <a:r>
              <a:rPr lang="es-ES" dirty="0"/>
              <a:t>,. el acceso a bloques de cache)</a:t>
            </a:r>
          </a:p>
        </p:txBody>
      </p:sp>
      <p:grpSp>
        <p:nvGrpSpPr>
          <p:cNvPr id="12" name="11 Grupo"/>
          <p:cNvGrpSpPr/>
          <p:nvPr/>
        </p:nvGrpSpPr>
        <p:grpSpPr>
          <a:xfrm>
            <a:off x="2297538" y="4695752"/>
            <a:ext cx="2417338" cy="733512"/>
            <a:chOff x="2154662" y="5445224"/>
            <a:chExt cx="1800225" cy="431800"/>
          </a:xfrm>
        </p:grpSpPr>
        <p:sp>
          <p:nvSpPr>
            <p:cNvPr id="5" name="AutoShape 2"/>
            <p:cNvSpPr>
              <a:spLocks noChangeArrowheads="1"/>
            </p:cNvSpPr>
            <p:nvPr/>
          </p:nvSpPr>
          <p:spPr bwMode="auto">
            <a:xfrm>
              <a:off x="2154662" y="5445224"/>
              <a:ext cx="1800225" cy="431800"/>
            </a:xfrm>
            <a:prstGeom prst="roundRect">
              <a:avLst>
                <a:gd name="adj" fmla="val 16667"/>
              </a:avLst>
            </a:prstGeom>
            <a:solidFill>
              <a:srgbClr val="CC6600"/>
            </a:solidFill>
            <a:ln w="9525" algn="ctr">
              <a:solidFill>
                <a:schemeClr val="tx1"/>
              </a:solidFill>
              <a:prstDash val="dash"/>
              <a:round/>
              <a:headEnd/>
              <a:tailEnd/>
            </a:ln>
          </p:spPr>
          <p:txBody>
            <a:bodyPr wrap="none" anchor="ctr"/>
            <a:lstStyle/>
            <a:p>
              <a:endParaRPr lang="es-ES">
                <a:solidFill>
                  <a:prstClr val="black"/>
                </a:solidFill>
              </a:endParaRPr>
            </a:p>
          </p:txBody>
        </p:sp>
        <p:sp>
          <p:nvSpPr>
            <p:cNvPr id="6" name="Rectangle 7"/>
            <p:cNvSpPr>
              <a:spLocks noChangeArrowheads="1"/>
            </p:cNvSpPr>
            <p:nvPr/>
          </p:nvSpPr>
          <p:spPr bwMode="auto">
            <a:xfrm>
              <a:off x="2187999" y="5478562"/>
              <a:ext cx="431800" cy="358775"/>
            </a:xfrm>
            <a:prstGeom prst="rect">
              <a:avLst/>
            </a:prstGeom>
            <a:noFill/>
            <a:ln w="9525">
              <a:solidFill>
                <a:schemeClr val="tx1"/>
              </a:solidFill>
              <a:miter lim="800000"/>
              <a:headEnd/>
              <a:tailEnd/>
            </a:ln>
          </p:spPr>
          <p:txBody>
            <a:bodyPr wrap="none" lIns="0" tIns="0" rIns="0" bIns="72000" anchor="ctr"/>
            <a:lstStyle/>
            <a:p>
              <a:r>
                <a:rPr lang="es-ES" b="1">
                  <a:solidFill>
                    <a:srgbClr val="FFFFFF"/>
                  </a:solidFill>
                  <a:latin typeface="Arial Narrow" pitchFamily="34" charset="0"/>
                </a:rPr>
                <a:t>0</a:t>
              </a:r>
            </a:p>
          </p:txBody>
        </p:sp>
        <p:sp>
          <p:nvSpPr>
            <p:cNvPr id="7" name="Rectangle 8"/>
            <p:cNvSpPr>
              <a:spLocks noChangeArrowheads="1"/>
            </p:cNvSpPr>
            <p:nvPr/>
          </p:nvSpPr>
          <p:spPr bwMode="auto">
            <a:xfrm>
              <a:off x="2619799" y="5478562"/>
              <a:ext cx="431800" cy="358775"/>
            </a:xfrm>
            <a:prstGeom prst="rect">
              <a:avLst/>
            </a:prstGeom>
            <a:noFill/>
            <a:ln w="9525">
              <a:solidFill>
                <a:schemeClr val="tx1"/>
              </a:solidFill>
              <a:miter lim="800000"/>
              <a:headEnd/>
              <a:tailEnd/>
            </a:ln>
          </p:spPr>
          <p:txBody>
            <a:bodyPr wrap="none" lIns="0" tIns="0" rIns="0" bIns="72000" anchor="ctr"/>
            <a:lstStyle/>
            <a:p>
              <a:r>
                <a:rPr lang="es-ES" b="1" dirty="0">
                  <a:solidFill>
                    <a:srgbClr val="FFFFFF"/>
                  </a:solidFill>
                  <a:latin typeface="Arial Narrow" pitchFamily="34" charset="0"/>
                </a:rPr>
                <a:t>1</a:t>
              </a:r>
            </a:p>
          </p:txBody>
        </p:sp>
        <p:sp>
          <p:nvSpPr>
            <p:cNvPr id="8" name="Rectangle 9"/>
            <p:cNvSpPr>
              <a:spLocks noChangeArrowheads="1"/>
            </p:cNvSpPr>
            <p:nvPr/>
          </p:nvSpPr>
          <p:spPr bwMode="auto">
            <a:xfrm>
              <a:off x="3051599" y="5478562"/>
              <a:ext cx="431800" cy="358775"/>
            </a:xfrm>
            <a:prstGeom prst="rect">
              <a:avLst/>
            </a:prstGeom>
            <a:noFill/>
            <a:ln w="9525">
              <a:solidFill>
                <a:schemeClr val="tx1"/>
              </a:solidFill>
              <a:miter lim="800000"/>
              <a:headEnd/>
              <a:tailEnd/>
            </a:ln>
          </p:spPr>
          <p:txBody>
            <a:bodyPr wrap="none" lIns="0" tIns="0" rIns="0" bIns="72000" anchor="ctr"/>
            <a:lstStyle/>
            <a:p>
              <a:r>
                <a:rPr lang="es-ES" b="1">
                  <a:solidFill>
                    <a:srgbClr val="FFFFFF"/>
                  </a:solidFill>
                  <a:latin typeface="Arial Narrow" pitchFamily="34" charset="0"/>
                </a:rPr>
                <a:t>2</a:t>
              </a:r>
            </a:p>
          </p:txBody>
        </p:sp>
        <p:sp>
          <p:nvSpPr>
            <p:cNvPr id="9" name="Rectangle 10"/>
            <p:cNvSpPr>
              <a:spLocks noChangeArrowheads="1"/>
            </p:cNvSpPr>
            <p:nvPr/>
          </p:nvSpPr>
          <p:spPr bwMode="auto">
            <a:xfrm>
              <a:off x="3483399" y="5478562"/>
              <a:ext cx="431800" cy="358775"/>
            </a:xfrm>
            <a:prstGeom prst="rect">
              <a:avLst/>
            </a:prstGeom>
            <a:noFill/>
            <a:ln w="9525">
              <a:solidFill>
                <a:schemeClr val="tx1"/>
              </a:solidFill>
              <a:miter lim="800000"/>
              <a:headEnd/>
              <a:tailEnd/>
            </a:ln>
          </p:spPr>
          <p:txBody>
            <a:bodyPr wrap="none" lIns="0" tIns="0" rIns="0" bIns="72000" anchor="ctr"/>
            <a:lstStyle/>
            <a:p>
              <a:r>
                <a:rPr lang="es-ES" b="1">
                  <a:solidFill>
                    <a:srgbClr val="FFFFFF"/>
                  </a:solidFill>
                  <a:latin typeface="Arial Narrow" pitchFamily="34" charset="0"/>
                </a:rPr>
                <a:t>3</a:t>
              </a:r>
            </a:p>
          </p:txBody>
        </p:sp>
      </p:grpSp>
      <p:sp>
        <p:nvSpPr>
          <p:cNvPr id="11" name="10 CuadroTexto"/>
          <p:cNvSpPr txBox="1"/>
          <p:nvPr/>
        </p:nvSpPr>
        <p:spPr>
          <a:xfrm>
            <a:off x="5143504" y="4857760"/>
            <a:ext cx="2608406" cy="400110"/>
          </a:xfrm>
          <a:prstGeom prst="rect">
            <a:avLst/>
          </a:prstGeom>
          <a:noFill/>
        </p:spPr>
        <p:txBody>
          <a:bodyPr wrap="none" rtlCol="0">
            <a:spAutoFit/>
          </a:bodyPr>
          <a:lstStyle/>
          <a:p>
            <a:pPr algn="l"/>
            <a:r>
              <a:rPr lang="es-ES" altLang="ja-JP" i="1" dirty="0">
                <a:solidFill>
                  <a:prstClr val="black"/>
                </a:solidFill>
                <a:ea typeface="ＭＳ Ｐゴシック" charset="-128"/>
              </a:rPr>
              <a:t>Bloque de 4 palabras</a:t>
            </a:r>
          </a:p>
        </p:txBody>
      </p:sp>
      <p:sp>
        <p:nvSpPr>
          <p:cNvPr id="2" name="2 Marcador de número de diapositiva">
            <a:extLst>
              <a:ext uri="{FF2B5EF4-FFF2-40B4-BE49-F238E27FC236}">
                <a16:creationId xmlns:a16="http://schemas.microsoft.com/office/drawing/2014/main" id="{107F2E1A-D3DD-2D2E-7C5C-87E56E84945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51</a:t>
            </a:fld>
            <a:endParaRPr lang="en-US" dirty="0"/>
          </a:p>
        </p:txBody>
      </p:sp>
    </p:spTree>
    <p:extLst>
      <p:ext uri="{BB962C8B-B14F-4D97-AF65-F5344CB8AC3E}">
        <p14:creationId xmlns:p14="http://schemas.microsoft.com/office/powerpoint/2010/main" val="1706829064"/>
      </p:ext>
    </p:extLst>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8"/>
          <p:cNvSpPr>
            <a:spLocks noGrp="1" noChangeArrowheads="1"/>
          </p:cNvSpPr>
          <p:nvPr>
            <p:ph type="title"/>
          </p:nvPr>
        </p:nvSpPr>
        <p:spPr/>
        <p:txBody>
          <a:bodyPr/>
          <a:lstStyle/>
          <a:p>
            <a:r>
              <a:rPr lang="es-ES" dirty="0"/>
              <a:t>Direccionamiento Memorias SDRAM</a:t>
            </a:r>
          </a:p>
        </p:txBody>
      </p:sp>
      <p:sp>
        <p:nvSpPr>
          <p:cNvPr id="69636" name="Rectangle 9"/>
          <p:cNvSpPr>
            <a:spLocks noGrp="1" noChangeArrowheads="1"/>
          </p:cNvSpPr>
          <p:nvPr>
            <p:ph type="body" idx="1"/>
          </p:nvPr>
        </p:nvSpPr>
        <p:spPr>
          <a:xfrm>
            <a:off x="533400" y="1052513"/>
            <a:ext cx="8305800" cy="3384599"/>
          </a:xfrm>
        </p:spPr>
        <p:txBody>
          <a:bodyPr/>
          <a:lstStyle/>
          <a:p>
            <a:r>
              <a:rPr lang="es-ES" dirty="0"/>
              <a:t>Acceso a bloque de memoria</a:t>
            </a:r>
          </a:p>
          <a:p>
            <a:pPr lvl="1"/>
            <a:r>
              <a:rPr lang="es-ES" altLang="ja-JP" dirty="0">
                <a:ea typeface="ＭＳ Ｐゴシック" charset="-128"/>
              </a:rPr>
              <a:t>Las órdenes de lectura y escritura indican la dirección de una palabra, pero el chip opera con las </a:t>
            </a:r>
            <a:r>
              <a:rPr lang="es-ES" altLang="ja-JP" i="1" dirty="0">
                <a:ea typeface="ＭＳ Ｐゴシック" charset="-128"/>
              </a:rPr>
              <a:t>R</a:t>
            </a:r>
            <a:r>
              <a:rPr lang="es-ES" altLang="ja-JP" dirty="0">
                <a:ea typeface="ＭＳ Ｐゴシック" charset="-128"/>
              </a:rPr>
              <a:t> palabras del bloque que la contiene</a:t>
            </a:r>
          </a:p>
          <a:p>
            <a:pPr lvl="1"/>
            <a:r>
              <a:rPr lang="es-ES" altLang="ja-JP" dirty="0">
                <a:ea typeface="ＭＳ Ｐゴシック" charset="-128"/>
              </a:rPr>
              <a:t>La palabra direccionada es la primera transmitida, y va seguida del resto del bloque en forma de ráfaga de datos (</a:t>
            </a:r>
            <a:r>
              <a:rPr lang="es-ES" altLang="ja-JP" i="1" dirty="0" err="1">
                <a:ea typeface="ＭＳ Ｐゴシック" charset="-128"/>
              </a:rPr>
              <a:t>burst</a:t>
            </a:r>
            <a:r>
              <a:rPr lang="es-ES" altLang="ja-JP" dirty="0">
                <a:ea typeface="ＭＳ Ｐゴシック" charset="-128"/>
              </a:rPr>
              <a:t>)</a:t>
            </a:r>
          </a:p>
          <a:p>
            <a:pPr lvl="1"/>
            <a:r>
              <a:rPr lang="es-ES" altLang="ja-JP" dirty="0">
                <a:ea typeface="ＭＳ Ｐゴシック" charset="-128"/>
              </a:rPr>
              <a:t>La secuencia de palabras accedidas hasta completar el bloque dependerá de la dirección especificada en la orden</a:t>
            </a:r>
          </a:p>
        </p:txBody>
      </p:sp>
      <p:sp>
        <p:nvSpPr>
          <p:cNvPr id="7" name="AutoShape 2"/>
          <p:cNvSpPr>
            <a:spLocks noChangeArrowheads="1"/>
          </p:cNvSpPr>
          <p:nvPr/>
        </p:nvSpPr>
        <p:spPr bwMode="auto">
          <a:xfrm>
            <a:off x="898029" y="5445224"/>
            <a:ext cx="1800225" cy="431800"/>
          </a:xfrm>
          <a:prstGeom prst="roundRect">
            <a:avLst>
              <a:gd name="adj" fmla="val 16667"/>
            </a:avLst>
          </a:prstGeom>
          <a:solidFill>
            <a:srgbClr val="CC6600"/>
          </a:solidFill>
          <a:ln w="9525" algn="ctr">
            <a:solidFill>
              <a:schemeClr val="tx1"/>
            </a:solidFill>
            <a:prstDash val="dash"/>
            <a:round/>
            <a:headEnd/>
            <a:tailEnd/>
          </a:ln>
        </p:spPr>
        <p:txBody>
          <a:bodyPr wrap="none" anchor="ctr"/>
          <a:lstStyle/>
          <a:p>
            <a:endParaRPr lang="es-ES"/>
          </a:p>
        </p:txBody>
      </p:sp>
      <p:sp>
        <p:nvSpPr>
          <p:cNvPr id="8" name="Rectangle 7"/>
          <p:cNvSpPr>
            <a:spLocks noChangeArrowheads="1"/>
          </p:cNvSpPr>
          <p:nvPr/>
        </p:nvSpPr>
        <p:spPr bwMode="auto">
          <a:xfrm>
            <a:off x="931366" y="5478562"/>
            <a:ext cx="431800" cy="358775"/>
          </a:xfrm>
          <a:prstGeom prst="rect">
            <a:avLst/>
          </a:prstGeom>
          <a:noFill/>
          <a:ln w="9525">
            <a:solidFill>
              <a:schemeClr val="tx1"/>
            </a:solidFill>
            <a:miter lim="800000"/>
            <a:headEnd/>
            <a:tailEnd/>
          </a:ln>
        </p:spPr>
        <p:txBody>
          <a:bodyPr wrap="none" lIns="0" tIns="0" rIns="0" bIns="72000" anchor="ctr"/>
          <a:lstStyle/>
          <a:p>
            <a:r>
              <a:rPr lang="es-ES" b="1">
                <a:solidFill>
                  <a:srgbClr val="FFFFFF"/>
                </a:solidFill>
                <a:latin typeface="Arial Narrow" pitchFamily="34" charset="0"/>
              </a:rPr>
              <a:t>0</a:t>
            </a:r>
          </a:p>
        </p:txBody>
      </p:sp>
      <p:sp>
        <p:nvSpPr>
          <p:cNvPr id="9" name="Rectangle 8"/>
          <p:cNvSpPr>
            <a:spLocks noChangeArrowheads="1"/>
          </p:cNvSpPr>
          <p:nvPr/>
        </p:nvSpPr>
        <p:spPr bwMode="auto">
          <a:xfrm>
            <a:off x="1363166" y="5478562"/>
            <a:ext cx="431800" cy="358775"/>
          </a:xfrm>
          <a:prstGeom prst="rect">
            <a:avLst/>
          </a:prstGeom>
          <a:noFill/>
          <a:ln w="9525">
            <a:solidFill>
              <a:schemeClr val="tx1"/>
            </a:solidFill>
            <a:miter lim="800000"/>
            <a:headEnd/>
            <a:tailEnd/>
          </a:ln>
        </p:spPr>
        <p:txBody>
          <a:bodyPr wrap="none" lIns="0" tIns="0" rIns="0" bIns="72000" anchor="ctr"/>
          <a:lstStyle/>
          <a:p>
            <a:r>
              <a:rPr lang="es-ES" b="1" dirty="0">
                <a:solidFill>
                  <a:srgbClr val="FFFFFF"/>
                </a:solidFill>
                <a:latin typeface="Arial Narrow" pitchFamily="34" charset="0"/>
              </a:rPr>
              <a:t>1</a:t>
            </a:r>
          </a:p>
        </p:txBody>
      </p:sp>
      <p:sp>
        <p:nvSpPr>
          <p:cNvPr id="10" name="Rectangle 9"/>
          <p:cNvSpPr>
            <a:spLocks noChangeArrowheads="1"/>
          </p:cNvSpPr>
          <p:nvPr/>
        </p:nvSpPr>
        <p:spPr bwMode="auto">
          <a:xfrm>
            <a:off x="1794966" y="5478562"/>
            <a:ext cx="431800" cy="358775"/>
          </a:xfrm>
          <a:prstGeom prst="rect">
            <a:avLst/>
          </a:prstGeom>
          <a:noFill/>
          <a:ln w="9525">
            <a:solidFill>
              <a:schemeClr val="tx1"/>
            </a:solidFill>
            <a:miter lim="800000"/>
            <a:headEnd/>
            <a:tailEnd/>
          </a:ln>
        </p:spPr>
        <p:txBody>
          <a:bodyPr wrap="none" lIns="0" tIns="0" rIns="0" bIns="72000" anchor="ctr"/>
          <a:lstStyle/>
          <a:p>
            <a:r>
              <a:rPr lang="es-ES" b="1">
                <a:solidFill>
                  <a:srgbClr val="FFFFFF"/>
                </a:solidFill>
                <a:latin typeface="Arial Narrow" pitchFamily="34" charset="0"/>
              </a:rPr>
              <a:t>2</a:t>
            </a:r>
          </a:p>
        </p:txBody>
      </p:sp>
      <p:sp>
        <p:nvSpPr>
          <p:cNvPr id="11" name="Rectangle 10"/>
          <p:cNvSpPr>
            <a:spLocks noChangeArrowheads="1"/>
          </p:cNvSpPr>
          <p:nvPr/>
        </p:nvSpPr>
        <p:spPr bwMode="auto">
          <a:xfrm>
            <a:off x="2226766" y="5478562"/>
            <a:ext cx="431800" cy="358775"/>
          </a:xfrm>
          <a:prstGeom prst="rect">
            <a:avLst/>
          </a:prstGeom>
          <a:noFill/>
          <a:ln w="9525">
            <a:solidFill>
              <a:schemeClr val="tx1"/>
            </a:solidFill>
            <a:miter lim="800000"/>
            <a:headEnd/>
            <a:tailEnd/>
          </a:ln>
        </p:spPr>
        <p:txBody>
          <a:bodyPr wrap="none" lIns="0" tIns="0" rIns="0" bIns="72000" anchor="ctr"/>
          <a:lstStyle/>
          <a:p>
            <a:r>
              <a:rPr lang="es-ES" b="1">
                <a:solidFill>
                  <a:srgbClr val="FFFFFF"/>
                </a:solidFill>
                <a:latin typeface="Arial Narrow" pitchFamily="34" charset="0"/>
              </a:rPr>
              <a:t>3</a:t>
            </a:r>
          </a:p>
        </p:txBody>
      </p:sp>
      <p:sp>
        <p:nvSpPr>
          <p:cNvPr id="12" name="Text Box 662"/>
          <p:cNvSpPr txBox="1">
            <a:spLocks noChangeArrowheads="1"/>
          </p:cNvSpPr>
          <p:nvPr/>
        </p:nvSpPr>
        <p:spPr bwMode="auto">
          <a:xfrm>
            <a:off x="1331640" y="5949032"/>
            <a:ext cx="974725" cy="304800"/>
          </a:xfrm>
          <a:prstGeom prst="rect">
            <a:avLst/>
          </a:prstGeom>
          <a:noFill/>
          <a:ln w="9525" algn="ctr">
            <a:noFill/>
            <a:miter lim="800000"/>
            <a:headEnd/>
            <a:tailEnd/>
          </a:ln>
        </p:spPr>
        <p:txBody>
          <a:bodyPr wrap="none" lIns="0" tIns="0" rIns="0" bIns="0">
            <a:spAutoFit/>
          </a:bodyPr>
          <a:lstStyle/>
          <a:p>
            <a:pPr marL="228600" indent="-228600" algn="l">
              <a:spcBef>
                <a:spcPct val="20000"/>
              </a:spcBef>
            </a:pPr>
            <a:r>
              <a:rPr lang="es-ES" dirty="0"/>
              <a:t>bloque 0</a:t>
            </a:r>
          </a:p>
        </p:txBody>
      </p:sp>
      <p:graphicFrame>
        <p:nvGraphicFramePr>
          <p:cNvPr id="13" name="12 Tabla"/>
          <p:cNvGraphicFramePr>
            <a:graphicFrameLocks noGrp="1"/>
          </p:cNvGraphicFramePr>
          <p:nvPr/>
        </p:nvGraphicFramePr>
        <p:xfrm>
          <a:off x="3131840" y="4293096"/>
          <a:ext cx="4752529" cy="182880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val="20000"/>
                    </a:ext>
                  </a:extLst>
                </a:gridCol>
                <a:gridCol w="3024337">
                  <a:extLst>
                    <a:ext uri="{9D8B030D-6E8A-4147-A177-3AD203B41FA5}">
                      <a16:colId xmlns:a16="http://schemas.microsoft.com/office/drawing/2014/main" val="20001"/>
                    </a:ext>
                  </a:extLst>
                </a:gridCol>
              </a:tblGrid>
              <a:tr h="322555">
                <a:tc>
                  <a:txBody>
                    <a:bodyPr/>
                    <a:lstStyle/>
                    <a:p>
                      <a:pPr algn="ctr"/>
                      <a:r>
                        <a:rPr lang="es-ES" dirty="0">
                          <a:solidFill>
                            <a:schemeClr val="bg2"/>
                          </a:solidFill>
                        </a:rPr>
                        <a:t>Dirección</a:t>
                      </a:r>
                    </a:p>
                  </a:txBody>
                  <a:tcPr/>
                </a:tc>
                <a:tc>
                  <a:txBody>
                    <a:bodyPr/>
                    <a:lstStyle/>
                    <a:p>
                      <a:pPr algn="ctr"/>
                      <a:r>
                        <a:rPr lang="es-ES" dirty="0">
                          <a:solidFill>
                            <a:schemeClr val="bg2"/>
                          </a:solidFill>
                        </a:rPr>
                        <a:t>Secuencia de accesos</a:t>
                      </a:r>
                    </a:p>
                  </a:txBody>
                  <a:tcPr/>
                </a:tc>
                <a:extLst>
                  <a:ext uri="{0D108BD9-81ED-4DB2-BD59-A6C34878D82A}">
                    <a16:rowId xmlns:a16="http://schemas.microsoft.com/office/drawing/2014/main" val="10000"/>
                  </a:ext>
                </a:extLst>
              </a:tr>
              <a:tr h="322555">
                <a:tc>
                  <a:txBody>
                    <a:bodyPr/>
                    <a:lstStyle/>
                    <a:p>
                      <a:pPr algn="ctr"/>
                      <a:r>
                        <a:rPr lang="es-ES" dirty="0"/>
                        <a:t>0</a:t>
                      </a:r>
                    </a:p>
                  </a:txBody>
                  <a:tcPr/>
                </a:tc>
                <a:tc>
                  <a:txBody>
                    <a:bodyPr/>
                    <a:lstStyle/>
                    <a:p>
                      <a:pPr algn="ctr"/>
                      <a:r>
                        <a:rPr lang="es-ES" dirty="0"/>
                        <a:t>0-1-2-3</a:t>
                      </a:r>
                    </a:p>
                  </a:txBody>
                  <a:tcPr/>
                </a:tc>
                <a:extLst>
                  <a:ext uri="{0D108BD9-81ED-4DB2-BD59-A6C34878D82A}">
                    <a16:rowId xmlns:a16="http://schemas.microsoft.com/office/drawing/2014/main" val="10001"/>
                  </a:ext>
                </a:extLst>
              </a:tr>
              <a:tr h="322555">
                <a:tc>
                  <a:txBody>
                    <a:bodyPr/>
                    <a:lstStyle/>
                    <a:p>
                      <a:pPr algn="ctr"/>
                      <a:r>
                        <a:rPr lang="es-ES" dirty="0"/>
                        <a:t>1</a:t>
                      </a:r>
                    </a:p>
                  </a:txBody>
                  <a:tcPr/>
                </a:tc>
                <a:tc>
                  <a:txBody>
                    <a:bodyPr/>
                    <a:lstStyle/>
                    <a:p>
                      <a:pPr algn="ctr"/>
                      <a:r>
                        <a:rPr lang="es-ES" dirty="0"/>
                        <a:t>1-2-3-0</a:t>
                      </a:r>
                    </a:p>
                  </a:txBody>
                  <a:tcPr/>
                </a:tc>
                <a:extLst>
                  <a:ext uri="{0D108BD9-81ED-4DB2-BD59-A6C34878D82A}">
                    <a16:rowId xmlns:a16="http://schemas.microsoft.com/office/drawing/2014/main" val="10002"/>
                  </a:ext>
                </a:extLst>
              </a:tr>
              <a:tr h="322555">
                <a:tc>
                  <a:txBody>
                    <a:bodyPr/>
                    <a:lstStyle/>
                    <a:p>
                      <a:pPr algn="ctr"/>
                      <a:r>
                        <a:rPr lang="es-ES" dirty="0"/>
                        <a:t>2</a:t>
                      </a:r>
                    </a:p>
                  </a:txBody>
                  <a:tcPr/>
                </a:tc>
                <a:tc>
                  <a:txBody>
                    <a:bodyPr/>
                    <a:lstStyle/>
                    <a:p>
                      <a:pPr algn="ctr"/>
                      <a:r>
                        <a:rPr lang="es-ES" dirty="0"/>
                        <a:t>2-3-0-1</a:t>
                      </a:r>
                    </a:p>
                  </a:txBody>
                  <a:tcPr/>
                </a:tc>
                <a:extLst>
                  <a:ext uri="{0D108BD9-81ED-4DB2-BD59-A6C34878D82A}">
                    <a16:rowId xmlns:a16="http://schemas.microsoft.com/office/drawing/2014/main" val="10003"/>
                  </a:ext>
                </a:extLst>
              </a:tr>
              <a:tr h="322555">
                <a:tc>
                  <a:txBody>
                    <a:bodyPr/>
                    <a:lstStyle/>
                    <a:p>
                      <a:pPr algn="ctr"/>
                      <a:r>
                        <a:rPr lang="es-ES" dirty="0"/>
                        <a:t>3</a:t>
                      </a:r>
                    </a:p>
                  </a:txBody>
                  <a:tcPr/>
                </a:tc>
                <a:tc>
                  <a:txBody>
                    <a:bodyPr/>
                    <a:lstStyle/>
                    <a:p>
                      <a:pPr algn="ctr"/>
                      <a:r>
                        <a:rPr lang="es-ES" dirty="0"/>
                        <a:t>3-0-1-2</a:t>
                      </a:r>
                    </a:p>
                  </a:txBody>
                  <a:tcPr/>
                </a:tc>
                <a:extLst>
                  <a:ext uri="{0D108BD9-81ED-4DB2-BD59-A6C34878D82A}">
                    <a16:rowId xmlns:a16="http://schemas.microsoft.com/office/drawing/2014/main" val="10004"/>
                  </a:ext>
                </a:extLst>
              </a:tr>
            </a:tbl>
          </a:graphicData>
        </a:graphic>
      </p:graphicFrame>
      <p:sp>
        <p:nvSpPr>
          <p:cNvPr id="14" name="13 CuadroTexto"/>
          <p:cNvSpPr txBox="1"/>
          <p:nvPr/>
        </p:nvSpPr>
        <p:spPr>
          <a:xfrm>
            <a:off x="573284" y="4437112"/>
            <a:ext cx="2313455" cy="707886"/>
          </a:xfrm>
          <a:prstGeom prst="rect">
            <a:avLst/>
          </a:prstGeom>
          <a:noFill/>
        </p:spPr>
        <p:txBody>
          <a:bodyPr wrap="none" rtlCol="0">
            <a:spAutoFit/>
          </a:bodyPr>
          <a:lstStyle/>
          <a:p>
            <a:pPr algn="l"/>
            <a:r>
              <a:rPr lang="es-ES" altLang="ja-JP" i="1" dirty="0">
                <a:ea typeface="ＭＳ Ｐゴシック" charset="-128"/>
              </a:rPr>
              <a:t>Ejemplo con </a:t>
            </a:r>
          </a:p>
          <a:p>
            <a:pPr algn="l"/>
            <a:r>
              <a:rPr lang="es-ES" altLang="ja-JP" i="1" dirty="0">
                <a:ea typeface="ＭＳ Ｐゴシック" charset="-128"/>
              </a:rPr>
              <a:t>tamaño bloque = 4</a:t>
            </a:r>
          </a:p>
        </p:txBody>
      </p:sp>
      <p:sp>
        <p:nvSpPr>
          <p:cNvPr id="2" name="2 Marcador de número de diapositiva">
            <a:extLst>
              <a:ext uri="{FF2B5EF4-FFF2-40B4-BE49-F238E27FC236}">
                <a16:creationId xmlns:a16="http://schemas.microsoft.com/office/drawing/2014/main" id="{ED16546B-15E7-DBC2-DFAD-70F7A2138FF7}"/>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8" name="697 Grupo"/>
          <p:cNvGrpSpPr/>
          <p:nvPr/>
        </p:nvGrpSpPr>
        <p:grpSpPr>
          <a:xfrm>
            <a:off x="1643042" y="3929066"/>
            <a:ext cx="7158075" cy="1717684"/>
            <a:chOff x="1643042" y="3929066"/>
            <a:chExt cx="7158075" cy="1717684"/>
          </a:xfrm>
        </p:grpSpPr>
        <p:sp>
          <p:nvSpPr>
            <p:cNvPr id="63491" name="AutoShape 2"/>
            <p:cNvSpPr>
              <a:spLocks noChangeArrowheads="1"/>
            </p:cNvSpPr>
            <p:nvPr/>
          </p:nvSpPr>
          <p:spPr bwMode="auto">
            <a:xfrm>
              <a:off x="1643042" y="3929066"/>
              <a:ext cx="1800225" cy="431800"/>
            </a:xfrm>
            <a:prstGeom prst="roundRect">
              <a:avLst>
                <a:gd name="adj" fmla="val 16667"/>
              </a:avLst>
            </a:prstGeom>
            <a:solidFill>
              <a:srgbClr val="CC6600"/>
            </a:solidFill>
            <a:ln w="9525" algn="ctr">
              <a:solidFill>
                <a:schemeClr val="tx1"/>
              </a:solidFill>
              <a:prstDash val="dash"/>
              <a:round/>
              <a:headEnd/>
              <a:tailEnd/>
            </a:ln>
          </p:spPr>
          <p:txBody>
            <a:bodyPr wrap="none" anchor="ctr"/>
            <a:lstStyle/>
            <a:p>
              <a:endParaRPr lang="es-ES"/>
            </a:p>
          </p:txBody>
        </p:sp>
        <p:sp>
          <p:nvSpPr>
            <p:cNvPr id="696" name="AutoShape 2"/>
            <p:cNvSpPr>
              <a:spLocks noChangeArrowheads="1"/>
            </p:cNvSpPr>
            <p:nvPr/>
          </p:nvSpPr>
          <p:spPr bwMode="auto">
            <a:xfrm>
              <a:off x="3428992" y="4786322"/>
              <a:ext cx="1800225" cy="431800"/>
            </a:xfrm>
            <a:prstGeom prst="roundRect">
              <a:avLst>
                <a:gd name="adj" fmla="val 16667"/>
              </a:avLst>
            </a:prstGeom>
            <a:solidFill>
              <a:srgbClr val="CC6600"/>
            </a:solidFill>
            <a:ln w="9525" algn="ctr">
              <a:solidFill>
                <a:schemeClr val="tx1"/>
              </a:solidFill>
              <a:prstDash val="dash"/>
              <a:round/>
              <a:headEnd/>
              <a:tailEnd/>
            </a:ln>
          </p:spPr>
          <p:txBody>
            <a:bodyPr wrap="none" anchor="ctr"/>
            <a:lstStyle/>
            <a:p>
              <a:endParaRPr lang="es-ES"/>
            </a:p>
          </p:txBody>
        </p:sp>
        <p:sp>
          <p:nvSpPr>
            <p:cNvPr id="697" name="AutoShape 2"/>
            <p:cNvSpPr>
              <a:spLocks noChangeArrowheads="1"/>
            </p:cNvSpPr>
            <p:nvPr/>
          </p:nvSpPr>
          <p:spPr bwMode="auto">
            <a:xfrm>
              <a:off x="7000892" y="5214950"/>
              <a:ext cx="1800225" cy="431800"/>
            </a:xfrm>
            <a:prstGeom prst="roundRect">
              <a:avLst>
                <a:gd name="adj" fmla="val 16667"/>
              </a:avLst>
            </a:prstGeom>
            <a:solidFill>
              <a:srgbClr val="CC6600"/>
            </a:solidFill>
            <a:ln w="9525" algn="ctr">
              <a:solidFill>
                <a:schemeClr val="tx1"/>
              </a:solidFill>
              <a:prstDash val="dash"/>
              <a:round/>
              <a:headEnd/>
              <a:tailEnd/>
            </a:ln>
          </p:spPr>
          <p:txBody>
            <a:bodyPr wrap="none" anchor="ctr"/>
            <a:lstStyle/>
            <a:p>
              <a:endParaRPr lang="es-ES"/>
            </a:p>
          </p:txBody>
        </p:sp>
      </p:grpSp>
      <p:sp>
        <p:nvSpPr>
          <p:cNvPr id="63493" name="Rectangle 4"/>
          <p:cNvSpPr>
            <a:spLocks noGrp="1" noChangeArrowheads="1"/>
          </p:cNvSpPr>
          <p:nvPr>
            <p:ph type="title"/>
          </p:nvPr>
        </p:nvSpPr>
        <p:spPr/>
        <p:txBody>
          <a:bodyPr/>
          <a:lstStyle/>
          <a:p>
            <a:r>
              <a:rPr lang="es-ES" dirty="0"/>
              <a:t>Direccionamiento Memorias SDRAM</a:t>
            </a:r>
          </a:p>
        </p:txBody>
      </p:sp>
      <p:sp>
        <p:nvSpPr>
          <p:cNvPr id="63494" name="Rectangle 5"/>
          <p:cNvSpPr>
            <a:spLocks noGrp="1" noChangeArrowheads="1"/>
          </p:cNvSpPr>
          <p:nvPr>
            <p:ph type="body" idx="1"/>
          </p:nvPr>
        </p:nvSpPr>
        <p:spPr>
          <a:xfrm>
            <a:off x="539552" y="980728"/>
            <a:ext cx="3889375" cy="1584325"/>
          </a:xfrm>
        </p:spPr>
        <p:txBody>
          <a:bodyPr/>
          <a:lstStyle/>
          <a:p>
            <a:r>
              <a:rPr lang="es-ES" dirty="0"/>
              <a:t>Ejemplo de matriz DRAM</a:t>
            </a:r>
          </a:p>
          <a:p>
            <a:pPr lvl="1"/>
            <a:r>
              <a:rPr lang="es-ES" dirty="0"/>
              <a:t>64x8 bits</a:t>
            </a:r>
          </a:p>
          <a:p>
            <a:pPr lvl="1"/>
            <a:r>
              <a:rPr lang="es-ES" dirty="0"/>
              <a:t>Un único banco</a:t>
            </a:r>
          </a:p>
          <a:p>
            <a:pPr lvl="1"/>
            <a:r>
              <a:rPr lang="es-ES" dirty="0"/>
              <a:t>4 (2</a:t>
            </a:r>
            <a:r>
              <a:rPr lang="es-ES" baseline="30000" dirty="0"/>
              <a:t>2</a:t>
            </a:r>
            <a:r>
              <a:rPr lang="es-ES" dirty="0"/>
              <a:t>) filas de 16 palabras (2</a:t>
            </a:r>
            <a:r>
              <a:rPr lang="es-ES" baseline="30000" dirty="0"/>
              <a:t>4</a:t>
            </a:r>
            <a:r>
              <a:rPr lang="es-ES" dirty="0"/>
              <a:t>)</a:t>
            </a:r>
          </a:p>
          <a:p>
            <a:pPr lvl="1"/>
            <a:r>
              <a:rPr lang="es-ES" dirty="0"/>
              <a:t>Bloques de 4 palabras (2</a:t>
            </a:r>
            <a:r>
              <a:rPr lang="es-ES" baseline="30000" dirty="0"/>
              <a:t>2</a:t>
            </a:r>
            <a:r>
              <a:rPr lang="es-ES" dirty="0"/>
              <a:t>)</a:t>
            </a:r>
          </a:p>
        </p:txBody>
      </p:sp>
      <p:grpSp>
        <p:nvGrpSpPr>
          <p:cNvPr id="695" name="694 Grupo"/>
          <p:cNvGrpSpPr/>
          <p:nvPr/>
        </p:nvGrpSpPr>
        <p:grpSpPr>
          <a:xfrm>
            <a:off x="743925" y="3907041"/>
            <a:ext cx="8042917" cy="1714512"/>
            <a:chOff x="743925" y="3907041"/>
            <a:chExt cx="8042917" cy="1714512"/>
          </a:xfrm>
        </p:grpSpPr>
        <p:sp>
          <p:nvSpPr>
            <p:cNvPr id="63998" name="Rectangle 7"/>
            <p:cNvSpPr>
              <a:spLocks noChangeArrowheads="1"/>
            </p:cNvSpPr>
            <p:nvPr/>
          </p:nvSpPr>
          <p:spPr bwMode="auto">
            <a:xfrm>
              <a:off x="1658967"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0</a:t>
              </a:r>
            </a:p>
          </p:txBody>
        </p:sp>
        <p:sp>
          <p:nvSpPr>
            <p:cNvPr id="63999" name="Rectangle 8"/>
            <p:cNvSpPr>
              <a:spLocks noChangeArrowheads="1"/>
            </p:cNvSpPr>
            <p:nvPr/>
          </p:nvSpPr>
          <p:spPr bwMode="auto">
            <a:xfrm>
              <a:off x="2090767" y="3945156"/>
              <a:ext cx="431800" cy="358775"/>
            </a:xfrm>
            <a:prstGeom prst="rect">
              <a:avLst/>
            </a:prstGeom>
            <a:noFill/>
            <a:ln w="9525">
              <a:solidFill>
                <a:schemeClr val="tx1"/>
              </a:solidFill>
              <a:miter lim="800000"/>
              <a:headEnd/>
              <a:tailEnd/>
            </a:ln>
          </p:spPr>
          <p:txBody>
            <a:bodyPr wrap="none" lIns="0" tIns="0" rIns="0" bIns="72000" anchor="ctr"/>
            <a:lstStyle/>
            <a:p>
              <a:r>
                <a:rPr lang="es-ES" b="1" dirty="0">
                  <a:latin typeface="Arial Narrow" pitchFamily="34" charset="0"/>
                </a:rPr>
                <a:t>1</a:t>
              </a:r>
            </a:p>
          </p:txBody>
        </p:sp>
        <p:sp>
          <p:nvSpPr>
            <p:cNvPr id="64000" name="Rectangle 9"/>
            <p:cNvSpPr>
              <a:spLocks noChangeArrowheads="1"/>
            </p:cNvSpPr>
            <p:nvPr/>
          </p:nvSpPr>
          <p:spPr bwMode="auto">
            <a:xfrm>
              <a:off x="2522567" y="3945156"/>
              <a:ext cx="431800" cy="358775"/>
            </a:xfrm>
            <a:prstGeom prst="rect">
              <a:avLst/>
            </a:prstGeom>
            <a:noFill/>
            <a:ln w="9525">
              <a:solidFill>
                <a:schemeClr val="tx1"/>
              </a:solidFill>
              <a:miter lim="800000"/>
              <a:headEnd/>
              <a:tailEnd/>
            </a:ln>
          </p:spPr>
          <p:txBody>
            <a:bodyPr wrap="none" lIns="0" tIns="0" rIns="0" bIns="72000" anchor="ctr"/>
            <a:lstStyle/>
            <a:p>
              <a:r>
                <a:rPr lang="es-ES" b="1" dirty="0">
                  <a:latin typeface="Arial Narrow" pitchFamily="34" charset="0"/>
                </a:rPr>
                <a:t>2</a:t>
              </a:r>
            </a:p>
          </p:txBody>
        </p:sp>
        <p:sp>
          <p:nvSpPr>
            <p:cNvPr id="64001" name="Rectangle 10"/>
            <p:cNvSpPr>
              <a:spLocks noChangeArrowheads="1"/>
            </p:cNvSpPr>
            <p:nvPr/>
          </p:nvSpPr>
          <p:spPr bwMode="auto">
            <a:xfrm>
              <a:off x="2954367" y="3945156"/>
              <a:ext cx="431800" cy="358775"/>
            </a:xfrm>
            <a:prstGeom prst="rect">
              <a:avLst/>
            </a:prstGeom>
            <a:noFill/>
            <a:ln w="9525">
              <a:solidFill>
                <a:schemeClr val="tx1"/>
              </a:solidFill>
              <a:miter lim="800000"/>
              <a:headEnd/>
              <a:tailEnd/>
            </a:ln>
          </p:spPr>
          <p:txBody>
            <a:bodyPr wrap="none" lIns="0" tIns="0" rIns="0" bIns="72000" anchor="ctr"/>
            <a:lstStyle/>
            <a:p>
              <a:r>
                <a:rPr lang="es-ES" b="1" dirty="0">
                  <a:latin typeface="Arial Narrow" pitchFamily="34" charset="0"/>
                </a:rPr>
                <a:t>3</a:t>
              </a:r>
            </a:p>
          </p:txBody>
        </p:sp>
        <p:sp>
          <p:nvSpPr>
            <p:cNvPr id="64002" name="Rectangle 11"/>
            <p:cNvSpPr>
              <a:spLocks noChangeArrowheads="1"/>
            </p:cNvSpPr>
            <p:nvPr/>
          </p:nvSpPr>
          <p:spPr bwMode="auto">
            <a:xfrm>
              <a:off x="345919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a:t>
              </a:r>
            </a:p>
          </p:txBody>
        </p:sp>
        <p:sp>
          <p:nvSpPr>
            <p:cNvPr id="64003" name="Rectangle 12"/>
            <p:cNvSpPr>
              <a:spLocks noChangeArrowheads="1"/>
            </p:cNvSpPr>
            <p:nvPr/>
          </p:nvSpPr>
          <p:spPr bwMode="auto">
            <a:xfrm>
              <a:off x="389099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a:t>
              </a:r>
            </a:p>
          </p:txBody>
        </p:sp>
        <p:sp>
          <p:nvSpPr>
            <p:cNvPr id="64004" name="Rectangle 13"/>
            <p:cNvSpPr>
              <a:spLocks noChangeArrowheads="1"/>
            </p:cNvSpPr>
            <p:nvPr/>
          </p:nvSpPr>
          <p:spPr bwMode="auto">
            <a:xfrm>
              <a:off x="432279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6</a:t>
              </a:r>
            </a:p>
          </p:txBody>
        </p:sp>
        <p:sp>
          <p:nvSpPr>
            <p:cNvPr id="64005" name="Rectangle 14"/>
            <p:cNvSpPr>
              <a:spLocks noChangeArrowheads="1"/>
            </p:cNvSpPr>
            <p:nvPr/>
          </p:nvSpPr>
          <p:spPr bwMode="auto">
            <a:xfrm>
              <a:off x="475459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7</a:t>
              </a:r>
            </a:p>
          </p:txBody>
        </p:sp>
        <p:sp>
          <p:nvSpPr>
            <p:cNvPr id="64006" name="Rectangle 15"/>
            <p:cNvSpPr>
              <a:spLocks noChangeArrowheads="1"/>
            </p:cNvSpPr>
            <p:nvPr/>
          </p:nvSpPr>
          <p:spPr bwMode="auto">
            <a:xfrm>
              <a:off x="5259417"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8</a:t>
              </a:r>
            </a:p>
          </p:txBody>
        </p:sp>
        <p:sp>
          <p:nvSpPr>
            <p:cNvPr id="64007" name="Rectangle 16"/>
            <p:cNvSpPr>
              <a:spLocks noChangeArrowheads="1"/>
            </p:cNvSpPr>
            <p:nvPr/>
          </p:nvSpPr>
          <p:spPr bwMode="auto">
            <a:xfrm>
              <a:off x="5691217"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9</a:t>
              </a:r>
            </a:p>
          </p:txBody>
        </p:sp>
        <p:sp>
          <p:nvSpPr>
            <p:cNvPr id="64008" name="Rectangle 17"/>
            <p:cNvSpPr>
              <a:spLocks noChangeArrowheads="1"/>
            </p:cNvSpPr>
            <p:nvPr/>
          </p:nvSpPr>
          <p:spPr bwMode="auto">
            <a:xfrm>
              <a:off x="6123017"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10</a:t>
              </a:r>
            </a:p>
          </p:txBody>
        </p:sp>
        <p:sp>
          <p:nvSpPr>
            <p:cNvPr id="64009" name="Rectangle 18"/>
            <p:cNvSpPr>
              <a:spLocks noChangeArrowheads="1"/>
            </p:cNvSpPr>
            <p:nvPr/>
          </p:nvSpPr>
          <p:spPr bwMode="auto">
            <a:xfrm>
              <a:off x="6554817"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11</a:t>
              </a:r>
            </a:p>
          </p:txBody>
        </p:sp>
        <p:sp>
          <p:nvSpPr>
            <p:cNvPr id="64010" name="Rectangle 19"/>
            <p:cNvSpPr>
              <a:spLocks noChangeArrowheads="1"/>
            </p:cNvSpPr>
            <p:nvPr/>
          </p:nvSpPr>
          <p:spPr bwMode="auto">
            <a:xfrm>
              <a:off x="705964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12</a:t>
              </a:r>
            </a:p>
          </p:txBody>
        </p:sp>
        <p:sp>
          <p:nvSpPr>
            <p:cNvPr id="64011" name="Rectangle 20"/>
            <p:cNvSpPr>
              <a:spLocks noChangeArrowheads="1"/>
            </p:cNvSpPr>
            <p:nvPr/>
          </p:nvSpPr>
          <p:spPr bwMode="auto">
            <a:xfrm>
              <a:off x="749144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13</a:t>
              </a:r>
            </a:p>
          </p:txBody>
        </p:sp>
        <p:sp>
          <p:nvSpPr>
            <p:cNvPr id="64012" name="Rectangle 21"/>
            <p:cNvSpPr>
              <a:spLocks noChangeArrowheads="1"/>
            </p:cNvSpPr>
            <p:nvPr/>
          </p:nvSpPr>
          <p:spPr bwMode="auto">
            <a:xfrm>
              <a:off x="792324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14</a:t>
              </a:r>
            </a:p>
          </p:txBody>
        </p:sp>
        <p:sp>
          <p:nvSpPr>
            <p:cNvPr id="64013" name="Rectangle 22"/>
            <p:cNvSpPr>
              <a:spLocks noChangeArrowheads="1"/>
            </p:cNvSpPr>
            <p:nvPr/>
          </p:nvSpPr>
          <p:spPr bwMode="auto">
            <a:xfrm>
              <a:off x="8355042" y="3945156"/>
              <a:ext cx="431800" cy="358775"/>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15</a:t>
              </a:r>
            </a:p>
          </p:txBody>
        </p:sp>
        <p:grpSp>
          <p:nvGrpSpPr>
            <p:cNvPr id="2" name="Group 23"/>
            <p:cNvGrpSpPr>
              <a:grpSpLocks/>
            </p:cNvGrpSpPr>
            <p:nvPr/>
          </p:nvGrpSpPr>
          <p:grpSpPr bwMode="auto">
            <a:xfrm>
              <a:off x="1712942" y="4232572"/>
              <a:ext cx="7019925" cy="71359"/>
              <a:chOff x="510" y="1525"/>
              <a:chExt cx="4422" cy="45"/>
            </a:xfrm>
          </p:grpSpPr>
          <p:grpSp>
            <p:nvGrpSpPr>
              <p:cNvPr id="3" name="Group 24"/>
              <p:cNvGrpSpPr>
                <a:grpSpLocks/>
              </p:cNvGrpSpPr>
              <p:nvPr/>
            </p:nvGrpSpPr>
            <p:grpSpPr bwMode="auto">
              <a:xfrm>
                <a:off x="510" y="1525"/>
                <a:ext cx="204" cy="45"/>
                <a:chOff x="1292" y="1525"/>
                <a:chExt cx="273" cy="45"/>
              </a:xfrm>
            </p:grpSpPr>
            <p:sp>
              <p:nvSpPr>
                <p:cNvPr id="64151" name="Line 2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2" name="Line 2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3" name="Line 2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4" name="Line 2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5" name="Line 2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6" name="Line 3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7" name="Line 3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8" name="Line 3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4" name="Group 33"/>
              <p:cNvGrpSpPr>
                <a:grpSpLocks/>
              </p:cNvGrpSpPr>
              <p:nvPr/>
            </p:nvGrpSpPr>
            <p:grpSpPr bwMode="auto">
              <a:xfrm>
                <a:off x="782" y="1525"/>
                <a:ext cx="204" cy="45"/>
                <a:chOff x="1292" y="1525"/>
                <a:chExt cx="273" cy="45"/>
              </a:xfrm>
            </p:grpSpPr>
            <p:sp>
              <p:nvSpPr>
                <p:cNvPr id="64143" name="Line 3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4" name="Line 3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5" name="Line 3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6" name="Line 3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7" name="Line 3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8" name="Line 3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9" name="Line 4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50" name="Line 4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5" name="Group 42"/>
              <p:cNvGrpSpPr>
                <a:grpSpLocks/>
              </p:cNvGrpSpPr>
              <p:nvPr/>
            </p:nvGrpSpPr>
            <p:grpSpPr bwMode="auto">
              <a:xfrm>
                <a:off x="1054" y="1525"/>
                <a:ext cx="204" cy="45"/>
                <a:chOff x="1292" y="1525"/>
                <a:chExt cx="273" cy="45"/>
              </a:xfrm>
            </p:grpSpPr>
            <p:sp>
              <p:nvSpPr>
                <p:cNvPr id="64135" name="Line 4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6" name="Line 4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7" name="Line 45"/>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8" name="Line 46"/>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9" name="Line 47"/>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0" name="Line 48"/>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1" name="Line 49"/>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42" name="Line 50"/>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 name="Group 51"/>
              <p:cNvGrpSpPr>
                <a:grpSpLocks/>
              </p:cNvGrpSpPr>
              <p:nvPr/>
            </p:nvGrpSpPr>
            <p:grpSpPr bwMode="auto">
              <a:xfrm>
                <a:off x="1326" y="1525"/>
                <a:ext cx="204" cy="45"/>
                <a:chOff x="1292" y="1525"/>
                <a:chExt cx="273" cy="45"/>
              </a:xfrm>
            </p:grpSpPr>
            <p:sp>
              <p:nvSpPr>
                <p:cNvPr id="64127" name="Line 5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8" name="Line 5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9" name="Line 54"/>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0" name="Line 55"/>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1" name="Line 56"/>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2" name="Line 57"/>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3" name="Line 58"/>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34" name="Line 59"/>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7" name="Group 60"/>
              <p:cNvGrpSpPr>
                <a:grpSpLocks/>
              </p:cNvGrpSpPr>
              <p:nvPr/>
            </p:nvGrpSpPr>
            <p:grpSpPr bwMode="auto">
              <a:xfrm>
                <a:off x="1644" y="1525"/>
                <a:ext cx="204" cy="45"/>
                <a:chOff x="1292" y="1525"/>
                <a:chExt cx="273" cy="45"/>
              </a:xfrm>
            </p:grpSpPr>
            <p:sp>
              <p:nvSpPr>
                <p:cNvPr id="64119" name="Line 6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0" name="Line 6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1" name="Line 63"/>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2" name="Line 64"/>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3" name="Line 65"/>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4" name="Line 66"/>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5" name="Line 67"/>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26" name="Line 68"/>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8" name="Group 69"/>
              <p:cNvGrpSpPr>
                <a:grpSpLocks/>
              </p:cNvGrpSpPr>
              <p:nvPr/>
            </p:nvGrpSpPr>
            <p:grpSpPr bwMode="auto">
              <a:xfrm>
                <a:off x="1916" y="1525"/>
                <a:ext cx="204" cy="45"/>
                <a:chOff x="1292" y="1525"/>
                <a:chExt cx="273" cy="45"/>
              </a:xfrm>
            </p:grpSpPr>
            <p:sp>
              <p:nvSpPr>
                <p:cNvPr id="64111" name="Line 7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2" name="Line 7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3" name="Line 72"/>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4" name="Line 73"/>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5" name="Line 74"/>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6" name="Line 75"/>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7" name="Line 76"/>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8" name="Line 77"/>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9" name="Group 78"/>
              <p:cNvGrpSpPr>
                <a:grpSpLocks/>
              </p:cNvGrpSpPr>
              <p:nvPr/>
            </p:nvGrpSpPr>
            <p:grpSpPr bwMode="auto">
              <a:xfrm>
                <a:off x="2188" y="1525"/>
                <a:ext cx="204" cy="45"/>
                <a:chOff x="1292" y="1525"/>
                <a:chExt cx="273" cy="45"/>
              </a:xfrm>
            </p:grpSpPr>
            <p:sp>
              <p:nvSpPr>
                <p:cNvPr id="64103" name="Line 7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4" name="Line 8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5" name="Line 81"/>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6" name="Line 82"/>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7" name="Line 83"/>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8" name="Line 84"/>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9" name="Line 85"/>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10" name="Line 86"/>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0" name="Group 87"/>
              <p:cNvGrpSpPr>
                <a:grpSpLocks/>
              </p:cNvGrpSpPr>
              <p:nvPr/>
            </p:nvGrpSpPr>
            <p:grpSpPr bwMode="auto">
              <a:xfrm>
                <a:off x="2460" y="1525"/>
                <a:ext cx="204" cy="45"/>
                <a:chOff x="1292" y="1525"/>
                <a:chExt cx="273" cy="45"/>
              </a:xfrm>
            </p:grpSpPr>
            <p:sp>
              <p:nvSpPr>
                <p:cNvPr id="64095" name="Line 8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6" name="Line 8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7" name="Line 90"/>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8" name="Line 91"/>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9" name="Line 92"/>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0" name="Line 93"/>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1" name="Line 94"/>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102" name="Line 95"/>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1" name="Group 96"/>
              <p:cNvGrpSpPr>
                <a:grpSpLocks/>
              </p:cNvGrpSpPr>
              <p:nvPr/>
            </p:nvGrpSpPr>
            <p:grpSpPr bwMode="auto">
              <a:xfrm>
                <a:off x="2778" y="1525"/>
                <a:ext cx="204" cy="45"/>
                <a:chOff x="1292" y="1525"/>
                <a:chExt cx="273" cy="45"/>
              </a:xfrm>
            </p:grpSpPr>
            <p:sp>
              <p:nvSpPr>
                <p:cNvPr id="64087" name="Line 9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8" name="Line 9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9" name="Line 9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0" name="Line 10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1" name="Line 10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2" name="Line 10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3" name="Line 10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94" name="Line 10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2" name="Group 105"/>
              <p:cNvGrpSpPr>
                <a:grpSpLocks/>
              </p:cNvGrpSpPr>
              <p:nvPr/>
            </p:nvGrpSpPr>
            <p:grpSpPr bwMode="auto">
              <a:xfrm>
                <a:off x="3050" y="1525"/>
                <a:ext cx="204" cy="45"/>
                <a:chOff x="1292" y="1525"/>
                <a:chExt cx="273" cy="45"/>
              </a:xfrm>
            </p:grpSpPr>
            <p:sp>
              <p:nvSpPr>
                <p:cNvPr id="64079" name="Line 10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0" name="Line 10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1" name="Line 10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2" name="Line 10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3" name="Line 11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4" name="Line 11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5" name="Line 11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86" name="Line 11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3" name="Group 114"/>
              <p:cNvGrpSpPr>
                <a:grpSpLocks/>
              </p:cNvGrpSpPr>
              <p:nvPr/>
            </p:nvGrpSpPr>
            <p:grpSpPr bwMode="auto">
              <a:xfrm>
                <a:off x="3322" y="1525"/>
                <a:ext cx="204" cy="45"/>
                <a:chOff x="1292" y="1525"/>
                <a:chExt cx="273" cy="45"/>
              </a:xfrm>
            </p:grpSpPr>
            <p:sp>
              <p:nvSpPr>
                <p:cNvPr id="64071" name="Line 11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2" name="Line 11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3" name="Line 11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4" name="Line 11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5" name="Line 11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6" name="Line 12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7" name="Line 12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8" name="Line 12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4" name="Group 123"/>
              <p:cNvGrpSpPr>
                <a:grpSpLocks/>
              </p:cNvGrpSpPr>
              <p:nvPr/>
            </p:nvGrpSpPr>
            <p:grpSpPr bwMode="auto">
              <a:xfrm>
                <a:off x="3594" y="1525"/>
                <a:ext cx="204" cy="45"/>
                <a:chOff x="1292" y="1525"/>
                <a:chExt cx="273" cy="45"/>
              </a:xfrm>
            </p:grpSpPr>
            <p:sp>
              <p:nvSpPr>
                <p:cNvPr id="64063" name="Line 12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4" name="Line 12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5" name="Line 12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6" name="Line 12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7" name="Line 12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8" name="Line 12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9" name="Line 13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70" name="Line 13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5" name="Group 132"/>
              <p:cNvGrpSpPr>
                <a:grpSpLocks/>
              </p:cNvGrpSpPr>
              <p:nvPr/>
            </p:nvGrpSpPr>
            <p:grpSpPr bwMode="auto">
              <a:xfrm>
                <a:off x="3912" y="1525"/>
                <a:ext cx="204" cy="45"/>
                <a:chOff x="1292" y="1525"/>
                <a:chExt cx="273" cy="45"/>
              </a:xfrm>
            </p:grpSpPr>
            <p:sp>
              <p:nvSpPr>
                <p:cNvPr id="64055" name="Line 13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6" name="Line 13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7" name="Line 135"/>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8" name="Line 136"/>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9" name="Line 137"/>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0" name="Line 138"/>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1" name="Line 139"/>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62" name="Line 140"/>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6" name="Group 141"/>
              <p:cNvGrpSpPr>
                <a:grpSpLocks/>
              </p:cNvGrpSpPr>
              <p:nvPr/>
            </p:nvGrpSpPr>
            <p:grpSpPr bwMode="auto">
              <a:xfrm>
                <a:off x="4184" y="1525"/>
                <a:ext cx="204" cy="45"/>
                <a:chOff x="1292" y="1525"/>
                <a:chExt cx="273" cy="45"/>
              </a:xfrm>
            </p:grpSpPr>
            <p:sp>
              <p:nvSpPr>
                <p:cNvPr id="64047" name="Line 14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8" name="Line 14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9" name="Line 144"/>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0" name="Line 145"/>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1" name="Line 146"/>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2" name="Line 147"/>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3" name="Line 148"/>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54" name="Line 149"/>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7" name="Group 150"/>
              <p:cNvGrpSpPr>
                <a:grpSpLocks/>
              </p:cNvGrpSpPr>
              <p:nvPr/>
            </p:nvGrpSpPr>
            <p:grpSpPr bwMode="auto">
              <a:xfrm>
                <a:off x="4456" y="1525"/>
                <a:ext cx="204" cy="45"/>
                <a:chOff x="1292" y="1525"/>
                <a:chExt cx="273" cy="45"/>
              </a:xfrm>
            </p:grpSpPr>
            <p:sp>
              <p:nvSpPr>
                <p:cNvPr id="64039" name="Line 15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0" name="Line 15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1" name="Line 153"/>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2" name="Line 154"/>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3" name="Line 155"/>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4" name="Line 156"/>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5" name="Line 157"/>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46" name="Line 158"/>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18" name="Group 159"/>
              <p:cNvGrpSpPr>
                <a:grpSpLocks/>
              </p:cNvGrpSpPr>
              <p:nvPr/>
            </p:nvGrpSpPr>
            <p:grpSpPr bwMode="auto">
              <a:xfrm>
                <a:off x="4728" y="1525"/>
                <a:ext cx="204" cy="45"/>
                <a:chOff x="1292" y="1525"/>
                <a:chExt cx="273" cy="45"/>
              </a:xfrm>
            </p:grpSpPr>
            <p:sp>
              <p:nvSpPr>
                <p:cNvPr id="64031" name="Line 16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2" name="Line 16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3" name="Line 162"/>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4" name="Line 163"/>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5" name="Line 164"/>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6" name="Line 165"/>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7" name="Line 166"/>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4038" name="Line 167"/>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grpSp>
          <p:nvGrpSpPr>
            <p:cNvPr id="19" name="Group 168"/>
            <p:cNvGrpSpPr>
              <a:grpSpLocks/>
            </p:cNvGrpSpPr>
            <p:nvPr/>
          </p:nvGrpSpPr>
          <p:grpSpPr bwMode="auto">
            <a:xfrm>
              <a:off x="1657380" y="4376956"/>
              <a:ext cx="7127875" cy="358775"/>
              <a:chOff x="1021" y="1389"/>
              <a:chExt cx="4490" cy="181"/>
            </a:xfrm>
          </p:grpSpPr>
          <p:sp>
            <p:nvSpPr>
              <p:cNvPr id="63837" name="Rectangle 169"/>
              <p:cNvSpPr>
                <a:spLocks noChangeArrowheads="1"/>
              </p:cNvSpPr>
              <p:nvPr/>
            </p:nvSpPr>
            <p:spPr bwMode="auto">
              <a:xfrm>
                <a:off x="102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16</a:t>
                </a:r>
              </a:p>
            </p:txBody>
          </p:sp>
          <p:sp>
            <p:nvSpPr>
              <p:cNvPr id="63838" name="Rectangle 170"/>
              <p:cNvSpPr>
                <a:spLocks noChangeArrowheads="1"/>
              </p:cNvSpPr>
              <p:nvPr/>
            </p:nvSpPr>
            <p:spPr bwMode="auto">
              <a:xfrm>
                <a:off x="129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17</a:t>
                </a:r>
              </a:p>
            </p:txBody>
          </p:sp>
          <p:sp>
            <p:nvSpPr>
              <p:cNvPr id="63839" name="Rectangle 171"/>
              <p:cNvSpPr>
                <a:spLocks noChangeArrowheads="1"/>
              </p:cNvSpPr>
              <p:nvPr/>
            </p:nvSpPr>
            <p:spPr bwMode="auto">
              <a:xfrm>
                <a:off x="156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18</a:t>
                </a:r>
              </a:p>
            </p:txBody>
          </p:sp>
          <p:sp>
            <p:nvSpPr>
              <p:cNvPr id="63840" name="Rectangle 172"/>
              <p:cNvSpPr>
                <a:spLocks noChangeArrowheads="1"/>
              </p:cNvSpPr>
              <p:nvPr/>
            </p:nvSpPr>
            <p:spPr bwMode="auto">
              <a:xfrm>
                <a:off x="183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19</a:t>
                </a:r>
              </a:p>
            </p:txBody>
          </p:sp>
          <p:sp>
            <p:nvSpPr>
              <p:cNvPr id="63841" name="Rectangle 173"/>
              <p:cNvSpPr>
                <a:spLocks noChangeArrowheads="1"/>
              </p:cNvSpPr>
              <p:nvPr/>
            </p:nvSpPr>
            <p:spPr bwMode="auto">
              <a:xfrm>
                <a:off x="215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20</a:t>
                </a:r>
              </a:p>
            </p:txBody>
          </p:sp>
          <p:sp>
            <p:nvSpPr>
              <p:cNvPr id="63842" name="Rectangle 174"/>
              <p:cNvSpPr>
                <a:spLocks noChangeArrowheads="1"/>
              </p:cNvSpPr>
              <p:nvPr/>
            </p:nvSpPr>
            <p:spPr bwMode="auto">
              <a:xfrm>
                <a:off x="242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21</a:t>
                </a:r>
              </a:p>
            </p:txBody>
          </p:sp>
          <p:sp>
            <p:nvSpPr>
              <p:cNvPr id="63843" name="Rectangle 175"/>
              <p:cNvSpPr>
                <a:spLocks noChangeArrowheads="1"/>
              </p:cNvSpPr>
              <p:nvPr/>
            </p:nvSpPr>
            <p:spPr bwMode="auto">
              <a:xfrm>
                <a:off x="269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22</a:t>
                </a:r>
              </a:p>
            </p:txBody>
          </p:sp>
          <p:sp>
            <p:nvSpPr>
              <p:cNvPr id="63844" name="Rectangle 176"/>
              <p:cNvSpPr>
                <a:spLocks noChangeArrowheads="1"/>
              </p:cNvSpPr>
              <p:nvPr/>
            </p:nvSpPr>
            <p:spPr bwMode="auto">
              <a:xfrm>
                <a:off x="297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23</a:t>
                </a:r>
              </a:p>
            </p:txBody>
          </p:sp>
          <p:sp>
            <p:nvSpPr>
              <p:cNvPr id="63845" name="Rectangle 177"/>
              <p:cNvSpPr>
                <a:spLocks noChangeArrowheads="1"/>
              </p:cNvSpPr>
              <p:nvPr/>
            </p:nvSpPr>
            <p:spPr bwMode="auto">
              <a:xfrm>
                <a:off x="328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24</a:t>
                </a:r>
              </a:p>
            </p:txBody>
          </p:sp>
          <p:sp>
            <p:nvSpPr>
              <p:cNvPr id="63846" name="Rectangle 178"/>
              <p:cNvSpPr>
                <a:spLocks noChangeArrowheads="1"/>
              </p:cNvSpPr>
              <p:nvPr/>
            </p:nvSpPr>
            <p:spPr bwMode="auto">
              <a:xfrm>
                <a:off x="356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25</a:t>
                </a:r>
              </a:p>
            </p:txBody>
          </p:sp>
          <p:sp>
            <p:nvSpPr>
              <p:cNvPr id="63847" name="Rectangle 179"/>
              <p:cNvSpPr>
                <a:spLocks noChangeArrowheads="1"/>
              </p:cNvSpPr>
              <p:nvPr/>
            </p:nvSpPr>
            <p:spPr bwMode="auto">
              <a:xfrm>
                <a:off x="383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26</a:t>
                </a:r>
              </a:p>
            </p:txBody>
          </p:sp>
          <p:sp>
            <p:nvSpPr>
              <p:cNvPr id="63848" name="Rectangle 180"/>
              <p:cNvSpPr>
                <a:spLocks noChangeArrowheads="1"/>
              </p:cNvSpPr>
              <p:nvPr/>
            </p:nvSpPr>
            <p:spPr bwMode="auto">
              <a:xfrm>
                <a:off x="410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27</a:t>
                </a:r>
              </a:p>
            </p:txBody>
          </p:sp>
          <p:sp>
            <p:nvSpPr>
              <p:cNvPr id="63849" name="Rectangle 181"/>
              <p:cNvSpPr>
                <a:spLocks noChangeArrowheads="1"/>
              </p:cNvSpPr>
              <p:nvPr/>
            </p:nvSpPr>
            <p:spPr bwMode="auto">
              <a:xfrm>
                <a:off x="442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28</a:t>
                </a:r>
              </a:p>
            </p:txBody>
          </p:sp>
          <p:sp>
            <p:nvSpPr>
              <p:cNvPr id="63850" name="Rectangle 182"/>
              <p:cNvSpPr>
                <a:spLocks noChangeArrowheads="1"/>
              </p:cNvSpPr>
              <p:nvPr/>
            </p:nvSpPr>
            <p:spPr bwMode="auto">
              <a:xfrm>
                <a:off x="469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29</a:t>
                </a:r>
              </a:p>
            </p:txBody>
          </p:sp>
          <p:sp>
            <p:nvSpPr>
              <p:cNvPr id="63851" name="Rectangle 183"/>
              <p:cNvSpPr>
                <a:spLocks noChangeArrowheads="1"/>
              </p:cNvSpPr>
              <p:nvPr/>
            </p:nvSpPr>
            <p:spPr bwMode="auto">
              <a:xfrm>
                <a:off x="496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30</a:t>
                </a:r>
              </a:p>
            </p:txBody>
          </p:sp>
          <p:sp>
            <p:nvSpPr>
              <p:cNvPr id="63852" name="Rectangle 184"/>
              <p:cNvSpPr>
                <a:spLocks noChangeArrowheads="1"/>
              </p:cNvSpPr>
              <p:nvPr/>
            </p:nvSpPr>
            <p:spPr bwMode="auto">
              <a:xfrm>
                <a:off x="523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31</a:t>
                </a:r>
              </a:p>
            </p:txBody>
          </p:sp>
          <p:grpSp>
            <p:nvGrpSpPr>
              <p:cNvPr id="20" name="Group 185"/>
              <p:cNvGrpSpPr>
                <a:grpSpLocks/>
              </p:cNvGrpSpPr>
              <p:nvPr/>
            </p:nvGrpSpPr>
            <p:grpSpPr bwMode="auto">
              <a:xfrm>
                <a:off x="1055" y="1534"/>
                <a:ext cx="4422" cy="36"/>
                <a:chOff x="510" y="1525"/>
                <a:chExt cx="4422" cy="45"/>
              </a:xfrm>
            </p:grpSpPr>
            <p:grpSp>
              <p:nvGrpSpPr>
                <p:cNvPr id="21" name="Group 186"/>
                <p:cNvGrpSpPr>
                  <a:grpSpLocks/>
                </p:cNvGrpSpPr>
                <p:nvPr/>
              </p:nvGrpSpPr>
              <p:grpSpPr bwMode="auto">
                <a:xfrm>
                  <a:off x="510" y="1525"/>
                  <a:ext cx="204" cy="45"/>
                  <a:chOff x="1292" y="1525"/>
                  <a:chExt cx="273" cy="45"/>
                </a:xfrm>
              </p:grpSpPr>
              <p:sp>
                <p:nvSpPr>
                  <p:cNvPr id="63990" name="Line 18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1" name="Line 18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2" name="Line 18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3" name="Line 19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4" name="Line 19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5" name="Line 19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6" name="Line 19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97" name="Line 19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2" name="Group 195"/>
                <p:cNvGrpSpPr>
                  <a:grpSpLocks/>
                </p:cNvGrpSpPr>
                <p:nvPr/>
              </p:nvGrpSpPr>
              <p:grpSpPr bwMode="auto">
                <a:xfrm>
                  <a:off x="782" y="1525"/>
                  <a:ext cx="204" cy="45"/>
                  <a:chOff x="1292" y="1525"/>
                  <a:chExt cx="273" cy="45"/>
                </a:xfrm>
              </p:grpSpPr>
              <p:sp>
                <p:nvSpPr>
                  <p:cNvPr id="63982" name="Line 19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3" name="Line 19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4" name="Line 19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5" name="Line 19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6" name="Line 20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7" name="Line 20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8" name="Line 20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9" name="Line 20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3" name="Group 204"/>
                <p:cNvGrpSpPr>
                  <a:grpSpLocks/>
                </p:cNvGrpSpPr>
                <p:nvPr/>
              </p:nvGrpSpPr>
              <p:grpSpPr bwMode="auto">
                <a:xfrm>
                  <a:off x="1054" y="1525"/>
                  <a:ext cx="204" cy="45"/>
                  <a:chOff x="1292" y="1525"/>
                  <a:chExt cx="273" cy="45"/>
                </a:xfrm>
              </p:grpSpPr>
              <p:sp>
                <p:nvSpPr>
                  <p:cNvPr id="63974" name="Line 20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5" name="Line 20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6" name="Line 20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7" name="Line 20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8" name="Line 20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9" name="Line 21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0" name="Line 21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81" name="Line 21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4" name="Group 213"/>
                <p:cNvGrpSpPr>
                  <a:grpSpLocks/>
                </p:cNvGrpSpPr>
                <p:nvPr/>
              </p:nvGrpSpPr>
              <p:grpSpPr bwMode="auto">
                <a:xfrm>
                  <a:off x="1326" y="1525"/>
                  <a:ext cx="204" cy="45"/>
                  <a:chOff x="1292" y="1525"/>
                  <a:chExt cx="273" cy="45"/>
                </a:xfrm>
              </p:grpSpPr>
              <p:sp>
                <p:nvSpPr>
                  <p:cNvPr id="63966" name="Line 21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7" name="Line 21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8" name="Line 21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9" name="Line 21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0" name="Line 21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1" name="Line 21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2" name="Line 22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73" name="Line 22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5" name="Group 222"/>
                <p:cNvGrpSpPr>
                  <a:grpSpLocks/>
                </p:cNvGrpSpPr>
                <p:nvPr/>
              </p:nvGrpSpPr>
              <p:grpSpPr bwMode="auto">
                <a:xfrm>
                  <a:off x="1644" y="1525"/>
                  <a:ext cx="204" cy="45"/>
                  <a:chOff x="1292" y="1525"/>
                  <a:chExt cx="273" cy="45"/>
                </a:xfrm>
              </p:grpSpPr>
              <p:sp>
                <p:nvSpPr>
                  <p:cNvPr id="63958" name="Line 22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9" name="Line 22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0" name="Line 225"/>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1" name="Line 226"/>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2" name="Line 227"/>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3" name="Line 228"/>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4" name="Line 229"/>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65" name="Line 230"/>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6" name="Group 231"/>
                <p:cNvGrpSpPr>
                  <a:grpSpLocks/>
                </p:cNvGrpSpPr>
                <p:nvPr/>
              </p:nvGrpSpPr>
              <p:grpSpPr bwMode="auto">
                <a:xfrm>
                  <a:off x="1916" y="1525"/>
                  <a:ext cx="204" cy="45"/>
                  <a:chOff x="1292" y="1525"/>
                  <a:chExt cx="273" cy="45"/>
                </a:xfrm>
              </p:grpSpPr>
              <p:sp>
                <p:nvSpPr>
                  <p:cNvPr id="63950" name="Line 23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1" name="Line 23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2" name="Line 234"/>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3" name="Line 235"/>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4" name="Line 236"/>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5" name="Line 237"/>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6" name="Line 238"/>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57" name="Line 239"/>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7" name="Group 240"/>
                <p:cNvGrpSpPr>
                  <a:grpSpLocks/>
                </p:cNvGrpSpPr>
                <p:nvPr/>
              </p:nvGrpSpPr>
              <p:grpSpPr bwMode="auto">
                <a:xfrm>
                  <a:off x="2188" y="1525"/>
                  <a:ext cx="204" cy="45"/>
                  <a:chOff x="1292" y="1525"/>
                  <a:chExt cx="273" cy="45"/>
                </a:xfrm>
              </p:grpSpPr>
              <p:sp>
                <p:nvSpPr>
                  <p:cNvPr id="63942" name="Line 24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3" name="Line 24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4" name="Line 243"/>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5" name="Line 244"/>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6" name="Line 245"/>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7" name="Line 246"/>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8" name="Line 247"/>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9" name="Line 248"/>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8" name="Group 249"/>
                <p:cNvGrpSpPr>
                  <a:grpSpLocks/>
                </p:cNvGrpSpPr>
                <p:nvPr/>
              </p:nvGrpSpPr>
              <p:grpSpPr bwMode="auto">
                <a:xfrm>
                  <a:off x="2460" y="1525"/>
                  <a:ext cx="204" cy="45"/>
                  <a:chOff x="1292" y="1525"/>
                  <a:chExt cx="273" cy="45"/>
                </a:xfrm>
              </p:grpSpPr>
              <p:sp>
                <p:nvSpPr>
                  <p:cNvPr id="63934" name="Line 25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5" name="Line 25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6" name="Line 252"/>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7" name="Line 253"/>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8" name="Line 254"/>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9" name="Line 255"/>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0" name="Line 256"/>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41" name="Line 257"/>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29" name="Group 258"/>
                <p:cNvGrpSpPr>
                  <a:grpSpLocks/>
                </p:cNvGrpSpPr>
                <p:nvPr/>
              </p:nvGrpSpPr>
              <p:grpSpPr bwMode="auto">
                <a:xfrm>
                  <a:off x="2778" y="1525"/>
                  <a:ext cx="204" cy="45"/>
                  <a:chOff x="1292" y="1525"/>
                  <a:chExt cx="273" cy="45"/>
                </a:xfrm>
              </p:grpSpPr>
              <p:sp>
                <p:nvSpPr>
                  <p:cNvPr id="63926" name="Line 25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7" name="Line 26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8" name="Line 261"/>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9" name="Line 262"/>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0" name="Line 263"/>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1" name="Line 264"/>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2" name="Line 265"/>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33" name="Line 266"/>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30" name="Group 267"/>
                <p:cNvGrpSpPr>
                  <a:grpSpLocks/>
                </p:cNvGrpSpPr>
                <p:nvPr/>
              </p:nvGrpSpPr>
              <p:grpSpPr bwMode="auto">
                <a:xfrm>
                  <a:off x="3050" y="1525"/>
                  <a:ext cx="204" cy="45"/>
                  <a:chOff x="1292" y="1525"/>
                  <a:chExt cx="273" cy="45"/>
                </a:xfrm>
              </p:grpSpPr>
              <p:sp>
                <p:nvSpPr>
                  <p:cNvPr id="63918" name="Line 26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9" name="Line 26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0" name="Line 270"/>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1" name="Line 271"/>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2" name="Line 272"/>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3" name="Line 273"/>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4" name="Line 274"/>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25" name="Line 275"/>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31" name="Group 276"/>
                <p:cNvGrpSpPr>
                  <a:grpSpLocks/>
                </p:cNvGrpSpPr>
                <p:nvPr/>
              </p:nvGrpSpPr>
              <p:grpSpPr bwMode="auto">
                <a:xfrm>
                  <a:off x="3322" y="1525"/>
                  <a:ext cx="204" cy="45"/>
                  <a:chOff x="1292" y="1525"/>
                  <a:chExt cx="273" cy="45"/>
                </a:xfrm>
              </p:grpSpPr>
              <p:sp>
                <p:nvSpPr>
                  <p:cNvPr id="63910" name="Line 27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1" name="Line 27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2" name="Line 27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3" name="Line 28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4" name="Line 28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5" name="Line 28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6" name="Line 28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17" name="Line 28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4159" name="Group 285"/>
                <p:cNvGrpSpPr>
                  <a:grpSpLocks/>
                </p:cNvGrpSpPr>
                <p:nvPr/>
              </p:nvGrpSpPr>
              <p:grpSpPr bwMode="auto">
                <a:xfrm>
                  <a:off x="3594" y="1525"/>
                  <a:ext cx="204" cy="45"/>
                  <a:chOff x="1292" y="1525"/>
                  <a:chExt cx="273" cy="45"/>
                </a:xfrm>
              </p:grpSpPr>
              <p:sp>
                <p:nvSpPr>
                  <p:cNvPr id="63902" name="Line 28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3" name="Line 28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4" name="Line 28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5" name="Line 28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6" name="Line 29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7" name="Line 29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8" name="Line 29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9" name="Line 29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488" name="Group 294"/>
                <p:cNvGrpSpPr>
                  <a:grpSpLocks/>
                </p:cNvGrpSpPr>
                <p:nvPr/>
              </p:nvGrpSpPr>
              <p:grpSpPr bwMode="auto">
                <a:xfrm>
                  <a:off x="3912" y="1525"/>
                  <a:ext cx="204" cy="45"/>
                  <a:chOff x="1292" y="1525"/>
                  <a:chExt cx="273" cy="45"/>
                </a:xfrm>
              </p:grpSpPr>
              <p:sp>
                <p:nvSpPr>
                  <p:cNvPr id="63894" name="Line 29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5" name="Line 29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6" name="Line 29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7" name="Line 29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8" name="Line 29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9" name="Line 30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0" name="Line 30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901" name="Line 30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489" name="Group 303"/>
                <p:cNvGrpSpPr>
                  <a:grpSpLocks/>
                </p:cNvGrpSpPr>
                <p:nvPr/>
              </p:nvGrpSpPr>
              <p:grpSpPr bwMode="auto">
                <a:xfrm>
                  <a:off x="4184" y="1525"/>
                  <a:ext cx="204" cy="45"/>
                  <a:chOff x="1292" y="1525"/>
                  <a:chExt cx="273" cy="45"/>
                </a:xfrm>
              </p:grpSpPr>
              <p:sp>
                <p:nvSpPr>
                  <p:cNvPr id="63886" name="Line 30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7" name="Line 30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8" name="Line 30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9" name="Line 30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0" name="Line 30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1" name="Line 30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2" name="Line 31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93" name="Line 31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495" name="Group 312"/>
                <p:cNvGrpSpPr>
                  <a:grpSpLocks/>
                </p:cNvGrpSpPr>
                <p:nvPr/>
              </p:nvGrpSpPr>
              <p:grpSpPr bwMode="auto">
                <a:xfrm>
                  <a:off x="4456" y="1525"/>
                  <a:ext cx="204" cy="45"/>
                  <a:chOff x="1292" y="1525"/>
                  <a:chExt cx="273" cy="45"/>
                </a:xfrm>
              </p:grpSpPr>
              <p:sp>
                <p:nvSpPr>
                  <p:cNvPr id="63878" name="Line 31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9" name="Line 31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0" name="Line 315"/>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1" name="Line 316"/>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2" name="Line 317"/>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3" name="Line 318"/>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4" name="Line 319"/>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85" name="Line 320"/>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496" name="Group 321"/>
                <p:cNvGrpSpPr>
                  <a:grpSpLocks/>
                </p:cNvGrpSpPr>
                <p:nvPr/>
              </p:nvGrpSpPr>
              <p:grpSpPr bwMode="auto">
                <a:xfrm>
                  <a:off x="4728" y="1525"/>
                  <a:ext cx="204" cy="45"/>
                  <a:chOff x="1292" y="1525"/>
                  <a:chExt cx="273" cy="45"/>
                </a:xfrm>
              </p:grpSpPr>
              <p:sp>
                <p:nvSpPr>
                  <p:cNvPr id="63870" name="Line 32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1" name="Line 32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2" name="Line 324"/>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3" name="Line 325"/>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4" name="Line 326"/>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5" name="Line 327"/>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6" name="Line 328"/>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77" name="Line 329"/>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grpSp>
        <p:grpSp>
          <p:nvGrpSpPr>
            <p:cNvPr id="63497" name="Group 330"/>
            <p:cNvGrpSpPr>
              <a:grpSpLocks/>
            </p:cNvGrpSpPr>
            <p:nvPr/>
          </p:nvGrpSpPr>
          <p:grpSpPr bwMode="auto">
            <a:xfrm>
              <a:off x="1657380" y="4808756"/>
              <a:ext cx="7127875" cy="358775"/>
              <a:chOff x="1021" y="1389"/>
              <a:chExt cx="4490" cy="181"/>
            </a:xfrm>
          </p:grpSpPr>
          <p:sp>
            <p:nvSpPr>
              <p:cNvPr id="63676" name="Rectangle 331"/>
              <p:cNvSpPr>
                <a:spLocks noChangeArrowheads="1"/>
              </p:cNvSpPr>
              <p:nvPr/>
            </p:nvSpPr>
            <p:spPr bwMode="auto">
              <a:xfrm>
                <a:off x="102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32</a:t>
                </a:r>
              </a:p>
            </p:txBody>
          </p:sp>
          <p:sp>
            <p:nvSpPr>
              <p:cNvPr id="63677" name="Rectangle 332"/>
              <p:cNvSpPr>
                <a:spLocks noChangeArrowheads="1"/>
              </p:cNvSpPr>
              <p:nvPr/>
            </p:nvSpPr>
            <p:spPr bwMode="auto">
              <a:xfrm>
                <a:off x="129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33</a:t>
                </a:r>
              </a:p>
            </p:txBody>
          </p:sp>
          <p:sp>
            <p:nvSpPr>
              <p:cNvPr id="63678" name="Rectangle 333"/>
              <p:cNvSpPr>
                <a:spLocks noChangeArrowheads="1"/>
              </p:cNvSpPr>
              <p:nvPr/>
            </p:nvSpPr>
            <p:spPr bwMode="auto">
              <a:xfrm>
                <a:off x="156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34</a:t>
                </a:r>
              </a:p>
            </p:txBody>
          </p:sp>
          <p:sp>
            <p:nvSpPr>
              <p:cNvPr id="63679" name="Rectangle 334"/>
              <p:cNvSpPr>
                <a:spLocks noChangeArrowheads="1"/>
              </p:cNvSpPr>
              <p:nvPr/>
            </p:nvSpPr>
            <p:spPr bwMode="auto">
              <a:xfrm>
                <a:off x="183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35</a:t>
                </a:r>
              </a:p>
            </p:txBody>
          </p:sp>
          <p:sp>
            <p:nvSpPr>
              <p:cNvPr id="63680" name="Rectangle 335"/>
              <p:cNvSpPr>
                <a:spLocks noChangeArrowheads="1"/>
              </p:cNvSpPr>
              <p:nvPr/>
            </p:nvSpPr>
            <p:spPr bwMode="auto">
              <a:xfrm>
                <a:off x="215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36</a:t>
                </a:r>
              </a:p>
            </p:txBody>
          </p:sp>
          <p:sp>
            <p:nvSpPr>
              <p:cNvPr id="63681" name="Rectangle 336"/>
              <p:cNvSpPr>
                <a:spLocks noChangeArrowheads="1"/>
              </p:cNvSpPr>
              <p:nvPr/>
            </p:nvSpPr>
            <p:spPr bwMode="auto">
              <a:xfrm>
                <a:off x="242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37</a:t>
                </a:r>
              </a:p>
            </p:txBody>
          </p:sp>
          <p:sp>
            <p:nvSpPr>
              <p:cNvPr id="63682" name="Rectangle 337"/>
              <p:cNvSpPr>
                <a:spLocks noChangeArrowheads="1"/>
              </p:cNvSpPr>
              <p:nvPr/>
            </p:nvSpPr>
            <p:spPr bwMode="auto">
              <a:xfrm>
                <a:off x="2699" y="1389"/>
                <a:ext cx="272" cy="181"/>
              </a:xfrm>
              <a:prstGeom prst="rect">
                <a:avLst/>
              </a:prstGeom>
              <a:noFill/>
              <a:ln w="9525">
                <a:solidFill>
                  <a:schemeClr val="tx1"/>
                </a:solidFill>
                <a:miter lim="800000"/>
                <a:headEnd/>
                <a:tailEnd/>
              </a:ln>
            </p:spPr>
            <p:txBody>
              <a:bodyPr wrap="none" lIns="0" tIns="0" rIns="0" bIns="72000" anchor="ctr"/>
              <a:lstStyle/>
              <a:p>
                <a:r>
                  <a:rPr lang="es-ES" b="1" dirty="0">
                    <a:latin typeface="Arial Narrow" pitchFamily="34" charset="0"/>
                  </a:rPr>
                  <a:t>38</a:t>
                </a:r>
              </a:p>
            </p:txBody>
          </p:sp>
          <p:sp>
            <p:nvSpPr>
              <p:cNvPr id="63683" name="Rectangle 338"/>
              <p:cNvSpPr>
                <a:spLocks noChangeArrowheads="1"/>
              </p:cNvSpPr>
              <p:nvPr/>
            </p:nvSpPr>
            <p:spPr bwMode="auto">
              <a:xfrm>
                <a:off x="2971" y="1389"/>
                <a:ext cx="272" cy="181"/>
              </a:xfrm>
              <a:prstGeom prst="rect">
                <a:avLst/>
              </a:prstGeom>
              <a:noFill/>
              <a:ln w="9525">
                <a:solidFill>
                  <a:schemeClr val="tx1"/>
                </a:solidFill>
                <a:miter lim="800000"/>
                <a:headEnd/>
                <a:tailEnd/>
              </a:ln>
            </p:spPr>
            <p:txBody>
              <a:bodyPr wrap="none" lIns="0" tIns="0" rIns="0" bIns="72000" anchor="ctr"/>
              <a:lstStyle/>
              <a:p>
                <a:r>
                  <a:rPr lang="es-ES" b="1" dirty="0">
                    <a:latin typeface="Arial Narrow" pitchFamily="34" charset="0"/>
                  </a:rPr>
                  <a:t>39</a:t>
                </a:r>
              </a:p>
            </p:txBody>
          </p:sp>
          <p:sp>
            <p:nvSpPr>
              <p:cNvPr id="63684" name="Rectangle 339"/>
              <p:cNvSpPr>
                <a:spLocks noChangeArrowheads="1"/>
              </p:cNvSpPr>
              <p:nvPr/>
            </p:nvSpPr>
            <p:spPr bwMode="auto">
              <a:xfrm>
                <a:off x="328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40</a:t>
                </a:r>
              </a:p>
            </p:txBody>
          </p:sp>
          <p:sp>
            <p:nvSpPr>
              <p:cNvPr id="63685" name="Rectangle 340"/>
              <p:cNvSpPr>
                <a:spLocks noChangeArrowheads="1"/>
              </p:cNvSpPr>
              <p:nvPr/>
            </p:nvSpPr>
            <p:spPr bwMode="auto">
              <a:xfrm>
                <a:off x="356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41</a:t>
                </a:r>
              </a:p>
            </p:txBody>
          </p:sp>
          <p:sp>
            <p:nvSpPr>
              <p:cNvPr id="63686" name="Rectangle 341"/>
              <p:cNvSpPr>
                <a:spLocks noChangeArrowheads="1"/>
              </p:cNvSpPr>
              <p:nvPr/>
            </p:nvSpPr>
            <p:spPr bwMode="auto">
              <a:xfrm>
                <a:off x="383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42</a:t>
                </a:r>
              </a:p>
            </p:txBody>
          </p:sp>
          <p:sp>
            <p:nvSpPr>
              <p:cNvPr id="63687" name="Rectangle 342"/>
              <p:cNvSpPr>
                <a:spLocks noChangeArrowheads="1"/>
              </p:cNvSpPr>
              <p:nvPr/>
            </p:nvSpPr>
            <p:spPr bwMode="auto">
              <a:xfrm>
                <a:off x="410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43</a:t>
                </a:r>
              </a:p>
            </p:txBody>
          </p:sp>
          <p:sp>
            <p:nvSpPr>
              <p:cNvPr id="63688" name="Rectangle 343"/>
              <p:cNvSpPr>
                <a:spLocks noChangeArrowheads="1"/>
              </p:cNvSpPr>
              <p:nvPr/>
            </p:nvSpPr>
            <p:spPr bwMode="auto">
              <a:xfrm>
                <a:off x="442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44</a:t>
                </a:r>
              </a:p>
            </p:txBody>
          </p:sp>
          <p:sp>
            <p:nvSpPr>
              <p:cNvPr id="63689" name="Rectangle 344"/>
              <p:cNvSpPr>
                <a:spLocks noChangeArrowheads="1"/>
              </p:cNvSpPr>
              <p:nvPr/>
            </p:nvSpPr>
            <p:spPr bwMode="auto">
              <a:xfrm>
                <a:off x="469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45</a:t>
                </a:r>
              </a:p>
            </p:txBody>
          </p:sp>
          <p:sp>
            <p:nvSpPr>
              <p:cNvPr id="63690" name="Rectangle 345"/>
              <p:cNvSpPr>
                <a:spLocks noChangeArrowheads="1"/>
              </p:cNvSpPr>
              <p:nvPr/>
            </p:nvSpPr>
            <p:spPr bwMode="auto">
              <a:xfrm>
                <a:off x="496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46</a:t>
                </a:r>
              </a:p>
            </p:txBody>
          </p:sp>
          <p:sp>
            <p:nvSpPr>
              <p:cNvPr id="63691" name="Rectangle 346"/>
              <p:cNvSpPr>
                <a:spLocks noChangeArrowheads="1"/>
              </p:cNvSpPr>
              <p:nvPr/>
            </p:nvSpPr>
            <p:spPr bwMode="auto">
              <a:xfrm>
                <a:off x="523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47</a:t>
                </a:r>
              </a:p>
            </p:txBody>
          </p:sp>
          <p:grpSp>
            <p:nvGrpSpPr>
              <p:cNvPr id="63498" name="Group 347"/>
              <p:cNvGrpSpPr>
                <a:grpSpLocks/>
              </p:cNvGrpSpPr>
              <p:nvPr/>
            </p:nvGrpSpPr>
            <p:grpSpPr bwMode="auto">
              <a:xfrm>
                <a:off x="1055" y="1534"/>
                <a:ext cx="4422" cy="36"/>
                <a:chOff x="510" y="1525"/>
                <a:chExt cx="4422" cy="45"/>
              </a:xfrm>
            </p:grpSpPr>
            <p:grpSp>
              <p:nvGrpSpPr>
                <p:cNvPr id="63514" name="Group 348"/>
                <p:cNvGrpSpPr>
                  <a:grpSpLocks/>
                </p:cNvGrpSpPr>
                <p:nvPr/>
              </p:nvGrpSpPr>
              <p:grpSpPr bwMode="auto">
                <a:xfrm>
                  <a:off x="510" y="1525"/>
                  <a:ext cx="204" cy="45"/>
                  <a:chOff x="1292" y="1525"/>
                  <a:chExt cx="273" cy="45"/>
                </a:xfrm>
              </p:grpSpPr>
              <p:sp>
                <p:nvSpPr>
                  <p:cNvPr id="63829" name="Line 34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0" name="Line 35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1" name="Line 351"/>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2" name="Line 352"/>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3" name="Line 353"/>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4" name="Line 354"/>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5" name="Line 355"/>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36" name="Line 356"/>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1" name="Group 357"/>
                <p:cNvGrpSpPr>
                  <a:grpSpLocks/>
                </p:cNvGrpSpPr>
                <p:nvPr/>
              </p:nvGrpSpPr>
              <p:grpSpPr bwMode="auto">
                <a:xfrm>
                  <a:off x="782" y="1525"/>
                  <a:ext cx="204" cy="45"/>
                  <a:chOff x="1292" y="1525"/>
                  <a:chExt cx="273" cy="45"/>
                </a:xfrm>
              </p:grpSpPr>
              <p:sp>
                <p:nvSpPr>
                  <p:cNvPr id="63821" name="Line 35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2" name="Line 35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3" name="Line 360"/>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4" name="Line 361"/>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5" name="Line 362"/>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6" name="Line 363"/>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7" name="Line 364"/>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8" name="Line 365"/>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2" name="Group 366"/>
                <p:cNvGrpSpPr>
                  <a:grpSpLocks/>
                </p:cNvGrpSpPr>
                <p:nvPr/>
              </p:nvGrpSpPr>
              <p:grpSpPr bwMode="auto">
                <a:xfrm>
                  <a:off x="1054" y="1525"/>
                  <a:ext cx="204" cy="45"/>
                  <a:chOff x="1292" y="1525"/>
                  <a:chExt cx="273" cy="45"/>
                </a:xfrm>
              </p:grpSpPr>
              <p:sp>
                <p:nvSpPr>
                  <p:cNvPr id="63813" name="Line 36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4" name="Line 36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5" name="Line 36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6" name="Line 37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7" name="Line 37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8" name="Line 37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9" name="Line 37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20" name="Line 37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3" name="Group 375"/>
                <p:cNvGrpSpPr>
                  <a:grpSpLocks/>
                </p:cNvGrpSpPr>
                <p:nvPr/>
              </p:nvGrpSpPr>
              <p:grpSpPr bwMode="auto">
                <a:xfrm>
                  <a:off x="1326" y="1525"/>
                  <a:ext cx="204" cy="45"/>
                  <a:chOff x="1292" y="1525"/>
                  <a:chExt cx="273" cy="45"/>
                </a:xfrm>
              </p:grpSpPr>
              <p:sp>
                <p:nvSpPr>
                  <p:cNvPr id="63805" name="Line 37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6" name="Line 37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7" name="Line 37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8" name="Line 37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9" name="Line 38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0" name="Line 38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1" name="Line 38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12" name="Line 38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4" name="Group 384"/>
                <p:cNvGrpSpPr>
                  <a:grpSpLocks/>
                </p:cNvGrpSpPr>
                <p:nvPr/>
              </p:nvGrpSpPr>
              <p:grpSpPr bwMode="auto">
                <a:xfrm>
                  <a:off x="1644" y="1525"/>
                  <a:ext cx="204" cy="45"/>
                  <a:chOff x="1292" y="1525"/>
                  <a:chExt cx="273" cy="45"/>
                </a:xfrm>
              </p:grpSpPr>
              <p:sp>
                <p:nvSpPr>
                  <p:cNvPr id="63797" name="Line 38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8" name="Line 38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9" name="Line 38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0" name="Line 38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1" name="Line 38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2" name="Line 39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3" name="Line 39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804" name="Line 39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5" name="Group 393"/>
                <p:cNvGrpSpPr>
                  <a:grpSpLocks/>
                </p:cNvGrpSpPr>
                <p:nvPr/>
              </p:nvGrpSpPr>
              <p:grpSpPr bwMode="auto">
                <a:xfrm>
                  <a:off x="1916" y="1525"/>
                  <a:ext cx="204" cy="45"/>
                  <a:chOff x="1292" y="1525"/>
                  <a:chExt cx="273" cy="45"/>
                </a:xfrm>
              </p:grpSpPr>
              <p:sp>
                <p:nvSpPr>
                  <p:cNvPr id="63789" name="Line 39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0" name="Line 39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1" name="Line 39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2" name="Line 39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3" name="Line 39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4" name="Line 39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5" name="Line 40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96" name="Line 40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6" name="Group 402"/>
                <p:cNvGrpSpPr>
                  <a:grpSpLocks/>
                </p:cNvGrpSpPr>
                <p:nvPr/>
              </p:nvGrpSpPr>
              <p:grpSpPr bwMode="auto">
                <a:xfrm>
                  <a:off x="2188" y="1525"/>
                  <a:ext cx="204" cy="45"/>
                  <a:chOff x="1292" y="1525"/>
                  <a:chExt cx="273" cy="45"/>
                </a:xfrm>
              </p:grpSpPr>
              <p:sp>
                <p:nvSpPr>
                  <p:cNvPr id="63781" name="Line 40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2" name="Line 40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3" name="Line 405"/>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4" name="Line 406"/>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5" name="Line 407"/>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6" name="Line 408"/>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7" name="Line 409"/>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8" name="Line 410"/>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7" name="Group 411"/>
                <p:cNvGrpSpPr>
                  <a:grpSpLocks/>
                </p:cNvGrpSpPr>
                <p:nvPr/>
              </p:nvGrpSpPr>
              <p:grpSpPr bwMode="auto">
                <a:xfrm>
                  <a:off x="2460" y="1525"/>
                  <a:ext cx="204" cy="45"/>
                  <a:chOff x="1292" y="1525"/>
                  <a:chExt cx="273" cy="45"/>
                </a:xfrm>
              </p:grpSpPr>
              <p:sp>
                <p:nvSpPr>
                  <p:cNvPr id="63773" name="Line 41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4" name="Line 41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5" name="Line 414"/>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6" name="Line 415"/>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7" name="Line 416"/>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8" name="Line 417"/>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9" name="Line 418"/>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80" name="Line 419"/>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8" name="Group 420"/>
                <p:cNvGrpSpPr>
                  <a:grpSpLocks/>
                </p:cNvGrpSpPr>
                <p:nvPr/>
              </p:nvGrpSpPr>
              <p:grpSpPr bwMode="auto">
                <a:xfrm>
                  <a:off x="2778" y="1525"/>
                  <a:ext cx="204" cy="45"/>
                  <a:chOff x="1292" y="1525"/>
                  <a:chExt cx="273" cy="45"/>
                </a:xfrm>
              </p:grpSpPr>
              <p:sp>
                <p:nvSpPr>
                  <p:cNvPr id="63765" name="Line 42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6" name="Line 42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7" name="Line 423"/>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8" name="Line 424"/>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9" name="Line 425"/>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0" name="Line 426"/>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1" name="Line 427"/>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72" name="Line 428"/>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39" name="Group 429"/>
                <p:cNvGrpSpPr>
                  <a:grpSpLocks/>
                </p:cNvGrpSpPr>
                <p:nvPr/>
              </p:nvGrpSpPr>
              <p:grpSpPr bwMode="auto">
                <a:xfrm>
                  <a:off x="3050" y="1525"/>
                  <a:ext cx="204" cy="45"/>
                  <a:chOff x="1292" y="1525"/>
                  <a:chExt cx="273" cy="45"/>
                </a:xfrm>
              </p:grpSpPr>
              <p:sp>
                <p:nvSpPr>
                  <p:cNvPr id="63757" name="Line 43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8" name="Line 43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9" name="Line 432"/>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0" name="Line 433"/>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1" name="Line 434"/>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2" name="Line 435"/>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3" name="Line 436"/>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64" name="Line 437"/>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40" name="Group 438"/>
                <p:cNvGrpSpPr>
                  <a:grpSpLocks/>
                </p:cNvGrpSpPr>
                <p:nvPr/>
              </p:nvGrpSpPr>
              <p:grpSpPr bwMode="auto">
                <a:xfrm>
                  <a:off x="3322" y="1525"/>
                  <a:ext cx="204" cy="45"/>
                  <a:chOff x="1292" y="1525"/>
                  <a:chExt cx="273" cy="45"/>
                </a:xfrm>
              </p:grpSpPr>
              <p:sp>
                <p:nvSpPr>
                  <p:cNvPr id="63749" name="Line 43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0" name="Line 44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1" name="Line 441"/>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2" name="Line 442"/>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3" name="Line 443"/>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4" name="Line 444"/>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5" name="Line 445"/>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56" name="Line 446"/>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41" name="Group 447"/>
                <p:cNvGrpSpPr>
                  <a:grpSpLocks/>
                </p:cNvGrpSpPr>
                <p:nvPr/>
              </p:nvGrpSpPr>
              <p:grpSpPr bwMode="auto">
                <a:xfrm>
                  <a:off x="3594" y="1525"/>
                  <a:ext cx="204" cy="45"/>
                  <a:chOff x="1292" y="1525"/>
                  <a:chExt cx="273" cy="45"/>
                </a:xfrm>
              </p:grpSpPr>
              <p:sp>
                <p:nvSpPr>
                  <p:cNvPr id="63741" name="Line 44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2" name="Line 44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3" name="Line 450"/>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4" name="Line 451"/>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5" name="Line 452"/>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6" name="Line 453"/>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7" name="Line 454"/>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8" name="Line 455"/>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42" name="Group 456"/>
                <p:cNvGrpSpPr>
                  <a:grpSpLocks/>
                </p:cNvGrpSpPr>
                <p:nvPr/>
              </p:nvGrpSpPr>
              <p:grpSpPr bwMode="auto">
                <a:xfrm>
                  <a:off x="3912" y="1525"/>
                  <a:ext cx="204" cy="45"/>
                  <a:chOff x="1292" y="1525"/>
                  <a:chExt cx="273" cy="45"/>
                </a:xfrm>
              </p:grpSpPr>
              <p:sp>
                <p:nvSpPr>
                  <p:cNvPr id="63733" name="Line 45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4" name="Line 45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5" name="Line 45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6" name="Line 46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7" name="Line 46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8" name="Line 46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9" name="Line 46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40" name="Line 46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43" name="Group 465"/>
                <p:cNvGrpSpPr>
                  <a:grpSpLocks/>
                </p:cNvGrpSpPr>
                <p:nvPr/>
              </p:nvGrpSpPr>
              <p:grpSpPr bwMode="auto">
                <a:xfrm>
                  <a:off x="4184" y="1525"/>
                  <a:ext cx="204" cy="45"/>
                  <a:chOff x="1292" y="1525"/>
                  <a:chExt cx="273" cy="45"/>
                </a:xfrm>
              </p:grpSpPr>
              <p:sp>
                <p:nvSpPr>
                  <p:cNvPr id="63725" name="Line 46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6" name="Line 46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7" name="Line 46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8" name="Line 46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9" name="Line 47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0" name="Line 47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1" name="Line 47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32" name="Line 47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44" name="Group 474"/>
                <p:cNvGrpSpPr>
                  <a:grpSpLocks/>
                </p:cNvGrpSpPr>
                <p:nvPr/>
              </p:nvGrpSpPr>
              <p:grpSpPr bwMode="auto">
                <a:xfrm>
                  <a:off x="4456" y="1525"/>
                  <a:ext cx="204" cy="45"/>
                  <a:chOff x="1292" y="1525"/>
                  <a:chExt cx="273" cy="45"/>
                </a:xfrm>
              </p:grpSpPr>
              <p:sp>
                <p:nvSpPr>
                  <p:cNvPr id="63717" name="Line 47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8" name="Line 47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9" name="Line 47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0" name="Line 47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1" name="Line 47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2" name="Line 48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3" name="Line 48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24" name="Line 48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545" name="Group 483"/>
                <p:cNvGrpSpPr>
                  <a:grpSpLocks/>
                </p:cNvGrpSpPr>
                <p:nvPr/>
              </p:nvGrpSpPr>
              <p:grpSpPr bwMode="auto">
                <a:xfrm>
                  <a:off x="4728" y="1525"/>
                  <a:ext cx="204" cy="45"/>
                  <a:chOff x="1292" y="1525"/>
                  <a:chExt cx="273" cy="45"/>
                </a:xfrm>
              </p:grpSpPr>
              <p:sp>
                <p:nvSpPr>
                  <p:cNvPr id="63709" name="Line 48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0" name="Line 48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1" name="Line 48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2" name="Line 48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3" name="Line 48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4" name="Line 48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5" name="Line 49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716" name="Line 49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grpSp>
        <p:grpSp>
          <p:nvGrpSpPr>
            <p:cNvPr id="63546" name="Group 492"/>
            <p:cNvGrpSpPr>
              <a:grpSpLocks/>
            </p:cNvGrpSpPr>
            <p:nvPr/>
          </p:nvGrpSpPr>
          <p:grpSpPr bwMode="auto">
            <a:xfrm>
              <a:off x="1657380" y="5240556"/>
              <a:ext cx="7127875" cy="360362"/>
              <a:chOff x="1021" y="1389"/>
              <a:chExt cx="4490" cy="181"/>
            </a:xfrm>
          </p:grpSpPr>
          <p:sp>
            <p:nvSpPr>
              <p:cNvPr id="63515" name="Rectangle 493"/>
              <p:cNvSpPr>
                <a:spLocks noChangeArrowheads="1"/>
              </p:cNvSpPr>
              <p:nvPr/>
            </p:nvSpPr>
            <p:spPr bwMode="auto">
              <a:xfrm>
                <a:off x="102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48</a:t>
                </a:r>
              </a:p>
            </p:txBody>
          </p:sp>
          <p:sp>
            <p:nvSpPr>
              <p:cNvPr id="63516" name="Rectangle 494"/>
              <p:cNvSpPr>
                <a:spLocks noChangeArrowheads="1"/>
              </p:cNvSpPr>
              <p:nvPr/>
            </p:nvSpPr>
            <p:spPr bwMode="auto">
              <a:xfrm>
                <a:off x="129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49</a:t>
                </a:r>
              </a:p>
            </p:txBody>
          </p:sp>
          <p:sp>
            <p:nvSpPr>
              <p:cNvPr id="63517" name="Rectangle 495"/>
              <p:cNvSpPr>
                <a:spLocks noChangeArrowheads="1"/>
              </p:cNvSpPr>
              <p:nvPr/>
            </p:nvSpPr>
            <p:spPr bwMode="auto">
              <a:xfrm>
                <a:off x="156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50</a:t>
                </a:r>
              </a:p>
            </p:txBody>
          </p:sp>
          <p:sp>
            <p:nvSpPr>
              <p:cNvPr id="63518" name="Rectangle 496"/>
              <p:cNvSpPr>
                <a:spLocks noChangeArrowheads="1"/>
              </p:cNvSpPr>
              <p:nvPr/>
            </p:nvSpPr>
            <p:spPr bwMode="auto">
              <a:xfrm>
                <a:off x="183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51</a:t>
                </a:r>
              </a:p>
            </p:txBody>
          </p:sp>
          <p:sp>
            <p:nvSpPr>
              <p:cNvPr id="63519" name="Rectangle 497"/>
              <p:cNvSpPr>
                <a:spLocks noChangeArrowheads="1"/>
              </p:cNvSpPr>
              <p:nvPr/>
            </p:nvSpPr>
            <p:spPr bwMode="auto">
              <a:xfrm>
                <a:off x="215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52</a:t>
                </a:r>
              </a:p>
            </p:txBody>
          </p:sp>
          <p:sp>
            <p:nvSpPr>
              <p:cNvPr id="63520" name="Rectangle 498"/>
              <p:cNvSpPr>
                <a:spLocks noChangeArrowheads="1"/>
              </p:cNvSpPr>
              <p:nvPr/>
            </p:nvSpPr>
            <p:spPr bwMode="auto">
              <a:xfrm>
                <a:off x="242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53</a:t>
                </a:r>
              </a:p>
            </p:txBody>
          </p:sp>
          <p:sp>
            <p:nvSpPr>
              <p:cNvPr id="63521" name="Rectangle 499"/>
              <p:cNvSpPr>
                <a:spLocks noChangeArrowheads="1"/>
              </p:cNvSpPr>
              <p:nvPr/>
            </p:nvSpPr>
            <p:spPr bwMode="auto">
              <a:xfrm>
                <a:off x="269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54</a:t>
                </a:r>
              </a:p>
            </p:txBody>
          </p:sp>
          <p:sp>
            <p:nvSpPr>
              <p:cNvPr id="63522" name="Rectangle 500"/>
              <p:cNvSpPr>
                <a:spLocks noChangeArrowheads="1"/>
              </p:cNvSpPr>
              <p:nvPr/>
            </p:nvSpPr>
            <p:spPr bwMode="auto">
              <a:xfrm>
                <a:off x="297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55</a:t>
                </a:r>
              </a:p>
            </p:txBody>
          </p:sp>
          <p:sp>
            <p:nvSpPr>
              <p:cNvPr id="63523" name="Rectangle 501"/>
              <p:cNvSpPr>
                <a:spLocks noChangeArrowheads="1"/>
              </p:cNvSpPr>
              <p:nvPr/>
            </p:nvSpPr>
            <p:spPr bwMode="auto">
              <a:xfrm>
                <a:off x="328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56</a:t>
                </a:r>
              </a:p>
            </p:txBody>
          </p:sp>
          <p:sp>
            <p:nvSpPr>
              <p:cNvPr id="63524" name="Rectangle 502"/>
              <p:cNvSpPr>
                <a:spLocks noChangeArrowheads="1"/>
              </p:cNvSpPr>
              <p:nvPr/>
            </p:nvSpPr>
            <p:spPr bwMode="auto">
              <a:xfrm>
                <a:off x="3561"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57</a:t>
                </a:r>
              </a:p>
            </p:txBody>
          </p:sp>
          <p:sp>
            <p:nvSpPr>
              <p:cNvPr id="63525" name="Rectangle 503"/>
              <p:cNvSpPr>
                <a:spLocks noChangeArrowheads="1"/>
              </p:cNvSpPr>
              <p:nvPr/>
            </p:nvSpPr>
            <p:spPr bwMode="auto">
              <a:xfrm>
                <a:off x="383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58</a:t>
                </a:r>
              </a:p>
            </p:txBody>
          </p:sp>
          <p:sp>
            <p:nvSpPr>
              <p:cNvPr id="63526" name="Rectangle 504"/>
              <p:cNvSpPr>
                <a:spLocks noChangeArrowheads="1"/>
              </p:cNvSpPr>
              <p:nvPr/>
            </p:nvSpPr>
            <p:spPr bwMode="auto">
              <a:xfrm>
                <a:off x="410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59</a:t>
                </a:r>
              </a:p>
            </p:txBody>
          </p:sp>
          <p:sp>
            <p:nvSpPr>
              <p:cNvPr id="63527" name="Rectangle 505"/>
              <p:cNvSpPr>
                <a:spLocks noChangeArrowheads="1"/>
              </p:cNvSpPr>
              <p:nvPr/>
            </p:nvSpPr>
            <p:spPr bwMode="auto">
              <a:xfrm>
                <a:off x="4423"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60</a:t>
                </a:r>
              </a:p>
            </p:txBody>
          </p:sp>
          <p:sp>
            <p:nvSpPr>
              <p:cNvPr id="63528" name="Rectangle 506"/>
              <p:cNvSpPr>
                <a:spLocks noChangeArrowheads="1"/>
              </p:cNvSpPr>
              <p:nvPr/>
            </p:nvSpPr>
            <p:spPr bwMode="auto">
              <a:xfrm>
                <a:off x="4695"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61</a:t>
                </a:r>
              </a:p>
            </p:txBody>
          </p:sp>
          <p:sp>
            <p:nvSpPr>
              <p:cNvPr id="63529" name="Rectangle 507"/>
              <p:cNvSpPr>
                <a:spLocks noChangeArrowheads="1"/>
              </p:cNvSpPr>
              <p:nvPr/>
            </p:nvSpPr>
            <p:spPr bwMode="auto">
              <a:xfrm>
                <a:off x="4967"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62</a:t>
                </a:r>
              </a:p>
            </p:txBody>
          </p:sp>
          <p:sp>
            <p:nvSpPr>
              <p:cNvPr id="63530" name="Rectangle 508"/>
              <p:cNvSpPr>
                <a:spLocks noChangeArrowheads="1"/>
              </p:cNvSpPr>
              <p:nvPr/>
            </p:nvSpPr>
            <p:spPr bwMode="auto">
              <a:xfrm>
                <a:off x="5239" y="1389"/>
                <a:ext cx="272" cy="181"/>
              </a:xfrm>
              <a:prstGeom prst="rect">
                <a:avLst/>
              </a:prstGeom>
              <a:noFill/>
              <a:ln w="9525">
                <a:solidFill>
                  <a:schemeClr val="tx1"/>
                </a:solidFill>
                <a:miter lim="800000"/>
                <a:headEnd/>
                <a:tailEnd/>
              </a:ln>
            </p:spPr>
            <p:txBody>
              <a:bodyPr wrap="none" lIns="0" tIns="0" rIns="0" bIns="72000" anchor="ctr"/>
              <a:lstStyle/>
              <a:p>
                <a:r>
                  <a:rPr lang="es-ES" b="1">
                    <a:latin typeface="Arial Narrow" pitchFamily="34" charset="0"/>
                  </a:rPr>
                  <a:t>63</a:t>
                </a:r>
              </a:p>
            </p:txBody>
          </p:sp>
          <p:grpSp>
            <p:nvGrpSpPr>
              <p:cNvPr id="63547" name="Group 509"/>
              <p:cNvGrpSpPr>
                <a:grpSpLocks/>
              </p:cNvGrpSpPr>
              <p:nvPr/>
            </p:nvGrpSpPr>
            <p:grpSpPr bwMode="auto">
              <a:xfrm>
                <a:off x="1055" y="1534"/>
                <a:ext cx="4422" cy="36"/>
                <a:chOff x="510" y="1525"/>
                <a:chExt cx="4422" cy="45"/>
              </a:xfrm>
            </p:grpSpPr>
            <p:grpSp>
              <p:nvGrpSpPr>
                <p:cNvPr id="63692" name="Group 510"/>
                <p:cNvGrpSpPr>
                  <a:grpSpLocks/>
                </p:cNvGrpSpPr>
                <p:nvPr/>
              </p:nvGrpSpPr>
              <p:grpSpPr bwMode="auto">
                <a:xfrm>
                  <a:off x="510" y="1525"/>
                  <a:ext cx="204" cy="45"/>
                  <a:chOff x="1292" y="1525"/>
                  <a:chExt cx="273" cy="45"/>
                </a:xfrm>
              </p:grpSpPr>
              <p:sp>
                <p:nvSpPr>
                  <p:cNvPr id="63668" name="Line 51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9" name="Line 51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70" name="Line 513"/>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71" name="Line 514"/>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72" name="Line 515"/>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73" name="Line 516"/>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74" name="Line 517"/>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75" name="Line 518"/>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3" name="Group 519"/>
                <p:cNvGrpSpPr>
                  <a:grpSpLocks/>
                </p:cNvGrpSpPr>
                <p:nvPr/>
              </p:nvGrpSpPr>
              <p:grpSpPr bwMode="auto">
                <a:xfrm>
                  <a:off x="782" y="1525"/>
                  <a:ext cx="204" cy="45"/>
                  <a:chOff x="1292" y="1525"/>
                  <a:chExt cx="273" cy="45"/>
                </a:xfrm>
              </p:grpSpPr>
              <p:sp>
                <p:nvSpPr>
                  <p:cNvPr id="63660" name="Line 52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1" name="Line 52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2" name="Line 522"/>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3" name="Line 523"/>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4" name="Line 524"/>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5" name="Line 525"/>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6" name="Line 526"/>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67" name="Line 527"/>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4" name="Group 528"/>
                <p:cNvGrpSpPr>
                  <a:grpSpLocks/>
                </p:cNvGrpSpPr>
                <p:nvPr/>
              </p:nvGrpSpPr>
              <p:grpSpPr bwMode="auto">
                <a:xfrm>
                  <a:off x="1054" y="1525"/>
                  <a:ext cx="204" cy="45"/>
                  <a:chOff x="1292" y="1525"/>
                  <a:chExt cx="273" cy="45"/>
                </a:xfrm>
              </p:grpSpPr>
              <p:sp>
                <p:nvSpPr>
                  <p:cNvPr id="63652" name="Line 52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3" name="Line 53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4" name="Line 531"/>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5" name="Line 532"/>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6" name="Line 533"/>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7" name="Line 534"/>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8" name="Line 535"/>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9" name="Line 536"/>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5" name="Group 537"/>
                <p:cNvGrpSpPr>
                  <a:grpSpLocks/>
                </p:cNvGrpSpPr>
                <p:nvPr/>
              </p:nvGrpSpPr>
              <p:grpSpPr bwMode="auto">
                <a:xfrm>
                  <a:off x="1326" y="1525"/>
                  <a:ext cx="204" cy="45"/>
                  <a:chOff x="1292" y="1525"/>
                  <a:chExt cx="273" cy="45"/>
                </a:xfrm>
              </p:grpSpPr>
              <p:sp>
                <p:nvSpPr>
                  <p:cNvPr id="63644" name="Line 53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5" name="Line 53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6" name="Line 540"/>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7" name="Line 541"/>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8" name="Line 542"/>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9" name="Line 543"/>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0" name="Line 544"/>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51" name="Line 545"/>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6" name="Group 546"/>
                <p:cNvGrpSpPr>
                  <a:grpSpLocks/>
                </p:cNvGrpSpPr>
                <p:nvPr/>
              </p:nvGrpSpPr>
              <p:grpSpPr bwMode="auto">
                <a:xfrm>
                  <a:off x="1644" y="1525"/>
                  <a:ext cx="204" cy="45"/>
                  <a:chOff x="1292" y="1525"/>
                  <a:chExt cx="273" cy="45"/>
                </a:xfrm>
              </p:grpSpPr>
              <p:sp>
                <p:nvSpPr>
                  <p:cNvPr id="63636" name="Line 54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7" name="Line 54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8" name="Line 54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9" name="Line 55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0" name="Line 55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1" name="Line 55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2" name="Line 55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43" name="Line 55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7" name="Group 555"/>
                <p:cNvGrpSpPr>
                  <a:grpSpLocks/>
                </p:cNvGrpSpPr>
                <p:nvPr/>
              </p:nvGrpSpPr>
              <p:grpSpPr bwMode="auto">
                <a:xfrm>
                  <a:off x="1916" y="1525"/>
                  <a:ext cx="204" cy="45"/>
                  <a:chOff x="1292" y="1525"/>
                  <a:chExt cx="273" cy="45"/>
                </a:xfrm>
              </p:grpSpPr>
              <p:sp>
                <p:nvSpPr>
                  <p:cNvPr id="63628" name="Line 55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9" name="Line 55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0" name="Line 55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1" name="Line 55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2" name="Line 56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3" name="Line 56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4" name="Line 56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35" name="Line 56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8" name="Group 564"/>
                <p:cNvGrpSpPr>
                  <a:grpSpLocks/>
                </p:cNvGrpSpPr>
                <p:nvPr/>
              </p:nvGrpSpPr>
              <p:grpSpPr bwMode="auto">
                <a:xfrm>
                  <a:off x="2188" y="1525"/>
                  <a:ext cx="204" cy="45"/>
                  <a:chOff x="1292" y="1525"/>
                  <a:chExt cx="273" cy="45"/>
                </a:xfrm>
              </p:grpSpPr>
              <p:sp>
                <p:nvSpPr>
                  <p:cNvPr id="63620" name="Line 56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1" name="Line 56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2" name="Line 567"/>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3" name="Line 568"/>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4" name="Line 569"/>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5" name="Line 570"/>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6" name="Line 571"/>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27" name="Line 572"/>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699" name="Group 573"/>
                <p:cNvGrpSpPr>
                  <a:grpSpLocks/>
                </p:cNvGrpSpPr>
                <p:nvPr/>
              </p:nvGrpSpPr>
              <p:grpSpPr bwMode="auto">
                <a:xfrm>
                  <a:off x="2460" y="1525"/>
                  <a:ext cx="204" cy="45"/>
                  <a:chOff x="1292" y="1525"/>
                  <a:chExt cx="273" cy="45"/>
                </a:xfrm>
              </p:grpSpPr>
              <p:sp>
                <p:nvSpPr>
                  <p:cNvPr id="63612" name="Line 57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3" name="Line 575"/>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4" name="Line 576"/>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5" name="Line 577"/>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6" name="Line 578"/>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7" name="Line 579"/>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8" name="Line 580"/>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9" name="Line 581"/>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0" name="Group 582"/>
                <p:cNvGrpSpPr>
                  <a:grpSpLocks/>
                </p:cNvGrpSpPr>
                <p:nvPr/>
              </p:nvGrpSpPr>
              <p:grpSpPr bwMode="auto">
                <a:xfrm>
                  <a:off x="2778" y="1525"/>
                  <a:ext cx="204" cy="45"/>
                  <a:chOff x="1292" y="1525"/>
                  <a:chExt cx="273" cy="45"/>
                </a:xfrm>
              </p:grpSpPr>
              <p:sp>
                <p:nvSpPr>
                  <p:cNvPr id="63604" name="Line 58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5" name="Line 584"/>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6" name="Line 585"/>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7" name="Line 586"/>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8" name="Line 587"/>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9" name="Line 588"/>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0" name="Line 589"/>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11" name="Line 590"/>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1" name="Group 591"/>
                <p:cNvGrpSpPr>
                  <a:grpSpLocks/>
                </p:cNvGrpSpPr>
                <p:nvPr/>
              </p:nvGrpSpPr>
              <p:grpSpPr bwMode="auto">
                <a:xfrm>
                  <a:off x="3050" y="1525"/>
                  <a:ext cx="204" cy="45"/>
                  <a:chOff x="1292" y="1525"/>
                  <a:chExt cx="273" cy="45"/>
                </a:xfrm>
              </p:grpSpPr>
              <p:sp>
                <p:nvSpPr>
                  <p:cNvPr id="63596" name="Line 59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7" name="Line 593"/>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8" name="Line 594"/>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9" name="Line 595"/>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0" name="Line 596"/>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1" name="Line 597"/>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2" name="Line 598"/>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603" name="Line 599"/>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2" name="Group 600"/>
                <p:cNvGrpSpPr>
                  <a:grpSpLocks/>
                </p:cNvGrpSpPr>
                <p:nvPr/>
              </p:nvGrpSpPr>
              <p:grpSpPr bwMode="auto">
                <a:xfrm>
                  <a:off x="3322" y="1525"/>
                  <a:ext cx="204" cy="45"/>
                  <a:chOff x="1292" y="1525"/>
                  <a:chExt cx="273" cy="45"/>
                </a:xfrm>
              </p:grpSpPr>
              <p:sp>
                <p:nvSpPr>
                  <p:cNvPr id="63588" name="Line 60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9" name="Line 602"/>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0" name="Line 603"/>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1" name="Line 604"/>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2" name="Line 605"/>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3" name="Line 606"/>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4" name="Line 607"/>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95" name="Line 608"/>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3" name="Group 609"/>
                <p:cNvGrpSpPr>
                  <a:grpSpLocks/>
                </p:cNvGrpSpPr>
                <p:nvPr/>
              </p:nvGrpSpPr>
              <p:grpSpPr bwMode="auto">
                <a:xfrm>
                  <a:off x="3594" y="1525"/>
                  <a:ext cx="204" cy="45"/>
                  <a:chOff x="1292" y="1525"/>
                  <a:chExt cx="273" cy="45"/>
                </a:xfrm>
              </p:grpSpPr>
              <p:sp>
                <p:nvSpPr>
                  <p:cNvPr id="63580" name="Line 61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1" name="Line 611"/>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2" name="Line 612"/>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3" name="Line 613"/>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4" name="Line 614"/>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5" name="Line 615"/>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6" name="Line 616"/>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87" name="Line 617"/>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4" name="Group 618"/>
                <p:cNvGrpSpPr>
                  <a:grpSpLocks/>
                </p:cNvGrpSpPr>
                <p:nvPr/>
              </p:nvGrpSpPr>
              <p:grpSpPr bwMode="auto">
                <a:xfrm>
                  <a:off x="3912" y="1525"/>
                  <a:ext cx="204" cy="45"/>
                  <a:chOff x="1292" y="1525"/>
                  <a:chExt cx="273" cy="45"/>
                </a:xfrm>
              </p:grpSpPr>
              <p:sp>
                <p:nvSpPr>
                  <p:cNvPr id="63572" name="Line 61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3" name="Line 620"/>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4" name="Line 621"/>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5" name="Line 622"/>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6" name="Line 623"/>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7" name="Line 624"/>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8" name="Line 625"/>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9" name="Line 626"/>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5" name="Group 627"/>
                <p:cNvGrpSpPr>
                  <a:grpSpLocks/>
                </p:cNvGrpSpPr>
                <p:nvPr/>
              </p:nvGrpSpPr>
              <p:grpSpPr bwMode="auto">
                <a:xfrm>
                  <a:off x="4184" y="1525"/>
                  <a:ext cx="204" cy="45"/>
                  <a:chOff x="1292" y="1525"/>
                  <a:chExt cx="273" cy="45"/>
                </a:xfrm>
              </p:grpSpPr>
              <p:sp>
                <p:nvSpPr>
                  <p:cNvPr id="63564" name="Line 62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5" name="Line 629"/>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6" name="Line 630"/>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7" name="Line 631"/>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8" name="Line 632"/>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9" name="Line 633"/>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0" name="Line 634"/>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71" name="Line 635"/>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6" name="Group 636"/>
                <p:cNvGrpSpPr>
                  <a:grpSpLocks/>
                </p:cNvGrpSpPr>
                <p:nvPr/>
              </p:nvGrpSpPr>
              <p:grpSpPr bwMode="auto">
                <a:xfrm>
                  <a:off x="4456" y="1525"/>
                  <a:ext cx="204" cy="45"/>
                  <a:chOff x="1292" y="1525"/>
                  <a:chExt cx="273" cy="45"/>
                </a:xfrm>
              </p:grpSpPr>
              <p:sp>
                <p:nvSpPr>
                  <p:cNvPr id="63556" name="Line 63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7" name="Line 638"/>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8" name="Line 639"/>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9" name="Line 640"/>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0" name="Line 641"/>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1" name="Line 642"/>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2" name="Line 643"/>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63" name="Line 644"/>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nvGrpSpPr>
                <p:cNvPr id="63707" name="Group 645"/>
                <p:cNvGrpSpPr>
                  <a:grpSpLocks/>
                </p:cNvGrpSpPr>
                <p:nvPr/>
              </p:nvGrpSpPr>
              <p:grpSpPr bwMode="auto">
                <a:xfrm>
                  <a:off x="4728" y="1525"/>
                  <a:ext cx="204" cy="45"/>
                  <a:chOff x="1292" y="1525"/>
                  <a:chExt cx="273" cy="45"/>
                </a:xfrm>
              </p:grpSpPr>
              <p:sp>
                <p:nvSpPr>
                  <p:cNvPr id="63548" name="Line 646"/>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49" name="Line 647"/>
                  <p:cNvSpPr>
                    <a:spLocks noChangeShapeType="1"/>
                  </p:cNvSpPr>
                  <p:nvPr/>
                </p:nvSpPr>
                <p:spPr bwMode="auto">
                  <a:xfrm>
                    <a:off x="1292"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0" name="Line 648"/>
                  <p:cNvSpPr>
                    <a:spLocks noChangeShapeType="1"/>
                  </p:cNvSpPr>
                  <p:nvPr/>
                </p:nvSpPr>
                <p:spPr bwMode="auto">
                  <a:xfrm>
                    <a:off x="1338"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1" name="Line 649"/>
                  <p:cNvSpPr>
                    <a:spLocks noChangeShapeType="1"/>
                  </p:cNvSpPr>
                  <p:nvPr/>
                </p:nvSpPr>
                <p:spPr bwMode="auto">
                  <a:xfrm>
                    <a:off x="1383"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2" name="Line 650"/>
                  <p:cNvSpPr>
                    <a:spLocks noChangeShapeType="1"/>
                  </p:cNvSpPr>
                  <p:nvPr/>
                </p:nvSpPr>
                <p:spPr bwMode="auto">
                  <a:xfrm>
                    <a:off x="142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3" name="Line 651"/>
                  <p:cNvSpPr>
                    <a:spLocks noChangeShapeType="1"/>
                  </p:cNvSpPr>
                  <p:nvPr/>
                </p:nvSpPr>
                <p:spPr bwMode="auto">
                  <a:xfrm>
                    <a:off x="1474"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4" name="Line 652"/>
                  <p:cNvSpPr>
                    <a:spLocks noChangeShapeType="1"/>
                  </p:cNvSpPr>
                  <p:nvPr/>
                </p:nvSpPr>
                <p:spPr bwMode="auto">
                  <a:xfrm>
                    <a:off x="1519" y="1525"/>
                    <a:ext cx="0" cy="45"/>
                  </a:xfrm>
                  <a:prstGeom prst="line">
                    <a:avLst/>
                  </a:prstGeom>
                  <a:noFill/>
                  <a:ln w="9525">
                    <a:solidFill>
                      <a:schemeClr val="tx1"/>
                    </a:solidFill>
                    <a:round/>
                    <a:headEnd/>
                    <a:tailEnd/>
                  </a:ln>
                </p:spPr>
                <p:txBody>
                  <a:bodyPr lIns="0" tIns="0" rIns="0" bIns="0" anchor="ctr"/>
                  <a:lstStyle/>
                  <a:p>
                    <a:endParaRPr lang="es-ES"/>
                  </a:p>
                </p:txBody>
              </p:sp>
              <p:sp>
                <p:nvSpPr>
                  <p:cNvPr id="63555" name="Line 653"/>
                  <p:cNvSpPr>
                    <a:spLocks noChangeShapeType="1"/>
                  </p:cNvSpPr>
                  <p:nvPr/>
                </p:nvSpPr>
                <p:spPr bwMode="auto">
                  <a:xfrm>
                    <a:off x="1565" y="1525"/>
                    <a:ext cx="0" cy="45"/>
                  </a:xfrm>
                  <a:prstGeom prst="line">
                    <a:avLst/>
                  </a:prstGeom>
                  <a:noFill/>
                  <a:ln w="9525">
                    <a:solidFill>
                      <a:schemeClr val="tx1"/>
                    </a:solidFill>
                    <a:round/>
                    <a:headEnd/>
                    <a:tailEnd/>
                  </a:ln>
                </p:spPr>
                <p:txBody>
                  <a:bodyPr lIns="0" tIns="0" rIns="0" bIns="0" anchor="ctr"/>
                  <a:lstStyle/>
                  <a:p>
                    <a:endParaRPr lang="es-ES"/>
                  </a:p>
                </p:txBody>
              </p:sp>
            </p:grpSp>
          </p:grpSp>
        </p:grpSp>
        <p:sp>
          <p:nvSpPr>
            <p:cNvPr id="676" name="675 CuadroTexto"/>
            <p:cNvSpPr txBox="1"/>
            <p:nvPr/>
          </p:nvSpPr>
          <p:spPr>
            <a:xfrm>
              <a:off x="743925" y="3907041"/>
              <a:ext cx="684803" cy="338554"/>
            </a:xfrm>
            <a:prstGeom prst="rect">
              <a:avLst/>
            </a:prstGeom>
            <a:noFill/>
          </p:spPr>
          <p:txBody>
            <a:bodyPr wrap="none" rtlCol="0">
              <a:spAutoFit/>
            </a:bodyPr>
            <a:lstStyle/>
            <a:p>
              <a:r>
                <a:rPr lang="es-ES" sz="1600" dirty="0">
                  <a:solidFill>
                    <a:schemeClr val="tx1">
                      <a:lumMod val="75000"/>
                      <a:lumOff val="25000"/>
                    </a:schemeClr>
                  </a:solidFill>
                </a:rPr>
                <a:t>Fila 0</a:t>
              </a:r>
            </a:p>
          </p:txBody>
        </p:sp>
        <p:sp>
          <p:nvSpPr>
            <p:cNvPr id="677" name="676 CuadroTexto"/>
            <p:cNvSpPr txBox="1"/>
            <p:nvPr/>
          </p:nvSpPr>
          <p:spPr>
            <a:xfrm>
              <a:off x="743925" y="4354305"/>
              <a:ext cx="684803" cy="338554"/>
            </a:xfrm>
            <a:prstGeom prst="rect">
              <a:avLst/>
            </a:prstGeom>
            <a:noFill/>
          </p:spPr>
          <p:txBody>
            <a:bodyPr wrap="none" rtlCol="0">
              <a:spAutoFit/>
            </a:bodyPr>
            <a:lstStyle/>
            <a:p>
              <a:r>
                <a:rPr lang="es-ES" sz="1600" dirty="0">
                  <a:solidFill>
                    <a:schemeClr val="tx1">
                      <a:lumMod val="75000"/>
                      <a:lumOff val="25000"/>
                    </a:schemeClr>
                  </a:solidFill>
                </a:rPr>
                <a:t>Fila 1</a:t>
              </a:r>
            </a:p>
          </p:txBody>
        </p:sp>
        <p:sp>
          <p:nvSpPr>
            <p:cNvPr id="678" name="677 CuadroTexto"/>
            <p:cNvSpPr txBox="1"/>
            <p:nvPr/>
          </p:nvSpPr>
          <p:spPr>
            <a:xfrm>
              <a:off x="743925" y="4854371"/>
              <a:ext cx="684803" cy="338554"/>
            </a:xfrm>
            <a:prstGeom prst="rect">
              <a:avLst/>
            </a:prstGeom>
            <a:noFill/>
          </p:spPr>
          <p:txBody>
            <a:bodyPr wrap="none" rtlCol="0">
              <a:spAutoFit/>
            </a:bodyPr>
            <a:lstStyle/>
            <a:p>
              <a:r>
                <a:rPr lang="es-ES" sz="1600" dirty="0">
                  <a:solidFill>
                    <a:schemeClr val="tx1">
                      <a:lumMod val="75000"/>
                      <a:lumOff val="25000"/>
                    </a:schemeClr>
                  </a:solidFill>
                </a:rPr>
                <a:t>Fila 2</a:t>
              </a:r>
            </a:p>
          </p:txBody>
        </p:sp>
        <p:sp>
          <p:nvSpPr>
            <p:cNvPr id="679" name="678 CuadroTexto"/>
            <p:cNvSpPr txBox="1"/>
            <p:nvPr/>
          </p:nvSpPr>
          <p:spPr>
            <a:xfrm>
              <a:off x="743925" y="5282999"/>
              <a:ext cx="684803" cy="338554"/>
            </a:xfrm>
            <a:prstGeom prst="rect">
              <a:avLst/>
            </a:prstGeom>
            <a:noFill/>
          </p:spPr>
          <p:txBody>
            <a:bodyPr wrap="none" rtlCol="0">
              <a:spAutoFit/>
            </a:bodyPr>
            <a:lstStyle/>
            <a:p>
              <a:r>
                <a:rPr lang="es-ES" sz="1600" dirty="0">
                  <a:solidFill>
                    <a:schemeClr val="tx1">
                      <a:lumMod val="75000"/>
                      <a:lumOff val="25000"/>
                    </a:schemeClr>
                  </a:solidFill>
                </a:rPr>
                <a:t>Fila 3</a:t>
              </a:r>
            </a:p>
          </p:txBody>
        </p:sp>
      </p:grpSp>
      <p:grpSp>
        <p:nvGrpSpPr>
          <p:cNvPr id="699" name="698 Grupo"/>
          <p:cNvGrpSpPr/>
          <p:nvPr/>
        </p:nvGrpSpPr>
        <p:grpSpPr>
          <a:xfrm>
            <a:off x="1571604" y="3478413"/>
            <a:ext cx="7182173" cy="2563015"/>
            <a:chOff x="1571604" y="3478413"/>
            <a:chExt cx="7182173" cy="2563015"/>
          </a:xfrm>
        </p:grpSpPr>
        <p:sp>
          <p:nvSpPr>
            <p:cNvPr id="63507" name="Text Box 662"/>
            <p:cNvSpPr txBox="1">
              <a:spLocks noChangeArrowheads="1"/>
            </p:cNvSpPr>
            <p:nvPr/>
          </p:nvSpPr>
          <p:spPr bwMode="auto">
            <a:xfrm>
              <a:off x="1571604" y="3478413"/>
              <a:ext cx="884858" cy="276999"/>
            </a:xfrm>
            <a:prstGeom prst="rect">
              <a:avLst/>
            </a:prstGeom>
            <a:noFill/>
            <a:ln w="9525" algn="ctr">
              <a:noFill/>
              <a:miter lim="800000"/>
              <a:headEnd/>
              <a:tailEnd/>
            </a:ln>
          </p:spPr>
          <p:txBody>
            <a:bodyPr wrap="none" lIns="0" tIns="0" rIns="0" bIns="0">
              <a:spAutoFit/>
            </a:bodyPr>
            <a:lstStyle/>
            <a:p>
              <a:pPr marL="228600" indent="-228600" algn="l">
                <a:spcBef>
                  <a:spcPct val="20000"/>
                </a:spcBef>
              </a:pPr>
              <a:r>
                <a:rPr lang="es-ES" sz="1800" i="1" dirty="0"/>
                <a:t>bloque 0</a:t>
              </a:r>
            </a:p>
          </p:txBody>
        </p:sp>
        <p:sp>
          <p:nvSpPr>
            <p:cNvPr id="63512" name="Text Box 667"/>
            <p:cNvSpPr txBox="1">
              <a:spLocks noChangeArrowheads="1"/>
            </p:cNvSpPr>
            <p:nvPr/>
          </p:nvSpPr>
          <p:spPr bwMode="auto">
            <a:xfrm>
              <a:off x="4756180" y="5745381"/>
              <a:ext cx="884858" cy="276999"/>
            </a:xfrm>
            <a:prstGeom prst="rect">
              <a:avLst/>
            </a:prstGeom>
            <a:noFill/>
            <a:ln w="9525" algn="ctr">
              <a:noFill/>
              <a:miter lim="800000"/>
              <a:headEnd/>
              <a:tailEnd/>
            </a:ln>
          </p:spPr>
          <p:txBody>
            <a:bodyPr wrap="none" lIns="0" tIns="0" rIns="0" bIns="0">
              <a:spAutoFit/>
            </a:bodyPr>
            <a:lstStyle/>
            <a:p>
              <a:pPr marL="228600" indent="-228600" algn="l">
                <a:spcBef>
                  <a:spcPct val="20000"/>
                </a:spcBef>
              </a:pPr>
              <a:r>
                <a:rPr lang="es-ES" sz="1800" i="1" dirty="0"/>
                <a:t>bloque 9</a:t>
              </a:r>
            </a:p>
          </p:txBody>
        </p:sp>
        <p:sp>
          <p:nvSpPr>
            <p:cNvPr id="63513" name="Line 668"/>
            <p:cNvSpPr>
              <a:spLocks noChangeShapeType="1"/>
            </p:cNvSpPr>
            <p:nvPr/>
          </p:nvSpPr>
          <p:spPr bwMode="auto">
            <a:xfrm>
              <a:off x="4683155" y="5169118"/>
              <a:ext cx="215900" cy="649288"/>
            </a:xfrm>
            <a:prstGeom prst="line">
              <a:avLst/>
            </a:prstGeom>
            <a:noFill/>
            <a:ln w="9525">
              <a:solidFill>
                <a:schemeClr val="tx1"/>
              </a:solidFill>
              <a:prstDash val="dash"/>
              <a:round/>
              <a:headEnd/>
              <a:tailEnd/>
            </a:ln>
          </p:spPr>
          <p:txBody>
            <a:bodyPr/>
            <a:lstStyle/>
            <a:p>
              <a:endParaRPr lang="es-ES"/>
            </a:p>
          </p:txBody>
        </p:sp>
        <p:sp>
          <p:nvSpPr>
            <p:cNvPr id="681" name="Text Box 667"/>
            <p:cNvSpPr txBox="1">
              <a:spLocks noChangeArrowheads="1"/>
            </p:cNvSpPr>
            <p:nvPr/>
          </p:nvSpPr>
          <p:spPr bwMode="auto">
            <a:xfrm>
              <a:off x="7740679" y="5764429"/>
              <a:ext cx="1013098" cy="276999"/>
            </a:xfrm>
            <a:prstGeom prst="rect">
              <a:avLst/>
            </a:prstGeom>
            <a:noFill/>
            <a:ln w="9525" algn="ctr">
              <a:noFill/>
              <a:miter lim="800000"/>
              <a:headEnd/>
              <a:tailEnd/>
            </a:ln>
          </p:spPr>
          <p:txBody>
            <a:bodyPr wrap="none" lIns="0" tIns="0" rIns="0" bIns="0">
              <a:spAutoFit/>
            </a:bodyPr>
            <a:lstStyle/>
            <a:p>
              <a:pPr marL="228600" indent="-228600" algn="l">
                <a:spcBef>
                  <a:spcPct val="20000"/>
                </a:spcBef>
              </a:pPr>
              <a:r>
                <a:rPr lang="es-ES" sz="1800" i="1" dirty="0"/>
                <a:t>bloque 15</a:t>
              </a:r>
            </a:p>
          </p:txBody>
        </p:sp>
      </p:grpSp>
      <p:grpSp>
        <p:nvGrpSpPr>
          <p:cNvPr id="694" name="693 Grupo"/>
          <p:cNvGrpSpPr/>
          <p:nvPr/>
        </p:nvGrpSpPr>
        <p:grpSpPr>
          <a:xfrm>
            <a:off x="5214942" y="1428736"/>
            <a:ext cx="3811830" cy="1105567"/>
            <a:chOff x="5214942" y="1428736"/>
            <a:chExt cx="3811830" cy="1105567"/>
          </a:xfrm>
        </p:grpSpPr>
        <p:sp>
          <p:nvSpPr>
            <p:cNvPr id="63500" name="Rectangle 655"/>
            <p:cNvSpPr>
              <a:spLocks noChangeArrowheads="1"/>
            </p:cNvSpPr>
            <p:nvPr/>
          </p:nvSpPr>
          <p:spPr bwMode="auto">
            <a:xfrm>
              <a:off x="5214942" y="1776400"/>
              <a:ext cx="792163" cy="457200"/>
            </a:xfrm>
            <a:prstGeom prst="rect">
              <a:avLst/>
            </a:prstGeom>
            <a:noFill/>
            <a:ln w="19050">
              <a:solidFill>
                <a:schemeClr val="tx1"/>
              </a:solidFill>
              <a:miter lim="800000"/>
              <a:headEnd/>
              <a:tailEnd/>
            </a:ln>
          </p:spPr>
          <p:txBody>
            <a:bodyPr wrap="none" lIns="0" tIns="0" rIns="0" bIns="0" anchor="ctr"/>
            <a:lstStyle/>
            <a:p>
              <a:r>
                <a:rPr lang="es-ES_tradnl" dirty="0"/>
                <a:t>A</a:t>
              </a:r>
              <a:r>
                <a:rPr lang="es-ES_tradnl" b="1" baseline="-25000" dirty="0"/>
                <a:t>5</a:t>
              </a:r>
              <a:r>
                <a:rPr lang="es-ES_tradnl" dirty="0"/>
                <a:t> A</a:t>
              </a:r>
              <a:r>
                <a:rPr lang="es-ES_tradnl" b="1" baseline="-25000" dirty="0"/>
                <a:t>4</a:t>
              </a:r>
            </a:p>
          </p:txBody>
        </p:sp>
        <p:sp>
          <p:nvSpPr>
            <p:cNvPr id="63501" name="Text Box 656"/>
            <p:cNvSpPr txBox="1">
              <a:spLocks noChangeArrowheads="1"/>
            </p:cNvSpPr>
            <p:nvPr/>
          </p:nvSpPr>
          <p:spPr bwMode="auto">
            <a:xfrm>
              <a:off x="5278449" y="1428736"/>
              <a:ext cx="647700" cy="304800"/>
            </a:xfrm>
            <a:prstGeom prst="rect">
              <a:avLst/>
            </a:prstGeom>
            <a:noFill/>
            <a:ln w="19050">
              <a:noFill/>
              <a:miter lim="800000"/>
              <a:headEnd/>
              <a:tailEnd/>
            </a:ln>
          </p:spPr>
          <p:txBody>
            <a:bodyPr lIns="0" tIns="0" rIns="0" bIns="0">
              <a:spAutoFit/>
            </a:bodyPr>
            <a:lstStyle/>
            <a:p>
              <a:r>
                <a:rPr lang="es-ES"/>
                <a:t>fila</a:t>
              </a:r>
            </a:p>
          </p:txBody>
        </p:sp>
        <p:sp>
          <p:nvSpPr>
            <p:cNvPr id="63502" name="Text Box 657"/>
            <p:cNvSpPr txBox="1">
              <a:spLocks noChangeArrowheads="1"/>
            </p:cNvSpPr>
            <p:nvPr/>
          </p:nvSpPr>
          <p:spPr bwMode="auto">
            <a:xfrm>
              <a:off x="6215074" y="1428736"/>
              <a:ext cx="1225550" cy="304800"/>
            </a:xfrm>
            <a:prstGeom prst="rect">
              <a:avLst/>
            </a:prstGeom>
            <a:noFill/>
            <a:ln w="19050">
              <a:noFill/>
              <a:miter lim="800000"/>
              <a:headEnd/>
              <a:tailEnd/>
            </a:ln>
          </p:spPr>
          <p:txBody>
            <a:bodyPr lIns="0" tIns="0" rIns="0" bIns="0">
              <a:spAutoFit/>
            </a:bodyPr>
            <a:lstStyle/>
            <a:p>
              <a:r>
                <a:rPr lang="es-ES" dirty="0"/>
                <a:t>columna</a:t>
              </a:r>
            </a:p>
          </p:txBody>
        </p:sp>
        <p:sp>
          <p:nvSpPr>
            <p:cNvPr id="63505" name="Rectangle 660"/>
            <p:cNvSpPr>
              <a:spLocks noChangeArrowheads="1"/>
            </p:cNvSpPr>
            <p:nvPr/>
          </p:nvSpPr>
          <p:spPr bwMode="auto">
            <a:xfrm>
              <a:off x="6007104" y="1776400"/>
              <a:ext cx="1628799" cy="457200"/>
            </a:xfrm>
            <a:prstGeom prst="rect">
              <a:avLst/>
            </a:prstGeom>
            <a:noFill/>
            <a:ln w="19050">
              <a:solidFill>
                <a:schemeClr val="tx1"/>
              </a:solidFill>
              <a:miter lim="800000"/>
              <a:headEnd/>
              <a:tailEnd/>
            </a:ln>
          </p:spPr>
          <p:txBody>
            <a:bodyPr wrap="none" lIns="0" tIns="0" rIns="0" bIns="0" anchor="ctr"/>
            <a:lstStyle/>
            <a:p>
              <a:r>
                <a:rPr lang="es-ES_tradnl" dirty="0"/>
                <a:t>A</a:t>
              </a:r>
              <a:r>
                <a:rPr lang="es-ES_tradnl" b="1" baseline="-25000" dirty="0"/>
                <a:t>3</a:t>
              </a:r>
              <a:r>
                <a:rPr lang="es-ES_tradnl" dirty="0"/>
                <a:t> A</a:t>
              </a:r>
              <a:r>
                <a:rPr lang="es-ES_tradnl" b="1" baseline="-25000" dirty="0"/>
                <a:t>2</a:t>
              </a:r>
              <a:r>
                <a:rPr lang="es-ES_tradnl" dirty="0"/>
                <a:t>A</a:t>
              </a:r>
              <a:r>
                <a:rPr lang="es-ES_tradnl" b="1" baseline="-25000" dirty="0"/>
                <a:t>1</a:t>
              </a:r>
              <a:r>
                <a:rPr lang="es-ES_tradnl" dirty="0"/>
                <a:t> A</a:t>
              </a:r>
              <a:r>
                <a:rPr lang="es-ES_tradnl" b="1" baseline="-25000" dirty="0"/>
                <a:t>0</a:t>
              </a:r>
            </a:p>
          </p:txBody>
        </p:sp>
        <p:sp>
          <p:nvSpPr>
            <p:cNvPr id="682" name="681 CuadroTexto"/>
            <p:cNvSpPr txBox="1"/>
            <p:nvPr/>
          </p:nvSpPr>
          <p:spPr>
            <a:xfrm>
              <a:off x="7687944" y="1500174"/>
              <a:ext cx="1338828" cy="1034129"/>
            </a:xfrm>
            <a:prstGeom prst="rect">
              <a:avLst/>
            </a:prstGeom>
            <a:noFill/>
          </p:spPr>
          <p:txBody>
            <a:bodyPr wrap="none" rtlCol="0">
              <a:spAutoFit/>
            </a:bodyPr>
            <a:lstStyle/>
            <a:p>
              <a:r>
                <a:rPr lang="es-ES" sz="1800" dirty="0">
                  <a:solidFill>
                    <a:schemeClr val="tx1">
                      <a:lumMod val="75000"/>
                      <a:lumOff val="25000"/>
                    </a:schemeClr>
                  </a:solidFill>
                </a:rPr>
                <a:t>Estructura</a:t>
              </a:r>
            </a:p>
            <a:p>
              <a:r>
                <a:rPr lang="es-ES" sz="1800" b="1" dirty="0">
                  <a:solidFill>
                    <a:schemeClr val="tx1">
                      <a:lumMod val="75000"/>
                      <a:lumOff val="25000"/>
                    </a:schemeClr>
                  </a:solidFill>
                </a:rPr>
                <a:t>física</a:t>
              </a:r>
              <a:r>
                <a:rPr lang="es-ES" sz="1800" dirty="0">
                  <a:solidFill>
                    <a:schemeClr val="tx1">
                      <a:lumMod val="75000"/>
                      <a:lumOff val="25000"/>
                    </a:schemeClr>
                  </a:solidFill>
                </a:rPr>
                <a:t> de la</a:t>
              </a:r>
            </a:p>
            <a:p>
              <a:r>
                <a:rPr lang="es-ES" sz="1800" dirty="0">
                  <a:solidFill>
                    <a:schemeClr val="tx1">
                      <a:lumMod val="75000"/>
                      <a:lumOff val="25000"/>
                    </a:schemeClr>
                  </a:solidFill>
                </a:rPr>
                <a:t>dirección</a:t>
              </a:r>
            </a:p>
          </p:txBody>
        </p:sp>
      </p:grpSp>
      <p:sp>
        <p:nvSpPr>
          <p:cNvPr id="683" name="682 Elipse"/>
          <p:cNvSpPr/>
          <p:nvPr/>
        </p:nvSpPr>
        <p:spPr bwMode="auto">
          <a:xfrm>
            <a:off x="5072066" y="1571612"/>
            <a:ext cx="1785950" cy="1000132"/>
          </a:xfrm>
          <a:prstGeom prst="ellipse">
            <a:avLst/>
          </a:prstGeom>
          <a:noFill/>
          <a:ln w="19050">
            <a:solidFill>
              <a:srgbClr val="C00000"/>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691" name="690 Grupo"/>
          <p:cNvGrpSpPr/>
          <p:nvPr/>
        </p:nvGrpSpPr>
        <p:grpSpPr>
          <a:xfrm>
            <a:off x="5214942" y="2786058"/>
            <a:ext cx="2376489" cy="804866"/>
            <a:chOff x="1366814" y="5786454"/>
            <a:chExt cx="2376489" cy="804866"/>
          </a:xfrm>
        </p:grpSpPr>
        <p:sp>
          <p:nvSpPr>
            <p:cNvPr id="685" name="Text Box 665"/>
            <p:cNvSpPr txBox="1">
              <a:spLocks noChangeArrowheads="1"/>
            </p:cNvSpPr>
            <p:nvPr/>
          </p:nvSpPr>
          <p:spPr bwMode="auto">
            <a:xfrm>
              <a:off x="2995606" y="6286520"/>
              <a:ext cx="647700" cy="304800"/>
            </a:xfrm>
            <a:prstGeom prst="rect">
              <a:avLst/>
            </a:prstGeom>
            <a:noFill/>
            <a:ln w="19050">
              <a:noFill/>
              <a:miter lim="800000"/>
              <a:headEnd/>
              <a:tailEnd/>
            </a:ln>
          </p:spPr>
          <p:txBody>
            <a:bodyPr lIns="0" tIns="0" rIns="0" bIns="0">
              <a:spAutoFit/>
            </a:bodyPr>
            <a:lstStyle/>
            <a:p>
              <a:r>
                <a:rPr lang="es-ES" dirty="0" err="1"/>
                <a:t>desp</a:t>
              </a:r>
              <a:r>
                <a:rPr lang="es-ES" dirty="0"/>
                <a:t>.</a:t>
              </a:r>
            </a:p>
          </p:txBody>
        </p:sp>
        <p:sp>
          <p:nvSpPr>
            <p:cNvPr id="686" name="Text Box 666"/>
            <p:cNvSpPr txBox="1">
              <a:spLocks noChangeArrowheads="1"/>
            </p:cNvSpPr>
            <p:nvPr/>
          </p:nvSpPr>
          <p:spPr bwMode="auto">
            <a:xfrm>
              <a:off x="1635111" y="6286520"/>
              <a:ext cx="1008063" cy="304800"/>
            </a:xfrm>
            <a:prstGeom prst="rect">
              <a:avLst/>
            </a:prstGeom>
            <a:noFill/>
            <a:ln w="19050">
              <a:noFill/>
              <a:miter lim="800000"/>
              <a:headEnd/>
              <a:tailEnd/>
            </a:ln>
          </p:spPr>
          <p:txBody>
            <a:bodyPr lIns="0" tIns="0" rIns="0" bIns="0">
              <a:spAutoFit/>
            </a:bodyPr>
            <a:lstStyle/>
            <a:p>
              <a:r>
                <a:rPr lang="es-ES" dirty="0"/>
                <a:t>bloque</a:t>
              </a:r>
            </a:p>
          </p:txBody>
        </p:sp>
        <p:sp>
          <p:nvSpPr>
            <p:cNvPr id="687" name="Rectangle 655"/>
            <p:cNvSpPr>
              <a:spLocks noChangeArrowheads="1"/>
            </p:cNvSpPr>
            <p:nvPr/>
          </p:nvSpPr>
          <p:spPr bwMode="auto">
            <a:xfrm>
              <a:off x="1366814" y="5786454"/>
              <a:ext cx="1584000" cy="468000"/>
            </a:xfrm>
            <a:prstGeom prst="rect">
              <a:avLst/>
            </a:prstGeom>
            <a:noFill/>
            <a:ln w="19050">
              <a:solidFill>
                <a:schemeClr val="tx1"/>
              </a:solidFill>
              <a:miter lim="800000"/>
              <a:headEnd/>
              <a:tailEnd/>
            </a:ln>
          </p:spPr>
          <p:txBody>
            <a:bodyPr wrap="none" lIns="0" tIns="0" rIns="0" bIns="0" anchor="ctr"/>
            <a:lstStyle/>
            <a:p>
              <a:r>
                <a:rPr lang="es-ES_tradnl" dirty="0"/>
                <a:t>A</a:t>
              </a:r>
              <a:r>
                <a:rPr lang="es-ES_tradnl" b="1" baseline="-25000" dirty="0"/>
                <a:t>5</a:t>
              </a:r>
              <a:r>
                <a:rPr lang="es-ES_tradnl" dirty="0"/>
                <a:t> A</a:t>
              </a:r>
              <a:r>
                <a:rPr lang="es-ES_tradnl" b="1" baseline="-25000" dirty="0"/>
                <a:t>4 </a:t>
              </a:r>
              <a:r>
                <a:rPr lang="es-ES_tradnl" dirty="0"/>
                <a:t>A</a:t>
              </a:r>
              <a:r>
                <a:rPr lang="es-ES_tradnl" b="1" baseline="-25000" dirty="0"/>
                <a:t>3</a:t>
              </a:r>
              <a:r>
                <a:rPr lang="es-ES_tradnl" dirty="0"/>
                <a:t> A</a:t>
              </a:r>
              <a:r>
                <a:rPr lang="es-ES_tradnl" b="1" baseline="-25000" dirty="0"/>
                <a:t>2</a:t>
              </a:r>
            </a:p>
          </p:txBody>
        </p:sp>
        <p:sp>
          <p:nvSpPr>
            <p:cNvPr id="688" name="Rectangle 661"/>
            <p:cNvSpPr>
              <a:spLocks noChangeArrowheads="1"/>
            </p:cNvSpPr>
            <p:nvPr/>
          </p:nvSpPr>
          <p:spPr bwMode="auto">
            <a:xfrm>
              <a:off x="2951140" y="5786454"/>
              <a:ext cx="792163" cy="468000"/>
            </a:xfrm>
            <a:prstGeom prst="rect">
              <a:avLst/>
            </a:prstGeom>
            <a:noFill/>
            <a:ln w="19050">
              <a:solidFill>
                <a:schemeClr val="tx1"/>
              </a:solidFill>
              <a:miter lim="800000"/>
              <a:headEnd/>
              <a:tailEnd/>
            </a:ln>
          </p:spPr>
          <p:txBody>
            <a:bodyPr wrap="none" lIns="0" tIns="0" rIns="0" bIns="0" anchor="ctr"/>
            <a:lstStyle/>
            <a:p>
              <a:r>
                <a:rPr lang="es-ES_tradnl"/>
                <a:t>A</a:t>
              </a:r>
              <a:r>
                <a:rPr lang="es-ES_tradnl" b="1" baseline="-25000"/>
                <a:t>1</a:t>
              </a:r>
              <a:r>
                <a:rPr lang="es-ES_tradnl"/>
                <a:t> A</a:t>
              </a:r>
              <a:r>
                <a:rPr lang="es-ES_tradnl" b="1" baseline="-25000"/>
                <a:t>0</a:t>
              </a:r>
            </a:p>
          </p:txBody>
        </p:sp>
      </p:grpSp>
      <p:sp>
        <p:nvSpPr>
          <p:cNvPr id="692" name="691 CuadroTexto"/>
          <p:cNvSpPr txBox="1"/>
          <p:nvPr/>
        </p:nvSpPr>
        <p:spPr>
          <a:xfrm>
            <a:off x="7651152" y="2571744"/>
            <a:ext cx="1415772" cy="1034129"/>
          </a:xfrm>
          <a:prstGeom prst="rect">
            <a:avLst/>
          </a:prstGeom>
          <a:noFill/>
        </p:spPr>
        <p:txBody>
          <a:bodyPr wrap="none" rtlCol="0">
            <a:spAutoFit/>
          </a:bodyPr>
          <a:lstStyle/>
          <a:p>
            <a:r>
              <a:rPr lang="es-ES" sz="1800" dirty="0">
                <a:solidFill>
                  <a:schemeClr val="tx1">
                    <a:lumMod val="75000"/>
                    <a:lumOff val="25000"/>
                  </a:schemeClr>
                </a:solidFill>
              </a:rPr>
              <a:t>Estructura</a:t>
            </a:r>
          </a:p>
          <a:p>
            <a:r>
              <a:rPr lang="es-ES" sz="1800" b="1" dirty="0">
                <a:solidFill>
                  <a:schemeClr val="tx1">
                    <a:lumMod val="75000"/>
                    <a:lumOff val="25000"/>
                  </a:schemeClr>
                </a:solidFill>
              </a:rPr>
              <a:t>lógica</a:t>
            </a:r>
            <a:r>
              <a:rPr lang="es-ES" sz="1800" dirty="0">
                <a:solidFill>
                  <a:schemeClr val="tx1">
                    <a:lumMod val="75000"/>
                    <a:lumOff val="25000"/>
                  </a:schemeClr>
                </a:solidFill>
              </a:rPr>
              <a:t> de la</a:t>
            </a:r>
          </a:p>
          <a:p>
            <a:r>
              <a:rPr lang="es-ES" sz="1800" dirty="0">
                <a:solidFill>
                  <a:schemeClr val="tx1">
                    <a:lumMod val="75000"/>
                    <a:lumOff val="25000"/>
                  </a:schemeClr>
                </a:solidFill>
              </a:rPr>
              <a:t>dirección</a:t>
            </a:r>
          </a:p>
        </p:txBody>
      </p:sp>
      <p:sp>
        <p:nvSpPr>
          <p:cNvPr id="693" name="692 Forma libre"/>
          <p:cNvSpPr/>
          <p:nvPr/>
        </p:nvSpPr>
        <p:spPr bwMode="auto">
          <a:xfrm>
            <a:off x="4794250" y="2200275"/>
            <a:ext cx="577850" cy="695325"/>
          </a:xfrm>
          <a:custGeom>
            <a:avLst/>
            <a:gdLst>
              <a:gd name="connsiteX0" fmla="*/ 311150 w 577850"/>
              <a:gd name="connsiteY0" fmla="*/ 0 h 695325"/>
              <a:gd name="connsiteX1" fmla="*/ 44450 w 577850"/>
              <a:gd name="connsiteY1" fmla="*/ 285750 h 695325"/>
              <a:gd name="connsiteX2" fmla="*/ 577850 w 577850"/>
              <a:gd name="connsiteY2" fmla="*/ 695325 h 695325"/>
            </a:gdLst>
            <a:ahLst/>
            <a:cxnLst>
              <a:cxn ang="0">
                <a:pos x="connsiteX0" y="connsiteY0"/>
              </a:cxn>
              <a:cxn ang="0">
                <a:pos x="connsiteX1" y="connsiteY1"/>
              </a:cxn>
              <a:cxn ang="0">
                <a:pos x="connsiteX2" y="connsiteY2"/>
              </a:cxn>
            </a:cxnLst>
            <a:rect l="l" t="t" r="r" b="b"/>
            <a:pathLst>
              <a:path w="577850" h="695325">
                <a:moveTo>
                  <a:pt x="311150" y="0"/>
                </a:moveTo>
                <a:cubicBezTo>
                  <a:pt x="155575" y="84931"/>
                  <a:pt x="0" y="169863"/>
                  <a:pt x="44450" y="285750"/>
                </a:cubicBezTo>
                <a:cubicBezTo>
                  <a:pt x="88900" y="401638"/>
                  <a:pt x="333375" y="548481"/>
                  <a:pt x="577850" y="695325"/>
                </a:cubicBezTo>
              </a:path>
            </a:pathLst>
          </a:custGeom>
          <a:noFill/>
          <a:ln w="25400">
            <a:solidFill>
              <a:srgbClr val="C00000"/>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0" name="Text Box 13"/>
          <p:cNvSpPr txBox="1">
            <a:spLocks noChangeArrowheads="1"/>
          </p:cNvSpPr>
          <p:nvPr/>
        </p:nvSpPr>
        <p:spPr bwMode="auto">
          <a:xfrm>
            <a:off x="891271" y="6200170"/>
            <a:ext cx="4528484" cy="369332"/>
          </a:xfrm>
          <a:prstGeom prst="rect">
            <a:avLst/>
          </a:prstGeom>
          <a:noFill/>
          <a:ln w="19050">
            <a:noFill/>
            <a:miter lim="800000"/>
            <a:headEnd/>
            <a:tailEnd/>
          </a:ln>
        </p:spPr>
        <p:txBody>
          <a:bodyPr wrap="none" lIns="0" tIns="0" rIns="0" bIns="0">
            <a:spAutoFit/>
          </a:bodyPr>
          <a:lstStyle/>
          <a:p>
            <a:pPr algn="l"/>
            <a:r>
              <a:rPr lang="es-ES" sz="1200" i="1" dirty="0"/>
              <a:t>Obsérvese que una fila contiene 2</a:t>
            </a:r>
            <a:r>
              <a:rPr lang="es-ES_tradnl" sz="1200" b="1" i="1" baseline="30000" dirty="0"/>
              <a:t>c−r</a:t>
            </a:r>
            <a:r>
              <a:rPr lang="es-ES_tradnl" sz="1200" b="1" i="1" dirty="0"/>
              <a:t> </a:t>
            </a:r>
            <a:r>
              <a:rPr lang="es-ES_tradnl" sz="1200" i="1" dirty="0"/>
              <a:t>bloques y que ningún bloque </a:t>
            </a:r>
            <a:br>
              <a:rPr lang="es-ES_tradnl" sz="1200" i="1" dirty="0"/>
            </a:br>
            <a:r>
              <a:rPr lang="es-ES_tradnl" sz="1200" i="1" dirty="0"/>
              <a:t>se encuentra repartido entre dos filas</a:t>
            </a:r>
            <a:endParaRPr lang="es-ES" sz="1200" i="1" dirty="0"/>
          </a:p>
        </p:txBody>
      </p:sp>
      <p:sp>
        <p:nvSpPr>
          <p:cNvPr id="32" name="2 Marcador de número de diapositiva">
            <a:extLst>
              <a:ext uri="{FF2B5EF4-FFF2-40B4-BE49-F238E27FC236}">
                <a16:creationId xmlns:a16="http://schemas.microsoft.com/office/drawing/2014/main" id="{7B3B4626-06AC-A772-866B-997E8C2A3FC8}"/>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53</a:t>
            </a:fld>
            <a:endParaRPr lang="en-US" dirty="0"/>
          </a:p>
        </p:txBody>
      </p:sp>
    </p:spTree>
    <p:extLst>
      <p:ext uri="{BB962C8B-B14F-4D97-AF65-F5344CB8AC3E}">
        <p14:creationId xmlns:p14="http://schemas.microsoft.com/office/powerpoint/2010/main" val="558863064"/>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s-ES" dirty="0"/>
              <a:t>Direccionamiento Memorias SDRAM</a:t>
            </a:r>
          </a:p>
        </p:txBody>
      </p:sp>
      <p:sp>
        <p:nvSpPr>
          <p:cNvPr id="62468" name="Rectangle 3"/>
          <p:cNvSpPr>
            <a:spLocks noGrp="1" noChangeArrowheads="1"/>
          </p:cNvSpPr>
          <p:nvPr>
            <p:ph type="body" idx="1"/>
          </p:nvPr>
        </p:nvSpPr>
        <p:spPr>
          <a:xfrm>
            <a:off x="179388" y="981075"/>
            <a:ext cx="8821768" cy="2952750"/>
          </a:xfrm>
        </p:spPr>
        <p:txBody>
          <a:bodyPr/>
          <a:lstStyle/>
          <a:p>
            <a:pPr lvl="1">
              <a:lnSpc>
                <a:spcPct val="100000"/>
              </a:lnSpc>
            </a:pPr>
            <a:r>
              <a:rPr lang="es-ES"/>
              <a:t>Así pues, la dirección de palabra que llega a un chip SDRAM es interpretada de dos formas:</a:t>
            </a:r>
          </a:p>
          <a:p>
            <a:pPr lvl="2">
              <a:lnSpc>
                <a:spcPct val="100000"/>
              </a:lnSpc>
            </a:pPr>
            <a:r>
              <a:rPr lang="es-ES"/>
              <a:t>Física: se trata de la tupla banco-fila-columna con el que se acceda a esa palabra.</a:t>
            </a:r>
          </a:p>
          <a:p>
            <a:pPr lvl="2">
              <a:lnSpc>
                <a:spcPct val="100000"/>
              </a:lnSpc>
            </a:pPr>
            <a:r>
              <a:rPr lang="es-ES"/>
              <a:t>Lógica: La palabra es la primera de un bloque de R palabras que serán leídas en sucesión.</a:t>
            </a:r>
            <a:endParaRPr lang="es-ES" dirty="0"/>
          </a:p>
        </p:txBody>
      </p:sp>
      <p:sp>
        <p:nvSpPr>
          <p:cNvPr id="15" name="Text Box 17"/>
          <p:cNvSpPr txBox="1">
            <a:spLocks noChangeArrowheads="1"/>
          </p:cNvSpPr>
          <p:nvPr/>
        </p:nvSpPr>
        <p:spPr bwMode="auto">
          <a:xfrm>
            <a:off x="1064359" y="6211701"/>
            <a:ext cx="2532745" cy="276999"/>
          </a:xfrm>
          <a:prstGeom prst="rect">
            <a:avLst/>
          </a:prstGeom>
          <a:noFill/>
          <a:ln w="19050">
            <a:noFill/>
            <a:miter lim="800000"/>
            <a:headEnd/>
            <a:tailEnd/>
          </a:ln>
        </p:spPr>
        <p:txBody>
          <a:bodyPr wrap="none" lIns="0" tIns="0" rIns="0" bIns="0">
            <a:spAutoFit/>
          </a:bodyPr>
          <a:lstStyle/>
          <a:p>
            <a:pPr algn="l"/>
            <a:r>
              <a:rPr lang="es-ES" sz="1800" i="1" dirty="0"/>
              <a:t>Bloque</a:t>
            </a:r>
            <a:r>
              <a:rPr lang="es-ES" sz="1800" dirty="0"/>
              <a:t> = </a:t>
            </a:r>
            <a:r>
              <a:rPr lang="es-ES" sz="1800" i="1" dirty="0"/>
              <a:t>dirección</a:t>
            </a:r>
            <a:r>
              <a:rPr lang="es-ES" sz="1800" dirty="0"/>
              <a:t> </a:t>
            </a:r>
            <a:r>
              <a:rPr lang="es-ES" sz="1800" b="1" dirty="0" err="1"/>
              <a:t>div</a:t>
            </a:r>
            <a:r>
              <a:rPr lang="es-ES" sz="1800" dirty="0"/>
              <a:t> </a:t>
            </a:r>
            <a:r>
              <a:rPr lang="es-ES" sz="1800" i="1" dirty="0"/>
              <a:t>R</a:t>
            </a:r>
          </a:p>
        </p:txBody>
      </p:sp>
      <p:sp>
        <p:nvSpPr>
          <p:cNvPr id="29" name="Text Box 14"/>
          <p:cNvSpPr txBox="1">
            <a:spLocks noChangeArrowheads="1"/>
          </p:cNvSpPr>
          <p:nvPr/>
        </p:nvSpPr>
        <p:spPr bwMode="auto">
          <a:xfrm>
            <a:off x="5357818" y="6248345"/>
            <a:ext cx="3786214" cy="276999"/>
          </a:xfrm>
          <a:prstGeom prst="rect">
            <a:avLst/>
          </a:prstGeom>
          <a:noFill/>
          <a:ln w="19050">
            <a:noFill/>
            <a:miter lim="800000"/>
            <a:headEnd/>
            <a:tailEnd/>
          </a:ln>
        </p:spPr>
        <p:txBody>
          <a:bodyPr wrap="square" lIns="0" tIns="0" rIns="0" bIns="0">
            <a:spAutoFit/>
          </a:bodyPr>
          <a:lstStyle/>
          <a:p>
            <a:pPr algn="l"/>
            <a:r>
              <a:rPr lang="es-ES" sz="1800" i="1" dirty="0"/>
              <a:t>Desplazamiento </a:t>
            </a:r>
            <a:r>
              <a:rPr lang="es-ES" sz="1800" dirty="0"/>
              <a:t>= </a:t>
            </a:r>
            <a:r>
              <a:rPr lang="es-ES" sz="1800" i="1" dirty="0"/>
              <a:t>dirección </a:t>
            </a:r>
            <a:r>
              <a:rPr lang="es-ES" sz="1800" b="1" dirty="0" err="1"/>
              <a:t>mod</a:t>
            </a:r>
            <a:r>
              <a:rPr lang="es-ES" sz="1800" dirty="0"/>
              <a:t> </a:t>
            </a:r>
            <a:r>
              <a:rPr lang="es-ES" sz="1800" i="1" dirty="0"/>
              <a:t>R</a:t>
            </a:r>
          </a:p>
        </p:txBody>
      </p:sp>
      <p:grpSp>
        <p:nvGrpSpPr>
          <p:cNvPr id="2" name="1 Grupo"/>
          <p:cNvGrpSpPr/>
          <p:nvPr/>
        </p:nvGrpSpPr>
        <p:grpSpPr>
          <a:xfrm>
            <a:off x="674208" y="2671315"/>
            <a:ext cx="7642208" cy="3481393"/>
            <a:chOff x="674208" y="2671315"/>
            <a:chExt cx="7642208" cy="3481393"/>
          </a:xfrm>
        </p:grpSpPr>
        <p:grpSp>
          <p:nvGrpSpPr>
            <p:cNvPr id="26" name="25 Grupo"/>
            <p:cNvGrpSpPr/>
            <p:nvPr/>
          </p:nvGrpSpPr>
          <p:grpSpPr>
            <a:xfrm>
              <a:off x="2915814" y="5026255"/>
              <a:ext cx="5400602" cy="464274"/>
              <a:chOff x="2052290" y="5207876"/>
              <a:chExt cx="5400602" cy="464274"/>
            </a:xfrm>
          </p:grpSpPr>
          <p:sp>
            <p:nvSpPr>
              <p:cNvPr id="5" name="Rectangle 5"/>
              <p:cNvSpPr>
                <a:spLocks noChangeArrowheads="1"/>
              </p:cNvSpPr>
              <p:nvPr/>
            </p:nvSpPr>
            <p:spPr bwMode="auto">
              <a:xfrm>
                <a:off x="6371804" y="5214950"/>
                <a:ext cx="1081088" cy="457200"/>
              </a:xfrm>
              <a:prstGeom prst="rect">
                <a:avLst/>
              </a:prstGeom>
              <a:solidFill>
                <a:schemeClr val="bg2"/>
              </a:solidFill>
              <a:ln w="19050">
                <a:solidFill>
                  <a:schemeClr val="tx1"/>
                </a:solidFill>
                <a:miter lim="800000"/>
                <a:headEnd/>
                <a:tailEnd/>
              </a:ln>
            </p:spPr>
            <p:txBody>
              <a:bodyPr wrap="none" lIns="0" tIns="0" rIns="0" bIns="0" anchor="ctr"/>
              <a:lstStyle/>
              <a:p>
                <a:r>
                  <a:rPr lang="es-ES_tradnl" dirty="0"/>
                  <a:t>A</a:t>
                </a:r>
                <a:r>
                  <a:rPr lang="es-ES_tradnl" b="1" i="1" baseline="-25000" dirty="0"/>
                  <a:t>r−1</a:t>
                </a:r>
                <a:r>
                  <a:rPr lang="es-ES_tradnl" dirty="0"/>
                  <a:t>...A</a:t>
                </a:r>
                <a:r>
                  <a:rPr lang="es-ES_tradnl" b="1" i="1" baseline="-25000" dirty="0"/>
                  <a:t>0</a:t>
                </a:r>
                <a:endParaRPr lang="es-ES_tradnl" baseline="-25000" dirty="0"/>
              </a:p>
            </p:txBody>
          </p:sp>
          <p:sp>
            <p:nvSpPr>
              <p:cNvPr id="6" name="Rectangle 6"/>
              <p:cNvSpPr>
                <a:spLocks noChangeArrowheads="1"/>
              </p:cNvSpPr>
              <p:nvPr/>
            </p:nvSpPr>
            <p:spPr bwMode="auto">
              <a:xfrm>
                <a:off x="2052290" y="5207876"/>
                <a:ext cx="4319514" cy="457200"/>
              </a:xfrm>
              <a:prstGeom prst="rect">
                <a:avLst/>
              </a:prstGeom>
              <a:solidFill>
                <a:schemeClr val="bg2"/>
              </a:solidFill>
              <a:ln w="19050">
                <a:solidFill>
                  <a:schemeClr val="tx1"/>
                </a:solidFill>
                <a:miter lim="800000"/>
                <a:headEnd/>
                <a:tailEnd/>
              </a:ln>
            </p:spPr>
            <p:txBody>
              <a:bodyPr wrap="none" lIns="0" tIns="0" rIns="0" bIns="0" anchor="ctr"/>
              <a:lstStyle/>
              <a:p>
                <a:r>
                  <a:rPr lang="es-ES_tradnl" dirty="0"/>
                  <a:t>A</a:t>
                </a:r>
                <a:r>
                  <a:rPr lang="es-ES_tradnl" b="1" i="1" baseline="-25000" dirty="0"/>
                  <a:t>p−1</a:t>
                </a:r>
                <a:r>
                  <a:rPr lang="es-ES_tradnl" b="1" i="1" dirty="0"/>
                  <a:t>  </a:t>
                </a:r>
                <a:r>
                  <a:rPr lang="es-ES_tradnl" b="1" i="1" baseline="-25000" dirty="0"/>
                  <a:t>                            </a:t>
                </a:r>
                <a:r>
                  <a:rPr lang="es-ES_tradnl" dirty="0"/>
                  <a:t>...                       A</a:t>
                </a:r>
                <a:r>
                  <a:rPr lang="es-ES_tradnl" b="1" i="1" baseline="-25000" dirty="0"/>
                  <a:t>r</a:t>
                </a:r>
              </a:p>
            </p:txBody>
          </p:sp>
        </p:grpSp>
        <p:sp>
          <p:nvSpPr>
            <p:cNvPr id="13" name="AutoShape 15"/>
            <p:cNvSpPr>
              <a:spLocks/>
            </p:cNvSpPr>
            <p:nvPr/>
          </p:nvSpPr>
          <p:spPr bwMode="auto">
            <a:xfrm rot="5400000">
              <a:off x="5004134" y="3441899"/>
              <a:ext cx="142875" cy="4319511"/>
            </a:xfrm>
            <a:prstGeom prst="rightBrace">
              <a:avLst>
                <a:gd name="adj1" fmla="val 30124"/>
                <a:gd name="adj2" fmla="val 71472"/>
              </a:avLst>
            </a:prstGeom>
            <a:noFill/>
            <a:ln w="19050">
              <a:solidFill>
                <a:srgbClr val="FFFFFF"/>
              </a:solidFill>
              <a:round/>
              <a:headEnd/>
              <a:tailEnd/>
            </a:ln>
          </p:spPr>
          <p:txBody>
            <a:bodyPr wrap="none" lIns="0" tIns="0" rIns="0" bIns="0" anchor="ctr"/>
            <a:lstStyle/>
            <a:p>
              <a:endParaRPr lang="es-ES"/>
            </a:p>
          </p:txBody>
        </p:sp>
        <p:sp>
          <p:nvSpPr>
            <p:cNvPr id="14" name="AutoShape 16"/>
            <p:cNvSpPr>
              <a:spLocks/>
            </p:cNvSpPr>
            <p:nvPr/>
          </p:nvSpPr>
          <p:spPr bwMode="auto">
            <a:xfrm rot="5400000">
              <a:off x="6886948" y="5015073"/>
              <a:ext cx="142875" cy="1173163"/>
            </a:xfrm>
            <a:prstGeom prst="rightBrace">
              <a:avLst>
                <a:gd name="adj1" fmla="val 37178"/>
                <a:gd name="adj2" fmla="val 38565"/>
              </a:avLst>
            </a:prstGeom>
            <a:noFill/>
            <a:ln w="19050">
              <a:solidFill>
                <a:srgbClr val="FFFFFF"/>
              </a:solidFill>
              <a:round/>
              <a:headEnd/>
              <a:tailEnd/>
            </a:ln>
          </p:spPr>
          <p:txBody>
            <a:bodyPr wrap="none" lIns="0" tIns="0" rIns="0" bIns="0" anchor="ctr"/>
            <a:lstStyle/>
            <a:p>
              <a:endParaRPr lang="es-ES"/>
            </a:p>
          </p:txBody>
        </p:sp>
        <p:grpSp>
          <p:nvGrpSpPr>
            <p:cNvPr id="25" name="24 Grupo"/>
            <p:cNvGrpSpPr/>
            <p:nvPr/>
          </p:nvGrpSpPr>
          <p:grpSpPr>
            <a:xfrm>
              <a:off x="719216" y="2671315"/>
              <a:ext cx="1980576" cy="824841"/>
              <a:chOff x="719216" y="4143380"/>
              <a:chExt cx="1980576" cy="824841"/>
            </a:xfrm>
          </p:grpSpPr>
          <p:sp>
            <p:nvSpPr>
              <p:cNvPr id="16" name="15 CuadroTexto"/>
              <p:cNvSpPr txBox="1"/>
              <p:nvPr/>
            </p:nvSpPr>
            <p:spPr>
              <a:xfrm>
                <a:off x="719216" y="4143380"/>
                <a:ext cx="1527982" cy="824841"/>
              </a:xfrm>
              <a:prstGeom prst="rect">
                <a:avLst/>
              </a:prstGeom>
              <a:noFill/>
            </p:spPr>
            <p:txBody>
              <a:bodyPr wrap="none" rtlCol="0">
                <a:spAutoFit/>
              </a:bodyPr>
              <a:lstStyle/>
              <a:p>
                <a:pPr algn="r"/>
                <a:r>
                  <a:rPr lang="es-ES" sz="1400" dirty="0"/>
                  <a:t>Dirección de una</a:t>
                </a:r>
              </a:p>
              <a:p>
                <a:pPr algn="r"/>
                <a:r>
                  <a:rPr lang="es-ES" sz="1400" dirty="0"/>
                  <a:t>palabra del</a:t>
                </a:r>
              </a:p>
              <a:p>
                <a:pPr algn="r"/>
                <a:r>
                  <a:rPr lang="es-ES" sz="1400" dirty="0"/>
                  <a:t>chip de memoria</a:t>
                </a:r>
              </a:p>
            </p:txBody>
          </p:sp>
          <p:cxnSp>
            <p:nvCxnSpPr>
              <p:cNvPr id="17" name="16 Conector recto de flecha"/>
              <p:cNvCxnSpPr/>
              <p:nvPr/>
            </p:nvCxnSpPr>
            <p:spPr bwMode="auto">
              <a:xfrm>
                <a:off x="2267744" y="4614337"/>
                <a:ext cx="432048" cy="0"/>
              </a:xfrm>
              <a:prstGeom prst="straightConnector1">
                <a:avLst/>
              </a:prstGeom>
              <a:noFill/>
              <a:ln w="31750" cap="flat" cmpd="sng" algn="ctr">
                <a:solidFill>
                  <a:srgbClr val="FFCC00"/>
                </a:solidFill>
                <a:prstDash val="solid"/>
                <a:round/>
                <a:headEnd type="none" w="med" len="med"/>
                <a:tailEnd type="arrow"/>
              </a:ln>
              <a:effectLst/>
            </p:spPr>
          </p:cxnSp>
        </p:grpSp>
        <p:sp>
          <p:nvSpPr>
            <p:cNvPr id="12" name="Text Box 14"/>
            <p:cNvSpPr txBox="1">
              <a:spLocks noChangeArrowheads="1"/>
            </p:cNvSpPr>
            <p:nvPr/>
          </p:nvSpPr>
          <p:spPr bwMode="auto">
            <a:xfrm>
              <a:off x="6412049" y="5801719"/>
              <a:ext cx="1718419" cy="276999"/>
            </a:xfrm>
            <a:prstGeom prst="rect">
              <a:avLst/>
            </a:prstGeom>
            <a:noFill/>
            <a:ln w="19050">
              <a:noFill/>
              <a:miter lim="800000"/>
              <a:headEnd/>
              <a:tailEnd/>
            </a:ln>
          </p:spPr>
          <p:txBody>
            <a:bodyPr wrap="none" lIns="0" tIns="0" rIns="0" bIns="0">
              <a:spAutoFit/>
            </a:bodyPr>
            <a:lstStyle/>
            <a:p>
              <a:pPr algn="l"/>
              <a:r>
                <a:rPr lang="es-ES" sz="1800" i="1" dirty="0"/>
                <a:t>Desplazamiento</a:t>
              </a:r>
              <a:r>
                <a:rPr lang="es-ES" sz="1800" dirty="0"/>
                <a:t> </a:t>
              </a:r>
              <a:endParaRPr lang="es-ES" sz="1800" i="1" dirty="0"/>
            </a:p>
          </p:txBody>
        </p:sp>
        <p:grpSp>
          <p:nvGrpSpPr>
            <p:cNvPr id="28" name="27 Grupo"/>
            <p:cNvGrpSpPr/>
            <p:nvPr/>
          </p:nvGrpSpPr>
          <p:grpSpPr>
            <a:xfrm>
              <a:off x="1341660" y="5563631"/>
              <a:ext cx="5909265" cy="589077"/>
              <a:chOff x="1341660" y="5745252"/>
              <a:chExt cx="5909265" cy="589077"/>
            </a:xfrm>
          </p:grpSpPr>
          <p:sp>
            <p:nvSpPr>
              <p:cNvPr id="18" name="AutoShape 11"/>
              <p:cNvSpPr>
                <a:spLocks/>
              </p:cNvSpPr>
              <p:nvPr/>
            </p:nvSpPr>
            <p:spPr bwMode="auto">
              <a:xfrm rot="5400000">
                <a:off x="5011361" y="3649706"/>
                <a:ext cx="144017" cy="433511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19" name="18 CuadroTexto"/>
              <p:cNvSpPr txBox="1"/>
              <p:nvPr/>
            </p:nvSpPr>
            <p:spPr>
              <a:xfrm>
                <a:off x="1341660" y="5995775"/>
                <a:ext cx="2941831" cy="338554"/>
              </a:xfrm>
              <a:prstGeom prst="rect">
                <a:avLst/>
              </a:prstGeom>
              <a:noFill/>
            </p:spPr>
            <p:txBody>
              <a:bodyPr wrap="none" rtlCol="0">
                <a:spAutoFit/>
              </a:bodyPr>
              <a:lstStyle/>
              <a:p>
                <a:pPr algn="r"/>
                <a:r>
                  <a:rPr lang="es-ES" sz="1600" dirty="0"/>
                  <a:t>Número o dirección de Bloque</a:t>
                </a:r>
              </a:p>
            </p:txBody>
          </p:sp>
          <p:cxnSp>
            <p:nvCxnSpPr>
              <p:cNvPr id="20" name="19 Forma"/>
              <p:cNvCxnSpPr/>
              <p:nvPr/>
            </p:nvCxnSpPr>
            <p:spPr bwMode="auto">
              <a:xfrm flipV="1">
                <a:off x="4319571" y="5914559"/>
                <a:ext cx="756000" cy="288000"/>
              </a:xfrm>
              <a:prstGeom prst="bentConnector2">
                <a:avLst/>
              </a:prstGeom>
              <a:ln w="22225">
                <a:solidFill>
                  <a:srgbClr val="FFC000"/>
                </a:solidFill>
                <a:tailEnd type="arrow"/>
              </a:ln>
            </p:spPr>
            <p:style>
              <a:lnRef idx="2">
                <a:schemeClr val="accent1">
                  <a:shade val="50000"/>
                </a:schemeClr>
              </a:lnRef>
              <a:fillRef idx="1">
                <a:schemeClr val="accent1"/>
              </a:fillRef>
              <a:effectRef idx="0">
                <a:schemeClr val="accent1"/>
              </a:effectRef>
              <a:fontRef idx="minor">
                <a:schemeClr val="lt1"/>
              </a:fontRef>
            </p:style>
          </p:cxnSp>
        </p:grpSp>
        <p:sp>
          <p:nvSpPr>
            <p:cNvPr id="22" name="Rectangle 6"/>
            <p:cNvSpPr>
              <a:spLocks noChangeArrowheads="1"/>
            </p:cNvSpPr>
            <p:nvPr/>
          </p:nvSpPr>
          <p:spPr bwMode="auto">
            <a:xfrm>
              <a:off x="2915817" y="2885629"/>
              <a:ext cx="5400599" cy="457200"/>
            </a:xfrm>
            <a:prstGeom prst="rect">
              <a:avLst/>
            </a:prstGeom>
            <a:solidFill>
              <a:schemeClr val="bg2"/>
            </a:solidFill>
            <a:ln w="19050">
              <a:solidFill>
                <a:schemeClr val="tx1"/>
              </a:solidFill>
              <a:miter lim="800000"/>
              <a:headEnd/>
              <a:tailEnd/>
            </a:ln>
          </p:spPr>
          <p:txBody>
            <a:bodyPr wrap="none" lIns="0" tIns="0" rIns="0" bIns="0" anchor="ctr"/>
            <a:lstStyle/>
            <a:p>
              <a:r>
                <a:rPr lang="es-ES_tradnl" dirty="0"/>
                <a:t>A</a:t>
              </a:r>
              <a:r>
                <a:rPr lang="es-ES_tradnl" b="1" i="1" baseline="-25000" dirty="0"/>
                <a:t>p−1</a:t>
              </a:r>
              <a:r>
                <a:rPr lang="es-ES_tradnl" b="1" i="1" dirty="0"/>
                <a:t>  </a:t>
              </a:r>
              <a:r>
                <a:rPr lang="es-ES_tradnl" b="1" i="1" baseline="-25000" dirty="0"/>
                <a:t>                             </a:t>
              </a:r>
              <a:r>
                <a:rPr lang="es-ES_tradnl" dirty="0"/>
                <a:t>...                                     A</a:t>
              </a:r>
              <a:r>
                <a:rPr lang="es-ES_tradnl" b="1" i="1" baseline="-25000" dirty="0"/>
                <a:t>0</a:t>
              </a:r>
            </a:p>
          </p:txBody>
        </p:sp>
        <p:grpSp>
          <p:nvGrpSpPr>
            <p:cNvPr id="27" name="26 Grupo"/>
            <p:cNvGrpSpPr/>
            <p:nvPr/>
          </p:nvGrpSpPr>
          <p:grpSpPr>
            <a:xfrm>
              <a:off x="674208" y="5065135"/>
              <a:ext cx="2020716" cy="566309"/>
              <a:chOff x="674208" y="5246756"/>
              <a:chExt cx="2020716" cy="566309"/>
            </a:xfrm>
          </p:grpSpPr>
          <p:sp>
            <p:nvSpPr>
              <p:cNvPr id="23" name="22 CuadroTexto"/>
              <p:cNvSpPr txBox="1"/>
              <p:nvPr/>
            </p:nvSpPr>
            <p:spPr>
              <a:xfrm>
                <a:off x="674208" y="5246756"/>
                <a:ext cx="1568122" cy="566309"/>
              </a:xfrm>
              <a:prstGeom prst="rect">
                <a:avLst/>
              </a:prstGeom>
              <a:noFill/>
            </p:spPr>
            <p:txBody>
              <a:bodyPr wrap="none" rtlCol="0">
                <a:spAutoFit/>
              </a:bodyPr>
              <a:lstStyle/>
              <a:p>
                <a:pPr algn="r"/>
                <a:r>
                  <a:rPr lang="es-ES" sz="1400" dirty="0"/>
                  <a:t>Estructura lógica</a:t>
                </a:r>
              </a:p>
              <a:p>
                <a:pPr algn="r"/>
                <a:r>
                  <a:rPr lang="es-ES" sz="1400" dirty="0"/>
                  <a:t>de la dirección</a:t>
                </a:r>
              </a:p>
            </p:txBody>
          </p:sp>
          <p:cxnSp>
            <p:nvCxnSpPr>
              <p:cNvPr id="24" name="23 Conector recto de flecha"/>
              <p:cNvCxnSpPr/>
              <p:nvPr/>
            </p:nvCxnSpPr>
            <p:spPr bwMode="auto">
              <a:xfrm>
                <a:off x="2262876" y="5530619"/>
                <a:ext cx="432048" cy="0"/>
              </a:xfrm>
              <a:prstGeom prst="straightConnector1">
                <a:avLst/>
              </a:prstGeom>
              <a:noFill/>
              <a:ln w="31750" cap="flat" cmpd="sng" algn="ctr">
                <a:solidFill>
                  <a:srgbClr val="FFCC00"/>
                </a:solidFill>
                <a:prstDash val="solid"/>
                <a:round/>
                <a:headEnd type="none" w="med" len="med"/>
                <a:tailEnd type="arrow"/>
              </a:ln>
              <a:effectLst/>
            </p:spPr>
          </p:cxnSp>
        </p:grpSp>
        <p:sp>
          <p:nvSpPr>
            <p:cNvPr id="31" name="Rectangle 5"/>
            <p:cNvSpPr>
              <a:spLocks noChangeArrowheads="1"/>
            </p:cNvSpPr>
            <p:nvPr/>
          </p:nvSpPr>
          <p:spPr bwMode="auto">
            <a:xfrm>
              <a:off x="6473861" y="3895451"/>
              <a:ext cx="1842555" cy="457200"/>
            </a:xfrm>
            <a:prstGeom prst="rect">
              <a:avLst/>
            </a:prstGeom>
            <a:solidFill>
              <a:schemeClr val="bg2"/>
            </a:solidFill>
            <a:ln w="19050">
              <a:solidFill>
                <a:schemeClr val="tx1"/>
              </a:solidFill>
              <a:miter lim="800000"/>
              <a:headEnd/>
              <a:tailEnd/>
            </a:ln>
          </p:spPr>
          <p:txBody>
            <a:bodyPr wrap="none" lIns="0" tIns="0" rIns="0" bIns="0" anchor="ctr"/>
            <a:lstStyle/>
            <a:p>
              <a:r>
                <a:rPr lang="es-ES_tradnl" dirty="0"/>
                <a:t>A</a:t>
              </a:r>
              <a:r>
                <a:rPr lang="es-ES_tradnl" b="1" i="1" baseline="-25000" dirty="0"/>
                <a:t>c−1     </a:t>
              </a:r>
              <a:r>
                <a:rPr lang="es-ES_tradnl" dirty="0"/>
                <a:t>...      A</a:t>
              </a:r>
              <a:r>
                <a:rPr lang="es-ES_tradnl" b="1" i="1" baseline="-25000" dirty="0"/>
                <a:t>0</a:t>
              </a:r>
              <a:endParaRPr lang="es-ES_tradnl" baseline="-25000" dirty="0"/>
            </a:p>
          </p:txBody>
        </p:sp>
        <p:sp>
          <p:nvSpPr>
            <p:cNvPr id="32" name="Rectangle 6"/>
            <p:cNvSpPr>
              <a:spLocks noChangeArrowheads="1"/>
            </p:cNvSpPr>
            <p:nvPr/>
          </p:nvSpPr>
          <p:spPr bwMode="auto">
            <a:xfrm>
              <a:off x="4186701" y="3895451"/>
              <a:ext cx="2278062" cy="457200"/>
            </a:xfrm>
            <a:prstGeom prst="rect">
              <a:avLst/>
            </a:prstGeom>
            <a:solidFill>
              <a:schemeClr val="bg2"/>
            </a:solidFill>
            <a:ln w="19050">
              <a:solidFill>
                <a:schemeClr val="tx1"/>
              </a:solidFill>
              <a:miter lim="800000"/>
              <a:headEnd/>
              <a:tailEnd/>
            </a:ln>
          </p:spPr>
          <p:txBody>
            <a:bodyPr wrap="none" lIns="0" tIns="0" rIns="0" bIns="0" anchor="ctr"/>
            <a:lstStyle/>
            <a:p>
              <a:r>
                <a:rPr lang="es-ES_tradnl" dirty="0"/>
                <a:t>A</a:t>
              </a:r>
              <a:r>
                <a:rPr lang="es-ES_tradnl" b="1" i="1" baseline="-25000" dirty="0"/>
                <a:t>f+c-1        </a:t>
              </a:r>
              <a:r>
                <a:rPr lang="es-ES_tradnl" dirty="0"/>
                <a:t>…..        A</a:t>
              </a:r>
              <a:r>
                <a:rPr lang="es-ES_tradnl" b="1" i="1" baseline="-25000" dirty="0"/>
                <a:t>c</a:t>
              </a:r>
            </a:p>
          </p:txBody>
        </p:sp>
        <p:sp>
          <p:nvSpPr>
            <p:cNvPr id="34" name="AutoShape 11"/>
            <p:cNvSpPr>
              <a:spLocks/>
            </p:cNvSpPr>
            <p:nvPr/>
          </p:nvSpPr>
          <p:spPr bwMode="auto">
            <a:xfrm rot="16200000" flipH="1" flipV="1">
              <a:off x="5256644" y="3346551"/>
              <a:ext cx="138176" cy="2278062"/>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36" name="35 CuadroTexto"/>
            <p:cNvSpPr txBox="1"/>
            <p:nvPr/>
          </p:nvSpPr>
          <p:spPr>
            <a:xfrm>
              <a:off x="719217" y="3793821"/>
              <a:ext cx="1537866" cy="738664"/>
            </a:xfrm>
            <a:prstGeom prst="rect">
              <a:avLst/>
            </a:prstGeom>
            <a:noFill/>
          </p:spPr>
          <p:txBody>
            <a:bodyPr wrap="square" rtlCol="0">
              <a:spAutoFit/>
            </a:bodyPr>
            <a:lstStyle/>
            <a:p>
              <a:pPr algn="r"/>
              <a:r>
                <a:rPr lang="es-ES" sz="1400" dirty="0"/>
                <a:t>Estructura física de la dirección de palabra</a:t>
              </a:r>
            </a:p>
          </p:txBody>
        </p:sp>
        <p:cxnSp>
          <p:nvCxnSpPr>
            <p:cNvPr id="37" name="36 Conector recto de flecha"/>
            <p:cNvCxnSpPr/>
            <p:nvPr/>
          </p:nvCxnSpPr>
          <p:spPr bwMode="auto">
            <a:xfrm>
              <a:off x="2277628" y="4124588"/>
              <a:ext cx="432048" cy="0"/>
            </a:xfrm>
            <a:prstGeom prst="straightConnector1">
              <a:avLst/>
            </a:prstGeom>
            <a:noFill/>
            <a:ln w="31750" cap="flat" cmpd="sng" algn="ctr">
              <a:solidFill>
                <a:srgbClr val="FFCC00"/>
              </a:solidFill>
              <a:prstDash val="solid"/>
              <a:round/>
              <a:headEnd type="none" w="med" len="med"/>
              <a:tailEnd type="arrow"/>
            </a:ln>
            <a:effectLst/>
          </p:spPr>
        </p:cxnSp>
        <p:sp>
          <p:nvSpPr>
            <p:cNvPr id="38" name="AutoShape 11"/>
            <p:cNvSpPr>
              <a:spLocks/>
            </p:cNvSpPr>
            <p:nvPr/>
          </p:nvSpPr>
          <p:spPr bwMode="auto">
            <a:xfrm rot="16200000" flipH="1" flipV="1">
              <a:off x="7313748" y="3560398"/>
              <a:ext cx="152400" cy="185037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39" name="Text Box 9"/>
            <p:cNvSpPr txBox="1">
              <a:spLocks noChangeArrowheads="1"/>
            </p:cNvSpPr>
            <p:nvPr/>
          </p:nvSpPr>
          <p:spPr bwMode="auto">
            <a:xfrm>
              <a:off x="5178255" y="4577617"/>
              <a:ext cx="294953" cy="276999"/>
            </a:xfrm>
            <a:prstGeom prst="rect">
              <a:avLst/>
            </a:prstGeom>
            <a:noFill/>
            <a:ln w="19050">
              <a:noFill/>
              <a:miter lim="800000"/>
              <a:headEnd/>
              <a:tailEnd/>
            </a:ln>
          </p:spPr>
          <p:txBody>
            <a:bodyPr wrap="none" lIns="0" tIns="0" rIns="0" bIns="0">
              <a:spAutoFit/>
            </a:bodyPr>
            <a:lstStyle/>
            <a:p>
              <a:r>
                <a:rPr lang="es-ES" sz="1800" dirty="0"/>
                <a:t>fila</a:t>
              </a:r>
            </a:p>
          </p:txBody>
        </p:sp>
        <p:sp>
          <p:nvSpPr>
            <p:cNvPr id="40" name="Text Box 10"/>
            <p:cNvSpPr txBox="1">
              <a:spLocks noChangeArrowheads="1"/>
            </p:cNvSpPr>
            <p:nvPr/>
          </p:nvSpPr>
          <p:spPr bwMode="auto">
            <a:xfrm>
              <a:off x="6959121" y="4561783"/>
              <a:ext cx="872034" cy="276999"/>
            </a:xfrm>
            <a:prstGeom prst="rect">
              <a:avLst/>
            </a:prstGeom>
            <a:noFill/>
            <a:ln w="19050">
              <a:noFill/>
              <a:miter lim="800000"/>
              <a:headEnd/>
              <a:tailEnd/>
            </a:ln>
          </p:spPr>
          <p:txBody>
            <a:bodyPr wrap="none" lIns="0" tIns="0" rIns="0" bIns="0">
              <a:spAutoFit/>
            </a:bodyPr>
            <a:lstStyle/>
            <a:p>
              <a:pPr algn="l"/>
              <a:r>
                <a:rPr lang="es-ES" sz="1800" dirty="0"/>
                <a:t>columna</a:t>
              </a:r>
            </a:p>
          </p:txBody>
        </p:sp>
        <p:sp>
          <p:nvSpPr>
            <p:cNvPr id="41" name="Rectangle 6"/>
            <p:cNvSpPr>
              <a:spLocks noChangeArrowheads="1"/>
            </p:cNvSpPr>
            <p:nvPr/>
          </p:nvSpPr>
          <p:spPr bwMode="auto">
            <a:xfrm>
              <a:off x="2915813" y="3895988"/>
              <a:ext cx="1270887" cy="457200"/>
            </a:xfrm>
            <a:prstGeom prst="rect">
              <a:avLst/>
            </a:prstGeom>
            <a:solidFill>
              <a:schemeClr val="bg2"/>
            </a:solidFill>
            <a:ln w="19050">
              <a:solidFill>
                <a:schemeClr val="tx1"/>
              </a:solidFill>
              <a:miter lim="800000"/>
              <a:headEnd/>
              <a:tailEnd/>
            </a:ln>
          </p:spPr>
          <p:txBody>
            <a:bodyPr wrap="none" lIns="0" tIns="0" rIns="0" bIns="0" anchor="ctr"/>
            <a:lstStyle/>
            <a:p>
              <a:r>
                <a:rPr lang="es-ES_tradnl" dirty="0"/>
                <a:t>A</a:t>
              </a:r>
              <a:r>
                <a:rPr lang="es-ES_tradnl" b="1" i="1" baseline="-25000" dirty="0"/>
                <a:t>p−1</a:t>
              </a:r>
              <a:r>
                <a:rPr lang="es-ES_tradnl" dirty="0"/>
                <a:t>...</a:t>
              </a:r>
              <a:r>
                <a:rPr lang="es-ES_tradnl" dirty="0" err="1"/>
                <a:t>A</a:t>
              </a:r>
              <a:r>
                <a:rPr lang="es-ES_tradnl" b="1" i="1" baseline="-25000" dirty="0" err="1"/>
                <a:t>f+c</a:t>
              </a:r>
              <a:endParaRPr lang="es-ES_tradnl" b="1" i="1" baseline="-25000" dirty="0"/>
            </a:p>
          </p:txBody>
        </p:sp>
        <p:sp>
          <p:nvSpPr>
            <p:cNvPr id="42" name="AutoShape 11"/>
            <p:cNvSpPr>
              <a:spLocks/>
            </p:cNvSpPr>
            <p:nvPr/>
          </p:nvSpPr>
          <p:spPr bwMode="auto">
            <a:xfrm rot="16200000" flipH="1" flipV="1">
              <a:off x="7720499" y="5078458"/>
              <a:ext cx="109462" cy="1079805"/>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43" name="AutoShape 11"/>
            <p:cNvSpPr>
              <a:spLocks/>
            </p:cNvSpPr>
            <p:nvPr/>
          </p:nvSpPr>
          <p:spPr bwMode="auto">
            <a:xfrm rot="16200000" flipH="1" flipV="1">
              <a:off x="3490877" y="3889585"/>
              <a:ext cx="138177" cy="1253471"/>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44" name="Text Box 9"/>
            <p:cNvSpPr txBox="1">
              <a:spLocks noChangeArrowheads="1"/>
            </p:cNvSpPr>
            <p:nvPr/>
          </p:nvSpPr>
          <p:spPr bwMode="auto">
            <a:xfrm>
              <a:off x="3245776" y="4591592"/>
              <a:ext cx="628377" cy="276999"/>
            </a:xfrm>
            <a:prstGeom prst="rect">
              <a:avLst/>
            </a:prstGeom>
            <a:noFill/>
            <a:ln w="19050">
              <a:noFill/>
              <a:miter lim="800000"/>
              <a:headEnd/>
              <a:tailEnd/>
            </a:ln>
          </p:spPr>
          <p:txBody>
            <a:bodyPr wrap="none" lIns="0" tIns="0" rIns="0" bIns="0">
              <a:spAutoFit/>
            </a:bodyPr>
            <a:lstStyle/>
            <a:p>
              <a:r>
                <a:rPr lang="es-ES" sz="1800" dirty="0"/>
                <a:t>banco</a:t>
              </a:r>
            </a:p>
          </p:txBody>
        </p:sp>
      </p:grpSp>
      <p:sp>
        <p:nvSpPr>
          <p:cNvPr id="3" name="2 Marcador de número de diapositiva">
            <a:extLst>
              <a:ext uri="{FF2B5EF4-FFF2-40B4-BE49-F238E27FC236}">
                <a16:creationId xmlns:a16="http://schemas.microsoft.com/office/drawing/2014/main" id="{7BE45C03-3B0D-F42D-133C-32161771C8DE}"/>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54</a:t>
            </a:fld>
            <a:endParaRPr lang="en-US" dirty="0"/>
          </a:p>
        </p:txBody>
      </p:sp>
    </p:spTree>
    <p:extLst>
      <p:ext uri="{BB962C8B-B14F-4D97-AF65-F5344CB8AC3E}">
        <p14:creationId xmlns:p14="http://schemas.microsoft.com/office/powerpoint/2010/main" val="4122952674"/>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p:txBody>
          <a:bodyPr/>
          <a:lstStyle/>
          <a:p>
            <a:r>
              <a:rPr lang="es-ES" dirty="0"/>
              <a:t>Direccionamiento Memorias SDRAM</a:t>
            </a:r>
            <a:endParaRPr lang="es-ES_tradnl" altLang="es-ES_tradnl" dirty="0"/>
          </a:p>
        </p:txBody>
      </p:sp>
      <p:sp>
        <p:nvSpPr>
          <p:cNvPr id="164" name="Rectangle 15"/>
          <p:cNvSpPr>
            <a:spLocks noChangeArrowheads="1"/>
          </p:cNvSpPr>
          <p:nvPr/>
        </p:nvSpPr>
        <p:spPr bwMode="auto">
          <a:xfrm>
            <a:off x="1907704" y="3467724"/>
            <a:ext cx="6624736" cy="457200"/>
          </a:xfrm>
          <a:prstGeom prst="rect">
            <a:avLst/>
          </a:prstGeom>
          <a:noFill/>
          <a:ln w="19050">
            <a:solidFill>
              <a:schemeClr val="tx1"/>
            </a:solidFill>
            <a:miter lim="800000"/>
            <a:headEnd/>
            <a:tailEnd/>
          </a:ln>
        </p:spPr>
        <p:txBody>
          <a:bodyPr wrap="none" lIns="0" tIns="0" rIns="0" bIns="0" anchor="ctr"/>
          <a:lstStyle/>
          <a:p>
            <a:pPr algn="l"/>
            <a:r>
              <a:rPr lang="es-ES_tradnl" dirty="0"/>
              <a:t>  A</a:t>
            </a:r>
            <a:r>
              <a:rPr lang="es-ES_tradnl" b="1" baseline="-25000" dirty="0"/>
              <a:t>p−1   </a:t>
            </a:r>
            <a:r>
              <a:rPr lang="es-ES_tradnl" b="1" dirty="0"/>
              <a:t>                               …..                                           </a:t>
            </a:r>
            <a:r>
              <a:rPr lang="es-ES_tradnl" dirty="0"/>
              <a:t>A</a:t>
            </a:r>
            <a:r>
              <a:rPr lang="es-ES_tradnl" b="1" baseline="-25000" dirty="0"/>
              <a:t>0</a:t>
            </a:r>
          </a:p>
        </p:txBody>
      </p:sp>
      <p:sp>
        <p:nvSpPr>
          <p:cNvPr id="169" name="Rectangle 3"/>
          <p:cNvSpPr txBox="1">
            <a:spLocks noChangeArrowheads="1"/>
          </p:cNvSpPr>
          <p:nvPr/>
        </p:nvSpPr>
        <p:spPr bwMode="auto">
          <a:xfrm>
            <a:off x="533400" y="1052736"/>
            <a:ext cx="8305800"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gn="l">
              <a:buFont typeface="Wingdings" pitchFamily="2" charset="2"/>
              <a:buChar char="§"/>
              <a:defRPr/>
            </a:pPr>
            <a:r>
              <a:rPr lang="es-ES" sz="2400" dirty="0"/>
              <a:t>Tamaño SDRAM:   2</a:t>
            </a:r>
            <a:r>
              <a:rPr lang="es-ES" sz="2400" b="1" i="1" baseline="30000" dirty="0"/>
              <a:t>p</a:t>
            </a:r>
            <a:r>
              <a:rPr lang="es-ES" sz="2400" dirty="0"/>
              <a:t> </a:t>
            </a:r>
            <a:r>
              <a:rPr lang="es-ES" sz="2400" dirty="0">
                <a:sym typeface="Symbol" pitchFamily="18" charset="2"/>
              </a:rPr>
              <a:t></a:t>
            </a:r>
            <a:r>
              <a:rPr lang="es-ES" sz="2400" dirty="0"/>
              <a:t> </a:t>
            </a:r>
            <a:r>
              <a:rPr lang="es-ES" sz="2400" i="1" dirty="0"/>
              <a:t>w</a:t>
            </a:r>
            <a:r>
              <a:rPr lang="es-ES" sz="2400" dirty="0"/>
              <a:t> bits    </a:t>
            </a:r>
            <a:r>
              <a:rPr lang="es-ES" i="1" dirty="0"/>
              <a:t>(2</a:t>
            </a:r>
            <a:r>
              <a:rPr lang="es-ES" b="1" i="1" baseline="30000" dirty="0"/>
              <a:t>p</a:t>
            </a:r>
            <a:r>
              <a:rPr lang="es-ES" i="1" dirty="0"/>
              <a:t> </a:t>
            </a:r>
            <a:r>
              <a:rPr lang="es-ES" i="1" dirty="0">
                <a:sym typeface="Symbol" pitchFamily="18" charset="2"/>
              </a:rPr>
              <a:t>palabras de </a:t>
            </a:r>
            <a:r>
              <a:rPr lang="es-ES" i="1" dirty="0"/>
              <a:t> w bits)</a:t>
            </a:r>
            <a:endParaRPr lang="es-ES" sz="2400" i="1" dirty="0"/>
          </a:p>
          <a:p>
            <a:pPr marL="342900" lvl="0" indent="-342900" algn="l">
              <a:buFont typeface="Wingdings" pitchFamily="2" charset="2"/>
              <a:buChar char="§"/>
              <a:defRPr/>
            </a:pPr>
            <a:r>
              <a:rPr lang="es-ES" sz="2400" dirty="0"/>
              <a:t>Organización: 2</a:t>
            </a:r>
            <a:r>
              <a:rPr lang="es-ES" sz="2400" b="1" i="1" baseline="30000" dirty="0"/>
              <a:t>b</a:t>
            </a:r>
            <a:r>
              <a:rPr lang="es-ES" sz="2400" dirty="0"/>
              <a:t> bancos </a:t>
            </a:r>
            <a:r>
              <a:rPr lang="es-ES" sz="2400" dirty="0">
                <a:sym typeface="Symbol" pitchFamily="18" charset="2"/>
              </a:rPr>
              <a:t></a:t>
            </a:r>
            <a:r>
              <a:rPr lang="es-ES" sz="2400" dirty="0"/>
              <a:t> 2</a:t>
            </a:r>
            <a:r>
              <a:rPr lang="es-ES" sz="2400" b="1" i="1" baseline="30000" dirty="0"/>
              <a:t>f</a:t>
            </a:r>
            <a:r>
              <a:rPr lang="es-ES" sz="2400" baseline="30000" dirty="0"/>
              <a:t>  </a:t>
            </a:r>
            <a:r>
              <a:rPr lang="es-ES" sz="2400" dirty="0">
                <a:sym typeface="Symbol" pitchFamily="18" charset="2"/>
              </a:rPr>
              <a:t>filas  </a:t>
            </a:r>
            <a:r>
              <a:rPr lang="es-ES" sz="2400" dirty="0"/>
              <a:t>2</a:t>
            </a:r>
            <a:r>
              <a:rPr lang="es-ES" sz="2400" b="1" i="1" baseline="30000" dirty="0"/>
              <a:t>c</a:t>
            </a:r>
            <a:r>
              <a:rPr lang="es-ES" sz="2400" dirty="0"/>
              <a:t> columnas</a:t>
            </a:r>
          </a:p>
          <a:p>
            <a:pPr marL="342900" lvl="0" indent="-342900" algn="l">
              <a:buFont typeface="Wingdings" pitchFamily="2" charset="2"/>
              <a:buChar char="§"/>
              <a:defRPr/>
            </a:pPr>
            <a:r>
              <a:rPr lang="es-ES" altLang="es-ES_tradnl" sz="2400" kern="0" dirty="0">
                <a:latin typeface="+mn-lt"/>
                <a:ea typeface="+mn-ea"/>
              </a:rPr>
              <a:t>Formato dirección:  </a:t>
            </a:r>
            <a:r>
              <a:rPr lang="es-ES" altLang="es-ES_tradnl" sz="2400" i="1" kern="0" dirty="0">
                <a:ea typeface="+mn-ea"/>
                <a:cs typeface="Arial" pitchFamily="34" charset="0"/>
              </a:rPr>
              <a:t>p = b + f +c</a:t>
            </a:r>
            <a:endParaRPr kumimoji="0" lang="es-ES" altLang="es-ES_tradnl" sz="2400" b="0" i="1" u="none" strike="noStrike" kern="0" cap="none" spc="0" normalizeH="0" baseline="0" noProof="0" dirty="0">
              <a:ln>
                <a:noFill/>
              </a:ln>
              <a:effectLst/>
              <a:uLnTx/>
              <a:uFillTx/>
              <a:ea typeface="+mn-ea"/>
              <a:cs typeface="Arial" pitchFamily="34" charset="0"/>
            </a:endParaRPr>
          </a:p>
          <a:p>
            <a:pPr marL="342900" lvl="0" indent="-342900" algn="l">
              <a:buFont typeface="Wingdings" pitchFamily="2" charset="2"/>
              <a:buChar char="§"/>
              <a:defRPr/>
            </a:pPr>
            <a:r>
              <a:rPr kumimoji="0" lang="es-ES" altLang="es-ES_tradnl" sz="2400" b="0" i="0" u="none" strike="noStrike" kern="0" cap="none" spc="0" normalizeH="0" baseline="0" noProof="0" dirty="0">
                <a:ln>
                  <a:noFill/>
                </a:ln>
                <a:effectLst/>
                <a:uLnTx/>
                <a:uFillTx/>
                <a:latin typeface="+mn-lt"/>
                <a:ea typeface="+mn-ea"/>
                <a:cs typeface="+mn-cs"/>
              </a:rPr>
              <a:t>Bloques</a:t>
            </a:r>
            <a:r>
              <a:rPr kumimoji="0" lang="es-ES" altLang="es-ES_tradnl" sz="2400" b="0" i="0" u="none" strike="noStrike" kern="0" cap="none" spc="0" normalizeH="0" noProof="0" dirty="0">
                <a:ln>
                  <a:noFill/>
                </a:ln>
                <a:effectLst/>
                <a:uLnTx/>
                <a:uFillTx/>
                <a:latin typeface="+mn-lt"/>
                <a:ea typeface="+mn-ea"/>
                <a:cs typeface="+mn-cs"/>
              </a:rPr>
              <a:t> de </a:t>
            </a:r>
            <a:r>
              <a:rPr lang="es-ES" sz="2400" dirty="0"/>
              <a:t>2</a:t>
            </a:r>
            <a:r>
              <a:rPr lang="es-ES" sz="2400" b="1" i="1" baseline="30000" dirty="0"/>
              <a:t>r</a:t>
            </a:r>
            <a:r>
              <a:rPr lang="es-ES" sz="2400" b="1" i="1" dirty="0"/>
              <a:t> </a:t>
            </a:r>
            <a:r>
              <a:rPr lang="es-ES" sz="2400" dirty="0"/>
              <a:t>palabras  </a:t>
            </a:r>
            <a:r>
              <a:rPr lang="es-ES" i="1" dirty="0"/>
              <a:t>(2</a:t>
            </a:r>
            <a:r>
              <a:rPr lang="es-ES" b="1" i="1" baseline="30000" dirty="0"/>
              <a:t>p-r</a:t>
            </a:r>
            <a:r>
              <a:rPr lang="es-ES" b="1" i="1" dirty="0"/>
              <a:t> </a:t>
            </a:r>
            <a:r>
              <a:rPr lang="es-ES" i="1" dirty="0"/>
              <a:t>bloques en SDRAM)</a:t>
            </a:r>
            <a:endParaRPr kumimoji="0" lang="es-ES" altLang="es-ES_tradnl" sz="2400" b="0" i="1" u="none" strike="noStrike" kern="0" cap="none" spc="0" normalizeH="0" baseline="0" noProof="0" dirty="0">
              <a:ln>
                <a:noFill/>
              </a:ln>
              <a:effectLst/>
              <a:uLnTx/>
              <a:uFillTx/>
              <a:latin typeface="+mn-lt"/>
              <a:ea typeface="+mn-ea"/>
              <a:cs typeface="+mn-cs"/>
            </a:endParaRPr>
          </a:p>
        </p:txBody>
      </p:sp>
      <p:sp>
        <p:nvSpPr>
          <p:cNvPr id="32" name="31 CuadroTexto"/>
          <p:cNvSpPr txBox="1"/>
          <p:nvPr/>
        </p:nvSpPr>
        <p:spPr>
          <a:xfrm>
            <a:off x="2843808" y="3843624"/>
            <a:ext cx="2300630" cy="369332"/>
          </a:xfrm>
          <a:prstGeom prst="rect">
            <a:avLst/>
          </a:prstGeom>
          <a:noFill/>
        </p:spPr>
        <p:txBody>
          <a:bodyPr wrap="none" rtlCol="0">
            <a:spAutoFit/>
          </a:bodyPr>
          <a:lstStyle/>
          <a:p>
            <a:pPr algn="l"/>
            <a:r>
              <a:rPr lang="es-ES" sz="1800" dirty="0">
                <a:solidFill>
                  <a:schemeClr val="bg1"/>
                </a:solidFill>
              </a:rPr>
              <a:t>Dirección de palabra</a:t>
            </a:r>
          </a:p>
        </p:txBody>
      </p:sp>
      <p:sp>
        <p:nvSpPr>
          <p:cNvPr id="28" name="Rectangle 4"/>
          <p:cNvSpPr>
            <a:spLocks noChangeArrowheads="1"/>
          </p:cNvSpPr>
          <p:nvPr/>
        </p:nvSpPr>
        <p:spPr bwMode="auto">
          <a:xfrm>
            <a:off x="6876256" y="5509100"/>
            <a:ext cx="1656184" cy="319970"/>
          </a:xfrm>
          <a:prstGeom prst="rect">
            <a:avLst/>
          </a:prstGeom>
          <a:solidFill>
            <a:srgbClr val="92D050"/>
          </a:solidFill>
          <a:ln w="19050">
            <a:solidFill>
              <a:schemeClr val="tx1"/>
            </a:solidFill>
            <a:miter lim="800000"/>
            <a:headEnd/>
            <a:tailEnd/>
          </a:ln>
        </p:spPr>
        <p:txBody>
          <a:bodyPr wrap="none" lIns="0" tIns="0" rIns="0" bIns="0" anchor="ctr"/>
          <a:lstStyle/>
          <a:p>
            <a:r>
              <a:rPr lang="es-ES_tradnl" sz="1600" b="1" dirty="0">
                <a:solidFill>
                  <a:schemeClr val="bg1"/>
                </a:solidFill>
              </a:rPr>
              <a:t>Desplazamiento</a:t>
            </a:r>
            <a:endParaRPr lang="es-ES_tradnl" sz="1600" b="1" baseline="-25000" dirty="0">
              <a:solidFill>
                <a:schemeClr val="bg1"/>
              </a:solidFill>
            </a:endParaRPr>
          </a:p>
        </p:txBody>
      </p:sp>
      <p:sp>
        <p:nvSpPr>
          <p:cNvPr id="29" name="Rectangle 15"/>
          <p:cNvSpPr>
            <a:spLocks noChangeArrowheads="1"/>
          </p:cNvSpPr>
          <p:nvPr/>
        </p:nvSpPr>
        <p:spPr bwMode="auto">
          <a:xfrm>
            <a:off x="1907704" y="5509100"/>
            <a:ext cx="4968552" cy="319970"/>
          </a:xfrm>
          <a:prstGeom prst="rect">
            <a:avLst/>
          </a:prstGeom>
          <a:solidFill>
            <a:schemeClr val="accent2">
              <a:lumMod val="75000"/>
            </a:schemeClr>
          </a:solidFill>
          <a:ln w="19050">
            <a:solidFill>
              <a:schemeClr val="tx1"/>
            </a:solidFill>
            <a:miter lim="800000"/>
            <a:headEnd/>
            <a:tailEnd/>
          </a:ln>
        </p:spPr>
        <p:txBody>
          <a:bodyPr wrap="none" lIns="0" tIns="0" rIns="0" bIns="0" anchor="ctr"/>
          <a:lstStyle/>
          <a:p>
            <a:r>
              <a:rPr lang="es-ES_tradnl" b="1" dirty="0">
                <a:solidFill>
                  <a:schemeClr val="bg1"/>
                </a:solidFill>
              </a:rPr>
              <a:t>  Bloque</a:t>
            </a:r>
            <a:endParaRPr lang="es-ES_tradnl" b="1" baseline="-25000" dirty="0">
              <a:solidFill>
                <a:schemeClr val="bg1"/>
              </a:solidFill>
            </a:endParaRPr>
          </a:p>
        </p:txBody>
      </p:sp>
      <p:sp>
        <p:nvSpPr>
          <p:cNvPr id="41" name="Rectangle 4"/>
          <p:cNvSpPr>
            <a:spLocks noChangeArrowheads="1"/>
          </p:cNvSpPr>
          <p:nvPr/>
        </p:nvSpPr>
        <p:spPr bwMode="auto">
          <a:xfrm>
            <a:off x="6084168" y="4253225"/>
            <a:ext cx="2448272" cy="457200"/>
          </a:xfrm>
          <a:prstGeom prst="rect">
            <a:avLst/>
          </a:prstGeom>
          <a:solidFill>
            <a:srgbClr val="CC3300"/>
          </a:solidFill>
          <a:ln w="19050">
            <a:solidFill>
              <a:schemeClr val="tx1"/>
            </a:solidFill>
            <a:miter lim="800000"/>
            <a:headEnd/>
            <a:tailEnd/>
          </a:ln>
        </p:spPr>
        <p:txBody>
          <a:bodyPr wrap="none" lIns="0" tIns="0" rIns="0" bIns="0" anchor="ctr"/>
          <a:lstStyle/>
          <a:p>
            <a:r>
              <a:rPr lang="es-ES_tradnl" sz="1600" b="1" dirty="0" err="1">
                <a:solidFill>
                  <a:srgbClr val="FFFFFF"/>
                </a:solidFill>
              </a:rPr>
              <a:t>Sel</a:t>
            </a:r>
            <a:r>
              <a:rPr lang="es-ES_tradnl" sz="1600" b="1" dirty="0">
                <a:solidFill>
                  <a:srgbClr val="FFFFFF"/>
                </a:solidFill>
              </a:rPr>
              <a:t>. Columna</a:t>
            </a:r>
            <a:endParaRPr lang="es-ES_tradnl" sz="1600" b="1" baseline="-25000" dirty="0"/>
          </a:p>
        </p:txBody>
      </p:sp>
      <p:sp>
        <p:nvSpPr>
          <p:cNvPr id="43" name="Rectangle 15"/>
          <p:cNvSpPr>
            <a:spLocks noChangeArrowheads="1"/>
          </p:cNvSpPr>
          <p:nvPr/>
        </p:nvSpPr>
        <p:spPr bwMode="auto">
          <a:xfrm>
            <a:off x="1907704" y="4253225"/>
            <a:ext cx="1152128" cy="457200"/>
          </a:xfrm>
          <a:prstGeom prst="rect">
            <a:avLst/>
          </a:prstGeom>
          <a:solidFill>
            <a:schemeClr val="bg1">
              <a:lumMod val="65000"/>
            </a:schemeClr>
          </a:solidFill>
          <a:ln w="19050">
            <a:solidFill>
              <a:schemeClr val="tx1"/>
            </a:solidFill>
            <a:miter lim="800000"/>
            <a:headEnd/>
            <a:tailEnd/>
          </a:ln>
        </p:spPr>
        <p:txBody>
          <a:bodyPr wrap="none" lIns="0" tIns="0" rIns="0" bIns="0" anchor="ctr"/>
          <a:lstStyle/>
          <a:p>
            <a:r>
              <a:rPr lang="es-ES_tradnl" sz="1600" b="1" dirty="0">
                <a:solidFill>
                  <a:srgbClr val="FFFFFF"/>
                </a:solidFill>
              </a:rPr>
              <a:t>  </a:t>
            </a:r>
            <a:r>
              <a:rPr lang="es-ES_tradnl" sz="1600" b="1" dirty="0" err="1">
                <a:solidFill>
                  <a:srgbClr val="FFFFFF"/>
                </a:solidFill>
              </a:rPr>
              <a:t>Sel</a:t>
            </a:r>
            <a:r>
              <a:rPr lang="es-ES_tradnl" sz="1600" b="1" dirty="0">
                <a:solidFill>
                  <a:srgbClr val="FFFFFF"/>
                </a:solidFill>
              </a:rPr>
              <a:t>. Banco</a:t>
            </a:r>
            <a:endParaRPr lang="es-ES_tradnl" sz="1600" b="1" baseline="-25000" dirty="0">
              <a:solidFill>
                <a:srgbClr val="FFFFFF"/>
              </a:solidFill>
            </a:endParaRPr>
          </a:p>
        </p:txBody>
      </p:sp>
      <p:sp>
        <p:nvSpPr>
          <p:cNvPr id="44" name="Rectangle 15"/>
          <p:cNvSpPr>
            <a:spLocks noChangeArrowheads="1"/>
          </p:cNvSpPr>
          <p:nvPr/>
        </p:nvSpPr>
        <p:spPr bwMode="auto">
          <a:xfrm>
            <a:off x="3059832" y="4253225"/>
            <a:ext cx="3024336" cy="457200"/>
          </a:xfrm>
          <a:prstGeom prst="rect">
            <a:avLst/>
          </a:prstGeom>
          <a:solidFill>
            <a:srgbClr val="0070C0"/>
          </a:solidFill>
          <a:ln w="19050">
            <a:solidFill>
              <a:schemeClr val="tx1"/>
            </a:solidFill>
            <a:miter lim="800000"/>
            <a:headEnd/>
            <a:tailEnd/>
          </a:ln>
        </p:spPr>
        <p:txBody>
          <a:bodyPr wrap="none" lIns="0" tIns="0" rIns="0" bIns="0" anchor="ctr"/>
          <a:lstStyle/>
          <a:p>
            <a:r>
              <a:rPr lang="es-ES_tradnl" sz="1800" b="1" dirty="0">
                <a:solidFill>
                  <a:srgbClr val="FFFFFF"/>
                </a:solidFill>
              </a:rPr>
              <a:t>  </a:t>
            </a:r>
            <a:r>
              <a:rPr lang="es-ES_tradnl" sz="1600" b="1" dirty="0" err="1">
                <a:solidFill>
                  <a:srgbClr val="FFFFFF"/>
                </a:solidFill>
              </a:rPr>
              <a:t>Sel</a:t>
            </a:r>
            <a:r>
              <a:rPr lang="es-ES_tradnl" sz="1600" b="1" dirty="0">
                <a:solidFill>
                  <a:srgbClr val="FFFFFF"/>
                </a:solidFill>
              </a:rPr>
              <a:t>. Fila</a:t>
            </a:r>
            <a:endParaRPr lang="es-ES_tradnl" sz="1800" b="1" baseline="-25000" dirty="0">
              <a:solidFill>
                <a:srgbClr val="FFFFFF"/>
              </a:solidFill>
            </a:endParaRPr>
          </a:p>
        </p:txBody>
      </p:sp>
      <p:sp>
        <p:nvSpPr>
          <p:cNvPr id="46" name="45 CuadroTexto"/>
          <p:cNvSpPr txBox="1"/>
          <p:nvPr/>
        </p:nvSpPr>
        <p:spPr>
          <a:xfrm>
            <a:off x="2051720" y="4892966"/>
            <a:ext cx="827471" cy="400110"/>
          </a:xfrm>
          <a:prstGeom prst="rect">
            <a:avLst/>
          </a:prstGeom>
          <a:noFill/>
        </p:spPr>
        <p:txBody>
          <a:bodyPr wrap="none" rtlCol="0">
            <a:spAutoFit/>
          </a:bodyPr>
          <a:lstStyle/>
          <a:p>
            <a:r>
              <a:rPr lang="es-ES" i="1" dirty="0"/>
              <a:t>b  </a:t>
            </a:r>
            <a:r>
              <a:rPr lang="es-ES" sz="1800" i="1" dirty="0"/>
              <a:t>bits</a:t>
            </a:r>
            <a:endParaRPr lang="es-ES" i="1" dirty="0"/>
          </a:p>
        </p:txBody>
      </p:sp>
      <p:sp>
        <p:nvSpPr>
          <p:cNvPr id="47" name="46 CuadroTexto"/>
          <p:cNvSpPr txBox="1"/>
          <p:nvPr/>
        </p:nvSpPr>
        <p:spPr>
          <a:xfrm>
            <a:off x="4283968" y="4892966"/>
            <a:ext cx="684803" cy="400110"/>
          </a:xfrm>
          <a:prstGeom prst="rect">
            <a:avLst/>
          </a:prstGeom>
          <a:noFill/>
        </p:spPr>
        <p:txBody>
          <a:bodyPr wrap="none" rtlCol="0">
            <a:spAutoFit/>
          </a:bodyPr>
          <a:lstStyle/>
          <a:p>
            <a:r>
              <a:rPr lang="es-ES" i="1" dirty="0"/>
              <a:t>f </a:t>
            </a:r>
            <a:r>
              <a:rPr lang="es-ES" sz="1800" i="1" dirty="0"/>
              <a:t>bits</a:t>
            </a:r>
            <a:endParaRPr lang="es-ES" i="1" dirty="0"/>
          </a:p>
        </p:txBody>
      </p:sp>
      <p:sp>
        <p:nvSpPr>
          <p:cNvPr id="50" name="49 CuadroTexto"/>
          <p:cNvSpPr txBox="1"/>
          <p:nvPr/>
        </p:nvSpPr>
        <p:spPr>
          <a:xfrm>
            <a:off x="7020272" y="4892966"/>
            <a:ext cx="755335" cy="400110"/>
          </a:xfrm>
          <a:prstGeom prst="rect">
            <a:avLst/>
          </a:prstGeom>
          <a:noFill/>
        </p:spPr>
        <p:txBody>
          <a:bodyPr wrap="none" rtlCol="0">
            <a:spAutoFit/>
          </a:bodyPr>
          <a:lstStyle/>
          <a:p>
            <a:r>
              <a:rPr lang="es-ES" i="1" dirty="0"/>
              <a:t>c </a:t>
            </a:r>
            <a:r>
              <a:rPr lang="es-ES" sz="1800" i="1" dirty="0"/>
              <a:t>bits</a:t>
            </a:r>
            <a:endParaRPr lang="es-ES" i="1" dirty="0"/>
          </a:p>
        </p:txBody>
      </p:sp>
      <p:sp>
        <p:nvSpPr>
          <p:cNvPr id="51" name="AutoShape 12"/>
          <p:cNvSpPr>
            <a:spLocks/>
          </p:cNvSpPr>
          <p:nvPr/>
        </p:nvSpPr>
        <p:spPr bwMode="auto">
          <a:xfrm rot="5400000">
            <a:off x="7380312" y="3708901"/>
            <a:ext cx="144016" cy="216024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52" name="AutoShape 12"/>
          <p:cNvSpPr>
            <a:spLocks/>
          </p:cNvSpPr>
          <p:nvPr/>
        </p:nvSpPr>
        <p:spPr bwMode="auto">
          <a:xfrm rot="5400000">
            <a:off x="4963852" y="3461065"/>
            <a:ext cx="144016" cy="2655912"/>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53" name="AutoShape 12"/>
          <p:cNvSpPr>
            <a:spLocks/>
          </p:cNvSpPr>
          <p:nvPr/>
        </p:nvSpPr>
        <p:spPr bwMode="auto">
          <a:xfrm rot="5400000">
            <a:off x="2987824" y="4140949"/>
            <a:ext cx="135632" cy="128776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57" name="56 CuadroTexto"/>
          <p:cNvSpPr txBox="1"/>
          <p:nvPr/>
        </p:nvSpPr>
        <p:spPr>
          <a:xfrm>
            <a:off x="7401163" y="6013156"/>
            <a:ext cx="699229" cy="400110"/>
          </a:xfrm>
          <a:prstGeom prst="rect">
            <a:avLst/>
          </a:prstGeom>
          <a:noFill/>
        </p:spPr>
        <p:txBody>
          <a:bodyPr wrap="none" rtlCol="0">
            <a:spAutoFit/>
          </a:bodyPr>
          <a:lstStyle/>
          <a:p>
            <a:r>
              <a:rPr lang="es-ES" i="1" dirty="0"/>
              <a:t>r </a:t>
            </a:r>
            <a:r>
              <a:rPr lang="es-ES" sz="1800" i="1" dirty="0"/>
              <a:t>bits</a:t>
            </a:r>
            <a:endParaRPr lang="es-ES" i="1" dirty="0"/>
          </a:p>
        </p:txBody>
      </p:sp>
      <p:sp>
        <p:nvSpPr>
          <p:cNvPr id="58" name="AutoShape 12"/>
          <p:cNvSpPr>
            <a:spLocks/>
          </p:cNvSpPr>
          <p:nvPr/>
        </p:nvSpPr>
        <p:spPr bwMode="auto">
          <a:xfrm rot="16200000" flipV="1">
            <a:off x="7664152" y="3353053"/>
            <a:ext cx="72008" cy="164780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cxnSp>
        <p:nvCxnSpPr>
          <p:cNvPr id="59" name="58 Conector recto"/>
          <p:cNvCxnSpPr/>
          <p:nvPr/>
        </p:nvCxnSpPr>
        <p:spPr bwMode="auto">
          <a:xfrm rot="5400000">
            <a:off x="5760132" y="5185064"/>
            <a:ext cx="2232248" cy="0"/>
          </a:xfrm>
          <a:prstGeom prst="line">
            <a:avLst/>
          </a:prstGeom>
          <a:noFill/>
          <a:ln w="19050" cap="flat" cmpd="sng" algn="ctr">
            <a:solidFill>
              <a:schemeClr val="bg1">
                <a:lumMod val="75000"/>
              </a:schemeClr>
            </a:solidFill>
            <a:prstDash val="dash"/>
            <a:round/>
            <a:headEnd type="none" w="med" len="med"/>
            <a:tailEnd type="none" w="med" len="med"/>
          </a:ln>
          <a:effectLst/>
        </p:spPr>
      </p:cxnSp>
      <p:sp>
        <p:nvSpPr>
          <p:cNvPr id="39" name="38 CuadroTexto"/>
          <p:cNvSpPr txBox="1"/>
          <p:nvPr/>
        </p:nvSpPr>
        <p:spPr>
          <a:xfrm>
            <a:off x="4018926" y="6053226"/>
            <a:ext cx="926857" cy="400110"/>
          </a:xfrm>
          <a:prstGeom prst="rect">
            <a:avLst/>
          </a:prstGeom>
          <a:noFill/>
        </p:spPr>
        <p:txBody>
          <a:bodyPr wrap="none" rtlCol="0">
            <a:spAutoFit/>
          </a:bodyPr>
          <a:lstStyle/>
          <a:p>
            <a:r>
              <a:rPr lang="es-ES" i="1" dirty="0"/>
              <a:t>p-r </a:t>
            </a:r>
            <a:r>
              <a:rPr lang="es-ES" sz="1800" i="1" dirty="0"/>
              <a:t>bits</a:t>
            </a:r>
            <a:endParaRPr lang="es-ES" i="1" dirty="0"/>
          </a:p>
        </p:txBody>
      </p:sp>
      <p:sp>
        <p:nvSpPr>
          <p:cNvPr id="45" name="44 CuadroTexto"/>
          <p:cNvSpPr txBox="1"/>
          <p:nvPr/>
        </p:nvSpPr>
        <p:spPr>
          <a:xfrm>
            <a:off x="230554" y="3358615"/>
            <a:ext cx="1686680" cy="634020"/>
          </a:xfrm>
          <a:prstGeom prst="rect">
            <a:avLst/>
          </a:prstGeom>
          <a:noFill/>
        </p:spPr>
        <p:txBody>
          <a:bodyPr wrap="none" rtlCol="0">
            <a:spAutoFit/>
          </a:bodyPr>
          <a:lstStyle/>
          <a:p>
            <a:r>
              <a:rPr lang="es-ES" sz="1600" dirty="0">
                <a:solidFill>
                  <a:srgbClr val="7030A0"/>
                </a:solidFill>
              </a:rPr>
              <a:t>Dirección</a:t>
            </a:r>
          </a:p>
          <a:p>
            <a:r>
              <a:rPr lang="es-ES" sz="1600" dirty="0">
                <a:solidFill>
                  <a:srgbClr val="7030A0"/>
                </a:solidFill>
              </a:rPr>
              <a:t>Palabra SDRAM</a:t>
            </a:r>
          </a:p>
        </p:txBody>
      </p:sp>
      <p:sp>
        <p:nvSpPr>
          <p:cNvPr id="54" name="AutoShape 11"/>
          <p:cNvSpPr>
            <a:spLocks/>
          </p:cNvSpPr>
          <p:nvPr/>
        </p:nvSpPr>
        <p:spPr bwMode="auto">
          <a:xfrm rot="5400000">
            <a:off x="4319971" y="3456874"/>
            <a:ext cx="144017" cy="4968552"/>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55" name="AutoShape 11"/>
          <p:cNvSpPr>
            <a:spLocks/>
          </p:cNvSpPr>
          <p:nvPr/>
        </p:nvSpPr>
        <p:spPr bwMode="auto">
          <a:xfrm rot="5400000">
            <a:off x="2394000" y="4213021"/>
            <a:ext cx="144017" cy="1152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56" name="AutoShape 11"/>
          <p:cNvSpPr>
            <a:spLocks/>
          </p:cNvSpPr>
          <p:nvPr/>
        </p:nvSpPr>
        <p:spPr bwMode="auto">
          <a:xfrm rot="5400000">
            <a:off x="4500159" y="3277019"/>
            <a:ext cx="144017" cy="3024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60" name="AutoShape 11"/>
          <p:cNvSpPr>
            <a:spLocks/>
          </p:cNvSpPr>
          <p:nvPr/>
        </p:nvSpPr>
        <p:spPr bwMode="auto">
          <a:xfrm rot="5400000">
            <a:off x="7236431" y="3565021"/>
            <a:ext cx="144017" cy="2448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61" name="AutoShape 11"/>
          <p:cNvSpPr>
            <a:spLocks/>
          </p:cNvSpPr>
          <p:nvPr/>
        </p:nvSpPr>
        <p:spPr bwMode="auto">
          <a:xfrm rot="5400000">
            <a:off x="7632431" y="5113147"/>
            <a:ext cx="144017" cy="1656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30" name="29 CuadroTexto"/>
          <p:cNvSpPr txBox="1"/>
          <p:nvPr/>
        </p:nvSpPr>
        <p:spPr>
          <a:xfrm>
            <a:off x="533401" y="4235140"/>
            <a:ext cx="1356608" cy="830997"/>
          </a:xfrm>
          <a:prstGeom prst="rect">
            <a:avLst/>
          </a:prstGeom>
          <a:noFill/>
        </p:spPr>
        <p:txBody>
          <a:bodyPr wrap="square" rtlCol="0">
            <a:spAutoFit/>
          </a:bodyPr>
          <a:lstStyle/>
          <a:p>
            <a:r>
              <a:rPr lang="es-ES" sz="1600" dirty="0">
                <a:solidFill>
                  <a:srgbClr val="7030A0"/>
                </a:solidFill>
              </a:rPr>
              <a:t>Estructura física de la dirección</a:t>
            </a:r>
          </a:p>
        </p:txBody>
      </p:sp>
      <p:sp>
        <p:nvSpPr>
          <p:cNvPr id="33" name="32 CuadroTexto"/>
          <p:cNvSpPr txBox="1"/>
          <p:nvPr/>
        </p:nvSpPr>
        <p:spPr>
          <a:xfrm>
            <a:off x="560626" y="5368745"/>
            <a:ext cx="1356608" cy="830997"/>
          </a:xfrm>
          <a:prstGeom prst="rect">
            <a:avLst/>
          </a:prstGeom>
          <a:noFill/>
        </p:spPr>
        <p:txBody>
          <a:bodyPr wrap="square" rtlCol="0">
            <a:spAutoFit/>
          </a:bodyPr>
          <a:lstStyle/>
          <a:p>
            <a:r>
              <a:rPr lang="es-ES" sz="1600" dirty="0">
                <a:solidFill>
                  <a:srgbClr val="7030A0"/>
                </a:solidFill>
              </a:rPr>
              <a:t>Estructura lógica de la dirección</a:t>
            </a:r>
          </a:p>
        </p:txBody>
      </p:sp>
      <p:sp>
        <p:nvSpPr>
          <p:cNvPr id="2" name="2 Marcador de número de diapositiva">
            <a:extLst>
              <a:ext uri="{FF2B5EF4-FFF2-40B4-BE49-F238E27FC236}">
                <a16:creationId xmlns:a16="http://schemas.microsoft.com/office/drawing/2014/main" id="{38C44B2D-F069-C8F1-CB6E-A0ED65BE3558}"/>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98C3-B497-DA50-6EBC-8B4F4D1F46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D258B2-7F49-A612-BD16-51ED6F4BDF31}"/>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AFBD1BBF-F2BD-008D-E980-40B6609AF0BA}"/>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solidFill>
                  <a:srgbClr val="FF0000"/>
                </a:solidFill>
              </a:rPr>
              <a:t>Organización        RESUMEN</a:t>
            </a:r>
          </a:p>
          <a:p>
            <a:pPr marL="977900" lvl="2" indent="-457200">
              <a:lnSpc>
                <a:spcPct val="90000"/>
              </a:lnSpc>
              <a:buFont typeface="+mj-lt"/>
              <a:buAutoNum type="romanUcPeriod"/>
            </a:pPr>
            <a:r>
              <a:rPr lang="es-ES" dirty="0">
                <a:solidFill>
                  <a:srgbClr val="FF0000"/>
                </a:solidFill>
              </a:rPr>
              <a:t>Direccionamiento</a:t>
            </a:r>
          </a:p>
          <a:p>
            <a:pPr marL="977900" lvl="2" indent="-457200">
              <a:lnSpc>
                <a:spcPct val="90000"/>
              </a:lnSpc>
              <a:buFont typeface="+mj-lt"/>
              <a:buAutoNum type="romanUcPeriod"/>
            </a:pPr>
            <a:r>
              <a:rPr lang="es-ES" dirty="0"/>
              <a:t>Temporización</a:t>
            </a:r>
          </a:p>
          <a:p>
            <a:pPr marL="977900" lvl="2" indent="-457200">
              <a:lnSpc>
                <a:spcPct val="90000"/>
              </a:lnSpc>
              <a:buFont typeface="+mj-lt"/>
              <a:buAutoNum type="romanUcPeriod"/>
            </a:pPr>
            <a:r>
              <a:rPr lang="es-ES" dirty="0"/>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DD8535B2-5415-1525-86D0-24DF345916ED}"/>
              </a:ext>
            </a:extLst>
          </p:cNvPr>
          <p:cNvSpPr>
            <a:spLocks noGrp="1"/>
          </p:cNvSpPr>
          <p:nvPr>
            <p:ph type="sldNum" sz="quarter" idx="12"/>
          </p:nvPr>
        </p:nvSpPr>
        <p:spPr/>
        <p:txBody>
          <a:bodyPr/>
          <a:lstStyle/>
          <a:p>
            <a:pPr>
              <a:defRPr/>
            </a:pPr>
            <a:fld id="{50B7A251-C820-4EFF-8270-C7613E20881F}" type="slidenum">
              <a:rPr lang="en-US" smtClean="0"/>
              <a:pPr>
                <a:defRPr/>
              </a:pPr>
              <a:t>56</a:t>
            </a:fld>
            <a:endParaRPr lang="en-US" dirty="0"/>
          </a:p>
        </p:txBody>
      </p:sp>
      <p:sp>
        <p:nvSpPr>
          <p:cNvPr id="5" name="Rectángulo 4">
            <a:extLst>
              <a:ext uri="{FF2B5EF4-FFF2-40B4-BE49-F238E27FC236}">
                <a16:creationId xmlns:a16="http://schemas.microsoft.com/office/drawing/2014/main" id="{380936EA-1B17-4217-18A3-B85DBCCBAC00}"/>
              </a:ext>
            </a:extLst>
          </p:cNvPr>
          <p:cNvSpPr/>
          <p:nvPr/>
        </p:nvSpPr>
        <p:spPr>
          <a:xfrm>
            <a:off x="4550370" y="2633647"/>
            <a:ext cx="4122221" cy="1471172"/>
          </a:xfrm>
          <a:prstGeom prst="rect">
            <a:avLst/>
          </a:prstGeom>
        </p:spPr>
        <p:txBody>
          <a:bodyPr wrap="square">
            <a:spAutoFit/>
          </a:bodyPr>
          <a:lstStyle/>
          <a:p>
            <a:pPr algn="l"/>
            <a:r>
              <a:rPr lang="es-ES" sz="1600" dirty="0">
                <a:solidFill>
                  <a:schemeClr val="accent1">
                    <a:lumMod val="75000"/>
                  </a:schemeClr>
                </a:solidFill>
              </a:rPr>
              <a:t>Vídeos relacionados:</a:t>
            </a:r>
          </a:p>
          <a:p>
            <a:pPr marL="742950" lvl="1" indent="-285750" algn="l">
              <a:buFont typeface="Arial" panose="020B0604020202020204" pitchFamily="34" charset="0"/>
              <a:buChar char="•"/>
            </a:pPr>
            <a:r>
              <a:rPr lang="es-ES" sz="1600" dirty="0">
                <a:solidFill>
                  <a:schemeClr val="accent1">
                    <a:lumMod val="75000"/>
                  </a:schemeClr>
                </a:solidFill>
              </a:rPr>
              <a:t>Vídeo 2. “Geometría DRAM”</a:t>
            </a:r>
          </a:p>
          <a:p>
            <a:pPr marL="742950" lvl="1" indent="-285750" algn="l">
              <a:buFont typeface="Arial" panose="020B0604020202020204" pitchFamily="34" charset="0"/>
              <a:buChar char="•"/>
            </a:pPr>
            <a:r>
              <a:rPr lang="es-ES" sz="1600" dirty="0">
                <a:solidFill>
                  <a:schemeClr val="accent1">
                    <a:lumMod val="75000"/>
                  </a:schemeClr>
                </a:solidFill>
              </a:rPr>
              <a:t>Vídeo 3. “Geometría DRAM: Ejemplo”</a:t>
            </a:r>
          </a:p>
          <a:p>
            <a:pPr lvl="1" algn="l"/>
            <a:endParaRPr lang="es-ES" sz="1600" dirty="0">
              <a:solidFill>
                <a:schemeClr val="accent1">
                  <a:lumMod val="75000"/>
                </a:schemeClr>
              </a:solidFill>
            </a:endParaRPr>
          </a:p>
        </p:txBody>
      </p:sp>
      <p:sp>
        <p:nvSpPr>
          <p:cNvPr id="6" name="Rectángulo 5">
            <a:extLst>
              <a:ext uri="{FF2B5EF4-FFF2-40B4-BE49-F238E27FC236}">
                <a16:creationId xmlns:a16="http://schemas.microsoft.com/office/drawing/2014/main" id="{6F0F316D-51BE-0566-416A-D1C9636220D6}"/>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
        <p:nvSpPr>
          <p:cNvPr id="9" name="3 Rectángulo">
            <a:extLst>
              <a:ext uri="{FF2B5EF4-FFF2-40B4-BE49-F238E27FC236}">
                <a16:creationId xmlns:a16="http://schemas.microsoft.com/office/drawing/2014/main" id="{D607E297-119E-8A26-F933-5B6DC65CF22F}"/>
              </a:ext>
            </a:extLst>
          </p:cNvPr>
          <p:cNvSpPr/>
          <p:nvPr/>
        </p:nvSpPr>
        <p:spPr bwMode="auto">
          <a:xfrm>
            <a:off x="1259632" y="3356992"/>
            <a:ext cx="3240360" cy="648072"/>
          </a:xfrm>
          <a:prstGeom prst="rect">
            <a:avLst/>
          </a:prstGeom>
          <a:noFill/>
          <a:ln w="34925">
            <a:solidFill>
              <a:srgbClr val="FF0000"/>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bg1"/>
              </a:solidFill>
            </a:endParaRPr>
          </a:p>
        </p:txBody>
      </p:sp>
    </p:spTree>
    <p:extLst>
      <p:ext uri="{BB962C8B-B14F-4D97-AF65-F5344CB8AC3E}">
        <p14:creationId xmlns:p14="http://schemas.microsoft.com/office/powerpoint/2010/main" val="15547075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2CDD305-C8D1-4535-8AD0-D676B11E7A5C}"/>
              </a:ext>
            </a:extLst>
          </p:cNvPr>
          <p:cNvPicPr>
            <a:picLocks noChangeAspect="1"/>
          </p:cNvPicPr>
          <p:nvPr/>
        </p:nvPicPr>
        <p:blipFill>
          <a:blip r:embed="rId3"/>
          <a:stretch>
            <a:fillRect/>
          </a:stretch>
        </p:blipFill>
        <p:spPr>
          <a:xfrm>
            <a:off x="1226267" y="2256494"/>
            <a:ext cx="6236496" cy="4341979"/>
          </a:xfrm>
          <a:prstGeom prst="rect">
            <a:avLst/>
          </a:prstGeom>
        </p:spPr>
      </p:pic>
      <p:sp>
        <p:nvSpPr>
          <p:cNvPr id="38916" name="Rectangle 2"/>
          <p:cNvSpPr>
            <a:spLocks noGrp="1" noChangeArrowheads="1"/>
          </p:cNvSpPr>
          <p:nvPr>
            <p:ph type="title"/>
          </p:nvPr>
        </p:nvSpPr>
        <p:spPr/>
        <p:txBody>
          <a:bodyPr/>
          <a:lstStyle/>
          <a:p>
            <a:r>
              <a:rPr lang="es-ES" dirty="0">
                <a:solidFill>
                  <a:srgbClr val="0070C0"/>
                </a:solidFill>
              </a:rPr>
              <a:t>Resumen</a:t>
            </a:r>
            <a:r>
              <a:rPr lang="es-ES" dirty="0"/>
              <a:t> Organización chips DRAM</a:t>
            </a:r>
          </a:p>
        </p:txBody>
      </p:sp>
      <p:sp>
        <p:nvSpPr>
          <p:cNvPr id="10" name="CuadroTexto 9">
            <a:extLst>
              <a:ext uri="{FF2B5EF4-FFF2-40B4-BE49-F238E27FC236}">
                <a16:creationId xmlns:a16="http://schemas.microsoft.com/office/drawing/2014/main" id="{CAF35387-5392-47A8-B7D0-C0649EB48465}"/>
              </a:ext>
            </a:extLst>
          </p:cNvPr>
          <p:cNvSpPr txBox="1"/>
          <p:nvPr/>
        </p:nvSpPr>
        <p:spPr>
          <a:xfrm>
            <a:off x="7359325" y="4553002"/>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8138864" cy="1354088"/>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400" dirty="0"/>
              <a:t>El procesador desde su juego de instrucciones tiene direcciones efectivas de X bits, lo que quiere decir que la memoria principal puede ser de hasta 2</a:t>
            </a:r>
            <a:r>
              <a:rPr lang="es-ES" sz="1400" baseline="30000" dirty="0"/>
              <a:t>X</a:t>
            </a:r>
            <a:r>
              <a:rPr lang="es-ES" sz="1400" dirty="0"/>
              <a:t> Bytes, como se dijo anteriormente</a:t>
            </a:r>
          </a:p>
          <a:p>
            <a:pPr>
              <a:lnSpc>
                <a:spcPct val="100000"/>
              </a:lnSpc>
              <a:spcBef>
                <a:spcPts val="0"/>
              </a:spcBef>
            </a:pPr>
            <a:r>
              <a:rPr lang="es-ES" sz="1400" dirty="0"/>
              <a:t>El controlador de memoria intercepta las líneas de direccionamiento que salen del procesador, y las emite adecuadamente para seleccionar el banco,  fila y columna de los chips DRAM con los que se implementa internamente la memoria principal </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3851920" y="4283224"/>
            <a:ext cx="3280420" cy="963686"/>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7334040" y="4096977"/>
            <a:ext cx="453970" cy="307777"/>
          </a:xfrm>
          <a:prstGeom prst="rect">
            <a:avLst/>
          </a:prstGeom>
          <a:noFill/>
        </p:spPr>
        <p:txBody>
          <a:bodyPr wrap="none" rtlCol="0">
            <a:spAutoFit/>
          </a:bodyPr>
          <a:lstStyle/>
          <a:p>
            <a:r>
              <a:rPr lang="es-ES" sz="1400" dirty="0">
                <a:solidFill>
                  <a:schemeClr val="accent1">
                    <a:lumMod val="75000"/>
                  </a:schemeClr>
                </a:solidFill>
              </a:rPr>
              <a:t>MP</a:t>
            </a:r>
          </a:p>
        </p:txBody>
      </p:sp>
      <p:sp>
        <p:nvSpPr>
          <p:cNvPr id="4" name="CuadroTexto 3">
            <a:extLst>
              <a:ext uri="{FF2B5EF4-FFF2-40B4-BE49-F238E27FC236}">
                <a16:creationId xmlns:a16="http://schemas.microsoft.com/office/drawing/2014/main" id="{783BEC40-8B22-4E37-B64F-D4D6BD4674F1}"/>
              </a:ext>
            </a:extLst>
          </p:cNvPr>
          <p:cNvSpPr txBox="1"/>
          <p:nvPr/>
        </p:nvSpPr>
        <p:spPr>
          <a:xfrm>
            <a:off x="7048990" y="2150913"/>
            <a:ext cx="1368152" cy="1384995"/>
          </a:xfrm>
          <a:prstGeom prst="rect">
            <a:avLst/>
          </a:prstGeom>
          <a:noFill/>
        </p:spPr>
        <p:txBody>
          <a:bodyPr wrap="square" rtlCol="0">
            <a:spAutoFit/>
          </a:bodyPr>
          <a:lstStyle/>
          <a:p>
            <a:r>
              <a:rPr lang="es-ES" sz="1400" dirty="0">
                <a:solidFill>
                  <a:schemeClr val="accent1">
                    <a:lumMod val="75000"/>
                  </a:schemeClr>
                </a:solidFill>
              </a:rPr>
              <a:t>La organización interna de esos chips es de lo que trata el apartado </a:t>
            </a:r>
          </a:p>
        </p:txBody>
      </p:sp>
      <p:cxnSp>
        <p:nvCxnSpPr>
          <p:cNvPr id="7" name="Conector recto de flecha 6">
            <a:extLst>
              <a:ext uri="{FF2B5EF4-FFF2-40B4-BE49-F238E27FC236}">
                <a16:creationId xmlns:a16="http://schemas.microsoft.com/office/drawing/2014/main" id="{E31C2CB2-552B-4887-B629-5AD941047EAF}"/>
              </a:ext>
            </a:extLst>
          </p:cNvPr>
          <p:cNvCxnSpPr/>
          <p:nvPr/>
        </p:nvCxnSpPr>
        <p:spPr bwMode="auto">
          <a:xfrm flipH="1">
            <a:off x="6233833" y="3384574"/>
            <a:ext cx="898507" cy="898650"/>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 name="2 Marcador de número de diapositiva">
            <a:extLst>
              <a:ext uri="{FF2B5EF4-FFF2-40B4-BE49-F238E27FC236}">
                <a16:creationId xmlns:a16="http://schemas.microsoft.com/office/drawing/2014/main" id="{76EB3D7A-EB35-A6E0-6169-4FEE9E1556A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57</a:t>
            </a:fld>
            <a:endParaRPr lang="en-US" dirty="0"/>
          </a:p>
        </p:txBody>
      </p:sp>
    </p:spTree>
    <p:extLst>
      <p:ext uri="{BB962C8B-B14F-4D97-AF65-F5344CB8AC3E}">
        <p14:creationId xmlns:p14="http://schemas.microsoft.com/office/powerpoint/2010/main" val="22354870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F8C45D0-4584-4BD8-A84A-0DE3F6C919EC}"/>
              </a:ext>
            </a:extLst>
          </p:cNvPr>
          <p:cNvPicPr>
            <a:picLocks noChangeAspect="1"/>
          </p:cNvPicPr>
          <p:nvPr/>
        </p:nvPicPr>
        <p:blipFill>
          <a:blip r:embed="rId3"/>
          <a:stretch>
            <a:fillRect/>
          </a:stretch>
        </p:blipFill>
        <p:spPr>
          <a:xfrm>
            <a:off x="4741847" y="2002598"/>
            <a:ext cx="3720871" cy="2645090"/>
          </a:xfrm>
          <a:prstGeom prst="rect">
            <a:avLst/>
          </a:prstGeom>
        </p:spPr>
      </p:pic>
      <p:pic>
        <p:nvPicPr>
          <p:cNvPr id="4" name="Imagen 3">
            <a:extLst>
              <a:ext uri="{FF2B5EF4-FFF2-40B4-BE49-F238E27FC236}">
                <a16:creationId xmlns:a16="http://schemas.microsoft.com/office/drawing/2014/main" id="{A2081566-5F51-430C-86F6-7C4643F84DC2}"/>
              </a:ext>
            </a:extLst>
          </p:cNvPr>
          <p:cNvPicPr>
            <a:picLocks noChangeAspect="1"/>
          </p:cNvPicPr>
          <p:nvPr/>
        </p:nvPicPr>
        <p:blipFill>
          <a:blip r:embed="rId4"/>
          <a:stretch>
            <a:fillRect/>
          </a:stretch>
        </p:blipFill>
        <p:spPr>
          <a:xfrm>
            <a:off x="463964" y="1974400"/>
            <a:ext cx="3904001" cy="2718047"/>
          </a:xfrm>
          <a:prstGeom prst="rect">
            <a:avLst/>
          </a:prstGeom>
        </p:spPr>
      </p:pic>
      <p:sp>
        <p:nvSpPr>
          <p:cNvPr id="38916" name="Rectangle 2"/>
          <p:cNvSpPr>
            <a:spLocks noGrp="1" noChangeArrowheads="1"/>
          </p:cNvSpPr>
          <p:nvPr>
            <p:ph type="title"/>
          </p:nvPr>
        </p:nvSpPr>
        <p:spPr/>
        <p:txBody>
          <a:bodyPr/>
          <a:lstStyle/>
          <a:p>
            <a:r>
              <a:rPr lang="es-ES" dirty="0">
                <a:solidFill>
                  <a:srgbClr val="0070C0"/>
                </a:solidFill>
              </a:rPr>
              <a:t>Resumen</a:t>
            </a:r>
            <a:r>
              <a:rPr lang="es-ES" dirty="0"/>
              <a:t> Organización chips DRAM</a:t>
            </a:r>
          </a:p>
        </p:txBody>
      </p:sp>
      <p:sp>
        <p:nvSpPr>
          <p:cNvPr id="10" name="CuadroTexto 9">
            <a:extLst>
              <a:ext uri="{FF2B5EF4-FFF2-40B4-BE49-F238E27FC236}">
                <a16:creationId xmlns:a16="http://schemas.microsoft.com/office/drawing/2014/main" id="{CAF35387-5392-47A8-B7D0-C0649EB48465}"/>
              </a:ext>
            </a:extLst>
          </p:cNvPr>
          <p:cNvSpPr txBox="1"/>
          <p:nvPr/>
        </p:nvSpPr>
        <p:spPr>
          <a:xfrm>
            <a:off x="4281916" y="3370945"/>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8138864" cy="1354088"/>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2000" dirty="0"/>
              <a:t>Cada chip DRAM internamente está formado por :</a:t>
            </a:r>
          </a:p>
          <a:p>
            <a:pPr marL="82550" indent="0" algn="ctr">
              <a:lnSpc>
                <a:spcPct val="100000"/>
              </a:lnSpc>
              <a:spcBef>
                <a:spcPts val="0"/>
              </a:spcBef>
              <a:buNone/>
            </a:pPr>
            <a:r>
              <a:rPr lang="es-ES" sz="2000" dirty="0"/>
              <a:t>2</a:t>
            </a:r>
            <a:r>
              <a:rPr lang="es-ES" sz="2000" baseline="30000" dirty="0"/>
              <a:t>b</a:t>
            </a:r>
            <a:r>
              <a:rPr lang="es-ES" sz="2000" dirty="0"/>
              <a:t> bancos de 2</a:t>
            </a:r>
            <a:r>
              <a:rPr lang="es-ES" sz="2000" baseline="30000" dirty="0"/>
              <a:t>f</a:t>
            </a:r>
            <a:r>
              <a:rPr lang="es-ES" sz="2000" dirty="0"/>
              <a:t> filas x 2</a:t>
            </a:r>
            <a:r>
              <a:rPr lang="es-ES" sz="2000" baseline="30000" dirty="0"/>
              <a:t>c</a:t>
            </a:r>
            <a:r>
              <a:rPr lang="es-ES" sz="2000" dirty="0"/>
              <a:t> columnas de palabras  </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2173233" y="3308679"/>
            <a:ext cx="1894712" cy="480361"/>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uadroTexto 67">
            <a:extLst>
              <a:ext uri="{FF2B5EF4-FFF2-40B4-BE49-F238E27FC236}">
                <a16:creationId xmlns:a16="http://schemas.microsoft.com/office/drawing/2014/main" id="{A0C37C0A-20D5-4A19-A59D-D4AEAE0DEDC4}"/>
              </a:ext>
            </a:extLst>
          </p:cNvPr>
          <p:cNvSpPr txBox="1"/>
          <p:nvPr/>
        </p:nvSpPr>
        <p:spPr>
          <a:xfrm>
            <a:off x="4192055" y="3039758"/>
            <a:ext cx="682321" cy="307777"/>
          </a:xfrm>
          <a:prstGeom prst="rect">
            <a:avLst/>
          </a:prstGeom>
          <a:noFill/>
        </p:spPr>
        <p:txBody>
          <a:bodyPr wrap="square" rtlCol="0">
            <a:spAutoFit/>
          </a:bodyPr>
          <a:lstStyle/>
          <a:p>
            <a:r>
              <a:rPr lang="es-ES" sz="1400" dirty="0">
                <a:solidFill>
                  <a:schemeClr val="accent1">
                    <a:lumMod val="75000"/>
                  </a:schemeClr>
                </a:solidFill>
              </a:rPr>
              <a:t>MP</a:t>
            </a:r>
          </a:p>
        </p:txBody>
      </p:sp>
      <p:sp>
        <p:nvSpPr>
          <p:cNvPr id="13" name="Rectángulo 12">
            <a:extLst>
              <a:ext uri="{FF2B5EF4-FFF2-40B4-BE49-F238E27FC236}">
                <a16:creationId xmlns:a16="http://schemas.microsoft.com/office/drawing/2014/main" id="{02749022-1A09-4EC0-A427-12CE98951D24}"/>
              </a:ext>
            </a:extLst>
          </p:cNvPr>
          <p:cNvSpPr/>
          <p:nvPr/>
        </p:nvSpPr>
        <p:spPr bwMode="auto">
          <a:xfrm>
            <a:off x="6297718" y="3265764"/>
            <a:ext cx="1894712" cy="480361"/>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31657579-A8F9-4E18-8B5C-581E53B1D7BE}"/>
              </a:ext>
            </a:extLst>
          </p:cNvPr>
          <p:cNvSpPr txBox="1"/>
          <p:nvPr/>
        </p:nvSpPr>
        <p:spPr>
          <a:xfrm>
            <a:off x="1001233" y="4628494"/>
            <a:ext cx="3248005" cy="307777"/>
          </a:xfrm>
          <a:prstGeom prst="rect">
            <a:avLst/>
          </a:prstGeom>
          <a:noFill/>
        </p:spPr>
        <p:txBody>
          <a:bodyPr wrap="none" rtlCol="0">
            <a:spAutoFit/>
          </a:bodyPr>
          <a:lstStyle/>
          <a:p>
            <a:r>
              <a:rPr lang="es-ES" sz="1400" dirty="0">
                <a:solidFill>
                  <a:schemeClr val="accent1">
                    <a:lumMod val="75000"/>
                  </a:schemeClr>
                </a:solidFill>
              </a:rPr>
              <a:t>Chips con tamaño de palabra de 8 bits</a:t>
            </a:r>
          </a:p>
        </p:txBody>
      </p:sp>
      <p:sp>
        <p:nvSpPr>
          <p:cNvPr id="15" name="CuadroTexto 14">
            <a:extLst>
              <a:ext uri="{FF2B5EF4-FFF2-40B4-BE49-F238E27FC236}">
                <a16:creationId xmlns:a16="http://schemas.microsoft.com/office/drawing/2014/main" id="{01099610-2D0F-4A64-9D50-D570433D2ECE}"/>
              </a:ext>
            </a:extLst>
          </p:cNvPr>
          <p:cNvSpPr txBox="1"/>
          <p:nvPr/>
        </p:nvSpPr>
        <p:spPr>
          <a:xfrm>
            <a:off x="5199871" y="4677293"/>
            <a:ext cx="3347391" cy="307777"/>
          </a:xfrm>
          <a:prstGeom prst="rect">
            <a:avLst/>
          </a:prstGeom>
          <a:noFill/>
        </p:spPr>
        <p:txBody>
          <a:bodyPr wrap="none" rtlCol="0">
            <a:spAutoFit/>
          </a:bodyPr>
          <a:lstStyle/>
          <a:p>
            <a:r>
              <a:rPr lang="es-ES" sz="1400" dirty="0">
                <a:solidFill>
                  <a:schemeClr val="accent1">
                    <a:lumMod val="75000"/>
                  </a:schemeClr>
                </a:solidFill>
              </a:rPr>
              <a:t>Chips con tamaño de palabra de 16 bits</a:t>
            </a:r>
          </a:p>
        </p:txBody>
      </p:sp>
      <p:sp>
        <p:nvSpPr>
          <p:cNvPr id="16" name="Rectangle 63">
            <a:extLst>
              <a:ext uri="{FF2B5EF4-FFF2-40B4-BE49-F238E27FC236}">
                <a16:creationId xmlns:a16="http://schemas.microsoft.com/office/drawing/2014/main" id="{B1782289-1BB6-4C8E-B6EA-5E2E0FDE4F3C}"/>
              </a:ext>
            </a:extLst>
          </p:cNvPr>
          <p:cNvSpPr txBox="1">
            <a:spLocks noChangeArrowheads="1"/>
          </p:cNvSpPr>
          <p:nvPr/>
        </p:nvSpPr>
        <p:spPr>
          <a:xfrm>
            <a:off x="1005136" y="5274921"/>
            <a:ext cx="8138864" cy="1354088"/>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2000" dirty="0"/>
              <a:t>El tamaño de la palabra de un chip es diferente al tamaño de la palabra de memoria, que será mayor.</a:t>
            </a:r>
          </a:p>
          <a:p>
            <a:pPr>
              <a:lnSpc>
                <a:spcPct val="100000"/>
              </a:lnSpc>
              <a:spcBef>
                <a:spcPts val="0"/>
              </a:spcBef>
            </a:pPr>
            <a:r>
              <a:rPr lang="es-ES" sz="2000" dirty="0"/>
              <a:t>Los chips se unen para formar los bytes de la memoria principal</a:t>
            </a:r>
          </a:p>
          <a:p>
            <a:pPr marL="82550" indent="0">
              <a:lnSpc>
                <a:spcPct val="100000"/>
              </a:lnSpc>
              <a:spcBef>
                <a:spcPts val="0"/>
              </a:spcBef>
              <a:buNone/>
            </a:pPr>
            <a:endParaRPr lang="es-ES" sz="2000" dirty="0"/>
          </a:p>
        </p:txBody>
      </p:sp>
      <p:sp>
        <p:nvSpPr>
          <p:cNvPr id="17" name="CuadroTexto 16">
            <a:extLst>
              <a:ext uri="{FF2B5EF4-FFF2-40B4-BE49-F238E27FC236}">
                <a16:creationId xmlns:a16="http://schemas.microsoft.com/office/drawing/2014/main" id="{34BB5830-20A7-454C-9105-578E0FCCE621}"/>
              </a:ext>
            </a:extLst>
          </p:cNvPr>
          <p:cNvSpPr txBox="1"/>
          <p:nvPr/>
        </p:nvSpPr>
        <p:spPr>
          <a:xfrm>
            <a:off x="8290621" y="3333424"/>
            <a:ext cx="513282"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a:t>
            </a:r>
            <a:r>
              <a:rPr lang="es-ES" sz="1400" dirty="0">
                <a:solidFill>
                  <a:schemeClr val="accent1">
                    <a:lumMod val="75000"/>
                  </a:schemeClr>
                </a:solidFill>
              </a:rPr>
              <a:t> B</a:t>
            </a:r>
          </a:p>
        </p:txBody>
      </p:sp>
      <p:sp>
        <p:nvSpPr>
          <p:cNvPr id="18" name="CuadroTexto 17">
            <a:extLst>
              <a:ext uri="{FF2B5EF4-FFF2-40B4-BE49-F238E27FC236}">
                <a16:creationId xmlns:a16="http://schemas.microsoft.com/office/drawing/2014/main" id="{B097A81E-22F1-4FEE-9294-5B278097C552}"/>
              </a:ext>
            </a:extLst>
          </p:cNvPr>
          <p:cNvSpPr txBox="1"/>
          <p:nvPr/>
        </p:nvSpPr>
        <p:spPr>
          <a:xfrm>
            <a:off x="8284805" y="3055939"/>
            <a:ext cx="453970" cy="307777"/>
          </a:xfrm>
          <a:prstGeom prst="rect">
            <a:avLst/>
          </a:prstGeom>
          <a:noFill/>
        </p:spPr>
        <p:txBody>
          <a:bodyPr wrap="none" rtlCol="0">
            <a:spAutoFit/>
          </a:bodyPr>
          <a:lstStyle/>
          <a:p>
            <a:r>
              <a:rPr lang="es-ES" sz="1400" dirty="0">
                <a:solidFill>
                  <a:schemeClr val="accent1">
                    <a:lumMod val="75000"/>
                  </a:schemeClr>
                </a:solidFill>
              </a:rPr>
              <a:t>MP</a:t>
            </a:r>
          </a:p>
        </p:txBody>
      </p:sp>
      <p:sp>
        <p:nvSpPr>
          <p:cNvPr id="19" name="CuadroTexto 18">
            <a:extLst>
              <a:ext uri="{FF2B5EF4-FFF2-40B4-BE49-F238E27FC236}">
                <a16:creationId xmlns:a16="http://schemas.microsoft.com/office/drawing/2014/main" id="{1927EA7C-5763-421D-AA87-7CD702AC99B9}"/>
              </a:ext>
            </a:extLst>
          </p:cNvPr>
          <p:cNvSpPr txBox="1"/>
          <p:nvPr/>
        </p:nvSpPr>
        <p:spPr>
          <a:xfrm>
            <a:off x="3745508" y="4032538"/>
            <a:ext cx="1157689" cy="307777"/>
          </a:xfrm>
          <a:prstGeom prst="rect">
            <a:avLst/>
          </a:prstGeom>
          <a:noFill/>
        </p:spPr>
        <p:txBody>
          <a:bodyPr wrap="none" rtlCol="0">
            <a:spAutoFit/>
          </a:bodyPr>
          <a:lstStyle/>
          <a:p>
            <a:r>
              <a:rPr lang="es-ES" sz="1400" dirty="0">
                <a:solidFill>
                  <a:schemeClr val="accent1">
                    <a:lumMod val="75000"/>
                  </a:schemeClr>
                </a:solidFill>
              </a:rPr>
              <a:t>Chip 2</a:t>
            </a:r>
            <a:r>
              <a:rPr lang="es-ES" sz="1400" baseline="30000" dirty="0">
                <a:solidFill>
                  <a:schemeClr val="accent1">
                    <a:lumMod val="75000"/>
                  </a:schemeClr>
                </a:solidFill>
              </a:rPr>
              <a:t>x-2</a:t>
            </a:r>
            <a:r>
              <a:rPr lang="es-ES" sz="1400" dirty="0">
                <a:solidFill>
                  <a:schemeClr val="accent1">
                    <a:lumMod val="75000"/>
                  </a:schemeClr>
                </a:solidFill>
              </a:rPr>
              <a:t> x 8</a:t>
            </a:r>
          </a:p>
        </p:txBody>
      </p:sp>
      <p:cxnSp>
        <p:nvCxnSpPr>
          <p:cNvPr id="8" name="Conector recto de flecha 7">
            <a:extLst>
              <a:ext uri="{FF2B5EF4-FFF2-40B4-BE49-F238E27FC236}">
                <a16:creationId xmlns:a16="http://schemas.microsoft.com/office/drawing/2014/main" id="{E66836B3-BD8E-465A-B996-D5316CC5E9A5}"/>
              </a:ext>
            </a:extLst>
          </p:cNvPr>
          <p:cNvCxnSpPr/>
          <p:nvPr/>
        </p:nvCxnSpPr>
        <p:spPr bwMode="auto">
          <a:xfrm flipH="1" flipV="1">
            <a:off x="3864643" y="3634355"/>
            <a:ext cx="184975" cy="411773"/>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2" name="CuadroTexto 21">
            <a:extLst>
              <a:ext uri="{FF2B5EF4-FFF2-40B4-BE49-F238E27FC236}">
                <a16:creationId xmlns:a16="http://schemas.microsoft.com/office/drawing/2014/main" id="{9558124F-13DD-4E99-B45D-707187E2D254}"/>
              </a:ext>
            </a:extLst>
          </p:cNvPr>
          <p:cNvSpPr txBox="1"/>
          <p:nvPr/>
        </p:nvSpPr>
        <p:spPr>
          <a:xfrm>
            <a:off x="7834181" y="3945716"/>
            <a:ext cx="1257075" cy="307777"/>
          </a:xfrm>
          <a:prstGeom prst="rect">
            <a:avLst/>
          </a:prstGeom>
          <a:noFill/>
        </p:spPr>
        <p:txBody>
          <a:bodyPr wrap="none" rtlCol="0">
            <a:spAutoFit/>
          </a:bodyPr>
          <a:lstStyle/>
          <a:p>
            <a:r>
              <a:rPr lang="es-ES" sz="1400" dirty="0">
                <a:solidFill>
                  <a:schemeClr val="accent1">
                    <a:lumMod val="75000"/>
                  </a:schemeClr>
                </a:solidFill>
              </a:rPr>
              <a:t>Chip 2</a:t>
            </a:r>
            <a:r>
              <a:rPr lang="es-ES" sz="1400" baseline="30000" dirty="0">
                <a:solidFill>
                  <a:schemeClr val="accent1">
                    <a:lumMod val="75000"/>
                  </a:schemeClr>
                </a:solidFill>
              </a:rPr>
              <a:t>x-2</a:t>
            </a:r>
            <a:r>
              <a:rPr lang="es-ES" sz="1400" dirty="0">
                <a:solidFill>
                  <a:schemeClr val="accent1">
                    <a:lumMod val="75000"/>
                  </a:schemeClr>
                </a:solidFill>
              </a:rPr>
              <a:t> x 16</a:t>
            </a:r>
          </a:p>
        </p:txBody>
      </p:sp>
      <p:cxnSp>
        <p:nvCxnSpPr>
          <p:cNvPr id="12" name="Conector recto de flecha 11">
            <a:extLst>
              <a:ext uri="{FF2B5EF4-FFF2-40B4-BE49-F238E27FC236}">
                <a16:creationId xmlns:a16="http://schemas.microsoft.com/office/drawing/2014/main" id="{D4EF37F1-1399-48D1-8C2D-0143EB0B2B94}"/>
              </a:ext>
            </a:extLst>
          </p:cNvPr>
          <p:cNvCxnSpPr/>
          <p:nvPr/>
        </p:nvCxnSpPr>
        <p:spPr bwMode="auto">
          <a:xfrm flipH="1" flipV="1">
            <a:off x="7834181" y="3576265"/>
            <a:ext cx="311949" cy="369451"/>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1" name="CuadroTexto 20">
            <a:extLst>
              <a:ext uri="{FF2B5EF4-FFF2-40B4-BE49-F238E27FC236}">
                <a16:creationId xmlns:a16="http://schemas.microsoft.com/office/drawing/2014/main" id="{C2B78C9E-3A4B-457B-AB91-32F71DFFDFC8}"/>
              </a:ext>
            </a:extLst>
          </p:cNvPr>
          <p:cNvSpPr txBox="1"/>
          <p:nvPr/>
        </p:nvSpPr>
        <p:spPr>
          <a:xfrm>
            <a:off x="1821729" y="4958285"/>
            <a:ext cx="1492653" cy="307777"/>
          </a:xfrm>
          <a:prstGeom prst="rect">
            <a:avLst/>
          </a:prstGeom>
          <a:noFill/>
        </p:spPr>
        <p:txBody>
          <a:bodyPr wrap="none" rtlCol="0">
            <a:spAutoFit/>
          </a:bodyPr>
          <a:lstStyle/>
          <a:p>
            <a:r>
              <a:rPr lang="es-ES" sz="1400" dirty="0">
                <a:solidFill>
                  <a:schemeClr val="accent1">
                    <a:lumMod val="75000"/>
                  </a:schemeClr>
                </a:solidFill>
              </a:rPr>
              <a:t>MP con 2</a:t>
            </a:r>
            <a:r>
              <a:rPr lang="es-ES" sz="1400" baseline="30000" dirty="0">
                <a:solidFill>
                  <a:schemeClr val="accent1">
                    <a:lumMod val="75000"/>
                  </a:schemeClr>
                </a:solidFill>
              </a:rPr>
              <a:t>x-2</a:t>
            </a:r>
            <a:r>
              <a:rPr lang="es-ES" sz="1400" dirty="0">
                <a:solidFill>
                  <a:schemeClr val="accent1">
                    <a:lumMod val="75000"/>
                  </a:schemeClr>
                </a:solidFill>
              </a:rPr>
              <a:t> x 32</a:t>
            </a:r>
          </a:p>
        </p:txBody>
      </p:sp>
      <p:sp>
        <p:nvSpPr>
          <p:cNvPr id="23" name="CuadroTexto 22">
            <a:extLst>
              <a:ext uri="{FF2B5EF4-FFF2-40B4-BE49-F238E27FC236}">
                <a16:creationId xmlns:a16="http://schemas.microsoft.com/office/drawing/2014/main" id="{AEA7E3B0-FCC6-4854-A55A-377FDCB5C54F}"/>
              </a:ext>
            </a:extLst>
          </p:cNvPr>
          <p:cNvSpPr txBox="1"/>
          <p:nvPr/>
        </p:nvSpPr>
        <p:spPr>
          <a:xfrm>
            <a:off x="6127239" y="4936271"/>
            <a:ext cx="1492653" cy="307777"/>
          </a:xfrm>
          <a:prstGeom prst="rect">
            <a:avLst/>
          </a:prstGeom>
          <a:noFill/>
        </p:spPr>
        <p:txBody>
          <a:bodyPr wrap="none" rtlCol="0">
            <a:spAutoFit/>
          </a:bodyPr>
          <a:lstStyle/>
          <a:p>
            <a:r>
              <a:rPr lang="es-ES" sz="1400" dirty="0">
                <a:solidFill>
                  <a:schemeClr val="accent1">
                    <a:lumMod val="75000"/>
                  </a:schemeClr>
                </a:solidFill>
              </a:rPr>
              <a:t>MP con 2</a:t>
            </a:r>
            <a:r>
              <a:rPr lang="es-ES" sz="1400" baseline="30000" dirty="0">
                <a:solidFill>
                  <a:schemeClr val="accent1">
                    <a:lumMod val="75000"/>
                  </a:schemeClr>
                </a:solidFill>
              </a:rPr>
              <a:t>x-2</a:t>
            </a:r>
            <a:r>
              <a:rPr lang="es-ES" sz="1400" dirty="0">
                <a:solidFill>
                  <a:schemeClr val="accent1">
                    <a:lumMod val="75000"/>
                  </a:schemeClr>
                </a:solidFill>
              </a:rPr>
              <a:t> x 32</a:t>
            </a:r>
          </a:p>
        </p:txBody>
      </p:sp>
      <p:sp>
        <p:nvSpPr>
          <p:cNvPr id="2" name="2 Marcador de número de diapositiva">
            <a:extLst>
              <a:ext uri="{FF2B5EF4-FFF2-40B4-BE49-F238E27FC236}">
                <a16:creationId xmlns:a16="http://schemas.microsoft.com/office/drawing/2014/main" id="{F8A0087A-20CA-C5E0-54B9-1EE8A23131E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58</a:t>
            </a:fld>
            <a:endParaRPr lang="en-US" dirty="0"/>
          </a:p>
        </p:txBody>
      </p:sp>
    </p:spTree>
    <p:extLst>
      <p:ext uri="{BB962C8B-B14F-4D97-AF65-F5344CB8AC3E}">
        <p14:creationId xmlns:p14="http://schemas.microsoft.com/office/powerpoint/2010/main" val="15454915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solidFill>
                  <a:srgbClr val="0070C0"/>
                </a:solidFill>
              </a:rPr>
              <a:t>Resumen</a:t>
            </a:r>
            <a:r>
              <a:rPr lang="es-ES" dirty="0"/>
              <a:t> Organización chips DRAM</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09600" y="1066800"/>
            <a:ext cx="8138864" cy="1354088"/>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2000" dirty="0"/>
              <a:t>Cada chip DRAM internamente está formado por :</a:t>
            </a:r>
          </a:p>
          <a:p>
            <a:pPr marL="82550" indent="0" algn="ctr">
              <a:lnSpc>
                <a:spcPct val="100000"/>
              </a:lnSpc>
              <a:spcBef>
                <a:spcPts val="0"/>
              </a:spcBef>
              <a:buNone/>
            </a:pPr>
            <a:r>
              <a:rPr lang="es-ES" sz="2000" dirty="0"/>
              <a:t>2</a:t>
            </a:r>
            <a:r>
              <a:rPr lang="es-ES" sz="2000" baseline="30000" dirty="0"/>
              <a:t>b</a:t>
            </a:r>
            <a:r>
              <a:rPr lang="es-ES" sz="2000" dirty="0"/>
              <a:t> bancos de 2</a:t>
            </a:r>
            <a:r>
              <a:rPr lang="es-ES" sz="2000" baseline="30000" dirty="0"/>
              <a:t>f</a:t>
            </a:r>
            <a:r>
              <a:rPr lang="es-ES" sz="2000" dirty="0"/>
              <a:t> filas x 2</a:t>
            </a:r>
            <a:r>
              <a:rPr lang="es-ES" sz="2000" baseline="30000" dirty="0"/>
              <a:t>c</a:t>
            </a:r>
            <a:r>
              <a:rPr lang="es-ES" sz="2000" dirty="0"/>
              <a:t> columnas de palabras = 2</a:t>
            </a:r>
            <a:r>
              <a:rPr lang="es-ES" sz="2000" baseline="30000" dirty="0"/>
              <a:t>p</a:t>
            </a:r>
            <a:r>
              <a:rPr lang="es-ES" sz="2000" dirty="0"/>
              <a:t> palabras</a:t>
            </a:r>
          </a:p>
          <a:p>
            <a:pPr marL="82550" indent="0">
              <a:lnSpc>
                <a:spcPct val="100000"/>
              </a:lnSpc>
              <a:spcBef>
                <a:spcPts val="0"/>
              </a:spcBef>
              <a:buNone/>
            </a:pPr>
            <a:r>
              <a:rPr lang="es-ES" sz="2000" dirty="0"/>
              <a:t>             Por tanto:  p = b + f + c</a:t>
            </a:r>
          </a:p>
          <a:p>
            <a:pPr marL="82550" indent="0">
              <a:lnSpc>
                <a:spcPct val="100000"/>
              </a:lnSpc>
              <a:spcBef>
                <a:spcPts val="0"/>
              </a:spcBef>
              <a:buNone/>
            </a:pPr>
            <a:endParaRPr lang="es-ES" sz="2000" dirty="0"/>
          </a:p>
          <a:p>
            <a:pPr marL="82550" indent="0">
              <a:lnSpc>
                <a:spcPct val="100000"/>
              </a:lnSpc>
              <a:spcBef>
                <a:spcPts val="0"/>
              </a:spcBef>
              <a:buNone/>
            </a:pPr>
            <a:endParaRPr lang="es-ES" sz="2000" dirty="0"/>
          </a:p>
          <a:p>
            <a:pPr marL="82550" indent="0">
              <a:lnSpc>
                <a:spcPct val="100000"/>
              </a:lnSpc>
              <a:spcBef>
                <a:spcPts val="0"/>
              </a:spcBef>
              <a:buNone/>
            </a:pPr>
            <a:endParaRPr lang="es-ES" sz="2000" dirty="0"/>
          </a:p>
          <a:p>
            <a:pPr marL="82550" indent="0" algn="ctr">
              <a:lnSpc>
                <a:spcPct val="100000"/>
              </a:lnSpc>
              <a:spcBef>
                <a:spcPts val="0"/>
              </a:spcBef>
              <a:buNone/>
            </a:pPr>
            <a:r>
              <a:rPr lang="es-ES" sz="2000" dirty="0"/>
              <a:t>  </a:t>
            </a:r>
          </a:p>
        </p:txBody>
      </p:sp>
      <p:sp>
        <p:nvSpPr>
          <p:cNvPr id="70" name="2 Botón de acción: Inicio">
            <a:hlinkClick r:id="rId3" action="ppaction://hlinksldjump" highlightClick="1"/>
            <a:extLst>
              <a:ext uri="{FF2B5EF4-FFF2-40B4-BE49-F238E27FC236}">
                <a16:creationId xmlns:a16="http://schemas.microsoft.com/office/drawing/2014/main" id="{EC2EF0F1-AC3C-42D5-B051-677B4B558B1F}"/>
              </a:ext>
            </a:extLst>
          </p:cNvPr>
          <p:cNvSpPr/>
          <p:nvPr/>
        </p:nvSpPr>
        <p:spPr bwMode="auto">
          <a:xfrm>
            <a:off x="8748464" y="6165304"/>
            <a:ext cx="216024" cy="288032"/>
          </a:xfrm>
          <a:prstGeom prst="actionButtonHom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angle 63">
            <a:extLst>
              <a:ext uri="{FF2B5EF4-FFF2-40B4-BE49-F238E27FC236}">
                <a16:creationId xmlns:a16="http://schemas.microsoft.com/office/drawing/2014/main" id="{B1782289-1BB6-4C8E-B6EA-5E2E0FDE4F3C}"/>
              </a:ext>
            </a:extLst>
          </p:cNvPr>
          <p:cNvSpPr txBox="1">
            <a:spLocks noChangeArrowheads="1"/>
          </p:cNvSpPr>
          <p:nvPr/>
        </p:nvSpPr>
        <p:spPr>
          <a:xfrm>
            <a:off x="647564" y="2074912"/>
            <a:ext cx="8138864" cy="1354088"/>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2000" dirty="0"/>
              <a:t>Además las palabras se vuelven a organizar en bloques, que contienen 2</a:t>
            </a:r>
            <a:r>
              <a:rPr lang="es-ES" sz="2000" baseline="30000" dirty="0"/>
              <a:t>r</a:t>
            </a:r>
            <a:r>
              <a:rPr lang="es-ES" sz="2000" dirty="0"/>
              <a:t> palabras, de modo que los chips SDRAM proporcionan, como se verá más adelante, todas las palabras que pertenecen al mismo bloque para almacenar en la memoria cache.</a:t>
            </a:r>
          </a:p>
          <a:p>
            <a:pPr marL="82550" indent="0" algn="ctr">
              <a:lnSpc>
                <a:spcPct val="100000"/>
              </a:lnSpc>
              <a:spcBef>
                <a:spcPts val="0"/>
              </a:spcBef>
              <a:buNone/>
            </a:pPr>
            <a:r>
              <a:rPr lang="es-ES" sz="2000" dirty="0"/>
              <a:t>2</a:t>
            </a:r>
            <a:r>
              <a:rPr lang="es-ES" sz="2000" baseline="30000" dirty="0"/>
              <a:t>p</a:t>
            </a:r>
            <a:r>
              <a:rPr lang="es-ES" sz="2000" dirty="0"/>
              <a:t> palabras = 2</a:t>
            </a:r>
            <a:r>
              <a:rPr lang="es-ES" sz="2000" baseline="30000" dirty="0"/>
              <a:t>p-r</a:t>
            </a:r>
            <a:r>
              <a:rPr lang="es-ES" sz="2000" dirty="0"/>
              <a:t> bloques x 2</a:t>
            </a:r>
            <a:r>
              <a:rPr lang="es-ES" sz="2000" baseline="30000" dirty="0"/>
              <a:t>r</a:t>
            </a:r>
            <a:r>
              <a:rPr lang="es-ES" sz="2000" dirty="0"/>
              <a:t> palabras/bloque</a:t>
            </a:r>
          </a:p>
          <a:p>
            <a:pPr marL="82550" indent="0">
              <a:lnSpc>
                <a:spcPct val="100000"/>
              </a:lnSpc>
              <a:spcBef>
                <a:spcPts val="0"/>
              </a:spcBef>
              <a:buNone/>
            </a:pPr>
            <a:endParaRPr lang="es-ES" sz="2000" dirty="0"/>
          </a:p>
        </p:txBody>
      </p:sp>
      <p:grpSp>
        <p:nvGrpSpPr>
          <p:cNvPr id="3" name="Grupo 2">
            <a:extLst>
              <a:ext uri="{FF2B5EF4-FFF2-40B4-BE49-F238E27FC236}">
                <a16:creationId xmlns:a16="http://schemas.microsoft.com/office/drawing/2014/main" id="{6B7E5DA4-2690-4A1A-B707-4AA0AE7D2197}"/>
              </a:ext>
            </a:extLst>
          </p:cNvPr>
          <p:cNvGrpSpPr/>
          <p:nvPr/>
        </p:nvGrpSpPr>
        <p:grpSpPr>
          <a:xfrm>
            <a:off x="488737" y="3605766"/>
            <a:ext cx="8089934" cy="2909822"/>
            <a:chOff x="488737" y="3605766"/>
            <a:chExt cx="8089934" cy="2909822"/>
          </a:xfrm>
        </p:grpSpPr>
        <p:sp>
          <p:nvSpPr>
            <p:cNvPr id="22" name="35 CuadroTexto">
              <a:extLst>
                <a:ext uri="{FF2B5EF4-FFF2-40B4-BE49-F238E27FC236}">
                  <a16:creationId xmlns:a16="http://schemas.microsoft.com/office/drawing/2014/main" id="{433967F0-D706-4302-8635-6F2C87FC09D8}"/>
                </a:ext>
              </a:extLst>
            </p:cNvPr>
            <p:cNvSpPr txBox="1"/>
            <p:nvPr/>
          </p:nvSpPr>
          <p:spPr>
            <a:xfrm>
              <a:off x="594523" y="3605766"/>
              <a:ext cx="1338828" cy="1366528"/>
            </a:xfrm>
            <a:prstGeom prst="rect">
              <a:avLst/>
            </a:prstGeom>
            <a:noFill/>
          </p:spPr>
          <p:txBody>
            <a:bodyPr wrap="none" rtlCol="0">
              <a:spAutoFit/>
            </a:bodyPr>
            <a:lstStyle/>
            <a:p>
              <a:r>
                <a:rPr lang="es-ES" sz="1800" dirty="0">
                  <a:solidFill>
                    <a:srgbClr val="7030A0"/>
                  </a:solidFill>
                </a:rPr>
                <a:t>Estructura</a:t>
              </a:r>
            </a:p>
            <a:p>
              <a:r>
                <a:rPr lang="es-ES" sz="1800" b="1" dirty="0">
                  <a:solidFill>
                    <a:srgbClr val="7030A0"/>
                  </a:solidFill>
                </a:rPr>
                <a:t>física</a:t>
              </a:r>
              <a:r>
                <a:rPr lang="es-ES" sz="1800" dirty="0">
                  <a:solidFill>
                    <a:srgbClr val="7030A0"/>
                  </a:solidFill>
                </a:rPr>
                <a:t> de la</a:t>
              </a:r>
            </a:p>
            <a:p>
              <a:r>
                <a:rPr lang="es-ES" sz="1800" dirty="0">
                  <a:solidFill>
                    <a:srgbClr val="7030A0"/>
                  </a:solidFill>
                </a:rPr>
                <a:t>Dirección</a:t>
              </a:r>
            </a:p>
            <a:p>
              <a:r>
                <a:rPr lang="es-ES" sz="1800" dirty="0">
                  <a:solidFill>
                    <a:srgbClr val="7030A0"/>
                  </a:solidFill>
                </a:rPr>
                <a:t>p bits</a:t>
              </a:r>
            </a:p>
          </p:txBody>
        </p:sp>
        <p:grpSp>
          <p:nvGrpSpPr>
            <p:cNvPr id="2" name="Grupo 1">
              <a:extLst>
                <a:ext uri="{FF2B5EF4-FFF2-40B4-BE49-F238E27FC236}">
                  <a16:creationId xmlns:a16="http://schemas.microsoft.com/office/drawing/2014/main" id="{55C4FD6A-AA88-45E6-A2E6-8A5E686F345E}"/>
                </a:ext>
              </a:extLst>
            </p:cNvPr>
            <p:cNvGrpSpPr/>
            <p:nvPr/>
          </p:nvGrpSpPr>
          <p:grpSpPr>
            <a:xfrm>
              <a:off x="488737" y="3861048"/>
              <a:ext cx="8089934" cy="2654540"/>
              <a:chOff x="488737" y="3861048"/>
              <a:chExt cx="8089934" cy="2654540"/>
            </a:xfrm>
          </p:grpSpPr>
          <p:grpSp>
            <p:nvGrpSpPr>
              <p:cNvPr id="7" name="25 Grupo">
                <a:extLst>
                  <a:ext uri="{FF2B5EF4-FFF2-40B4-BE49-F238E27FC236}">
                    <a16:creationId xmlns:a16="http://schemas.microsoft.com/office/drawing/2014/main" id="{08CDE82E-4A8A-4C28-8C66-B99CA53683C3}"/>
                  </a:ext>
                </a:extLst>
              </p:cNvPr>
              <p:cNvGrpSpPr/>
              <p:nvPr/>
            </p:nvGrpSpPr>
            <p:grpSpPr>
              <a:xfrm>
                <a:off x="1936240" y="3861048"/>
                <a:ext cx="6642431" cy="1152127"/>
                <a:chOff x="1890009" y="4348575"/>
                <a:chExt cx="6642431" cy="1152127"/>
              </a:xfrm>
            </p:grpSpPr>
            <p:sp>
              <p:nvSpPr>
                <p:cNvPr id="8" name="Rectangle 4">
                  <a:extLst>
                    <a:ext uri="{FF2B5EF4-FFF2-40B4-BE49-F238E27FC236}">
                      <a16:creationId xmlns:a16="http://schemas.microsoft.com/office/drawing/2014/main" id="{E58C0D11-8AC8-4BD9-BADC-249F1D74EBCB}"/>
                    </a:ext>
                  </a:extLst>
                </p:cNvPr>
                <p:cNvSpPr>
                  <a:spLocks noChangeArrowheads="1"/>
                </p:cNvSpPr>
                <p:nvPr/>
              </p:nvSpPr>
              <p:spPr bwMode="auto">
                <a:xfrm>
                  <a:off x="6084168" y="4460851"/>
                  <a:ext cx="2448272" cy="457200"/>
                </a:xfrm>
                <a:prstGeom prst="rect">
                  <a:avLst/>
                </a:prstGeom>
                <a:solidFill>
                  <a:srgbClr val="CC3300"/>
                </a:solidFill>
                <a:ln w="19050">
                  <a:solidFill>
                    <a:schemeClr val="tx1"/>
                  </a:solidFill>
                  <a:miter lim="800000"/>
                  <a:headEnd/>
                  <a:tailEnd/>
                </a:ln>
              </p:spPr>
              <p:txBody>
                <a:bodyPr wrap="none" lIns="0" tIns="0" rIns="0" bIns="0" anchor="ctr"/>
                <a:lstStyle/>
                <a:p>
                  <a:r>
                    <a:rPr lang="es-ES_tradnl" sz="1600" b="1" dirty="0" err="1">
                      <a:solidFill>
                        <a:srgbClr val="FFFFFF"/>
                      </a:solidFill>
                    </a:rPr>
                    <a:t>Sel</a:t>
                  </a:r>
                  <a:r>
                    <a:rPr lang="es-ES_tradnl" sz="1600" b="1" dirty="0">
                      <a:solidFill>
                        <a:srgbClr val="FFFFFF"/>
                      </a:solidFill>
                    </a:rPr>
                    <a:t>. Columna</a:t>
                  </a:r>
                  <a:endParaRPr lang="es-ES_tradnl" sz="1600" b="1" baseline="-25000" dirty="0">
                    <a:solidFill>
                      <a:prstClr val="black"/>
                    </a:solidFill>
                  </a:endParaRPr>
                </a:p>
              </p:txBody>
            </p:sp>
            <p:sp>
              <p:nvSpPr>
                <p:cNvPr id="9" name="Rectangle 15">
                  <a:extLst>
                    <a:ext uri="{FF2B5EF4-FFF2-40B4-BE49-F238E27FC236}">
                      <a16:creationId xmlns:a16="http://schemas.microsoft.com/office/drawing/2014/main" id="{B63A9C70-0FE8-447D-B530-814A76D2018A}"/>
                    </a:ext>
                  </a:extLst>
                </p:cNvPr>
                <p:cNvSpPr>
                  <a:spLocks noChangeArrowheads="1"/>
                </p:cNvSpPr>
                <p:nvPr/>
              </p:nvSpPr>
              <p:spPr bwMode="auto">
                <a:xfrm>
                  <a:off x="1907704" y="4460851"/>
                  <a:ext cx="1152128" cy="457200"/>
                </a:xfrm>
                <a:prstGeom prst="rect">
                  <a:avLst/>
                </a:prstGeom>
                <a:solidFill>
                  <a:schemeClr val="bg1">
                    <a:lumMod val="65000"/>
                  </a:schemeClr>
                </a:solidFill>
                <a:ln w="19050">
                  <a:solidFill>
                    <a:schemeClr val="tx1"/>
                  </a:solidFill>
                  <a:miter lim="800000"/>
                  <a:headEnd/>
                  <a:tailEnd/>
                </a:ln>
              </p:spPr>
              <p:txBody>
                <a:bodyPr wrap="none" lIns="0" tIns="0" rIns="0" bIns="0" anchor="ctr"/>
                <a:lstStyle/>
                <a:p>
                  <a:r>
                    <a:rPr lang="es-ES_tradnl" sz="1600" b="1" dirty="0">
                      <a:solidFill>
                        <a:srgbClr val="FFFFFF"/>
                      </a:solidFill>
                    </a:rPr>
                    <a:t>  </a:t>
                  </a:r>
                  <a:r>
                    <a:rPr lang="es-ES_tradnl" sz="1600" b="1" dirty="0" err="1">
                      <a:solidFill>
                        <a:srgbClr val="FFFFFF"/>
                      </a:solidFill>
                    </a:rPr>
                    <a:t>Sel</a:t>
                  </a:r>
                  <a:r>
                    <a:rPr lang="es-ES_tradnl" sz="1600" b="1" dirty="0">
                      <a:solidFill>
                        <a:srgbClr val="FFFFFF"/>
                      </a:solidFill>
                    </a:rPr>
                    <a:t>. Banco</a:t>
                  </a:r>
                  <a:endParaRPr lang="es-ES_tradnl" sz="1600" b="1" baseline="-25000" dirty="0">
                    <a:solidFill>
                      <a:srgbClr val="FFFFFF"/>
                    </a:solidFill>
                  </a:endParaRPr>
                </a:p>
              </p:txBody>
            </p:sp>
            <p:sp>
              <p:nvSpPr>
                <p:cNvPr id="10" name="Rectangle 15">
                  <a:extLst>
                    <a:ext uri="{FF2B5EF4-FFF2-40B4-BE49-F238E27FC236}">
                      <a16:creationId xmlns:a16="http://schemas.microsoft.com/office/drawing/2014/main" id="{CBD2BA34-6113-4066-9209-0D0B16633E09}"/>
                    </a:ext>
                  </a:extLst>
                </p:cNvPr>
                <p:cNvSpPr>
                  <a:spLocks noChangeArrowheads="1"/>
                </p:cNvSpPr>
                <p:nvPr/>
              </p:nvSpPr>
              <p:spPr bwMode="auto">
                <a:xfrm>
                  <a:off x="3059832" y="4460851"/>
                  <a:ext cx="3024336" cy="457200"/>
                </a:xfrm>
                <a:prstGeom prst="rect">
                  <a:avLst/>
                </a:prstGeom>
                <a:solidFill>
                  <a:srgbClr val="0070C0"/>
                </a:solidFill>
                <a:ln w="19050">
                  <a:solidFill>
                    <a:schemeClr val="tx1"/>
                  </a:solidFill>
                  <a:miter lim="800000"/>
                  <a:headEnd/>
                  <a:tailEnd/>
                </a:ln>
              </p:spPr>
              <p:txBody>
                <a:bodyPr wrap="none" lIns="0" tIns="0" rIns="0" bIns="0" anchor="ctr"/>
                <a:lstStyle/>
                <a:p>
                  <a:r>
                    <a:rPr lang="es-ES_tradnl" sz="1800" b="1" dirty="0">
                      <a:solidFill>
                        <a:srgbClr val="FFFFFF"/>
                      </a:solidFill>
                    </a:rPr>
                    <a:t>  </a:t>
                  </a:r>
                  <a:r>
                    <a:rPr lang="es-ES_tradnl" sz="1600" b="1" dirty="0" err="1">
                      <a:solidFill>
                        <a:srgbClr val="FFFFFF"/>
                      </a:solidFill>
                    </a:rPr>
                    <a:t>Sel</a:t>
                  </a:r>
                  <a:r>
                    <a:rPr lang="es-ES_tradnl" sz="1600" b="1" dirty="0">
                      <a:solidFill>
                        <a:srgbClr val="FFFFFF"/>
                      </a:solidFill>
                    </a:rPr>
                    <a:t>. Fila</a:t>
                  </a:r>
                  <a:endParaRPr lang="es-ES_tradnl" sz="1800" b="1" baseline="-25000" dirty="0">
                    <a:solidFill>
                      <a:srgbClr val="FFFFFF"/>
                    </a:solidFill>
                  </a:endParaRPr>
                </a:p>
              </p:txBody>
            </p:sp>
            <p:sp>
              <p:nvSpPr>
                <p:cNvPr id="11" name="45 CuadroTexto">
                  <a:extLst>
                    <a:ext uri="{FF2B5EF4-FFF2-40B4-BE49-F238E27FC236}">
                      <a16:creationId xmlns:a16="http://schemas.microsoft.com/office/drawing/2014/main" id="{5FAD1A73-3044-49F2-81B1-1965E9A8B569}"/>
                    </a:ext>
                  </a:extLst>
                </p:cNvPr>
                <p:cNvSpPr txBox="1"/>
                <p:nvPr/>
              </p:nvSpPr>
              <p:spPr>
                <a:xfrm>
                  <a:off x="2051720" y="5100592"/>
                  <a:ext cx="827471" cy="400110"/>
                </a:xfrm>
                <a:prstGeom prst="rect">
                  <a:avLst/>
                </a:prstGeom>
                <a:noFill/>
              </p:spPr>
              <p:txBody>
                <a:bodyPr wrap="none" rtlCol="0">
                  <a:spAutoFit/>
                </a:bodyPr>
                <a:lstStyle/>
                <a:p>
                  <a:r>
                    <a:rPr lang="es-ES" i="1" dirty="0">
                      <a:solidFill>
                        <a:prstClr val="black"/>
                      </a:solidFill>
                    </a:rPr>
                    <a:t>b  </a:t>
                  </a:r>
                  <a:r>
                    <a:rPr lang="es-ES" sz="1800" i="1" dirty="0">
                      <a:solidFill>
                        <a:prstClr val="black"/>
                      </a:solidFill>
                    </a:rPr>
                    <a:t>bits</a:t>
                  </a:r>
                  <a:endParaRPr lang="es-ES" i="1" dirty="0">
                    <a:solidFill>
                      <a:prstClr val="black"/>
                    </a:solidFill>
                  </a:endParaRPr>
                </a:p>
              </p:txBody>
            </p:sp>
            <p:sp>
              <p:nvSpPr>
                <p:cNvPr id="12" name="46 CuadroTexto">
                  <a:extLst>
                    <a:ext uri="{FF2B5EF4-FFF2-40B4-BE49-F238E27FC236}">
                      <a16:creationId xmlns:a16="http://schemas.microsoft.com/office/drawing/2014/main" id="{7396218D-07D2-4651-9ABB-F627D3997833}"/>
                    </a:ext>
                  </a:extLst>
                </p:cNvPr>
                <p:cNvSpPr txBox="1"/>
                <p:nvPr/>
              </p:nvSpPr>
              <p:spPr>
                <a:xfrm>
                  <a:off x="4283968" y="5100592"/>
                  <a:ext cx="684803" cy="400110"/>
                </a:xfrm>
                <a:prstGeom prst="rect">
                  <a:avLst/>
                </a:prstGeom>
                <a:noFill/>
              </p:spPr>
              <p:txBody>
                <a:bodyPr wrap="none" rtlCol="0">
                  <a:spAutoFit/>
                </a:bodyPr>
                <a:lstStyle/>
                <a:p>
                  <a:r>
                    <a:rPr lang="es-ES" i="1" dirty="0">
                      <a:solidFill>
                        <a:prstClr val="black"/>
                      </a:solidFill>
                    </a:rPr>
                    <a:t>f </a:t>
                  </a:r>
                  <a:r>
                    <a:rPr lang="es-ES" sz="1800" i="1" dirty="0">
                      <a:solidFill>
                        <a:prstClr val="black"/>
                      </a:solidFill>
                    </a:rPr>
                    <a:t>bits</a:t>
                  </a:r>
                  <a:endParaRPr lang="es-ES" i="1" dirty="0">
                    <a:solidFill>
                      <a:prstClr val="black"/>
                    </a:solidFill>
                  </a:endParaRPr>
                </a:p>
              </p:txBody>
            </p:sp>
            <p:sp>
              <p:nvSpPr>
                <p:cNvPr id="13" name="49 CuadroTexto">
                  <a:extLst>
                    <a:ext uri="{FF2B5EF4-FFF2-40B4-BE49-F238E27FC236}">
                      <a16:creationId xmlns:a16="http://schemas.microsoft.com/office/drawing/2014/main" id="{342579FF-4AE5-49F5-B045-4DA898E66259}"/>
                    </a:ext>
                  </a:extLst>
                </p:cNvPr>
                <p:cNvSpPr txBox="1"/>
                <p:nvPr/>
              </p:nvSpPr>
              <p:spPr>
                <a:xfrm>
                  <a:off x="7020272" y="5100592"/>
                  <a:ext cx="755335" cy="400110"/>
                </a:xfrm>
                <a:prstGeom prst="rect">
                  <a:avLst/>
                </a:prstGeom>
                <a:noFill/>
              </p:spPr>
              <p:txBody>
                <a:bodyPr wrap="none" rtlCol="0">
                  <a:spAutoFit/>
                </a:bodyPr>
                <a:lstStyle/>
                <a:p>
                  <a:r>
                    <a:rPr lang="es-ES" i="1" dirty="0">
                      <a:solidFill>
                        <a:prstClr val="black"/>
                      </a:solidFill>
                    </a:rPr>
                    <a:t>c </a:t>
                  </a:r>
                  <a:r>
                    <a:rPr lang="es-ES" sz="1800" i="1" dirty="0">
                      <a:solidFill>
                        <a:prstClr val="black"/>
                      </a:solidFill>
                    </a:rPr>
                    <a:t>bits</a:t>
                  </a:r>
                  <a:endParaRPr lang="es-ES" i="1" dirty="0">
                    <a:solidFill>
                      <a:prstClr val="black"/>
                    </a:solidFill>
                  </a:endParaRPr>
                </a:p>
              </p:txBody>
            </p:sp>
            <p:sp>
              <p:nvSpPr>
                <p:cNvPr id="14" name="AutoShape 12">
                  <a:extLst>
                    <a:ext uri="{FF2B5EF4-FFF2-40B4-BE49-F238E27FC236}">
                      <a16:creationId xmlns:a16="http://schemas.microsoft.com/office/drawing/2014/main" id="{7F33DC5E-EA0A-4A82-B3E0-FC8844C473C0}"/>
                    </a:ext>
                  </a:extLst>
                </p:cNvPr>
                <p:cNvSpPr>
                  <a:spLocks/>
                </p:cNvSpPr>
                <p:nvPr/>
              </p:nvSpPr>
              <p:spPr bwMode="auto">
                <a:xfrm rot="5400000">
                  <a:off x="7380312" y="3916527"/>
                  <a:ext cx="144016" cy="216024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15" name="AutoShape 12">
                  <a:extLst>
                    <a:ext uri="{FF2B5EF4-FFF2-40B4-BE49-F238E27FC236}">
                      <a16:creationId xmlns:a16="http://schemas.microsoft.com/office/drawing/2014/main" id="{62893C2E-E801-4006-91EC-FCF822FFD8DB}"/>
                    </a:ext>
                  </a:extLst>
                </p:cNvPr>
                <p:cNvSpPr>
                  <a:spLocks/>
                </p:cNvSpPr>
                <p:nvPr/>
              </p:nvSpPr>
              <p:spPr bwMode="auto">
                <a:xfrm rot="5400000">
                  <a:off x="4963852" y="3668691"/>
                  <a:ext cx="144016" cy="2655912"/>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17" name="AutoShape 12">
                  <a:extLst>
                    <a:ext uri="{FF2B5EF4-FFF2-40B4-BE49-F238E27FC236}">
                      <a16:creationId xmlns:a16="http://schemas.microsoft.com/office/drawing/2014/main" id="{89BE006A-15D0-4E78-8B3E-7D32C29CB80C}"/>
                    </a:ext>
                  </a:extLst>
                </p:cNvPr>
                <p:cNvSpPr>
                  <a:spLocks/>
                </p:cNvSpPr>
                <p:nvPr/>
              </p:nvSpPr>
              <p:spPr bwMode="auto">
                <a:xfrm rot="5400000">
                  <a:off x="2987824" y="4348575"/>
                  <a:ext cx="135632" cy="128776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18" name="AutoShape 12">
                  <a:extLst>
                    <a:ext uri="{FF2B5EF4-FFF2-40B4-BE49-F238E27FC236}">
                      <a16:creationId xmlns:a16="http://schemas.microsoft.com/office/drawing/2014/main" id="{A7CD481A-9CF1-4D8A-9D32-46890E61AABA}"/>
                    </a:ext>
                  </a:extLst>
                </p:cNvPr>
                <p:cNvSpPr>
                  <a:spLocks/>
                </p:cNvSpPr>
                <p:nvPr/>
              </p:nvSpPr>
              <p:spPr bwMode="auto">
                <a:xfrm rot="16200000" flipV="1">
                  <a:off x="7664152" y="3560679"/>
                  <a:ext cx="72008" cy="164780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solidFill>
                      <a:prstClr val="black"/>
                    </a:solidFill>
                  </a:endParaRPr>
                </a:p>
              </p:txBody>
            </p:sp>
            <p:sp>
              <p:nvSpPr>
                <p:cNvPr id="19" name="AutoShape 11">
                  <a:extLst>
                    <a:ext uri="{FF2B5EF4-FFF2-40B4-BE49-F238E27FC236}">
                      <a16:creationId xmlns:a16="http://schemas.microsoft.com/office/drawing/2014/main" id="{BCBDBEF4-D712-4981-9114-F11B0006EEF5}"/>
                    </a:ext>
                  </a:extLst>
                </p:cNvPr>
                <p:cNvSpPr>
                  <a:spLocks/>
                </p:cNvSpPr>
                <p:nvPr/>
              </p:nvSpPr>
              <p:spPr bwMode="auto">
                <a:xfrm rot="5400000">
                  <a:off x="2394000" y="4420647"/>
                  <a:ext cx="144017" cy="1152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sp>
              <p:nvSpPr>
                <p:cNvPr id="20" name="AutoShape 11">
                  <a:extLst>
                    <a:ext uri="{FF2B5EF4-FFF2-40B4-BE49-F238E27FC236}">
                      <a16:creationId xmlns:a16="http://schemas.microsoft.com/office/drawing/2014/main" id="{F7D689BA-4371-4FE2-8940-214DEC589DE7}"/>
                    </a:ext>
                  </a:extLst>
                </p:cNvPr>
                <p:cNvSpPr>
                  <a:spLocks/>
                </p:cNvSpPr>
                <p:nvPr/>
              </p:nvSpPr>
              <p:spPr bwMode="auto">
                <a:xfrm rot="5400000">
                  <a:off x="4500159" y="3484645"/>
                  <a:ext cx="144017" cy="3024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sp>
              <p:nvSpPr>
                <p:cNvPr id="21" name="AutoShape 11">
                  <a:extLst>
                    <a:ext uri="{FF2B5EF4-FFF2-40B4-BE49-F238E27FC236}">
                      <a16:creationId xmlns:a16="http://schemas.microsoft.com/office/drawing/2014/main" id="{B34A4D39-0947-43DB-9CB1-E34CCE7CD740}"/>
                    </a:ext>
                  </a:extLst>
                </p:cNvPr>
                <p:cNvSpPr>
                  <a:spLocks/>
                </p:cNvSpPr>
                <p:nvPr/>
              </p:nvSpPr>
              <p:spPr bwMode="auto">
                <a:xfrm rot="5400000">
                  <a:off x="7236431" y="3772647"/>
                  <a:ext cx="144017" cy="2448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solidFill>
                      <a:prstClr val="black"/>
                    </a:solidFill>
                  </a:endParaRPr>
                </a:p>
              </p:txBody>
            </p:sp>
          </p:grpSp>
          <p:sp>
            <p:nvSpPr>
              <p:cNvPr id="23" name="Rectangle 4">
                <a:extLst>
                  <a:ext uri="{FF2B5EF4-FFF2-40B4-BE49-F238E27FC236}">
                    <a16:creationId xmlns:a16="http://schemas.microsoft.com/office/drawing/2014/main" id="{067398B1-F4FF-4090-ABF5-3192DE86F532}"/>
                  </a:ext>
                </a:extLst>
              </p:cNvPr>
              <p:cNvSpPr>
                <a:spLocks noChangeArrowheads="1"/>
              </p:cNvSpPr>
              <p:nvPr/>
            </p:nvSpPr>
            <p:spPr bwMode="auto">
              <a:xfrm>
                <a:off x="6876256" y="5509100"/>
                <a:ext cx="1656184" cy="319970"/>
              </a:xfrm>
              <a:prstGeom prst="rect">
                <a:avLst/>
              </a:prstGeom>
              <a:solidFill>
                <a:srgbClr val="92D050"/>
              </a:solidFill>
              <a:ln w="19050">
                <a:solidFill>
                  <a:schemeClr val="tx1"/>
                </a:solidFill>
                <a:miter lim="800000"/>
                <a:headEnd/>
                <a:tailEnd/>
              </a:ln>
            </p:spPr>
            <p:txBody>
              <a:bodyPr wrap="none" lIns="0" tIns="0" rIns="0" bIns="0" anchor="ctr"/>
              <a:lstStyle/>
              <a:p>
                <a:r>
                  <a:rPr lang="es-ES_tradnl" sz="1600" b="1" dirty="0">
                    <a:solidFill>
                      <a:schemeClr val="bg1"/>
                    </a:solidFill>
                  </a:rPr>
                  <a:t>Desplazamiento</a:t>
                </a:r>
                <a:endParaRPr lang="es-ES_tradnl" sz="1600" b="1" baseline="-25000" dirty="0">
                  <a:solidFill>
                    <a:schemeClr val="bg1"/>
                  </a:solidFill>
                </a:endParaRPr>
              </a:p>
            </p:txBody>
          </p:sp>
          <p:sp>
            <p:nvSpPr>
              <p:cNvPr id="24" name="Rectangle 15">
                <a:extLst>
                  <a:ext uri="{FF2B5EF4-FFF2-40B4-BE49-F238E27FC236}">
                    <a16:creationId xmlns:a16="http://schemas.microsoft.com/office/drawing/2014/main" id="{C122D5DC-CD73-4312-BE99-B3582CA2A9B7}"/>
                  </a:ext>
                </a:extLst>
              </p:cNvPr>
              <p:cNvSpPr>
                <a:spLocks noChangeArrowheads="1"/>
              </p:cNvSpPr>
              <p:nvPr/>
            </p:nvSpPr>
            <p:spPr bwMode="auto">
              <a:xfrm>
                <a:off x="1907704" y="5509100"/>
                <a:ext cx="4968552" cy="319970"/>
              </a:xfrm>
              <a:prstGeom prst="rect">
                <a:avLst/>
              </a:prstGeom>
              <a:solidFill>
                <a:schemeClr val="accent2">
                  <a:lumMod val="75000"/>
                </a:schemeClr>
              </a:solidFill>
              <a:ln w="19050">
                <a:solidFill>
                  <a:schemeClr val="tx1"/>
                </a:solidFill>
                <a:miter lim="800000"/>
                <a:headEnd/>
                <a:tailEnd/>
              </a:ln>
            </p:spPr>
            <p:txBody>
              <a:bodyPr wrap="none" lIns="0" tIns="0" rIns="0" bIns="0" anchor="ctr"/>
              <a:lstStyle/>
              <a:p>
                <a:r>
                  <a:rPr lang="es-ES_tradnl" b="1" dirty="0">
                    <a:solidFill>
                      <a:schemeClr val="bg1"/>
                    </a:solidFill>
                  </a:rPr>
                  <a:t>  Bloque</a:t>
                </a:r>
                <a:endParaRPr lang="es-ES_tradnl" b="1" baseline="-25000" dirty="0">
                  <a:solidFill>
                    <a:schemeClr val="bg1"/>
                  </a:solidFill>
                </a:endParaRPr>
              </a:p>
            </p:txBody>
          </p:sp>
          <p:sp>
            <p:nvSpPr>
              <p:cNvPr id="25" name="56 CuadroTexto">
                <a:extLst>
                  <a:ext uri="{FF2B5EF4-FFF2-40B4-BE49-F238E27FC236}">
                    <a16:creationId xmlns:a16="http://schemas.microsoft.com/office/drawing/2014/main" id="{B808BDC1-B120-41BB-A590-342A48CD9838}"/>
                  </a:ext>
                </a:extLst>
              </p:cNvPr>
              <p:cNvSpPr txBox="1"/>
              <p:nvPr/>
            </p:nvSpPr>
            <p:spPr>
              <a:xfrm>
                <a:off x="7401163" y="6013156"/>
                <a:ext cx="699230" cy="400110"/>
              </a:xfrm>
              <a:prstGeom prst="rect">
                <a:avLst/>
              </a:prstGeom>
              <a:noFill/>
            </p:spPr>
            <p:txBody>
              <a:bodyPr wrap="none" rtlCol="0">
                <a:spAutoFit/>
              </a:bodyPr>
              <a:lstStyle/>
              <a:p>
                <a:r>
                  <a:rPr lang="es-ES" i="1" dirty="0"/>
                  <a:t>r </a:t>
                </a:r>
                <a:r>
                  <a:rPr lang="es-ES" sz="1800" i="1" dirty="0"/>
                  <a:t>bits</a:t>
                </a:r>
                <a:endParaRPr lang="es-ES" i="1" dirty="0"/>
              </a:p>
            </p:txBody>
          </p:sp>
          <p:sp>
            <p:nvSpPr>
              <p:cNvPr id="26" name="38 CuadroTexto">
                <a:extLst>
                  <a:ext uri="{FF2B5EF4-FFF2-40B4-BE49-F238E27FC236}">
                    <a16:creationId xmlns:a16="http://schemas.microsoft.com/office/drawing/2014/main" id="{54EB75FA-34B0-4A93-BEC0-68FC3F9A1A12}"/>
                  </a:ext>
                </a:extLst>
              </p:cNvPr>
              <p:cNvSpPr txBox="1"/>
              <p:nvPr/>
            </p:nvSpPr>
            <p:spPr>
              <a:xfrm>
                <a:off x="4018926" y="6053226"/>
                <a:ext cx="926857" cy="400110"/>
              </a:xfrm>
              <a:prstGeom prst="rect">
                <a:avLst/>
              </a:prstGeom>
              <a:noFill/>
            </p:spPr>
            <p:txBody>
              <a:bodyPr wrap="none" rtlCol="0">
                <a:spAutoFit/>
              </a:bodyPr>
              <a:lstStyle/>
              <a:p>
                <a:r>
                  <a:rPr lang="es-ES" i="1" dirty="0"/>
                  <a:t>p-r </a:t>
                </a:r>
                <a:r>
                  <a:rPr lang="es-ES" sz="1800" i="1" dirty="0"/>
                  <a:t>bits</a:t>
                </a:r>
                <a:endParaRPr lang="es-ES" i="1" dirty="0"/>
              </a:p>
            </p:txBody>
          </p:sp>
          <p:sp>
            <p:nvSpPr>
              <p:cNvPr id="27" name="AutoShape 11">
                <a:extLst>
                  <a:ext uri="{FF2B5EF4-FFF2-40B4-BE49-F238E27FC236}">
                    <a16:creationId xmlns:a16="http://schemas.microsoft.com/office/drawing/2014/main" id="{5630C4F2-1908-44CB-B8FB-A8AADB8E070E}"/>
                  </a:ext>
                </a:extLst>
              </p:cNvPr>
              <p:cNvSpPr>
                <a:spLocks/>
              </p:cNvSpPr>
              <p:nvPr/>
            </p:nvSpPr>
            <p:spPr bwMode="auto">
              <a:xfrm rot="5400000">
                <a:off x="4319971" y="3456874"/>
                <a:ext cx="144017" cy="4968552"/>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28" name="AutoShape 11">
                <a:extLst>
                  <a:ext uri="{FF2B5EF4-FFF2-40B4-BE49-F238E27FC236}">
                    <a16:creationId xmlns:a16="http://schemas.microsoft.com/office/drawing/2014/main" id="{5CEE46AD-C58A-4986-AF1E-2F827776CEC0}"/>
                  </a:ext>
                </a:extLst>
              </p:cNvPr>
              <p:cNvSpPr>
                <a:spLocks/>
              </p:cNvSpPr>
              <p:nvPr/>
            </p:nvSpPr>
            <p:spPr bwMode="auto">
              <a:xfrm rot="5400000">
                <a:off x="7632431" y="5113147"/>
                <a:ext cx="144017" cy="1656000"/>
              </a:xfrm>
              <a:prstGeom prst="rightBrace">
                <a:avLst>
                  <a:gd name="adj1" fmla="val 72193"/>
                  <a:gd name="adj2" fmla="val 50000"/>
                </a:avLst>
              </a:prstGeom>
              <a:noFill/>
              <a:ln w="19050">
                <a:solidFill>
                  <a:schemeClr val="tx1"/>
                </a:solidFill>
                <a:round/>
                <a:headEnd/>
                <a:tailEnd/>
              </a:ln>
            </p:spPr>
            <p:txBody>
              <a:bodyPr wrap="none" lIns="0" tIns="0" rIns="0" bIns="0" anchor="ctr"/>
              <a:lstStyle/>
              <a:p>
                <a:endParaRPr lang="es-ES"/>
              </a:p>
            </p:txBody>
          </p:sp>
          <p:sp>
            <p:nvSpPr>
              <p:cNvPr id="29" name="35 CuadroTexto">
                <a:extLst>
                  <a:ext uri="{FF2B5EF4-FFF2-40B4-BE49-F238E27FC236}">
                    <a16:creationId xmlns:a16="http://schemas.microsoft.com/office/drawing/2014/main" id="{189F0482-51D8-476D-8511-DD77E79908B7}"/>
                  </a:ext>
                </a:extLst>
              </p:cNvPr>
              <p:cNvSpPr txBox="1"/>
              <p:nvPr/>
            </p:nvSpPr>
            <p:spPr>
              <a:xfrm>
                <a:off x="488737" y="5149060"/>
                <a:ext cx="1415772" cy="1366528"/>
              </a:xfrm>
              <a:prstGeom prst="rect">
                <a:avLst/>
              </a:prstGeom>
              <a:noFill/>
            </p:spPr>
            <p:txBody>
              <a:bodyPr wrap="none" rtlCol="0">
                <a:spAutoFit/>
              </a:bodyPr>
              <a:lstStyle/>
              <a:p>
                <a:r>
                  <a:rPr lang="es-ES" sz="1800" dirty="0">
                    <a:solidFill>
                      <a:srgbClr val="7030A0"/>
                    </a:solidFill>
                  </a:rPr>
                  <a:t>Estructura</a:t>
                </a:r>
              </a:p>
              <a:p>
                <a:r>
                  <a:rPr lang="es-ES" sz="1800" b="1" dirty="0">
                    <a:solidFill>
                      <a:srgbClr val="7030A0"/>
                    </a:solidFill>
                  </a:rPr>
                  <a:t>lógica</a:t>
                </a:r>
                <a:r>
                  <a:rPr lang="es-ES" sz="1800" dirty="0">
                    <a:solidFill>
                      <a:srgbClr val="7030A0"/>
                    </a:solidFill>
                  </a:rPr>
                  <a:t> de la</a:t>
                </a:r>
              </a:p>
              <a:p>
                <a:r>
                  <a:rPr lang="es-ES" sz="1800" dirty="0">
                    <a:solidFill>
                      <a:srgbClr val="7030A0"/>
                    </a:solidFill>
                  </a:rPr>
                  <a:t>Dirección</a:t>
                </a:r>
              </a:p>
              <a:p>
                <a:r>
                  <a:rPr lang="es-ES" sz="1800" dirty="0">
                    <a:solidFill>
                      <a:srgbClr val="7030A0"/>
                    </a:solidFill>
                  </a:rPr>
                  <a:t>p bits</a:t>
                </a:r>
              </a:p>
            </p:txBody>
          </p:sp>
        </p:grpSp>
      </p:grpSp>
      <p:sp>
        <p:nvSpPr>
          <p:cNvPr id="4" name="2 Marcador de número de diapositiva">
            <a:extLst>
              <a:ext uri="{FF2B5EF4-FFF2-40B4-BE49-F238E27FC236}">
                <a16:creationId xmlns:a16="http://schemas.microsoft.com/office/drawing/2014/main" id="{7F0BF38A-5CF2-24B5-D599-AEF1F9F6FEA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59</a:t>
            </a:fld>
            <a:endParaRPr lang="en-US" dirty="0"/>
          </a:p>
        </p:txBody>
      </p:sp>
    </p:spTree>
    <p:extLst>
      <p:ext uri="{BB962C8B-B14F-4D97-AF65-F5344CB8AC3E}">
        <p14:creationId xmlns:p14="http://schemas.microsoft.com/office/powerpoint/2010/main" val="356159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77023-669C-A4E6-AF91-05464C64D2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9798E7-6A70-A668-77FE-663ECC3BD0FB}"/>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E85F082C-007C-8E6B-F2BC-D377710A4CE2}"/>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t>Organización</a:t>
            </a:r>
          </a:p>
          <a:p>
            <a:pPr marL="977900" lvl="2" indent="-457200">
              <a:lnSpc>
                <a:spcPct val="90000"/>
              </a:lnSpc>
              <a:buFont typeface="+mj-lt"/>
              <a:buAutoNum type="romanUcPeriod"/>
            </a:pPr>
            <a:r>
              <a:rPr lang="es-ES" dirty="0"/>
              <a:t>Direccionamiento</a:t>
            </a:r>
          </a:p>
          <a:p>
            <a:pPr marL="977900" lvl="2" indent="-457200">
              <a:lnSpc>
                <a:spcPct val="90000"/>
              </a:lnSpc>
              <a:buFont typeface="+mj-lt"/>
              <a:buAutoNum type="romanUcPeriod"/>
            </a:pPr>
            <a:r>
              <a:rPr lang="es-ES" dirty="0">
                <a:solidFill>
                  <a:srgbClr val="FF0000"/>
                </a:solidFill>
              </a:rPr>
              <a:t>Temporización</a:t>
            </a:r>
          </a:p>
          <a:p>
            <a:pPr marL="1189038" lvl="3" indent="-457200">
              <a:lnSpc>
                <a:spcPct val="90000"/>
              </a:lnSpc>
              <a:buFont typeface="Arial" panose="020B0604020202020204" pitchFamily="34" charset="0"/>
              <a:buChar char="•"/>
            </a:pPr>
            <a:r>
              <a:rPr lang="es-ES" dirty="0">
                <a:solidFill>
                  <a:srgbClr val="FF0000"/>
                </a:solidFill>
              </a:rPr>
              <a:t>Cronogramas</a:t>
            </a:r>
          </a:p>
          <a:p>
            <a:pPr marL="1189038" lvl="3" indent="-457200">
              <a:lnSpc>
                <a:spcPct val="90000"/>
              </a:lnSpc>
              <a:buFont typeface="Arial" panose="020B0604020202020204" pitchFamily="34" charset="0"/>
              <a:buChar char="•"/>
            </a:pPr>
            <a:r>
              <a:rPr lang="es-ES" dirty="0"/>
              <a:t>Prestaciones</a:t>
            </a:r>
          </a:p>
          <a:p>
            <a:pPr marL="977900" lvl="2" indent="-457200">
              <a:lnSpc>
                <a:spcPct val="90000"/>
              </a:lnSpc>
              <a:buFont typeface="+mj-lt"/>
              <a:buAutoNum type="romanUcPeriod"/>
            </a:pPr>
            <a:r>
              <a:rPr lang="es-ES" dirty="0"/>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142C3081-662D-22A1-0EF5-E18AD460CDAE}"/>
              </a:ext>
            </a:extLst>
          </p:cNvPr>
          <p:cNvSpPr>
            <a:spLocks noGrp="1"/>
          </p:cNvSpPr>
          <p:nvPr>
            <p:ph type="sldNum" sz="quarter" idx="12"/>
          </p:nvPr>
        </p:nvSpPr>
        <p:spPr/>
        <p:txBody>
          <a:bodyPr/>
          <a:lstStyle/>
          <a:p>
            <a:pPr>
              <a:defRPr/>
            </a:pPr>
            <a:fld id="{50B7A251-C820-4EFF-8270-C7613E20881F}" type="slidenum">
              <a:rPr lang="en-US" smtClean="0"/>
              <a:pPr>
                <a:defRPr/>
              </a:pPr>
              <a:t>60</a:t>
            </a:fld>
            <a:endParaRPr lang="en-US" dirty="0"/>
          </a:p>
        </p:txBody>
      </p:sp>
      <p:sp>
        <p:nvSpPr>
          <p:cNvPr id="6" name="Rectángulo 5">
            <a:extLst>
              <a:ext uri="{FF2B5EF4-FFF2-40B4-BE49-F238E27FC236}">
                <a16:creationId xmlns:a16="http://schemas.microsoft.com/office/drawing/2014/main" id="{CC050921-1D4E-9CE7-6E9F-C292E1B1FECC}"/>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
        <p:nvSpPr>
          <p:cNvPr id="7" name="Rectángulo 6">
            <a:extLst>
              <a:ext uri="{FF2B5EF4-FFF2-40B4-BE49-F238E27FC236}">
                <a16:creationId xmlns:a16="http://schemas.microsoft.com/office/drawing/2014/main" id="{87D39FAD-6E53-04EC-1842-D5C689155F4D}"/>
              </a:ext>
            </a:extLst>
          </p:cNvPr>
          <p:cNvSpPr/>
          <p:nvPr/>
        </p:nvSpPr>
        <p:spPr>
          <a:xfrm>
            <a:off x="3995936" y="2987608"/>
            <a:ext cx="5037217" cy="2012859"/>
          </a:xfrm>
          <a:prstGeom prst="rect">
            <a:avLst/>
          </a:prstGeom>
        </p:spPr>
        <p:txBody>
          <a:bodyPr wrap="square">
            <a:spAutoFit/>
          </a:bodyPr>
          <a:lstStyle/>
          <a:p>
            <a:pPr algn="l"/>
            <a:r>
              <a:rPr lang="es-ES" sz="1600" dirty="0">
                <a:solidFill>
                  <a:schemeClr val="accent1">
                    <a:lumMod val="75000"/>
                  </a:schemeClr>
                </a:solidFill>
              </a:rPr>
              <a:t>Vídeos relacionados:</a:t>
            </a:r>
          </a:p>
          <a:p>
            <a:pPr marL="742950" lvl="1" indent="-285750" algn="l">
              <a:buFont typeface="Arial" panose="020B0604020202020204" pitchFamily="34" charset="0"/>
              <a:buChar char="•"/>
            </a:pPr>
            <a:r>
              <a:rPr lang="es-ES" sz="1600" dirty="0">
                <a:solidFill>
                  <a:schemeClr val="accent1">
                    <a:lumMod val="75000"/>
                  </a:schemeClr>
                </a:solidFill>
              </a:rPr>
              <a:t>Vídeo 4. “Temporización SDRAM. Primera parte”</a:t>
            </a:r>
          </a:p>
          <a:p>
            <a:pPr marL="742950" lvl="1" indent="-285750" algn="l">
              <a:buFont typeface="Arial" panose="020B0604020202020204" pitchFamily="34" charset="0"/>
              <a:buChar char="•"/>
            </a:pPr>
            <a:r>
              <a:rPr lang="es-ES" sz="1600" dirty="0">
                <a:solidFill>
                  <a:schemeClr val="accent1">
                    <a:lumMod val="75000"/>
                  </a:schemeClr>
                </a:solidFill>
              </a:rPr>
              <a:t>Vídeo 5. “Temporización SDRAM. Segunda parte”</a:t>
            </a:r>
          </a:p>
          <a:p>
            <a:pPr marL="742950" lvl="1" indent="-285750" algn="l">
              <a:buFont typeface="Arial" panose="020B0604020202020204" pitchFamily="34" charset="0"/>
              <a:buChar char="•"/>
            </a:pPr>
            <a:r>
              <a:rPr lang="es-ES" sz="1600" dirty="0">
                <a:solidFill>
                  <a:schemeClr val="accent1">
                    <a:lumMod val="75000"/>
                  </a:schemeClr>
                </a:solidFill>
              </a:rPr>
              <a:t>Vídeo 6: “Prestaciones SDRAM”</a:t>
            </a:r>
          </a:p>
          <a:p>
            <a:pPr lvl="1" algn="l"/>
            <a:endParaRPr lang="es-ES" sz="1600" dirty="0">
              <a:solidFill>
                <a:schemeClr val="accent1">
                  <a:lumMod val="75000"/>
                </a:schemeClr>
              </a:solidFill>
            </a:endParaRPr>
          </a:p>
        </p:txBody>
      </p:sp>
    </p:spTree>
    <p:extLst>
      <p:ext uri="{BB962C8B-B14F-4D97-AF65-F5344CB8AC3E}">
        <p14:creationId xmlns:p14="http://schemas.microsoft.com/office/powerpoint/2010/main" val="4222414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s-ES" dirty="0"/>
              <a:t>Cronogramas de lectura y escritura</a:t>
            </a:r>
          </a:p>
        </p:txBody>
      </p:sp>
      <p:sp>
        <p:nvSpPr>
          <p:cNvPr id="18436" name="Rectangle 3"/>
          <p:cNvSpPr>
            <a:spLocks noGrp="1" noChangeArrowheads="1"/>
          </p:cNvSpPr>
          <p:nvPr>
            <p:ph type="body" idx="1"/>
          </p:nvPr>
        </p:nvSpPr>
        <p:spPr>
          <a:xfrm>
            <a:off x="533400" y="1052512"/>
            <a:ext cx="8305800" cy="4968775"/>
          </a:xfrm>
        </p:spPr>
        <p:txBody>
          <a:bodyPr/>
          <a:lstStyle/>
          <a:p>
            <a:pPr marL="82550" indent="0">
              <a:buNone/>
            </a:pPr>
            <a:r>
              <a:rPr lang="es-ES" dirty="0">
                <a:solidFill>
                  <a:schemeClr val="accent1"/>
                </a:solidFill>
              </a:rPr>
              <a:t>Parámetros temporales:</a:t>
            </a:r>
            <a:endParaRPr lang="es-ES" dirty="0"/>
          </a:p>
          <a:p>
            <a:r>
              <a:rPr lang="es-ES" dirty="0"/>
              <a:t>Tiempo de acceso</a:t>
            </a:r>
          </a:p>
          <a:p>
            <a:pPr lvl="1"/>
            <a:r>
              <a:rPr lang="es-ES" dirty="0"/>
              <a:t>Tiempo </a:t>
            </a:r>
            <a:r>
              <a:rPr lang="es-ES" sz="2400" b="1" dirty="0"/>
              <a:t>máximo</a:t>
            </a:r>
            <a:r>
              <a:rPr lang="es-ES" dirty="0"/>
              <a:t> entre el inicio de la operación y la obtención o almacenamiento de:</a:t>
            </a:r>
          </a:p>
          <a:p>
            <a:pPr lvl="2"/>
            <a:r>
              <a:rPr lang="es-ES" dirty="0"/>
              <a:t>el primer dato del bloque</a:t>
            </a:r>
          </a:p>
          <a:p>
            <a:pPr lvl="1"/>
            <a:r>
              <a:rPr lang="es-ES" dirty="0"/>
              <a:t>Se mide en unidades de tiempo </a:t>
            </a:r>
          </a:p>
          <a:p>
            <a:pPr lvl="1"/>
            <a:endParaRPr lang="es-ES" dirty="0"/>
          </a:p>
          <a:p>
            <a:r>
              <a:rPr lang="es-ES" dirty="0"/>
              <a:t>Tiempo de ciclo</a:t>
            </a:r>
          </a:p>
          <a:p>
            <a:pPr lvl="1"/>
            <a:r>
              <a:rPr lang="es-ES" dirty="0"/>
              <a:t>Tiempo </a:t>
            </a:r>
            <a:r>
              <a:rPr lang="es-ES" sz="2400" b="1" dirty="0"/>
              <a:t>mínimo</a:t>
            </a:r>
            <a:r>
              <a:rPr lang="es-ES" dirty="0"/>
              <a:t> entre dos operaciones consecutivas de memoria</a:t>
            </a:r>
          </a:p>
          <a:p>
            <a:pPr lvl="1"/>
            <a:r>
              <a:rPr lang="es-ES" dirty="0"/>
              <a:t>En general, </a:t>
            </a:r>
            <a:r>
              <a:rPr lang="es-ES" dirty="0" err="1"/>
              <a:t>t</a:t>
            </a:r>
            <a:r>
              <a:rPr lang="es-ES" baseline="-25000" dirty="0" err="1"/>
              <a:t>ciclo</a:t>
            </a:r>
            <a:r>
              <a:rPr lang="es-ES" baseline="-25000" dirty="0"/>
              <a:t> </a:t>
            </a:r>
            <a:r>
              <a:rPr lang="es-ES" dirty="0">
                <a:cs typeface="Arial" charset="0"/>
              </a:rPr>
              <a:t>≥</a:t>
            </a:r>
            <a:r>
              <a:rPr lang="es-ES" dirty="0"/>
              <a:t> </a:t>
            </a:r>
            <a:r>
              <a:rPr lang="es-ES" dirty="0" err="1"/>
              <a:t>t</a:t>
            </a:r>
            <a:r>
              <a:rPr lang="es-ES" baseline="-25000" dirty="0" err="1"/>
              <a:t>acceso</a:t>
            </a:r>
            <a:endParaRPr lang="es-ES" baseline="-25000" dirty="0"/>
          </a:p>
          <a:p>
            <a:pPr lvl="1"/>
            <a:endParaRPr lang="es-ES" dirty="0"/>
          </a:p>
        </p:txBody>
      </p:sp>
      <p:grpSp>
        <p:nvGrpSpPr>
          <p:cNvPr id="2" name="Group 33"/>
          <p:cNvGrpSpPr>
            <a:grpSpLocks/>
          </p:cNvGrpSpPr>
          <p:nvPr/>
        </p:nvGrpSpPr>
        <p:grpSpPr bwMode="auto">
          <a:xfrm>
            <a:off x="4589232" y="2492896"/>
            <a:ext cx="4397097" cy="1476977"/>
            <a:chOff x="975" y="2341"/>
            <a:chExt cx="3678" cy="1612"/>
          </a:xfrm>
          <a:solidFill>
            <a:schemeClr val="accent2">
              <a:lumMod val="40000"/>
              <a:lumOff val="60000"/>
            </a:schemeClr>
          </a:solidFill>
        </p:grpSpPr>
        <p:sp>
          <p:nvSpPr>
            <p:cNvPr id="18439" name="Rectangle 32"/>
            <p:cNvSpPr>
              <a:spLocks noChangeArrowheads="1"/>
            </p:cNvSpPr>
            <p:nvPr/>
          </p:nvSpPr>
          <p:spPr bwMode="grayWhite">
            <a:xfrm>
              <a:off x="975" y="2341"/>
              <a:ext cx="3674" cy="1612"/>
            </a:xfrm>
            <a:prstGeom prst="rect">
              <a:avLst/>
            </a:prstGeom>
            <a:grpFill/>
            <a:ln w="9525">
              <a:noFill/>
              <a:miter lim="800000"/>
              <a:headEnd/>
              <a:tailEnd/>
            </a:ln>
            <a:scene3d>
              <a:camera prst="legacyObliqueTopRight"/>
              <a:lightRig rig="legacyFlat3" dir="b"/>
            </a:scene3d>
            <a:sp3d extrusionH="49200" prstMaterial="legacyMetal">
              <a:bevelT w="13500" h="13500" prst="angle"/>
              <a:bevelB w="13500" h="13500" prst="angle"/>
              <a:extrusionClr>
                <a:schemeClr val="folHlink"/>
              </a:extrusionClr>
            </a:sp3d>
          </p:spPr>
          <p:txBody>
            <a:bodyPr wrap="none" lIns="0" tIns="0" rIns="0" bIns="0" anchor="ctr">
              <a:flatTx/>
            </a:bodyPr>
            <a:lstStyle/>
            <a:p>
              <a:endParaRPr lang="es-ES"/>
            </a:p>
          </p:txBody>
        </p:sp>
        <p:grpSp>
          <p:nvGrpSpPr>
            <p:cNvPr id="3" name="Group 29"/>
            <p:cNvGrpSpPr>
              <a:grpSpLocks/>
            </p:cNvGrpSpPr>
            <p:nvPr/>
          </p:nvGrpSpPr>
          <p:grpSpPr bwMode="auto">
            <a:xfrm>
              <a:off x="2925" y="2425"/>
              <a:ext cx="1728" cy="1465"/>
              <a:chOff x="1882" y="2278"/>
              <a:chExt cx="1728" cy="1465"/>
            </a:xfrm>
            <a:grpFill/>
          </p:grpSpPr>
          <p:sp>
            <p:nvSpPr>
              <p:cNvPr id="18442" name="Text Box 27"/>
              <p:cNvSpPr txBox="1">
                <a:spLocks noChangeArrowheads="1"/>
              </p:cNvSpPr>
              <p:nvPr/>
            </p:nvSpPr>
            <p:spPr bwMode="auto">
              <a:xfrm>
                <a:off x="1882" y="2278"/>
                <a:ext cx="1728" cy="1465"/>
              </a:xfrm>
              <a:prstGeom prst="rect">
                <a:avLst/>
              </a:prstGeom>
              <a:grpFill/>
              <a:ln w="19050">
                <a:noFill/>
                <a:miter lim="800000"/>
                <a:headEnd/>
                <a:tailEnd/>
              </a:ln>
            </p:spPr>
            <p:txBody>
              <a:bodyPr wrap="none" lIns="0" tIns="0" rIns="0" bIns="0">
                <a:spAutoFit/>
              </a:bodyPr>
              <a:lstStyle/>
              <a:p>
                <a:pPr algn="l">
                  <a:tabLst>
                    <a:tab pos="1611313" algn="l"/>
                    <a:tab pos="2690813" algn="l"/>
                  </a:tabLst>
                </a:pPr>
                <a:r>
                  <a:rPr lang="es-ES" sz="1400" b="1" dirty="0"/>
                  <a:t>Nombre</a:t>
                </a:r>
                <a:r>
                  <a:rPr lang="es-ES" b="1" dirty="0"/>
                  <a:t>	</a:t>
                </a:r>
                <a:r>
                  <a:rPr lang="es-ES" sz="1400" b="1" dirty="0"/>
                  <a:t>Valor</a:t>
                </a:r>
              </a:p>
              <a:p>
                <a:pPr algn="l">
                  <a:tabLst>
                    <a:tab pos="1611313" algn="l"/>
                    <a:tab pos="2690813" algn="l"/>
                  </a:tabLst>
                </a:pPr>
                <a:r>
                  <a:rPr lang="es-ES" sz="1400" dirty="0"/>
                  <a:t>mili (m)	</a:t>
                </a:r>
                <a:r>
                  <a:rPr lang="ca-ES" sz="1400" dirty="0"/>
                  <a:t>10</a:t>
                </a:r>
                <a:r>
                  <a:rPr lang="ca-ES" sz="1400" baseline="30000" dirty="0">
                    <a:cs typeface="Arial" charset="0"/>
                  </a:rPr>
                  <a:t>−3</a:t>
                </a:r>
              </a:p>
              <a:p>
                <a:pPr algn="l">
                  <a:tabLst>
                    <a:tab pos="1611313" algn="l"/>
                    <a:tab pos="2690813" algn="l"/>
                  </a:tabLst>
                </a:pPr>
                <a:r>
                  <a:rPr lang="es-ES" sz="1400" dirty="0"/>
                  <a:t>micro (</a:t>
                </a:r>
                <a:r>
                  <a:rPr lang="en-US" sz="1400" dirty="0">
                    <a:cs typeface="Arial" charset="0"/>
                  </a:rPr>
                  <a:t>µ</a:t>
                </a:r>
                <a:r>
                  <a:rPr lang="es-ES" sz="1400" dirty="0"/>
                  <a:t>)	</a:t>
                </a:r>
                <a:r>
                  <a:rPr lang="ca-ES" sz="1400" dirty="0"/>
                  <a:t>10</a:t>
                </a:r>
                <a:r>
                  <a:rPr lang="ca-ES" sz="1400" baseline="30000" dirty="0"/>
                  <a:t>−6</a:t>
                </a:r>
              </a:p>
              <a:p>
                <a:pPr algn="l">
                  <a:tabLst>
                    <a:tab pos="1611313" algn="l"/>
                    <a:tab pos="2690813" algn="l"/>
                  </a:tabLst>
                </a:pPr>
                <a:r>
                  <a:rPr lang="es-ES" sz="1400" dirty="0"/>
                  <a:t>nano (n)	</a:t>
                </a:r>
                <a:r>
                  <a:rPr lang="ca-ES" sz="1400" dirty="0"/>
                  <a:t>10</a:t>
                </a:r>
                <a:r>
                  <a:rPr lang="ca-ES" sz="1400" baseline="30000" dirty="0"/>
                  <a:t>−9</a:t>
                </a:r>
              </a:p>
              <a:p>
                <a:pPr algn="l">
                  <a:tabLst>
                    <a:tab pos="1611313" algn="l"/>
                    <a:tab pos="2690813" algn="l"/>
                  </a:tabLst>
                </a:pPr>
                <a:r>
                  <a:rPr lang="es-ES" sz="1400" dirty="0"/>
                  <a:t>pico (p)	</a:t>
                </a:r>
                <a:r>
                  <a:rPr lang="ca-ES" sz="1400" dirty="0"/>
                  <a:t>10</a:t>
                </a:r>
                <a:r>
                  <a:rPr lang="ca-ES" sz="1400" baseline="30000" dirty="0"/>
                  <a:t>−12</a:t>
                </a:r>
              </a:p>
            </p:txBody>
          </p:sp>
          <p:sp>
            <p:nvSpPr>
              <p:cNvPr id="18443" name="Line 28"/>
              <p:cNvSpPr>
                <a:spLocks noChangeShapeType="1"/>
              </p:cNvSpPr>
              <p:nvPr/>
            </p:nvSpPr>
            <p:spPr bwMode="auto">
              <a:xfrm flipV="1">
                <a:off x="1882" y="2587"/>
                <a:ext cx="1685" cy="0"/>
              </a:xfrm>
              <a:prstGeom prst="line">
                <a:avLst/>
              </a:prstGeom>
              <a:grpFill/>
              <a:ln w="6350">
                <a:solidFill>
                  <a:srgbClr val="CC3300"/>
                </a:solidFill>
                <a:round/>
                <a:headEnd/>
                <a:tailEnd/>
              </a:ln>
            </p:spPr>
            <p:txBody>
              <a:bodyPr lIns="0" tIns="0" rIns="0" bIns="0" anchor="ctr"/>
              <a:lstStyle/>
              <a:p>
                <a:endParaRPr lang="es-ES"/>
              </a:p>
            </p:txBody>
          </p:sp>
        </p:grpSp>
        <p:sp>
          <p:nvSpPr>
            <p:cNvPr id="18441" name="Text Box 31"/>
            <p:cNvSpPr txBox="1">
              <a:spLocks noChangeArrowheads="1"/>
            </p:cNvSpPr>
            <p:nvPr/>
          </p:nvSpPr>
          <p:spPr bwMode="auto">
            <a:xfrm>
              <a:off x="1055" y="2456"/>
              <a:ext cx="1250" cy="705"/>
            </a:xfrm>
            <a:prstGeom prst="rect">
              <a:avLst/>
            </a:prstGeom>
            <a:grpFill/>
            <a:ln w="19050">
              <a:noFill/>
              <a:miter lim="800000"/>
              <a:headEnd/>
              <a:tailEnd/>
            </a:ln>
          </p:spPr>
          <p:txBody>
            <a:bodyPr wrap="none" lIns="0" tIns="0" rIns="0" bIns="0">
              <a:spAutoFit/>
            </a:bodyPr>
            <a:lstStyle/>
            <a:p>
              <a:pPr algn="l"/>
              <a:r>
                <a:rPr lang="es-ES" sz="1400" dirty="0"/>
                <a:t>Prefijos aplicables </a:t>
              </a:r>
              <a:br>
                <a:rPr lang="es-ES" sz="1400" dirty="0"/>
              </a:br>
              <a:r>
                <a:rPr lang="es-ES" sz="1400" dirty="0"/>
                <a:t>a las unidades </a:t>
              </a:r>
              <a:br>
                <a:rPr lang="es-ES" sz="1400" dirty="0"/>
              </a:br>
              <a:r>
                <a:rPr lang="es-ES" sz="1400" dirty="0"/>
                <a:t>de tiempo:</a:t>
              </a:r>
            </a:p>
          </p:txBody>
        </p:sp>
      </p:grpSp>
      <p:sp>
        <p:nvSpPr>
          <p:cNvPr id="4" name="2 Marcador de número de diapositiva">
            <a:extLst>
              <a:ext uri="{FF2B5EF4-FFF2-40B4-BE49-F238E27FC236}">
                <a16:creationId xmlns:a16="http://schemas.microsoft.com/office/drawing/2014/main" id="{5289F98C-8086-8AA6-C68E-8F54E0C81E0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61</a:t>
            </a:fld>
            <a:endParaRPr lang="en-US" dirty="0"/>
          </a:p>
        </p:txBody>
      </p:sp>
    </p:spTree>
    <p:extLst>
      <p:ext uri="{BB962C8B-B14F-4D97-AF65-F5344CB8AC3E}">
        <p14:creationId xmlns:p14="http://schemas.microsoft.com/office/powerpoint/2010/main" val="2936024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r>
              <a:rPr lang="es-ES" dirty="0"/>
              <a:t>Cronogramas de lectura y escritura</a:t>
            </a:r>
          </a:p>
        </p:txBody>
      </p:sp>
      <p:sp>
        <p:nvSpPr>
          <p:cNvPr id="67588" name="Rectangle 3"/>
          <p:cNvSpPr>
            <a:spLocks noGrp="1" noChangeArrowheads="1"/>
          </p:cNvSpPr>
          <p:nvPr>
            <p:ph type="body" idx="1"/>
          </p:nvPr>
        </p:nvSpPr>
        <p:spPr>
          <a:xfrm>
            <a:off x="323850" y="1052513"/>
            <a:ext cx="4822825" cy="1800225"/>
          </a:xfrm>
        </p:spPr>
        <p:txBody>
          <a:bodyPr/>
          <a:lstStyle/>
          <a:p>
            <a:pPr>
              <a:buFont typeface="Wingdings" panose="05000000000000000000" pitchFamily="2" charset="2"/>
              <a:buChar char="§"/>
            </a:pPr>
            <a:r>
              <a:rPr lang="es-ES" dirty="0">
                <a:solidFill>
                  <a:schemeClr val="accent1"/>
                </a:solidFill>
              </a:rPr>
              <a:t>Emisión de órdenes</a:t>
            </a:r>
          </a:p>
          <a:p>
            <a:pPr lvl="1"/>
            <a:r>
              <a:rPr lang="es-ES" sz="1800" dirty="0"/>
              <a:t>Los flancos ascendentes de la señal de reloj marcan los instantes en los que el chip acepta órdenes. La combinación de RAS*, CAS* y WE* se llama COMMAND, función u orden. </a:t>
            </a:r>
          </a:p>
          <a:p>
            <a:pPr lvl="1"/>
            <a:endParaRPr lang="es-ES" sz="1800" dirty="0"/>
          </a:p>
          <a:p>
            <a:pPr lvl="1"/>
            <a:r>
              <a:rPr lang="es-ES" sz="1800" dirty="0"/>
              <a:t>Según la orden leída, el chip interpreta las líneas de dirección</a:t>
            </a:r>
          </a:p>
        </p:txBody>
      </p:sp>
      <p:grpSp>
        <p:nvGrpSpPr>
          <p:cNvPr id="11" name="4 Grupo">
            <a:extLst>
              <a:ext uri="{FF2B5EF4-FFF2-40B4-BE49-F238E27FC236}">
                <a16:creationId xmlns:a16="http://schemas.microsoft.com/office/drawing/2014/main" id="{4C9479F9-DE1F-8EA2-5E11-8E2C6440C1E4}"/>
              </a:ext>
            </a:extLst>
          </p:cNvPr>
          <p:cNvGrpSpPr/>
          <p:nvPr/>
        </p:nvGrpSpPr>
        <p:grpSpPr>
          <a:xfrm>
            <a:off x="5868144" y="2021590"/>
            <a:ext cx="2592287" cy="4536331"/>
            <a:chOff x="5148065" y="980728"/>
            <a:chExt cx="3909156" cy="5760640"/>
          </a:xfrm>
        </p:grpSpPr>
        <p:sp>
          <p:nvSpPr>
            <p:cNvPr id="12" name="5 Rectángulo redondeado">
              <a:extLst>
                <a:ext uri="{FF2B5EF4-FFF2-40B4-BE49-F238E27FC236}">
                  <a16:creationId xmlns:a16="http://schemas.microsoft.com/office/drawing/2014/main" id="{018F1B64-9FF6-05FB-0340-36C602FC7E0A}"/>
                </a:ext>
              </a:extLst>
            </p:cNvPr>
            <p:cNvSpPr/>
            <p:nvPr/>
          </p:nvSpPr>
          <p:spPr bwMode="auto">
            <a:xfrm>
              <a:off x="5148065" y="980728"/>
              <a:ext cx="3909156" cy="5760640"/>
            </a:xfrm>
            <a:prstGeom prst="roundRect">
              <a:avLst/>
            </a:prstGeom>
            <a:solidFill>
              <a:schemeClr val="accent5">
                <a:lumMod val="20000"/>
                <a:lumOff val="80000"/>
              </a:schemeClr>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13" name="Rectangle 4">
              <a:extLst>
                <a:ext uri="{FF2B5EF4-FFF2-40B4-BE49-F238E27FC236}">
                  <a16:creationId xmlns:a16="http://schemas.microsoft.com/office/drawing/2014/main" id="{A552F7C3-6F01-3081-ED80-7B74D0026603}"/>
                </a:ext>
              </a:extLst>
            </p:cNvPr>
            <p:cNvSpPr>
              <a:spLocks noChangeArrowheads="1"/>
            </p:cNvSpPr>
            <p:nvPr/>
          </p:nvSpPr>
          <p:spPr bwMode="auto">
            <a:xfrm>
              <a:off x="7054850" y="1196975"/>
              <a:ext cx="914400" cy="5356225"/>
            </a:xfrm>
            <a:prstGeom prst="rect">
              <a:avLst/>
            </a:prstGeom>
            <a:solidFill>
              <a:schemeClr val="bg2">
                <a:lumMod val="90000"/>
              </a:schemeClr>
            </a:solidFill>
            <a:ln w="28575">
              <a:solidFill>
                <a:schemeClr val="tx1"/>
              </a:solidFill>
              <a:miter lim="800000"/>
              <a:headEnd/>
              <a:tailEnd/>
            </a:ln>
          </p:spPr>
          <p:txBody>
            <a:bodyPr anchor="ctr">
              <a:spAutoFit/>
            </a:bodyPr>
            <a:lstStyle/>
            <a:p>
              <a:endParaRPr lang="es-ES"/>
            </a:p>
          </p:txBody>
        </p:sp>
        <p:sp>
          <p:nvSpPr>
            <p:cNvPr id="14" name="Line 5">
              <a:extLst>
                <a:ext uri="{FF2B5EF4-FFF2-40B4-BE49-F238E27FC236}">
                  <a16:creationId xmlns:a16="http://schemas.microsoft.com/office/drawing/2014/main" id="{BF546D96-27EA-BD0B-1F4B-049B5C5F5413}"/>
                </a:ext>
              </a:extLst>
            </p:cNvPr>
            <p:cNvSpPr>
              <a:spLocks noChangeShapeType="1"/>
            </p:cNvSpPr>
            <p:nvPr/>
          </p:nvSpPr>
          <p:spPr bwMode="auto">
            <a:xfrm>
              <a:off x="6445250" y="18478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15" name="Text Box 6">
              <a:extLst>
                <a:ext uri="{FF2B5EF4-FFF2-40B4-BE49-F238E27FC236}">
                  <a16:creationId xmlns:a16="http://schemas.microsoft.com/office/drawing/2014/main" id="{450BEF1F-5653-1774-6739-350243228559}"/>
                </a:ext>
              </a:extLst>
            </p:cNvPr>
            <p:cNvSpPr txBox="1">
              <a:spLocks noChangeArrowheads="1"/>
            </p:cNvSpPr>
            <p:nvPr/>
          </p:nvSpPr>
          <p:spPr bwMode="auto">
            <a:xfrm>
              <a:off x="7153095" y="1319434"/>
              <a:ext cx="449622" cy="234505"/>
            </a:xfrm>
            <a:prstGeom prst="rect">
              <a:avLst/>
            </a:prstGeom>
            <a:noFill/>
            <a:ln w="12700">
              <a:noFill/>
              <a:miter lim="800000"/>
              <a:headEnd/>
              <a:tailEnd/>
            </a:ln>
          </p:spPr>
          <p:txBody>
            <a:bodyPr wrap="none" lIns="0" tIns="0" rIns="0" bIns="0" anchor="ctr">
              <a:spAutoFit/>
            </a:bodyPr>
            <a:lstStyle/>
            <a:p>
              <a:r>
                <a:rPr lang="es-ES_tradnl" sz="1200" dirty="0"/>
                <a:t>CLK</a:t>
              </a:r>
            </a:p>
          </p:txBody>
        </p:sp>
        <p:sp>
          <p:nvSpPr>
            <p:cNvPr id="16" name="Text Box 7">
              <a:extLst>
                <a:ext uri="{FF2B5EF4-FFF2-40B4-BE49-F238E27FC236}">
                  <a16:creationId xmlns:a16="http://schemas.microsoft.com/office/drawing/2014/main" id="{E6773554-DCD9-BF38-7FEE-6B6560200E0E}"/>
                </a:ext>
              </a:extLst>
            </p:cNvPr>
            <p:cNvSpPr txBox="1">
              <a:spLocks noChangeArrowheads="1"/>
            </p:cNvSpPr>
            <p:nvPr/>
          </p:nvSpPr>
          <p:spPr bwMode="auto">
            <a:xfrm>
              <a:off x="7127875" y="1649413"/>
              <a:ext cx="841375" cy="396875"/>
            </a:xfrm>
            <a:prstGeom prst="rect">
              <a:avLst/>
            </a:prstGeom>
            <a:noFill/>
            <a:ln w="19050">
              <a:noFill/>
              <a:miter lim="800000"/>
              <a:headEnd/>
              <a:tailEnd/>
            </a:ln>
          </p:spPr>
          <p:txBody>
            <a:bodyPr lIns="0" tIns="0" rIns="0" bIns="0" anchor="ctr"/>
            <a:lstStyle/>
            <a:p>
              <a:pPr algn="l"/>
              <a:r>
                <a:rPr lang="es-ES_tradnl" sz="1200" dirty="0"/>
                <a:t>CS*</a:t>
              </a:r>
            </a:p>
          </p:txBody>
        </p:sp>
        <p:sp>
          <p:nvSpPr>
            <p:cNvPr id="17" name="Line 8">
              <a:extLst>
                <a:ext uri="{FF2B5EF4-FFF2-40B4-BE49-F238E27FC236}">
                  <a16:creationId xmlns:a16="http://schemas.microsoft.com/office/drawing/2014/main" id="{CF5EE14A-EEA0-4FF9-DA05-E771C5C3BD89}"/>
                </a:ext>
              </a:extLst>
            </p:cNvPr>
            <p:cNvSpPr>
              <a:spLocks noChangeShapeType="1"/>
            </p:cNvSpPr>
            <p:nvPr/>
          </p:nvSpPr>
          <p:spPr bwMode="auto">
            <a:xfrm>
              <a:off x="6445250" y="1436688"/>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18" name="Text Box 9">
              <a:extLst>
                <a:ext uri="{FF2B5EF4-FFF2-40B4-BE49-F238E27FC236}">
                  <a16:creationId xmlns:a16="http://schemas.microsoft.com/office/drawing/2014/main" id="{0D824939-6A05-097B-869A-07318196D9DC}"/>
                </a:ext>
              </a:extLst>
            </p:cNvPr>
            <p:cNvSpPr txBox="1">
              <a:spLocks noChangeArrowheads="1"/>
            </p:cNvSpPr>
            <p:nvPr/>
          </p:nvSpPr>
          <p:spPr bwMode="auto">
            <a:xfrm>
              <a:off x="5724128" y="1196752"/>
              <a:ext cx="720080" cy="396875"/>
            </a:xfrm>
            <a:prstGeom prst="rect">
              <a:avLst/>
            </a:prstGeom>
            <a:noFill/>
            <a:ln w="19050">
              <a:noFill/>
              <a:miter lim="800000"/>
              <a:headEnd/>
              <a:tailEnd/>
            </a:ln>
          </p:spPr>
          <p:txBody>
            <a:bodyPr lIns="0" tIns="0" rIns="0" bIns="0" anchor="ctr"/>
            <a:lstStyle/>
            <a:p>
              <a:pPr algn="l"/>
              <a:r>
                <a:rPr lang="es-ES_tradnl" sz="1600" dirty="0"/>
                <a:t>Reloj</a:t>
              </a:r>
            </a:p>
          </p:txBody>
        </p:sp>
        <p:sp>
          <p:nvSpPr>
            <p:cNvPr id="19" name="Text Box 10">
              <a:extLst>
                <a:ext uri="{FF2B5EF4-FFF2-40B4-BE49-F238E27FC236}">
                  <a16:creationId xmlns:a16="http://schemas.microsoft.com/office/drawing/2014/main" id="{2DE255D2-43E2-90AE-AFD4-94D3700E6F59}"/>
                </a:ext>
              </a:extLst>
            </p:cNvPr>
            <p:cNvSpPr txBox="1">
              <a:spLocks noChangeArrowheads="1"/>
            </p:cNvSpPr>
            <p:nvPr/>
          </p:nvSpPr>
          <p:spPr bwMode="auto">
            <a:xfrm>
              <a:off x="5302576" y="2556589"/>
              <a:ext cx="787074" cy="246221"/>
            </a:xfrm>
            <a:prstGeom prst="rect">
              <a:avLst/>
            </a:prstGeom>
            <a:noFill/>
            <a:ln w="19050">
              <a:noFill/>
              <a:miter lim="800000"/>
              <a:headEnd/>
              <a:tailEnd/>
            </a:ln>
          </p:spPr>
          <p:txBody>
            <a:bodyPr wrap="none" lIns="0" tIns="0" rIns="0" bIns="0" anchor="ctr">
              <a:spAutoFit/>
            </a:bodyPr>
            <a:lstStyle/>
            <a:p>
              <a:pPr algn="r"/>
              <a:r>
                <a:rPr lang="es-ES_tradnl" sz="1600" dirty="0"/>
                <a:t>Órdenes</a:t>
              </a:r>
            </a:p>
          </p:txBody>
        </p:sp>
        <p:sp>
          <p:nvSpPr>
            <p:cNvPr id="20" name="Text Box 11">
              <a:extLst>
                <a:ext uri="{FF2B5EF4-FFF2-40B4-BE49-F238E27FC236}">
                  <a16:creationId xmlns:a16="http://schemas.microsoft.com/office/drawing/2014/main" id="{75201B8D-9962-F5E4-88E5-612E0DBE9089}"/>
                </a:ext>
              </a:extLst>
            </p:cNvPr>
            <p:cNvSpPr txBox="1">
              <a:spLocks noChangeArrowheads="1"/>
            </p:cNvSpPr>
            <p:nvPr/>
          </p:nvSpPr>
          <p:spPr bwMode="auto">
            <a:xfrm>
              <a:off x="5439758" y="434174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dirección</a:t>
              </a:r>
            </a:p>
          </p:txBody>
        </p:sp>
        <p:sp>
          <p:nvSpPr>
            <p:cNvPr id="21" name="Line 13">
              <a:extLst>
                <a:ext uri="{FF2B5EF4-FFF2-40B4-BE49-F238E27FC236}">
                  <a16:creationId xmlns:a16="http://schemas.microsoft.com/office/drawing/2014/main" id="{5A7C4BA9-82BC-6572-2250-428282D4A43B}"/>
                </a:ext>
              </a:extLst>
            </p:cNvPr>
            <p:cNvSpPr>
              <a:spLocks noChangeShapeType="1"/>
            </p:cNvSpPr>
            <p:nvPr/>
          </p:nvSpPr>
          <p:spPr bwMode="auto">
            <a:xfrm>
              <a:off x="6445250" y="2420938"/>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22" name="Text Box 14">
              <a:extLst>
                <a:ext uri="{FF2B5EF4-FFF2-40B4-BE49-F238E27FC236}">
                  <a16:creationId xmlns:a16="http://schemas.microsoft.com/office/drawing/2014/main" id="{8C3D4BCC-A605-5404-E894-E63871CA966D}"/>
                </a:ext>
              </a:extLst>
            </p:cNvPr>
            <p:cNvSpPr txBox="1">
              <a:spLocks noChangeArrowheads="1"/>
            </p:cNvSpPr>
            <p:nvPr/>
          </p:nvSpPr>
          <p:spPr bwMode="auto">
            <a:xfrm>
              <a:off x="7127875" y="2206625"/>
              <a:ext cx="841375" cy="396875"/>
            </a:xfrm>
            <a:prstGeom prst="rect">
              <a:avLst/>
            </a:prstGeom>
            <a:noFill/>
            <a:ln w="19050">
              <a:noFill/>
              <a:miter lim="800000"/>
              <a:headEnd/>
              <a:tailEnd/>
            </a:ln>
          </p:spPr>
          <p:txBody>
            <a:bodyPr lIns="0" tIns="0" rIns="0" bIns="0" anchor="ctr"/>
            <a:lstStyle/>
            <a:p>
              <a:pPr algn="l"/>
              <a:r>
                <a:rPr lang="es-ES_tradnl" sz="1200" dirty="0"/>
                <a:t>RAS*</a:t>
              </a:r>
            </a:p>
          </p:txBody>
        </p:sp>
        <p:sp>
          <p:nvSpPr>
            <p:cNvPr id="23" name="Line 15">
              <a:extLst>
                <a:ext uri="{FF2B5EF4-FFF2-40B4-BE49-F238E27FC236}">
                  <a16:creationId xmlns:a16="http://schemas.microsoft.com/office/drawing/2014/main" id="{A2BDEFB1-F55F-854C-36AE-FDD04E53603F}"/>
                </a:ext>
              </a:extLst>
            </p:cNvPr>
            <p:cNvSpPr>
              <a:spLocks noChangeShapeType="1"/>
            </p:cNvSpPr>
            <p:nvPr/>
          </p:nvSpPr>
          <p:spPr bwMode="auto">
            <a:xfrm>
              <a:off x="6445250" y="45529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24" name="Text Box 16">
              <a:extLst>
                <a:ext uri="{FF2B5EF4-FFF2-40B4-BE49-F238E27FC236}">
                  <a16:creationId xmlns:a16="http://schemas.microsoft.com/office/drawing/2014/main" id="{936250F4-120D-79EB-5110-F82BBBCD7534}"/>
                </a:ext>
              </a:extLst>
            </p:cNvPr>
            <p:cNvSpPr txBox="1">
              <a:spLocks noChangeArrowheads="1"/>
            </p:cNvSpPr>
            <p:nvPr/>
          </p:nvSpPr>
          <p:spPr bwMode="auto">
            <a:xfrm>
              <a:off x="7127875" y="4354513"/>
              <a:ext cx="307975" cy="396875"/>
            </a:xfrm>
            <a:prstGeom prst="rect">
              <a:avLst/>
            </a:prstGeom>
            <a:noFill/>
            <a:ln w="19050">
              <a:noFill/>
              <a:miter lim="800000"/>
              <a:headEnd/>
              <a:tailEnd/>
            </a:ln>
          </p:spPr>
          <p:txBody>
            <a:bodyPr lIns="0" tIns="0" rIns="0" bIns="0" anchor="ctr"/>
            <a:lstStyle/>
            <a:p>
              <a:pPr algn="l"/>
              <a:r>
                <a:rPr lang="es-ES_tradnl" sz="1200"/>
                <a:t>A</a:t>
              </a:r>
              <a:r>
                <a:rPr lang="es-ES_tradnl" sz="1200" b="1" baseline="-25000"/>
                <a:t>i</a:t>
              </a:r>
              <a:endParaRPr lang="es-ES_tradnl" sz="1200"/>
            </a:p>
          </p:txBody>
        </p:sp>
        <p:sp>
          <p:nvSpPr>
            <p:cNvPr id="25" name="Line 17">
              <a:extLst>
                <a:ext uri="{FF2B5EF4-FFF2-40B4-BE49-F238E27FC236}">
                  <a16:creationId xmlns:a16="http://schemas.microsoft.com/office/drawing/2014/main" id="{320A0A6C-AD62-2659-BA47-62511383FAC7}"/>
                </a:ext>
              </a:extLst>
            </p:cNvPr>
            <p:cNvSpPr>
              <a:spLocks noChangeShapeType="1"/>
            </p:cNvSpPr>
            <p:nvPr/>
          </p:nvSpPr>
          <p:spPr bwMode="auto">
            <a:xfrm>
              <a:off x="6445250" y="2708275"/>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26" name="Text Box 18">
              <a:extLst>
                <a:ext uri="{FF2B5EF4-FFF2-40B4-BE49-F238E27FC236}">
                  <a16:creationId xmlns:a16="http://schemas.microsoft.com/office/drawing/2014/main" id="{F1F447C2-A3F1-3F67-CC5E-26F98B28BE9A}"/>
                </a:ext>
              </a:extLst>
            </p:cNvPr>
            <p:cNvSpPr txBox="1">
              <a:spLocks noChangeArrowheads="1"/>
            </p:cNvSpPr>
            <p:nvPr/>
          </p:nvSpPr>
          <p:spPr bwMode="auto">
            <a:xfrm>
              <a:off x="7127875" y="2511425"/>
              <a:ext cx="841375" cy="396875"/>
            </a:xfrm>
            <a:prstGeom prst="rect">
              <a:avLst/>
            </a:prstGeom>
            <a:noFill/>
            <a:ln w="19050">
              <a:noFill/>
              <a:miter lim="800000"/>
              <a:headEnd/>
              <a:tailEnd/>
            </a:ln>
          </p:spPr>
          <p:txBody>
            <a:bodyPr lIns="0" tIns="0" rIns="0" bIns="0" anchor="ctr"/>
            <a:lstStyle/>
            <a:p>
              <a:pPr algn="l"/>
              <a:r>
                <a:rPr lang="es-ES_tradnl" sz="1200" dirty="0"/>
                <a:t>CAS</a:t>
              </a:r>
              <a:endParaRPr lang="es-ES_tradnl" dirty="0"/>
            </a:p>
          </p:txBody>
        </p:sp>
        <p:sp>
          <p:nvSpPr>
            <p:cNvPr id="27" name="Line 19">
              <a:extLst>
                <a:ext uri="{FF2B5EF4-FFF2-40B4-BE49-F238E27FC236}">
                  <a16:creationId xmlns:a16="http://schemas.microsoft.com/office/drawing/2014/main" id="{147FB397-7AE7-937D-D15A-994CA7BE9EEA}"/>
                </a:ext>
              </a:extLst>
            </p:cNvPr>
            <p:cNvSpPr>
              <a:spLocks noChangeShapeType="1"/>
            </p:cNvSpPr>
            <p:nvPr/>
          </p:nvSpPr>
          <p:spPr bwMode="auto">
            <a:xfrm>
              <a:off x="6445250" y="35623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28" name="Text Box 20">
              <a:extLst>
                <a:ext uri="{FF2B5EF4-FFF2-40B4-BE49-F238E27FC236}">
                  <a16:creationId xmlns:a16="http://schemas.microsoft.com/office/drawing/2014/main" id="{ACF1207E-CE98-4474-8174-415001AAFB56}"/>
                </a:ext>
              </a:extLst>
            </p:cNvPr>
            <p:cNvSpPr txBox="1">
              <a:spLocks noChangeArrowheads="1"/>
            </p:cNvSpPr>
            <p:nvPr/>
          </p:nvSpPr>
          <p:spPr bwMode="auto">
            <a:xfrm>
              <a:off x="7127875" y="2816225"/>
              <a:ext cx="841375" cy="396875"/>
            </a:xfrm>
            <a:prstGeom prst="rect">
              <a:avLst/>
            </a:prstGeom>
            <a:noFill/>
            <a:ln w="19050">
              <a:noFill/>
              <a:miter lim="800000"/>
              <a:headEnd/>
              <a:tailEnd/>
            </a:ln>
          </p:spPr>
          <p:txBody>
            <a:bodyPr lIns="0" tIns="0" rIns="0" bIns="0" anchor="ctr"/>
            <a:lstStyle/>
            <a:p>
              <a:pPr algn="l"/>
              <a:r>
                <a:rPr lang="es-ES_tradnl" sz="1200" dirty="0"/>
                <a:t>WE*</a:t>
              </a:r>
            </a:p>
          </p:txBody>
        </p:sp>
        <p:sp>
          <p:nvSpPr>
            <p:cNvPr id="29" name="AutoShape 22">
              <a:extLst>
                <a:ext uri="{FF2B5EF4-FFF2-40B4-BE49-F238E27FC236}">
                  <a16:creationId xmlns:a16="http://schemas.microsoft.com/office/drawing/2014/main" id="{639EE9EE-D1E7-7A41-F186-5CCC73E1E3BC}"/>
                </a:ext>
              </a:extLst>
            </p:cNvPr>
            <p:cNvSpPr>
              <a:spLocks/>
            </p:cNvSpPr>
            <p:nvPr/>
          </p:nvSpPr>
          <p:spPr bwMode="auto">
            <a:xfrm>
              <a:off x="6197600" y="2298700"/>
              <a:ext cx="174625" cy="838200"/>
            </a:xfrm>
            <a:prstGeom prst="leftBrace">
              <a:avLst>
                <a:gd name="adj1" fmla="val 40000"/>
                <a:gd name="adj2" fmla="val 50000"/>
              </a:avLst>
            </a:prstGeom>
            <a:noFill/>
            <a:ln w="12700">
              <a:solidFill>
                <a:schemeClr val="tx1"/>
              </a:solidFill>
              <a:round/>
              <a:headEnd/>
              <a:tailEnd/>
            </a:ln>
          </p:spPr>
          <p:txBody>
            <a:bodyPr wrap="none" lIns="0" tIns="0" rIns="0" bIns="0" anchor="ctr"/>
            <a:lstStyle/>
            <a:p>
              <a:endParaRPr lang="es-ES"/>
            </a:p>
          </p:txBody>
        </p:sp>
        <p:grpSp>
          <p:nvGrpSpPr>
            <p:cNvPr id="30" name="Group 25">
              <a:extLst>
                <a:ext uri="{FF2B5EF4-FFF2-40B4-BE49-F238E27FC236}">
                  <a16:creationId xmlns:a16="http://schemas.microsoft.com/office/drawing/2014/main" id="{5B1BD391-C138-4FBF-0CB0-7D14DA4BA9E7}"/>
                </a:ext>
              </a:extLst>
            </p:cNvPr>
            <p:cNvGrpSpPr>
              <a:grpSpLocks/>
            </p:cNvGrpSpPr>
            <p:nvPr/>
          </p:nvGrpSpPr>
          <p:grpSpPr bwMode="auto">
            <a:xfrm>
              <a:off x="7969250" y="4078288"/>
              <a:ext cx="490538" cy="863600"/>
              <a:chOff x="2208" y="2928"/>
              <a:chExt cx="720" cy="768"/>
            </a:xfrm>
          </p:grpSpPr>
          <p:sp>
            <p:nvSpPr>
              <p:cNvPr id="57" name="Freeform 23">
                <a:extLst>
                  <a:ext uri="{FF2B5EF4-FFF2-40B4-BE49-F238E27FC236}">
                    <a16:creationId xmlns:a16="http://schemas.microsoft.com/office/drawing/2014/main" id="{FA75178C-3E73-246A-35C5-4F0E480510B0}"/>
                  </a:ext>
                </a:extLst>
              </p:cNvPr>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p>
            </p:txBody>
          </p:sp>
          <p:sp>
            <p:nvSpPr>
              <p:cNvPr id="58" name="Freeform 24">
                <a:extLst>
                  <a:ext uri="{FF2B5EF4-FFF2-40B4-BE49-F238E27FC236}">
                    <a16:creationId xmlns:a16="http://schemas.microsoft.com/office/drawing/2014/main" id="{36D673DB-5EC1-53A3-A174-DD9168D97452}"/>
                  </a:ext>
                </a:extLst>
              </p:cNvPr>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p>
            </p:txBody>
          </p:sp>
        </p:grpSp>
        <p:sp>
          <p:nvSpPr>
            <p:cNvPr id="31" name="Text Box 26">
              <a:extLst>
                <a:ext uri="{FF2B5EF4-FFF2-40B4-BE49-F238E27FC236}">
                  <a16:creationId xmlns:a16="http://schemas.microsoft.com/office/drawing/2014/main" id="{D1C7D7C2-930F-EE84-5AFF-11A254FC2B17}"/>
                </a:ext>
              </a:extLst>
            </p:cNvPr>
            <p:cNvSpPr txBox="1">
              <a:spLocks noChangeArrowheads="1"/>
            </p:cNvSpPr>
            <p:nvPr/>
          </p:nvSpPr>
          <p:spPr bwMode="auto">
            <a:xfrm>
              <a:off x="5439758" y="589756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entrada</a:t>
              </a:r>
              <a:br>
                <a:rPr lang="es-ES_tradnl" sz="1600" dirty="0"/>
              </a:br>
              <a:r>
                <a:rPr lang="es-ES_tradnl" sz="1600" dirty="0"/>
                <a:t>salida</a:t>
              </a:r>
              <a:br>
                <a:rPr lang="es-ES_tradnl" sz="1600" dirty="0"/>
              </a:br>
              <a:r>
                <a:rPr lang="es-ES_tradnl" sz="1600" dirty="0"/>
                <a:t>de datos</a:t>
              </a:r>
            </a:p>
          </p:txBody>
        </p:sp>
        <p:sp>
          <p:nvSpPr>
            <p:cNvPr id="32" name="Line 27">
              <a:extLst>
                <a:ext uri="{FF2B5EF4-FFF2-40B4-BE49-F238E27FC236}">
                  <a16:creationId xmlns:a16="http://schemas.microsoft.com/office/drawing/2014/main" id="{04062E15-4D27-095B-09DE-9D68CDACF19C}"/>
                </a:ext>
              </a:extLst>
            </p:cNvPr>
            <p:cNvSpPr>
              <a:spLocks noChangeShapeType="1"/>
            </p:cNvSpPr>
            <p:nvPr/>
          </p:nvSpPr>
          <p:spPr bwMode="auto">
            <a:xfrm>
              <a:off x="6445250" y="6096000"/>
              <a:ext cx="609600" cy="0"/>
            </a:xfrm>
            <a:prstGeom prst="line">
              <a:avLst/>
            </a:prstGeom>
            <a:noFill/>
            <a:ln w="19050">
              <a:solidFill>
                <a:schemeClr val="tx1"/>
              </a:solidFill>
              <a:round/>
              <a:headEnd type="triangle" w="med" len="med"/>
              <a:tailEnd type="triangle" w="med" len="med"/>
            </a:ln>
          </p:spPr>
          <p:txBody>
            <a:bodyPr anchor="ctr">
              <a:spAutoFit/>
            </a:bodyPr>
            <a:lstStyle/>
            <a:p>
              <a:endParaRPr lang="es-ES"/>
            </a:p>
          </p:txBody>
        </p:sp>
        <p:sp>
          <p:nvSpPr>
            <p:cNvPr id="33" name="Text Box 28">
              <a:extLst>
                <a:ext uri="{FF2B5EF4-FFF2-40B4-BE49-F238E27FC236}">
                  <a16:creationId xmlns:a16="http://schemas.microsoft.com/office/drawing/2014/main" id="{97669B37-9390-9188-DD0E-BDB92695A93E}"/>
                </a:ext>
              </a:extLst>
            </p:cNvPr>
            <p:cNvSpPr txBox="1">
              <a:spLocks noChangeArrowheads="1"/>
            </p:cNvSpPr>
            <p:nvPr/>
          </p:nvSpPr>
          <p:spPr bwMode="auto">
            <a:xfrm>
              <a:off x="7127875" y="5943600"/>
              <a:ext cx="307975" cy="396875"/>
            </a:xfrm>
            <a:prstGeom prst="rect">
              <a:avLst/>
            </a:prstGeom>
            <a:noFill/>
            <a:ln w="19050">
              <a:noFill/>
              <a:miter lim="800000"/>
              <a:headEnd/>
              <a:tailEnd/>
            </a:ln>
          </p:spPr>
          <p:txBody>
            <a:bodyPr lIns="0" tIns="0" rIns="0" bIns="0" anchor="ctr"/>
            <a:lstStyle/>
            <a:p>
              <a:pPr algn="l"/>
              <a:r>
                <a:rPr lang="es-ES_tradnl" sz="1200"/>
                <a:t>D</a:t>
              </a:r>
              <a:r>
                <a:rPr lang="es-ES_tradnl" sz="1200" b="1" baseline="-25000"/>
                <a:t>i</a:t>
              </a:r>
              <a:endParaRPr lang="es-ES_tradnl" sz="1200"/>
            </a:p>
          </p:txBody>
        </p:sp>
        <p:sp>
          <p:nvSpPr>
            <p:cNvPr id="34" name="Text Box 29">
              <a:extLst>
                <a:ext uri="{FF2B5EF4-FFF2-40B4-BE49-F238E27FC236}">
                  <a16:creationId xmlns:a16="http://schemas.microsoft.com/office/drawing/2014/main" id="{C4963DA3-D4B6-5D13-EE42-C71C1F67FC40}"/>
                </a:ext>
              </a:extLst>
            </p:cNvPr>
            <p:cNvSpPr txBox="1">
              <a:spLocks noChangeArrowheads="1"/>
            </p:cNvSpPr>
            <p:nvPr/>
          </p:nvSpPr>
          <p:spPr bwMode="auto">
            <a:xfrm>
              <a:off x="5377815" y="1694577"/>
              <a:ext cx="886460" cy="246221"/>
            </a:xfrm>
            <a:prstGeom prst="rect">
              <a:avLst/>
            </a:prstGeom>
            <a:noFill/>
            <a:ln w="19050">
              <a:noFill/>
              <a:miter lim="800000"/>
              <a:headEnd/>
              <a:tailEnd/>
            </a:ln>
          </p:spPr>
          <p:txBody>
            <a:bodyPr wrap="none" lIns="0" tIns="0" rIns="0" bIns="0" anchor="ctr">
              <a:spAutoFit/>
            </a:bodyPr>
            <a:lstStyle/>
            <a:p>
              <a:pPr algn="r"/>
              <a:r>
                <a:rPr lang="es-ES_tradnl" sz="1600" dirty="0"/>
                <a:t>Selecci</a:t>
              </a:r>
              <a:r>
                <a:rPr lang="es-ES_tradnl" altLang="ja-JP" sz="1600" dirty="0">
                  <a:ea typeface="Geneva" pitchFamily="1" charset="-128"/>
                </a:rPr>
                <a:t>ón</a:t>
              </a:r>
              <a:endParaRPr lang="es-ES_tradnl" sz="1600" dirty="0"/>
            </a:p>
          </p:txBody>
        </p:sp>
        <p:sp>
          <p:nvSpPr>
            <p:cNvPr id="35" name="Rectangle 32">
              <a:extLst>
                <a:ext uri="{FF2B5EF4-FFF2-40B4-BE49-F238E27FC236}">
                  <a16:creationId xmlns:a16="http://schemas.microsoft.com/office/drawing/2014/main" id="{A0B6EE65-3D87-6CA1-5DC6-C2A86FC4F4DF}"/>
                </a:ext>
              </a:extLst>
            </p:cNvPr>
            <p:cNvSpPr>
              <a:spLocks noChangeArrowheads="1"/>
            </p:cNvSpPr>
            <p:nvPr/>
          </p:nvSpPr>
          <p:spPr bwMode="blackWhite">
            <a:xfrm rot="10800000">
              <a:off x="8459788" y="3633788"/>
              <a:ext cx="287337" cy="874712"/>
            </a:xfrm>
            <a:prstGeom prst="rect">
              <a:avLst/>
            </a:prstGeom>
            <a:solidFill>
              <a:srgbClr val="FF8000"/>
            </a:solidFill>
            <a:ln w="12700">
              <a:solidFill>
                <a:schemeClr val="accent5">
                  <a:lumMod val="75000"/>
                </a:schemeClr>
              </a:solidFill>
              <a:miter lim="800000"/>
              <a:headEnd/>
              <a:tailEnd/>
            </a:ln>
          </p:spPr>
          <p:txBody>
            <a:bodyPr vert="eaVert" lIns="0" tIns="0" rIns="0" bIns="0" anchor="ctr"/>
            <a:lstStyle/>
            <a:p>
              <a:r>
                <a:rPr lang="es-ES" sz="1600" dirty="0"/>
                <a:t>Fila</a:t>
              </a:r>
            </a:p>
          </p:txBody>
        </p:sp>
        <p:sp>
          <p:nvSpPr>
            <p:cNvPr id="36" name="Rectangle 42">
              <a:extLst>
                <a:ext uri="{FF2B5EF4-FFF2-40B4-BE49-F238E27FC236}">
                  <a16:creationId xmlns:a16="http://schemas.microsoft.com/office/drawing/2014/main" id="{2E0C569B-E645-735B-2F35-CB9F5A69A605}"/>
                </a:ext>
              </a:extLst>
            </p:cNvPr>
            <p:cNvSpPr>
              <a:spLocks noChangeArrowheads="1"/>
            </p:cNvSpPr>
            <p:nvPr/>
          </p:nvSpPr>
          <p:spPr bwMode="blackWhite">
            <a:xfrm rot="10800000">
              <a:off x="8459788" y="4510088"/>
              <a:ext cx="287337" cy="919162"/>
            </a:xfrm>
            <a:prstGeom prst="rect">
              <a:avLst/>
            </a:prstGeom>
            <a:solidFill>
              <a:srgbClr val="99FF66"/>
            </a:solidFill>
            <a:ln w="12700">
              <a:solidFill>
                <a:schemeClr val="accent5">
                  <a:lumMod val="75000"/>
                </a:schemeClr>
              </a:solidFill>
              <a:miter lim="800000"/>
              <a:headEnd/>
              <a:tailEnd/>
            </a:ln>
          </p:spPr>
          <p:txBody>
            <a:bodyPr vert="eaVert" lIns="0" tIns="0" rIns="0" bIns="0" anchor="ctr"/>
            <a:lstStyle/>
            <a:p>
              <a:r>
                <a:rPr lang="es-ES" sz="1600" dirty="0">
                  <a:latin typeface="Arial Narrow" pitchFamily="34" charset="0"/>
                </a:rPr>
                <a:t>Columna</a:t>
              </a:r>
            </a:p>
          </p:txBody>
        </p:sp>
        <p:sp>
          <p:nvSpPr>
            <p:cNvPr id="37" name="Text Box 43">
              <a:extLst>
                <a:ext uri="{FF2B5EF4-FFF2-40B4-BE49-F238E27FC236}">
                  <a16:creationId xmlns:a16="http://schemas.microsoft.com/office/drawing/2014/main" id="{53F5A1EE-5281-5330-C9FB-3C671C0A5AD1}"/>
                </a:ext>
              </a:extLst>
            </p:cNvPr>
            <p:cNvSpPr txBox="1">
              <a:spLocks noChangeArrowheads="1"/>
            </p:cNvSpPr>
            <p:nvPr/>
          </p:nvSpPr>
          <p:spPr bwMode="auto">
            <a:xfrm>
              <a:off x="7127875" y="3392488"/>
              <a:ext cx="496888" cy="396875"/>
            </a:xfrm>
            <a:prstGeom prst="rect">
              <a:avLst/>
            </a:prstGeom>
            <a:noFill/>
            <a:ln w="19050">
              <a:noFill/>
              <a:miter lim="800000"/>
              <a:headEnd/>
              <a:tailEnd/>
            </a:ln>
          </p:spPr>
          <p:txBody>
            <a:bodyPr lIns="0" tIns="0" rIns="0" bIns="0" anchor="ctr"/>
            <a:lstStyle/>
            <a:p>
              <a:pPr algn="l"/>
              <a:r>
                <a:rPr lang="es-ES_tradnl" sz="1200"/>
                <a:t>BA</a:t>
              </a:r>
              <a:r>
                <a:rPr lang="es-ES_tradnl" sz="1200" b="1" baseline="-25000"/>
                <a:t>i</a:t>
              </a:r>
              <a:endParaRPr lang="es-ES_tradnl" sz="1200"/>
            </a:p>
          </p:txBody>
        </p:sp>
        <p:sp>
          <p:nvSpPr>
            <p:cNvPr id="38" name="Text Box 44">
              <a:extLst>
                <a:ext uri="{FF2B5EF4-FFF2-40B4-BE49-F238E27FC236}">
                  <a16:creationId xmlns:a16="http://schemas.microsoft.com/office/drawing/2014/main" id="{D79F6EE5-782E-6433-609B-E2B26AC9C1FC}"/>
                </a:ext>
              </a:extLst>
            </p:cNvPr>
            <p:cNvSpPr txBox="1">
              <a:spLocks noChangeArrowheads="1"/>
            </p:cNvSpPr>
            <p:nvPr/>
          </p:nvSpPr>
          <p:spPr bwMode="auto">
            <a:xfrm>
              <a:off x="5651500" y="3357563"/>
              <a:ext cx="641350" cy="396875"/>
            </a:xfrm>
            <a:prstGeom prst="rect">
              <a:avLst/>
            </a:prstGeom>
            <a:noFill/>
            <a:ln w="19050">
              <a:noFill/>
              <a:miter lim="800000"/>
              <a:headEnd/>
              <a:tailEnd/>
            </a:ln>
          </p:spPr>
          <p:txBody>
            <a:bodyPr wrap="none" lIns="0" tIns="0" rIns="0" bIns="0" anchor="ctr"/>
            <a:lstStyle/>
            <a:p>
              <a:pPr algn="r">
                <a:lnSpc>
                  <a:spcPct val="80000"/>
                </a:lnSpc>
              </a:pPr>
              <a:r>
                <a:rPr lang="es-ES_tradnl" sz="1600" dirty="0"/>
                <a:t>banco</a:t>
              </a:r>
            </a:p>
          </p:txBody>
        </p:sp>
        <p:sp>
          <p:nvSpPr>
            <p:cNvPr id="39" name="Line 45">
              <a:extLst>
                <a:ext uri="{FF2B5EF4-FFF2-40B4-BE49-F238E27FC236}">
                  <a16:creationId xmlns:a16="http://schemas.microsoft.com/office/drawing/2014/main" id="{AAE60F18-75FF-54A1-16C7-EEE9F73BBE94}"/>
                </a:ext>
              </a:extLst>
            </p:cNvPr>
            <p:cNvSpPr>
              <a:spLocks noChangeShapeType="1"/>
            </p:cNvSpPr>
            <p:nvPr/>
          </p:nvSpPr>
          <p:spPr bwMode="auto">
            <a:xfrm>
              <a:off x="6443663" y="299720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40" name="Line 46">
              <a:extLst>
                <a:ext uri="{FF2B5EF4-FFF2-40B4-BE49-F238E27FC236}">
                  <a16:creationId xmlns:a16="http://schemas.microsoft.com/office/drawing/2014/main" id="{45B0A815-7546-E13E-A605-E3DC5D26B4B8}"/>
                </a:ext>
              </a:extLst>
            </p:cNvPr>
            <p:cNvSpPr>
              <a:spLocks noChangeShapeType="1"/>
            </p:cNvSpPr>
            <p:nvPr/>
          </p:nvSpPr>
          <p:spPr bwMode="auto">
            <a:xfrm>
              <a:off x="7969250" y="1436688"/>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41" name="Line 47">
              <a:extLst>
                <a:ext uri="{FF2B5EF4-FFF2-40B4-BE49-F238E27FC236}">
                  <a16:creationId xmlns:a16="http://schemas.microsoft.com/office/drawing/2014/main" id="{91FC418C-6F84-6C2B-6CF1-47CBFF8FEA7D}"/>
                </a:ext>
              </a:extLst>
            </p:cNvPr>
            <p:cNvSpPr>
              <a:spLocks noChangeShapeType="1"/>
            </p:cNvSpPr>
            <p:nvPr/>
          </p:nvSpPr>
          <p:spPr bwMode="auto">
            <a:xfrm>
              <a:off x="7969250" y="1844675"/>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42" name="Line 48">
              <a:extLst>
                <a:ext uri="{FF2B5EF4-FFF2-40B4-BE49-F238E27FC236}">
                  <a16:creationId xmlns:a16="http://schemas.microsoft.com/office/drawing/2014/main" id="{477C368D-D076-34B3-AE49-E72393A232E6}"/>
                </a:ext>
              </a:extLst>
            </p:cNvPr>
            <p:cNvSpPr>
              <a:spLocks noChangeShapeType="1"/>
            </p:cNvSpPr>
            <p:nvPr/>
          </p:nvSpPr>
          <p:spPr bwMode="auto">
            <a:xfrm>
              <a:off x="7969250" y="2420938"/>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43" name="Line 49">
              <a:extLst>
                <a:ext uri="{FF2B5EF4-FFF2-40B4-BE49-F238E27FC236}">
                  <a16:creationId xmlns:a16="http://schemas.microsoft.com/office/drawing/2014/main" id="{D86AB205-D209-36A6-0C2D-718D17FB09A7}"/>
                </a:ext>
              </a:extLst>
            </p:cNvPr>
            <p:cNvSpPr>
              <a:spLocks noChangeShapeType="1"/>
            </p:cNvSpPr>
            <p:nvPr/>
          </p:nvSpPr>
          <p:spPr bwMode="auto">
            <a:xfrm>
              <a:off x="7969250" y="2708275"/>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44" name="Line 50">
              <a:extLst>
                <a:ext uri="{FF2B5EF4-FFF2-40B4-BE49-F238E27FC236}">
                  <a16:creationId xmlns:a16="http://schemas.microsoft.com/office/drawing/2014/main" id="{0778BD47-D4D9-154B-CF84-53FD9EDEE043}"/>
                </a:ext>
              </a:extLst>
            </p:cNvPr>
            <p:cNvSpPr>
              <a:spLocks noChangeShapeType="1"/>
            </p:cNvSpPr>
            <p:nvPr/>
          </p:nvSpPr>
          <p:spPr bwMode="auto">
            <a:xfrm>
              <a:off x="7969250" y="2995613"/>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45" name="Rectangle 51">
              <a:extLst>
                <a:ext uri="{FF2B5EF4-FFF2-40B4-BE49-F238E27FC236}">
                  <a16:creationId xmlns:a16="http://schemas.microsoft.com/office/drawing/2014/main" id="{EB204B1C-7D21-E527-F97B-37A9A09B345D}"/>
                </a:ext>
              </a:extLst>
            </p:cNvPr>
            <p:cNvSpPr>
              <a:spLocks noChangeArrowheads="1"/>
            </p:cNvSpPr>
            <p:nvPr/>
          </p:nvSpPr>
          <p:spPr bwMode="auto">
            <a:xfrm rot="10800000">
              <a:off x="8243888" y="1196975"/>
              <a:ext cx="360362" cy="2016125"/>
            </a:xfrm>
            <a:prstGeom prst="rect">
              <a:avLst/>
            </a:prstGeom>
            <a:noFill/>
            <a:ln w="19050">
              <a:solidFill>
                <a:schemeClr val="tx1"/>
              </a:solidFill>
              <a:prstDash val="dash"/>
              <a:miter lim="800000"/>
              <a:headEnd/>
              <a:tailEnd/>
            </a:ln>
          </p:spPr>
          <p:txBody>
            <a:bodyPr vert="eaVert" wrap="none" lIns="0" tIns="0" rIns="0" bIns="0" anchor="ctr"/>
            <a:lstStyle/>
            <a:p>
              <a:r>
                <a:rPr lang="es-ES_tradnl"/>
                <a:t>Control</a:t>
              </a:r>
              <a:endParaRPr lang="es-ES"/>
            </a:p>
          </p:txBody>
        </p:sp>
        <p:sp>
          <p:nvSpPr>
            <p:cNvPr id="46" name="Line 53">
              <a:extLst>
                <a:ext uri="{FF2B5EF4-FFF2-40B4-BE49-F238E27FC236}">
                  <a16:creationId xmlns:a16="http://schemas.microsoft.com/office/drawing/2014/main" id="{BBA15DEB-DC64-7E61-313B-20BB11CE0530}"/>
                </a:ext>
              </a:extLst>
            </p:cNvPr>
            <p:cNvSpPr>
              <a:spLocks noChangeShapeType="1"/>
            </p:cNvSpPr>
            <p:nvPr/>
          </p:nvSpPr>
          <p:spPr bwMode="auto">
            <a:xfrm>
              <a:off x="7969250" y="3573463"/>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grpSp>
          <p:nvGrpSpPr>
            <p:cNvPr id="47" name="Group 55">
              <a:extLst>
                <a:ext uri="{FF2B5EF4-FFF2-40B4-BE49-F238E27FC236}">
                  <a16:creationId xmlns:a16="http://schemas.microsoft.com/office/drawing/2014/main" id="{157D0766-3096-6FBD-E9A9-FAF4B59B0534}"/>
                </a:ext>
              </a:extLst>
            </p:cNvPr>
            <p:cNvGrpSpPr>
              <a:grpSpLocks/>
            </p:cNvGrpSpPr>
            <p:nvPr/>
          </p:nvGrpSpPr>
          <p:grpSpPr bwMode="auto">
            <a:xfrm>
              <a:off x="7969250" y="5867400"/>
              <a:ext cx="490538" cy="449263"/>
              <a:chOff x="2208" y="2928"/>
              <a:chExt cx="720" cy="768"/>
            </a:xfrm>
          </p:grpSpPr>
          <p:sp>
            <p:nvSpPr>
              <p:cNvPr id="55" name="Freeform 56">
                <a:extLst>
                  <a:ext uri="{FF2B5EF4-FFF2-40B4-BE49-F238E27FC236}">
                    <a16:creationId xmlns:a16="http://schemas.microsoft.com/office/drawing/2014/main" id="{13A73A16-DEBB-F672-9820-4820FA6C35EB}"/>
                  </a:ext>
                </a:extLst>
              </p:cNvPr>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p>
            </p:txBody>
          </p:sp>
          <p:sp>
            <p:nvSpPr>
              <p:cNvPr id="56" name="Freeform 57">
                <a:extLst>
                  <a:ext uri="{FF2B5EF4-FFF2-40B4-BE49-F238E27FC236}">
                    <a16:creationId xmlns:a16="http://schemas.microsoft.com/office/drawing/2014/main" id="{ADE88655-3D8E-2027-BB3C-933FB1F67952}"/>
                  </a:ext>
                </a:extLst>
              </p:cNvPr>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p>
            </p:txBody>
          </p:sp>
        </p:grpSp>
        <p:sp>
          <p:nvSpPr>
            <p:cNvPr id="50" name="Text Box 58">
              <a:extLst>
                <a:ext uri="{FF2B5EF4-FFF2-40B4-BE49-F238E27FC236}">
                  <a16:creationId xmlns:a16="http://schemas.microsoft.com/office/drawing/2014/main" id="{30C70A5E-AFF9-87BC-97CC-4D210367F1AF}"/>
                </a:ext>
              </a:extLst>
            </p:cNvPr>
            <p:cNvSpPr txBox="1">
              <a:spLocks noChangeArrowheads="1"/>
            </p:cNvSpPr>
            <p:nvPr/>
          </p:nvSpPr>
          <p:spPr bwMode="auto">
            <a:xfrm>
              <a:off x="8454492" y="5863427"/>
              <a:ext cx="602729" cy="492443"/>
            </a:xfrm>
            <a:prstGeom prst="rect">
              <a:avLst/>
            </a:prstGeom>
            <a:noFill/>
            <a:ln w="19050">
              <a:noFill/>
              <a:miter lim="800000"/>
              <a:headEnd/>
              <a:tailEnd/>
            </a:ln>
          </p:spPr>
          <p:txBody>
            <a:bodyPr wrap="none" lIns="0" tIns="0" rIns="0" bIns="0" anchor="ctr">
              <a:spAutoFit/>
            </a:bodyPr>
            <a:lstStyle/>
            <a:p>
              <a:r>
                <a:rPr lang="es-ES_tradnl" sz="1600" dirty="0"/>
                <a:t>L</a:t>
              </a:r>
              <a:r>
                <a:rPr lang="es-ES_tradnl" altLang="ja-JP" sz="1600" dirty="0">
                  <a:ea typeface="Geneva" pitchFamily="1" charset="-128"/>
                </a:rPr>
                <a:t>ógica</a:t>
              </a:r>
              <a:br>
                <a:rPr lang="es-ES_tradnl" altLang="ja-JP" sz="1600" dirty="0">
                  <a:ea typeface="Geneva" pitchFamily="1" charset="-128"/>
                </a:rPr>
              </a:br>
              <a:r>
                <a:rPr lang="es-ES_tradnl" altLang="ja-JP" sz="1600" dirty="0">
                  <a:ea typeface="Geneva" pitchFamily="1" charset="-128"/>
                </a:rPr>
                <a:t>E/S</a:t>
              </a:r>
              <a:endParaRPr lang="es-ES_tradnl" sz="1600" dirty="0"/>
            </a:p>
          </p:txBody>
        </p:sp>
        <p:sp>
          <p:nvSpPr>
            <p:cNvPr id="51" name="Text Box 59">
              <a:extLst>
                <a:ext uri="{FF2B5EF4-FFF2-40B4-BE49-F238E27FC236}">
                  <a16:creationId xmlns:a16="http://schemas.microsoft.com/office/drawing/2014/main" id="{3FFBDCD9-42AA-676C-C884-E667CD3049EE}"/>
                </a:ext>
              </a:extLst>
            </p:cNvPr>
            <p:cNvSpPr txBox="1">
              <a:spLocks noChangeArrowheads="1"/>
            </p:cNvSpPr>
            <p:nvPr/>
          </p:nvSpPr>
          <p:spPr bwMode="auto">
            <a:xfrm>
              <a:off x="5477681" y="5226050"/>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m</a:t>
              </a:r>
              <a:r>
                <a:rPr lang="es-ES_tradnl" altLang="ja-JP" sz="1600" dirty="0">
                  <a:ea typeface="Geneva" pitchFamily="1" charset="-128"/>
                </a:rPr>
                <a:t>áscara</a:t>
              </a:r>
              <a:br>
                <a:rPr lang="es-ES_tradnl" altLang="ja-JP" sz="1600" dirty="0">
                  <a:ea typeface="Geneva" pitchFamily="1" charset="-128"/>
                </a:rPr>
              </a:br>
              <a:r>
                <a:rPr lang="es-ES_tradnl" altLang="ja-JP" sz="1600" dirty="0">
                  <a:ea typeface="Geneva" pitchFamily="1" charset="-128"/>
                </a:rPr>
                <a:t>de datos</a:t>
              </a:r>
              <a:endParaRPr lang="es-ES_tradnl" sz="1600" dirty="0"/>
            </a:p>
          </p:txBody>
        </p:sp>
        <p:sp>
          <p:nvSpPr>
            <p:cNvPr id="52" name="Line 60">
              <a:extLst>
                <a:ext uri="{FF2B5EF4-FFF2-40B4-BE49-F238E27FC236}">
                  <a16:creationId xmlns:a16="http://schemas.microsoft.com/office/drawing/2014/main" id="{4BC42198-AAC5-DF1A-8BEC-1F8E5F44B27A}"/>
                </a:ext>
              </a:extLst>
            </p:cNvPr>
            <p:cNvSpPr>
              <a:spLocks noChangeShapeType="1"/>
            </p:cNvSpPr>
            <p:nvPr/>
          </p:nvSpPr>
          <p:spPr bwMode="auto">
            <a:xfrm>
              <a:off x="6445250" y="548640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53" name="Text Box 61">
              <a:extLst>
                <a:ext uri="{FF2B5EF4-FFF2-40B4-BE49-F238E27FC236}">
                  <a16:creationId xmlns:a16="http://schemas.microsoft.com/office/drawing/2014/main" id="{B5B8AE4C-F065-8B2A-7386-01D2EA0F36CD}"/>
                </a:ext>
              </a:extLst>
            </p:cNvPr>
            <p:cNvSpPr txBox="1">
              <a:spLocks noChangeArrowheads="1"/>
            </p:cNvSpPr>
            <p:nvPr/>
          </p:nvSpPr>
          <p:spPr bwMode="auto">
            <a:xfrm>
              <a:off x="7127875" y="5318125"/>
              <a:ext cx="720725" cy="396875"/>
            </a:xfrm>
            <a:prstGeom prst="rect">
              <a:avLst/>
            </a:prstGeom>
            <a:noFill/>
            <a:ln w="19050">
              <a:noFill/>
              <a:miter lim="800000"/>
              <a:headEnd/>
              <a:tailEnd/>
            </a:ln>
          </p:spPr>
          <p:txBody>
            <a:bodyPr lIns="0" tIns="0" rIns="0" bIns="0" anchor="ctr"/>
            <a:lstStyle/>
            <a:p>
              <a:pPr algn="l"/>
              <a:r>
                <a:rPr lang="es-ES_tradnl" sz="1200" dirty="0"/>
                <a:t>DQM</a:t>
              </a:r>
            </a:p>
          </p:txBody>
        </p:sp>
        <p:sp>
          <p:nvSpPr>
            <p:cNvPr id="54" name="Line 62">
              <a:extLst>
                <a:ext uri="{FF2B5EF4-FFF2-40B4-BE49-F238E27FC236}">
                  <a16:creationId xmlns:a16="http://schemas.microsoft.com/office/drawing/2014/main" id="{DEDB6844-189E-099C-B227-9BB83537279C}"/>
                </a:ext>
              </a:extLst>
            </p:cNvPr>
            <p:cNvSpPr>
              <a:spLocks noChangeShapeType="1"/>
            </p:cNvSpPr>
            <p:nvPr/>
          </p:nvSpPr>
          <p:spPr bwMode="auto">
            <a:xfrm>
              <a:off x="7969250" y="5486400"/>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grpSp>
      <p:sp>
        <p:nvSpPr>
          <p:cNvPr id="2" name="2 Marcador de número de diapositiva">
            <a:extLst>
              <a:ext uri="{FF2B5EF4-FFF2-40B4-BE49-F238E27FC236}">
                <a16:creationId xmlns:a16="http://schemas.microsoft.com/office/drawing/2014/main" id="{C7895137-8640-5291-F953-67196463BF7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62</a:t>
            </a:fld>
            <a:endParaRPr lang="en-US" dirty="0"/>
          </a:p>
        </p:txBody>
      </p:sp>
    </p:spTree>
    <p:extLst>
      <p:ext uri="{BB962C8B-B14F-4D97-AF65-F5344CB8AC3E}">
        <p14:creationId xmlns:p14="http://schemas.microsoft.com/office/powerpoint/2010/main" val="2112370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Rectángulo redondeado"/>
          <p:cNvSpPr/>
          <p:nvPr/>
        </p:nvSpPr>
        <p:spPr bwMode="auto">
          <a:xfrm>
            <a:off x="1259632" y="2852936"/>
            <a:ext cx="4680520" cy="3600400"/>
          </a:xfrm>
          <a:prstGeom prst="roundRect">
            <a:avLst/>
          </a:prstGeom>
          <a:solidFill>
            <a:schemeClr val="bg2"/>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587" name="Rectangle 2"/>
          <p:cNvSpPr>
            <a:spLocks noGrp="1" noChangeArrowheads="1"/>
          </p:cNvSpPr>
          <p:nvPr>
            <p:ph type="title"/>
          </p:nvPr>
        </p:nvSpPr>
        <p:spPr/>
        <p:txBody>
          <a:bodyPr/>
          <a:lstStyle/>
          <a:p>
            <a:r>
              <a:rPr lang="es-ES" dirty="0"/>
              <a:t>Cronogramas de lectura y escritura</a:t>
            </a:r>
          </a:p>
        </p:txBody>
      </p:sp>
      <p:sp>
        <p:nvSpPr>
          <p:cNvPr id="67588" name="Rectangle 3"/>
          <p:cNvSpPr>
            <a:spLocks noGrp="1" noChangeArrowheads="1"/>
          </p:cNvSpPr>
          <p:nvPr>
            <p:ph type="body" idx="1"/>
          </p:nvPr>
        </p:nvSpPr>
        <p:spPr>
          <a:xfrm>
            <a:off x="323850" y="1052513"/>
            <a:ext cx="8640763" cy="1800225"/>
          </a:xfrm>
        </p:spPr>
        <p:txBody>
          <a:bodyPr/>
          <a:lstStyle/>
          <a:p>
            <a:r>
              <a:rPr lang="es-ES" dirty="0">
                <a:solidFill>
                  <a:schemeClr val="accent1"/>
                </a:solidFill>
              </a:rPr>
              <a:t>Emisión de órdenes</a:t>
            </a:r>
          </a:p>
          <a:p>
            <a:pPr lvl="1"/>
            <a:r>
              <a:rPr lang="es-ES" sz="1800" dirty="0">
                <a:solidFill>
                  <a:schemeClr val="bg1">
                    <a:lumMod val="65000"/>
                  </a:schemeClr>
                </a:solidFill>
              </a:rPr>
              <a:t>Los flancos ascendentes de la señal de reloj marcan los instantes en los que el chip acepta órdenes. La combinación de RAS*, CAS* y WE* se llama COMMAND, función u orden. Según la orden leída, el chip interpreta las líneas de dirección</a:t>
            </a:r>
          </a:p>
        </p:txBody>
      </p:sp>
      <p:grpSp>
        <p:nvGrpSpPr>
          <p:cNvPr id="2" name="49 Grupo"/>
          <p:cNvGrpSpPr/>
          <p:nvPr/>
        </p:nvGrpSpPr>
        <p:grpSpPr>
          <a:xfrm>
            <a:off x="1471091" y="2969252"/>
            <a:ext cx="3871913" cy="3168650"/>
            <a:chOff x="1471091" y="2835275"/>
            <a:chExt cx="4037013" cy="3473450"/>
          </a:xfrm>
        </p:grpSpPr>
        <p:grpSp>
          <p:nvGrpSpPr>
            <p:cNvPr id="3" name="Group 6"/>
            <p:cNvGrpSpPr>
              <a:grpSpLocks/>
            </p:cNvGrpSpPr>
            <p:nvPr/>
          </p:nvGrpSpPr>
          <p:grpSpPr bwMode="auto">
            <a:xfrm>
              <a:off x="1598091" y="5499100"/>
              <a:ext cx="746125" cy="396875"/>
              <a:chOff x="768" y="3014"/>
              <a:chExt cx="470" cy="250"/>
            </a:xfrm>
          </p:grpSpPr>
          <p:sp>
            <p:nvSpPr>
              <p:cNvPr id="67631" name="Text Box 7"/>
              <p:cNvSpPr txBox="1">
                <a:spLocks noChangeArrowheads="1"/>
              </p:cNvSpPr>
              <p:nvPr/>
            </p:nvSpPr>
            <p:spPr bwMode="auto">
              <a:xfrm>
                <a:off x="768" y="3014"/>
                <a:ext cx="470" cy="250"/>
              </a:xfrm>
              <a:prstGeom prst="rect">
                <a:avLst/>
              </a:prstGeom>
              <a:noFill/>
              <a:ln w="28575">
                <a:noFill/>
                <a:miter lim="800000"/>
                <a:headEnd/>
                <a:tailEnd/>
              </a:ln>
            </p:spPr>
            <p:txBody>
              <a:bodyPr anchor="ctr">
                <a:spAutoFit/>
              </a:bodyPr>
              <a:lstStyle/>
              <a:p>
                <a:pPr algn="r">
                  <a:spcBef>
                    <a:spcPct val="20000"/>
                  </a:spcBef>
                </a:pPr>
                <a:r>
                  <a:rPr lang="es-ES_tradnl" b="1"/>
                  <a:t>R/W</a:t>
                </a:r>
              </a:p>
            </p:txBody>
          </p:sp>
          <p:sp>
            <p:nvSpPr>
              <p:cNvPr id="67632" name="Line 8"/>
              <p:cNvSpPr>
                <a:spLocks noChangeShapeType="1"/>
              </p:cNvSpPr>
              <p:nvPr/>
            </p:nvSpPr>
            <p:spPr bwMode="auto">
              <a:xfrm flipV="1">
                <a:off x="1029" y="3051"/>
                <a:ext cx="144" cy="0"/>
              </a:xfrm>
              <a:prstGeom prst="line">
                <a:avLst/>
              </a:prstGeom>
              <a:noFill/>
              <a:ln w="28575">
                <a:solidFill>
                  <a:schemeClr val="tx1"/>
                </a:solidFill>
                <a:round/>
                <a:headEnd/>
                <a:tailEnd/>
              </a:ln>
            </p:spPr>
            <p:txBody>
              <a:bodyPr anchor="ctr">
                <a:spAutoFit/>
              </a:bodyPr>
              <a:lstStyle/>
              <a:p>
                <a:endParaRPr lang="es-ES"/>
              </a:p>
            </p:txBody>
          </p:sp>
        </p:grpSp>
        <p:grpSp>
          <p:nvGrpSpPr>
            <p:cNvPr id="4" name="Group 53"/>
            <p:cNvGrpSpPr>
              <a:grpSpLocks/>
            </p:cNvGrpSpPr>
            <p:nvPr/>
          </p:nvGrpSpPr>
          <p:grpSpPr bwMode="auto">
            <a:xfrm>
              <a:off x="1794941" y="4937125"/>
              <a:ext cx="720725" cy="396875"/>
              <a:chOff x="1598" y="2985"/>
              <a:chExt cx="454" cy="250"/>
            </a:xfrm>
          </p:grpSpPr>
          <p:sp>
            <p:nvSpPr>
              <p:cNvPr id="67629" name="Text Box 10"/>
              <p:cNvSpPr txBox="1">
                <a:spLocks noChangeArrowheads="1"/>
              </p:cNvSpPr>
              <p:nvPr/>
            </p:nvSpPr>
            <p:spPr bwMode="auto">
              <a:xfrm>
                <a:off x="1598" y="2985"/>
                <a:ext cx="454" cy="250"/>
              </a:xfrm>
              <a:prstGeom prst="rect">
                <a:avLst/>
              </a:prstGeom>
              <a:noFill/>
              <a:ln w="28575">
                <a:noFill/>
                <a:miter lim="800000"/>
                <a:headEnd/>
                <a:tailEnd/>
              </a:ln>
            </p:spPr>
            <p:txBody>
              <a:bodyPr wrap="none" anchor="ctr">
                <a:spAutoFit/>
              </a:bodyPr>
              <a:lstStyle/>
              <a:p>
                <a:pPr algn="r">
                  <a:spcBef>
                    <a:spcPct val="20000"/>
                  </a:spcBef>
                </a:pPr>
                <a:r>
                  <a:rPr lang="es-ES_tradnl" b="1"/>
                  <a:t>CAS</a:t>
                </a:r>
              </a:p>
            </p:txBody>
          </p:sp>
          <p:sp>
            <p:nvSpPr>
              <p:cNvPr id="67630" name="Line 11"/>
              <p:cNvSpPr>
                <a:spLocks noChangeShapeType="1"/>
              </p:cNvSpPr>
              <p:nvPr/>
            </p:nvSpPr>
            <p:spPr bwMode="auto">
              <a:xfrm>
                <a:off x="1620" y="3015"/>
                <a:ext cx="336" cy="0"/>
              </a:xfrm>
              <a:prstGeom prst="line">
                <a:avLst/>
              </a:prstGeom>
              <a:noFill/>
              <a:ln w="12700">
                <a:solidFill>
                  <a:schemeClr val="tx1"/>
                </a:solidFill>
                <a:round/>
                <a:headEnd/>
                <a:tailEnd/>
              </a:ln>
            </p:spPr>
            <p:txBody>
              <a:bodyPr wrap="none" anchor="ctr"/>
              <a:lstStyle/>
              <a:p>
                <a:endParaRPr lang="es-ES"/>
              </a:p>
            </p:txBody>
          </p:sp>
        </p:grpSp>
        <p:grpSp>
          <p:nvGrpSpPr>
            <p:cNvPr id="5" name="Group 52"/>
            <p:cNvGrpSpPr>
              <a:grpSpLocks/>
            </p:cNvGrpSpPr>
            <p:nvPr/>
          </p:nvGrpSpPr>
          <p:grpSpPr bwMode="auto">
            <a:xfrm>
              <a:off x="1794941" y="4295775"/>
              <a:ext cx="720725" cy="396875"/>
              <a:chOff x="1598" y="2581"/>
              <a:chExt cx="454" cy="250"/>
            </a:xfrm>
          </p:grpSpPr>
          <p:sp>
            <p:nvSpPr>
              <p:cNvPr id="67627" name="Text Box 13"/>
              <p:cNvSpPr txBox="1">
                <a:spLocks noChangeArrowheads="1"/>
              </p:cNvSpPr>
              <p:nvPr/>
            </p:nvSpPr>
            <p:spPr bwMode="auto">
              <a:xfrm>
                <a:off x="1598" y="2581"/>
                <a:ext cx="454" cy="250"/>
              </a:xfrm>
              <a:prstGeom prst="rect">
                <a:avLst/>
              </a:prstGeom>
              <a:noFill/>
              <a:ln w="28575">
                <a:noFill/>
                <a:miter lim="800000"/>
                <a:headEnd/>
                <a:tailEnd/>
              </a:ln>
            </p:spPr>
            <p:txBody>
              <a:bodyPr wrap="none" anchor="ctr">
                <a:spAutoFit/>
              </a:bodyPr>
              <a:lstStyle/>
              <a:p>
                <a:pPr algn="r">
                  <a:spcBef>
                    <a:spcPct val="20000"/>
                  </a:spcBef>
                </a:pPr>
                <a:r>
                  <a:rPr lang="es-ES_tradnl" b="1"/>
                  <a:t>RAS</a:t>
                </a:r>
              </a:p>
            </p:txBody>
          </p:sp>
          <p:sp>
            <p:nvSpPr>
              <p:cNvPr id="67628" name="Line 14"/>
              <p:cNvSpPr>
                <a:spLocks noChangeShapeType="1"/>
              </p:cNvSpPr>
              <p:nvPr/>
            </p:nvSpPr>
            <p:spPr bwMode="auto">
              <a:xfrm>
                <a:off x="1620" y="2611"/>
                <a:ext cx="336" cy="0"/>
              </a:xfrm>
              <a:prstGeom prst="line">
                <a:avLst/>
              </a:prstGeom>
              <a:noFill/>
              <a:ln w="12700">
                <a:solidFill>
                  <a:schemeClr val="tx1"/>
                </a:solidFill>
                <a:round/>
                <a:headEnd/>
                <a:tailEnd/>
              </a:ln>
            </p:spPr>
            <p:txBody>
              <a:bodyPr wrap="none" anchor="ctr"/>
              <a:lstStyle/>
              <a:p>
                <a:endParaRPr lang="es-ES"/>
              </a:p>
            </p:txBody>
          </p:sp>
        </p:grpSp>
        <p:sp>
          <p:nvSpPr>
            <p:cNvPr id="67592" name="Text Box 15"/>
            <p:cNvSpPr txBox="1">
              <a:spLocks noChangeArrowheads="1"/>
            </p:cNvSpPr>
            <p:nvPr/>
          </p:nvSpPr>
          <p:spPr bwMode="auto">
            <a:xfrm>
              <a:off x="1815579" y="3049588"/>
              <a:ext cx="706437" cy="396875"/>
            </a:xfrm>
            <a:prstGeom prst="rect">
              <a:avLst/>
            </a:prstGeom>
            <a:noFill/>
            <a:ln w="28575">
              <a:noFill/>
              <a:miter lim="800000"/>
              <a:headEnd/>
              <a:tailEnd/>
            </a:ln>
          </p:spPr>
          <p:txBody>
            <a:bodyPr wrap="none" anchor="ctr">
              <a:spAutoFit/>
            </a:bodyPr>
            <a:lstStyle/>
            <a:p>
              <a:pPr algn="r">
                <a:spcBef>
                  <a:spcPct val="20000"/>
                </a:spcBef>
              </a:pPr>
              <a:r>
                <a:rPr lang="es-ES_tradnl" b="1" dirty="0"/>
                <a:t>CLK</a:t>
              </a:r>
            </a:p>
          </p:txBody>
        </p:sp>
        <p:sp>
          <p:nvSpPr>
            <p:cNvPr id="67593" name="Freeform 19"/>
            <p:cNvSpPr>
              <a:spLocks/>
            </p:cNvSpPr>
            <p:nvPr/>
          </p:nvSpPr>
          <p:spPr bwMode="auto">
            <a:xfrm>
              <a:off x="2420416" y="3033713"/>
              <a:ext cx="3087688" cy="398462"/>
            </a:xfrm>
            <a:custGeom>
              <a:avLst/>
              <a:gdLst>
                <a:gd name="T0" fmla="*/ 0 w 1945"/>
                <a:gd name="T1" fmla="*/ 0 h 251"/>
                <a:gd name="T2" fmla="*/ 2147483647 w 1945"/>
                <a:gd name="T3" fmla="*/ 0 h 251"/>
                <a:gd name="T4" fmla="*/ 2147483647 w 1945"/>
                <a:gd name="T5" fmla="*/ 2147483647 h 251"/>
                <a:gd name="T6" fmla="*/ 2147483647 w 1945"/>
                <a:gd name="T7" fmla="*/ 2147483647 h 251"/>
                <a:gd name="T8" fmla="*/ 2147483647 w 1945"/>
                <a:gd name="T9" fmla="*/ 0 h 251"/>
                <a:gd name="T10" fmla="*/ 2147483647 w 1945"/>
                <a:gd name="T11" fmla="*/ 0 h 251"/>
                <a:gd name="T12" fmla="*/ 2147483647 w 1945"/>
                <a:gd name="T13" fmla="*/ 2147483647 h 251"/>
                <a:gd name="T14" fmla="*/ 2147483647 w 1945"/>
                <a:gd name="T15" fmla="*/ 2147483647 h 251"/>
                <a:gd name="T16" fmla="*/ 2147483647 w 1945"/>
                <a:gd name="T17" fmla="*/ 0 h 251"/>
                <a:gd name="T18" fmla="*/ 2147483647 w 1945"/>
                <a:gd name="T19" fmla="*/ 0 h 251"/>
                <a:gd name="T20" fmla="*/ 2147483647 w 1945"/>
                <a:gd name="T21" fmla="*/ 2147483647 h 251"/>
                <a:gd name="T22" fmla="*/ 2147483647 w 1945"/>
                <a:gd name="T23" fmla="*/ 2147483647 h 251"/>
                <a:gd name="T24" fmla="*/ 2147483647 w 1945"/>
                <a:gd name="T25" fmla="*/ 0 h 251"/>
                <a:gd name="T26" fmla="*/ 2147483647 w 1945"/>
                <a:gd name="T27" fmla="*/ 0 h 251"/>
                <a:gd name="T28" fmla="*/ 2147483647 w 1945"/>
                <a:gd name="T29" fmla="*/ 2147483647 h 2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45"/>
                <a:gd name="T46" fmla="*/ 0 h 251"/>
                <a:gd name="T47" fmla="*/ 1945 w 1945"/>
                <a:gd name="T48" fmla="*/ 251 h 2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45" h="251">
                  <a:moveTo>
                    <a:pt x="0" y="0"/>
                  </a:moveTo>
                  <a:lnTo>
                    <a:pt x="167" y="0"/>
                  </a:lnTo>
                  <a:lnTo>
                    <a:pt x="278" y="251"/>
                  </a:lnTo>
                  <a:lnTo>
                    <a:pt x="445" y="251"/>
                  </a:lnTo>
                  <a:lnTo>
                    <a:pt x="556" y="0"/>
                  </a:lnTo>
                  <a:lnTo>
                    <a:pt x="722" y="0"/>
                  </a:lnTo>
                  <a:lnTo>
                    <a:pt x="833" y="251"/>
                  </a:lnTo>
                  <a:lnTo>
                    <a:pt x="1000" y="251"/>
                  </a:lnTo>
                  <a:lnTo>
                    <a:pt x="1111" y="0"/>
                  </a:lnTo>
                  <a:lnTo>
                    <a:pt x="1278" y="0"/>
                  </a:lnTo>
                  <a:lnTo>
                    <a:pt x="1389" y="251"/>
                  </a:lnTo>
                  <a:lnTo>
                    <a:pt x="1556" y="251"/>
                  </a:lnTo>
                  <a:lnTo>
                    <a:pt x="1667" y="0"/>
                  </a:lnTo>
                  <a:lnTo>
                    <a:pt x="1834" y="0"/>
                  </a:lnTo>
                  <a:lnTo>
                    <a:pt x="1945" y="251"/>
                  </a:lnTo>
                </a:path>
              </a:pathLst>
            </a:custGeom>
            <a:noFill/>
            <a:ln w="28575">
              <a:solidFill>
                <a:schemeClr val="accent5">
                  <a:lumMod val="60000"/>
                  <a:lumOff val="40000"/>
                </a:schemeClr>
              </a:solidFill>
              <a:round/>
              <a:headEnd/>
              <a:tailEnd/>
            </a:ln>
          </p:spPr>
          <p:txBody>
            <a:bodyPr wrap="none" anchor="ctr"/>
            <a:lstStyle/>
            <a:p>
              <a:endParaRPr lang="es-ES"/>
            </a:p>
          </p:txBody>
        </p:sp>
        <p:sp>
          <p:nvSpPr>
            <p:cNvPr id="67594" name="Freeform 20"/>
            <p:cNvSpPr>
              <a:spLocks/>
            </p:cNvSpPr>
            <p:nvPr/>
          </p:nvSpPr>
          <p:spPr bwMode="auto">
            <a:xfrm>
              <a:off x="2420416" y="4913313"/>
              <a:ext cx="3082925" cy="304800"/>
            </a:xfrm>
            <a:custGeom>
              <a:avLst/>
              <a:gdLst>
                <a:gd name="T0" fmla="*/ 0 w 1958"/>
                <a:gd name="T1" fmla="*/ 0 h 192"/>
                <a:gd name="T2" fmla="*/ 2147483647 w 1958"/>
                <a:gd name="T3" fmla="*/ 0 h 192"/>
                <a:gd name="T4" fmla="*/ 2147483647 w 1958"/>
                <a:gd name="T5" fmla="*/ 2147483647 h 192"/>
                <a:gd name="T6" fmla="*/ 2147483647 w 1958"/>
                <a:gd name="T7" fmla="*/ 2147483647 h 192"/>
                <a:gd name="T8" fmla="*/ 2147483647 w 1958"/>
                <a:gd name="T9" fmla="*/ 0 h 192"/>
                <a:gd name="T10" fmla="*/ 2147483647 w 1958"/>
                <a:gd name="T11" fmla="*/ 0 h 192"/>
                <a:gd name="T12" fmla="*/ 0 60000 65536"/>
                <a:gd name="T13" fmla="*/ 0 60000 65536"/>
                <a:gd name="T14" fmla="*/ 0 60000 65536"/>
                <a:gd name="T15" fmla="*/ 0 60000 65536"/>
                <a:gd name="T16" fmla="*/ 0 60000 65536"/>
                <a:gd name="T17" fmla="*/ 0 60000 65536"/>
                <a:gd name="T18" fmla="*/ 0 w 1958"/>
                <a:gd name="T19" fmla="*/ 0 h 192"/>
                <a:gd name="T20" fmla="*/ 1958 w 1958"/>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1958" h="192">
                  <a:moveTo>
                    <a:pt x="0" y="0"/>
                  </a:moveTo>
                  <a:lnTo>
                    <a:pt x="1225" y="0"/>
                  </a:lnTo>
                  <a:lnTo>
                    <a:pt x="1327" y="192"/>
                  </a:lnTo>
                  <a:lnTo>
                    <a:pt x="1736" y="192"/>
                  </a:lnTo>
                  <a:lnTo>
                    <a:pt x="1838" y="0"/>
                  </a:lnTo>
                  <a:lnTo>
                    <a:pt x="1958" y="0"/>
                  </a:lnTo>
                </a:path>
              </a:pathLst>
            </a:custGeom>
            <a:noFill/>
            <a:ln w="28575">
              <a:solidFill>
                <a:schemeClr val="accent5">
                  <a:lumMod val="60000"/>
                  <a:lumOff val="40000"/>
                </a:schemeClr>
              </a:solidFill>
              <a:round/>
              <a:headEnd/>
              <a:tailEnd/>
            </a:ln>
          </p:spPr>
          <p:txBody>
            <a:bodyPr wrap="none" anchor="ctr"/>
            <a:lstStyle/>
            <a:p>
              <a:endParaRPr lang="es-ES"/>
            </a:p>
          </p:txBody>
        </p:sp>
        <p:sp>
          <p:nvSpPr>
            <p:cNvPr id="67595" name="Line 21"/>
            <p:cNvSpPr>
              <a:spLocks noChangeShapeType="1"/>
            </p:cNvSpPr>
            <p:nvPr/>
          </p:nvSpPr>
          <p:spPr bwMode="auto">
            <a:xfrm>
              <a:off x="2420416" y="5514975"/>
              <a:ext cx="3076575" cy="0"/>
            </a:xfrm>
            <a:prstGeom prst="line">
              <a:avLst/>
            </a:prstGeom>
            <a:noFill/>
            <a:ln w="28575">
              <a:solidFill>
                <a:schemeClr val="accent5">
                  <a:lumMod val="60000"/>
                  <a:lumOff val="40000"/>
                </a:schemeClr>
              </a:solidFill>
              <a:round/>
              <a:headEnd/>
              <a:tailEnd/>
            </a:ln>
          </p:spPr>
          <p:txBody>
            <a:bodyPr wrap="none" anchor="ctr"/>
            <a:lstStyle/>
            <a:p>
              <a:endParaRPr lang="es-ES"/>
            </a:p>
          </p:txBody>
        </p:sp>
        <p:sp>
          <p:nvSpPr>
            <p:cNvPr id="67596" name="Text Box 22"/>
            <p:cNvSpPr txBox="1">
              <a:spLocks noChangeArrowheads="1"/>
            </p:cNvSpPr>
            <p:nvPr/>
          </p:nvSpPr>
          <p:spPr bwMode="auto">
            <a:xfrm>
              <a:off x="1842566" y="3668713"/>
              <a:ext cx="536575" cy="396875"/>
            </a:xfrm>
            <a:prstGeom prst="rect">
              <a:avLst/>
            </a:prstGeom>
            <a:noFill/>
            <a:ln w="28575">
              <a:noFill/>
              <a:miter lim="800000"/>
              <a:headEnd/>
              <a:tailEnd/>
            </a:ln>
          </p:spPr>
          <p:txBody>
            <a:bodyPr wrap="none" anchor="ctr">
              <a:spAutoFit/>
            </a:bodyPr>
            <a:lstStyle/>
            <a:p>
              <a:pPr algn="r">
                <a:spcBef>
                  <a:spcPct val="20000"/>
                </a:spcBef>
              </a:pPr>
              <a:r>
                <a:rPr lang="es-ES_tradnl" b="1"/>
                <a:t>CS</a:t>
              </a:r>
            </a:p>
          </p:txBody>
        </p:sp>
        <p:sp>
          <p:nvSpPr>
            <p:cNvPr id="67597" name="Line 23"/>
            <p:cNvSpPr>
              <a:spLocks noChangeShapeType="1"/>
            </p:cNvSpPr>
            <p:nvPr/>
          </p:nvSpPr>
          <p:spPr bwMode="auto">
            <a:xfrm>
              <a:off x="1937816" y="3714750"/>
              <a:ext cx="333375" cy="1588"/>
            </a:xfrm>
            <a:prstGeom prst="line">
              <a:avLst/>
            </a:prstGeom>
            <a:noFill/>
            <a:ln w="12700">
              <a:solidFill>
                <a:schemeClr val="tx1"/>
              </a:solidFill>
              <a:round/>
              <a:headEnd/>
              <a:tailEnd/>
            </a:ln>
          </p:spPr>
          <p:txBody>
            <a:bodyPr wrap="none" anchor="ctr"/>
            <a:lstStyle/>
            <a:p>
              <a:endParaRPr lang="es-ES"/>
            </a:p>
          </p:txBody>
        </p:sp>
        <p:sp>
          <p:nvSpPr>
            <p:cNvPr id="67598" name="Freeform 25"/>
            <p:cNvSpPr>
              <a:spLocks/>
            </p:cNvSpPr>
            <p:nvPr/>
          </p:nvSpPr>
          <p:spPr bwMode="auto">
            <a:xfrm>
              <a:off x="2431529" y="3667125"/>
              <a:ext cx="3067050" cy="306388"/>
            </a:xfrm>
            <a:custGeom>
              <a:avLst/>
              <a:gdLst>
                <a:gd name="T0" fmla="*/ 0 w 1932"/>
                <a:gd name="T1" fmla="*/ 2147483647 h 193"/>
                <a:gd name="T2" fmla="*/ 2147483647 w 1932"/>
                <a:gd name="T3" fmla="*/ 2147483647 h 193"/>
                <a:gd name="T4" fmla="*/ 2147483647 w 1932"/>
                <a:gd name="T5" fmla="*/ 2147483647 h 193"/>
                <a:gd name="T6" fmla="*/ 2147483647 w 1932"/>
                <a:gd name="T7" fmla="*/ 2147483647 h 193"/>
                <a:gd name="T8" fmla="*/ 2147483647 w 1932"/>
                <a:gd name="T9" fmla="*/ 0 h 193"/>
                <a:gd name="T10" fmla="*/ 2147483647 w 1932"/>
                <a:gd name="T11" fmla="*/ 0 h 193"/>
                <a:gd name="T12" fmla="*/ 0 60000 65536"/>
                <a:gd name="T13" fmla="*/ 0 60000 65536"/>
                <a:gd name="T14" fmla="*/ 0 60000 65536"/>
                <a:gd name="T15" fmla="*/ 0 60000 65536"/>
                <a:gd name="T16" fmla="*/ 0 60000 65536"/>
                <a:gd name="T17" fmla="*/ 0 60000 65536"/>
                <a:gd name="T18" fmla="*/ 0 w 1932"/>
                <a:gd name="T19" fmla="*/ 0 h 193"/>
                <a:gd name="T20" fmla="*/ 1932 w 1932"/>
                <a:gd name="T21" fmla="*/ 193 h 193"/>
              </a:gdLst>
              <a:ahLst/>
              <a:cxnLst>
                <a:cxn ang="T12">
                  <a:pos x="T0" y="T1"/>
                </a:cxn>
                <a:cxn ang="T13">
                  <a:pos x="T2" y="T3"/>
                </a:cxn>
                <a:cxn ang="T14">
                  <a:pos x="T4" y="T5"/>
                </a:cxn>
                <a:cxn ang="T15">
                  <a:pos x="T6" y="T7"/>
                </a:cxn>
                <a:cxn ang="T16">
                  <a:pos x="T8" y="T9"/>
                </a:cxn>
                <a:cxn ang="T17">
                  <a:pos x="T10" y="T11"/>
                </a:cxn>
              </a:cxnLst>
              <a:rect l="T18" t="T19" r="T20" b="T21"/>
              <a:pathLst>
                <a:path w="1932" h="193">
                  <a:moveTo>
                    <a:pt x="0" y="1"/>
                  </a:moveTo>
                  <a:lnTo>
                    <a:pt x="204" y="1"/>
                  </a:lnTo>
                  <a:lnTo>
                    <a:pt x="306" y="193"/>
                  </a:lnTo>
                  <a:lnTo>
                    <a:pt x="1245" y="192"/>
                  </a:lnTo>
                  <a:lnTo>
                    <a:pt x="1350" y="0"/>
                  </a:lnTo>
                  <a:lnTo>
                    <a:pt x="1932" y="0"/>
                  </a:lnTo>
                </a:path>
              </a:pathLst>
            </a:custGeom>
            <a:noFill/>
            <a:ln w="28575">
              <a:solidFill>
                <a:schemeClr val="accent5">
                  <a:lumMod val="60000"/>
                  <a:lumOff val="40000"/>
                </a:schemeClr>
              </a:solidFill>
              <a:round/>
              <a:headEnd/>
              <a:tailEnd/>
            </a:ln>
          </p:spPr>
          <p:txBody>
            <a:bodyPr wrap="none" anchor="ctr"/>
            <a:lstStyle/>
            <a:p>
              <a:endParaRPr lang="es-ES"/>
            </a:p>
          </p:txBody>
        </p:sp>
        <p:sp>
          <p:nvSpPr>
            <p:cNvPr id="67599" name="Freeform 26"/>
            <p:cNvSpPr>
              <a:spLocks/>
            </p:cNvSpPr>
            <p:nvPr/>
          </p:nvSpPr>
          <p:spPr bwMode="auto">
            <a:xfrm>
              <a:off x="2406129" y="4306888"/>
              <a:ext cx="3097212" cy="309562"/>
            </a:xfrm>
            <a:custGeom>
              <a:avLst/>
              <a:gdLst>
                <a:gd name="T0" fmla="*/ 0 w 1962"/>
                <a:gd name="T1" fmla="*/ 2147483647 h 195"/>
                <a:gd name="T2" fmla="*/ 2147483647 w 1962"/>
                <a:gd name="T3" fmla="*/ 2147483647 h 195"/>
                <a:gd name="T4" fmla="*/ 2147483647 w 1962"/>
                <a:gd name="T5" fmla="*/ 2147483647 h 195"/>
                <a:gd name="T6" fmla="*/ 2147483647 w 1962"/>
                <a:gd name="T7" fmla="*/ 2147483647 h 195"/>
                <a:gd name="T8" fmla="*/ 2147483647 w 1962"/>
                <a:gd name="T9" fmla="*/ 2147483647 h 195"/>
                <a:gd name="T10" fmla="*/ 2147483647 w 1962"/>
                <a:gd name="T11" fmla="*/ 0 h 195"/>
                <a:gd name="T12" fmla="*/ 0 60000 65536"/>
                <a:gd name="T13" fmla="*/ 0 60000 65536"/>
                <a:gd name="T14" fmla="*/ 0 60000 65536"/>
                <a:gd name="T15" fmla="*/ 0 60000 65536"/>
                <a:gd name="T16" fmla="*/ 0 60000 65536"/>
                <a:gd name="T17" fmla="*/ 0 60000 65536"/>
                <a:gd name="T18" fmla="*/ 0 w 1962"/>
                <a:gd name="T19" fmla="*/ 0 h 195"/>
                <a:gd name="T20" fmla="*/ 1962 w 1962"/>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1962" h="195">
                  <a:moveTo>
                    <a:pt x="0" y="3"/>
                  </a:moveTo>
                  <a:lnTo>
                    <a:pt x="204" y="3"/>
                  </a:lnTo>
                  <a:lnTo>
                    <a:pt x="306" y="195"/>
                  </a:lnTo>
                  <a:lnTo>
                    <a:pt x="664" y="195"/>
                  </a:lnTo>
                  <a:lnTo>
                    <a:pt x="766" y="3"/>
                  </a:lnTo>
                  <a:lnTo>
                    <a:pt x="1962" y="0"/>
                  </a:lnTo>
                </a:path>
              </a:pathLst>
            </a:custGeom>
            <a:noFill/>
            <a:ln w="28575">
              <a:solidFill>
                <a:schemeClr val="accent5">
                  <a:lumMod val="60000"/>
                  <a:lumOff val="40000"/>
                </a:schemeClr>
              </a:solidFill>
              <a:round/>
              <a:headEnd/>
              <a:tailEnd/>
            </a:ln>
          </p:spPr>
          <p:txBody>
            <a:bodyPr wrap="none" anchor="ctr"/>
            <a:lstStyle/>
            <a:p>
              <a:endParaRPr lang="es-ES"/>
            </a:p>
          </p:txBody>
        </p:sp>
        <p:grpSp>
          <p:nvGrpSpPr>
            <p:cNvPr id="6" name="Group 27"/>
            <p:cNvGrpSpPr>
              <a:grpSpLocks/>
            </p:cNvGrpSpPr>
            <p:nvPr/>
          </p:nvGrpSpPr>
          <p:grpSpPr bwMode="auto">
            <a:xfrm>
              <a:off x="3213943" y="2835275"/>
              <a:ext cx="1801812" cy="2989263"/>
              <a:chOff x="1382" y="1411"/>
              <a:chExt cx="1135" cy="1974"/>
            </a:xfrm>
          </p:grpSpPr>
          <p:sp>
            <p:nvSpPr>
              <p:cNvPr id="67624" name="Line 28"/>
              <p:cNvSpPr>
                <a:spLocks noChangeShapeType="1"/>
              </p:cNvSpPr>
              <p:nvPr/>
            </p:nvSpPr>
            <p:spPr bwMode="auto">
              <a:xfrm>
                <a:off x="1382" y="1411"/>
                <a:ext cx="0" cy="1974"/>
              </a:xfrm>
              <a:prstGeom prst="line">
                <a:avLst/>
              </a:prstGeom>
              <a:noFill/>
              <a:ln w="12700">
                <a:solidFill>
                  <a:srgbClr val="99FF66"/>
                </a:solidFill>
                <a:round/>
                <a:headEnd/>
                <a:tailEnd/>
              </a:ln>
            </p:spPr>
            <p:txBody>
              <a:bodyPr wrap="none" anchor="ctr"/>
              <a:lstStyle/>
              <a:p>
                <a:endParaRPr lang="es-ES"/>
              </a:p>
            </p:txBody>
          </p:sp>
          <p:sp>
            <p:nvSpPr>
              <p:cNvPr id="67625" name="Line 29"/>
              <p:cNvSpPr>
                <a:spLocks noChangeShapeType="1"/>
              </p:cNvSpPr>
              <p:nvPr/>
            </p:nvSpPr>
            <p:spPr bwMode="auto">
              <a:xfrm>
                <a:off x="1955" y="1411"/>
                <a:ext cx="0" cy="1974"/>
              </a:xfrm>
              <a:prstGeom prst="line">
                <a:avLst/>
              </a:prstGeom>
              <a:noFill/>
              <a:ln w="12700">
                <a:solidFill>
                  <a:srgbClr val="99FF66"/>
                </a:solidFill>
                <a:round/>
                <a:headEnd/>
                <a:tailEnd/>
              </a:ln>
            </p:spPr>
            <p:txBody>
              <a:bodyPr wrap="none" anchor="ctr"/>
              <a:lstStyle/>
              <a:p>
                <a:endParaRPr lang="es-ES"/>
              </a:p>
            </p:txBody>
          </p:sp>
          <p:sp>
            <p:nvSpPr>
              <p:cNvPr id="67626" name="Line 30"/>
              <p:cNvSpPr>
                <a:spLocks noChangeShapeType="1"/>
              </p:cNvSpPr>
              <p:nvPr/>
            </p:nvSpPr>
            <p:spPr bwMode="auto">
              <a:xfrm>
                <a:off x="2517" y="1411"/>
                <a:ext cx="0" cy="1974"/>
              </a:xfrm>
              <a:prstGeom prst="line">
                <a:avLst/>
              </a:prstGeom>
              <a:noFill/>
              <a:ln w="12700">
                <a:solidFill>
                  <a:srgbClr val="99FF66"/>
                </a:solidFill>
                <a:round/>
                <a:headEnd/>
                <a:tailEnd/>
              </a:ln>
            </p:spPr>
            <p:txBody>
              <a:bodyPr wrap="none" anchor="ctr"/>
              <a:lstStyle/>
              <a:p>
                <a:endParaRPr lang="es-ES"/>
              </a:p>
            </p:txBody>
          </p:sp>
        </p:grpSp>
        <p:sp>
          <p:nvSpPr>
            <p:cNvPr id="67601" name="Text Box 42"/>
            <p:cNvSpPr txBox="1">
              <a:spLocks noChangeArrowheads="1"/>
            </p:cNvSpPr>
            <p:nvPr/>
          </p:nvSpPr>
          <p:spPr bwMode="auto">
            <a:xfrm>
              <a:off x="1471091" y="6003925"/>
              <a:ext cx="987425" cy="304800"/>
            </a:xfrm>
            <a:prstGeom prst="rect">
              <a:avLst/>
            </a:prstGeom>
            <a:noFill/>
            <a:ln w="19050">
              <a:noFill/>
              <a:miter lim="800000"/>
              <a:headEnd/>
              <a:tailEnd/>
            </a:ln>
          </p:spPr>
          <p:txBody>
            <a:bodyPr wrap="none" lIns="0" tIns="0" rIns="0" bIns="0">
              <a:spAutoFit/>
            </a:bodyPr>
            <a:lstStyle/>
            <a:p>
              <a:pPr algn="r"/>
              <a:r>
                <a:rPr lang="es-ES"/>
                <a:t>órdenes:</a:t>
              </a:r>
            </a:p>
          </p:txBody>
        </p:sp>
        <p:grpSp>
          <p:nvGrpSpPr>
            <p:cNvPr id="7" name="Group 45"/>
            <p:cNvGrpSpPr>
              <a:grpSpLocks/>
            </p:cNvGrpSpPr>
            <p:nvPr/>
          </p:nvGrpSpPr>
          <p:grpSpPr bwMode="auto">
            <a:xfrm>
              <a:off x="2822054" y="6003925"/>
              <a:ext cx="719137" cy="304800"/>
              <a:chOff x="3107" y="3873"/>
              <a:chExt cx="453" cy="192"/>
            </a:xfrm>
          </p:grpSpPr>
          <p:sp>
            <p:nvSpPr>
              <p:cNvPr id="67622" name="Text Box 39"/>
              <p:cNvSpPr txBox="1">
                <a:spLocks noChangeArrowheads="1"/>
              </p:cNvSpPr>
              <p:nvPr/>
            </p:nvSpPr>
            <p:spPr bwMode="auto">
              <a:xfrm>
                <a:off x="3107" y="3873"/>
                <a:ext cx="453" cy="192"/>
              </a:xfrm>
              <a:prstGeom prst="rect">
                <a:avLst/>
              </a:prstGeom>
              <a:noFill/>
              <a:ln w="19050">
                <a:noFill/>
                <a:miter lim="800000"/>
                <a:headEnd/>
                <a:tailEnd/>
              </a:ln>
            </p:spPr>
            <p:txBody>
              <a:bodyPr lIns="0" tIns="0" rIns="0" bIns="0">
                <a:spAutoFit/>
              </a:bodyPr>
              <a:lstStyle/>
              <a:p>
                <a:r>
                  <a:rPr lang="es-ES" b="1">
                    <a:latin typeface="Arial Narrow" pitchFamily="34" charset="0"/>
                  </a:rPr>
                  <a:t>ACT</a:t>
                </a:r>
              </a:p>
            </p:txBody>
          </p:sp>
          <p:sp>
            <p:nvSpPr>
              <p:cNvPr id="67623" name="Freeform 44"/>
              <p:cNvSpPr>
                <a:spLocks/>
              </p:cNvSpPr>
              <p:nvPr/>
            </p:nvSpPr>
            <p:spPr bwMode="auto">
              <a:xfrm>
                <a:off x="3107" y="3884"/>
                <a:ext cx="453" cy="181"/>
              </a:xfrm>
              <a:custGeom>
                <a:avLst/>
                <a:gdLst>
                  <a:gd name="T0" fmla="*/ 0 w 453"/>
                  <a:gd name="T1" fmla="*/ 90 h 181"/>
                  <a:gd name="T2" fmla="*/ 91 w 453"/>
                  <a:gd name="T3" fmla="*/ 0 h 181"/>
                  <a:gd name="T4" fmla="*/ 363 w 453"/>
                  <a:gd name="T5" fmla="*/ 0 h 181"/>
                  <a:gd name="T6" fmla="*/ 453 w 453"/>
                  <a:gd name="T7" fmla="*/ 90 h 181"/>
                  <a:gd name="T8" fmla="*/ 363 w 453"/>
                  <a:gd name="T9" fmla="*/ 181 h 181"/>
                  <a:gd name="T10" fmla="*/ 91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noFill/>
              <a:ln w="9525">
                <a:solidFill>
                  <a:schemeClr val="tx1"/>
                </a:solidFill>
                <a:round/>
                <a:headEnd/>
                <a:tailEnd/>
              </a:ln>
            </p:spPr>
            <p:txBody>
              <a:bodyPr lIns="0" tIns="0" rIns="0" bIns="0" anchor="ctr"/>
              <a:lstStyle/>
              <a:p>
                <a:endParaRPr lang="es-ES"/>
              </a:p>
            </p:txBody>
          </p:sp>
        </p:grpSp>
        <p:grpSp>
          <p:nvGrpSpPr>
            <p:cNvPr id="8" name="Group 46"/>
            <p:cNvGrpSpPr>
              <a:grpSpLocks/>
            </p:cNvGrpSpPr>
            <p:nvPr/>
          </p:nvGrpSpPr>
          <p:grpSpPr bwMode="auto">
            <a:xfrm>
              <a:off x="3758679" y="6003925"/>
              <a:ext cx="719137" cy="304800"/>
              <a:chOff x="3107" y="3873"/>
              <a:chExt cx="453" cy="192"/>
            </a:xfrm>
          </p:grpSpPr>
          <p:sp>
            <p:nvSpPr>
              <p:cNvPr id="67620" name="Text Box 47"/>
              <p:cNvSpPr txBox="1">
                <a:spLocks noChangeArrowheads="1"/>
              </p:cNvSpPr>
              <p:nvPr/>
            </p:nvSpPr>
            <p:spPr bwMode="auto">
              <a:xfrm>
                <a:off x="3107" y="3873"/>
                <a:ext cx="453" cy="192"/>
              </a:xfrm>
              <a:prstGeom prst="rect">
                <a:avLst/>
              </a:prstGeom>
              <a:noFill/>
              <a:ln w="19050">
                <a:noFill/>
                <a:miter lim="800000"/>
                <a:headEnd/>
                <a:tailEnd/>
              </a:ln>
            </p:spPr>
            <p:txBody>
              <a:bodyPr lIns="0" tIns="0" rIns="0" bIns="0">
                <a:spAutoFit/>
              </a:bodyPr>
              <a:lstStyle/>
              <a:p>
                <a:r>
                  <a:rPr lang="es-ES" b="1">
                    <a:latin typeface="Arial Narrow" pitchFamily="34" charset="0"/>
                  </a:rPr>
                  <a:t>NOP</a:t>
                </a:r>
              </a:p>
            </p:txBody>
          </p:sp>
          <p:sp>
            <p:nvSpPr>
              <p:cNvPr id="67621" name="Freeform 48"/>
              <p:cNvSpPr>
                <a:spLocks/>
              </p:cNvSpPr>
              <p:nvPr/>
            </p:nvSpPr>
            <p:spPr bwMode="auto">
              <a:xfrm>
                <a:off x="3107" y="3884"/>
                <a:ext cx="453" cy="181"/>
              </a:xfrm>
              <a:custGeom>
                <a:avLst/>
                <a:gdLst>
                  <a:gd name="T0" fmla="*/ 0 w 453"/>
                  <a:gd name="T1" fmla="*/ 90 h 181"/>
                  <a:gd name="T2" fmla="*/ 91 w 453"/>
                  <a:gd name="T3" fmla="*/ 0 h 181"/>
                  <a:gd name="T4" fmla="*/ 363 w 453"/>
                  <a:gd name="T5" fmla="*/ 0 h 181"/>
                  <a:gd name="T6" fmla="*/ 453 w 453"/>
                  <a:gd name="T7" fmla="*/ 90 h 181"/>
                  <a:gd name="T8" fmla="*/ 363 w 453"/>
                  <a:gd name="T9" fmla="*/ 181 h 181"/>
                  <a:gd name="T10" fmla="*/ 91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noFill/>
              <a:ln w="9525">
                <a:solidFill>
                  <a:schemeClr val="tx1"/>
                </a:solidFill>
                <a:round/>
                <a:headEnd/>
                <a:tailEnd/>
              </a:ln>
            </p:spPr>
            <p:txBody>
              <a:bodyPr lIns="0" tIns="0" rIns="0" bIns="0" anchor="ctr"/>
              <a:lstStyle/>
              <a:p>
                <a:endParaRPr lang="es-ES"/>
              </a:p>
            </p:txBody>
          </p:sp>
        </p:grpSp>
        <p:grpSp>
          <p:nvGrpSpPr>
            <p:cNvPr id="9" name="Group 49"/>
            <p:cNvGrpSpPr>
              <a:grpSpLocks/>
            </p:cNvGrpSpPr>
            <p:nvPr/>
          </p:nvGrpSpPr>
          <p:grpSpPr bwMode="auto">
            <a:xfrm>
              <a:off x="4623866" y="6003925"/>
              <a:ext cx="719138" cy="304800"/>
              <a:chOff x="3107" y="3873"/>
              <a:chExt cx="453" cy="192"/>
            </a:xfrm>
          </p:grpSpPr>
          <p:sp>
            <p:nvSpPr>
              <p:cNvPr id="67618" name="Text Box 50"/>
              <p:cNvSpPr txBox="1">
                <a:spLocks noChangeArrowheads="1"/>
              </p:cNvSpPr>
              <p:nvPr/>
            </p:nvSpPr>
            <p:spPr bwMode="auto">
              <a:xfrm>
                <a:off x="3107" y="3873"/>
                <a:ext cx="453" cy="192"/>
              </a:xfrm>
              <a:prstGeom prst="rect">
                <a:avLst/>
              </a:prstGeom>
              <a:noFill/>
              <a:ln w="19050">
                <a:noFill/>
                <a:miter lim="800000"/>
                <a:headEnd/>
                <a:tailEnd/>
              </a:ln>
            </p:spPr>
            <p:txBody>
              <a:bodyPr lIns="0" tIns="0" rIns="0" bIns="0">
                <a:spAutoFit/>
              </a:bodyPr>
              <a:lstStyle/>
              <a:p>
                <a:r>
                  <a:rPr lang="es-ES" b="1">
                    <a:latin typeface="Arial Narrow" pitchFamily="34" charset="0"/>
                  </a:rPr>
                  <a:t>NOP</a:t>
                </a:r>
              </a:p>
            </p:txBody>
          </p:sp>
          <p:sp>
            <p:nvSpPr>
              <p:cNvPr id="67619" name="Freeform 51"/>
              <p:cNvSpPr>
                <a:spLocks/>
              </p:cNvSpPr>
              <p:nvPr/>
            </p:nvSpPr>
            <p:spPr bwMode="auto">
              <a:xfrm>
                <a:off x="3107" y="3884"/>
                <a:ext cx="453" cy="181"/>
              </a:xfrm>
              <a:custGeom>
                <a:avLst/>
                <a:gdLst>
                  <a:gd name="T0" fmla="*/ 0 w 453"/>
                  <a:gd name="T1" fmla="*/ 90 h 181"/>
                  <a:gd name="T2" fmla="*/ 91 w 453"/>
                  <a:gd name="T3" fmla="*/ 0 h 181"/>
                  <a:gd name="T4" fmla="*/ 363 w 453"/>
                  <a:gd name="T5" fmla="*/ 0 h 181"/>
                  <a:gd name="T6" fmla="*/ 453 w 453"/>
                  <a:gd name="T7" fmla="*/ 90 h 181"/>
                  <a:gd name="T8" fmla="*/ 363 w 453"/>
                  <a:gd name="T9" fmla="*/ 181 h 181"/>
                  <a:gd name="T10" fmla="*/ 91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noFill/>
              <a:ln w="9525">
                <a:solidFill>
                  <a:schemeClr val="tx1"/>
                </a:solidFill>
                <a:round/>
                <a:headEnd/>
                <a:tailEnd/>
              </a:ln>
            </p:spPr>
            <p:txBody>
              <a:bodyPr lIns="0" tIns="0" rIns="0" bIns="0" anchor="ctr"/>
              <a:lstStyle/>
              <a:p>
                <a:endParaRPr lang="es-ES"/>
              </a:p>
            </p:txBody>
          </p:sp>
        </p:grpSp>
        <p:sp>
          <p:nvSpPr>
            <p:cNvPr id="67605" name="Oval 16"/>
            <p:cNvSpPr>
              <a:spLocks noChangeArrowheads="1"/>
            </p:cNvSpPr>
            <p:nvPr/>
          </p:nvSpPr>
          <p:spPr bwMode="auto">
            <a:xfrm>
              <a:off x="3161779" y="456088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06" name="Oval 17"/>
            <p:cNvSpPr>
              <a:spLocks noChangeArrowheads="1"/>
            </p:cNvSpPr>
            <p:nvPr/>
          </p:nvSpPr>
          <p:spPr bwMode="auto">
            <a:xfrm>
              <a:off x="3161779" y="486568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07" name="Oval 18"/>
            <p:cNvSpPr>
              <a:spLocks noChangeArrowheads="1"/>
            </p:cNvSpPr>
            <p:nvPr/>
          </p:nvSpPr>
          <p:spPr bwMode="auto">
            <a:xfrm>
              <a:off x="3161779" y="547528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08" name="Oval 24"/>
            <p:cNvSpPr>
              <a:spLocks noChangeArrowheads="1"/>
            </p:cNvSpPr>
            <p:nvPr/>
          </p:nvSpPr>
          <p:spPr bwMode="auto">
            <a:xfrm>
              <a:off x="3172891" y="3933825"/>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09" name="Oval 31"/>
            <p:cNvSpPr>
              <a:spLocks noChangeArrowheads="1"/>
            </p:cNvSpPr>
            <p:nvPr/>
          </p:nvSpPr>
          <p:spPr bwMode="auto">
            <a:xfrm>
              <a:off x="4061891" y="4273550"/>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0" name="Oval 32"/>
            <p:cNvSpPr>
              <a:spLocks noChangeArrowheads="1"/>
            </p:cNvSpPr>
            <p:nvPr/>
          </p:nvSpPr>
          <p:spPr bwMode="auto">
            <a:xfrm>
              <a:off x="4061891" y="486568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1" name="Oval 33"/>
            <p:cNvSpPr>
              <a:spLocks noChangeArrowheads="1"/>
            </p:cNvSpPr>
            <p:nvPr/>
          </p:nvSpPr>
          <p:spPr bwMode="auto">
            <a:xfrm>
              <a:off x="4061891" y="547528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2" name="Oval 34"/>
            <p:cNvSpPr>
              <a:spLocks noChangeArrowheads="1"/>
            </p:cNvSpPr>
            <p:nvPr/>
          </p:nvSpPr>
          <p:spPr bwMode="auto">
            <a:xfrm>
              <a:off x="4073004" y="3933825"/>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3" name="Oval 35"/>
            <p:cNvSpPr>
              <a:spLocks noChangeArrowheads="1"/>
            </p:cNvSpPr>
            <p:nvPr/>
          </p:nvSpPr>
          <p:spPr bwMode="auto">
            <a:xfrm>
              <a:off x="4958829" y="4273550"/>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4" name="Oval 36"/>
            <p:cNvSpPr>
              <a:spLocks noChangeArrowheads="1"/>
            </p:cNvSpPr>
            <p:nvPr/>
          </p:nvSpPr>
          <p:spPr bwMode="auto">
            <a:xfrm>
              <a:off x="4958829" y="517683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5" name="Oval 37"/>
            <p:cNvSpPr>
              <a:spLocks noChangeArrowheads="1"/>
            </p:cNvSpPr>
            <p:nvPr/>
          </p:nvSpPr>
          <p:spPr bwMode="auto">
            <a:xfrm>
              <a:off x="4958829" y="5475288"/>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sp>
          <p:nvSpPr>
            <p:cNvPr id="67616" name="Oval 38"/>
            <p:cNvSpPr>
              <a:spLocks noChangeArrowheads="1"/>
            </p:cNvSpPr>
            <p:nvPr/>
          </p:nvSpPr>
          <p:spPr bwMode="auto">
            <a:xfrm>
              <a:off x="4960416" y="3630613"/>
              <a:ext cx="76200" cy="76200"/>
            </a:xfrm>
            <a:prstGeom prst="ellipse">
              <a:avLst/>
            </a:prstGeom>
            <a:solidFill>
              <a:srgbClr val="99FF66"/>
            </a:solidFill>
            <a:ln w="28575">
              <a:solidFill>
                <a:srgbClr val="99FF66"/>
              </a:solidFill>
              <a:round/>
              <a:headEnd/>
              <a:tailEnd/>
            </a:ln>
          </p:spPr>
          <p:txBody>
            <a:bodyPr wrap="none" anchor="ctr"/>
            <a:lstStyle/>
            <a:p>
              <a:endParaRPr lang="es-ES"/>
            </a:p>
          </p:txBody>
        </p:sp>
      </p:grpSp>
      <p:sp>
        <p:nvSpPr>
          <p:cNvPr id="48" name="47 CuadroTexto"/>
          <p:cNvSpPr txBox="1"/>
          <p:nvPr/>
        </p:nvSpPr>
        <p:spPr>
          <a:xfrm>
            <a:off x="5796136" y="2924944"/>
            <a:ext cx="3201517" cy="2708434"/>
          </a:xfrm>
          <a:prstGeom prst="rect">
            <a:avLst/>
          </a:prstGeom>
          <a:noFill/>
        </p:spPr>
        <p:txBody>
          <a:bodyPr wrap="none" rtlCol="0">
            <a:spAutoFit/>
          </a:bodyPr>
          <a:lstStyle/>
          <a:p>
            <a:pPr>
              <a:spcBef>
                <a:spcPts val="1200"/>
              </a:spcBef>
            </a:pPr>
            <a:r>
              <a:rPr lang="es-ES" dirty="0"/>
              <a:t>Órdenes más importantes:</a:t>
            </a:r>
          </a:p>
          <a:p>
            <a:pPr>
              <a:spcBef>
                <a:spcPts val="1200"/>
              </a:spcBef>
            </a:pPr>
            <a:r>
              <a:rPr lang="es-ES" dirty="0"/>
              <a:t>ACTIVATE</a:t>
            </a:r>
          </a:p>
          <a:p>
            <a:pPr>
              <a:spcBef>
                <a:spcPts val="1200"/>
              </a:spcBef>
            </a:pPr>
            <a:r>
              <a:rPr lang="es-ES" dirty="0"/>
              <a:t>READ</a:t>
            </a:r>
          </a:p>
          <a:p>
            <a:pPr>
              <a:spcBef>
                <a:spcPts val="1200"/>
              </a:spcBef>
            </a:pPr>
            <a:r>
              <a:rPr lang="es-ES" dirty="0"/>
              <a:t>WRITE</a:t>
            </a:r>
          </a:p>
          <a:p>
            <a:pPr>
              <a:spcBef>
                <a:spcPts val="1200"/>
              </a:spcBef>
            </a:pPr>
            <a:r>
              <a:rPr lang="es-ES" dirty="0"/>
              <a:t>PRECHARGE</a:t>
            </a:r>
          </a:p>
          <a:p>
            <a:pPr>
              <a:spcBef>
                <a:spcPts val="1200"/>
              </a:spcBef>
            </a:pPr>
            <a:r>
              <a:rPr lang="es-ES" dirty="0"/>
              <a:t>NOP</a:t>
            </a:r>
          </a:p>
        </p:txBody>
      </p:sp>
      <p:sp>
        <p:nvSpPr>
          <p:cNvPr id="49" name="48 CuadroTexto"/>
          <p:cNvSpPr txBox="1"/>
          <p:nvPr/>
        </p:nvSpPr>
        <p:spPr>
          <a:xfrm>
            <a:off x="5940152" y="5725515"/>
            <a:ext cx="3706878" cy="720197"/>
          </a:xfrm>
          <a:prstGeom prst="rect">
            <a:avLst/>
          </a:prstGeom>
          <a:noFill/>
        </p:spPr>
        <p:txBody>
          <a:bodyPr wrap="square" rtlCol="0">
            <a:spAutoFit/>
          </a:bodyPr>
          <a:lstStyle/>
          <a:p>
            <a:pPr marL="0" lvl="1" algn="l"/>
            <a:r>
              <a:rPr lang="es-ES" sz="1200" i="1" dirty="0"/>
              <a:t>Si el chip está deshabilitado por CS*, </a:t>
            </a:r>
          </a:p>
          <a:p>
            <a:pPr marL="0" lvl="1" algn="l"/>
            <a:r>
              <a:rPr lang="es-ES" sz="1200" i="1" dirty="0"/>
              <a:t>la orden interpretada es </a:t>
            </a:r>
            <a:r>
              <a:rPr lang="es-ES" sz="1200" i="1" dirty="0">
                <a:latin typeface="Arial Narrow" pitchFamily="34" charset="0"/>
              </a:rPr>
              <a:t>NOP</a:t>
            </a:r>
            <a:r>
              <a:rPr lang="es-ES" sz="1200" i="1" dirty="0"/>
              <a:t> </a:t>
            </a:r>
          </a:p>
          <a:p>
            <a:pPr marL="0" lvl="1" algn="l"/>
            <a:r>
              <a:rPr lang="es-ES" sz="1200" i="1" dirty="0"/>
              <a:t>(ninguna operación)</a:t>
            </a:r>
          </a:p>
        </p:txBody>
      </p:sp>
      <p:sp>
        <p:nvSpPr>
          <p:cNvPr id="11" name="2 Marcador de número de diapositiva">
            <a:extLst>
              <a:ext uri="{FF2B5EF4-FFF2-40B4-BE49-F238E27FC236}">
                <a16:creationId xmlns:a16="http://schemas.microsoft.com/office/drawing/2014/main" id="{91F3FB0B-DF59-FD8F-CF11-AD4738CDC6DB}"/>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s-ES" dirty="0"/>
              <a:t>Cronogramas de lectura y escritura</a:t>
            </a:r>
          </a:p>
        </p:txBody>
      </p:sp>
      <p:sp>
        <p:nvSpPr>
          <p:cNvPr id="54276" name="Rectangle 3"/>
          <p:cNvSpPr>
            <a:spLocks noGrp="1" noChangeArrowheads="1"/>
          </p:cNvSpPr>
          <p:nvPr>
            <p:ph type="body" idx="1"/>
          </p:nvPr>
        </p:nvSpPr>
        <p:spPr>
          <a:xfrm>
            <a:off x="419571" y="1484784"/>
            <a:ext cx="8713788" cy="1462088"/>
          </a:xfrm>
        </p:spPr>
        <p:txBody>
          <a:bodyPr/>
          <a:lstStyle/>
          <a:p>
            <a:pPr>
              <a:lnSpc>
                <a:spcPct val="100000"/>
              </a:lnSpc>
            </a:pPr>
            <a:r>
              <a:rPr lang="es-ES" b="1" dirty="0"/>
              <a:t>Activaci</a:t>
            </a:r>
            <a:r>
              <a:rPr lang="es-ES" altLang="ja-JP" b="1" dirty="0">
                <a:ea typeface="Geneva" pitchFamily="1" charset="-128"/>
              </a:rPr>
              <a:t>ón</a:t>
            </a:r>
            <a:endParaRPr lang="es-ES" b="1" dirty="0"/>
          </a:p>
          <a:p>
            <a:pPr lvl="1">
              <a:lnSpc>
                <a:spcPct val="100000"/>
              </a:lnSpc>
            </a:pPr>
            <a:r>
              <a:rPr lang="es-ES" sz="1800" dirty="0"/>
              <a:t>Carga del registro de fila con el contenido del bus de direcciones a través de la activaci</a:t>
            </a:r>
            <a:r>
              <a:rPr lang="es-ES" altLang="ja-JP" sz="1800" dirty="0">
                <a:ea typeface="Geneva" pitchFamily="1" charset="-128"/>
              </a:rPr>
              <a:t>ón de la</a:t>
            </a:r>
            <a:r>
              <a:rPr lang="es-ES" sz="1800" dirty="0"/>
              <a:t> señal /RAS (</a:t>
            </a:r>
            <a:r>
              <a:rPr lang="es-ES" sz="1800" i="1" dirty="0" err="1"/>
              <a:t>Row</a:t>
            </a:r>
            <a:r>
              <a:rPr lang="es-ES" sz="1800" i="1" dirty="0"/>
              <a:t> </a:t>
            </a:r>
            <a:r>
              <a:rPr lang="es-ES" sz="1800" i="1" dirty="0" err="1"/>
              <a:t>Adress</a:t>
            </a:r>
            <a:r>
              <a:rPr lang="es-ES" sz="1800" i="1" dirty="0"/>
              <a:t> </a:t>
            </a:r>
            <a:r>
              <a:rPr lang="es-ES" sz="1800" i="1" dirty="0" err="1"/>
              <a:t>Strobe</a:t>
            </a:r>
            <a:r>
              <a:rPr lang="es-ES" sz="1800" dirty="0"/>
              <a:t>). La fila seleccionada queda “abierta” y su contenido se lleva a los amplificadores</a:t>
            </a:r>
          </a:p>
          <a:p>
            <a:pPr lvl="1">
              <a:lnSpc>
                <a:spcPct val="100000"/>
              </a:lnSpc>
            </a:pPr>
            <a:r>
              <a:rPr lang="es-ES" sz="1800" dirty="0"/>
              <a:t>Despu</a:t>
            </a:r>
            <a:r>
              <a:rPr lang="es-ES" altLang="ja-JP" sz="1800" dirty="0">
                <a:ea typeface="Geneva" pitchFamily="1" charset="-128"/>
              </a:rPr>
              <a:t>és de la activación, la fila completa queda retenida por los amplificadores, pudiéndose  acceder a diversas columnas repitiendo las operaciones de lectura o de escritura sobre la fila abierta</a:t>
            </a:r>
            <a:endParaRPr lang="es-ES" sz="1800" dirty="0"/>
          </a:p>
          <a:p>
            <a:pPr lvl="1">
              <a:lnSpc>
                <a:spcPct val="100000"/>
              </a:lnSpc>
            </a:pPr>
            <a:endParaRPr lang="es-ES" sz="1800" dirty="0"/>
          </a:p>
        </p:txBody>
      </p:sp>
      <p:sp>
        <p:nvSpPr>
          <p:cNvPr id="4" name="Rectangle 3">
            <a:extLst>
              <a:ext uri="{FF2B5EF4-FFF2-40B4-BE49-F238E27FC236}">
                <a16:creationId xmlns:a16="http://schemas.microsoft.com/office/drawing/2014/main" id="{9D93B4B1-E007-47E5-94D2-CE7E27BE083E}"/>
              </a:ext>
            </a:extLst>
          </p:cNvPr>
          <p:cNvSpPr txBox="1">
            <a:spLocks noChangeArrowheads="1"/>
          </p:cNvSpPr>
          <p:nvPr/>
        </p:nvSpPr>
        <p:spPr>
          <a:xfrm>
            <a:off x="419571" y="981075"/>
            <a:ext cx="8640763" cy="503709"/>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marL="82550" indent="0">
              <a:buNone/>
            </a:pPr>
            <a:r>
              <a:rPr lang="es-ES" dirty="0">
                <a:solidFill>
                  <a:schemeClr val="accent1"/>
                </a:solidFill>
              </a:rPr>
              <a:t>Emisión de órdenes</a:t>
            </a:r>
          </a:p>
        </p:txBody>
      </p:sp>
      <p:sp>
        <p:nvSpPr>
          <p:cNvPr id="2" name="2 Marcador de número de diapositiva">
            <a:extLst>
              <a:ext uri="{FF2B5EF4-FFF2-40B4-BE49-F238E27FC236}">
                <a16:creationId xmlns:a16="http://schemas.microsoft.com/office/drawing/2014/main" id="{E013F908-E624-58EF-E5B5-C05333431336}"/>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64</a:t>
            </a:fld>
            <a:endParaRPr lang="en-US" dirty="0"/>
          </a:p>
        </p:txBody>
      </p:sp>
    </p:spTree>
    <p:extLst>
      <p:ext uri="{BB962C8B-B14F-4D97-AF65-F5344CB8AC3E}">
        <p14:creationId xmlns:p14="http://schemas.microsoft.com/office/powerpoint/2010/main" val="1135596057"/>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Rectangle 278"/>
          <p:cNvSpPr>
            <a:spLocks noChangeArrowheads="1"/>
          </p:cNvSpPr>
          <p:nvPr/>
        </p:nvSpPr>
        <p:spPr bwMode="ltGray">
          <a:xfrm>
            <a:off x="4572000" y="4582339"/>
            <a:ext cx="2943225" cy="609600"/>
          </a:xfrm>
          <a:prstGeom prst="rect">
            <a:avLst/>
          </a:prstGeom>
          <a:solidFill>
            <a:schemeClr val="accent1"/>
          </a:solidFill>
          <a:ln w="9525">
            <a:miter lim="800000"/>
            <a:headEnd/>
            <a:tailEnd/>
          </a:ln>
          <a:scene3d>
            <a:camera prst="legacyObliqueTopRight"/>
            <a:lightRig rig="legacyFlat3" dir="b"/>
          </a:scene3d>
          <a:sp3d extrusionH="1116000" prstMaterial="legacyMetal">
            <a:bevelT w="13500" h="13500" prst="angle"/>
            <a:bevelB w="13500" h="13500" prst="angle"/>
            <a:extrusionClr>
              <a:schemeClr val="accent1"/>
            </a:extrusionClr>
          </a:sp3d>
        </p:spPr>
        <p:txBody>
          <a:bodyPr wrap="none" lIns="0" tIns="0" rIns="0" bIns="0" anchor="ctr">
            <a:flatTx/>
          </a:bodyPr>
          <a:lstStyle/>
          <a:p>
            <a:r>
              <a:rPr lang="es-ES" dirty="0">
                <a:solidFill>
                  <a:schemeClr val="bg1">
                    <a:lumMod val="95000"/>
                  </a:schemeClr>
                </a:solidFill>
              </a:rPr>
              <a:t>Lógica de E/S</a:t>
            </a:r>
          </a:p>
        </p:txBody>
      </p:sp>
      <p:grpSp>
        <p:nvGrpSpPr>
          <p:cNvPr id="4" name="407 Grupo"/>
          <p:cNvGrpSpPr/>
          <p:nvPr/>
        </p:nvGrpSpPr>
        <p:grpSpPr>
          <a:xfrm>
            <a:off x="4283968" y="1279223"/>
            <a:ext cx="3643313" cy="3068811"/>
            <a:chOff x="4427984" y="1728341"/>
            <a:chExt cx="3643313" cy="3068811"/>
          </a:xfrm>
        </p:grpSpPr>
        <p:sp>
          <p:nvSpPr>
            <p:cNvPr id="409" name="Rectangle 209"/>
            <p:cNvSpPr>
              <a:spLocks noChangeArrowheads="1"/>
            </p:cNvSpPr>
            <p:nvPr/>
          </p:nvSpPr>
          <p:spPr bwMode="blackWhite">
            <a:xfrm>
              <a:off x="4427984" y="1728341"/>
              <a:ext cx="3643313" cy="1844675"/>
            </a:xfrm>
            <a:prstGeom prst="rect">
              <a:avLst/>
            </a:prstGeom>
            <a:solidFill>
              <a:schemeClr val="tx2">
                <a:lumMod val="20000"/>
                <a:lumOff val="80000"/>
              </a:schemeClr>
            </a:solidFill>
            <a:ln w="19050">
              <a:noFill/>
              <a:miter lim="800000"/>
              <a:headEnd/>
              <a:tailEnd/>
            </a:ln>
          </p:spPr>
          <p:txBody>
            <a:bodyPr wrap="none" lIns="0" tIns="0" rIns="0" bIns="0" anchor="ctr"/>
            <a:lstStyle/>
            <a:p>
              <a:endParaRPr lang="es-ES"/>
            </a:p>
          </p:txBody>
        </p:sp>
        <p:sp>
          <p:nvSpPr>
            <p:cNvPr id="410" name="Rectangle 225"/>
            <p:cNvSpPr>
              <a:spLocks noChangeArrowheads="1"/>
            </p:cNvSpPr>
            <p:nvPr/>
          </p:nvSpPr>
          <p:spPr bwMode="auto">
            <a:xfrm rot="16200000">
              <a:off x="4392000" y="2554703"/>
              <a:ext cx="792089" cy="380441"/>
            </a:xfrm>
            <a:prstGeom prst="rect">
              <a:avLst/>
            </a:prstGeom>
            <a:solidFill>
              <a:schemeClr val="tx2">
                <a:lumMod val="75000"/>
              </a:schemeClr>
            </a:solidFill>
            <a:ln w="12700">
              <a:solidFill>
                <a:schemeClr val="bg2"/>
              </a:solidFill>
              <a:miter lim="800000"/>
              <a:headEnd/>
              <a:tailEnd/>
            </a:ln>
          </p:spPr>
          <p:txBody>
            <a:bodyPr vert="horz" wrap="square" lIns="0" tIns="18000" rIns="0" bIns="18000" anchor="ctr">
              <a:noAutofit/>
            </a:bodyPr>
            <a:lstStyle/>
            <a:p>
              <a:pPr>
                <a:lnSpc>
                  <a:spcPts val="1000"/>
                </a:lnSpc>
              </a:pPr>
              <a:r>
                <a:rPr lang="es-ES" sz="1200" kern="1500" dirty="0">
                  <a:solidFill>
                    <a:schemeClr val="bg1"/>
                  </a:solidFill>
                </a:rPr>
                <a:t>Registro      de fila</a:t>
              </a:r>
            </a:p>
          </p:txBody>
        </p:sp>
        <p:grpSp>
          <p:nvGrpSpPr>
            <p:cNvPr id="7" name="67 Grupo"/>
            <p:cNvGrpSpPr/>
            <p:nvPr/>
          </p:nvGrpSpPr>
          <p:grpSpPr>
            <a:xfrm>
              <a:off x="4968000" y="1988840"/>
              <a:ext cx="2487613" cy="1006475"/>
              <a:chOff x="4732339" y="2571750"/>
              <a:chExt cx="2487613" cy="1006475"/>
            </a:xfrm>
          </p:grpSpPr>
          <p:sp>
            <p:nvSpPr>
              <p:cNvPr id="488" name="Line 213"/>
              <p:cNvSpPr>
                <a:spLocks noChangeShapeType="1"/>
              </p:cNvSpPr>
              <p:nvPr/>
            </p:nvSpPr>
            <p:spPr bwMode="auto">
              <a:xfrm>
                <a:off x="4732339" y="3578225"/>
                <a:ext cx="248761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grpSp>
            <p:nvGrpSpPr>
              <p:cNvPr id="10" name="54 Grupo"/>
              <p:cNvGrpSpPr/>
              <p:nvPr/>
            </p:nvGrpSpPr>
            <p:grpSpPr>
              <a:xfrm>
                <a:off x="4732339" y="3241675"/>
                <a:ext cx="2487613" cy="201613"/>
                <a:chOff x="4732339" y="3241675"/>
                <a:chExt cx="2487613" cy="201613"/>
              </a:xfrm>
            </p:grpSpPr>
            <p:sp>
              <p:nvSpPr>
                <p:cNvPr id="496" name="Line 212"/>
                <p:cNvSpPr>
                  <a:spLocks noChangeShapeType="1"/>
                </p:cNvSpPr>
                <p:nvPr/>
              </p:nvSpPr>
              <p:spPr bwMode="auto">
                <a:xfrm>
                  <a:off x="5176839" y="3241675"/>
                  <a:ext cx="204311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nvGrpSpPr>
              <p:cNvPr id="13" name="57 Grupo"/>
              <p:cNvGrpSpPr/>
              <p:nvPr/>
            </p:nvGrpSpPr>
            <p:grpSpPr>
              <a:xfrm>
                <a:off x="4732339" y="2906713"/>
                <a:ext cx="2487613" cy="401638"/>
                <a:chOff x="4732339" y="2906713"/>
                <a:chExt cx="2487613" cy="401638"/>
              </a:xfrm>
            </p:grpSpPr>
            <p:sp>
              <p:nvSpPr>
                <p:cNvPr id="494" name="Line 211"/>
                <p:cNvSpPr>
                  <a:spLocks noChangeShapeType="1"/>
                </p:cNvSpPr>
                <p:nvPr/>
              </p:nvSpPr>
              <p:spPr bwMode="auto">
                <a:xfrm>
                  <a:off x="5065714" y="2906713"/>
                  <a:ext cx="2154238"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5"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nvGrpSpPr>
              <p:cNvPr id="16" name="60 Grupo"/>
              <p:cNvGrpSpPr/>
              <p:nvPr/>
            </p:nvGrpSpPr>
            <p:grpSpPr>
              <a:xfrm>
                <a:off x="4732339" y="2571750"/>
                <a:ext cx="2487613" cy="604838"/>
                <a:chOff x="4732339" y="2571750"/>
                <a:chExt cx="2487613" cy="604838"/>
              </a:xfrm>
            </p:grpSpPr>
            <p:sp>
              <p:nvSpPr>
                <p:cNvPr id="492" name="Line 210"/>
                <p:cNvSpPr>
                  <a:spLocks noChangeShapeType="1"/>
                </p:cNvSpPr>
                <p:nvPr/>
              </p:nvSpPr>
              <p:spPr bwMode="auto">
                <a:xfrm>
                  <a:off x="4954589" y="2571750"/>
                  <a:ext cx="226536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grpSp>
          <p:nvGrpSpPr>
            <p:cNvPr id="19" name="67 Grupo"/>
            <p:cNvGrpSpPr/>
            <p:nvPr/>
          </p:nvGrpSpPr>
          <p:grpSpPr>
            <a:xfrm>
              <a:off x="5724128" y="2074291"/>
              <a:ext cx="2054225" cy="1230313"/>
              <a:chOff x="5510214" y="2705100"/>
              <a:chExt cx="2054225" cy="1230313"/>
            </a:xfrm>
          </p:grpSpPr>
          <p:sp>
            <p:nvSpPr>
              <p:cNvPr id="480" name="Line 214"/>
              <p:cNvSpPr>
                <a:spLocks noChangeShapeType="1"/>
              </p:cNvSpPr>
              <p:nvPr/>
            </p:nvSpPr>
            <p:spPr bwMode="auto">
              <a:xfrm flipH="1">
                <a:off x="55102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1" name="Line 215"/>
              <p:cNvSpPr>
                <a:spLocks noChangeShapeType="1"/>
              </p:cNvSpPr>
              <p:nvPr/>
            </p:nvSpPr>
            <p:spPr bwMode="auto">
              <a:xfrm flipH="1">
                <a:off x="57324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2" name="Line 216"/>
              <p:cNvSpPr>
                <a:spLocks noChangeShapeType="1"/>
              </p:cNvSpPr>
              <p:nvPr/>
            </p:nvSpPr>
            <p:spPr bwMode="auto">
              <a:xfrm flipH="1">
                <a:off x="61198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3" name="Line 217"/>
              <p:cNvSpPr>
                <a:spLocks noChangeShapeType="1"/>
              </p:cNvSpPr>
              <p:nvPr/>
            </p:nvSpPr>
            <p:spPr bwMode="auto">
              <a:xfrm flipH="1">
                <a:off x="63420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4" name="Line 218"/>
              <p:cNvSpPr>
                <a:spLocks noChangeShapeType="1"/>
              </p:cNvSpPr>
              <p:nvPr/>
            </p:nvSpPr>
            <p:spPr bwMode="auto">
              <a:xfrm flipH="1">
                <a:off x="673100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485" name="Line 219"/>
              <p:cNvSpPr>
                <a:spLocks noChangeShapeType="1"/>
              </p:cNvSpPr>
              <p:nvPr/>
            </p:nvSpPr>
            <p:spPr bwMode="auto">
              <a:xfrm flipH="1">
                <a:off x="695325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486" name="Line 220"/>
              <p:cNvSpPr>
                <a:spLocks noChangeShapeType="1"/>
              </p:cNvSpPr>
              <p:nvPr/>
            </p:nvSpPr>
            <p:spPr bwMode="auto">
              <a:xfrm flipH="1">
                <a:off x="7342189" y="2725738"/>
                <a:ext cx="0" cy="1209675"/>
              </a:xfrm>
              <a:prstGeom prst="line">
                <a:avLst/>
              </a:prstGeom>
              <a:noFill/>
              <a:ln w="28575">
                <a:solidFill>
                  <a:srgbClr val="FF3300"/>
                </a:solidFill>
                <a:round/>
                <a:headEnd/>
                <a:tailEnd/>
              </a:ln>
            </p:spPr>
            <p:txBody>
              <a:bodyPr anchor="ctr">
                <a:spAutoFit/>
              </a:bodyPr>
              <a:lstStyle/>
              <a:p>
                <a:endParaRPr lang="es-ES"/>
              </a:p>
            </p:txBody>
          </p:sp>
          <p:sp>
            <p:nvSpPr>
              <p:cNvPr id="487" name="Line 221"/>
              <p:cNvSpPr>
                <a:spLocks noChangeShapeType="1"/>
              </p:cNvSpPr>
              <p:nvPr/>
            </p:nvSpPr>
            <p:spPr bwMode="auto">
              <a:xfrm flipH="1">
                <a:off x="7564439" y="2725738"/>
                <a:ext cx="0" cy="1209675"/>
              </a:xfrm>
              <a:prstGeom prst="line">
                <a:avLst/>
              </a:prstGeom>
              <a:noFill/>
              <a:ln w="28575">
                <a:solidFill>
                  <a:srgbClr val="FF3300"/>
                </a:solidFill>
                <a:round/>
                <a:headEnd/>
                <a:tailEnd/>
              </a:ln>
            </p:spPr>
            <p:txBody>
              <a:bodyPr anchor="ctr">
                <a:spAutoFit/>
              </a:bodyPr>
              <a:lstStyle/>
              <a:p>
                <a:endParaRPr lang="es-ES"/>
              </a:p>
            </p:txBody>
          </p:sp>
        </p:grpSp>
        <p:grpSp>
          <p:nvGrpSpPr>
            <p:cNvPr id="22" name="76 Grupo"/>
            <p:cNvGrpSpPr/>
            <p:nvPr/>
          </p:nvGrpSpPr>
          <p:grpSpPr>
            <a:xfrm>
              <a:off x="5607893" y="3278559"/>
              <a:ext cx="2276475" cy="134938"/>
              <a:chOff x="5399089" y="3913188"/>
              <a:chExt cx="2276475" cy="134938"/>
            </a:xfrm>
          </p:grpSpPr>
          <p:sp>
            <p:nvSpPr>
              <p:cNvPr id="47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grpSp>
        <p:grpSp>
          <p:nvGrpSpPr>
            <p:cNvPr id="25" name="Group 266"/>
            <p:cNvGrpSpPr>
              <a:grpSpLocks/>
            </p:cNvGrpSpPr>
            <p:nvPr/>
          </p:nvGrpSpPr>
          <p:grpSpPr bwMode="auto">
            <a:xfrm>
              <a:off x="5724128" y="3411909"/>
              <a:ext cx="2054225" cy="1385243"/>
              <a:chOff x="2724" y="2704"/>
              <a:chExt cx="1678" cy="267"/>
            </a:xfrm>
          </p:grpSpPr>
          <p:sp>
            <p:nvSpPr>
              <p:cNvPr id="464" name="Line 267"/>
              <p:cNvSpPr>
                <a:spLocks noChangeShapeType="1"/>
              </p:cNvSpPr>
              <p:nvPr/>
            </p:nvSpPr>
            <p:spPr bwMode="auto">
              <a:xfrm flipH="1">
                <a:off x="272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5" name="Line 268"/>
              <p:cNvSpPr>
                <a:spLocks noChangeShapeType="1"/>
              </p:cNvSpPr>
              <p:nvPr/>
            </p:nvSpPr>
            <p:spPr bwMode="auto">
              <a:xfrm flipH="1">
                <a:off x="2905"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6" name="Line 269"/>
              <p:cNvSpPr>
                <a:spLocks noChangeShapeType="1"/>
              </p:cNvSpPr>
              <p:nvPr/>
            </p:nvSpPr>
            <p:spPr bwMode="auto">
              <a:xfrm flipH="1">
                <a:off x="322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7" name="Line 270"/>
              <p:cNvSpPr>
                <a:spLocks noChangeShapeType="1"/>
              </p:cNvSpPr>
              <p:nvPr/>
            </p:nvSpPr>
            <p:spPr bwMode="auto">
              <a:xfrm flipH="1">
                <a:off x="340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8" name="Line 271"/>
              <p:cNvSpPr>
                <a:spLocks noChangeShapeType="1"/>
              </p:cNvSpPr>
              <p:nvPr/>
            </p:nvSpPr>
            <p:spPr bwMode="auto">
              <a:xfrm flipH="1">
                <a:off x="372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9" name="Line 272"/>
              <p:cNvSpPr>
                <a:spLocks noChangeShapeType="1"/>
              </p:cNvSpPr>
              <p:nvPr/>
            </p:nvSpPr>
            <p:spPr bwMode="auto">
              <a:xfrm flipH="1">
                <a:off x="390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70" name="Line 273"/>
              <p:cNvSpPr>
                <a:spLocks noChangeShapeType="1"/>
              </p:cNvSpPr>
              <p:nvPr/>
            </p:nvSpPr>
            <p:spPr bwMode="auto">
              <a:xfrm flipH="1">
                <a:off x="4221"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71" name="Line 274"/>
              <p:cNvSpPr>
                <a:spLocks noChangeShapeType="1"/>
              </p:cNvSpPr>
              <p:nvPr/>
            </p:nvSpPr>
            <p:spPr bwMode="auto">
              <a:xfrm flipH="1">
                <a:off x="440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grpSp>
        <p:grpSp>
          <p:nvGrpSpPr>
            <p:cNvPr id="28" name="78 Grupo"/>
            <p:cNvGrpSpPr/>
            <p:nvPr/>
          </p:nvGrpSpPr>
          <p:grpSpPr>
            <a:xfrm>
              <a:off x="5607893" y="1916832"/>
              <a:ext cx="2276475" cy="1208088"/>
              <a:chOff x="4772892" y="2564904"/>
              <a:chExt cx="2276475" cy="1208088"/>
            </a:xfrm>
            <a:solidFill>
              <a:schemeClr val="tx2">
                <a:lumMod val="60000"/>
                <a:lumOff val="40000"/>
              </a:schemeClr>
            </a:solidFill>
          </p:grpSpPr>
          <p:grpSp>
            <p:nvGrpSpPr>
              <p:cNvPr id="31" name="3 Grupo"/>
              <p:cNvGrpSpPr/>
              <p:nvPr/>
            </p:nvGrpSpPr>
            <p:grpSpPr>
              <a:xfrm>
                <a:off x="4772892" y="2564904"/>
                <a:ext cx="444500" cy="200025"/>
                <a:chOff x="5399089" y="2505075"/>
                <a:chExt cx="444500" cy="200025"/>
              </a:xfrm>
              <a:grpFill/>
            </p:grpSpPr>
            <p:sp>
              <p:nvSpPr>
                <p:cNvPr id="462"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63"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34" name="6 Grupo"/>
              <p:cNvGrpSpPr/>
              <p:nvPr/>
            </p:nvGrpSpPr>
            <p:grpSpPr>
              <a:xfrm>
                <a:off x="4772892" y="2899867"/>
                <a:ext cx="444500" cy="201613"/>
                <a:chOff x="5399089" y="2840038"/>
                <a:chExt cx="444500" cy="201613"/>
              </a:xfrm>
              <a:grpFill/>
            </p:grpSpPr>
            <p:sp>
              <p:nvSpPr>
                <p:cNvPr id="460"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61"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37" name="9 Grupo"/>
              <p:cNvGrpSpPr/>
              <p:nvPr/>
            </p:nvGrpSpPr>
            <p:grpSpPr>
              <a:xfrm>
                <a:off x="4772892" y="3236417"/>
                <a:ext cx="444500" cy="200025"/>
                <a:chOff x="5399089" y="3176588"/>
                <a:chExt cx="444500" cy="200025"/>
              </a:xfrm>
              <a:grpFill/>
            </p:grpSpPr>
            <p:sp>
              <p:nvSpPr>
                <p:cNvPr id="458"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59"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40" name="12 Grupo"/>
              <p:cNvGrpSpPr/>
              <p:nvPr/>
            </p:nvGrpSpPr>
            <p:grpSpPr>
              <a:xfrm>
                <a:off x="4772892" y="3571379"/>
                <a:ext cx="444500" cy="201613"/>
                <a:chOff x="5399089" y="3511550"/>
                <a:chExt cx="444500" cy="201613"/>
              </a:xfrm>
              <a:grpFill/>
            </p:grpSpPr>
            <p:sp>
              <p:nvSpPr>
                <p:cNvPr id="456"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57"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43" name="419 Grupo"/>
              <p:cNvGrpSpPr/>
              <p:nvPr/>
            </p:nvGrpSpPr>
            <p:grpSpPr>
              <a:xfrm>
                <a:off x="5384079" y="2564904"/>
                <a:ext cx="444500" cy="200025"/>
                <a:chOff x="6010276" y="2505075"/>
                <a:chExt cx="444500" cy="200025"/>
              </a:xfrm>
              <a:grpFill/>
            </p:grpSpPr>
            <p:sp>
              <p:nvSpPr>
                <p:cNvPr id="454"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55"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46" name="18 Grupo"/>
              <p:cNvGrpSpPr/>
              <p:nvPr/>
            </p:nvGrpSpPr>
            <p:grpSpPr>
              <a:xfrm>
                <a:off x="5384079" y="2899867"/>
                <a:ext cx="444500" cy="201613"/>
                <a:chOff x="6010276" y="2840038"/>
                <a:chExt cx="444500" cy="201613"/>
              </a:xfrm>
              <a:grpFill/>
            </p:grpSpPr>
            <p:sp>
              <p:nvSpPr>
                <p:cNvPr id="452"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53"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49" name="85 Grupo"/>
              <p:cNvGrpSpPr/>
              <p:nvPr/>
            </p:nvGrpSpPr>
            <p:grpSpPr>
              <a:xfrm>
                <a:off x="5384079" y="3236417"/>
                <a:ext cx="444500" cy="200025"/>
                <a:chOff x="6010276" y="3176588"/>
                <a:chExt cx="444500" cy="200025"/>
              </a:xfrm>
              <a:grpFill/>
            </p:grpSpPr>
            <p:sp>
              <p:nvSpPr>
                <p:cNvPr id="450"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51"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55" name="24 Grupo"/>
              <p:cNvGrpSpPr/>
              <p:nvPr/>
            </p:nvGrpSpPr>
            <p:grpSpPr>
              <a:xfrm>
                <a:off x="5384079" y="3571379"/>
                <a:ext cx="444500" cy="201613"/>
                <a:chOff x="6010276" y="3511550"/>
                <a:chExt cx="444500" cy="201613"/>
              </a:xfrm>
              <a:grpFill/>
            </p:grpSpPr>
            <p:sp>
              <p:nvSpPr>
                <p:cNvPr id="448"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9"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58" name="27 Grupo"/>
              <p:cNvGrpSpPr/>
              <p:nvPr/>
            </p:nvGrpSpPr>
            <p:grpSpPr>
              <a:xfrm>
                <a:off x="5995267" y="2564904"/>
                <a:ext cx="442913" cy="200025"/>
                <a:chOff x="6621464" y="2505075"/>
                <a:chExt cx="442913" cy="200025"/>
              </a:xfrm>
              <a:grpFill/>
            </p:grpSpPr>
            <p:sp>
              <p:nvSpPr>
                <p:cNvPr id="446"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47"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61" name="30 Grupo"/>
              <p:cNvGrpSpPr/>
              <p:nvPr/>
            </p:nvGrpSpPr>
            <p:grpSpPr>
              <a:xfrm>
                <a:off x="5995267" y="2899867"/>
                <a:ext cx="442913" cy="201613"/>
                <a:chOff x="6621464" y="2840038"/>
                <a:chExt cx="442913" cy="201613"/>
              </a:xfrm>
              <a:grpFill/>
            </p:grpSpPr>
            <p:sp>
              <p:nvSpPr>
                <p:cNvPr id="444"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5"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192" name="33 Grupo"/>
              <p:cNvGrpSpPr/>
              <p:nvPr/>
            </p:nvGrpSpPr>
            <p:grpSpPr>
              <a:xfrm>
                <a:off x="5995267" y="3236417"/>
                <a:ext cx="442913" cy="200025"/>
                <a:chOff x="6621464" y="3176588"/>
                <a:chExt cx="442913" cy="200025"/>
              </a:xfrm>
              <a:grpFill/>
            </p:grpSpPr>
            <p:sp>
              <p:nvSpPr>
                <p:cNvPr id="442"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43"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01" name="36 Grupo"/>
              <p:cNvGrpSpPr/>
              <p:nvPr/>
            </p:nvGrpSpPr>
            <p:grpSpPr>
              <a:xfrm>
                <a:off x="5995267" y="3571379"/>
                <a:ext cx="442913" cy="201613"/>
                <a:chOff x="6621464" y="3511550"/>
                <a:chExt cx="442913" cy="201613"/>
              </a:xfrm>
              <a:grpFill/>
            </p:grpSpPr>
            <p:sp>
              <p:nvSpPr>
                <p:cNvPr id="440"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1"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10" name="39 Grupo"/>
              <p:cNvGrpSpPr/>
              <p:nvPr/>
            </p:nvGrpSpPr>
            <p:grpSpPr>
              <a:xfrm>
                <a:off x="6604867" y="2564904"/>
                <a:ext cx="444500" cy="200025"/>
                <a:chOff x="7231064" y="2505075"/>
                <a:chExt cx="444500" cy="200025"/>
              </a:xfrm>
              <a:grpFill/>
            </p:grpSpPr>
            <p:sp>
              <p:nvSpPr>
                <p:cNvPr id="438"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39"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22" name="42 Grupo"/>
              <p:cNvGrpSpPr/>
              <p:nvPr/>
            </p:nvGrpSpPr>
            <p:grpSpPr>
              <a:xfrm>
                <a:off x="6604867" y="2899867"/>
                <a:ext cx="444500" cy="201613"/>
                <a:chOff x="7231064" y="2840038"/>
                <a:chExt cx="444500" cy="201613"/>
              </a:xfrm>
              <a:grpFill/>
            </p:grpSpPr>
            <p:sp>
              <p:nvSpPr>
                <p:cNvPr id="436"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37"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23" name="45 Grupo"/>
              <p:cNvGrpSpPr/>
              <p:nvPr/>
            </p:nvGrpSpPr>
            <p:grpSpPr>
              <a:xfrm>
                <a:off x="6604867" y="3236417"/>
                <a:ext cx="444500" cy="200025"/>
                <a:chOff x="7231064" y="3176588"/>
                <a:chExt cx="444500" cy="200025"/>
              </a:xfrm>
              <a:grpFill/>
            </p:grpSpPr>
            <p:sp>
              <p:nvSpPr>
                <p:cNvPr id="434"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35"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28" name="48 Grupo"/>
              <p:cNvGrpSpPr/>
              <p:nvPr/>
            </p:nvGrpSpPr>
            <p:grpSpPr>
              <a:xfrm>
                <a:off x="6604867" y="3571379"/>
                <a:ext cx="444500" cy="201613"/>
                <a:chOff x="7231064" y="3511550"/>
                <a:chExt cx="444500" cy="201613"/>
              </a:xfrm>
              <a:grpFill/>
            </p:grpSpPr>
            <p:sp>
              <p:nvSpPr>
                <p:cNvPr id="432"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33"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grpSp>
      <p:sp>
        <p:nvSpPr>
          <p:cNvPr id="52" name="Rectangle 209"/>
          <p:cNvSpPr>
            <a:spLocks noChangeArrowheads="1"/>
          </p:cNvSpPr>
          <p:nvPr/>
        </p:nvSpPr>
        <p:spPr bwMode="blackWhite">
          <a:xfrm>
            <a:off x="3592983" y="2170852"/>
            <a:ext cx="3643313" cy="1844675"/>
          </a:xfrm>
          <a:prstGeom prst="rect">
            <a:avLst/>
          </a:prstGeom>
          <a:solidFill>
            <a:schemeClr val="accent6">
              <a:lumMod val="20000"/>
              <a:lumOff val="80000"/>
            </a:schemeClr>
          </a:solidFill>
          <a:ln w="19050">
            <a:noFill/>
            <a:miter lim="800000"/>
            <a:headEnd/>
            <a:tailEnd/>
          </a:ln>
        </p:spPr>
        <p:txBody>
          <a:bodyPr wrap="none" lIns="0" tIns="0" rIns="0" bIns="0" anchor="ctr"/>
          <a:lstStyle/>
          <a:p>
            <a:endParaRPr lang="es-ES"/>
          </a:p>
        </p:txBody>
      </p:sp>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65</a:t>
            </a:fld>
            <a:endParaRPr lang="en-US" dirty="0"/>
          </a:p>
        </p:txBody>
      </p:sp>
      <p:sp>
        <p:nvSpPr>
          <p:cNvPr id="53" name="Rectangle 225"/>
          <p:cNvSpPr>
            <a:spLocks noChangeArrowheads="1"/>
          </p:cNvSpPr>
          <p:nvPr/>
        </p:nvSpPr>
        <p:spPr bwMode="auto">
          <a:xfrm rot="16200000">
            <a:off x="3528000" y="2997214"/>
            <a:ext cx="792089" cy="380441"/>
          </a:xfrm>
          <a:prstGeom prst="rect">
            <a:avLst/>
          </a:prstGeom>
          <a:solidFill>
            <a:schemeClr val="accent6">
              <a:lumMod val="75000"/>
            </a:schemeClr>
          </a:solidFill>
          <a:ln w="12700">
            <a:solidFill>
              <a:schemeClr val="bg2"/>
            </a:solidFill>
            <a:miter lim="800000"/>
            <a:headEnd/>
            <a:tailEnd/>
          </a:ln>
        </p:spPr>
        <p:txBody>
          <a:bodyPr vert="horz" wrap="square" lIns="0" tIns="18000" rIns="0" bIns="18000" anchor="ctr">
            <a:noAutofit/>
          </a:bodyPr>
          <a:lstStyle/>
          <a:p>
            <a:r>
              <a:rPr lang="es-ES" sz="1200" kern="1500" dirty="0">
                <a:solidFill>
                  <a:schemeClr val="bg1"/>
                </a:solidFill>
              </a:rPr>
              <a:t>Registro  de </a:t>
            </a:r>
            <a:r>
              <a:rPr lang="es-ES" sz="1200" b="1" kern="1500" dirty="0">
                <a:solidFill>
                  <a:schemeClr val="bg1"/>
                </a:solidFill>
              </a:rPr>
              <a:t>fila</a:t>
            </a:r>
          </a:p>
        </p:txBody>
      </p:sp>
      <p:grpSp>
        <p:nvGrpSpPr>
          <p:cNvPr id="230" name="63 Grupo"/>
          <p:cNvGrpSpPr/>
          <p:nvPr/>
        </p:nvGrpSpPr>
        <p:grpSpPr>
          <a:xfrm>
            <a:off x="4100611" y="2431351"/>
            <a:ext cx="2487613" cy="1006475"/>
            <a:chOff x="4732339" y="2571750"/>
            <a:chExt cx="2487613" cy="1006475"/>
          </a:xfrm>
        </p:grpSpPr>
        <p:sp>
          <p:nvSpPr>
            <p:cNvPr id="54" name="Line 213"/>
            <p:cNvSpPr>
              <a:spLocks noChangeShapeType="1"/>
            </p:cNvSpPr>
            <p:nvPr/>
          </p:nvSpPr>
          <p:spPr bwMode="auto">
            <a:xfrm>
              <a:off x="4732339" y="3578225"/>
              <a:ext cx="248761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grpSp>
          <p:nvGrpSpPr>
            <p:cNvPr id="231" name="54 Grupo"/>
            <p:cNvGrpSpPr/>
            <p:nvPr/>
          </p:nvGrpSpPr>
          <p:grpSpPr>
            <a:xfrm>
              <a:off x="4732339" y="3241675"/>
              <a:ext cx="2487613" cy="201613"/>
              <a:chOff x="4732339" y="3241675"/>
              <a:chExt cx="2487613" cy="201613"/>
            </a:xfrm>
          </p:grpSpPr>
          <p:sp>
            <p:nvSpPr>
              <p:cNvPr id="56" name="Line 212"/>
              <p:cNvSpPr>
                <a:spLocks noChangeShapeType="1"/>
              </p:cNvSpPr>
              <p:nvPr/>
            </p:nvSpPr>
            <p:spPr bwMode="auto">
              <a:xfrm>
                <a:off x="5176839" y="3241675"/>
                <a:ext cx="204311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5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nvGrpSpPr>
            <p:cNvPr id="235" name="57 Grupo"/>
            <p:cNvGrpSpPr/>
            <p:nvPr/>
          </p:nvGrpSpPr>
          <p:grpSpPr>
            <a:xfrm>
              <a:off x="4732339" y="2906713"/>
              <a:ext cx="2487613" cy="401638"/>
              <a:chOff x="4732339" y="2906713"/>
              <a:chExt cx="2487613" cy="401638"/>
            </a:xfrm>
          </p:grpSpPr>
          <p:sp>
            <p:nvSpPr>
              <p:cNvPr id="59" name="Line 211"/>
              <p:cNvSpPr>
                <a:spLocks noChangeShapeType="1"/>
              </p:cNvSpPr>
              <p:nvPr/>
            </p:nvSpPr>
            <p:spPr bwMode="auto">
              <a:xfrm>
                <a:off x="5065714" y="2906713"/>
                <a:ext cx="2154238"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60"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nvGrpSpPr>
            <p:cNvPr id="236" name="60 Grupo"/>
            <p:cNvGrpSpPr/>
            <p:nvPr/>
          </p:nvGrpSpPr>
          <p:grpSpPr>
            <a:xfrm>
              <a:off x="4732339" y="2571750"/>
              <a:ext cx="2487613" cy="604838"/>
              <a:chOff x="4732339" y="2571750"/>
              <a:chExt cx="2487613" cy="604838"/>
            </a:xfrm>
          </p:grpSpPr>
          <p:sp>
            <p:nvSpPr>
              <p:cNvPr id="62" name="Line 210"/>
              <p:cNvSpPr>
                <a:spLocks noChangeShapeType="1"/>
              </p:cNvSpPr>
              <p:nvPr/>
            </p:nvSpPr>
            <p:spPr bwMode="auto">
              <a:xfrm>
                <a:off x="4954589" y="2571750"/>
                <a:ext cx="226536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6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grpSp>
        <p:nvGrpSpPr>
          <p:cNvPr id="237" name="191 Grupo"/>
          <p:cNvGrpSpPr/>
          <p:nvPr/>
        </p:nvGrpSpPr>
        <p:grpSpPr>
          <a:xfrm>
            <a:off x="4860032" y="2503359"/>
            <a:ext cx="2054225" cy="1230313"/>
            <a:chOff x="5510214" y="2705100"/>
            <a:chExt cx="2054225" cy="1230313"/>
          </a:xfrm>
        </p:grpSpPr>
        <p:sp>
          <p:nvSpPr>
            <p:cNvPr id="193" name="Line 214"/>
            <p:cNvSpPr>
              <a:spLocks noChangeShapeType="1"/>
            </p:cNvSpPr>
            <p:nvPr/>
          </p:nvSpPr>
          <p:spPr bwMode="auto">
            <a:xfrm flipH="1">
              <a:off x="551021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4" name="Line 215"/>
            <p:cNvSpPr>
              <a:spLocks noChangeShapeType="1"/>
            </p:cNvSpPr>
            <p:nvPr/>
          </p:nvSpPr>
          <p:spPr bwMode="auto">
            <a:xfrm flipH="1">
              <a:off x="573246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5" name="Line 216"/>
            <p:cNvSpPr>
              <a:spLocks noChangeShapeType="1"/>
            </p:cNvSpPr>
            <p:nvPr/>
          </p:nvSpPr>
          <p:spPr bwMode="auto">
            <a:xfrm flipH="1">
              <a:off x="611981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6" name="Line 217"/>
            <p:cNvSpPr>
              <a:spLocks noChangeShapeType="1"/>
            </p:cNvSpPr>
            <p:nvPr/>
          </p:nvSpPr>
          <p:spPr bwMode="auto">
            <a:xfrm flipH="1">
              <a:off x="634206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7" name="Line 218"/>
            <p:cNvSpPr>
              <a:spLocks noChangeShapeType="1"/>
            </p:cNvSpPr>
            <p:nvPr/>
          </p:nvSpPr>
          <p:spPr bwMode="auto">
            <a:xfrm flipH="1">
              <a:off x="6731001" y="2716213"/>
              <a:ext cx="0" cy="1209675"/>
            </a:xfrm>
            <a:prstGeom prst="line">
              <a:avLst/>
            </a:prstGeom>
            <a:noFill/>
            <a:ln w="28575">
              <a:solidFill>
                <a:srgbClr val="00B050"/>
              </a:solidFill>
              <a:round/>
              <a:headEnd/>
              <a:tailEnd/>
            </a:ln>
          </p:spPr>
          <p:txBody>
            <a:bodyPr anchor="ctr">
              <a:spAutoFit/>
            </a:bodyPr>
            <a:lstStyle/>
            <a:p>
              <a:endParaRPr lang="es-ES"/>
            </a:p>
          </p:txBody>
        </p:sp>
        <p:sp>
          <p:nvSpPr>
            <p:cNvPr id="198" name="Line 219"/>
            <p:cNvSpPr>
              <a:spLocks noChangeShapeType="1"/>
            </p:cNvSpPr>
            <p:nvPr/>
          </p:nvSpPr>
          <p:spPr bwMode="auto">
            <a:xfrm flipH="1">
              <a:off x="6953251" y="2716213"/>
              <a:ext cx="0" cy="1209675"/>
            </a:xfrm>
            <a:prstGeom prst="line">
              <a:avLst/>
            </a:prstGeom>
            <a:noFill/>
            <a:ln w="28575">
              <a:solidFill>
                <a:srgbClr val="00B050"/>
              </a:solidFill>
              <a:round/>
              <a:headEnd/>
              <a:tailEnd/>
            </a:ln>
          </p:spPr>
          <p:txBody>
            <a:bodyPr anchor="ctr">
              <a:spAutoFit/>
            </a:bodyPr>
            <a:lstStyle/>
            <a:p>
              <a:endParaRPr lang="es-ES"/>
            </a:p>
          </p:txBody>
        </p:sp>
        <p:sp>
          <p:nvSpPr>
            <p:cNvPr id="199" name="Line 220"/>
            <p:cNvSpPr>
              <a:spLocks noChangeShapeType="1"/>
            </p:cNvSpPr>
            <p:nvPr/>
          </p:nvSpPr>
          <p:spPr bwMode="auto">
            <a:xfrm flipH="1">
              <a:off x="7342189" y="2725738"/>
              <a:ext cx="0" cy="1209675"/>
            </a:xfrm>
            <a:prstGeom prst="line">
              <a:avLst/>
            </a:prstGeom>
            <a:noFill/>
            <a:ln w="28575">
              <a:solidFill>
                <a:srgbClr val="00B050"/>
              </a:solidFill>
              <a:round/>
              <a:headEnd/>
              <a:tailEnd/>
            </a:ln>
          </p:spPr>
          <p:txBody>
            <a:bodyPr anchor="ctr">
              <a:spAutoFit/>
            </a:bodyPr>
            <a:lstStyle/>
            <a:p>
              <a:endParaRPr lang="es-ES"/>
            </a:p>
          </p:txBody>
        </p:sp>
        <p:sp>
          <p:nvSpPr>
            <p:cNvPr id="200" name="Line 221"/>
            <p:cNvSpPr>
              <a:spLocks noChangeShapeType="1"/>
            </p:cNvSpPr>
            <p:nvPr/>
          </p:nvSpPr>
          <p:spPr bwMode="auto">
            <a:xfrm flipH="1">
              <a:off x="7564439" y="2725738"/>
              <a:ext cx="0" cy="1209675"/>
            </a:xfrm>
            <a:prstGeom prst="line">
              <a:avLst/>
            </a:prstGeom>
            <a:noFill/>
            <a:ln w="28575">
              <a:solidFill>
                <a:srgbClr val="00B050"/>
              </a:solidFill>
              <a:round/>
              <a:headEnd/>
              <a:tailEnd/>
            </a:ln>
          </p:spPr>
          <p:txBody>
            <a:bodyPr anchor="ctr">
              <a:spAutoFit/>
            </a:bodyPr>
            <a:lstStyle/>
            <a:p>
              <a:endParaRPr lang="es-ES"/>
            </a:p>
          </p:txBody>
        </p:sp>
      </p:grpSp>
      <p:grpSp>
        <p:nvGrpSpPr>
          <p:cNvPr id="290" name="200 Grupo"/>
          <p:cNvGrpSpPr/>
          <p:nvPr/>
        </p:nvGrpSpPr>
        <p:grpSpPr>
          <a:xfrm>
            <a:off x="4743797" y="3707627"/>
            <a:ext cx="2276475" cy="134938"/>
            <a:chOff x="5399089" y="3913188"/>
            <a:chExt cx="2276475" cy="134938"/>
          </a:xfrm>
        </p:grpSpPr>
        <p:sp>
          <p:nvSpPr>
            <p:cNvPr id="20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grpSp>
      <p:grpSp>
        <p:nvGrpSpPr>
          <p:cNvPr id="291" name="Group 266"/>
          <p:cNvGrpSpPr>
            <a:grpSpLocks/>
          </p:cNvGrpSpPr>
          <p:nvPr/>
        </p:nvGrpSpPr>
        <p:grpSpPr bwMode="auto">
          <a:xfrm>
            <a:off x="4860032" y="3840977"/>
            <a:ext cx="2054225" cy="665163"/>
            <a:chOff x="2724" y="2704"/>
            <a:chExt cx="1678" cy="267"/>
          </a:xfrm>
        </p:grpSpPr>
        <p:sp>
          <p:nvSpPr>
            <p:cNvPr id="211" name="Line 267"/>
            <p:cNvSpPr>
              <a:spLocks noChangeShapeType="1"/>
            </p:cNvSpPr>
            <p:nvPr/>
          </p:nvSpPr>
          <p:spPr bwMode="auto">
            <a:xfrm flipH="1">
              <a:off x="272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2" name="Line 268"/>
            <p:cNvSpPr>
              <a:spLocks noChangeShapeType="1"/>
            </p:cNvSpPr>
            <p:nvPr/>
          </p:nvSpPr>
          <p:spPr bwMode="auto">
            <a:xfrm flipH="1">
              <a:off x="2905"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3" name="Line 269"/>
            <p:cNvSpPr>
              <a:spLocks noChangeShapeType="1"/>
            </p:cNvSpPr>
            <p:nvPr/>
          </p:nvSpPr>
          <p:spPr bwMode="auto">
            <a:xfrm flipH="1">
              <a:off x="322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4" name="Line 270"/>
            <p:cNvSpPr>
              <a:spLocks noChangeShapeType="1"/>
            </p:cNvSpPr>
            <p:nvPr/>
          </p:nvSpPr>
          <p:spPr bwMode="auto">
            <a:xfrm flipH="1">
              <a:off x="340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5" name="Line 271"/>
            <p:cNvSpPr>
              <a:spLocks noChangeShapeType="1"/>
            </p:cNvSpPr>
            <p:nvPr/>
          </p:nvSpPr>
          <p:spPr bwMode="auto">
            <a:xfrm flipH="1">
              <a:off x="372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6" name="Line 272"/>
            <p:cNvSpPr>
              <a:spLocks noChangeShapeType="1"/>
            </p:cNvSpPr>
            <p:nvPr/>
          </p:nvSpPr>
          <p:spPr bwMode="auto">
            <a:xfrm flipH="1">
              <a:off x="390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7" name="Line 273"/>
            <p:cNvSpPr>
              <a:spLocks noChangeShapeType="1"/>
            </p:cNvSpPr>
            <p:nvPr/>
          </p:nvSpPr>
          <p:spPr bwMode="auto">
            <a:xfrm flipH="1">
              <a:off x="4221"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8" name="Line 274"/>
            <p:cNvSpPr>
              <a:spLocks noChangeShapeType="1"/>
            </p:cNvSpPr>
            <p:nvPr/>
          </p:nvSpPr>
          <p:spPr bwMode="auto">
            <a:xfrm flipH="1">
              <a:off x="440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grpSp>
      <p:cxnSp>
        <p:nvCxnSpPr>
          <p:cNvPr id="219" name="218 Conector recto de flecha"/>
          <p:cNvCxnSpPr/>
          <p:nvPr/>
        </p:nvCxnSpPr>
        <p:spPr bwMode="auto">
          <a:xfrm>
            <a:off x="2707772" y="3151431"/>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sp>
        <p:nvSpPr>
          <p:cNvPr id="220" name="Text Box 145"/>
          <p:cNvSpPr txBox="1">
            <a:spLocks noChangeArrowheads="1"/>
          </p:cNvSpPr>
          <p:nvPr/>
        </p:nvSpPr>
        <p:spPr bwMode="auto">
          <a:xfrm>
            <a:off x="3635896" y="847175"/>
            <a:ext cx="595313" cy="276999"/>
          </a:xfrm>
          <a:prstGeom prst="rect">
            <a:avLst/>
          </a:prstGeom>
          <a:noFill/>
          <a:ln w="12700">
            <a:noFill/>
            <a:miter lim="800000"/>
            <a:headEnd/>
            <a:tailEnd/>
          </a:ln>
        </p:spPr>
        <p:txBody>
          <a:bodyPr lIns="0" tIns="0" rIns="0" bIns="0">
            <a:spAutoFit/>
          </a:bodyPr>
          <a:lstStyle/>
          <a:p>
            <a:r>
              <a:rPr lang="es-ES" sz="1800" dirty="0"/>
              <a:t>RAS*</a:t>
            </a:r>
          </a:p>
        </p:txBody>
      </p:sp>
      <p:sp>
        <p:nvSpPr>
          <p:cNvPr id="221" name="Line 155"/>
          <p:cNvSpPr>
            <a:spLocks noChangeShapeType="1"/>
          </p:cNvSpPr>
          <p:nvPr/>
        </p:nvSpPr>
        <p:spPr bwMode="auto">
          <a:xfrm>
            <a:off x="3923928" y="1135207"/>
            <a:ext cx="0" cy="1656000"/>
          </a:xfrm>
          <a:prstGeom prst="line">
            <a:avLst/>
          </a:prstGeom>
          <a:noFill/>
          <a:ln w="15875">
            <a:solidFill>
              <a:srgbClr val="FFCC00"/>
            </a:solidFill>
            <a:round/>
            <a:headEnd/>
            <a:tailEnd type="triangle" w="med" len="med"/>
          </a:ln>
        </p:spPr>
        <p:txBody>
          <a:bodyPr anchor="ctr">
            <a:spAutoFit/>
          </a:bodyPr>
          <a:lstStyle/>
          <a:p>
            <a:endParaRPr lang="es-ES"/>
          </a:p>
        </p:txBody>
      </p:sp>
      <p:cxnSp>
        <p:nvCxnSpPr>
          <p:cNvPr id="314" name="313 Forma"/>
          <p:cNvCxnSpPr/>
          <p:nvPr/>
        </p:nvCxnSpPr>
        <p:spPr bwMode="auto">
          <a:xfrm>
            <a:off x="3923928" y="1594789"/>
            <a:ext cx="720101" cy="304972"/>
          </a:xfrm>
          <a:prstGeom prst="bentConnector2">
            <a:avLst/>
          </a:prstGeom>
          <a:ln w="15875">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293" name="222 Grupo"/>
          <p:cNvGrpSpPr/>
          <p:nvPr/>
        </p:nvGrpSpPr>
        <p:grpSpPr>
          <a:xfrm>
            <a:off x="7740352" y="3943519"/>
            <a:ext cx="760655" cy="1178936"/>
            <a:chOff x="7740352" y="4149080"/>
            <a:chExt cx="760655" cy="1178936"/>
          </a:xfrm>
        </p:grpSpPr>
        <p:sp>
          <p:nvSpPr>
            <p:cNvPr id="500" name="Freeform 288"/>
            <p:cNvSpPr>
              <a:spLocks/>
            </p:cNvSpPr>
            <p:nvPr/>
          </p:nvSpPr>
          <p:spPr bwMode="auto">
            <a:xfrm>
              <a:off x="7740352" y="4471988"/>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a:tailEnd type="triangle" w="med" len="med"/>
            </a:ln>
          </p:spPr>
          <p:txBody>
            <a:bodyPr anchor="ctr">
              <a:spAutoFit/>
            </a:bodyPr>
            <a:lstStyle/>
            <a:p>
              <a:endParaRPr lang="es-ES"/>
            </a:p>
          </p:txBody>
        </p:sp>
        <p:sp>
          <p:nvSpPr>
            <p:cNvPr id="501" name="Freeform 291"/>
            <p:cNvSpPr>
              <a:spLocks/>
            </p:cNvSpPr>
            <p:nvPr/>
          </p:nvSpPr>
          <p:spPr bwMode="auto">
            <a:xfrm flipV="1">
              <a:off x="7740352" y="4978400"/>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type="triangle" w="med" len="med"/>
              <a:tailEnd/>
            </a:ln>
          </p:spPr>
          <p:txBody>
            <a:bodyPr anchor="ctr">
              <a:spAutoFit/>
            </a:bodyPr>
            <a:lstStyle/>
            <a:p>
              <a:endParaRPr lang="es-ES"/>
            </a:p>
          </p:txBody>
        </p:sp>
        <p:cxnSp>
          <p:nvCxnSpPr>
            <p:cNvPr id="502" name="501 Conector recto"/>
            <p:cNvCxnSpPr/>
            <p:nvPr/>
          </p:nvCxnSpPr>
          <p:spPr bwMode="auto">
            <a:xfrm flipH="1">
              <a:off x="8285756" y="5184000"/>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3" name="502 CuadroTexto"/>
            <p:cNvSpPr txBox="1"/>
            <p:nvPr/>
          </p:nvSpPr>
          <p:spPr>
            <a:xfrm>
              <a:off x="8168864" y="4941168"/>
              <a:ext cx="332143" cy="338554"/>
            </a:xfrm>
            <a:prstGeom prst="rect">
              <a:avLst/>
            </a:prstGeom>
            <a:noFill/>
          </p:spPr>
          <p:txBody>
            <a:bodyPr wrap="none" rtlCol="0">
              <a:spAutoFit/>
            </a:bodyPr>
            <a:lstStyle/>
            <a:p>
              <a:r>
                <a:rPr lang="es-ES" sz="1600" i="1" dirty="0"/>
                <a:t>w</a:t>
              </a:r>
            </a:p>
          </p:txBody>
        </p:sp>
        <p:cxnSp>
          <p:nvCxnSpPr>
            <p:cNvPr id="504" name="503 Conector recto"/>
            <p:cNvCxnSpPr/>
            <p:nvPr/>
          </p:nvCxnSpPr>
          <p:spPr bwMode="auto">
            <a:xfrm flipH="1">
              <a:off x="8214521" y="4391912"/>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5" name="504 CuadroTexto"/>
            <p:cNvSpPr txBox="1"/>
            <p:nvPr/>
          </p:nvSpPr>
          <p:spPr>
            <a:xfrm>
              <a:off x="8097629" y="4149080"/>
              <a:ext cx="332143" cy="338554"/>
            </a:xfrm>
            <a:prstGeom prst="rect">
              <a:avLst/>
            </a:prstGeom>
            <a:noFill/>
          </p:spPr>
          <p:txBody>
            <a:bodyPr wrap="none" rtlCol="0">
              <a:spAutoFit/>
            </a:bodyPr>
            <a:lstStyle/>
            <a:p>
              <a:r>
                <a:rPr lang="es-ES" sz="1600" i="1" dirty="0"/>
                <a:t>w</a:t>
              </a:r>
            </a:p>
          </p:txBody>
        </p:sp>
      </p:grpSp>
      <p:grpSp>
        <p:nvGrpSpPr>
          <p:cNvPr id="294" name="506 Grupo"/>
          <p:cNvGrpSpPr/>
          <p:nvPr/>
        </p:nvGrpSpPr>
        <p:grpSpPr>
          <a:xfrm>
            <a:off x="3995936" y="5214974"/>
            <a:ext cx="3096344" cy="766546"/>
            <a:chOff x="4514851" y="5321300"/>
            <a:chExt cx="3527425" cy="936625"/>
          </a:xfrm>
        </p:grpSpPr>
        <p:sp>
          <p:nvSpPr>
            <p:cNvPr id="508" name="Line 296"/>
            <p:cNvSpPr>
              <a:spLocks noChangeShapeType="1"/>
            </p:cNvSpPr>
            <p:nvPr/>
          </p:nvSpPr>
          <p:spPr bwMode="auto">
            <a:xfrm flipV="1">
              <a:off x="5665789" y="5321300"/>
              <a:ext cx="0" cy="503238"/>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09" name="Line 297"/>
            <p:cNvSpPr>
              <a:spLocks noChangeShapeType="1"/>
            </p:cNvSpPr>
            <p:nvPr/>
          </p:nvSpPr>
          <p:spPr bwMode="auto">
            <a:xfrm flipV="1">
              <a:off x="6457951" y="5321300"/>
              <a:ext cx="0" cy="647700"/>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0" name="Line 298"/>
            <p:cNvSpPr>
              <a:spLocks noChangeShapeType="1"/>
            </p:cNvSpPr>
            <p:nvPr/>
          </p:nvSpPr>
          <p:spPr bwMode="auto">
            <a:xfrm flipV="1">
              <a:off x="7250114" y="5321300"/>
              <a:ext cx="0" cy="792163"/>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1" name="Line 299"/>
            <p:cNvSpPr>
              <a:spLocks noChangeShapeType="1"/>
            </p:cNvSpPr>
            <p:nvPr/>
          </p:nvSpPr>
          <p:spPr bwMode="auto">
            <a:xfrm flipV="1">
              <a:off x="8042276" y="5321300"/>
              <a:ext cx="0" cy="936625"/>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2" name="Line 301"/>
            <p:cNvSpPr>
              <a:spLocks noChangeShapeType="1"/>
            </p:cNvSpPr>
            <p:nvPr/>
          </p:nvSpPr>
          <p:spPr bwMode="auto">
            <a:xfrm>
              <a:off x="4514851" y="5824538"/>
              <a:ext cx="1150938"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3" name="Line 302"/>
            <p:cNvSpPr>
              <a:spLocks noChangeShapeType="1"/>
            </p:cNvSpPr>
            <p:nvPr/>
          </p:nvSpPr>
          <p:spPr bwMode="auto">
            <a:xfrm>
              <a:off x="4514851" y="5969000"/>
              <a:ext cx="1943100"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4" name="Line 303"/>
            <p:cNvSpPr>
              <a:spLocks noChangeShapeType="1"/>
            </p:cNvSpPr>
            <p:nvPr/>
          </p:nvSpPr>
          <p:spPr bwMode="auto">
            <a:xfrm>
              <a:off x="4514851" y="6113463"/>
              <a:ext cx="273526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5" name="Line 304"/>
            <p:cNvSpPr>
              <a:spLocks noChangeShapeType="1"/>
            </p:cNvSpPr>
            <p:nvPr/>
          </p:nvSpPr>
          <p:spPr bwMode="auto">
            <a:xfrm>
              <a:off x="4514851" y="6256338"/>
              <a:ext cx="3527425"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grpSp>
      <p:sp>
        <p:nvSpPr>
          <p:cNvPr id="516" name="Rectangle 300"/>
          <p:cNvSpPr>
            <a:spLocks noChangeArrowheads="1"/>
          </p:cNvSpPr>
          <p:nvPr/>
        </p:nvSpPr>
        <p:spPr bwMode="auto">
          <a:xfrm>
            <a:off x="3667254" y="5329975"/>
            <a:ext cx="400690" cy="846386"/>
          </a:xfrm>
          <a:prstGeom prst="rect">
            <a:avLst/>
          </a:prstGeom>
          <a:solidFill>
            <a:schemeClr val="accent2">
              <a:lumMod val="50000"/>
            </a:schemeClr>
          </a:solidFill>
          <a:ln w="12700">
            <a:solidFill>
              <a:schemeClr val="bg2"/>
            </a:solidFill>
            <a:miter lim="800000"/>
            <a:headEnd/>
            <a:tailEnd/>
          </a:ln>
        </p:spPr>
        <p:txBody>
          <a:bodyPr vert="vert270" wrap="square" lIns="0" tIns="0" rIns="0" bIns="0" anchor="ctr">
            <a:noAutofit/>
          </a:bodyPr>
          <a:lstStyle/>
          <a:p>
            <a:r>
              <a:rPr lang="es-ES" sz="1200" dirty="0">
                <a:solidFill>
                  <a:schemeClr val="bg1"/>
                </a:solidFill>
              </a:rPr>
              <a:t>Registro de </a:t>
            </a:r>
            <a:r>
              <a:rPr lang="es-ES" sz="1200" b="1" dirty="0">
                <a:solidFill>
                  <a:schemeClr val="bg1"/>
                </a:solidFill>
              </a:rPr>
              <a:t>columna</a:t>
            </a:r>
          </a:p>
        </p:txBody>
      </p:sp>
      <p:cxnSp>
        <p:nvCxnSpPr>
          <p:cNvPr id="517" name="516 Conector recto de flecha"/>
          <p:cNvCxnSpPr/>
          <p:nvPr/>
        </p:nvCxnSpPr>
        <p:spPr bwMode="auto">
          <a:xfrm>
            <a:off x="2786050" y="5742725"/>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cxnSp>
        <p:nvCxnSpPr>
          <p:cNvPr id="519" name="518 Conector recto de flecha"/>
          <p:cNvCxnSpPr/>
          <p:nvPr/>
        </p:nvCxnSpPr>
        <p:spPr bwMode="auto">
          <a:xfrm>
            <a:off x="3707904" y="4807615"/>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grpSp>
        <p:nvGrpSpPr>
          <p:cNvPr id="295" name="230 Grupo"/>
          <p:cNvGrpSpPr/>
          <p:nvPr/>
        </p:nvGrpSpPr>
        <p:grpSpPr>
          <a:xfrm>
            <a:off x="3428992" y="986836"/>
            <a:ext cx="4523708" cy="3330198"/>
            <a:chOff x="3428992" y="986836"/>
            <a:chExt cx="4523708" cy="3330198"/>
          </a:xfrm>
        </p:grpSpPr>
        <p:sp>
          <p:nvSpPr>
            <p:cNvPr id="224" name="223 CuadroTexto"/>
            <p:cNvSpPr txBox="1"/>
            <p:nvPr/>
          </p:nvSpPr>
          <p:spPr>
            <a:xfrm>
              <a:off x="3428992" y="4009257"/>
              <a:ext cx="880370" cy="307777"/>
            </a:xfrm>
            <a:prstGeom prst="rect">
              <a:avLst/>
            </a:prstGeom>
            <a:noFill/>
          </p:spPr>
          <p:txBody>
            <a:bodyPr wrap="none" rtlCol="0">
              <a:spAutoFit/>
            </a:bodyPr>
            <a:lstStyle/>
            <a:p>
              <a:r>
                <a:rPr lang="es-ES" sz="1400" b="1" dirty="0">
                  <a:solidFill>
                    <a:schemeClr val="accent6">
                      <a:lumMod val="60000"/>
                      <a:lumOff val="40000"/>
                    </a:schemeClr>
                  </a:solidFill>
                </a:rPr>
                <a:t>Banco 0</a:t>
              </a:r>
            </a:p>
          </p:txBody>
        </p:sp>
        <p:sp>
          <p:nvSpPr>
            <p:cNvPr id="225" name="224 CuadroTexto"/>
            <p:cNvSpPr txBox="1"/>
            <p:nvPr/>
          </p:nvSpPr>
          <p:spPr>
            <a:xfrm>
              <a:off x="7072330" y="986836"/>
              <a:ext cx="880370" cy="307777"/>
            </a:xfrm>
            <a:prstGeom prst="rect">
              <a:avLst/>
            </a:prstGeom>
            <a:noFill/>
          </p:spPr>
          <p:txBody>
            <a:bodyPr wrap="none" rtlCol="0">
              <a:spAutoFit/>
            </a:bodyPr>
            <a:lstStyle/>
            <a:p>
              <a:r>
                <a:rPr lang="es-ES" sz="1400" b="1" dirty="0">
                  <a:solidFill>
                    <a:schemeClr val="tx2">
                      <a:lumMod val="60000"/>
                      <a:lumOff val="40000"/>
                    </a:schemeClr>
                  </a:solidFill>
                </a:rPr>
                <a:t>Banco 1</a:t>
              </a:r>
            </a:p>
          </p:txBody>
        </p:sp>
      </p:grpSp>
      <p:sp>
        <p:nvSpPr>
          <p:cNvPr id="226" name="225 CuadroTexto"/>
          <p:cNvSpPr txBox="1"/>
          <p:nvPr/>
        </p:nvSpPr>
        <p:spPr>
          <a:xfrm>
            <a:off x="7665710" y="3580629"/>
            <a:ext cx="1478290" cy="307777"/>
          </a:xfrm>
          <a:prstGeom prst="rect">
            <a:avLst/>
          </a:prstGeom>
          <a:noFill/>
        </p:spPr>
        <p:txBody>
          <a:bodyPr wrap="none" rtlCol="0">
            <a:spAutoFit/>
          </a:bodyPr>
          <a:lstStyle/>
          <a:p>
            <a:r>
              <a:rPr lang="es-ES" sz="1400" b="1" dirty="0">
                <a:solidFill>
                  <a:srgbClr val="00B050"/>
                </a:solidFill>
              </a:rPr>
              <a:t>Amplificadores</a:t>
            </a:r>
          </a:p>
        </p:txBody>
      </p:sp>
      <p:grpSp>
        <p:nvGrpSpPr>
          <p:cNvPr id="296" name="229 Grupo"/>
          <p:cNvGrpSpPr/>
          <p:nvPr/>
        </p:nvGrpSpPr>
        <p:grpSpPr>
          <a:xfrm>
            <a:off x="3571868" y="6176361"/>
            <a:ext cx="595313" cy="610225"/>
            <a:chOff x="3571868" y="6176361"/>
            <a:chExt cx="595313" cy="610225"/>
          </a:xfrm>
        </p:grpSpPr>
        <p:sp>
          <p:nvSpPr>
            <p:cNvPr id="227" name="Text Box 145"/>
            <p:cNvSpPr txBox="1">
              <a:spLocks noChangeArrowheads="1"/>
            </p:cNvSpPr>
            <p:nvPr/>
          </p:nvSpPr>
          <p:spPr bwMode="auto">
            <a:xfrm>
              <a:off x="3571868" y="6509587"/>
              <a:ext cx="595313" cy="276999"/>
            </a:xfrm>
            <a:prstGeom prst="rect">
              <a:avLst/>
            </a:prstGeom>
            <a:noFill/>
            <a:ln w="12700">
              <a:noFill/>
              <a:miter lim="800000"/>
              <a:headEnd/>
              <a:tailEnd/>
            </a:ln>
          </p:spPr>
          <p:txBody>
            <a:bodyPr lIns="0" tIns="0" rIns="0" bIns="0">
              <a:spAutoFit/>
            </a:bodyPr>
            <a:lstStyle/>
            <a:p>
              <a:r>
                <a:rPr lang="es-ES" sz="1800" dirty="0"/>
                <a:t>CAS*</a:t>
              </a:r>
            </a:p>
          </p:txBody>
        </p:sp>
        <p:cxnSp>
          <p:nvCxnSpPr>
            <p:cNvPr id="229" name="228 Conector recto de flecha"/>
            <p:cNvCxnSpPr>
              <a:stCxn id="227" idx="0"/>
              <a:endCxn id="516" idx="2"/>
            </p:cNvCxnSpPr>
            <p:nvPr/>
          </p:nvCxnSpPr>
          <p:spPr bwMode="auto">
            <a:xfrm rot="16200000" flipV="1">
              <a:off x="3701949" y="6342011"/>
              <a:ext cx="333226" cy="1926"/>
            </a:xfrm>
            <a:prstGeom prst="straightConnector1">
              <a:avLst/>
            </a:prstGeom>
            <a:ln w="22225">
              <a:solidFill>
                <a:schemeClr val="accent2">
                  <a:lumMod val="60000"/>
                  <a:lumOff val="4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sp>
        <p:nvSpPr>
          <p:cNvPr id="232" name="231 CuadroTexto"/>
          <p:cNvSpPr txBox="1"/>
          <p:nvPr/>
        </p:nvSpPr>
        <p:spPr>
          <a:xfrm>
            <a:off x="2000232" y="2928934"/>
            <a:ext cx="582211" cy="369332"/>
          </a:xfrm>
          <a:prstGeom prst="rect">
            <a:avLst/>
          </a:prstGeom>
          <a:noFill/>
        </p:spPr>
        <p:txBody>
          <a:bodyPr wrap="none" rtlCol="0">
            <a:spAutoFit/>
          </a:bodyPr>
          <a:lstStyle/>
          <a:p>
            <a:r>
              <a:rPr lang="es-ES" sz="1800" b="1" dirty="0">
                <a:solidFill>
                  <a:schemeClr val="tx1">
                    <a:lumMod val="65000"/>
                    <a:lumOff val="35000"/>
                  </a:schemeClr>
                </a:solidFill>
              </a:rPr>
              <a:t>Fila</a:t>
            </a:r>
          </a:p>
        </p:txBody>
      </p:sp>
      <p:sp>
        <p:nvSpPr>
          <p:cNvPr id="233" name="232 CuadroTexto"/>
          <p:cNvSpPr txBox="1"/>
          <p:nvPr/>
        </p:nvSpPr>
        <p:spPr>
          <a:xfrm>
            <a:off x="2681881" y="4631304"/>
            <a:ext cx="889987" cy="369332"/>
          </a:xfrm>
          <a:prstGeom prst="rect">
            <a:avLst/>
          </a:prstGeom>
          <a:noFill/>
        </p:spPr>
        <p:txBody>
          <a:bodyPr wrap="none" rtlCol="0">
            <a:spAutoFit/>
          </a:bodyPr>
          <a:lstStyle/>
          <a:p>
            <a:r>
              <a:rPr lang="es-ES" sz="1800" b="1" dirty="0">
                <a:solidFill>
                  <a:schemeClr val="tx1">
                    <a:lumMod val="65000"/>
                    <a:lumOff val="35000"/>
                  </a:schemeClr>
                </a:solidFill>
              </a:rPr>
              <a:t>Banco</a:t>
            </a:r>
          </a:p>
        </p:txBody>
      </p:sp>
      <p:sp>
        <p:nvSpPr>
          <p:cNvPr id="234" name="233 CuadroTexto"/>
          <p:cNvSpPr txBox="1"/>
          <p:nvPr/>
        </p:nvSpPr>
        <p:spPr>
          <a:xfrm>
            <a:off x="1571604" y="5559998"/>
            <a:ext cx="1172116" cy="369332"/>
          </a:xfrm>
          <a:prstGeom prst="rect">
            <a:avLst/>
          </a:prstGeom>
          <a:noFill/>
        </p:spPr>
        <p:txBody>
          <a:bodyPr wrap="none" rtlCol="0">
            <a:spAutoFit/>
          </a:bodyPr>
          <a:lstStyle/>
          <a:p>
            <a:r>
              <a:rPr lang="es-ES" sz="1800" b="1" dirty="0">
                <a:solidFill>
                  <a:schemeClr val="tx1">
                    <a:lumMod val="65000"/>
                    <a:lumOff val="35000"/>
                  </a:schemeClr>
                </a:solidFill>
              </a:rPr>
              <a:t>Columna</a:t>
            </a:r>
          </a:p>
        </p:txBody>
      </p:sp>
      <p:grpSp>
        <p:nvGrpSpPr>
          <p:cNvPr id="269" name="268 Grupo"/>
          <p:cNvGrpSpPr/>
          <p:nvPr/>
        </p:nvGrpSpPr>
        <p:grpSpPr>
          <a:xfrm>
            <a:off x="4104000" y="2428868"/>
            <a:ext cx="2487613" cy="604838"/>
            <a:chOff x="5120400" y="5610244"/>
            <a:chExt cx="2487613" cy="604838"/>
          </a:xfrm>
        </p:grpSpPr>
        <p:sp>
          <p:nvSpPr>
            <p:cNvPr id="270" name="Line 210"/>
            <p:cNvSpPr>
              <a:spLocks noChangeShapeType="1"/>
            </p:cNvSpPr>
            <p:nvPr/>
          </p:nvSpPr>
          <p:spPr bwMode="auto">
            <a:xfrm>
              <a:off x="5342650" y="5610244"/>
              <a:ext cx="2265363" cy="0"/>
            </a:xfrm>
            <a:prstGeom prst="line">
              <a:avLst/>
            </a:prstGeom>
            <a:noFill/>
            <a:ln w="38100">
              <a:solidFill>
                <a:srgbClr val="FF0000"/>
              </a:solidFill>
              <a:round/>
              <a:headEnd/>
              <a:tailEnd/>
            </a:ln>
          </p:spPr>
          <p:txBody>
            <a:bodyPr anchor="ctr">
              <a:spAutoFit/>
            </a:bodyPr>
            <a:lstStyle/>
            <a:p>
              <a:endParaRPr lang="es-ES"/>
            </a:p>
          </p:txBody>
        </p:sp>
        <p:sp>
          <p:nvSpPr>
            <p:cNvPr id="271" name="Freeform 227"/>
            <p:cNvSpPr>
              <a:spLocks/>
            </p:cNvSpPr>
            <p:nvPr/>
          </p:nvSpPr>
          <p:spPr bwMode="auto">
            <a:xfrm>
              <a:off x="5120400" y="5610244"/>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rgbClr val="FF0000"/>
              </a:solidFill>
              <a:round/>
              <a:headEnd/>
              <a:tailEnd/>
            </a:ln>
          </p:spPr>
          <p:txBody>
            <a:bodyPr anchor="ctr">
              <a:spAutoFit/>
            </a:bodyPr>
            <a:lstStyle/>
            <a:p>
              <a:endParaRPr lang="es-ES"/>
            </a:p>
          </p:txBody>
        </p:sp>
      </p:grpSp>
      <p:grpSp>
        <p:nvGrpSpPr>
          <p:cNvPr id="272" name="271 Grupo"/>
          <p:cNvGrpSpPr/>
          <p:nvPr/>
        </p:nvGrpSpPr>
        <p:grpSpPr>
          <a:xfrm>
            <a:off x="4857752" y="2484439"/>
            <a:ext cx="2054225" cy="1230313"/>
            <a:chOff x="5510214" y="2705100"/>
            <a:chExt cx="2054225" cy="1230313"/>
          </a:xfrm>
        </p:grpSpPr>
        <p:sp>
          <p:nvSpPr>
            <p:cNvPr id="273" name="Line 214"/>
            <p:cNvSpPr>
              <a:spLocks noChangeShapeType="1"/>
            </p:cNvSpPr>
            <p:nvPr/>
          </p:nvSpPr>
          <p:spPr bwMode="auto">
            <a:xfrm flipH="1">
              <a:off x="55102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274" name="Line 215"/>
            <p:cNvSpPr>
              <a:spLocks noChangeShapeType="1"/>
            </p:cNvSpPr>
            <p:nvPr/>
          </p:nvSpPr>
          <p:spPr bwMode="auto">
            <a:xfrm flipH="1">
              <a:off x="57324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275" name="Line 216"/>
            <p:cNvSpPr>
              <a:spLocks noChangeShapeType="1"/>
            </p:cNvSpPr>
            <p:nvPr/>
          </p:nvSpPr>
          <p:spPr bwMode="auto">
            <a:xfrm flipH="1">
              <a:off x="61198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276" name="Line 217"/>
            <p:cNvSpPr>
              <a:spLocks noChangeShapeType="1"/>
            </p:cNvSpPr>
            <p:nvPr/>
          </p:nvSpPr>
          <p:spPr bwMode="auto">
            <a:xfrm flipH="1">
              <a:off x="63420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277" name="Line 218"/>
            <p:cNvSpPr>
              <a:spLocks noChangeShapeType="1"/>
            </p:cNvSpPr>
            <p:nvPr/>
          </p:nvSpPr>
          <p:spPr bwMode="auto">
            <a:xfrm flipH="1">
              <a:off x="673100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278" name="Line 219"/>
            <p:cNvSpPr>
              <a:spLocks noChangeShapeType="1"/>
            </p:cNvSpPr>
            <p:nvPr/>
          </p:nvSpPr>
          <p:spPr bwMode="auto">
            <a:xfrm flipH="1">
              <a:off x="695325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279" name="Line 220"/>
            <p:cNvSpPr>
              <a:spLocks noChangeShapeType="1"/>
            </p:cNvSpPr>
            <p:nvPr/>
          </p:nvSpPr>
          <p:spPr bwMode="auto">
            <a:xfrm flipH="1">
              <a:off x="7342189" y="2725738"/>
              <a:ext cx="0" cy="1209675"/>
            </a:xfrm>
            <a:prstGeom prst="line">
              <a:avLst/>
            </a:prstGeom>
            <a:noFill/>
            <a:ln w="28575">
              <a:solidFill>
                <a:srgbClr val="FF3300"/>
              </a:solidFill>
              <a:round/>
              <a:headEnd/>
              <a:tailEnd/>
            </a:ln>
          </p:spPr>
          <p:txBody>
            <a:bodyPr anchor="ctr">
              <a:spAutoFit/>
            </a:bodyPr>
            <a:lstStyle/>
            <a:p>
              <a:endParaRPr lang="es-ES"/>
            </a:p>
          </p:txBody>
        </p:sp>
        <p:sp>
          <p:nvSpPr>
            <p:cNvPr id="280" name="Line 221"/>
            <p:cNvSpPr>
              <a:spLocks noChangeShapeType="1"/>
            </p:cNvSpPr>
            <p:nvPr/>
          </p:nvSpPr>
          <p:spPr bwMode="auto">
            <a:xfrm flipH="1">
              <a:off x="7564439" y="2725738"/>
              <a:ext cx="0" cy="1209675"/>
            </a:xfrm>
            <a:prstGeom prst="line">
              <a:avLst/>
            </a:prstGeom>
            <a:noFill/>
            <a:ln w="28575">
              <a:solidFill>
                <a:srgbClr val="FF3300"/>
              </a:solidFill>
              <a:round/>
              <a:headEnd/>
              <a:tailEnd/>
            </a:ln>
          </p:spPr>
          <p:txBody>
            <a:bodyPr anchor="ctr">
              <a:spAutoFit/>
            </a:bodyPr>
            <a:lstStyle/>
            <a:p>
              <a:endParaRPr lang="es-ES"/>
            </a:p>
          </p:txBody>
        </p:sp>
      </p:grpSp>
      <p:grpSp>
        <p:nvGrpSpPr>
          <p:cNvPr id="281" name="280 Grupo"/>
          <p:cNvGrpSpPr/>
          <p:nvPr/>
        </p:nvGrpSpPr>
        <p:grpSpPr>
          <a:xfrm>
            <a:off x="4761528" y="3722690"/>
            <a:ext cx="2276475" cy="134938"/>
            <a:chOff x="5399089" y="3913188"/>
            <a:chExt cx="2276475" cy="134938"/>
          </a:xfrm>
          <a:solidFill>
            <a:srgbClr val="FF0000"/>
          </a:solidFill>
        </p:grpSpPr>
        <p:sp>
          <p:nvSpPr>
            <p:cNvPr id="282" name="Rectangle 223"/>
            <p:cNvSpPr>
              <a:spLocks noChangeArrowheads="1"/>
            </p:cNvSpPr>
            <p:nvPr/>
          </p:nvSpPr>
          <p:spPr bwMode="auto">
            <a:xfrm>
              <a:off x="5399089"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83" name="Rectangle 259"/>
            <p:cNvSpPr>
              <a:spLocks noChangeArrowheads="1"/>
            </p:cNvSpPr>
            <p:nvPr/>
          </p:nvSpPr>
          <p:spPr bwMode="auto">
            <a:xfrm>
              <a:off x="5621339"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84" name="Rectangle 260"/>
            <p:cNvSpPr>
              <a:spLocks noChangeArrowheads="1"/>
            </p:cNvSpPr>
            <p:nvPr/>
          </p:nvSpPr>
          <p:spPr bwMode="auto">
            <a:xfrm>
              <a:off x="6010276"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85" name="Rectangle 261"/>
            <p:cNvSpPr>
              <a:spLocks noChangeArrowheads="1"/>
            </p:cNvSpPr>
            <p:nvPr/>
          </p:nvSpPr>
          <p:spPr bwMode="auto">
            <a:xfrm>
              <a:off x="6232526"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86" name="Rectangle 262"/>
            <p:cNvSpPr>
              <a:spLocks noChangeArrowheads="1"/>
            </p:cNvSpPr>
            <p:nvPr/>
          </p:nvSpPr>
          <p:spPr bwMode="auto">
            <a:xfrm>
              <a:off x="6621464"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87" name="Rectangle 263"/>
            <p:cNvSpPr>
              <a:spLocks noChangeArrowheads="1"/>
            </p:cNvSpPr>
            <p:nvPr/>
          </p:nvSpPr>
          <p:spPr bwMode="auto">
            <a:xfrm>
              <a:off x="6843714"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99" name="Rectangle 264"/>
            <p:cNvSpPr>
              <a:spLocks noChangeArrowheads="1"/>
            </p:cNvSpPr>
            <p:nvPr/>
          </p:nvSpPr>
          <p:spPr bwMode="auto">
            <a:xfrm>
              <a:off x="7231064"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300" name="Rectangle 265"/>
            <p:cNvSpPr>
              <a:spLocks noChangeArrowheads="1"/>
            </p:cNvSpPr>
            <p:nvPr/>
          </p:nvSpPr>
          <p:spPr bwMode="auto">
            <a:xfrm>
              <a:off x="7454901"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grpSp>
      <p:sp>
        <p:nvSpPr>
          <p:cNvPr id="301" name="Rectangle 225"/>
          <p:cNvSpPr>
            <a:spLocks noChangeArrowheads="1"/>
          </p:cNvSpPr>
          <p:nvPr/>
        </p:nvSpPr>
        <p:spPr bwMode="auto">
          <a:xfrm rot="16200000">
            <a:off x="3553810" y="2984102"/>
            <a:ext cx="792089" cy="396000"/>
          </a:xfrm>
          <a:prstGeom prst="rect">
            <a:avLst/>
          </a:prstGeom>
          <a:solidFill>
            <a:srgbClr val="FF0000"/>
          </a:solidFill>
          <a:ln w="12700">
            <a:solidFill>
              <a:schemeClr val="bg2"/>
            </a:solidFill>
            <a:miter lim="800000"/>
            <a:headEnd/>
            <a:tailEnd/>
          </a:ln>
        </p:spPr>
        <p:txBody>
          <a:bodyPr vert="horz" wrap="square" lIns="0" tIns="18000" rIns="0" bIns="18000" anchor="ctr">
            <a:noAutofit/>
          </a:bodyPr>
          <a:lstStyle/>
          <a:p>
            <a:r>
              <a:rPr lang="es-ES" sz="1200" kern="1500" dirty="0">
                <a:solidFill>
                  <a:schemeClr val="bg1"/>
                </a:solidFill>
              </a:rPr>
              <a:t>Registro  de </a:t>
            </a:r>
            <a:r>
              <a:rPr lang="es-ES" sz="1200" b="1" kern="1500" dirty="0">
                <a:solidFill>
                  <a:schemeClr val="bg1"/>
                </a:solidFill>
              </a:rPr>
              <a:t>fila</a:t>
            </a:r>
          </a:p>
        </p:txBody>
      </p:sp>
      <p:cxnSp>
        <p:nvCxnSpPr>
          <p:cNvPr id="302" name="301 Conector recto de flecha"/>
          <p:cNvCxnSpPr/>
          <p:nvPr/>
        </p:nvCxnSpPr>
        <p:spPr bwMode="auto">
          <a:xfrm>
            <a:off x="2751723" y="3143248"/>
            <a:ext cx="864096" cy="1588"/>
          </a:xfrm>
          <a:prstGeom prst="straightConnector1">
            <a:avLst/>
          </a:prstGeom>
          <a:noFill/>
          <a:ln w="82550" cap="flat" cmpd="sng" algn="ctr">
            <a:solidFill>
              <a:srgbClr val="FF0000"/>
            </a:solidFill>
            <a:prstDash val="solid"/>
            <a:round/>
            <a:headEnd type="none" w="med" len="med"/>
            <a:tailEnd type="arrow"/>
          </a:ln>
          <a:effectLst/>
        </p:spPr>
      </p:cxnSp>
      <p:cxnSp>
        <p:nvCxnSpPr>
          <p:cNvPr id="303" name="302 Conector recto de flecha"/>
          <p:cNvCxnSpPr/>
          <p:nvPr/>
        </p:nvCxnSpPr>
        <p:spPr bwMode="auto">
          <a:xfrm>
            <a:off x="3707904" y="4786322"/>
            <a:ext cx="864096" cy="1588"/>
          </a:xfrm>
          <a:prstGeom prst="straightConnector1">
            <a:avLst/>
          </a:prstGeom>
          <a:noFill/>
          <a:ln w="82550" cap="flat" cmpd="sng" algn="ctr">
            <a:solidFill>
              <a:srgbClr val="FF0000"/>
            </a:solidFill>
            <a:prstDash val="solid"/>
            <a:round/>
            <a:headEnd type="none" w="med" len="med"/>
            <a:tailEnd type="arrow"/>
          </a:ln>
          <a:effectLst/>
        </p:spPr>
      </p:cxnSp>
      <p:grpSp>
        <p:nvGrpSpPr>
          <p:cNvPr id="238" name="64 Grupo"/>
          <p:cNvGrpSpPr/>
          <p:nvPr/>
        </p:nvGrpSpPr>
        <p:grpSpPr>
          <a:xfrm>
            <a:off x="4772892" y="2359343"/>
            <a:ext cx="2276475" cy="1208088"/>
            <a:chOff x="4772892" y="2564904"/>
            <a:chExt cx="2276475" cy="1208088"/>
          </a:xfrm>
        </p:grpSpPr>
        <p:grpSp>
          <p:nvGrpSpPr>
            <p:cNvPr id="240" name="3 Grupo"/>
            <p:cNvGrpSpPr/>
            <p:nvPr/>
          </p:nvGrpSpPr>
          <p:grpSpPr>
            <a:xfrm>
              <a:off x="4772892" y="2564904"/>
              <a:ext cx="444500" cy="200025"/>
              <a:chOff x="5399089" y="2505075"/>
              <a:chExt cx="444500" cy="200025"/>
            </a:xfrm>
            <a:solidFill>
              <a:schemeClr val="accent6">
                <a:lumMod val="60000"/>
                <a:lumOff val="40000"/>
              </a:schemeClr>
            </a:solidFill>
          </p:grpSpPr>
          <p:sp>
            <p:nvSpPr>
              <p:cNvPr id="5"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6"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42" name="6 Grupo"/>
            <p:cNvGrpSpPr/>
            <p:nvPr/>
          </p:nvGrpSpPr>
          <p:grpSpPr>
            <a:xfrm>
              <a:off x="4772892" y="2899867"/>
              <a:ext cx="444500" cy="201613"/>
              <a:chOff x="5399089" y="2840038"/>
              <a:chExt cx="444500" cy="201613"/>
            </a:xfrm>
            <a:solidFill>
              <a:schemeClr val="accent6">
                <a:lumMod val="60000"/>
                <a:lumOff val="40000"/>
              </a:schemeClr>
            </a:solidFill>
          </p:grpSpPr>
          <p:sp>
            <p:nvSpPr>
              <p:cNvPr id="8"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9"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43" name="9 Grupo"/>
            <p:cNvGrpSpPr/>
            <p:nvPr/>
          </p:nvGrpSpPr>
          <p:grpSpPr>
            <a:xfrm>
              <a:off x="4772892" y="3236417"/>
              <a:ext cx="444500" cy="200025"/>
              <a:chOff x="5399089" y="3176588"/>
              <a:chExt cx="444500" cy="200025"/>
            </a:xfrm>
            <a:solidFill>
              <a:schemeClr val="accent6">
                <a:lumMod val="60000"/>
                <a:lumOff val="40000"/>
              </a:schemeClr>
            </a:solidFill>
          </p:grpSpPr>
          <p:sp>
            <p:nvSpPr>
              <p:cNvPr id="11"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12"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45" name="12 Grupo"/>
            <p:cNvGrpSpPr/>
            <p:nvPr/>
          </p:nvGrpSpPr>
          <p:grpSpPr>
            <a:xfrm>
              <a:off x="4772892" y="3571379"/>
              <a:ext cx="444500" cy="201613"/>
              <a:chOff x="5399089" y="3511550"/>
              <a:chExt cx="444500" cy="201613"/>
            </a:xfrm>
            <a:solidFill>
              <a:schemeClr val="accent6">
                <a:lumMod val="60000"/>
                <a:lumOff val="40000"/>
              </a:schemeClr>
            </a:solidFill>
          </p:grpSpPr>
          <p:sp>
            <p:nvSpPr>
              <p:cNvPr id="14"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15"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46" name="15 Grupo"/>
            <p:cNvGrpSpPr/>
            <p:nvPr/>
          </p:nvGrpSpPr>
          <p:grpSpPr>
            <a:xfrm>
              <a:off x="5384079" y="2564904"/>
              <a:ext cx="444500" cy="200025"/>
              <a:chOff x="6010276" y="2505075"/>
              <a:chExt cx="444500" cy="200025"/>
            </a:xfrm>
            <a:solidFill>
              <a:schemeClr val="accent6">
                <a:lumMod val="60000"/>
                <a:lumOff val="40000"/>
              </a:schemeClr>
            </a:solidFill>
          </p:grpSpPr>
          <p:sp>
            <p:nvSpPr>
              <p:cNvPr id="17"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18"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47" name="18 Grupo"/>
            <p:cNvGrpSpPr/>
            <p:nvPr/>
          </p:nvGrpSpPr>
          <p:grpSpPr>
            <a:xfrm>
              <a:off x="5384079" y="2899867"/>
              <a:ext cx="444500" cy="201613"/>
              <a:chOff x="6010276" y="2840038"/>
              <a:chExt cx="444500" cy="201613"/>
            </a:xfrm>
            <a:solidFill>
              <a:schemeClr val="accent6">
                <a:lumMod val="60000"/>
                <a:lumOff val="40000"/>
              </a:schemeClr>
            </a:solidFill>
          </p:grpSpPr>
          <p:sp>
            <p:nvSpPr>
              <p:cNvPr id="20"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21"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48" name="21 Grupo"/>
            <p:cNvGrpSpPr/>
            <p:nvPr/>
          </p:nvGrpSpPr>
          <p:grpSpPr>
            <a:xfrm>
              <a:off x="5384079" y="3236417"/>
              <a:ext cx="444500" cy="200025"/>
              <a:chOff x="6010276" y="3176588"/>
              <a:chExt cx="444500" cy="200025"/>
            </a:xfrm>
            <a:solidFill>
              <a:schemeClr val="accent6">
                <a:lumMod val="60000"/>
                <a:lumOff val="40000"/>
              </a:schemeClr>
            </a:solidFill>
          </p:grpSpPr>
          <p:sp>
            <p:nvSpPr>
              <p:cNvPr id="23"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24"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49" name="24 Grupo"/>
            <p:cNvGrpSpPr/>
            <p:nvPr/>
          </p:nvGrpSpPr>
          <p:grpSpPr>
            <a:xfrm>
              <a:off x="5384079" y="3571379"/>
              <a:ext cx="444500" cy="201613"/>
              <a:chOff x="6010276" y="3511550"/>
              <a:chExt cx="444500" cy="201613"/>
            </a:xfrm>
            <a:solidFill>
              <a:schemeClr val="accent6">
                <a:lumMod val="60000"/>
                <a:lumOff val="40000"/>
              </a:schemeClr>
            </a:solidFill>
          </p:grpSpPr>
          <p:sp>
            <p:nvSpPr>
              <p:cNvPr id="26"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27"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50" name="27 Grupo"/>
            <p:cNvGrpSpPr/>
            <p:nvPr/>
          </p:nvGrpSpPr>
          <p:grpSpPr>
            <a:xfrm>
              <a:off x="5995267" y="2564904"/>
              <a:ext cx="442913" cy="200025"/>
              <a:chOff x="6621464" y="2505075"/>
              <a:chExt cx="442913" cy="200025"/>
            </a:xfrm>
            <a:solidFill>
              <a:schemeClr val="accent6">
                <a:lumMod val="60000"/>
                <a:lumOff val="40000"/>
              </a:schemeClr>
            </a:solidFill>
          </p:grpSpPr>
          <p:sp>
            <p:nvSpPr>
              <p:cNvPr id="29"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30"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1" name="30 Grupo"/>
            <p:cNvGrpSpPr/>
            <p:nvPr/>
          </p:nvGrpSpPr>
          <p:grpSpPr>
            <a:xfrm>
              <a:off x="5995267" y="2899867"/>
              <a:ext cx="442913" cy="201613"/>
              <a:chOff x="6621464" y="2840038"/>
              <a:chExt cx="442913" cy="201613"/>
            </a:xfrm>
            <a:solidFill>
              <a:schemeClr val="accent6">
                <a:lumMod val="60000"/>
                <a:lumOff val="40000"/>
              </a:schemeClr>
            </a:solidFill>
          </p:grpSpPr>
          <p:sp>
            <p:nvSpPr>
              <p:cNvPr id="32"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33"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52" name="33 Grupo"/>
            <p:cNvGrpSpPr/>
            <p:nvPr/>
          </p:nvGrpSpPr>
          <p:grpSpPr>
            <a:xfrm>
              <a:off x="5995267" y="3236417"/>
              <a:ext cx="442913" cy="200025"/>
              <a:chOff x="6621464" y="3176588"/>
              <a:chExt cx="442913" cy="200025"/>
            </a:xfrm>
            <a:solidFill>
              <a:schemeClr val="accent6">
                <a:lumMod val="60000"/>
                <a:lumOff val="40000"/>
              </a:schemeClr>
            </a:solidFill>
          </p:grpSpPr>
          <p:sp>
            <p:nvSpPr>
              <p:cNvPr id="35"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36"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3" name="36 Grupo"/>
            <p:cNvGrpSpPr/>
            <p:nvPr/>
          </p:nvGrpSpPr>
          <p:grpSpPr>
            <a:xfrm>
              <a:off x="5995267" y="3571379"/>
              <a:ext cx="442913" cy="201613"/>
              <a:chOff x="6621464" y="3511550"/>
              <a:chExt cx="442913" cy="201613"/>
            </a:xfrm>
            <a:solidFill>
              <a:schemeClr val="accent6">
                <a:lumMod val="60000"/>
                <a:lumOff val="40000"/>
              </a:schemeClr>
            </a:solidFill>
          </p:grpSpPr>
          <p:sp>
            <p:nvSpPr>
              <p:cNvPr id="38"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39"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54" name="39 Grupo"/>
            <p:cNvGrpSpPr/>
            <p:nvPr/>
          </p:nvGrpSpPr>
          <p:grpSpPr>
            <a:xfrm>
              <a:off x="6604867" y="2564904"/>
              <a:ext cx="444500" cy="200025"/>
              <a:chOff x="7231064" y="2505075"/>
              <a:chExt cx="444500" cy="200025"/>
            </a:xfrm>
            <a:solidFill>
              <a:schemeClr val="accent6">
                <a:lumMod val="60000"/>
                <a:lumOff val="40000"/>
              </a:schemeClr>
            </a:solidFill>
          </p:grpSpPr>
          <p:sp>
            <p:nvSpPr>
              <p:cNvPr id="41"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2"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5" name="42 Grupo"/>
            <p:cNvGrpSpPr/>
            <p:nvPr/>
          </p:nvGrpSpPr>
          <p:grpSpPr>
            <a:xfrm>
              <a:off x="6604867" y="2899867"/>
              <a:ext cx="444500" cy="201613"/>
              <a:chOff x="7231064" y="2840038"/>
              <a:chExt cx="444500" cy="201613"/>
            </a:xfrm>
            <a:solidFill>
              <a:schemeClr val="accent6">
                <a:lumMod val="60000"/>
                <a:lumOff val="40000"/>
              </a:schemeClr>
            </a:solidFill>
          </p:grpSpPr>
          <p:sp>
            <p:nvSpPr>
              <p:cNvPr id="44"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5"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88" name="45 Grupo"/>
            <p:cNvGrpSpPr/>
            <p:nvPr/>
          </p:nvGrpSpPr>
          <p:grpSpPr>
            <a:xfrm>
              <a:off x="6604867" y="3236417"/>
              <a:ext cx="444500" cy="200025"/>
              <a:chOff x="7231064" y="3176588"/>
              <a:chExt cx="444500" cy="200025"/>
            </a:xfrm>
            <a:solidFill>
              <a:schemeClr val="accent6">
                <a:lumMod val="60000"/>
                <a:lumOff val="40000"/>
              </a:schemeClr>
            </a:solidFill>
          </p:grpSpPr>
          <p:sp>
            <p:nvSpPr>
              <p:cNvPr id="47"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8"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89" name="48 Grupo"/>
            <p:cNvGrpSpPr/>
            <p:nvPr/>
          </p:nvGrpSpPr>
          <p:grpSpPr>
            <a:xfrm>
              <a:off x="6604867" y="3571379"/>
              <a:ext cx="444500" cy="201613"/>
              <a:chOff x="7231064" y="3511550"/>
              <a:chExt cx="444500" cy="201613"/>
            </a:xfrm>
            <a:solidFill>
              <a:schemeClr val="accent6">
                <a:lumMod val="60000"/>
                <a:lumOff val="40000"/>
              </a:schemeClr>
            </a:solidFill>
          </p:grpSpPr>
          <p:sp>
            <p:nvSpPr>
              <p:cNvPr id="50"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51"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grpSp>
        <p:nvGrpSpPr>
          <p:cNvPr id="256" name="255 Grupo"/>
          <p:cNvGrpSpPr/>
          <p:nvPr/>
        </p:nvGrpSpPr>
        <p:grpSpPr>
          <a:xfrm>
            <a:off x="4786314" y="2357430"/>
            <a:ext cx="2276475" cy="200025"/>
            <a:chOff x="1668455" y="5072074"/>
            <a:chExt cx="2276475" cy="200025"/>
          </a:xfrm>
        </p:grpSpPr>
        <p:grpSp>
          <p:nvGrpSpPr>
            <p:cNvPr id="257" name="3 Grupo"/>
            <p:cNvGrpSpPr/>
            <p:nvPr/>
          </p:nvGrpSpPr>
          <p:grpSpPr>
            <a:xfrm>
              <a:off x="1668455" y="5072074"/>
              <a:ext cx="444500" cy="200025"/>
              <a:chOff x="5399089" y="2505075"/>
              <a:chExt cx="444500" cy="200025"/>
            </a:xfrm>
            <a:solidFill>
              <a:srgbClr val="FF0000"/>
            </a:solidFill>
          </p:grpSpPr>
          <p:sp>
            <p:nvSpPr>
              <p:cNvPr id="267"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268"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8" name="15 Grupo"/>
            <p:cNvGrpSpPr/>
            <p:nvPr/>
          </p:nvGrpSpPr>
          <p:grpSpPr>
            <a:xfrm>
              <a:off x="2279642" y="5072074"/>
              <a:ext cx="444500" cy="200025"/>
              <a:chOff x="6010276" y="2505075"/>
              <a:chExt cx="444500" cy="200025"/>
            </a:xfrm>
            <a:solidFill>
              <a:srgbClr val="FF0000"/>
            </a:solidFill>
          </p:grpSpPr>
          <p:sp>
            <p:nvSpPr>
              <p:cNvPr id="265"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266"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9" name="27 Grupo"/>
            <p:cNvGrpSpPr/>
            <p:nvPr/>
          </p:nvGrpSpPr>
          <p:grpSpPr>
            <a:xfrm>
              <a:off x="2890830" y="5072074"/>
              <a:ext cx="442913" cy="200025"/>
              <a:chOff x="6621464" y="2505075"/>
              <a:chExt cx="442913" cy="200025"/>
            </a:xfrm>
            <a:solidFill>
              <a:srgbClr val="FF0000"/>
            </a:solidFill>
          </p:grpSpPr>
          <p:sp>
            <p:nvSpPr>
              <p:cNvPr id="263"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264"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60" name="39 Grupo"/>
            <p:cNvGrpSpPr/>
            <p:nvPr/>
          </p:nvGrpSpPr>
          <p:grpSpPr>
            <a:xfrm>
              <a:off x="3500430" y="5072074"/>
              <a:ext cx="444500" cy="200025"/>
              <a:chOff x="7231064" y="2505075"/>
              <a:chExt cx="444500" cy="200025"/>
            </a:xfrm>
            <a:solidFill>
              <a:srgbClr val="FF0000"/>
            </a:solidFill>
          </p:grpSpPr>
          <p:sp>
            <p:nvSpPr>
              <p:cNvPr id="261"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262"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sp>
        <p:nvSpPr>
          <p:cNvPr id="304" name="303 CuadroTexto"/>
          <p:cNvSpPr txBox="1"/>
          <p:nvPr/>
        </p:nvSpPr>
        <p:spPr>
          <a:xfrm>
            <a:off x="963072" y="1124744"/>
            <a:ext cx="1677895" cy="461665"/>
          </a:xfrm>
          <a:prstGeom prst="rect">
            <a:avLst/>
          </a:prstGeom>
          <a:solidFill>
            <a:schemeClr val="bg2">
              <a:lumMod val="25000"/>
            </a:schemeClr>
          </a:solidFill>
        </p:spPr>
        <p:txBody>
          <a:bodyPr wrap="none" rtlCol="0">
            <a:spAutoFit/>
          </a:bodyPr>
          <a:lstStyle/>
          <a:p>
            <a:r>
              <a:rPr lang="es-ES" sz="2400" b="1" dirty="0">
                <a:solidFill>
                  <a:schemeClr val="bg1">
                    <a:lumMod val="95000"/>
                  </a:schemeClr>
                </a:solidFill>
              </a:rPr>
              <a:t>ACTIVATE</a:t>
            </a:r>
          </a:p>
        </p:txBody>
      </p:sp>
      <p:grpSp>
        <p:nvGrpSpPr>
          <p:cNvPr id="309" name="308 Grupo"/>
          <p:cNvGrpSpPr/>
          <p:nvPr/>
        </p:nvGrpSpPr>
        <p:grpSpPr>
          <a:xfrm>
            <a:off x="3929058" y="1142984"/>
            <a:ext cx="720101" cy="1656000"/>
            <a:chOff x="1145256" y="2344504"/>
            <a:chExt cx="720101" cy="1656000"/>
          </a:xfrm>
        </p:grpSpPr>
        <p:sp>
          <p:nvSpPr>
            <p:cNvPr id="307" name="Line 155"/>
            <p:cNvSpPr>
              <a:spLocks noChangeShapeType="1"/>
            </p:cNvSpPr>
            <p:nvPr/>
          </p:nvSpPr>
          <p:spPr bwMode="auto">
            <a:xfrm>
              <a:off x="1145256" y="2344504"/>
              <a:ext cx="0" cy="1656000"/>
            </a:xfrm>
            <a:prstGeom prst="line">
              <a:avLst/>
            </a:prstGeom>
            <a:noFill/>
            <a:ln w="38100">
              <a:solidFill>
                <a:srgbClr val="FF0000"/>
              </a:solidFill>
              <a:round/>
              <a:headEnd/>
              <a:tailEnd type="triangle" w="med" len="med"/>
            </a:ln>
          </p:spPr>
          <p:txBody>
            <a:bodyPr anchor="ctr">
              <a:spAutoFit/>
            </a:bodyPr>
            <a:lstStyle/>
            <a:p>
              <a:endParaRPr lang="es-ES"/>
            </a:p>
          </p:txBody>
        </p:sp>
        <p:cxnSp>
          <p:nvCxnSpPr>
            <p:cNvPr id="308" name="307 Forma"/>
            <p:cNvCxnSpPr/>
            <p:nvPr/>
          </p:nvCxnSpPr>
          <p:spPr bwMode="auto">
            <a:xfrm>
              <a:off x="1145256" y="2804086"/>
              <a:ext cx="720101" cy="304972"/>
            </a:xfrm>
            <a:prstGeom prst="bentConnector2">
              <a:avLst/>
            </a:prstGeom>
            <a:ln w="381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sp>
        <p:nvSpPr>
          <p:cNvPr id="292" name="291 CuadroTexto"/>
          <p:cNvSpPr txBox="1"/>
          <p:nvPr/>
        </p:nvSpPr>
        <p:spPr>
          <a:xfrm>
            <a:off x="971600" y="1683708"/>
            <a:ext cx="1088760" cy="1034129"/>
          </a:xfrm>
          <a:prstGeom prst="rect">
            <a:avLst/>
          </a:prstGeom>
          <a:noFill/>
        </p:spPr>
        <p:txBody>
          <a:bodyPr wrap="none" rtlCol="0">
            <a:spAutoFit/>
          </a:bodyPr>
          <a:lstStyle/>
          <a:p>
            <a:pPr algn="l"/>
            <a:r>
              <a:rPr lang="es-ES" sz="1800" b="1" dirty="0">
                <a:solidFill>
                  <a:schemeClr val="tx1">
                    <a:lumMod val="65000"/>
                    <a:lumOff val="35000"/>
                  </a:schemeClr>
                </a:solidFill>
              </a:rPr>
              <a:t>RAS*= 0</a:t>
            </a:r>
          </a:p>
          <a:p>
            <a:pPr algn="l"/>
            <a:r>
              <a:rPr lang="es-ES" sz="1800" b="1" dirty="0">
                <a:solidFill>
                  <a:schemeClr val="tx1">
                    <a:lumMod val="65000"/>
                    <a:lumOff val="35000"/>
                  </a:schemeClr>
                </a:solidFill>
              </a:rPr>
              <a:t>CAS*= 1</a:t>
            </a:r>
          </a:p>
          <a:p>
            <a:pPr algn="l"/>
            <a:r>
              <a:rPr lang="es-ES" sz="1800" b="1" dirty="0">
                <a:solidFill>
                  <a:schemeClr val="tx1">
                    <a:lumMod val="65000"/>
                    <a:lumOff val="35000"/>
                  </a:schemeClr>
                </a:solidFill>
              </a:rPr>
              <a:t>WE*= 1</a:t>
            </a:r>
          </a:p>
        </p:txBody>
      </p:sp>
    </p:spTree>
    <p:extLst>
      <p:ext uri="{BB962C8B-B14F-4D97-AF65-F5344CB8AC3E}">
        <p14:creationId xmlns:p14="http://schemas.microsoft.com/office/powerpoint/2010/main" val="1695308688"/>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32"/>
                                        </p:tgtEl>
                                        <p:attrNameLst>
                                          <p:attrName>style.color</p:attrName>
                                        </p:attrNameLst>
                                      </p:cBhvr>
                                      <p:to>
                                        <a:srgbClr val="FF0000"/>
                                      </p:to>
                                    </p:animClr>
                                  </p:childTnLst>
                                </p:cTn>
                              </p:par>
                              <p:par>
                                <p:cTn id="7" presetID="3" presetClass="emph" presetSubtype="2" fill="hold" grpId="0" nodeType="withEffect">
                                  <p:stCondLst>
                                    <p:cond delay="0"/>
                                  </p:stCondLst>
                                  <p:childTnLst>
                                    <p:animClr clrSpc="rgb" dir="cw">
                                      <p:cBhvr override="childStyle">
                                        <p:cTn id="8" dur="500" fill="hold"/>
                                        <p:tgtEl>
                                          <p:spTgt spid="233"/>
                                        </p:tgtEl>
                                        <p:attrNameLst>
                                          <p:attrName>style.color</p:attrName>
                                        </p:attrNameLst>
                                      </p:cBhvr>
                                      <p:to>
                                        <a:srgbClr val="FF0000"/>
                                      </p:to>
                                    </p:animClr>
                                  </p:childTnLst>
                                </p:cTn>
                              </p:par>
                              <p:par>
                                <p:cTn id="9" presetID="3" presetClass="emph" presetSubtype="2" fill="hold" grpId="0" nodeType="withEffect">
                                  <p:stCondLst>
                                    <p:cond delay="0"/>
                                  </p:stCondLst>
                                  <p:childTnLst>
                                    <p:animClr clrSpc="rgb" dir="cw">
                                      <p:cBhvr override="childStyle">
                                        <p:cTn id="10" dur="500" fill="hold"/>
                                        <p:tgtEl>
                                          <p:spTgt spid="220"/>
                                        </p:tgtEl>
                                        <p:attrNameLst>
                                          <p:attrName>style.color</p:attrName>
                                        </p:attrNameLst>
                                      </p:cBhvr>
                                      <p:to>
                                        <a:srgbClr val="FF0000"/>
                                      </p:to>
                                    </p:animClr>
                                  </p:childTnLst>
                                </p:cTn>
                              </p:par>
                            </p:childTnLst>
                          </p:cTn>
                        </p:par>
                        <p:par>
                          <p:cTn id="11" fill="hold">
                            <p:stCondLst>
                              <p:cond delay="500"/>
                            </p:stCondLst>
                            <p:childTnLst>
                              <p:par>
                                <p:cTn id="12" presetID="17" presetClass="entr" presetSubtype="8" fill="hold" nodeType="afterEffect">
                                  <p:stCondLst>
                                    <p:cond delay="0"/>
                                  </p:stCondLst>
                                  <p:childTnLst>
                                    <p:set>
                                      <p:cBhvr>
                                        <p:cTn id="13" dur="1" fill="hold">
                                          <p:stCondLst>
                                            <p:cond delay="0"/>
                                          </p:stCondLst>
                                        </p:cTn>
                                        <p:tgtEl>
                                          <p:spTgt spid="302"/>
                                        </p:tgtEl>
                                        <p:attrNameLst>
                                          <p:attrName>style.visibility</p:attrName>
                                        </p:attrNameLst>
                                      </p:cBhvr>
                                      <p:to>
                                        <p:strVal val="visible"/>
                                      </p:to>
                                    </p:set>
                                    <p:anim calcmode="lin" valueType="num">
                                      <p:cBhvr>
                                        <p:cTn id="14" dur="2000" fill="hold"/>
                                        <p:tgtEl>
                                          <p:spTgt spid="302"/>
                                        </p:tgtEl>
                                        <p:attrNameLst>
                                          <p:attrName>ppt_x</p:attrName>
                                        </p:attrNameLst>
                                      </p:cBhvr>
                                      <p:tavLst>
                                        <p:tav tm="0">
                                          <p:val>
                                            <p:strVal val="#ppt_x-#ppt_w/2"/>
                                          </p:val>
                                        </p:tav>
                                        <p:tav tm="100000">
                                          <p:val>
                                            <p:strVal val="#ppt_x"/>
                                          </p:val>
                                        </p:tav>
                                      </p:tavLst>
                                    </p:anim>
                                    <p:anim calcmode="lin" valueType="num">
                                      <p:cBhvr>
                                        <p:cTn id="15" dur="2000" fill="hold"/>
                                        <p:tgtEl>
                                          <p:spTgt spid="302"/>
                                        </p:tgtEl>
                                        <p:attrNameLst>
                                          <p:attrName>ppt_y</p:attrName>
                                        </p:attrNameLst>
                                      </p:cBhvr>
                                      <p:tavLst>
                                        <p:tav tm="0">
                                          <p:val>
                                            <p:strVal val="#ppt_y"/>
                                          </p:val>
                                        </p:tav>
                                        <p:tav tm="100000">
                                          <p:val>
                                            <p:strVal val="#ppt_y"/>
                                          </p:val>
                                        </p:tav>
                                      </p:tavLst>
                                    </p:anim>
                                    <p:anim calcmode="lin" valueType="num">
                                      <p:cBhvr>
                                        <p:cTn id="16" dur="2000" fill="hold"/>
                                        <p:tgtEl>
                                          <p:spTgt spid="302"/>
                                        </p:tgtEl>
                                        <p:attrNameLst>
                                          <p:attrName>ppt_w</p:attrName>
                                        </p:attrNameLst>
                                      </p:cBhvr>
                                      <p:tavLst>
                                        <p:tav tm="0">
                                          <p:val>
                                            <p:fltVal val="0"/>
                                          </p:val>
                                        </p:tav>
                                        <p:tav tm="100000">
                                          <p:val>
                                            <p:strVal val="#ppt_w"/>
                                          </p:val>
                                        </p:tav>
                                      </p:tavLst>
                                    </p:anim>
                                    <p:anim calcmode="lin" valueType="num">
                                      <p:cBhvr>
                                        <p:cTn id="17" dur="2000" fill="hold"/>
                                        <p:tgtEl>
                                          <p:spTgt spid="302"/>
                                        </p:tgtEl>
                                        <p:attrNameLst>
                                          <p:attrName>ppt_h</p:attrName>
                                        </p:attrNameLst>
                                      </p:cBhvr>
                                      <p:tavLst>
                                        <p:tav tm="0">
                                          <p:val>
                                            <p:strVal val="#ppt_h"/>
                                          </p:val>
                                        </p:tav>
                                        <p:tav tm="100000">
                                          <p:val>
                                            <p:strVal val="#ppt_h"/>
                                          </p:val>
                                        </p:tav>
                                      </p:tavLst>
                                    </p:anim>
                                  </p:childTnLst>
                                </p:cTn>
                              </p:par>
                              <p:par>
                                <p:cTn id="18" presetID="17" presetClass="entr" presetSubtype="8" fill="hold" nodeType="withEffect">
                                  <p:stCondLst>
                                    <p:cond delay="0"/>
                                  </p:stCondLst>
                                  <p:childTnLst>
                                    <p:set>
                                      <p:cBhvr>
                                        <p:cTn id="19" dur="1" fill="hold">
                                          <p:stCondLst>
                                            <p:cond delay="0"/>
                                          </p:stCondLst>
                                        </p:cTn>
                                        <p:tgtEl>
                                          <p:spTgt spid="303"/>
                                        </p:tgtEl>
                                        <p:attrNameLst>
                                          <p:attrName>style.visibility</p:attrName>
                                        </p:attrNameLst>
                                      </p:cBhvr>
                                      <p:to>
                                        <p:strVal val="visible"/>
                                      </p:to>
                                    </p:set>
                                    <p:anim calcmode="lin" valueType="num">
                                      <p:cBhvr>
                                        <p:cTn id="20" dur="2000" fill="hold"/>
                                        <p:tgtEl>
                                          <p:spTgt spid="303"/>
                                        </p:tgtEl>
                                        <p:attrNameLst>
                                          <p:attrName>ppt_x</p:attrName>
                                        </p:attrNameLst>
                                      </p:cBhvr>
                                      <p:tavLst>
                                        <p:tav tm="0">
                                          <p:val>
                                            <p:strVal val="#ppt_x-#ppt_w/2"/>
                                          </p:val>
                                        </p:tav>
                                        <p:tav tm="100000">
                                          <p:val>
                                            <p:strVal val="#ppt_x"/>
                                          </p:val>
                                        </p:tav>
                                      </p:tavLst>
                                    </p:anim>
                                    <p:anim calcmode="lin" valueType="num">
                                      <p:cBhvr>
                                        <p:cTn id="21" dur="2000" fill="hold"/>
                                        <p:tgtEl>
                                          <p:spTgt spid="303"/>
                                        </p:tgtEl>
                                        <p:attrNameLst>
                                          <p:attrName>ppt_y</p:attrName>
                                        </p:attrNameLst>
                                      </p:cBhvr>
                                      <p:tavLst>
                                        <p:tav tm="0">
                                          <p:val>
                                            <p:strVal val="#ppt_y"/>
                                          </p:val>
                                        </p:tav>
                                        <p:tav tm="100000">
                                          <p:val>
                                            <p:strVal val="#ppt_y"/>
                                          </p:val>
                                        </p:tav>
                                      </p:tavLst>
                                    </p:anim>
                                    <p:anim calcmode="lin" valueType="num">
                                      <p:cBhvr>
                                        <p:cTn id="22" dur="2000" fill="hold"/>
                                        <p:tgtEl>
                                          <p:spTgt spid="303"/>
                                        </p:tgtEl>
                                        <p:attrNameLst>
                                          <p:attrName>ppt_w</p:attrName>
                                        </p:attrNameLst>
                                      </p:cBhvr>
                                      <p:tavLst>
                                        <p:tav tm="0">
                                          <p:val>
                                            <p:fltVal val="0"/>
                                          </p:val>
                                        </p:tav>
                                        <p:tav tm="100000">
                                          <p:val>
                                            <p:strVal val="#ppt_w"/>
                                          </p:val>
                                        </p:tav>
                                      </p:tavLst>
                                    </p:anim>
                                    <p:anim calcmode="lin" valueType="num">
                                      <p:cBhvr>
                                        <p:cTn id="23" dur="2000" fill="hold"/>
                                        <p:tgtEl>
                                          <p:spTgt spid="303"/>
                                        </p:tgtEl>
                                        <p:attrNameLst>
                                          <p:attrName>ppt_h</p:attrName>
                                        </p:attrNameLst>
                                      </p:cBhvr>
                                      <p:tavLst>
                                        <p:tav tm="0">
                                          <p:val>
                                            <p:strVal val="#ppt_h"/>
                                          </p:val>
                                        </p:tav>
                                        <p:tav tm="100000">
                                          <p:val>
                                            <p:strVal val="#ppt_h"/>
                                          </p:val>
                                        </p:tav>
                                      </p:tavLst>
                                    </p:anim>
                                  </p:childTnLst>
                                </p:cTn>
                              </p:par>
                              <p:par>
                                <p:cTn id="24" presetID="17" presetClass="entr" presetSubtype="1" fill="hold" nodeType="withEffect">
                                  <p:stCondLst>
                                    <p:cond delay="0"/>
                                  </p:stCondLst>
                                  <p:childTnLst>
                                    <p:set>
                                      <p:cBhvr>
                                        <p:cTn id="25" dur="1" fill="hold">
                                          <p:stCondLst>
                                            <p:cond delay="0"/>
                                          </p:stCondLst>
                                        </p:cTn>
                                        <p:tgtEl>
                                          <p:spTgt spid="309"/>
                                        </p:tgtEl>
                                        <p:attrNameLst>
                                          <p:attrName>style.visibility</p:attrName>
                                        </p:attrNameLst>
                                      </p:cBhvr>
                                      <p:to>
                                        <p:strVal val="visible"/>
                                      </p:to>
                                    </p:set>
                                    <p:anim calcmode="lin" valueType="num">
                                      <p:cBhvr>
                                        <p:cTn id="26" dur="2000" fill="hold"/>
                                        <p:tgtEl>
                                          <p:spTgt spid="309"/>
                                        </p:tgtEl>
                                        <p:attrNameLst>
                                          <p:attrName>ppt_x</p:attrName>
                                        </p:attrNameLst>
                                      </p:cBhvr>
                                      <p:tavLst>
                                        <p:tav tm="0">
                                          <p:val>
                                            <p:strVal val="#ppt_x"/>
                                          </p:val>
                                        </p:tav>
                                        <p:tav tm="100000">
                                          <p:val>
                                            <p:strVal val="#ppt_x"/>
                                          </p:val>
                                        </p:tav>
                                      </p:tavLst>
                                    </p:anim>
                                    <p:anim calcmode="lin" valueType="num">
                                      <p:cBhvr>
                                        <p:cTn id="27" dur="2000" fill="hold"/>
                                        <p:tgtEl>
                                          <p:spTgt spid="309"/>
                                        </p:tgtEl>
                                        <p:attrNameLst>
                                          <p:attrName>ppt_y</p:attrName>
                                        </p:attrNameLst>
                                      </p:cBhvr>
                                      <p:tavLst>
                                        <p:tav tm="0">
                                          <p:val>
                                            <p:strVal val="#ppt_y-#ppt_h/2"/>
                                          </p:val>
                                        </p:tav>
                                        <p:tav tm="100000">
                                          <p:val>
                                            <p:strVal val="#ppt_y"/>
                                          </p:val>
                                        </p:tav>
                                      </p:tavLst>
                                    </p:anim>
                                    <p:anim calcmode="lin" valueType="num">
                                      <p:cBhvr>
                                        <p:cTn id="28" dur="2000" fill="hold"/>
                                        <p:tgtEl>
                                          <p:spTgt spid="309"/>
                                        </p:tgtEl>
                                        <p:attrNameLst>
                                          <p:attrName>ppt_w</p:attrName>
                                        </p:attrNameLst>
                                      </p:cBhvr>
                                      <p:tavLst>
                                        <p:tav tm="0">
                                          <p:val>
                                            <p:strVal val="#ppt_w"/>
                                          </p:val>
                                        </p:tav>
                                        <p:tav tm="100000">
                                          <p:val>
                                            <p:strVal val="#ppt_w"/>
                                          </p:val>
                                        </p:tav>
                                      </p:tavLst>
                                    </p:anim>
                                    <p:anim calcmode="lin" valueType="num">
                                      <p:cBhvr>
                                        <p:cTn id="29" dur="2000" fill="hold"/>
                                        <p:tgtEl>
                                          <p:spTgt spid="309"/>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301"/>
                                        </p:tgtEl>
                                        <p:attrNameLst>
                                          <p:attrName>style.visibility</p:attrName>
                                        </p:attrNameLst>
                                      </p:cBhvr>
                                      <p:to>
                                        <p:strVal val="visible"/>
                                      </p:to>
                                    </p:set>
                                    <p:animEffect transition="in" filter="dissolve">
                                      <p:cBhvr>
                                        <p:cTn id="33" dur="1000"/>
                                        <p:tgtEl>
                                          <p:spTgt spid="301"/>
                                        </p:tgtEl>
                                      </p:cBhvr>
                                    </p:animEffect>
                                  </p:childTnLst>
                                </p:cTn>
                              </p:par>
                            </p:childTnLst>
                          </p:cTn>
                        </p:par>
                        <p:par>
                          <p:cTn id="34" fill="hold">
                            <p:stCondLst>
                              <p:cond delay="3500"/>
                            </p:stCondLst>
                            <p:childTnLst>
                              <p:par>
                                <p:cTn id="35" presetID="17" presetClass="entr" presetSubtype="8" fill="hold" nodeType="afterEffect">
                                  <p:stCondLst>
                                    <p:cond delay="0"/>
                                  </p:stCondLst>
                                  <p:childTnLst>
                                    <p:set>
                                      <p:cBhvr>
                                        <p:cTn id="36" dur="1" fill="hold">
                                          <p:stCondLst>
                                            <p:cond delay="0"/>
                                          </p:stCondLst>
                                        </p:cTn>
                                        <p:tgtEl>
                                          <p:spTgt spid="269"/>
                                        </p:tgtEl>
                                        <p:attrNameLst>
                                          <p:attrName>style.visibility</p:attrName>
                                        </p:attrNameLst>
                                      </p:cBhvr>
                                      <p:to>
                                        <p:strVal val="visible"/>
                                      </p:to>
                                    </p:set>
                                    <p:anim calcmode="lin" valueType="num">
                                      <p:cBhvr>
                                        <p:cTn id="37" dur="2000" fill="hold"/>
                                        <p:tgtEl>
                                          <p:spTgt spid="269"/>
                                        </p:tgtEl>
                                        <p:attrNameLst>
                                          <p:attrName>ppt_x</p:attrName>
                                        </p:attrNameLst>
                                      </p:cBhvr>
                                      <p:tavLst>
                                        <p:tav tm="0">
                                          <p:val>
                                            <p:strVal val="#ppt_x-#ppt_w/2"/>
                                          </p:val>
                                        </p:tav>
                                        <p:tav tm="100000">
                                          <p:val>
                                            <p:strVal val="#ppt_x"/>
                                          </p:val>
                                        </p:tav>
                                      </p:tavLst>
                                    </p:anim>
                                    <p:anim calcmode="lin" valueType="num">
                                      <p:cBhvr>
                                        <p:cTn id="38" dur="2000" fill="hold"/>
                                        <p:tgtEl>
                                          <p:spTgt spid="269"/>
                                        </p:tgtEl>
                                        <p:attrNameLst>
                                          <p:attrName>ppt_y</p:attrName>
                                        </p:attrNameLst>
                                      </p:cBhvr>
                                      <p:tavLst>
                                        <p:tav tm="0">
                                          <p:val>
                                            <p:strVal val="#ppt_y"/>
                                          </p:val>
                                        </p:tav>
                                        <p:tav tm="100000">
                                          <p:val>
                                            <p:strVal val="#ppt_y"/>
                                          </p:val>
                                        </p:tav>
                                      </p:tavLst>
                                    </p:anim>
                                    <p:anim calcmode="lin" valueType="num">
                                      <p:cBhvr>
                                        <p:cTn id="39" dur="2000" fill="hold"/>
                                        <p:tgtEl>
                                          <p:spTgt spid="269"/>
                                        </p:tgtEl>
                                        <p:attrNameLst>
                                          <p:attrName>ppt_w</p:attrName>
                                        </p:attrNameLst>
                                      </p:cBhvr>
                                      <p:tavLst>
                                        <p:tav tm="0">
                                          <p:val>
                                            <p:fltVal val="0"/>
                                          </p:val>
                                        </p:tav>
                                        <p:tav tm="100000">
                                          <p:val>
                                            <p:strVal val="#ppt_w"/>
                                          </p:val>
                                        </p:tav>
                                      </p:tavLst>
                                    </p:anim>
                                    <p:anim calcmode="lin" valueType="num">
                                      <p:cBhvr>
                                        <p:cTn id="40" dur="2000" fill="hold"/>
                                        <p:tgtEl>
                                          <p:spTgt spid="269"/>
                                        </p:tgtEl>
                                        <p:attrNameLst>
                                          <p:attrName>ppt_h</p:attrName>
                                        </p:attrNameLst>
                                      </p:cBhvr>
                                      <p:tavLst>
                                        <p:tav tm="0">
                                          <p:val>
                                            <p:strVal val="#ppt_h"/>
                                          </p:val>
                                        </p:tav>
                                        <p:tav tm="100000">
                                          <p:val>
                                            <p:strVal val="#ppt_h"/>
                                          </p:val>
                                        </p:tav>
                                      </p:tavLst>
                                    </p:anim>
                                  </p:childTnLst>
                                </p:cTn>
                              </p:par>
                              <p:par>
                                <p:cTn id="41" presetID="17" presetClass="entr" presetSubtype="8" fill="hold" nodeType="withEffect">
                                  <p:stCondLst>
                                    <p:cond delay="0"/>
                                  </p:stCondLst>
                                  <p:childTnLst>
                                    <p:set>
                                      <p:cBhvr>
                                        <p:cTn id="42" dur="1" fill="hold">
                                          <p:stCondLst>
                                            <p:cond delay="0"/>
                                          </p:stCondLst>
                                        </p:cTn>
                                        <p:tgtEl>
                                          <p:spTgt spid="256"/>
                                        </p:tgtEl>
                                        <p:attrNameLst>
                                          <p:attrName>style.visibility</p:attrName>
                                        </p:attrNameLst>
                                      </p:cBhvr>
                                      <p:to>
                                        <p:strVal val="visible"/>
                                      </p:to>
                                    </p:set>
                                    <p:anim calcmode="lin" valueType="num">
                                      <p:cBhvr>
                                        <p:cTn id="43" dur="2000" fill="hold"/>
                                        <p:tgtEl>
                                          <p:spTgt spid="256"/>
                                        </p:tgtEl>
                                        <p:attrNameLst>
                                          <p:attrName>ppt_x</p:attrName>
                                        </p:attrNameLst>
                                      </p:cBhvr>
                                      <p:tavLst>
                                        <p:tav tm="0">
                                          <p:val>
                                            <p:strVal val="#ppt_x-#ppt_w/2"/>
                                          </p:val>
                                        </p:tav>
                                        <p:tav tm="100000">
                                          <p:val>
                                            <p:strVal val="#ppt_x"/>
                                          </p:val>
                                        </p:tav>
                                      </p:tavLst>
                                    </p:anim>
                                    <p:anim calcmode="lin" valueType="num">
                                      <p:cBhvr>
                                        <p:cTn id="44" dur="2000" fill="hold"/>
                                        <p:tgtEl>
                                          <p:spTgt spid="256"/>
                                        </p:tgtEl>
                                        <p:attrNameLst>
                                          <p:attrName>ppt_y</p:attrName>
                                        </p:attrNameLst>
                                      </p:cBhvr>
                                      <p:tavLst>
                                        <p:tav tm="0">
                                          <p:val>
                                            <p:strVal val="#ppt_y"/>
                                          </p:val>
                                        </p:tav>
                                        <p:tav tm="100000">
                                          <p:val>
                                            <p:strVal val="#ppt_y"/>
                                          </p:val>
                                        </p:tav>
                                      </p:tavLst>
                                    </p:anim>
                                    <p:anim calcmode="lin" valueType="num">
                                      <p:cBhvr>
                                        <p:cTn id="45" dur="2000" fill="hold"/>
                                        <p:tgtEl>
                                          <p:spTgt spid="256"/>
                                        </p:tgtEl>
                                        <p:attrNameLst>
                                          <p:attrName>ppt_w</p:attrName>
                                        </p:attrNameLst>
                                      </p:cBhvr>
                                      <p:tavLst>
                                        <p:tav tm="0">
                                          <p:val>
                                            <p:fltVal val="0"/>
                                          </p:val>
                                        </p:tav>
                                        <p:tav tm="100000">
                                          <p:val>
                                            <p:strVal val="#ppt_w"/>
                                          </p:val>
                                        </p:tav>
                                      </p:tavLst>
                                    </p:anim>
                                    <p:anim calcmode="lin" valueType="num">
                                      <p:cBhvr>
                                        <p:cTn id="46" dur="2000" fill="hold"/>
                                        <p:tgtEl>
                                          <p:spTgt spid="256"/>
                                        </p:tgtEl>
                                        <p:attrNameLst>
                                          <p:attrName>ppt_h</p:attrName>
                                        </p:attrNameLst>
                                      </p:cBhvr>
                                      <p:tavLst>
                                        <p:tav tm="0">
                                          <p:val>
                                            <p:strVal val="#ppt_h"/>
                                          </p:val>
                                        </p:tav>
                                        <p:tav tm="100000">
                                          <p:val>
                                            <p:strVal val="#ppt_h"/>
                                          </p:val>
                                        </p:tav>
                                      </p:tavLst>
                                    </p:anim>
                                  </p:childTnLst>
                                </p:cTn>
                              </p:par>
                            </p:childTnLst>
                          </p:cTn>
                        </p:par>
                        <p:par>
                          <p:cTn id="47" fill="hold">
                            <p:stCondLst>
                              <p:cond delay="5500"/>
                            </p:stCondLst>
                            <p:childTnLst>
                              <p:par>
                                <p:cTn id="48" presetID="17" presetClass="entr" presetSubtype="1" fill="hold" nodeType="afterEffect">
                                  <p:stCondLst>
                                    <p:cond delay="0"/>
                                  </p:stCondLst>
                                  <p:childTnLst>
                                    <p:set>
                                      <p:cBhvr>
                                        <p:cTn id="49" dur="1" fill="hold">
                                          <p:stCondLst>
                                            <p:cond delay="0"/>
                                          </p:stCondLst>
                                        </p:cTn>
                                        <p:tgtEl>
                                          <p:spTgt spid="272"/>
                                        </p:tgtEl>
                                        <p:attrNameLst>
                                          <p:attrName>style.visibility</p:attrName>
                                        </p:attrNameLst>
                                      </p:cBhvr>
                                      <p:to>
                                        <p:strVal val="visible"/>
                                      </p:to>
                                    </p:set>
                                    <p:anim calcmode="lin" valueType="num">
                                      <p:cBhvr>
                                        <p:cTn id="50" dur="2000" fill="hold"/>
                                        <p:tgtEl>
                                          <p:spTgt spid="272"/>
                                        </p:tgtEl>
                                        <p:attrNameLst>
                                          <p:attrName>ppt_x</p:attrName>
                                        </p:attrNameLst>
                                      </p:cBhvr>
                                      <p:tavLst>
                                        <p:tav tm="0">
                                          <p:val>
                                            <p:strVal val="#ppt_x"/>
                                          </p:val>
                                        </p:tav>
                                        <p:tav tm="100000">
                                          <p:val>
                                            <p:strVal val="#ppt_x"/>
                                          </p:val>
                                        </p:tav>
                                      </p:tavLst>
                                    </p:anim>
                                    <p:anim calcmode="lin" valueType="num">
                                      <p:cBhvr>
                                        <p:cTn id="51" dur="2000" fill="hold"/>
                                        <p:tgtEl>
                                          <p:spTgt spid="272"/>
                                        </p:tgtEl>
                                        <p:attrNameLst>
                                          <p:attrName>ppt_y</p:attrName>
                                        </p:attrNameLst>
                                      </p:cBhvr>
                                      <p:tavLst>
                                        <p:tav tm="0">
                                          <p:val>
                                            <p:strVal val="#ppt_y-#ppt_h/2"/>
                                          </p:val>
                                        </p:tav>
                                        <p:tav tm="100000">
                                          <p:val>
                                            <p:strVal val="#ppt_y"/>
                                          </p:val>
                                        </p:tav>
                                      </p:tavLst>
                                    </p:anim>
                                    <p:anim calcmode="lin" valueType="num">
                                      <p:cBhvr>
                                        <p:cTn id="52" dur="2000" fill="hold"/>
                                        <p:tgtEl>
                                          <p:spTgt spid="272"/>
                                        </p:tgtEl>
                                        <p:attrNameLst>
                                          <p:attrName>ppt_w</p:attrName>
                                        </p:attrNameLst>
                                      </p:cBhvr>
                                      <p:tavLst>
                                        <p:tav tm="0">
                                          <p:val>
                                            <p:strVal val="#ppt_w"/>
                                          </p:val>
                                        </p:tav>
                                        <p:tav tm="100000">
                                          <p:val>
                                            <p:strVal val="#ppt_w"/>
                                          </p:val>
                                        </p:tav>
                                      </p:tavLst>
                                    </p:anim>
                                    <p:anim calcmode="lin" valueType="num">
                                      <p:cBhvr>
                                        <p:cTn id="53" dur="2000" fill="hold"/>
                                        <p:tgtEl>
                                          <p:spTgt spid="272"/>
                                        </p:tgtEl>
                                        <p:attrNameLst>
                                          <p:attrName>ppt_h</p:attrName>
                                        </p:attrNameLst>
                                      </p:cBhvr>
                                      <p:tavLst>
                                        <p:tav tm="0">
                                          <p:val>
                                            <p:fltVal val="0"/>
                                          </p:val>
                                        </p:tav>
                                        <p:tav tm="100000">
                                          <p:val>
                                            <p:strVal val="#ppt_h"/>
                                          </p:val>
                                        </p:tav>
                                      </p:tavLst>
                                    </p:anim>
                                  </p:childTnLst>
                                </p:cTn>
                              </p:par>
                            </p:childTnLst>
                          </p:cTn>
                        </p:par>
                        <p:par>
                          <p:cTn id="54" fill="hold">
                            <p:stCondLst>
                              <p:cond delay="7500"/>
                            </p:stCondLst>
                            <p:childTnLst>
                              <p:par>
                                <p:cTn id="55" presetID="9" presetClass="entr" presetSubtype="0" fill="hold" nodeType="afterEffect">
                                  <p:stCondLst>
                                    <p:cond delay="0"/>
                                  </p:stCondLst>
                                  <p:childTnLst>
                                    <p:set>
                                      <p:cBhvr>
                                        <p:cTn id="56" dur="1" fill="hold">
                                          <p:stCondLst>
                                            <p:cond delay="0"/>
                                          </p:stCondLst>
                                        </p:cTn>
                                        <p:tgtEl>
                                          <p:spTgt spid="281"/>
                                        </p:tgtEl>
                                        <p:attrNameLst>
                                          <p:attrName>style.visibility</p:attrName>
                                        </p:attrNameLst>
                                      </p:cBhvr>
                                      <p:to>
                                        <p:strVal val="visible"/>
                                      </p:to>
                                    </p:set>
                                    <p:animEffect transition="in" filter="dissolve">
                                      <p:cBhvr>
                                        <p:cTn id="57" dur="10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232" grpId="0"/>
      <p:bldP spid="233" grpId="0"/>
      <p:bldP spid="30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s-ES" dirty="0"/>
              <a:t>Cronogramas de lectura y escritura</a:t>
            </a:r>
          </a:p>
        </p:txBody>
      </p:sp>
      <p:sp>
        <p:nvSpPr>
          <p:cNvPr id="54276" name="Rectangle 3"/>
          <p:cNvSpPr>
            <a:spLocks noGrp="1" noChangeArrowheads="1"/>
          </p:cNvSpPr>
          <p:nvPr>
            <p:ph type="body" idx="1"/>
          </p:nvPr>
        </p:nvSpPr>
        <p:spPr>
          <a:xfrm>
            <a:off x="346546" y="1618927"/>
            <a:ext cx="8713788" cy="1462088"/>
          </a:xfrm>
        </p:spPr>
        <p:txBody>
          <a:bodyPr/>
          <a:lstStyle/>
          <a:p>
            <a:pPr>
              <a:lnSpc>
                <a:spcPct val="100000"/>
              </a:lnSpc>
            </a:pPr>
            <a:r>
              <a:rPr lang="es-ES" b="1" dirty="0">
                <a:solidFill>
                  <a:schemeClr val="bg1">
                    <a:lumMod val="65000"/>
                  </a:schemeClr>
                </a:solidFill>
              </a:rPr>
              <a:t>Activaci</a:t>
            </a:r>
            <a:r>
              <a:rPr lang="es-ES" altLang="ja-JP" b="1" dirty="0">
                <a:solidFill>
                  <a:schemeClr val="bg1">
                    <a:lumMod val="65000"/>
                  </a:schemeClr>
                </a:solidFill>
                <a:ea typeface="Geneva" pitchFamily="1" charset="-128"/>
              </a:rPr>
              <a:t>ón</a:t>
            </a:r>
            <a:endParaRPr lang="es-ES" b="1" dirty="0">
              <a:solidFill>
                <a:schemeClr val="bg1">
                  <a:lumMod val="65000"/>
                </a:schemeClr>
              </a:solidFill>
            </a:endParaRPr>
          </a:p>
          <a:p>
            <a:pPr lvl="1">
              <a:lnSpc>
                <a:spcPct val="100000"/>
              </a:lnSpc>
            </a:pPr>
            <a:r>
              <a:rPr lang="es-ES" sz="1800" dirty="0">
                <a:solidFill>
                  <a:schemeClr val="bg1">
                    <a:lumMod val="65000"/>
                  </a:schemeClr>
                </a:solidFill>
              </a:rPr>
              <a:t>Carga del registro de fila con el contenido del bus de direcciones a través de la activaci</a:t>
            </a:r>
            <a:r>
              <a:rPr lang="es-ES" altLang="ja-JP" sz="1800" dirty="0">
                <a:solidFill>
                  <a:schemeClr val="bg1">
                    <a:lumMod val="65000"/>
                  </a:schemeClr>
                </a:solidFill>
                <a:ea typeface="Geneva" pitchFamily="1" charset="-128"/>
              </a:rPr>
              <a:t>ón de la</a:t>
            </a:r>
            <a:r>
              <a:rPr lang="es-ES" sz="1800" dirty="0">
                <a:solidFill>
                  <a:schemeClr val="bg1">
                    <a:lumMod val="65000"/>
                  </a:schemeClr>
                </a:solidFill>
              </a:rPr>
              <a:t> señal /RAS (</a:t>
            </a:r>
            <a:r>
              <a:rPr lang="es-ES" sz="1800" i="1" dirty="0" err="1">
                <a:solidFill>
                  <a:schemeClr val="bg1">
                    <a:lumMod val="65000"/>
                  </a:schemeClr>
                </a:solidFill>
              </a:rPr>
              <a:t>Row</a:t>
            </a:r>
            <a:r>
              <a:rPr lang="es-ES" sz="1800" i="1" dirty="0">
                <a:solidFill>
                  <a:schemeClr val="bg1">
                    <a:lumMod val="65000"/>
                  </a:schemeClr>
                </a:solidFill>
              </a:rPr>
              <a:t> </a:t>
            </a:r>
            <a:r>
              <a:rPr lang="es-ES" sz="1800" i="1" dirty="0" err="1">
                <a:solidFill>
                  <a:schemeClr val="bg1">
                    <a:lumMod val="65000"/>
                  </a:schemeClr>
                </a:solidFill>
              </a:rPr>
              <a:t>Adress</a:t>
            </a:r>
            <a:r>
              <a:rPr lang="es-ES" sz="1800" i="1" dirty="0">
                <a:solidFill>
                  <a:schemeClr val="bg1">
                    <a:lumMod val="65000"/>
                  </a:schemeClr>
                </a:solidFill>
              </a:rPr>
              <a:t> </a:t>
            </a:r>
            <a:r>
              <a:rPr lang="es-ES" sz="1800" i="1" dirty="0" err="1">
                <a:solidFill>
                  <a:schemeClr val="bg1">
                    <a:lumMod val="65000"/>
                  </a:schemeClr>
                </a:solidFill>
              </a:rPr>
              <a:t>Strobe</a:t>
            </a:r>
            <a:r>
              <a:rPr lang="es-ES" sz="1800" dirty="0">
                <a:solidFill>
                  <a:schemeClr val="bg1">
                    <a:lumMod val="65000"/>
                  </a:schemeClr>
                </a:solidFill>
              </a:rPr>
              <a:t>). La fila seleccionada queda “abierta” y su contenido se lleva a los amplificadores</a:t>
            </a:r>
          </a:p>
          <a:p>
            <a:pPr lvl="1">
              <a:lnSpc>
                <a:spcPct val="100000"/>
              </a:lnSpc>
            </a:pPr>
            <a:r>
              <a:rPr lang="es-ES" sz="1800" dirty="0">
                <a:solidFill>
                  <a:schemeClr val="bg1">
                    <a:lumMod val="65000"/>
                  </a:schemeClr>
                </a:solidFill>
              </a:rPr>
              <a:t>Despu</a:t>
            </a:r>
            <a:r>
              <a:rPr lang="es-ES" altLang="ja-JP" sz="1800" dirty="0">
                <a:solidFill>
                  <a:schemeClr val="bg1">
                    <a:lumMod val="65000"/>
                  </a:schemeClr>
                </a:solidFill>
                <a:ea typeface="Geneva" pitchFamily="1" charset="-128"/>
              </a:rPr>
              <a:t>és de la activación, la fila completa queda retenida por los amplificadores, pudiéndose  acceder a diversas columnas repitiendo las operaciones de lectura o de escritura sobre la fila abierta</a:t>
            </a:r>
            <a:endParaRPr lang="es-ES" sz="1800" dirty="0">
              <a:solidFill>
                <a:schemeClr val="bg1">
                  <a:lumMod val="65000"/>
                </a:schemeClr>
              </a:solidFill>
            </a:endParaRPr>
          </a:p>
          <a:p>
            <a:pPr>
              <a:lnSpc>
                <a:spcPct val="100000"/>
              </a:lnSpc>
            </a:pPr>
            <a:r>
              <a:rPr lang="es-ES" b="1" dirty="0"/>
              <a:t>Operaci</a:t>
            </a:r>
            <a:r>
              <a:rPr lang="es-ES" altLang="ja-JP" b="1" dirty="0">
                <a:ea typeface="Geneva" pitchFamily="1" charset="-128"/>
              </a:rPr>
              <a:t>ón: lectura o escritura</a:t>
            </a:r>
            <a:endParaRPr lang="es-ES" b="1" dirty="0"/>
          </a:p>
          <a:p>
            <a:pPr lvl="1">
              <a:lnSpc>
                <a:spcPct val="100000"/>
              </a:lnSpc>
            </a:pPr>
            <a:r>
              <a:rPr lang="es-ES" sz="1800" dirty="0"/>
              <a:t>La señal /CAS (</a:t>
            </a:r>
            <a:r>
              <a:rPr lang="es-ES" sz="1800" i="1" dirty="0" err="1"/>
              <a:t>Column</a:t>
            </a:r>
            <a:r>
              <a:rPr lang="es-ES" sz="1800" i="1" dirty="0"/>
              <a:t> </a:t>
            </a:r>
            <a:r>
              <a:rPr lang="es-ES" sz="1800" i="1" dirty="0" err="1"/>
              <a:t>Address</a:t>
            </a:r>
            <a:r>
              <a:rPr lang="es-ES" sz="1800" i="1" dirty="0"/>
              <a:t> </a:t>
            </a:r>
            <a:r>
              <a:rPr lang="es-ES" sz="1800" i="1" dirty="0" err="1"/>
              <a:t>Strobe</a:t>
            </a:r>
            <a:r>
              <a:rPr lang="es-ES" sz="1800" dirty="0"/>
              <a:t>) carga el registro de columna con el contenido del bus de direcciones y la señal R/W* activa la lógica de E/S a la columna seleccionada. </a:t>
            </a:r>
          </a:p>
          <a:p>
            <a:pPr lvl="1">
              <a:lnSpc>
                <a:spcPct val="100000"/>
              </a:lnSpc>
            </a:pPr>
            <a:endParaRPr lang="es-ES" sz="1800" dirty="0"/>
          </a:p>
        </p:txBody>
      </p:sp>
      <p:sp>
        <p:nvSpPr>
          <p:cNvPr id="4" name="Rectangle 3">
            <a:extLst>
              <a:ext uri="{FF2B5EF4-FFF2-40B4-BE49-F238E27FC236}">
                <a16:creationId xmlns:a16="http://schemas.microsoft.com/office/drawing/2014/main" id="{DCB3FE69-6443-4F01-8D88-56A0FA056B53}"/>
              </a:ext>
            </a:extLst>
          </p:cNvPr>
          <p:cNvSpPr txBox="1">
            <a:spLocks noChangeArrowheads="1"/>
          </p:cNvSpPr>
          <p:nvPr/>
        </p:nvSpPr>
        <p:spPr>
          <a:xfrm>
            <a:off x="419571" y="981075"/>
            <a:ext cx="8640763" cy="503709"/>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marL="82550" indent="0">
              <a:buNone/>
            </a:pPr>
            <a:r>
              <a:rPr lang="es-ES" dirty="0">
                <a:solidFill>
                  <a:schemeClr val="accent1"/>
                </a:solidFill>
              </a:rPr>
              <a:t>Emisión de órdenes</a:t>
            </a:r>
          </a:p>
        </p:txBody>
      </p:sp>
      <p:sp>
        <p:nvSpPr>
          <p:cNvPr id="2" name="2 Marcador de número de diapositiva">
            <a:extLst>
              <a:ext uri="{FF2B5EF4-FFF2-40B4-BE49-F238E27FC236}">
                <a16:creationId xmlns:a16="http://schemas.microsoft.com/office/drawing/2014/main" id="{39A8EE9E-D203-A964-B8A5-D25E9728CB0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66</a:t>
            </a:fld>
            <a:endParaRPr lang="en-US" dirty="0"/>
          </a:p>
        </p:txBody>
      </p:sp>
    </p:spTree>
    <p:extLst>
      <p:ext uri="{BB962C8B-B14F-4D97-AF65-F5344CB8AC3E}">
        <p14:creationId xmlns:p14="http://schemas.microsoft.com/office/powerpoint/2010/main" val="1166463985"/>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Rectangle 278"/>
          <p:cNvSpPr>
            <a:spLocks noChangeArrowheads="1"/>
          </p:cNvSpPr>
          <p:nvPr/>
        </p:nvSpPr>
        <p:spPr bwMode="ltGray">
          <a:xfrm>
            <a:off x="4572000" y="4582339"/>
            <a:ext cx="2943225" cy="609600"/>
          </a:xfrm>
          <a:prstGeom prst="rect">
            <a:avLst/>
          </a:prstGeom>
          <a:solidFill>
            <a:schemeClr val="accent1"/>
          </a:solidFill>
          <a:ln w="9525">
            <a:miter lim="800000"/>
            <a:headEnd/>
            <a:tailEnd/>
          </a:ln>
          <a:scene3d>
            <a:camera prst="legacyObliqueTopRight"/>
            <a:lightRig rig="legacyFlat3" dir="b"/>
          </a:scene3d>
          <a:sp3d extrusionH="1116000" prstMaterial="legacyMetal">
            <a:bevelT w="13500" h="13500" prst="angle"/>
            <a:bevelB w="13500" h="13500" prst="angle"/>
            <a:extrusionClr>
              <a:schemeClr val="accent1"/>
            </a:extrusionClr>
          </a:sp3d>
        </p:spPr>
        <p:txBody>
          <a:bodyPr wrap="none" lIns="0" tIns="0" rIns="0" bIns="0" anchor="ctr">
            <a:flatTx/>
          </a:bodyPr>
          <a:lstStyle/>
          <a:p>
            <a:r>
              <a:rPr lang="es-ES" dirty="0">
                <a:solidFill>
                  <a:schemeClr val="bg1">
                    <a:lumMod val="95000"/>
                  </a:schemeClr>
                </a:solidFill>
              </a:rPr>
              <a:t>Lógica de E/S</a:t>
            </a:r>
          </a:p>
        </p:txBody>
      </p:sp>
      <p:grpSp>
        <p:nvGrpSpPr>
          <p:cNvPr id="4" name="407 Grupo"/>
          <p:cNvGrpSpPr/>
          <p:nvPr/>
        </p:nvGrpSpPr>
        <p:grpSpPr>
          <a:xfrm>
            <a:off x="4283968" y="1279223"/>
            <a:ext cx="3643313" cy="3068811"/>
            <a:chOff x="4427984" y="1728341"/>
            <a:chExt cx="3643313" cy="3068811"/>
          </a:xfrm>
        </p:grpSpPr>
        <p:sp>
          <p:nvSpPr>
            <p:cNvPr id="409" name="Rectangle 209"/>
            <p:cNvSpPr>
              <a:spLocks noChangeArrowheads="1"/>
            </p:cNvSpPr>
            <p:nvPr/>
          </p:nvSpPr>
          <p:spPr bwMode="blackWhite">
            <a:xfrm>
              <a:off x="4427984" y="1728341"/>
              <a:ext cx="3643313" cy="1844675"/>
            </a:xfrm>
            <a:prstGeom prst="rect">
              <a:avLst/>
            </a:prstGeom>
            <a:solidFill>
              <a:schemeClr val="tx2">
                <a:lumMod val="20000"/>
                <a:lumOff val="80000"/>
              </a:schemeClr>
            </a:solidFill>
            <a:ln w="19050">
              <a:noFill/>
              <a:miter lim="800000"/>
              <a:headEnd/>
              <a:tailEnd/>
            </a:ln>
          </p:spPr>
          <p:txBody>
            <a:bodyPr wrap="none" lIns="0" tIns="0" rIns="0" bIns="0" anchor="ctr"/>
            <a:lstStyle/>
            <a:p>
              <a:endParaRPr lang="es-ES"/>
            </a:p>
          </p:txBody>
        </p:sp>
        <p:sp>
          <p:nvSpPr>
            <p:cNvPr id="410" name="Rectangle 225"/>
            <p:cNvSpPr>
              <a:spLocks noChangeArrowheads="1"/>
            </p:cNvSpPr>
            <p:nvPr/>
          </p:nvSpPr>
          <p:spPr bwMode="auto">
            <a:xfrm rot="16200000">
              <a:off x="4392000" y="2554703"/>
              <a:ext cx="792089" cy="380441"/>
            </a:xfrm>
            <a:prstGeom prst="rect">
              <a:avLst/>
            </a:prstGeom>
            <a:solidFill>
              <a:schemeClr val="tx2">
                <a:lumMod val="75000"/>
              </a:schemeClr>
            </a:solidFill>
            <a:ln w="12700">
              <a:solidFill>
                <a:schemeClr val="bg2"/>
              </a:solidFill>
              <a:miter lim="800000"/>
              <a:headEnd/>
              <a:tailEnd/>
            </a:ln>
          </p:spPr>
          <p:txBody>
            <a:bodyPr vert="horz" wrap="square" lIns="0" tIns="18000" rIns="0" bIns="18000" anchor="ctr">
              <a:noAutofit/>
            </a:bodyPr>
            <a:lstStyle/>
            <a:p>
              <a:pPr>
                <a:lnSpc>
                  <a:spcPts val="1000"/>
                </a:lnSpc>
              </a:pPr>
              <a:r>
                <a:rPr lang="es-ES" sz="1200" kern="1500" dirty="0">
                  <a:solidFill>
                    <a:schemeClr val="bg1"/>
                  </a:solidFill>
                </a:rPr>
                <a:t>Registro      de fila</a:t>
              </a:r>
            </a:p>
          </p:txBody>
        </p:sp>
        <p:grpSp>
          <p:nvGrpSpPr>
            <p:cNvPr id="7" name="67 Grupo"/>
            <p:cNvGrpSpPr/>
            <p:nvPr/>
          </p:nvGrpSpPr>
          <p:grpSpPr>
            <a:xfrm>
              <a:off x="4968000" y="1988840"/>
              <a:ext cx="2487613" cy="1006475"/>
              <a:chOff x="4732339" y="2571750"/>
              <a:chExt cx="2487613" cy="1006475"/>
            </a:xfrm>
          </p:grpSpPr>
          <p:sp>
            <p:nvSpPr>
              <p:cNvPr id="488" name="Line 213"/>
              <p:cNvSpPr>
                <a:spLocks noChangeShapeType="1"/>
              </p:cNvSpPr>
              <p:nvPr/>
            </p:nvSpPr>
            <p:spPr bwMode="auto">
              <a:xfrm>
                <a:off x="4732339" y="3578225"/>
                <a:ext cx="248761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grpSp>
            <p:nvGrpSpPr>
              <p:cNvPr id="10" name="54 Grupo"/>
              <p:cNvGrpSpPr/>
              <p:nvPr/>
            </p:nvGrpSpPr>
            <p:grpSpPr>
              <a:xfrm>
                <a:off x="4732339" y="3241675"/>
                <a:ext cx="2487613" cy="201613"/>
                <a:chOff x="4732339" y="3241675"/>
                <a:chExt cx="2487613" cy="201613"/>
              </a:xfrm>
            </p:grpSpPr>
            <p:sp>
              <p:nvSpPr>
                <p:cNvPr id="496" name="Line 212"/>
                <p:cNvSpPr>
                  <a:spLocks noChangeShapeType="1"/>
                </p:cNvSpPr>
                <p:nvPr/>
              </p:nvSpPr>
              <p:spPr bwMode="auto">
                <a:xfrm>
                  <a:off x="5176839" y="3241675"/>
                  <a:ext cx="204311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nvGrpSpPr>
              <p:cNvPr id="13" name="57 Grupo"/>
              <p:cNvGrpSpPr/>
              <p:nvPr/>
            </p:nvGrpSpPr>
            <p:grpSpPr>
              <a:xfrm>
                <a:off x="4732339" y="2906713"/>
                <a:ext cx="2487613" cy="401638"/>
                <a:chOff x="4732339" y="2906713"/>
                <a:chExt cx="2487613" cy="401638"/>
              </a:xfrm>
            </p:grpSpPr>
            <p:sp>
              <p:nvSpPr>
                <p:cNvPr id="494" name="Line 211"/>
                <p:cNvSpPr>
                  <a:spLocks noChangeShapeType="1"/>
                </p:cNvSpPr>
                <p:nvPr/>
              </p:nvSpPr>
              <p:spPr bwMode="auto">
                <a:xfrm>
                  <a:off x="5065714" y="2906713"/>
                  <a:ext cx="2154238"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5"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nvGrpSpPr>
              <p:cNvPr id="16" name="60 Grupo"/>
              <p:cNvGrpSpPr/>
              <p:nvPr/>
            </p:nvGrpSpPr>
            <p:grpSpPr>
              <a:xfrm>
                <a:off x="4732339" y="2571750"/>
                <a:ext cx="2487613" cy="604838"/>
                <a:chOff x="4732339" y="2571750"/>
                <a:chExt cx="2487613" cy="604838"/>
              </a:xfrm>
            </p:grpSpPr>
            <p:sp>
              <p:nvSpPr>
                <p:cNvPr id="492" name="Line 210"/>
                <p:cNvSpPr>
                  <a:spLocks noChangeShapeType="1"/>
                </p:cNvSpPr>
                <p:nvPr/>
              </p:nvSpPr>
              <p:spPr bwMode="auto">
                <a:xfrm>
                  <a:off x="4954589" y="2571750"/>
                  <a:ext cx="226536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grpSp>
          <p:nvGrpSpPr>
            <p:cNvPr id="19" name="67 Grupo"/>
            <p:cNvGrpSpPr/>
            <p:nvPr/>
          </p:nvGrpSpPr>
          <p:grpSpPr>
            <a:xfrm>
              <a:off x="5724128" y="2074291"/>
              <a:ext cx="2054225" cy="1230313"/>
              <a:chOff x="5510214" y="2705100"/>
              <a:chExt cx="2054225" cy="1230313"/>
            </a:xfrm>
          </p:grpSpPr>
          <p:sp>
            <p:nvSpPr>
              <p:cNvPr id="480" name="Line 214"/>
              <p:cNvSpPr>
                <a:spLocks noChangeShapeType="1"/>
              </p:cNvSpPr>
              <p:nvPr/>
            </p:nvSpPr>
            <p:spPr bwMode="auto">
              <a:xfrm flipH="1">
                <a:off x="55102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1" name="Line 215"/>
              <p:cNvSpPr>
                <a:spLocks noChangeShapeType="1"/>
              </p:cNvSpPr>
              <p:nvPr/>
            </p:nvSpPr>
            <p:spPr bwMode="auto">
              <a:xfrm flipH="1">
                <a:off x="57324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2" name="Line 216"/>
              <p:cNvSpPr>
                <a:spLocks noChangeShapeType="1"/>
              </p:cNvSpPr>
              <p:nvPr/>
            </p:nvSpPr>
            <p:spPr bwMode="auto">
              <a:xfrm flipH="1">
                <a:off x="61198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3" name="Line 217"/>
              <p:cNvSpPr>
                <a:spLocks noChangeShapeType="1"/>
              </p:cNvSpPr>
              <p:nvPr/>
            </p:nvSpPr>
            <p:spPr bwMode="auto">
              <a:xfrm flipH="1">
                <a:off x="63420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4" name="Line 218"/>
              <p:cNvSpPr>
                <a:spLocks noChangeShapeType="1"/>
              </p:cNvSpPr>
              <p:nvPr/>
            </p:nvSpPr>
            <p:spPr bwMode="auto">
              <a:xfrm flipH="1">
                <a:off x="673100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485" name="Line 219"/>
              <p:cNvSpPr>
                <a:spLocks noChangeShapeType="1"/>
              </p:cNvSpPr>
              <p:nvPr/>
            </p:nvSpPr>
            <p:spPr bwMode="auto">
              <a:xfrm flipH="1">
                <a:off x="695325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486" name="Line 220"/>
              <p:cNvSpPr>
                <a:spLocks noChangeShapeType="1"/>
              </p:cNvSpPr>
              <p:nvPr/>
            </p:nvSpPr>
            <p:spPr bwMode="auto">
              <a:xfrm flipH="1">
                <a:off x="7342189" y="2725738"/>
                <a:ext cx="0" cy="1209675"/>
              </a:xfrm>
              <a:prstGeom prst="line">
                <a:avLst/>
              </a:prstGeom>
              <a:noFill/>
              <a:ln w="28575">
                <a:solidFill>
                  <a:srgbClr val="FF3300"/>
                </a:solidFill>
                <a:round/>
                <a:headEnd/>
                <a:tailEnd/>
              </a:ln>
            </p:spPr>
            <p:txBody>
              <a:bodyPr anchor="ctr">
                <a:spAutoFit/>
              </a:bodyPr>
              <a:lstStyle/>
              <a:p>
                <a:endParaRPr lang="es-ES"/>
              </a:p>
            </p:txBody>
          </p:sp>
          <p:sp>
            <p:nvSpPr>
              <p:cNvPr id="487" name="Line 221"/>
              <p:cNvSpPr>
                <a:spLocks noChangeShapeType="1"/>
              </p:cNvSpPr>
              <p:nvPr/>
            </p:nvSpPr>
            <p:spPr bwMode="auto">
              <a:xfrm flipH="1">
                <a:off x="7564439" y="2725738"/>
                <a:ext cx="0" cy="1209675"/>
              </a:xfrm>
              <a:prstGeom prst="line">
                <a:avLst/>
              </a:prstGeom>
              <a:noFill/>
              <a:ln w="28575">
                <a:solidFill>
                  <a:srgbClr val="FF3300"/>
                </a:solidFill>
                <a:round/>
                <a:headEnd/>
                <a:tailEnd/>
              </a:ln>
            </p:spPr>
            <p:txBody>
              <a:bodyPr anchor="ctr">
                <a:spAutoFit/>
              </a:bodyPr>
              <a:lstStyle/>
              <a:p>
                <a:endParaRPr lang="es-ES"/>
              </a:p>
            </p:txBody>
          </p:sp>
        </p:grpSp>
        <p:grpSp>
          <p:nvGrpSpPr>
            <p:cNvPr id="22" name="76 Grupo"/>
            <p:cNvGrpSpPr/>
            <p:nvPr/>
          </p:nvGrpSpPr>
          <p:grpSpPr>
            <a:xfrm>
              <a:off x="5607893" y="3278559"/>
              <a:ext cx="2276475" cy="134938"/>
              <a:chOff x="5399089" y="3913188"/>
              <a:chExt cx="2276475" cy="134938"/>
            </a:xfrm>
          </p:grpSpPr>
          <p:sp>
            <p:nvSpPr>
              <p:cNvPr id="47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grpSp>
        <p:grpSp>
          <p:nvGrpSpPr>
            <p:cNvPr id="25" name="Group 266"/>
            <p:cNvGrpSpPr>
              <a:grpSpLocks/>
            </p:cNvGrpSpPr>
            <p:nvPr/>
          </p:nvGrpSpPr>
          <p:grpSpPr bwMode="auto">
            <a:xfrm>
              <a:off x="5724128" y="3411909"/>
              <a:ext cx="2054225" cy="1385243"/>
              <a:chOff x="2724" y="2704"/>
              <a:chExt cx="1678" cy="267"/>
            </a:xfrm>
          </p:grpSpPr>
          <p:sp>
            <p:nvSpPr>
              <p:cNvPr id="464" name="Line 267"/>
              <p:cNvSpPr>
                <a:spLocks noChangeShapeType="1"/>
              </p:cNvSpPr>
              <p:nvPr/>
            </p:nvSpPr>
            <p:spPr bwMode="auto">
              <a:xfrm flipH="1">
                <a:off x="272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5" name="Line 268"/>
              <p:cNvSpPr>
                <a:spLocks noChangeShapeType="1"/>
              </p:cNvSpPr>
              <p:nvPr/>
            </p:nvSpPr>
            <p:spPr bwMode="auto">
              <a:xfrm flipH="1">
                <a:off x="2905"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6" name="Line 269"/>
              <p:cNvSpPr>
                <a:spLocks noChangeShapeType="1"/>
              </p:cNvSpPr>
              <p:nvPr/>
            </p:nvSpPr>
            <p:spPr bwMode="auto">
              <a:xfrm flipH="1">
                <a:off x="322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7" name="Line 270"/>
              <p:cNvSpPr>
                <a:spLocks noChangeShapeType="1"/>
              </p:cNvSpPr>
              <p:nvPr/>
            </p:nvSpPr>
            <p:spPr bwMode="auto">
              <a:xfrm flipH="1">
                <a:off x="340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8" name="Line 271"/>
              <p:cNvSpPr>
                <a:spLocks noChangeShapeType="1"/>
              </p:cNvSpPr>
              <p:nvPr/>
            </p:nvSpPr>
            <p:spPr bwMode="auto">
              <a:xfrm flipH="1">
                <a:off x="372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9" name="Line 272"/>
              <p:cNvSpPr>
                <a:spLocks noChangeShapeType="1"/>
              </p:cNvSpPr>
              <p:nvPr/>
            </p:nvSpPr>
            <p:spPr bwMode="auto">
              <a:xfrm flipH="1">
                <a:off x="390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70" name="Line 273"/>
              <p:cNvSpPr>
                <a:spLocks noChangeShapeType="1"/>
              </p:cNvSpPr>
              <p:nvPr/>
            </p:nvSpPr>
            <p:spPr bwMode="auto">
              <a:xfrm flipH="1">
                <a:off x="4221"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71" name="Line 274"/>
              <p:cNvSpPr>
                <a:spLocks noChangeShapeType="1"/>
              </p:cNvSpPr>
              <p:nvPr/>
            </p:nvSpPr>
            <p:spPr bwMode="auto">
              <a:xfrm flipH="1">
                <a:off x="440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grpSp>
        <p:grpSp>
          <p:nvGrpSpPr>
            <p:cNvPr id="28" name="78 Grupo"/>
            <p:cNvGrpSpPr/>
            <p:nvPr/>
          </p:nvGrpSpPr>
          <p:grpSpPr>
            <a:xfrm>
              <a:off x="5607893" y="1916832"/>
              <a:ext cx="2276475" cy="1208088"/>
              <a:chOff x="4772892" y="2564904"/>
              <a:chExt cx="2276475" cy="1208088"/>
            </a:xfrm>
            <a:solidFill>
              <a:schemeClr val="tx2">
                <a:lumMod val="60000"/>
                <a:lumOff val="40000"/>
              </a:schemeClr>
            </a:solidFill>
          </p:grpSpPr>
          <p:grpSp>
            <p:nvGrpSpPr>
              <p:cNvPr id="31" name="3 Grupo"/>
              <p:cNvGrpSpPr/>
              <p:nvPr/>
            </p:nvGrpSpPr>
            <p:grpSpPr>
              <a:xfrm>
                <a:off x="4772892" y="2564904"/>
                <a:ext cx="444500" cy="200025"/>
                <a:chOff x="5399089" y="2505075"/>
                <a:chExt cx="444500" cy="200025"/>
              </a:xfrm>
              <a:grpFill/>
            </p:grpSpPr>
            <p:sp>
              <p:nvSpPr>
                <p:cNvPr id="462"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63"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34" name="6 Grupo"/>
              <p:cNvGrpSpPr/>
              <p:nvPr/>
            </p:nvGrpSpPr>
            <p:grpSpPr>
              <a:xfrm>
                <a:off x="4772892" y="2899867"/>
                <a:ext cx="444500" cy="201613"/>
                <a:chOff x="5399089" y="2840038"/>
                <a:chExt cx="444500" cy="201613"/>
              </a:xfrm>
              <a:grpFill/>
            </p:grpSpPr>
            <p:sp>
              <p:nvSpPr>
                <p:cNvPr id="460"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61"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37" name="9 Grupo"/>
              <p:cNvGrpSpPr/>
              <p:nvPr/>
            </p:nvGrpSpPr>
            <p:grpSpPr>
              <a:xfrm>
                <a:off x="4772892" y="3236417"/>
                <a:ext cx="444500" cy="200025"/>
                <a:chOff x="5399089" y="3176588"/>
                <a:chExt cx="444500" cy="200025"/>
              </a:xfrm>
              <a:grpFill/>
            </p:grpSpPr>
            <p:sp>
              <p:nvSpPr>
                <p:cNvPr id="458"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59"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40" name="12 Grupo"/>
              <p:cNvGrpSpPr/>
              <p:nvPr/>
            </p:nvGrpSpPr>
            <p:grpSpPr>
              <a:xfrm>
                <a:off x="4772892" y="3571379"/>
                <a:ext cx="444500" cy="201613"/>
                <a:chOff x="5399089" y="3511550"/>
                <a:chExt cx="444500" cy="201613"/>
              </a:xfrm>
              <a:grpFill/>
            </p:grpSpPr>
            <p:sp>
              <p:nvSpPr>
                <p:cNvPr id="456"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57"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43" name="419 Grupo"/>
              <p:cNvGrpSpPr/>
              <p:nvPr/>
            </p:nvGrpSpPr>
            <p:grpSpPr>
              <a:xfrm>
                <a:off x="5384079" y="2564904"/>
                <a:ext cx="444500" cy="200025"/>
                <a:chOff x="6010276" y="2505075"/>
                <a:chExt cx="444500" cy="200025"/>
              </a:xfrm>
              <a:grpFill/>
            </p:grpSpPr>
            <p:sp>
              <p:nvSpPr>
                <p:cNvPr id="454"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55"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46" name="18 Grupo"/>
              <p:cNvGrpSpPr/>
              <p:nvPr/>
            </p:nvGrpSpPr>
            <p:grpSpPr>
              <a:xfrm>
                <a:off x="5384079" y="2899867"/>
                <a:ext cx="444500" cy="201613"/>
                <a:chOff x="6010276" y="2840038"/>
                <a:chExt cx="444500" cy="201613"/>
              </a:xfrm>
              <a:grpFill/>
            </p:grpSpPr>
            <p:sp>
              <p:nvSpPr>
                <p:cNvPr id="452"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53"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49" name="85 Grupo"/>
              <p:cNvGrpSpPr/>
              <p:nvPr/>
            </p:nvGrpSpPr>
            <p:grpSpPr>
              <a:xfrm>
                <a:off x="5384079" y="3236417"/>
                <a:ext cx="444500" cy="200025"/>
                <a:chOff x="6010276" y="3176588"/>
                <a:chExt cx="444500" cy="200025"/>
              </a:xfrm>
              <a:grpFill/>
            </p:grpSpPr>
            <p:sp>
              <p:nvSpPr>
                <p:cNvPr id="450"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51"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55" name="24 Grupo"/>
              <p:cNvGrpSpPr/>
              <p:nvPr/>
            </p:nvGrpSpPr>
            <p:grpSpPr>
              <a:xfrm>
                <a:off x="5384079" y="3571379"/>
                <a:ext cx="444500" cy="201613"/>
                <a:chOff x="6010276" y="3511550"/>
                <a:chExt cx="444500" cy="201613"/>
              </a:xfrm>
              <a:grpFill/>
            </p:grpSpPr>
            <p:sp>
              <p:nvSpPr>
                <p:cNvPr id="448"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9"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58" name="27 Grupo"/>
              <p:cNvGrpSpPr/>
              <p:nvPr/>
            </p:nvGrpSpPr>
            <p:grpSpPr>
              <a:xfrm>
                <a:off x="5995267" y="2564904"/>
                <a:ext cx="442913" cy="200025"/>
                <a:chOff x="6621464" y="2505075"/>
                <a:chExt cx="442913" cy="200025"/>
              </a:xfrm>
              <a:grpFill/>
            </p:grpSpPr>
            <p:sp>
              <p:nvSpPr>
                <p:cNvPr id="446"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47"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61" name="30 Grupo"/>
              <p:cNvGrpSpPr/>
              <p:nvPr/>
            </p:nvGrpSpPr>
            <p:grpSpPr>
              <a:xfrm>
                <a:off x="5995267" y="2899867"/>
                <a:ext cx="442913" cy="201613"/>
                <a:chOff x="6621464" y="2840038"/>
                <a:chExt cx="442913" cy="201613"/>
              </a:xfrm>
              <a:grpFill/>
            </p:grpSpPr>
            <p:sp>
              <p:nvSpPr>
                <p:cNvPr id="444"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5"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192" name="33 Grupo"/>
              <p:cNvGrpSpPr/>
              <p:nvPr/>
            </p:nvGrpSpPr>
            <p:grpSpPr>
              <a:xfrm>
                <a:off x="5995267" y="3236417"/>
                <a:ext cx="442913" cy="200025"/>
                <a:chOff x="6621464" y="3176588"/>
                <a:chExt cx="442913" cy="200025"/>
              </a:xfrm>
              <a:grpFill/>
            </p:grpSpPr>
            <p:sp>
              <p:nvSpPr>
                <p:cNvPr id="442"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43"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01" name="36 Grupo"/>
              <p:cNvGrpSpPr/>
              <p:nvPr/>
            </p:nvGrpSpPr>
            <p:grpSpPr>
              <a:xfrm>
                <a:off x="5995267" y="3571379"/>
                <a:ext cx="442913" cy="201613"/>
                <a:chOff x="6621464" y="3511550"/>
                <a:chExt cx="442913" cy="201613"/>
              </a:xfrm>
              <a:grpFill/>
            </p:grpSpPr>
            <p:sp>
              <p:nvSpPr>
                <p:cNvPr id="440"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1"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10" name="39 Grupo"/>
              <p:cNvGrpSpPr/>
              <p:nvPr/>
            </p:nvGrpSpPr>
            <p:grpSpPr>
              <a:xfrm>
                <a:off x="6604867" y="2564904"/>
                <a:ext cx="444500" cy="200025"/>
                <a:chOff x="7231064" y="2505075"/>
                <a:chExt cx="444500" cy="200025"/>
              </a:xfrm>
              <a:grpFill/>
            </p:grpSpPr>
            <p:sp>
              <p:nvSpPr>
                <p:cNvPr id="438"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39"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22" name="42 Grupo"/>
              <p:cNvGrpSpPr/>
              <p:nvPr/>
            </p:nvGrpSpPr>
            <p:grpSpPr>
              <a:xfrm>
                <a:off x="6604867" y="2899867"/>
                <a:ext cx="444500" cy="201613"/>
                <a:chOff x="7231064" y="2840038"/>
                <a:chExt cx="444500" cy="201613"/>
              </a:xfrm>
              <a:grpFill/>
            </p:grpSpPr>
            <p:sp>
              <p:nvSpPr>
                <p:cNvPr id="436"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37"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23" name="45 Grupo"/>
              <p:cNvGrpSpPr/>
              <p:nvPr/>
            </p:nvGrpSpPr>
            <p:grpSpPr>
              <a:xfrm>
                <a:off x="6604867" y="3236417"/>
                <a:ext cx="444500" cy="200025"/>
                <a:chOff x="7231064" y="3176588"/>
                <a:chExt cx="444500" cy="200025"/>
              </a:xfrm>
              <a:grpFill/>
            </p:grpSpPr>
            <p:sp>
              <p:nvSpPr>
                <p:cNvPr id="434"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35"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28" name="48 Grupo"/>
              <p:cNvGrpSpPr/>
              <p:nvPr/>
            </p:nvGrpSpPr>
            <p:grpSpPr>
              <a:xfrm>
                <a:off x="6604867" y="3571379"/>
                <a:ext cx="444500" cy="201613"/>
                <a:chOff x="7231064" y="3511550"/>
                <a:chExt cx="444500" cy="201613"/>
              </a:xfrm>
              <a:grpFill/>
            </p:grpSpPr>
            <p:sp>
              <p:nvSpPr>
                <p:cNvPr id="432"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33"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grpSp>
      <p:sp>
        <p:nvSpPr>
          <p:cNvPr id="52" name="Rectangle 209"/>
          <p:cNvSpPr>
            <a:spLocks noChangeArrowheads="1"/>
          </p:cNvSpPr>
          <p:nvPr/>
        </p:nvSpPr>
        <p:spPr bwMode="blackWhite">
          <a:xfrm>
            <a:off x="3592983" y="2170852"/>
            <a:ext cx="3643313" cy="1844675"/>
          </a:xfrm>
          <a:prstGeom prst="rect">
            <a:avLst/>
          </a:prstGeom>
          <a:solidFill>
            <a:schemeClr val="accent6">
              <a:lumMod val="20000"/>
              <a:lumOff val="80000"/>
            </a:schemeClr>
          </a:solidFill>
          <a:ln w="19050">
            <a:noFill/>
            <a:miter lim="800000"/>
            <a:headEnd/>
            <a:tailEnd/>
          </a:ln>
        </p:spPr>
        <p:txBody>
          <a:bodyPr wrap="none" lIns="0" tIns="0" rIns="0" bIns="0" anchor="ctr"/>
          <a:lstStyle/>
          <a:p>
            <a:endParaRPr lang="es-ES"/>
          </a:p>
        </p:txBody>
      </p:sp>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67</a:t>
            </a:fld>
            <a:endParaRPr lang="en-US" dirty="0"/>
          </a:p>
        </p:txBody>
      </p:sp>
      <p:sp>
        <p:nvSpPr>
          <p:cNvPr id="53" name="Rectangle 225"/>
          <p:cNvSpPr>
            <a:spLocks noChangeArrowheads="1"/>
          </p:cNvSpPr>
          <p:nvPr/>
        </p:nvSpPr>
        <p:spPr bwMode="auto">
          <a:xfrm rot="16200000">
            <a:off x="3528000" y="2997214"/>
            <a:ext cx="792089" cy="380441"/>
          </a:xfrm>
          <a:prstGeom prst="rect">
            <a:avLst/>
          </a:prstGeom>
          <a:solidFill>
            <a:schemeClr val="accent6">
              <a:lumMod val="75000"/>
            </a:schemeClr>
          </a:solidFill>
          <a:ln w="12700">
            <a:solidFill>
              <a:schemeClr val="bg2"/>
            </a:solidFill>
            <a:miter lim="800000"/>
            <a:headEnd/>
            <a:tailEnd/>
          </a:ln>
        </p:spPr>
        <p:txBody>
          <a:bodyPr vert="horz" wrap="square" lIns="0" tIns="18000" rIns="0" bIns="18000" anchor="ctr">
            <a:noAutofit/>
          </a:bodyPr>
          <a:lstStyle/>
          <a:p>
            <a:r>
              <a:rPr lang="es-ES" sz="1200" kern="1500" dirty="0">
                <a:solidFill>
                  <a:schemeClr val="bg1"/>
                </a:solidFill>
              </a:rPr>
              <a:t>Registro  de </a:t>
            </a:r>
            <a:r>
              <a:rPr lang="es-ES" sz="1200" b="1" kern="1500" dirty="0">
                <a:solidFill>
                  <a:schemeClr val="bg1"/>
                </a:solidFill>
              </a:rPr>
              <a:t>fila</a:t>
            </a:r>
          </a:p>
        </p:txBody>
      </p:sp>
      <p:grpSp>
        <p:nvGrpSpPr>
          <p:cNvPr id="230" name="63 Grupo"/>
          <p:cNvGrpSpPr/>
          <p:nvPr/>
        </p:nvGrpSpPr>
        <p:grpSpPr>
          <a:xfrm>
            <a:off x="4100611" y="2431351"/>
            <a:ext cx="2487613" cy="1006475"/>
            <a:chOff x="4732339" y="2571750"/>
            <a:chExt cx="2487613" cy="1006475"/>
          </a:xfrm>
        </p:grpSpPr>
        <p:sp>
          <p:nvSpPr>
            <p:cNvPr id="54" name="Line 213"/>
            <p:cNvSpPr>
              <a:spLocks noChangeShapeType="1"/>
            </p:cNvSpPr>
            <p:nvPr/>
          </p:nvSpPr>
          <p:spPr bwMode="auto">
            <a:xfrm>
              <a:off x="4732339" y="3578225"/>
              <a:ext cx="248761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grpSp>
          <p:nvGrpSpPr>
            <p:cNvPr id="231" name="54 Grupo"/>
            <p:cNvGrpSpPr/>
            <p:nvPr/>
          </p:nvGrpSpPr>
          <p:grpSpPr>
            <a:xfrm>
              <a:off x="4732339" y="3241675"/>
              <a:ext cx="2487613" cy="201613"/>
              <a:chOff x="4732339" y="3241675"/>
              <a:chExt cx="2487613" cy="201613"/>
            </a:xfrm>
          </p:grpSpPr>
          <p:sp>
            <p:nvSpPr>
              <p:cNvPr id="56" name="Line 212"/>
              <p:cNvSpPr>
                <a:spLocks noChangeShapeType="1"/>
              </p:cNvSpPr>
              <p:nvPr/>
            </p:nvSpPr>
            <p:spPr bwMode="auto">
              <a:xfrm>
                <a:off x="5176839" y="3241675"/>
                <a:ext cx="204311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5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nvGrpSpPr>
            <p:cNvPr id="242" name="57 Grupo"/>
            <p:cNvGrpSpPr/>
            <p:nvPr/>
          </p:nvGrpSpPr>
          <p:grpSpPr>
            <a:xfrm>
              <a:off x="4732339" y="2906713"/>
              <a:ext cx="2487613" cy="401638"/>
              <a:chOff x="4732339" y="2906713"/>
              <a:chExt cx="2487613" cy="401638"/>
            </a:xfrm>
          </p:grpSpPr>
          <p:sp>
            <p:nvSpPr>
              <p:cNvPr id="59" name="Line 211"/>
              <p:cNvSpPr>
                <a:spLocks noChangeShapeType="1"/>
              </p:cNvSpPr>
              <p:nvPr/>
            </p:nvSpPr>
            <p:spPr bwMode="auto">
              <a:xfrm>
                <a:off x="5065714" y="2906713"/>
                <a:ext cx="2154238"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60"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nvGrpSpPr>
            <p:cNvPr id="247" name="60 Grupo"/>
            <p:cNvGrpSpPr/>
            <p:nvPr/>
          </p:nvGrpSpPr>
          <p:grpSpPr>
            <a:xfrm>
              <a:off x="4732339" y="2571750"/>
              <a:ext cx="2487613" cy="604838"/>
              <a:chOff x="4732339" y="2571750"/>
              <a:chExt cx="2487613" cy="604838"/>
            </a:xfrm>
          </p:grpSpPr>
          <p:sp>
            <p:nvSpPr>
              <p:cNvPr id="62" name="Line 210"/>
              <p:cNvSpPr>
                <a:spLocks noChangeShapeType="1"/>
              </p:cNvSpPr>
              <p:nvPr/>
            </p:nvSpPr>
            <p:spPr bwMode="auto">
              <a:xfrm>
                <a:off x="4954589" y="2571750"/>
                <a:ext cx="226536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6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grpSp>
        <p:nvGrpSpPr>
          <p:cNvPr id="248" name="191 Grupo"/>
          <p:cNvGrpSpPr/>
          <p:nvPr/>
        </p:nvGrpSpPr>
        <p:grpSpPr>
          <a:xfrm>
            <a:off x="4860032" y="2503359"/>
            <a:ext cx="2054225" cy="1230313"/>
            <a:chOff x="5510214" y="2705100"/>
            <a:chExt cx="2054225" cy="1230313"/>
          </a:xfrm>
        </p:grpSpPr>
        <p:sp>
          <p:nvSpPr>
            <p:cNvPr id="193" name="Line 214"/>
            <p:cNvSpPr>
              <a:spLocks noChangeShapeType="1"/>
            </p:cNvSpPr>
            <p:nvPr/>
          </p:nvSpPr>
          <p:spPr bwMode="auto">
            <a:xfrm flipH="1">
              <a:off x="551021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4" name="Line 215"/>
            <p:cNvSpPr>
              <a:spLocks noChangeShapeType="1"/>
            </p:cNvSpPr>
            <p:nvPr/>
          </p:nvSpPr>
          <p:spPr bwMode="auto">
            <a:xfrm flipH="1">
              <a:off x="573246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5" name="Line 216"/>
            <p:cNvSpPr>
              <a:spLocks noChangeShapeType="1"/>
            </p:cNvSpPr>
            <p:nvPr/>
          </p:nvSpPr>
          <p:spPr bwMode="auto">
            <a:xfrm flipH="1">
              <a:off x="611981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6" name="Line 217"/>
            <p:cNvSpPr>
              <a:spLocks noChangeShapeType="1"/>
            </p:cNvSpPr>
            <p:nvPr/>
          </p:nvSpPr>
          <p:spPr bwMode="auto">
            <a:xfrm flipH="1">
              <a:off x="634206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7" name="Line 218"/>
            <p:cNvSpPr>
              <a:spLocks noChangeShapeType="1"/>
            </p:cNvSpPr>
            <p:nvPr/>
          </p:nvSpPr>
          <p:spPr bwMode="auto">
            <a:xfrm flipH="1">
              <a:off x="6731001" y="2716213"/>
              <a:ext cx="0" cy="1209675"/>
            </a:xfrm>
            <a:prstGeom prst="line">
              <a:avLst/>
            </a:prstGeom>
            <a:noFill/>
            <a:ln w="28575">
              <a:solidFill>
                <a:srgbClr val="00B050"/>
              </a:solidFill>
              <a:round/>
              <a:headEnd/>
              <a:tailEnd/>
            </a:ln>
          </p:spPr>
          <p:txBody>
            <a:bodyPr anchor="ctr">
              <a:spAutoFit/>
            </a:bodyPr>
            <a:lstStyle/>
            <a:p>
              <a:endParaRPr lang="es-ES"/>
            </a:p>
          </p:txBody>
        </p:sp>
        <p:sp>
          <p:nvSpPr>
            <p:cNvPr id="198" name="Line 219"/>
            <p:cNvSpPr>
              <a:spLocks noChangeShapeType="1"/>
            </p:cNvSpPr>
            <p:nvPr/>
          </p:nvSpPr>
          <p:spPr bwMode="auto">
            <a:xfrm flipH="1">
              <a:off x="6953251" y="2716213"/>
              <a:ext cx="0" cy="1209675"/>
            </a:xfrm>
            <a:prstGeom prst="line">
              <a:avLst/>
            </a:prstGeom>
            <a:noFill/>
            <a:ln w="28575">
              <a:solidFill>
                <a:srgbClr val="00B050"/>
              </a:solidFill>
              <a:round/>
              <a:headEnd/>
              <a:tailEnd/>
            </a:ln>
          </p:spPr>
          <p:txBody>
            <a:bodyPr anchor="ctr">
              <a:spAutoFit/>
            </a:bodyPr>
            <a:lstStyle/>
            <a:p>
              <a:endParaRPr lang="es-ES"/>
            </a:p>
          </p:txBody>
        </p:sp>
        <p:sp>
          <p:nvSpPr>
            <p:cNvPr id="199" name="Line 220"/>
            <p:cNvSpPr>
              <a:spLocks noChangeShapeType="1"/>
            </p:cNvSpPr>
            <p:nvPr/>
          </p:nvSpPr>
          <p:spPr bwMode="auto">
            <a:xfrm flipH="1">
              <a:off x="7342189" y="2725738"/>
              <a:ext cx="0" cy="1209675"/>
            </a:xfrm>
            <a:prstGeom prst="line">
              <a:avLst/>
            </a:prstGeom>
            <a:noFill/>
            <a:ln w="28575">
              <a:solidFill>
                <a:srgbClr val="00B050"/>
              </a:solidFill>
              <a:round/>
              <a:headEnd/>
              <a:tailEnd/>
            </a:ln>
          </p:spPr>
          <p:txBody>
            <a:bodyPr anchor="ctr">
              <a:spAutoFit/>
            </a:bodyPr>
            <a:lstStyle/>
            <a:p>
              <a:endParaRPr lang="es-ES"/>
            </a:p>
          </p:txBody>
        </p:sp>
        <p:sp>
          <p:nvSpPr>
            <p:cNvPr id="200" name="Line 221"/>
            <p:cNvSpPr>
              <a:spLocks noChangeShapeType="1"/>
            </p:cNvSpPr>
            <p:nvPr/>
          </p:nvSpPr>
          <p:spPr bwMode="auto">
            <a:xfrm flipH="1">
              <a:off x="7564439" y="2725738"/>
              <a:ext cx="0" cy="1209675"/>
            </a:xfrm>
            <a:prstGeom prst="line">
              <a:avLst/>
            </a:prstGeom>
            <a:noFill/>
            <a:ln w="28575">
              <a:solidFill>
                <a:srgbClr val="00B050"/>
              </a:solidFill>
              <a:round/>
              <a:headEnd/>
              <a:tailEnd/>
            </a:ln>
          </p:spPr>
          <p:txBody>
            <a:bodyPr anchor="ctr">
              <a:spAutoFit/>
            </a:bodyPr>
            <a:lstStyle/>
            <a:p>
              <a:endParaRPr lang="es-ES"/>
            </a:p>
          </p:txBody>
        </p:sp>
      </p:grpSp>
      <p:grpSp>
        <p:nvGrpSpPr>
          <p:cNvPr id="250" name="64 Grupo"/>
          <p:cNvGrpSpPr/>
          <p:nvPr/>
        </p:nvGrpSpPr>
        <p:grpSpPr>
          <a:xfrm>
            <a:off x="4772892" y="2359343"/>
            <a:ext cx="2276475" cy="1208088"/>
            <a:chOff x="4772892" y="2564904"/>
            <a:chExt cx="2276475" cy="1208088"/>
          </a:xfrm>
        </p:grpSpPr>
        <p:grpSp>
          <p:nvGrpSpPr>
            <p:cNvPr id="253" name="3 Grupo"/>
            <p:cNvGrpSpPr/>
            <p:nvPr/>
          </p:nvGrpSpPr>
          <p:grpSpPr>
            <a:xfrm>
              <a:off x="4772892" y="2564904"/>
              <a:ext cx="444500" cy="200025"/>
              <a:chOff x="5399089" y="2505075"/>
              <a:chExt cx="444500" cy="200025"/>
            </a:xfrm>
            <a:solidFill>
              <a:schemeClr val="accent6">
                <a:lumMod val="60000"/>
                <a:lumOff val="40000"/>
              </a:schemeClr>
            </a:solidFill>
          </p:grpSpPr>
          <p:sp>
            <p:nvSpPr>
              <p:cNvPr id="5"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6"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4" name="6 Grupo"/>
            <p:cNvGrpSpPr/>
            <p:nvPr/>
          </p:nvGrpSpPr>
          <p:grpSpPr>
            <a:xfrm>
              <a:off x="4772892" y="2899867"/>
              <a:ext cx="444500" cy="201613"/>
              <a:chOff x="5399089" y="2840038"/>
              <a:chExt cx="444500" cy="201613"/>
            </a:xfrm>
            <a:solidFill>
              <a:schemeClr val="accent6">
                <a:lumMod val="60000"/>
                <a:lumOff val="40000"/>
              </a:schemeClr>
            </a:solidFill>
          </p:grpSpPr>
          <p:sp>
            <p:nvSpPr>
              <p:cNvPr id="8"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9"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55" name="9 Grupo"/>
            <p:cNvGrpSpPr/>
            <p:nvPr/>
          </p:nvGrpSpPr>
          <p:grpSpPr>
            <a:xfrm>
              <a:off x="4772892" y="3236417"/>
              <a:ext cx="444500" cy="200025"/>
              <a:chOff x="5399089" y="3176588"/>
              <a:chExt cx="444500" cy="200025"/>
            </a:xfrm>
            <a:solidFill>
              <a:schemeClr val="accent6">
                <a:lumMod val="60000"/>
                <a:lumOff val="40000"/>
              </a:schemeClr>
            </a:solidFill>
          </p:grpSpPr>
          <p:sp>
            <p:nvSpPr>
              <p:cNvPr id="11"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12"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88" name="12 Grupo"/>
            <p:cNvGrpSpPr/>
            <p:nvPr/>
          </p:nvGrpSpPr>
          <p:grpSpPr>
            <a:xfrm>
              <a:off x="4772892" y="3571379"/>
              <a:ext cx="444500" cy="201613"/>
              <a:chOff x="5399089" y="3511550"/>
              <a:chExt cx="444500" cy="201613"/>
            </a:xfrm>
            <a:solidFill>
              <a:schemeClr val="accent6">
                <a:lumMod val="60000"/>
                <a:lumOff val="40000"/>
              </a:schemeClr>
            </a:solidFill>
          </p:grpSpPr>
          <p:sp>
            <p:nvSpPr>
              <p:cNvPr id="14"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15"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89" name="15 Grupo"/>
            <p:cNvGrpSpPr/>
            <p:nvPr/>
          </p:nvGrpSpPr>
          <p:grpSpPr>
            <a:xfrm>
              <a:off x="5384079" y="2564904"/>
              <a:ext cx="444500" cy="200025"/>
              <a:chOff x="6010276" y="2505075"/>
              <a:chExt cx="444500" cy="200025"/>
            </a:xfrm>
            <a:solidFill>
              <a:schemeClr val="accent6">
                <a:lumMod val="60000"/>
                <a:lumOff val="40000"/>
              </a:schemeClr>
            </a:solidFill>
          </p:grpSpPr>
          <p:sp>
            <p:nvSpPr>
              <p:cNvPr id="17"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18"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0" name="18 Grupo"/>
            <p:cNvGrpSpPr/>
            <p:nvPr/>
          </p:nvGrpSpPr>
          <p:grpSpPr>
            <a:xfrm>
              <a:off x="5384079" y="2899867"/>
              <a:ext cx="444500" cy="201613"/>
              <a:chOff x="6010276" y="2840038"/>
              <a:chExt cx="444500" cy="201613"/>
            </a:xfrm>
            <a:solidFill>
              <a:schemeClr val="accent6">
                <a:lumMod val="60000"/>
                <a:lumOff val="40000"/>
              </a:schemeClr>
            </a:solidFill>
          </p:grpSpPr>
          <p:sp>
            <p:nvSpPr>
              <p:cNvPr id="20"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21"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1" name="21 Grupo"/>
            <p:cNvGrpSpPr/>
            <p:nvPr/>
          </p:nvGrpSpPr>
          <p:grpSpPr>
            <a:xfrm>
              <a:off x="5384079" y="3236417"/>
              <a:ext cx="444500" cy="200025"/>
              <a:chOff x="6010276" y="3176588"/>
              <a:chExt cx="444500" cy="200025"/>
            </a:xfrm>
            <a:solidFill>
              <a:schemeClr val="accent6">
                <a:lumMod val="60000"/>
                <a:lumOff val="40000"/>
              </a:schemeClr>
            </a:solidFill>
          </p:grpSpPr>
          <p:sp>
            <p:nvSpPr>
              <p:cNvPr id="23"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24"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2" name="24 Grupo"/>
            <p:cNvGrpSpPr/>
            <p:nvPr/>
          </p:nvGrpSpPr>
          <p:grpSpPr>
            <a:xfrm>
              <a:off x="5384079" y="3571379"/>
              <a:ext cx="444500" cy="201613"/>
              <a:chOff x="6010276" y="3511550"/>
              <a:chExt cx="444500" cy="201613"/>
            </a:xfrm>
            <a:solidFill>
              <a:schemeClr val="accent6">
                <a:lumMod val="60000"/>
                <a:lumOff val="40000"/>
              </a:schemeClr>
            </a:solidFill>
          </p:grpSpPr>
          <p:sp>
            <p:nvSpPr>
              <p:cNvPr id="26"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27"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3" name="27 Grupo"/>
            <p:cNvGrpSpPr/>
            <p:nvPr/>
          </p:nvGrpSpPr>
          <p:grpSpPr>
            <a:xfrm>
              <a:off x="5995267" y="2564904"/>
              <a:ext cx="442913" cy="200025"/>
              <a:chOff x="6621464" y="2505075"/>
              <a:chExt cx="442913" cy="200025"/>
            </a:xfrm>
            <a:solidFill>
              <a:schemeClr val="accent6">
                <a:lumMod val="60000"/>
                <a:lumOff val="40000"/>
              </a:schemeClr>
            </a:solidFill>
          </p:grpSpPr>
          <p:sp>
            <p:nvSpPr>
              <p:cNvPr id="29"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30"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4" name="30 Grupo"/>
            <p:cNvGrpSpPr/>
            <p:nvPr/>
          </p:nvGrpSpPr>
          <p:grpSpPr>
            <a:xfrm>
              <a:off x="5995267" y="2899867"/>
              <a:ext cx="442913" cy="201613"/>
              <a:chOff x="6621464" y="2840038"/>
              <a:chExt cx="442913" cy="201613"/>
            </a:xfrm>
            <a:solidFill>
              <a:schemeClr val="accent6">
                <a:lumMod val="60000"/>
                <a:lumOff val="40000"/>
              </a:schemeClr>
            </a:solidFill>
          </p:grpSpPr>
          <p:sp>
            <p:nvSpPr>
              <p:cNvPr id="32"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33"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5" name="33 Grupo"/>
            <p:cNvGrpSpPr/>
            <p:nvPr/>
          </p:nvGrpSpPr>
          <p:grpSpPr>
            <a:xfrm>
              <a:off x="5995267" y="3236417"/>
              <a:ext cx="442913" cy="200025"/>
              <a:chOff x="6621464" y="3176588"/>
              <a:chExt cx="442913" cy="200025"/>
            </a:xfrm>
            <a:solidFill>
              <a:schemeClr val="accent6">
                <a:lumMod val="60000"/>
                <a:lumOff val="40000"/>
              </a:schemeClr>
            </a:solidFill>
          </p:grpSpPr>
          <p:sp>
            <p:nvSpPr>
              <p:cNvPr id="35"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36"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6" name="36 Grupo"/>
            <p:cNvGrpSpPr/>
            <p:nvPr/>
          </p:nvGrpSpPr>
          <p:grpSpPr>
            <a:xfrm>
              <a:off x="5995267" y="3571379"/>
              <a:ext cx="442913" cy="201613"/>
              <a:chOff x="6621464" y="3511550"/>
              <a:chExt cx="442913" cy="201613"/>
            </a:xfrm>
            <a:solidFill>
              <a:schemeClr val="accent6">
                <a:lumMod val="60000"/>
                <a:lumOff val="40000"/>
              </a:schemeClr>
            </a:solidFill>
          </p:grpSpPr>
          <p:sp>
            <p:nvSpPr>
              <p:cNvPr id="38"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39"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7" name="39 Grupo"/>
            <p:cNvGrpSpPr/>
            <p:nvPr/>
          </p:nvGrpSpPr>
          <p:grpSpPr>
            <a:xfrm>
              <a:off x="6604867" y="2564904"/>
              <a:ext cx="444500" cy="200025"/>
              <a:chOff x="7231064" y="2505075"/>
              <a:chExt cx="444500" cy="200025"/>
            </a:xfrm>
            <a:solidFill>
              <a:schemeClr val="accent6">
                <a:lumMod val="60000"/>
                <a:lumOff val="40000"/>
              </a:schemeClr>
            </a:solidFill>
          </p:grpSpPr>
          <p:sp>
            <p:nvSpPr>
              <p:cNvPr id="41"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2"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8" name="42 Grupo"/>
            <p:cNvGrpSpPr/>
            <p:nvPr/>
          </p:nvGrpSpPr>
          <p:grpSpPr>
            <a:xfrm>
              <a:off x="6604867" y="2899867"/>
              <a:ext cx="444500" cy="201613"/>
              <a:chOff x="7231064" y="2840038"/>
              <a:chExt cx="444500" cy="201613"/>
            </a:xfrm>
            <a:solidFill>
              <a:schemeClr val="accent6">
                <a:lumMod val="60000"/>
                <a:lumOff val="40000"/>
              </a:schemeClr>
            </a:solidFill>
          </p:grpSpPr>
          <p:sp>
            <p:nvSpPr>
              <p:cNvPr id="44"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5"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9" name="45 Grupo"/>
            <p:cNvGrpSpPr/>
            <p:nvPr/>
          </p:nvGrpSpPr>
          <p:grpSpPr>
            <a:xfrm>
              <a:off x="6604867" y="3236417"/>
              <a:ext cx="444500" cy="200025"/>
              <a:chOff x="7231064" y="3176588"/>
              <a:chExt cx="444500" cy="200025"/>
            </a:xfrm>
            <a:solidFill>
              <a:schemeClr val="accent6">
                <a:lumMod val="60000"/>
                <a:lumOff val="40000"/>
              </a:schemeClr>
            </a:solidFill>
          </p:grpSpPr>
          <p:sp>
            <p:nvSpPr>
              <p:cNvPr id="47"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8"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300" name="48 Grupo"/>
            <p:cNvGrpSpPr/>
            <p:nvPr/>
          </p:nvGrpSpPr>
          <p:grpSpPr>
            <a:xfrm>
              <a:off x="6604867" y="3571379"/>
              <a:ext cx="444500" cy="201613"/>
              <a:chOff x="7231064" y="3511550"/>
              <a:chExt cx="444500" cy="201613"/>
            </a:xfrm>
            <a:solidFill>
              <a:schemeClr val="accent6">
                <a:lumMod val="60000"/>
                <a:lumOff val="40000"/>
              </a:schemeClr>
            </a:solidFill>
          </p:grpSpPr>
          <p:sp>
            <p:nvSpPr>
              <p:cNvPr id="50"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51"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grpSp>
        <p:nvGrpSpPr>
          <p:cNvPr id="301" name="200 Grupo"/>
          <p:cNvGrpSpPr/>
          <p:nvPr/>
        </p:nvGrpSpPr>
        <p:grpSpPr>
          <a:xfrm>
            <a:off x="4743797" y="3707627"/>
            <a:ext cx="2276475" cy="134938"/>
            <a:chOff x="5399089" y="3913188"/>
            <a:chExt cx="2276475" cy="134938"/>
          </a:xfrm>
        </p:grpSpPr>
        <p:sp>
          <p:nvSpPr>
            <p:cNvPr id="20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grpSp>
      <p:grpSp>
        <p:nvGrpSpPr>
          <p:cNvPr id="302" name="Group 266"/>
          <p:cNvGrpSpPr>
            <a:grpSpLocks/>
          </p:cNvGrpSpPr>
          <p:nvPr/>
        </p:nvGrpSpPr>
        <p:grpSpPr bwMode="auto">
          <a:xfrm>
            <a:off x="4860032" y="3840977"/>
            <a:ext cx="2054225" cy="665163"/>
            <a:chOff x="2724" y="2704"/>
            <a:chExt cx="1678" cy="267"/>
          </a:xfrm>
        </p:grpSpPr>
        <p:sp>
          <p:nvSpPr>
            <p:cNvPr id="211" name="Line 267"/>
            <p:cNvSpPr>
              <a:spLocks noChangeShapeType="1"/>
            </p:cNvSpPr>
            <p:nvPr/>
          </p:nvSpPr>
          <p:spPr bwMode="auto">
            <a:xfrm flipH="1">
              <a:off x="272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2" name="Line 268"/>
            <p:cNvSpPr>
              <a:spLocks noChangeShapeType="1"/>
            </p:cNvSpPr>
            <p:nvPr/>
          </p:nvSpPr>
          <p:spPr bwMode="auto">
            <a:xfrm flipH="1">
              <a:off x="2905"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3" name="Line 269"/>
            <p:cNvSpPr>
              <a:spLocks noChangeShapeType="1"/>
            </p:cNvSpPr>
            <p:nvPr/>
          </p:nvSpPr>
          <p:spPr bwMode="auto">
            <a:xfrm flipH="1">
              <a:off x="322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4" name="Line 270"/>
            <p:cNvSpPr>
              <a:spLocks noChangeShapeType="1"/>
            </p:cNvSpPr>
            <p:nvPr/>
          </p:nvSpPr>
          <p:spPr bwMode="auto">
            <a:xfrm flipH="1">
              <a:off x="340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5" name="Line 271"/>
            <p:cNvSpPr>
              <a:spLocks noChangeShapeType="1"/>
            </p:cNvSpPr>
            <p:nvPr/>
          </p:nvSpPr>
          <p:spPr bwMode="auto">
            <a:xfrm flipH="1">
              <a:off x="372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6" name="Line 272"/>
            <p:cNvSpPr>
              <a:spLocks noChangeShapeType="1"/>
            </p:cNvSpPr>
            <p:nvPr/>
          </p:nvSpPr>
          <p:spPr bwMode="auto">
            <a:xfrm flipH="1">
              <a:off x="390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7" name="Line 273"/>
            <p:cNvSpPr>
              <a:spLocks noChangeShapeType="1"/>
            </p:cNvSpPr>
            <p:nvPr/>
          </p:nvSpPr>
          <p:spPr bwMode="auto">
            <a:xfrm flipH="1">
              <a:off x="4221"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8" name="Line 274"/>
            <p:cNvSpPr>
              <a:spLocks noChangeShapeType="1"/>
            </p:cNvSpPr>
            <p:nvPr/>
          </p:nvSpPr>
          <p:spPr bwMode="auto">
            <a:xfrm flipH="1">
              <a:off x="440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grpSp>
      <p:cxnSp>
        <p:nvCxnSpPr>
          <p:cNvPr id="219" name="218 Conector recto de flecha"/>
          <p:cNvCxnSpPr/>
          <p:nvPr/>
        </p:nvCxnSpPr>
        <p:spPr bwMode="auto">
          <a:xfrm>
            <a:off x="2707772" y="3151431"/>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grpSp>
        <p:nvGrpSpPr>
          <p:cNvPr id="303" name="221 Grupo"/>
          <p:cNvGrpSpPr/>
          <p:nvPr/>
        </p:nvGrpSpPr>
        <p:grpSpPr>
          <a:xfrm>
            <a:off x="3635896" y="847175"/>
            <a:ext cx="595313" cy="1944032"/>
            <a:chOff x="3635896" y="1052736"/>
            <a:chExt cx="595313" cy="1944032"/>
          </a:xfrm>
        </p:grpSpPr>
        <p:sp>
          <p:nvSpPr>
            <p:cNvPr id="220" name="Text Box 145"/>
            <p:cNvSpPr txBox="1">
              <a:spLocks noChangeArrowheads="1"/>
            </p:cNvSpPr>
            <p:nvPr/>
          </p:nvSpPr>
          <p:spPr bwMode="auto">
            <a:xfrm>
              <a:off x="3635896" y="1052736"/>
              <a:ext cx="595313" cy="276999"/>
            </a:xfrm>
            <a:prstGeom prst="rect">
              <a:avLst/>
            </a:prstGeom>
            <a:noFill/>
            <a:ln w="12700">
              <a:noFill/>
              <a:miter lim="800000"/>
              <a:headEnd/>
              <a:tailEnd/>
            </a:ln>
          </p:spPr>
          <p:txBody>
            <a:bodyPr lIns="0" tIns="0" rIns="0" bIns="0">
              <a:spAutoFit/>
            </a:bodyPr>
            <a:lstStyle/>
            <a:p>
              <a:r>
                <a:rPr lang="es-ES" sz="1800" dirty="0"/>
                <a:t>RAS*</a:t>
              </a:r>
            </a:p>
          </p:txBody>
        </p:sp>
        <p:sp>
          <p:nvSpPr>
            <p:cNvPr id="221" name="Line 155"/>
            <p:cNvSpPr>
              <a:spLocks noChangeShapeType="1"/>
            </p:cNvSpPr>
            <p:nvPr/>
          </p:nvSpPr>
          <p:spPr bwMode="auto">
            <a:xfrm>
              <a:off x="3923928" y="1340768"/>
              <a:ext cx="0" cy="1656000"/>
            </a:xfrm>
            <a:prstGeom prst="line">
              <a:avLst/>
            </a:prstGeom>
            <a:noFill/>
            <a:ln w="15875">
              <a:solidFill>
                <a:srgbClr val="FFCC00"/>
              </a:solidFill>
              <a:round/>
              <a:headEnd/>
              <a:tailEnd type="triangle" w="med" len="med"/>
            </a:ln>
          </p:spPr>
          <p:txBody>
            <a:bodyPr anchor="ctr">
              <a:spAutoFit/>
            </a:bodyPr>
            <a:lstStyle/>
            <a:p>
              <a:endParaRPr lang="es-ES"/>
            </a:p>
          </p:txBody>
        </p:sp>
      </p:grpSp>
      <p:cxnSp>
        <p:nvCxnSpPr>
          <p:cNvPr id="314" name="313 Forma"/>
          <p:cNvCxnSpPr/>
          <p:nvPr/>
        </p:nvCxnSpPr>
        <p:spPr bwMode="auto">
          <a:xfrm>
            <a:off x="3923928" y="1594789"/>
            <a:ext cx="720101" cy="304972"/>
          </a:xfrm>
          <a:prstGeom prst="bentConnector2">
            <a:avLst/>
          </a:prstGeom>
          <a:ln w="15875">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304" name="222 Grupo"/>
          <p:cNvGrpSpPr/>
          <p:nvPr/>
        </p:nvGrpSpPr>
        <p:grpSpPr>
          <a:xfrm>
            <a:off x="7740352" y="3943519"/>
            <a:ext cx="760655" cy="1178936"/>
            <a:chOff x="7740352" y="4149080"/>
            <a:chExt cx="760655" cy="1178936"/>
          </a:xfrm>
        </p:grpSpPr>
        <p:sp>
          <p:nvSpPr>
            <p:cNvPr id="500" name="Freeform 288"/>
            <p:cNvSpPr>
              <a:spLocks/>
            </p:cNvSpPr>
            <p:nvPr/>
          </p:nvSpPr>
          <p:spPr bwMode="auto">
            <a:xfrm>
              <a:off x="7740352" y="4471988"/>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a:tailEnd type="triangle" w="med" len="med"/>
            </a:ln>
          </p:spPr>
          <p:txBody>
            <a:bodyPr anchor="ctr">
              <a:spAutoFit/>
            </a:bodyPr>
            <a:lstStyle/>
            <a:p>
              <a:endParaRPr lang="es-ES"/>
            </a:p>
          </p:txBody>
        </p:sp>
        <p:sp>
          <p:nvSpPr>
            <p:cNvPr id="501" name="Freeform 291"/>
            <p:cNvSpPr>
              <a:spLocks/>
            </p:cNvSpPr>
            <p:nvPr/>
          </p:nvSpPr>
          <p:spPr bwMode="auto">
            <a:xfrm flipV="1">
              <a:off x="7740352" y="4978400"/>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type="triangle" w="med" len="med"/>
              <a:tailEnd/>
            </a:ln>
          </p:spPr>
          <p:txBody>
            <a:bodyPr anchor="ctr">
              <a:spAutoFit/>
            </a:bodyPr>
            <a:lstStyle/>
            <a:p>
              <a:endParaRPr lang="es-ES"/>
            </a:p>
          </p:txBody>
        </p:sp>
        <p:cxnSp>
          <p:nvCxnSpPr>
            <p:cNvPr id="502" name="501 Conector recto"/>
            <p:cNvCxnSpPr/>
            <p:nvPr/>
          </p:nvCxnSpPr>
          <p:spPr bwMode="auto">
            <a:xfrm flipH="1">
              <a:off x="8285756" y="5184000"/>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3" name="502 CuadroTexto"/>
            <p:cNvSpPr txBox="1"/>
            <p:nvPr/>
          </p:nvSpPr>
          <p:spPr>
            <a:xfrm>
              <a:off x="8168864" y="4941168"/>
              <a:ext cx="332143" cy="338554"/>
            </a:xfrm>
            <a:prstGeom prst="rect">
              <a:avLst/>
            </a:prstGeom>
            <a:noFill/>
          </p:spPr>
          <p:txBody>
            <a:bodyPr wrap="none" rtlCol="0">
              <a:spAutoFit/>
            </a:bodyPr>
            <a:lstStyle/>
            <a:p>
              <a:r>
                <a:rPr lang="es-ES" sz="1600" i="1" dirty="0"/>
                <a:t>w</a:t>
              </a:r>
            </a:p>
          </p:txBody>
        </p:sp>
        <p:cxnSp>
          <p:nvCxnSpPr>
            <p:cNvPr id="504" name="503 Conector recto"/>
            <p:cNvCxnSpPr/>
            <p:nvPr/>
          </p:nvCxnSpPr>
          <p:spPr bwMode="auto">
            <a:xfrm flipH="1">
              <a:off x="8214521" y="4391912"/>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5" name="504 CuadroTexto"/>
            <p:cNvSpPr txBox="1"/>
            <p:nvPr/>
          </p:nvSpPr>
          <p:spPr>
            <a:xfrm>
              <a:off x="8097629" y="4149080"/>
              <a:ext cx="332143" cy="338554"/>
            </a:xfrm>
            <a:prstGeom prst="rect">
              <a:avLst/>
            </a:prstGeom>
            <a:noFill/>
          </p:spPr>
          <p:txBody>
            <a:bodyPr wrap="none" rtlCol="0">
              <a:spAutoFit/>
            </a:bodyPr>
            <a:lstStyle/>
            <a:p>
              <a:r>
                <a:rPr lang="es-ES" sz="1600" i="1" dirty="0"/>
                <a:t>w</a:t>
              </a:r>
            </a:p>
          </p:txBody>
        </p:sp>
      </p:grpSp>
      <p:grpSp>
        <p:nvGrpSpPr>
          <p:cNvPr id="305" name="506 Grupo"/>
          <p:cNvGrpSpPr/>
          <p:nvPr/>
        </p:nvGrpSpPr>
        <p:grpSpPr>
          <a:xfrm>
            <a:off x="3995936" y="5214974"/>
            <a:ext cx="3096344" cy="766546"/>
            <a:chOff x="4514851" y="5321300"/>
            <a:chExt cx="3527425" cy="936625"/>
          </a:xfrm>
        </p:grpSpPr>
        <p:sp>
          <p:nvSpPr>
            <p:cNvPr id="508" name="Line 296"/>
            <p:cNvSpPr>
              <a:spLocks noChangeShapeType="1"/>
            </p:cNvSpPr>
            <p:nvPr/>
          </p:nvSpPr>
          <p:spPr bwMode="auto">
            <a:xfrm flipV="1">
              <a:off x="5665789" y="5321300"/>
              <a:ext cx="0" cy="503238"/>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09" name="Line 297"/>
            <p:cNvSpPr>
              <a:spLocks noChangeShapeType="1"/>
            </p:cNvSpPr>
            <p:nvPr/>
          </p:nvSpPr>
          <p:spPr bwMode="auto">
            <a:xfrm flipV="1">
              <a:off x="6457951" y="5321300"/>
              <a:ext cx="0" cy="647700"/>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0" name="Line 298"/>
            <p:cNvSpPr>
              <a:spLocks noChangeShapeType="1"/>
            </p:cNvSpPr>
            <p:nvPr/>
          </p:nvSpPr>
          <p:spPr bwMode="auto">
            <a:xfrm flipV="1">
              <a:off x="7250114" y="5321300"/>
              <a:ext cx="0" cy="792163"/>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1" name="Line 299"/>
            <p:cNvSpPr>
              <a:spLocks noChangeShapeType="1"/>
            </p:cNvSpPr>
            <p:nvPr/>
          </p:nvSpPr>
          <p:spPr bwMode="auto">
            <a:xfrm flipV="1">
              <a:off x="8042276" y="5321300"/>
              <a:ext cx="0" cy="936625"/>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2" name="Line 301"/>
            <p:cNvSpPr>
              <a:spLocks noChangeShapeType="1"/>
            </p:cNvSpPr>
            <p:nvPr/>
          </p:nvSpPr>
          <p:spPr bwMode="auto">
            <a:xfrm>
              <a:off x="4514851" y="5824538"/>
              <a:ext cx="1150938"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3" name="Line 302"/>
            <p:cNvSpPr>
              <a:spLocks noChangeShapeType="1"/>
            </p:cNvSpPr>
            <p:nvPr/>
          </p:nvSpPr>
          <p:spPr bwMode="auto">
            <a:xfrm>
              <a:off x="4514851" y="5969000"/>
              <a:ext cx="1943100"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4" name="Line 303"/>
            <p:cNvSpPr>
              <a:spLocks noChangeShapeType="1"/>
            </p:cNvSpPr>
            <p:nvPr/>
          </p:nvSpPr>
          <p:spPr bwMode="auto">
            <a:xfrm>
              <a:off x="4514851" y="6113463"/>
              <a:ext cx="273526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5" name="Line 304"/>
            <p:cNvSpPr>
              <a:spLocks noChangeShapeType="1"/>
            </p:cNvSpPr>
            <p:nvPr/>
          </p:nvSpPr>
          <p:spPr bwMode="auto">
            <a:xfrm>
              <a:off x="4514851" y="6256338"/>
              <a:ext cx="3527425"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grpSp>
      <p:sp>
        <p:nvSpPr>
          <p:cNvPr id="516" name="Rectangle 300"/>
          <p:cNvSpPr>
            <a:spLocks noChangeArrowheads="1"/>
          </p:cNvSpPr>
          <p:nvPr/>
        </p:nvSpPr>
        <p:spPr bwMode="auto">
          <a:xfrm>
            <a:off x="3667254" y="5329975"/>
            <a:ext cx="400690" cy="846386"/>
          </a:xfrm>
          <a:prstGeom prst="rect">
            <a:avLst/>
          </a:prstGeom>
          <a:solidFill>
            <a:schemeClr val="accent2">
              <a:lumMod val="50000"/>
            </a:schemeClr>
          </a:solidFill>
          <a:ln w="12700">
            <a:solidFill>
              <a:schemeClr val="bg2"/>
            </a:solidFill>
            <a:miter lim="800000"/>
            <a:headEnd/>
            <a:tailEnd/>
          </a:ln>
        </p:spPr>
        <p:txBody>
          <a:bodyPr vert="vert270" wrap="square" lIns="0" tIns="0" rIns="0" bIns="0" anchor="ctr">
            <a:noAutofit/>
          </a:bodyPr>
          <a:lstStyle/>
          <a:p>
            <a:r>
              <a:rPr lang="es-ES" sz="1200" dirty="0">
                <a:solidFill>
                  <a:schemeClr val="bg1"/>
                </a:solidFill>
              </a:rPr>
              <a:t>Registro de </a:t>
            </a:r>
            <a:r>
              <a:rPr lang="es-ES" sz="1200" b="1" dirty="0">
                <a:solidFill>
                  <a:schemeClr val="bg1"/>
                </a:solidFill>
              </a:rPr>
              <a:t>columna</a:t>
            </a:r>
          </a:p>
        </p:txBody>
      </p:sp>
      <p:cxnSp>
        <p:nvCxnSpPr>
          <p:cNvPr id="517" name="516 Conector recto de flecha"/>
          <p:cNvCxnSpPr/>
          <p:nvPr/>
        </p:nvCxnSpPr>
        <p:spPr bwMode="auto">
          <a:xfrm>
            <a:off x="2786050" y="5742725"/>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cxnSp>
        <p:nvCxnSpPr>
          <p:cNvPr id="519" name="518 Conector recto de flecha"/>
          <p:cNvCxnSpPr/>
          <p:nvPr/>
        </p:nvCxnSpPr>
        <p:spPr bwMode="auto">
          <a:xfrm>
            <a:off x="3707904" y="4807615"/>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grpSp>
        <p:nvGrpSpPr>
          <p:cNvPr id="306" name="230 Grupo"/>
          <p:cNvGrpSpPr/>
          <p:nvPr/>
        </p:nvGrpSpPr>
        <p:grpSpPr>
          <a:xfrm>
            <a:off x="3428992" y="986836"/>
            <a:ext cx="4523708" cy="3330198"/>
            <a:chOff x="3428992" y="986836"/>
            <a:chExt cx="4523708" cy="3330198"/>
          </a:xfrm>
        </p:grpSpPr>
        <p:sp>
          <p:nvSpPr>
            <p:cNvPr id="224" name="223 CuadroTexto"/>
            <p:cNvSpPr txBox="1"/>
            <p:nvPr/>
          </p:nvSpPr>
          <p:spPr>
            <a:xfrm>
              <a:off x="3428992" y="4009257"/>
              <a:ext cx="880370" cy="307777"/>
            </a:xfrm>
            <a:prstGeom prst="rect">
              <a:avLst/>
            </a:prstGeom>
            <a:noFill/>
          </p:spPr>
          <p:txBody>
            <a:bodyPr wrap="none" rtlCol="0">
              <a:spAutoFit/>
            </a:bodyPr>
            <a:lstStyle/>
            <a:p>
              <a:r>
                <a:rPr lang="es-ES" sz="1400" b="1" dirty="0">
                  <a:solidFill>
                    <a:schemeClr val="accent6">
                      <a:lumMod val="60000"/>
                      <a:lumOff val="40000"/>
                    </a:schemeClr>
                  </a:solidFill>
                </a:rPr>
                <a:t>Banco 0</a:t>
              </a:r>
            </a:p>
          </p:txBody>
        </p:sp>
        <p:sp>
          <p:nvSpPr>
            <p:cNvPr id="225" name="224 CuadroTexto"/>
            <p:cNvSpPr txBox="1"/>
            <p:nvPr/>
          </p:nvSpPr>
          <p:spPr>
            <a:xfrm>
              <a:off x="7072330" y="986836"/>
              <a:ext cx="880370" cy="307777"/>
            </a:xfrm>
            <a:prstGeom prst="rect">
              <a:avLst/>
            </a:prstGeom>
            <a:noFill/>
          </p:spPr>
          <p:txBody>
            <a:bodyPr wrap="none" rtlCol="0">
              <a:spAutoFit/>
            </a:bodyPr>
            <a:lstStyle/>
            <a:p>
              <a:r>
                <a:rPr lang="es-ES" sz="1400" b="1" dirty="0">
                  <a:solidFill>
                    <a:schemeClr val="tx2">
                      <a:lumMod val="60000"/>
                      <a:lumOff val="40000"/>
                    </a:schemeClr>
                  </a:solidFill>
                </a:rPr>
                <a:t>Banco 1</a:t>
              </a:r>
            </a:p>
          </p:txBody>
        </p:sp>
      </p:grpSp>
      <p:sp>
        <p:nvSpPr>
          <p:cNvPr id="226" name="225 CuadroTexto"/>
          <p:cNvSpPr txBox="1"/>
          <p:nvPr/>
        </p:nvSpPr>
        <p:spPr>
          <a:xfrm>
            <a:off x="7665710" y="3580629"/>
            <a:ext cx="1478290" cy="307777"/>
          </a:xfrm>
          <a:prstGeom prst="rect">
            <a:avLst/>
          </a:prstGeom>
          <a:noFill/>
        </p:spPr>
        <p:txBody>
          <a:bodyPr wrap="none" rtlCol="0">
            <a:spAutoFit/>
          </a:bodyPr>
          <a:lstStyle/>
          <a:p>
            <a:r>
              <a:rPr lang="es-ES" sz="1400" b="1" dirty="0">
                <a:solidFill>
                  <a:srgbClr val="00B050"/>
                </a:solidFill>
              </a:rPr>
              <a:t>Amplificadores</a:t>
            </a:r>
          </a:p>
        </p:txBody>
      </p:sp>
      <p:sp>
        <p:nvSpPr>
          <p:cNvPr id="227" name="Text Box 145"/>
          <p:cNvSpPr txBox="1">
            <a:spLocks noChangeArrowheads="1"/>
          </p:cNvSpPr>
          <p:nvPr/>
        </p:nvSpPr>
        <p:spPr bwMode="auto">
          <a:xfrm>
            <a:off x="3571868" y="6509587"/>
            <a:ext cx="595313" cy="276999"/>
          </a:xfrm>
          <a:prstGeom prst="rect">
            <a:avLst/>
          </a:prstGeom>
          <a:noFill/>
          <a:ln w="12700">
            <a:noFill/>
            <a:miter lim="800000"/>
            <a:headEnd/>
            <a:tailEnd/>
          </a:ln>
        </p:spPr>
        <p:txBody>
          <a:bodyPr lIns="0" tIns="0" rIns="0" bIns="0">
            <a:spAutoFit/>
          </a:bodyPr>
          <a:lstStyle/>
          <a:p>
            <a:r>
              <a:rPr lang="es-ES" sz="1800" dirty="0"/>
              <a:t>CAS*</a:t>
            </a:r>
          </a:p>
        </p:txBody>
      </p:sp>
      <p:cxnSp>
        <p:nvCxnSpPr>
          <p:cNvPr id="229" name="228 Conector recto de flecha"/>
          <p:cNvCxnSpPr>
            <a:stCxn id="227" idx="0"/>
            <a:endCxn id="516" idx="2"/>
          </p:cNvCxnSpPr>
          <p:nvPr/>
        </p:nvCxnSpPr>
        <p:spPr bwMode="auto">
          <a:xfrm rot="16200000" flipV="1">
            <a:off x="3701949" y="6342011"/>
            <a:ext cx="333226" cy="1926"/>
          </a:xfrm>
          <a:prstGeom prst="straightConnector1">
            <a:avLst/>
          </a:prstGeom>
          <a:ln w="22225">
            <a:solidFill>
              <a:schemeClr val="accent2">
                <a:lumMod val="60000"/>
                <a:lumOff val="4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32" name="231 CuadroTexto"/>
          <p:cNvSpPr txBox="1"/>
          <p:nvPr/>
        </p:nvSpPr>
        <p:spPr>
          <a:xfrm>
            <a:off x="2000232" y="2928934"/>
            <a:ext cx="582211" cy="369332"/>
          </a:xfrm>
          <a:prstGeom prst="rect">
            <a:avLst/>
          </a:prstGeom>
          <a:noFill/>
        </p:spPr>
        <p:txBody>
          <a:bodyPr wrap="none" rtlCol="0">
            <a:spAutoFit/>
          </a:bodyPr>
          <a:lstStyle/>
          <a:p>
            <a:r>
              <a:rPr lang="es-ES" sz="1800" b="1" dirty="0">
                <a:solidFill>
                  <a:schemeClr val="tx1">
                    <a:lumMod val="65000"/>
                    <a:lumOff val="35000"/>
                  </a:schemeClr>
                </a:solidFill>
              </a:rPr>
              <a:t>Fila</a:t>
            </a:r>
          </a:p>
        </p:txBody>
      </p:sp>
      <p:sp>
        <p:nvSpPr>
          <p:cNvPr id="233" name="232 CuadroTexto"/>
          <p:cNvSpPr txBox="1"/>
          <p:nvPr/>
        </p:nvSpPr>
        <p:spPr>
          <a:xfrm>
            <a:off x="2681881" y="4631304"/>
            <a:ext cx="889987" cy="369332"/>
          </a:xfrm>
          <a:prstGeom prst="rect">
            <a:avLst/>
          </a:prstGeom>
          <a:noFill/>
        </p:spPr>
        <p:txBody>
          <a:bodyPr wrap="none" rtlCol="0">
            <a:spAutoFit/>
          </a:bodyPr>
          <a:lstStyle/>
          <a:p>
            <a:r>
              <a:rPr lang="es-ES" sz="1800" b="1" dirty="0">
                <a:solidFill>
                  <a:schemeClr val="tx1">
                    <a:lumMod val="65000"/>
                    <a:lumOff val="35000"/>
                  </a:schemeClr>
                </a:solidFill>
              </a:rPr>
              <a:t>Banco</a:t>
            </a:r>
          </a:p>
        </p:txBody>
      </p:sp>
      <p:sp>
        <p:nvSpPr>
          <p:cNvPr id="234" name="233 CuadroTexto"/>
          <p:cNvSpPr txBox="1"/>
          <p:nvPr/>
        </p:nvSpPr>
        <p:spPr>
          <a:xfrm>
            <a:off x="1571604" y="5559998"/>
            <a:ext cx="1172116" cy="369332"/>
          </a:xfrm>
          <a:prstGeom prst="rect">
            <a:avLst/>
          </a:prstGeom>
          <a:noFill/>
        </p:spPr>
        <p:txBody>
          <a:bodyPr wrap="none" rtlCol="0">
            <a:spAutoFit/>
          </a:bodyPr>
          <a:lstStyle/>
          <a:p>
            <a:r>
              <a:rPr lang="es-ES" sz="1800" b="1" dirty="0">
                <a:solidFill>
                  <a:schemeClr val="tx1">
                    <a:lumMod val="65000"/>
                    <a:lumOff val="35000"/>
                  </a:schemeClr>
                </a:solidFill>
              </a:rPr>
              <a:t>Columna</a:t>
            </a:r>
          </a:p>
        </p:txBody>
      </p:sp>
      <p:sp>
        <p:nvSpPr>
          <p:cNvPr id="256" name="255 CuadroTexto"/>
          <p:cNvSpPr txBox="1"/>
          <p:nvPr/>
        </p:nvSpPr>
        <p:spPr>
          <a:xfrm>
            <a:off x="1043608" y="1124744"/>
            <a:ext cx="1058303" cy="461665"/>
          </a:xfrm>
          <a:prstGeom prst="rect">
            <a:avLst/>
          </a:prstGeom>
          <a:solidFill>
            <a:schemeClr val="bg2">
              <a:lumMod val="25000"/>
            </a:schemeClr>
          </a:solidFill>
        </p:spPr>
        <p:txBody>
          <a:bodyPr wrap="none" rtlCol="0">
            <a:spAutoFit/>
          </a:bodyPr>
          <a:lstStyle/>
          <a:p>
            <a:r>
              <a:rPr lang="es-ES" sz="2400" b="1" dirty="0">
                <a:solidFill>
                  <a:schemeClr val="bg1">
                    <a:lumMod val="95000"/>
                  </a:schemeClr>
                </a:solidFill>
              </a:rPr>
              <a:t>READ</a:t>
            </a:r>
          </a:p>
        </p:txBody>
      </p:sp>
      <p:grpSp>
        <p:nvGrpSpPr>
          <p:cNvPr id="257" name="256 Grupo"/>
          <p:cNvGrpSpPr/>
          <p:nvPr/>
        </p:nvGrpSpPr>
        <p:grpSpPr>
          <a:xfrm>
            <a:off x="4761528" y="3722690"/>
            <a:ext cx="2276475" cy="134938"/>
            <a:chOff x="5399089" y="3913188"/>
            <a:chExt cx="2276475" cy="134938"/>
          </a:xfrm>
          <a:solidFill>
            <a:srgbClr val="FF0000"/>
          </a:solidFill>
        </p:grpSpPr>
        <p:sp>
          <p:nvSpPr>
            <p:cNvPr id="258" name="Rectangle 223"/>
            <p:cNvSpPr>
              <a:spLocks noChangeArrowheads="1"/>
            </p:cNvSpPr>
            <p:nvPr/>
          </p:nvSpPr>
          <p:spPr bwMode="auto">
            <a:xfrm>
              <a:off x="5399089"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59" name="Rectangle 259"/>
            <p:cNvSpPr>
              <a:spLocks noChangeArrowheads="1"/>
            </p:cNvSpPr>
            <p:nvPr/>
          </p:nvSpPr>
          <p:spPr bwMode="auto">
            <a:xfrm>
              <a:off x="5621339"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0" name="Rectangle 260"/>
            <p:cNvSpPr>
              <a:spLocks noChangeArrowheads="1"/>
            </p:cNvSpPr>
            <p:nvPr/>
          </p:nvSpPr>
          <p:spPr bwMode="auto">
            <a:xfrm>
              <a:off x="6010276"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1" name="Rectangle 261"/>
            <p:cNvSpPr>
              <a:spLocks noChangeArrowheads="1"/>
            </p:cNvSpPr>
            <p:nvPr/>
          </p:nvSpPr>
          <p:spPr bwMode="auto">
            <a:xfrm>
              <a:off x="6232526"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2" name="Rectangle 262"/>
            <p:cNvSpPr>
              <a:spLocks noChangeArrowheads="1"/>
            </p:cNvSpPr>
            <p:nvPr/>
          </p:nvSpPr>
          <p:spPr bwMode="auto">
            <a:xfrm>
              <a:off x="6621464"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3" name="Rectangle 263"/>
            <p:cNvSpPr>
              <a:spLocks noChangeArrowheads="1"/>
            </p:cNvSpPr>
            <p:nvPr/>
          </p:nvSpPr>
          <p:spPr bwMode="auto">
            <a:xfrm>
              <a:off x="6843714"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4" name="Rectangle 264"/>
            <p:cNvSpPr>
              <a:spLocks noChangeArrowheads="1"/>
            </p:cNvSpPr>
            <p:nvPr/>
          </p:nvSpPr>
          <p:spPr bwMode="auto">
            <a:xfrm>
              <a:off x="7231064"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5" name="Rectangle 265"/>
            <p:cNvSpPr>
              <a:spLocks noChangeArrowheads="1"/>
            </p:cNvSpPr>
            <p:nvPr/>
          </p:nvSpPr>
          <p:spPr bwMode="auto">
            <a:xfrm>
              <a:off x="7454901"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grpSp>
      <p:cxnSp>
        <p:nvCxnSpPr>
          <p:cNvPr id="266" name="265 Conector recto de flecha"/>
          <p:cNvCxnSpPr/>
          <p:nvPr/>
        </p:nvCxnSpPr>
        <p:spPr bwMode="auto">
          <a:xfrm>
            <a:off x="2786050" y="5715016"/>
            <a:ext cx="864096" cy="1588"/>
          </a:xfrm>
          <a:prstGeom prst="straightConnector1">
            <a:avLst/>
          </a:prstGeom>
          <a:noFill/>
          <a:ln w="82550" cap="flat" cmpd="sng" algn="ctr">
            <a:solidFill>
              <a:srgbClr val="FF0000"/>
            </a:solidFill>
            <a:prstDash val="solid"/>
            <a:round/>
            <a:headEnd type="none" w="med" len="med"/>
            <a:tailEnd type="arrow"/>
          </a:ln>
          <a:effectLst/>
        </p:spPr>
      </p:cxnSp>
      <p:sp>
        <p:nvSpPr>
          <p:cNvPr id="268" name="Rectangle 300"/>
          <p:cNvSpPr>
            <a:spLocks noChangeArrowheads="1"/>
          </p:cNvSpPr>
          <p:nvPr/>
        </p:nvSpPr>
        <p:spPr bwMode="auto">
          <a:xfrm>
            <a:off x="3671244" y="5297258"/>
            <a:ext cx="400690" cy="864000"/>
          </a:xfrm>
          <a:prstGeom prst="rect">
            <a:avLst/>
          </a:prstGeom>
          <a:solidFill>
            <a:srgbClr val="FF0000"/>
          </a:solidFill>
          <a:ln w="12700">
            <a:solidFill>
              <a:schemeClr val="bg2"/>
            </a:solidFill>
            <a:miter lim="800000"/>
            <a:headEnd/>
            <a:tailEnd/>
          </a:ln>
        </p:spPr>
        <p:txBody>
          <a:bodyPr vert="vert270" wrap="square" lIns="0" tIns="0" rIns="0" bIns="0" anchor="ctr">
            <a:noAutofit/>
          </a:bodyPr>
          <a:lstStyle/>
          <a:p>
            <a:r>
              <a:rPr lang="es-ES" sz="1200" dirty="0">
                <a:solidFill>
                  <a:schemeClr val="bg1"/>
                </a:solidFill>
              </a:rPr>
              <a:t>Registro de </a:t>
            </a:r>
            <a:r>
              <a:rPr lang="es-ES" sz="1200" b="1" dirty="0">
                <a:solidFill>
                  <a:schemeClr val="bg1"/>
                </a:solidFill>
              </a:rPr>
              <a:t>columna</a:t>
            </a:r>
          </a:p>
        </p:txBody>
      </p:sp>
      <p:grpSp>
        <p:nvGrpSpPr>
          <p:cNvPr id="272" name="271 Grupo"/>
          <p:cNvGrpSpPr/>
          <p:nvPr/>
        </p:nvGrpSpPr>
        <p:grpSpPr>
          <a:xfrm>
            <a:off x="4000496" y="5214950"/>
            <a:ext cx="2400991" cy="648316"/>
            <a:chOff x="4148336" y="5709642"/>
            <a:chExt cx="2400991" cy="648316"/>
          </a:xfrm>
        </p:grpSpPr>
        <p:sp>
          <p:nvSpPr>
            <p:cNvPr id="270" name="Line 298"/>
            <p:cNvSpPr>
              <a:spLocks noChangeShapeType="1"/>
            </p:cNvSpPr>
            <p:nvPr/>
          </p:nvSpPr>
          <p:spPr bwMode="auto">
            <a:xfrm flipV="1">
              <a:off x="6549327" y="5709642"/>
              <a:ext cx="0" cy="648316"/>
            </a:xfrm>
            <a:prstGeom prst="line">
              <a:avLst/>
            </a:prstGeom>
            <a:noFill/>
            <a:ln w="38100">
              <a:solidFill>
                <a:srgbClr val="FF0000"/>
              </a:solidFill>
              <a:round/>
              <a:headEnd/>
              <a:tailEnd type="triangle" w="med" len="med"/>
            </a:ln>
          </p:spPr>
          <p:txBody>
            <a:bodyPr anchor="ctr">
              <a:spAutoFit/>
            </a:bodyPr>
            <a:lstStyle/>
            <a:p>
              <a:endParaRPr lang="es-ES"/>
            </a:p>
          </p:txBody>
        </p:sp>
        <p:sp>
          <p:nvSpPr>
            <p:cNvPr id="271" name="Line 303"/>
            <p:cNvSpPr>
              <a:spLocks noChangeShapeType="1"/>
            </p:cNvSpPr>
            <p:nvPr/>
          </p:nvSpPr>
          <p:spPr bwMode="auto">
            <a:xfrm>
              <a:off x="4148336" y="6357958"/>
              <a:ext cx="2400991" cy="0"/>
            </a:xfrm>
            <a:prstGeom prst="line">
              <a:avLst/>
            </a:prstGeom>
            <a:noFill/>
            <a:ln w="38100">
              <a:solidFill>
                <a:srgbClr val="FF0000"/>
              </a:solidFill>
              <a:round/>
              <a:headEnd/>
              <a:tailEnd/>
            </a:ln>
          </p:spPr>
          <p:txBody>
            <a:bodyPr anchor="ctr">
              <a:spAutoFit/>
            </a:bodyPr>
            <a:lstStyle/>
            <a:p>
              <a:endParaRPr lang="es-ES"/>
            </a:p>
          </p:txBody>
        </p:sp>
      </p:grpSp>
      <p:grpSp>
        <p:nvGrpSpPr>
          <p:cNvPr id="276" name="275 Grupo"/>
          <p:cNvGrpSpPr/>
          <p:nvPr/>
        </p:nvGrpSpPr>
        <p:grpSpPr>
          <a:xfrm>
            <a:off x="6072198" y="3857628"/>
            <a:ext cx="221582" cy="665163"/>
            <a:chOff x="6072198" y="3857628"/>
            <a:chExt cx="221582" cy="665163"/>
          </a:xfrm>
        </p:grpSpPr>
        <p:sp>
          <p:nvSpPr>
            <p:cNvPr id="273" name="Line 271"/>
            <p:cNvSpPr>
              <a:spLocks noChangeShapeType="1"/>
            </p:cNvSpPr>
            <p:nvPr/>
          </p:nvSpPr>
          <p:spPr bwMode="auto">
            <a:xfrm flipH="1">
              <a:off x="6072198" y="3857628"/>
              <a:ext cx="0" cy="665163"/>
            </a:xfrm>
            <a:prstGeom prst="line">
              <a:avLst/>
            </a:prstGeom>
            <a:noFill/>
            <a:ln w="28575">
              <a:solidFill>
                <a:srgbClr val="FF0000"/>
              </a:solidFill>
              <a:round/>
              <a:headEnd type="triangle" w="med" len="med"/>
              <a:tailEnd type="triangle" w="med" len="med"/>
            </a:ln>
          </p:spPr>
          <p:txBody>
            <a:bodyPr anchor="ctr">
              <a:spAutoFit/>
            </a:bodyPr>
            <a:lstStyle/>
            <a:p>
              <a:endParaRPr lang="es-ES"/>
            </a:p>
          </p:txBody>
        </p:sp>
        <p:sp>
          <p:nvSpPr>
            <p:cNvPr id="274" name="Line 272"/>
            <p:cNvSpPr>
              <a:spLocks noChangeShapeType="1"/>
            </p:cNvSpPr>
            <p:nvPr/>
          </p:nvSpPr>
          <p:spPr bwMode="auto">
            <a:xfrm flipH="1">
              <a:off x="6293780" y="3857628"/>
              <a:ext cx="0" cy="665163"/>
            </a:xfrm>
            <a:prstGeom prst="line">
              <a:avLst/>
            </a:prstGeom>
            <a:noFill/>
            <a:ln w="28575">
              <a:solidFill>
                <a:srgbClr val="FF0000"/>
              </a:solidFill>
              <a:round/>
              <a:headEnd type="triangle" w="med" len="med"/>
              <a:tailEnd type="triangle" w="med" len="med"/>
            </a:ln>
          </p:spPr>
          <p:txBody>
            <a:bodyPr anchor="ctr">
              <a:spAutoFit/>
            </a:bodyPr>
            <a:lstStyle/>
            <a:p>
              <a:endParaRPr lang="es-ES"/>
            </a:p>
          </p:txBody>
        </p:sp>
      </p:grpSp>
      <p:sp>
        <p:nvSpPr>
          <p:cNvPr id="275" name="Freeform 288"/>
          <p:cNvSpPr>
            <a:spLocks/>
          </p:cNvSpPr>
          <p:nvPr/>
        </p:nvSpPr>
        <p:spPr bwMode="auto">
          <a:xfrm>
            <a:off x="7715272" y="4283083"/>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57150">
            <a:solidFill>
              <a:srgbClr val="FF0000"/>
            </a:solidFill>
            <a:round/>
            <a:headEnd/>
            <a:tailEnd type="triangle" w="med" len="med"/>
          </a:ln>
        </p:spPr>
        <p:txBody>
          <a:bodyPr anchor="ctr">
            <a:spAutoFit/>
          </a:bodyPr>
          <a:lstStyle/>
          <a:p>
            <a:endParaRPr lang="es-ES"/>
          </a:p>
        </p:txBody>
      </p:sp>
      <p:cxnSp>
        <p:nvCxnSpPr>
          <p:cNvPr id="277" name="276 Conector recto de flecha"/>
          <p:cNvCxnSpPr/>
          <p:nvPr/>
        </p:nvCxnSpPr>
        <p:spPr bwMode="auto">
          <a:xfrm>
            <a:off x="3707904" y="4786322"/>
            <a:ext cx="864096" cy="1588"/>
          </a:xfrm>
          <a:prstGeom prst="straightConnector1">
            <a:avLst/>
          </a:prstGeom>
          <a:noFill/>
          <a:ln w="82550" cap="flat" cmpd="sng" algn="ctr">
            <a:solidFill>
              <a:srgbClr val="FF0000"/>
            </a:solidFill>
            <a:prstDash val="solid"/>
            <a:round/>
            <a:headEnd type="none" w="med" len="med"/>
            <a:tailEnd type="arrow"/>
          </a:ln>
          <a:effectLst/>
        </p:spPr>
      </p:cxnSp>
      <p:cxnSp>
        <p:nvCxnSpPr>
          <p:cNvPr id="278" name="277 Conector recto de flecha"/>
          <p:cNvCxnSpPr/>
          <p:nvPr/>
        </p:nvCxnSpPr>
        <p:spPr bwMode="auto">
          <a:xfrm rot="16200000" flipV="1">
            <a:off x="3691970" y="6309294"/>
            <a:ext cx="333226" cy="1926"/>
          </a:xfrm>
          <a:prstGeom prst="straightConnector1">
            <a:avLst/>
          </a:prstGeom>
          <a:ln w="381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38" name="237 CuadroTexto"/>
          <p:cNvSpPr txBox="1"/>
          <p:nvPr/>
        </p:nvSpPr>
        <p:spPr>
          <a:xfrm>
            <a:off x="971600" y="1683708"/>
            <a:ext cx="1088760" cy="1034129"/>
          </a:xfrm>
          <a:prstGeom prst="rect">
            <a:avLst/>
          </a:prstGeom>
          <a:noFill/>
        </p:spPr>
        <p:txBody>
          <a:bodyPr wrap="none" rtlCol="0">
            <a:spAutoFit/>
          </a:bodyPr>
          <a:lstStyle/>
          <a:p>
            <a:pPr algn="l"/>
            <a:r>
              <a:rPr lang="es-ES" sz="1800" b="1" dirty="0">
                <a:solidFill>
                  <a:schemeClr val="tx1">
                    <a:lumMod val="65000"/>
                    <a:lumOff val="35000"/>
                  </a:schemeClr>
                </a:solidFill>
              </a:rPr>
              <a:t>RAS*= 1</a:t>
            </a:r>
          </a:p>
          <a:p>
            <a:pPr algn="l"/>
            <a:r>
              <a:rPr lang="es-ES" sz="1800" b="1" dirty="0">
                <a:solidFill>
                  <a:schemeClr val="tx1">
                    <a:lumMod val="65000"/>
                    <a:lumOff val="35000"/>
                  </a:schemeClr>
                </a:solidFill>
              </a:rPr>
              <a:t>CAS*= 0</a:t>
            </a:r>
          </a:p>
          <a:p>
            <a:pPr algn="l"/>
            <a:r>
              <a:rPr lang="es-ES" sz="1800" b="1" dirty="0">
                <a:solidFill>
                  <a:schemeClr val="tx1">
                    <a:lumMod val="65000"/>
                    <a:lumOff val="35000"/>
                  </a:schemeClr>
                </a:solidFill>
              </a:rPr>
              <a:t>WE*= 1</a:t>
            </a:r>
          </a:p>
        </p:txBody>
      </p:sp>
    </p:spTree>
    <p:extLst>
      <p:ext uri="{BB962C8B-B14F-4D97-AF65-F5344CB8AC3E}">
        <p14:creationId xmlns:p14="http://schemas.microsoft.com/office/powerpoint/2010/main" val="25713717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34"/>
                                        </p:tgtEl>
                                        <p:attrNameLst>
                                          <p:attrName>style.color</p:attrName>
                                        </p:attrNameLst>
                                      </p:cBhvr>
                                      <p:to>
                                        <a:srgbClr val="FF0000"/>
                                      </p:to>
                                    </p:animClr>
                                  </p:childTnLst>
                                </p:cTn>
                              </p:par>
                              <p:par>
                                <p:cTn id="7" presetID="3" presetClass="emph" presetSubtype="2" fill="hold" grpId="0" nodeType="withEffect">
                                  <p:stCondLst>
                                    <p:cond delay="0"/>
                                  </p:stCondLst>
                                  <p:childTnLst>
                                    <p:animClr clrSpc="rgb" dir="cw">
                                      <p:cBhvr override="childStyle">
                                        <p:cTn id="8" dur="500" fill="hold"/>
                                        <p:tgtEl>
                                          <p:spTgt spid="233"/>
                                        </p:tgtEl>
                                        <p:attrNameLst>
                                          <p:attrName>style.color</p:attrName>
                                        </p:attrNameLst>
                                      </p:cBhvr>
                                      <p:to>
                                        <a:srgbClr val="FF0000"/>
                                      </p:to>
                                    </p:animClr>
                                  </p:childTnLst>
                                </p:cTn>
                              </p:par>
                              <p:par>
                                <p:cTn id="9" presetID="3" presetClass="emph" presetSubtype="2" fill="hold" grpId="0" nodeType="withEffect">
                                  <p:stCondLst>
                                    <p:cond delay="0"/>
                                  </p:stCondLst>
                                  <p:childTnLst>
                                    <p:animClr clrSpc="rgb" dir="cw">
                                      <p:cBhvr override="childStyle">
                                        <p:cTn id="10" dur="500" fill="hold"/>
                                        <p:tgtEl>
                                          <p:spTgt spid="227"/>
                                        </p:tgtEl>
                                        <p:attrNameLst>
                                          <p:attrName>style.color</p:attrName>
                                        </p:attrNameLst>
                                      </p:cBhvr>
                                      <p:to>
                                        <a:srgbClr val="FF0000"/>
                                      </p:to>
                                    </p:animClr>
                                  </p:childTnLst>
                                </p:cTn>
                              </p:par>
                            </p:childTnLst>
                          </p:cTn>
                        </p:par>
                        <p:par>
                          <p:cTn id="11" fill="hold">
                            <p:stCondLst>
                              <p:cond delay="500"/>
                            </p:stCondLst>
                            <p:childTnLst>
                              <p:par>
                                <p:cTn id="12" presetID="17" presetClass="entr" presetSubtype="8" fill="hold" nodeType="afterEffect">
                                  <p:stCondLst>
                                    <p:cond delay="0"/>
                                  </p:stCondLst>
                                  <p:childTnLst>
                                    <p:set>
                                      <p:cBhvr>
                                        <p:cTn id="13" dur="1" fill="hold">
                                          <p:stCondLst>
                                            <p:cond delay="0"/>
                                          </p:stCondLst>
                                        </p:cTn>
                                        <p:tgtEl>
                                          <p:spTgt spid="266"/>
                                        </p:tgtEl>
                                        <p:attrNameLst>
                                          <p:attrName>style.visibility</p:attrName>
                                        </p:attrNameLst>
                                      </p:cBhvr>
                                      <p:to>
                                        <p:strVal val="visible"/>
                                      </p:to>
                                    </p:set>
                                    <p:anim calcmode="lin" valueType="num">
                                      <p:cBhvr>
                                        <p:cTn id="14" dur="2000" fill="hold"/>
                                        <p:tgtEl>
                                          <p:spTgt spid="266"/>
                                        </p:tgtEl>
                                        <p:attrNameLst>
                                          <p:attrName>ppt_x</p:attrName>
                                        </p:attrNameLst>
                                      </p:cBhvr>
                                      <p:tavLst>
                                        <p:tav tm="0">
                                          <p:val>
                                            <p:strVal val="#ppt_x-#ppt_w/2"/>
                                          </p:val>
                                        </p:tav>
                                        <p:tav tm="100000">
                                          <p:val>
                                            <p:strVal val="#ppt_x"/>
                                          </p:val>
                                        </p:tav>
                                      </p:tavLst>
                                    </p:anim>
                                    <p:anim calcmode="lin" valueType="num">
                                      <p:cBhvr>
                                        <p:cTn id="15" dur="2000" fill="hold"/>
                                        <p:tgtEl>
                                          <p:spTgt spid="266"/>
                                        </p:tgtEl>
                                        <p:attrNameLst>
                                          <p:attrName>ppt_y</p:attrName>
                                        </p:attrNameLst>
                                      </p:cBhvr>
                                      <p:tavLst>
                                        <p:tav tm="0">
                                          <p:val>
                                            <p:strVal val="#ppt_y"/>
                                          </p:val>
                                        </p:tav>
                                        <p:tav tm="100000">
                                          <p:val>
                                            <p:strVal val="#ppt_y"/>
                                          </p:val>
                                        </p:tav>
                                      </p:tavLst>
                                    </p:anim>
                                    <p:anim calcmode="lin" valueType="num">
                                      <p:cBhvr>
                                        <p:cTn id="16" dur="2000" fill="hold"/>
                                        <p:tgtEl>
                                          <p:spTgt spid="266"/>
                                        </p:tgtEl>
                                        <p:attrNameLst>
                                          <p:attrName>ppt_w</p:attrName>
                                        </p:attrNameLst>
                                      </p:cBhvr>
                                      <p:tavLst>
                                        <p:tav tm="0">
                                          <p:val>
                                            <p:fltVal val="0"/>
                                          </p:val>
                                        </p:tav>
                                        <p:tav tm="100000">
                                          <p:val>
                                            <p:strVal val="#ppt_w"/>
                                          </p:val>
                                        </p:tav>
                                      </p:tavLst>
                                    </p:anim>
                                    <p:anim calcmode="lin" valueType="num">
                                      <p:cBhvr>
                                        <p:cTn id="17" dur="2000" fill="hold"/>
                                        <p:tgtEl>
                                          <p:spTgt spid="266"/>
                                        </p:tgtEl>
                                        <p:attrNameLst>
                                          <p:attrName>ppt_h</p:attrName>
                                        </p:attrNameLst>
                                      </p:cBhvr>
                                      <p:tavLst>
                                        <p:tav tm="0">
                                          <p:val>
                                            <p:strVal val="#ppt_h"/>
                                          </p:val>
                                        </p:tav>
                                        <p:tav tm="100000">
                                          <p:val>
                                            <p:strVal val="#ppt_h"/>
                                          </p:val>
                                        </p:tav>
                                      </p:tavLst>
                                    </p:anim>
                                  </p:childTnLst>
                                </p:cTn>
                              </p:par>
                              <p:par>
                                <p:cTn id="18" presetID="17" presetClass="entr" presetSubtype="8" fill="hold" nodeType="withEffect">
                                  <p:stCondLst>
                                    <p:cond delay="0"/>
                                  </p:stCondLst>
                                  <p:childTnLst>
                                    <p:set>
                                      <p:cBhvr>
                                        <p:cTn id="19" dur="1" fill="hold">
                                          <p:stCondLst>
                                            <p:cond delay="0"/>
                                          </p:stCondLst>
                                        </p:cTn>
                                        <p:tgtEl>
                                          <p:spTgt spid="277"/>
                                        </p:tgtEl>
                                        <p:attrNameLst>
                                          <p:attrName>style.visibility</p:attrName>
                                        </p:attrNameLst>
                                      </p:cBhvr>
                                      <p:to>
                                        <p:strVal val="visible"/>
                                      </p:to>
                                    </p:set>
                                    <p:anim calcmode="lin" valueType="num">
                                      <p:cBhvr>
                                        <p:cTn id="20" dur="2000" fill="hold"/>
                                        <p:tgtEl>
                                          <p:spTgt spid="277"/>
                                        </p:tgtEl>
                                        <p:attrNameLst>
                                          <p:attrName>ppt_x</p:attrName>
                                        </p:attrNameLst>
                                      </p:cBhvr>
                                      <p:tavLst>
                                        <p:tav tm="0">
                                          <p:val>
                                            <p:strVal val="#ppt_x-#ppt_w/2"/>
                                          </p:val>
                                        </p:tav>
                                        <p:tav tm="100000">
                                          <p:val>
                                            <p:strVal val="#ppt_x"/>
                                          </p:val>
                                        </p:tav>
                                      </p:tavLst>
                                    </p:anim>
                                    <p:anim calcmode="lin" valueType="num">
                                      <p:cBhvr>
                                        <p:cTn id="21" dur="2000" fill="hold"/>
                                        <p:tgtEl>
                                          <p:spTgt spid="277"/>
                                        </p:tgtEl>
                                        <p:attrNameLst>
                                          <p:attrName>ppt_y</p:attrName>
                                        </p:attrNameLst>
                                      </p:cBhvr>
                                      <p:tavLst>
                                        <p:tav tm="0">
                                          <p:val>
                                            <p:strVal val="#ppt_y"/>
                                          </p:val>
                                        </p:tav>
                                        <p:tav tm="100000">
                                          <p:val>
                                            <p:strVal val="#ppt_y"/>
                                          </p:val>
                                        </p:tav>
                                      </p:tavLst>
                                    </p:anim>
                                    <p:anim calcmode="lin" valueType="num">
                                      <p:cBhvr>
                                        <p:cTn id="22" dur="2000" fill="hold"/>
                                        <p:tgtEl>
                                          <p:spTgt spid="277"/>
                                        </p:tgtEl>
                                        <p:attrNameLst>
                                          <p:attrName>ppt_w</p:attrName>
                                        </p:attrNameLst>
                                      </p:cBhvr>
                                      <p:tavLst>
                                        <p:tav tm="0">
                                          <p:val>
                                            <p:fltVal val="0"/>
                                          </p:val>
                                        </p:tav>
                                        <p:tav tm="100000">
                                          <p:val>
                                            <p:strVal val="#ppt_w"/>
                                          </p:val>
                                        </p:tav>
                                      </p:tavLst>
                                    </p:anim>
                                    <p:anim calcmode="lin" valueType="num">
                                      <p:cBhvr>
                                        <p:cTn id="23" dur="2000" fill="hold"/>
                                        <p:tgtEl>
                                          <p:spTgt spid="277"/>
                                        </p:tgtEl>
                                        <p:attrNameLst>
                                          <p:attrName>ppt_h</p:attrName>
                                        </p:attrNameLst>
                                      </p:cBhvr>
                                      <p:tavLst>
                                        <p:tav tm="0">
                                          <p:val>
                                            <p:strVal val="#ppt_h"/>
                                          </p:val>
                                        </p:tav>
                                        <p:tav tm="100000">
                                          <p:val>
                                            <p:strVal val="#ppt_h"/>
                                          </p:val>
                                        </p:tav>
                                      </p:tavLst>
                                    </p:anim>
                                  </p:childTnLst>
                                </p:cTn>
                              </p:par>
                              <p:par>
                                <p:cTn id="24" presetID="17" presetClass="entr" presetSubtype="4" fill="hold" nodeType="withEffect">
                                  <p:stCondLst>
                                    <p:cond delay="0"/>
                                  </p:stCondLst>
                                  <p:childTnLst>
                                    <p:set>
                                      <p:cBhvr>
                                        <p:cTn id="25" dur="1" fill="hold">
                                          <p:stCondLst>
                                            <p:cond delay="0"/>
                                          </p:stCondLst>
                                        </p:cTn>
                                        <p:tgtEl>
                                          <p:spTgt spid="278"/>
                                        </p:tgtEl>
                                        <p:attrNameLst>
                                          <p:attrName>style.visibility</p:attrName>
                                        </p:attrNameLst>
                                      </p:cBhvr>
                                      <p:to>
                                        <p:strVal val="visible"/>
                                      </p:to>
                                    </p:set>
                                    <p:anim calcmode="lin" valueType="num">
                                      <p:cBhvr>
                                        <p:cTn id="26" dur="2000" fill="hold"/>
                                        <p:tgtEl>
                                          <p:spTgt spid="278"/>
                                        </p:tgtEl>
                                        <p:attrNameLst>
                                          <p:attrName>ppt_x</p:attrName>
                                        </p:attrNameLst>
                                      </p:cBhvr>
                                      <p:tavLst>
                                        <p:tav tm="0">
                                          <p:val>
                                            <p:strVal val="#ppt_x"/>
                                          </p:val>
                                        </p:tav>
                                        <p:tav tm="100000">
                                          <p:val>
                                            <p:strVal val="#ppt_x"/>
                                          </p:val>
                                        </p:tav>
                                      </p:tavLst>
                                    </p:anim>
                                    <p:anim calcmode="lin" valueType="num">
                                      <p:cBhvr>
                                        <p:cTn id="27" dur="2000" fill="hold"/>
                                        <p:tgtEl>
                                          <p:spTgt spid="278"/>
                                        </p:tgtEl>
                                        <p:attrNameLst>
                                          <p:attrName>ppt_y</p:attrName>
                                        </p:attrNameLst>
                                      </p:cBhvr>
                                      <p:tavLst>
                                        <p:tav tm="0">
                                          <p:val>
                                            <p:strVal val="#ppt_y+#ppt_h/2"/>
                                          </p:val>
                                        </p:tav>
                                        <p:tav tm="100000">
                                          <p:val>
                                            <p:strVal val="#ppt_y"/>
                                          </p:val>
                                        </p:tav>
                                      </p:tavLst>
                                    </p:anim>
                                    <p:anim calcmode="lin" valueType="num">
                                      <p:cBhvr>
                                        <p:cTn id="28" dur="2000" fill="hold"/>
                                        <p:tgtEl>
                                          <p:spTgt spid="278"/>
                                        </p:tgtEl>
                                        <p:attrNameLst>
                                          <p:attrName>ppt_w</p:attrName>
                                        </p:attrNameLst>
                                      </p:cBhvr>
                                      <p:tavLst>
                                        <p:tav tm="0">
                                          <p:val>
                                            <p:strVal val="#ppt_w"/>
                                          </p:val>
                                        </p:tav>
                                        <p:tav tm="100000">
                                          <p:val>
                                            <p:strVal val="#ppt_w"/>
                                          </p:val>
                                        </p:tav>
                                      </p:tavLst>
                                    </p:anim>
                                    <p:anim calcmode="lin" valueType="num">
                                      <p:cBhvr>
                                        <p:cTn id="29" dur="2000" fill="hold"/>
                                        <p:tgtEl>
                                          <p:spTgt spid="278"/>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268"/>
                                        </p:tgtEl>
                                        <p:attrNameLst>
                                          <p:attrName>style.visibility</p:attrName>
                                        </p:attrNameLst>
                                      </p:cBhvr>
                                      <p:to>
                                        <p:strVal val="visible"/>
                                      </p:to>
                                    </p:set>
                                    <p:animEffect transition="in" filter="dissolve">
                                      <p:cBhvr>
                                        <p:cTn id="33" dur="1000"/>
                                        <p:tgtEl>
                                          <p:spTgt spid="268"/>
                                        </p:tgtEl>
                                      </p:cBhvr>
                                    </p:animEffect>
                                  </p:childTnLst>
                                </p:cTn>
                              </p:par>
                            </p:childTnLst>
                          </p:cTn>
                        </p:par>
                        <p:par>
                          <p:cTn id="34" fill="hold">
                            <p:stCondLst>
                              <p:cond delay="3500"/>
                            </p:stCondLst>
                            <p:childTnLst>
                              <p:par>
                                <p:cTn id="35" presetID="17" presetClass="entr" presetSubtype="8" fill="hold" nodeType="afterEffect">
                                  <p:stCondLst>
                                    <p:cond delay="0"/>
                                  </p:stCondLst>
                                  <p:childTnLst>
                                    <p:set>
                                      <p:cBhvr>
                                        <p:cTn id="36" dur="1" fill="hold">
                                          <p:stCondLst>
                                            <p:cond delay="0"/>
                                          </p:stCondLst>
                                        </p:cTn>
                                        <p:tgtEl>
                                          <p:spTgt spid="272"/>
                                        </p:tgtEl>
                                        <p:attrNameLst>
                                          <p:attrName>style.visibility</p:attrName>
                                        </p:attrNameLst>
                                      </p:cBhvr>
                                      <p:to>
                                        <p:strVal val="visible"/>
                                      </p:to>
                                    </p:set>
                                    <p:anim calcmode="lin" valueType="num">
                                      <p:cBhvr>
                                        <p:cTn id="37" dur="2000" fill="hold"/>
                                        <p:tgtEl>
                                          <p:spTgt spid="272"/>
                                        </p:tgtEl>
                                        <p:attrNameLst>
                                          <p:attrName>ppt_x</p:attrName>
                                        </p:attrNameLst>
                                      </p:cBhvr>
                                      <p:tavLst>
                                        <p:tav tm="0">
                                          <p:val>
                                            <p:strVal val="#ppt_x-#ppt_w/2"/>
                                          </p:val>
                                        </p:tav>
                                        <p:tav tm="100000">
                                          <p:val>
                                            <p:strVal val="#ppt_x"/>
                                          </p:val>
                                        </p:tav>
                                      </p:tavLst>
                                    </p:anim>
                                    <p:anim calcmode="lin" valueType="num">
                                      <p:cBhvr>
                                        <p:cTn id="38" dur="2000" fill="hold"/>
                                        <p:tgtEl>
                                          <p:spTgt spid="272"/>
                                        </p:tgtEl>
                                        <p:attrNameLst>
                                          <p:attrName>ppt_y</p:attrName>
                                        </p:attrNameLst>
                                      </p:cBhvr>
                                      <p:tavLst>
                                        <p:tav tm="0">
                                          <p:val>
                                            <p:strVal val="#ppt_y"/>
                                          </p:val>
                                        </p:tav>
                                        <p:tav tm="100000">
                                          <p:val>
                                            <p:strVal val="#ppt_y"/>
                                          </p:val>
                                        </p:tav>
                                      </p:tavLst>
                                    </p:anim>
                                    <p:anim calcmode="lin" valueType="num">
                                      <p:cBhvr>
                                        <p:cTn id="39" dur="2000" fill="hold"/>
                                        <p:tgtEl>
                                          <p:spTgt spid="272"/>
                                        </p:tgtEl>
                                        <p:attrNameLst>
                                          <p:attrName>ppt_w</p:attrName>
                                        </p:attrNameLst>
                                      </p:cBhvr>
                                      <p:tavLst>
                                        <p:tav tm="0">
                                          <p:val>
                                            <p:fltVal val="0"/>
                                          </p:val>
                                        </p:tav>
                                        <p:tav tm="100000">
                                          <p:val>
                                            <p:strVal val="#ppt_w"/>
                                          </p:val>
                                        </p:tav>
                                      </p:tavLst>
                                    </p:anim>
                                    <p:anim calcmode="lin" valueType="num">
                                      <p:cBhvr>
                                        <p:cTn id="40" dur="2000" fill="hold"/>
                                        <p:tgtEl>
                                          <p:spTgt spid="272"/>
                                        </p:tgtEl>
                                        <p:attrNameLst>
                                          <p:attrName>ppt_h</p:attrName>
                                        </p:attrNameLst>
                                      </p:cBhvr>
                                      <p:tavLst>
                                        <p:tav tm="0">
                                          <p:val>
                                            <p:strVal val="#ppt_h"/>
                                          </p:val>
                                        </p:tav>
                                        <p:tav tm="100000">
                                          <p:val>
                                            <p:strVal val="#ppt_h"/>
                                          </p:val>
                                        </p:tav>
                                      </p:tavLst>
                                    </p:anim>
                                  </p:childTnLst>
                                </p:cTn>
                              </p:par>
                            </p:childTnLst>
                          </p:cTn>
                        </p:par>
                        <p:par>
                          <p:cTn id="41" fill="hold">
                            <p:stCondLst>
                              <p:cond delay="5500"/>
                            </p:stCondLst>
                            <p:childTnLst>
                              <p:par>
                                <p:cTn id="42" presetID="17" presetClass="entr" presetSubtype="1" fill="hold" nodeType="afterEffect">
                                  <p:stCondLst>
                                    <p:cond delay="0"/>
                                  </p:stCondLst>
                                  <p:childTnLst>
                                    <p:set>
                                      <p:cBhvr>
                                        <p:cTn id="43" dur="1" fill="hold">
                                          <p:stCondLst>
                                            <p:cond delay="0"/>
                                          </p:stCondLst>
                                        </p:cTn>
                                        <p:tgtEl>
                                          <p:spTgt spid="276"/>
                                        </p:tgtEl>
                                        <p:attrNameLst>
                                          <p:attrName>style.visibility</p:attrName>
                                        </p:attrNameLst>
                                      </p:cBhvr>
                                      <p:to>
                                        <p:strVal val="visible"/>
                                      </p:to>
                                    </p:set>
                                    <p:anim calcmode="lin" valueType="num">
                                      <p:cBhvr>
                                        <p:cTn id="44" dur="2000" fill="hold"/>
                                        <p:tgtEl>
                                          <p:spTgt spid="276"/>
                                        </p:tgtEl>
                                        <p:attrNameLst>
                                          <p:attrName>ppt_x</p:attrName>
                                        </p:attrNameLst>
                                      </p:cBhvr>
                                      <p:tavLst>
                                        <p:tav tm="0">
                                          <p:val>
                                            <p:strVal val="#ppt_x"/>
                                          </p:val>
                                        </p:tav>
                                        <p:tav tm="100000">
                                          <p:val>
                                            <p:strVal val="#ppt_x"/>
                                          </p:val>
                                        </p:tav>
                                      </p:tavLst>
                                    </p:anim>
                                    <p:anim calcmode="lin" valueType="num">
                                      <p:cBhvr>
                                        <p:cTn id="45" dur="2000" fill="hold"/>
                                        <p:tgtEl>
                                          <p:spTgt spid="276"/>
                                        </p:tgtEl>
                                        <p:attrNameLst>
                                          <p:attrName>ppt_y</p:attrName>
                                        </p:attrNameLst>
                                      </p:cBhvr>
                                      <p:tavLst>
                                        <p:tav tm="0">
                                          <p:val>
                                            <p:strVal val="#ppt_y-#ppt_h/2"/>
                                          </p:val>
                                        </p:tav>
                                        <p:tav tm="100000">
                                          <p:val>
                                            <p:strVal val="#ppt_y"/>
                                          </p:val>
                                        </p:tav>
                                      </p:tavLst>
                                    </p:anim>
                                    <p:anim calcmode="lin" valueType="num">
                                      <p:cBhvr>
                                        <p:cTn id="46" dur="2000" fill="hold"/>
                                        <p:tgtEl>
                                          <p:spTgt spid="276"/>
                                        </p:tgtEl>
                                        <p:attrNameLst>
                                          <p:attrName>ppt_w</p:attrName>
                                        </p:attrNameLst>
                                      </p:cBhvr>
                                      <p:tavLst>
                                        <p:tav tm="0">
                                          <p:val>
                                            <p:strVal val="#ppt_w"/>
                                          </p:val>
                                        </p:tav>
                                        <p:tav tm="100000">
                                          <p:val>
                                            <p:strVal val="#ppt_w"/>
                                          </p:val>
                                        </p:tav>
                                      </p:tavLst>
                                    </p:anim>
                                    <p:anim calcmode="lin" valueType="num">
                                      <p:cBhvr>
                                        <p:cTn id="47" dur="2000" fill="hold"/>
                                        <p:tgtEl>
                                          <p:spTgt spid="276"/>
                                        </p:tgtEl>
                                        <p:attrNameLst>
                                          <p:attrName>ppt_h</p:attrName>
                                        </p:attrNameLst>
                                      </p:cBhvr>
                                      <p:tavLst>
                                        <p:tav tm="0">
                                          <p:val>
                                            <p:fltVal val="0"/>
                                          </p:val>
                                        </p:tav>
                                        <p:tav tm="100000">
                                          <p:val>
                                            <p:strVal val="#ppt_h"/>
                                          </p:val>
                                        </p:tav>
                                      </p:tavLst>
                                    </p:anim>
                                  </p:childTnLst>
                                </p:cTn>
                              </p:par>
                            </p:childTnLst>
                          </p:cTn>
                        </p:par>
                        <p:par>
                          <p:cTn id="48" fill="hold">
                            <p:stCondLst>
                              <p:cond delay="7500"/>
                            </p:stCondLst>
                            <p:childTnLst>
                              <p:par>
                                <p:cTn id="49" presetID="17" presetClass="entr" presetSubtype="8" fill="hold" grpId="0" nodeType="afterEffect">
                                  <p:stCondLst>
                                    <p:cond delay="0"/>
                                  </p:stCondLst>
                                  <p:childTnLst>
                                    <p:set>
                                      <p:cBhvr>
                                        <p:cTn id="50" dur="1" fill="hold">
                                          <p:stCondLst>
                                            <p:cond delay="0"/>
                                          </p:stCondLst>
                                        </p:cTn>
                                        <p:tgtEl>
                                          <p:spTgt spid="275"/>
                                        </p:tgtEl>
                                        <p:attrNameLst>
                                          <p:attrName>style.visibility</p:attrName>
                                        </p:attrNameLst>
                                      </p:cBhvr>
                                      <p:to>
                                        <p:strVal val="visible"/>
                                      </p:to>
                                    </p:set>
                                    <p:anim calcmode="lin" valueType="num">
                                      <p:cBhvr>
                                        <p:cTn id="51" dur="2000" fill="hold"/>
                                        <p:tgtEl>
                                          <p:spTgt spid="275"/>
                                        </p:tgtEl>
                                        <p:attrNameLst>
                                          <p:attrName>ppt_x</p:attrName>
                                        </p:attrNameLst>
                                      </p:cBhvr>
                                      <p:tavLst>
                                        <p:tav tm="0">
                                          <p:val>
                                            <p:strVal val="#ppt_x-#ppt_w/2"/>
                                          </p:val>
                                        </p:tav>
                                        <p:tav tm="100000">
                                          <p:val>
                                            <p:strVal val="#ppt_x"/>
                                          </p:val>
                                        </p:tav>
                                      </p:tavLst>
                                    </p:anim>
                                    <p:anim calcmode="lin" valueType="num">
                                      <p:cBhvr>
                                        <p:cTn id="52" dur="2000" fill="hold"/>
                                        <p:tgtEl>
                                          <p:spTgt spid="275"/>
                                        </p:tgtEl>
                                        <p:attrNameLst>
                                          <p:attrName>ppt_y</p:attrName>
                                        </p:attrNameLst>
                                      </p:cBhvr>
                                      <p:tavLst>
                                        <p:tav tm="0">
                                          <p:val>
                                            <p:strVal val="#ppt_y"/>
                                          </p:val>
                                        </p:tav>
                                        <p:tav tm="100000">
                                          <p:val>
                                            <p:strVal val="#ppt_y"/>
                                          </p:val>
                                        </p:tav>
                                      </p:tavLst>
                                    </p:anim>
                                    <p:anim calcmode="lin" valueType="num">
                                      <p:cBhvr>
                                        <p:cTn id="53" dur="2000" fill="hold"/>
                                        <p:tgtEl>
                                          <p:spTgt spid="275"/>
                                        </p:tgtEl>
                                        <p:attrNameLst>
                                          <p:attrName>ppt_w</p:attrName>
                                        </p:attrNameLst>
                                      </p:cBhvr>
                                      <p:tavLst>
                                        <p:tav tm="0">
                                          <p:val>
                                            <p:fltVal val="0"/>
                                          </p:val>
                                        </p:tav>
                                        <p:tav tm="100000">
                                          <p:val>
                                            <p:strVal val="#ppt_w"/>
                                          </p:val>
                                        </p:tav>
                                      </p:tavLst>
                                    </p:anim>
                                    <p:anim calcmode="lin" valueType="num">
                                      <p:cBhvr>
                                        <p:cTn id="54" dur="2000" fill="hold"/>
                                        <p:tgtEl>
                                          <p:spTgt spid="27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233" grpId="0"/>
      <p:bldP spid="234" grpId="0"/>
      <p:bldP spid="268" grpId="0" animBg="1"/>
      <p:bldP spid="27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s-ES" dirty="0"/>
              <a:t>Cronogramas de lectura y escritura</a:t>
            </a:r>
          </a:p>
        </p:txBody>
      </p:sp>
      <p:sp>
        <p:nvSpPr>
          <p:cNvPr id="54276" name="Rectangle 3"/>
          <p:cNvSpPr>
            <a:spLocks noGrp="1" noChangeArrowheads="1"/>
          </p:cNvSpPr>
          <p:nvPr>
            <p:ph type="body" idx="1"/>
          </p:nvPr>
        </p:nvSpPr>
        <p:spPr>
          <a:xfrm>
            <a:off x="361390" y="1556792"/>
            <a:ext cx="8713788" cy="1462088"/>
          </a:xfrm>
        </p:spPr>
        <p:txBody>
          <a:bodyPr/>
          <a:lstStyle/>
          <a:p>
            <a:pPr>
              <a:lnSpc>
                <a:spcPct val="100000"/>
              </a:lnSpc>
            </a:pPr>
            <a:r>
              <a:rPr lang="es-ES" b="1" dirty="0">
                <a:solidFill>
                  <a:schemeClr val="bg1">
                    <a:lumMod val="65000"/>
                  </a:schemeClr>
                </a:solidFill>
              </a:rPr>
              <a:t>Activaci</a:t>
            </a:r>
            <a:r>
              <a:rPr lang="es-ES" altLang="ja-JP" b="1" dirty="0">
                <a:solidFill>
                  <a:schemeClr val="bg1">
                    <a:lumMod val="65000"/>
                  </a:schemeClr>
                </a:solidFill>
                <a:ea typeface="Geneva" pitchFamily="1" charset="-128"/>
              </a:rPr>
              <a:t>ón</a:t>
            </a:r>
            <a:endParaRPr lang="es-ES" b="1" dirty="0">
              <a:solidFill>
                <a:schemeClr val="bg1">
                  <a:lumMod val="65000"/>
                </a:schemeClr>
              </a:solidFill>
            </a:endParaRPr>
          </a:p>
          <a:p>
            <a:pPr lvl="1">
              <a:lnSpc>
                <a:spcPct val="100000"/>
              </a:lnSpc>
            </a:pPr>
            <a:r>
              <a:rPr lang="es-ES" sz="1800" dirty="0">
                <a:solidFill>
                  <a:schemeClr val="bg1">
                    <a:lumMod val="65000"/>
                  </a:schemeClr>
                </a:solidFill>
              </a:rPr>
              <a:t>Carga del registro de fila con el contenido del bus de direcciones a través de la activaci</a:t>
            </a:r>
            <a:r>
              <a:rPr lang="es-ES" altLang="ja-JP" sz="1800" dirty="0">
                <a:solidFill>
                  <a:schemeClr val="bg1">
                    <a:lumMod val="65000"/>
                  </a:schemeClr>
                </a:solidFill>
                <a:ea typeface="Geneva" pitchFamily="1" charset="-128"/>
              </a:rPr>
              <a:t>ón de la</a:t>
            </a:r>
            <a:r>
              <a:rPr lang="es-ES" sz="1800" dirty="0">
                <a:solidFill>
                  <a:schemeClr val="bg1">
                    <a:lumMod val="65000"/>
                  </a:schemeClr>
                </a:solidFill>
              </a:rPr>
              <a:t> señal /RAS (</a:t>
            </a:r>
            <a:r>
              <a:rPr lang="es-ES" sz="1800" i="1" dirty="0" err="1">
                <a:solidFill>
                  <a:schemeClr val="bg1">
                    <a:lumMod val="65000"/>
                  </a:schemeClr>
                </a:solidFill>
              </a:rPr>
              <a:t>Row</a:t>
            </a:r>
            <a:r>
              <a:rPr lang="es-ES" sz="1800" i="1" dirty="0">
                <a:solidFill>
                  <a:schemeClr val="bg1">
                    <a:lumMod val="65000"/>
                  </a:schemeClr>
                </a:solidFill>
              </a:rPr>
              <a:t> </a:t>
            </a:r>
            <a:r>
              <a:rPr lang="es-ES" sz="1800" i="1" dirty="0" err="1">
                <a:solidFill>
                  <a:schemeClr val="bg1">
                    <a:lumMod val="65000"/>
                  </a:schemeClr>
                </a:solidFill>
              </a:rPr>
              <a:t>Adress</a:t>
            </a:r>
            <a:r>
              <a:rPr lang="es-ES" sz="1800" i="1" dirty="0">
                <a:solidFill>
                  <a:schemeClr val="bg1">
                    <a:lumMod val="65000"/>
                  </a:schemeClr>
                </a:solidFill>
              </a:rPr>
              <a:t> </a:t>
            </a:r>
            <a:r>
              <a:rPr lang="es-ES" sz="1800" i="1" dirty="0" err="1">
                <a:solidFill>
                  <a:schemeClr val="bg1">
                    <a:lumMod val="65000"/>
                  </a:schemeClr>
                </a:solidFill>
              </a:rPr>
              <a:t>Strobe</a:t>
            </a:r>
            <a:r>
              <a:rPr lang="es-ES" sz="1800" dirty="0">
                <a:solidFill>
                  <a:schemeClr val="bg1">
                    <a:lumMod val="65000"/>
                  </a:schemeClr>
                </a:solidFill>
              </a:rPr>
              <a:t>). La fila seleccionada queda “abierta” y su contenido se lleva a los amplificadores</a:t>
            </a:r>
          </a:p>
          <a:p>
            <a:pPr lvl="1">
              <a:lnSpc>
                <a:spcPct val="100000"/>
              </a:lnSpc>
            </a:pPr>
            <a:r>
              <a:rPr lang="es-ES" sz="1800" dirty="0">
                <a:solidFill>
                  <a:schemeClr val="bg1">
                    <a:lumMod val="65000"/>
                  </a:schemeClr>
                </a:solidFill>
              </a:rPr>
              <a:t>Despu</a:t>
            </a:r>
            <a:r>
              <a:rPr lang="es-ES" altLang="ja-JP" sz="1800" dirty="0">
                <a:solidFill>
                  <a:schemeClr val="bg1">
                    <a:lumMod val="65000"/>
                  </a:schemeClr>
                </a:solidFill>
                <a:ea typeface="Geneva" pitchFamily="1" charset="-128"/>
              </a:rPr>
              <a:t>és de la activación, la fila completa queda retenida por los amplificadores, pudiéndose  acceder a diversas columnas repitiendo las operaciones de lectura o de escritura sobre la fila abierta</a:t>
            </a:r>
            <a:endParaRPr lang="es-ES" sz="1800" dirty="0">
              <a:solidFill>
                <a:schemeClr val="bg1">
                  <a:lumMod val="65000"/>
                </a:schemeClr>
              </a:solidFill>
            </a:endParaRPr>
          </a:p>
          <a:p>
            <a:pPr>
              <a:lnSpc>
                <a:spcPct val="100000"/>
              </a:lnSpc>
            </a:pPr>
            <a:r>
              <a:rPr lang="es-ES" b="1" dirty="0">
                <a:solidFill>
                  <a:schemeClr val="bg1">
                    <a:lumMod val="65000"/>
                  </a:schemeClr>
                </a:solidFill>
              </a:rPr>
              <a:t>Operaci</a:t>
            </a:r>
            <a:r>
              <a:rPr lang="es-ES" altLang="ja-JP" b="1" dirty="0">
                <a:solidFill>
                  <a:schemeClr val="bg1">
                    <a:lumMod val="65000"/>
                  </a:schemeClr>
                </a:solidFill>
                <a:ea typeface="Geneva" pitchFamily="1" charset="-128"/>
              </a:rPr>
              <a:t>ón: lectura o escritura</a:t>
            </a:r>
            <a:endParaRPr lang="es-ES" b="1" dirty="0">
              <a:solidFill>
                <a:schemeClr val="bg1">
                  <a:lumMod val="65000"/>
                </a:schemeClr>
              </a:solidFill>
            </a:endParaRPr>
          </a:p>
          <a:p>
            <a:pPr lvl="1">
              <a:lnSpc>
                <a:spcPct val="100000"/>
              </a:lnSpc>
            </a:pPr>
            <a:r>
              <a:rPr lang="es-ES" sz="1800" dirty="0">
                <a:solidFill>
                  <a:schemeClr val="bg1">
                    <a:lumMod val="65000"/>
                  </a:schemeClr>
                </a:solidFill>
              </a:rPr>
              <a:t>La señal /CAS (</a:t>
            </a:r>
            <a:r>
              <a:rPr lang="es-ES" sz="1800" i="1" dirty="0" err="1">
                <a:solidFill>
                  <a:schemeClr val="bg1">
                    <a:lumMod val="65000"/>
                  </a:schemeClr>
                </a:solidFill>
              </a:rPr>
              <a:t>Column</a:t>
            </a:r>
            <a:r>
              <a:rPr lang="es-ES" sz="1800" i="1" dirty="0">
                <a:solidFill>
                  <a:schemeClr val="bg1">
                    <a:lumMod val="65000"/>
                  </a:schemeClr>
                </a:solidFill>
              </a:rPr>
              <a:t> </a:t>
            </a:r>
            <a:r>
              <a:rPr lang="es-ES" sz="1800" i="1" dirty="0" err="1">
                <a:solidFill>
                  <a:schemeClr val="bg1">
                    <a:lumMod val="65000"/>
                  </a:schemeClr>
                </a:solidFill>
              </a:rPr>
              <a:t>Address</a:t>
            </a:r>
            <a:r>
              <a:rPr lang="es-ES" sz="1800" i="1" dirty="0">
                <a:solidFill>
                  <a:schemeClr val="bg1">
                    <a:lumMod val="65000"/>
                  </a:schemeClr>
                </a:solidFill>
              </a:rPr>
              <a:t> </a:t>
            </a:r>
            <a:r>
              <a:rPr lang="es-ES" sz="1800" i="1" dirty="0" err="1">
                <a:solidFill>
                  <a:schemeClr val="bg1">
                    <a:lumMod val="65000"/>
                  </a:schemeClr>
                </a:solidFill>
              </a:rPr>
              <a:t>Strobe</a:t>
            </a:r>
            <a:r>
              <a:rPr lang="es-ES" sz="1800" dirty="0">
                <a:solidFill>
                  <a:schemeClr val="bg1">
                    <a:lumMod val="65000"/>
                  </a:schemeClr>
                </a:solidFill>
              </a:rPr>
              <a:t>) carga el registro de columna con el contenido del bus de direcciones y la señal R/W* activa la lógica de E/S a la columna seleccionada. </a:t>
            </a:r>
          </a:p>
          <a:p>
            <a:pPr>
              <a:lnSpc>
                <a:spcPct val="100000"/>
              </a:lnSpc>
            </a:pPr>
            <a:r>
              <a:rPr lang="es-ES" b="1" dirty="0"/>
              <a:t>Prec</a:t>
            </a:r>
            <a:r>
              <a:rPr lang="es-ES" altLang="ja-JP" b="1" dirty="0">
                <a:ea typeface="Geneva" pitchFamily="1" charset="-128"/>
              </a:rPr>
              <a:t>arga</a:t>
            </a:r>
            <a:endParaRPr lang="es-ES" b="1" dirty="0"/>
          </a:p>
          <a:p>
            <a:pPr marL="819150" lvl="1">
              <a:lnSpc>
                <a:spcPct val="100000"/>
              </a:lnSpc>
            </a:pPr>
            <a:r>
              <a:rPr lang="es-ES" altLang="ja-JP" sz="1800" dirty="0">
                <a:ea typeface="Geneva" pitchFamily="1" charset="-128"/>
              </a:rPr>
              <a:t>La precarga libera (o cierra) la fila activa y los amplificadores quedan en reposo.  Prepara las líneas de bit para el siguiente acceso. Ya no se puede leer ni escribir sobre la fila hasta después de la próxima activación</a:t>
            </a:r>
          </a:p>
          <a:p>
            <a:pPr lvl="1">
              <a:lnSpc>
                <a:spcPct val="100000"/>
              </a:lnSpc>
            </a:pPr>
            <a:endParaRPr lang="es-ES" sz="1800" dirty="0"/>
          </a:p>
        </p:txBody>
      </p:sp>
      <p:sp>
        <p:nvSpPr>
          <p:cNvPr id="4" name="Rectangle 3">
            <a:extLst>
              <a:ext uri="{FF2B5EF4-FFF2-40B4-BE49-F238E27FC236}">
                <a16:creationId xmlns:a16="http://schemas.microsoft.com/office/drawing/2014/main" id="{99AECCB9-8A89-439B-9367-667EBB5EDA3C}"/>
              </a:ext>
            </a:extLst>
          </p:cNvPr>
          <p:cNvSpPr txBox="1">
            <a:spLocks noChangeArrowheads="1"/>
          </p:cNvSpPr>
          <p:nvPr/>
        </p:nvSpPr>
        <p:spPr>
          <a:xfrm>
            <a:off x="419571" y="981075"/>
            <a:ext cx="8640763" cy="503709"/>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marL="82550" indent="0">
              <a:buNone/>
            </a:pPr>
            <a:r>
              <a:rPr lang="es-ES" dirty="0">
                <a:solidFill>
                  <a:schemeClr val="accent1"/>
                </a:solidFill>
              </a:rPr>
              <a:t>Emisión de órdenes</a:t>
            </a:r>
          </a:p>
        </p:txBody>
      </p:sp>
      <p:sp>
        <p:nvSpPr>
          <p:cNvPr id="2" name="2 Marcador de número de diapositiva">
            <a:extLst>
              <a:ext uri="{FF2B5EF4-FFF2-40B4-BE49-F238E27FC236}">
                <a16:creationId xmlns:a16="http://schemas.microsoft.com/office/drawing/2014/main" id="{256090A0-FEA8-B07E-1D0C-0FE3F83E8B4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68</a:t>
            </a:fld>
            <a:endParaRPr lang="en-US" dirty="0"/>
          </a:p>
        </p:txBody>
      </p:sp>
    </p:spTree>
    <p:extLst>
      <p:ext uri="{BB962C8B-B14F-4D97-AF65-F5344CB8AC3E}">
        <p14:creationId xmlns:p14="http://schemas.microsoft.com/office/powerpoint/2010/main" val="150739308"/>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Rectangle 278"/>
          <p:cNvSpPr>
            <a:spLocks noChangeArrowheads="1"/>
          </p:cNvSpPr>
          <p:nvPr/>
        </p:nvSpPr>
        <p:spPr bwMode="ltGray">
          <a:xfrm>
            <a:off x="4572000" y="4582339"/>
            <a:ext cx="2943225" cy="609600"/>
          </a:xfrm>
          <a:prstGeom prst="rect">
            <a:avLst/>
          </a:prstGeom>
          <a:solidFill>
            <a:schemeClr val="accent1"/>
          </a:solidFill>
          <a:ln w="9525">
            <a:miter lim="800000"/>
            <a:headEnd/>
            <a:tailEnd/>
          </a:ln>
          <a:scene3d>
            <a:camera prst="legacyObliqueTopRight"/>
            <a:lightRig rig="legacyFlat3" dir="b"/>
          </a:scene3d>
          <a:sp3d extrusionH="1116000" prstMaterial="legacyMetal">
            <a:bevelT w="13500" h="13500" prst="angle"/>
            <a:bevelB w="13500" h="13500" prst="angle"/>
            <a:extrusionClr>
              <a:schemeClr val="accent1"/>
            </a:extrusionClr>
          </a:sp3d>
        </p:spPr>
        <p:txBody>
          <a:bodyPr wrap="none" lIns="0" tIns="0" rIns="0" bIns="0" anchor="ctr">
            <a:flatTx/>
          </a:bodyPr>
          <a:lstStyle/>
          <a:p>
            <a:r>
              <a:rPr lang="es-ES" dirty="0">
                <a:solidFill>
                  <a:schemeClr val="bg1">
                    <a:lumMod val="95000"/>
                  </a:schemeClr>
                </a:solidFill>
              </a:rPr>
              <a:t>Lógica de E/S</a:t>
            </a:r>
          </a:p>
        </p:txBody>
      </p:sp>
      <p:grpSp>
        <p:nvGrpSpPr>
          <p:cNvPr id="4" name="407 Grupo"/>
          <p:cNvGrpSpPr/>
          <p:nvPr/>
        </p:nvGrpSpPr>
        <p:grpSpPr>
          <a:xfrm>
            <a:off x="4283968" y="1279223"/>
            <a:ext cx="3643313" cy="3068811"/>
            <a:chOff x="4427984" y="1728341"/>
            <a:chExt cx="3643313" cy="3068811"/>
          </a:xfrm>
        </p:grpSpPr>
        <p:sp>
          <p:nvSpPr>
            <p:cNvPr id="409" name="Rectangle 209"/>
            <p:cNvSpPr>
              <a:spLocks noChangeArrowheads="1"/>
            </p:cNvSpPr>
            <p:nvPr/>
          </p:nvSpPr>
          <p:spPr bwMode="blackWhite">
            <a:xfrm>
              <a:off x="4427984" y="1728341"/>
              <a:ext cx="3643313" cy="1844675"/>
            </a:xfrm>
            <a:prstGeom prst="rect">
              <a:avLst/>
            </a:prstGeom>
            <a:solidFill>
              <a:schemeClr val="tx2">
                <a:lumMod val="20000"/>
                <a:lumOff val="80000"/>
              </a:schemeClr>
            </a:solidFill>
            <a:ln w="19050">
              <a:noFill/>
              <a:miter lim="800000"/>
              <a:headEnd/>
              <a:tailEnd/>
            </a:ln>
          </p:spPr>
          <p:txBody>
            <a:bodyPr wrap="none" lIns="0" tIns="0" rIns="0" bIns="0" anchor="ctr"/>
            <a:lstStyle/>
            <a:p>
              <a:endParaRPr lang="es-ES"/>
            </a:p>
          </p:txBody>
        </p:sp>
        <p:sp>
          <p:nvSpPr>
            <p:cNvPr id="410" name="Rectangle 225"/>
            <p:cNvSpPr>
              <a:spLocks noChangeArrowheads="1"/>
            </p:cNvSpPr>
            <p:nvPr/>
          </p:nvSpPr>
          <p:spPr bwMode="auto">
            <a:xfrm rot="16200000">
              <a:off x="4392000" y="2554703"/>
              <a:ext cx="792089" cy="380441"/>
            </a:xfrm>
            <a:prstGeom prst="rect">
              <a:avLst/>
            </a:prstGeom>
            <a:solidFill>
              <a:schemeClr val="tx2">
                <a:lumMod val="75000"/>
              </a:schemeClr>
            </a:solidFill>
            <a:ln w="12700">
              <a:solidFill>
                <a:schemeClr val="bg2"/>
              </a:solidFill>
              <a:miter lim="800000"/>
              <a:headEnd/>
              <a:tailEnd/>
            </a:ln>
          </p:spPr>
          <p:txBody>
            <a:bodyPr vert="horz" wrap="square" lIns="0" tIns="18000" rIns="0" bIns="18000" anchor="ctr">
              <a:noAutofit/>
            </a:bodyPr>
            <a:lstStyle/>
            <a:p>
              <a:pPr>
                <a:lnSpc>
                  <a:spcPts val="1000"/>
                </a:lnSpc>
              </a:pPr>
              <a:r>
                <a:rPr lang="es-ES" sz="1200" kern="1500" dirty="0">
                  <a:solidFill>
                    <a:schemeClr val="bg1"/>
                  </a:solidFill>
                </a:rPr>
                <a:t>Registro      de fila</a:t>
              </a:r>
            </a:p>
          </p:txBody>
        </p:sp>
        <p:grpSp>
          <p:nvGrpSpPr>
            <p:cNvPr id="7" name="67 Grupo"/>
            <p:cNvGrpSpPr/>
            <p:nvPr/>
          </p:nvGrpSpPr>
          <p:grpSpPr>
            <a:xfrm>
              <a:off x="4968000" y="1988840"/>
              <a:ext cx="2487613" cy="1006475"/>
              <a:chOff x="4732339" y="2571750"/>
              <a:chExt cx="2487613" cy="1006475"/>
            </a:xfrm>
          </p:grpSpPr>
          <p:sp>
            <p:nvSpPr>
              <p:cNvPr id="488" name="Line 213"/>
              <p:cNvSpPr>
                <a:spLocks noChangeShapeType="1"/>
              </p:cNvSpPr>
              <p:nvPr/>
            </p:nvSpPr>
            <p:spPr bwMode="auto">
              <a:xfrm>
                <a:off x="4732339" y="3578225"/>
                <a:ext cx="248761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grpSp>
            <p:nvGrpSpPr>
              <p:cNvPr id="10" name="54 Grupo"/>
              <p:cNvGrpSpPr/>
              <p:nvPr/>
            </p:nvGrpSpPr>
            <p:grpSpPr>
              <a:xfrm>
                <a:off x="4732339" y="3241675"/>
                <a:ext cx="2487613" cy="201613"/>
                <a:chOff x="4732339" y="3241675"/>
                <a:chExt cx="2487613" cy="201613"/>
              </a:xfrm>
            </p:grpSpPr>
            <p:sp>
              <p:nvSpPr>
                <p:cNvPr id="496" name="Line 212"/>
                <p:cNvSpPr>
                  <a:spLocks noChangeShapeType="1"/>
                </p:cNvSpPr>
                <p:nvPr/>
              </p:nvSpPr>
              <p:spPr bwMode="auto">
                <a:xfrm>
                  <a:off x="5176839" y="3241675"/>
                  <a:ext cx="204311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nvGrpSpPr>
              <p:cNvPr id="13" name="57 Grupo"/>
              <p:cNvGrpSpPr/>
              <p:nvPr/>
            </p:nvGrpSpPr>
            <p:grpSpPr>
              <a:xfrm>
                <a:off x="4732339" y="2906713"/>
                <a:ext cx="2487613" cy="401638"/>
                <a:chOff x="4732339" y="2906713"/>
                <a:chExt cx="2487613" cy="401638"/>
              </a:xfrm>
            </p:grpSpPr>
            <p:sp>
              <p:nvSpPr>
                <p:cNvPr id="494" name="Line 211"/>
                <p:cNvSpPr>
                  <a:spLocks noChangeShapeType="1"/>
                </p:cNvSpPr>
                <p:nvPr/>
              </p:nvSpPr>
              <p:spPr bwMode="auto">
                <a:xfrm>
                  <a:off x="5065714" y="2906713"/>
                  <a:ext cx="2154238"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5"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nvGrpSpPr>
              <p:cNvPr id="16" name="60 Grupo"/>
              <p:cNvGrpSpPr/>
              <p:nvPr/>
            </p:nvGrpSpPr>
            <p:grpSpPr>
              <a:xfrm>
                <a:off x="4732339" y="2571750"/>
                <a:ext cx="2487613" cy="604838"/>
                <a:chOff x="4732339" y="2571750"/>
                <a:chExt cx="2487613" cy="604838"/>
              </a:xfrm>
            </p:grpSpPr>
            <p:sp>
              <p:nvSpPr>
                <p:cNvPr id="492" name="Line 210"/>
                <p:cNvSpPr>
                  <a:spLocks noChangeShapeType="1"/>
                </p:cNvSpPr>
                <p:nvPr/>
              </p:nvSpPr>
              <p:spPr bwMode="auto">
                <a:xfrm>
                  <a:off x="4954589" y="2571750"/>
                  <a:ext cx="226536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49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tx2">
                      <a:lumMod val="60000"/>
                      <a:lumOff val="40000"/>
                    </a:schemeClr>
                  </a:solidFill>
                  <a:round/>
                  <a:headEnd/>
                  <a:tailEnd/>
                </a:ln>
              </p:spPr>
              <p:txBody>
                <a:bodyPr anchor="ctr">
                  <a:spAutoFit/>
                </a:bodyPr>
                <a:lstStyle/>
                <a:p>
                  <a:endParaRPr lang="es-ES"/>
                </a:p>
              </p:txBody>
            </p:sp>
          </p:grpSp>
        </p:grpSp>
        <p:grpSp>
          <p:nvGrpSpPr>
            <p:cNvPr id="19" name="67 Grupo"/>
            <p:cNvGrpSpPr/>
            <p:nvPr/>
          </p:nvGrpSpPr>
          <p:grpSpPr>
            <a:xfrm>
              <a:off x="5724128" y="2074291"/>
              <a:ext cx="2054225" cy="1230313"/>
              <a:chOff x="5510214" y="2705100"/>
              <a:chExt cx="2054225" cy="1230313"/>
            </a:xfrm>
          </p:grpSpPr>
          <p:sp>
            <p:nvSpPr>
              <p:cNvPr id="480" name="Line 214"/>
              <p:cNvSpPr>
                <a:spLocks noChangeShapeType="1"/>
              </p:cNvSpPr>
              <p:nvPr/>
            </p:nvSpPr>
            <p:spPr bwMode="auto">
              <a:xfrm flipH="1">
                <a:off x="55102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1" name="Line 215"/>
              <p:cNvSpPr>
                <a:spLocks noChangeShapeType="1"/>
              </p:cNvSpPr>
              <p:nvPr/>
            </p:nvSpPr>
            <p:spPr bwMode="auto">
              <a:xfrm flipH="1">
                <a:off x="57324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2" name="Line 216"/>
              <p:cNvSpPr>
                <a:spLocks noChangeShapeType="1"/>
              </p:cNvSpPr>
              <p:nvPr/>
            </p:nvSpPr>
            <p:spPr bwMode="auto">
              <a:xfrm flipH="1">
                <a:off x="611981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3" name="Line 217"/>
              <p:cNvSpPr>
                <a:spLocks noChangeShapeType="1"/>
              </p:cNvSpPr>
              <p:nvPr/>
            </p:nvSpPr>
            <p:spPr bwMode="auto">
              <a:xfrm flipH="1">
                <a:off x="6342064" y="2705100"/>
                <a:ext cx="0" cy="1209675"/>
              </a:xfrm>
              <a:prstGeom prst="line">
                <a:avLst/>
              </a:prstGeom>
              <a:noFill/>
              <a:ln w="28575">
                <a:solidFill>
                  <a:srgbClr val="FF3300"/>
                </a:solidFill>
                <a:round/>
                <a:headEnd/>
                <a:tailEnd/>
              </a:ln>
            </p:spPr>
            <p:txBody>
              <a:bodyPr anchor="ctr">
                <a:spAutoFit/>
              </a:bodyPr>
              <a:lstStyle/>
              <a:p>
                <a:endParaRPr lang="es-ES"/>
              </a:p>
            </p:txBody>
          </p:sp>
          <p:sp>
            <p:nvSpPr>
              <p:cNvPr id="484" name="Line 218"/>
              <p:cNvSpPr>
                <a:spLocks noChangeShapeType="1"/>
              </p:cNvSpPr>
              <p:nvPr/>
            </p:nvSpPr>
            <p:spPr bwMode="auto">
              <a:xfrm flipH="1">
                <a:off x="673100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485" name="Line 219"/>
              <p:cNvSpPr>
                <a:spLocks noChangeShapeType="1"/>
              </p:cNvSpPr>
              <p:nvPr/>
            </p:nvSpPr>
            <p:spPr bwMode="auto">
              <a:xfrm flipH="1">
                <a:off x="6953251" y="2716213"/>
                <a:ext cx="0" cy="1209675"/>
              </a:xfrm>
              <a:prstGeom prst="line">
                <a:avLst/>
              </a:prstGeom>
              <a:noFill/>
              <a:ln w="28575">
                <a:solidFill>
                  <a:srgbClr val="FF3300"/>
                </a:solidFill>
                <a:round/>
                <a:headEnd/>
                <a:tailEnd/>
              </a:ln>
            </p:spPr>
            <p:txBody>
              <a:bodyPr anchor="ctr">
                <a:spAutoFit/>
              </a:bodyPr>
              <a:lstStyle/>
              <a:p>
                <a:endParaRPr lang="es-ES"/>
              </a:p>
            </p:txBody>
          </p:sp>
          <p:sp>
            <p:nvSpPr>
              <p:cNvPr id="486" name="Line 220"/>
              <p:cNvSpPr>
                <a:spLocks noChangeShapeType="1"/>
              </p:cNvSpPr>
              <p:nvPr/>
            </p:nvSpPr>
            <p:spPr bwMode="auto">
              <a:xfrm flipH="1">
                <a:off x="7342189" y="2725738"/>
                <a:ext cx="0" cy="1209675"/>
              </a:xfrm>
              <a:prstGeom prst="line">
                <a:avLst/>
              </a:prstGeom>
              <a:noFill/>
              <a:ln w="28575">
                <a:solidFill>
                  <a:srgbClr val="FF3300"/>
                </a:solidFill>
                <a:round/>
                <a:headEnd/>
                <a:tailEnd/>
              </a:ln>
            </p:spPr>
            <p:txBody>
              <a:bodyPr anchor="ctr">
                <a:spAutoFit/>
              </a:bodyPr>
              <a:lstStyle/>
              <a:p>
                <a:endParaRPr lang="es-ES"/>
              </a:p>
            </p:txBody>
          </p:sp>
          <p:sp>
            <p:nvSpPr>
              <p:cNvPr id="487" name="Line 221"/>
              <p:cNvSpPr>
                <a:spLocks noChangeShapeType="1"/>
              </p:cNvSpPr>
              <p:nvPr/>
            </p:nvSpPr>
            <p:spPr bwMode="auto">
              <a:xfrm flipH="1">
                <a:off x="7564439" y="2725738"/>
                <a:ext cx="0" cy="1209675"/>
              </a:xfrm>
              <a:prstGeom prst="line">
                <a:avLst/>
              </a:prstGeom>
              <a:noFill/>
              <a:ln w="28575">
                <a:solidFill>
                  <a:srgbClr val="FF3300"/>
                </a:solidFill>
                <a:round/>
                <a:headEnd/>
                <a:tailEnd/>
              </a:ln>
            </p:spPr>
            <p:txBody>
              <a:bodyPr anchor="ctr">
                <a:spAutoFit/>
              </a:bodyPr>
              <a:lstStyle/>
              <a:p>
                <a:endParaRPr lang="es-ES"/>
              </a:p>
            </p:txBody>
          </p:sp>
        </p:grpSp>
        <p:grpSp>
          <p:nvGrpSpPr>
            <p:cNvPr id="22" name="76 Grupo"/>
            <p:cNvGrpSpPr/>
            <p:nvPr/>
          </p:nvGrpSpPr>
          <p:grpSpPr>
            <a:xfrm>
              <a:off x="5607893" y="3278559"/>
              <a:ext cx="2276475" cy="134938"/>
              <a:chOff x="5399089" y="3913188"/>
              <a:chExt cx="2276475" cy="134938"/>
            </a:xfrm>
          </p:grpSpPr>
          <p:sp>
            <p:nvSpPr>
              <p:cNvPr id="47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47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grpSp>
        <p:grpSp>
          <p:nvGrpSpPr>
            <p:cNvPr id="25" name="Group 266"/>
            <p:cNvGrpSpPr>
              <a:grpSpLocks/>
            </p:cNvGrpSpPr>
            <p:nvPr/>
          </p:nvGrpSpPr>
          <p:grpSpPr bwMode="auto">
            <a:xfrm>
              <a:off x="5724128" y="3411909"/>
              <a:ext cx="2054225" cy="1385243"/>
              <a:chOff x="2724" y="2704"/>
              <a:chExt cx="1678" cy="267"/>
            </a:xfrm>
          </p:grpSpPr>
          <p:sp>
            <p:nvSpPr>
              <p:cNvPr id="464" name="Line 267"/>
              <p:cNvSpPr>
                <a:spLocks noChangeShapeType="1"/>
              </p:cNvSpPr>
              <p:nvPr/>
            </p:nvSpPr>
            <p:spPr bwMode="auto">
              <a:xfrm flipH="1">
                <a:off x="272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5" name="Line 268"/>
              <p:cNvSpPr>
                <a:spLocks noChangeShapeType="1"/>
              </p:cNvSpPr>
              <p:nvPr/>
            </p:nvSpPr>
            <p:spPr bwMode="auto">
              <a:xfrm flipH="1">
                <a:off x="2905"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6" name="Line 269"/>
              <p:cNvSpPr>
                <a:spLocks noChangeShapeType="1"/>
              </p:cNvSpPr>
              <p:nvPr/>
            </p:nvSpPr>
            <p:spPr bwMode="auto">
              <a:xfrm flipH="1">
                <a:off x="322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7" name="Line 270"/>
              <p:cNvSpPr>
                <a:spLocks noChangeShapeType="1"/>
              </p:cNvSpPr>
              <p:nvPr/>
            </p:nvSpPr>
            <p:spPr bwMode="auto">
              <a:xfrm flipH="1">
                <a:off x="3404"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8" name="Line 271"/>
              <p:cNvSpPr>
                <a:spLocks noChangeShapeType="1"/>
              </p:cNvSpPr>
              <p:nvPr/>
            </p:nvSpPr>
            <p:spPr bwMode="auto">
              <a:xfrm flipH="1">
                <a:off x="372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69" name="Line 272"/>
              <p:cNvSpPr>
                <a:spLocks noChangeShapeType="1"/>
              </p:cNvSpPr>
              <p:nvPr/>
            </p:nvSpPr>
            <p:spPr bwMode="auto">
              <a:xfrm flipH="1">
                <a:off x="3903"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70" name="Line 273"/>
              <p:cNvSpPr>
                <a:spLocks noChangeShapeType="1"/>
              </p:cNvSpPr>
              <p:nvPr/>
            </p:nvSpPr>
            <p:spPr bwMode="auto">
              <a:xfrm flipH="1">
                <a:off x="4221"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sp>
            <p:nvSpPr>
              <p:cNvPr id="471" name="Line 274"/>
              <p:cNvSpPr>
                <a:spLocks noChangeShapeType="1"/>
              </p:cNvSpPr>
              <p:nvPr/>
            </p:nvSpPr>
            <p:spPr bwMode="auto">
              <a:xfrm flipH="1">
                <a:off x="4402" y="2704"/>
                <a:ext cx="0" cy="267"/>
              </a:xfrm>
              <a:prstGeom prst="line">
                <a:avLst/>
              </a:prstGeom>
              <a:noFill/>
              <a:ln w="28575">
                <a:solidFill>
                  <a:srgbClr val="00B050"/>
                </a:solidFill>
                <a:round/>
                <a:headEnd type="triangle" w="med" len="med"/>
                <a:tailEnd type="triangle" w="med" len="med"/>
              </a:ln>
            </p:spPr>
            <p:txBody>
              <a:bodyPr anchor="ctr">
                <a:spAutoFit/>
              </a:bodyPr>
              <a:lstStyle/>
              <a:p>
                <a:endParaRPr lang="es-ES"/>
              </a:p>
            </p:txBody>
          </p:sp>
        </p:grpSp>
        <p:grpSp>
          <p:nvGrpSpPr>
            <p:cNvPr id="28" name="78 Grupo"/>
            <p:cNvGrpSpPr/>
            <p:nvPr/>
          </p:nvGrpSpPr>
          <p:grpSpPr>
            <a:xfrm>
              <a:off x="5607893" y="1916832"/>
              <a:ext cx="2276475" cy="1208088"/>
              <a:chOff x="4772892" y="2564904"/>
              <a:chExt cx="2276475" cy="1208088"/>
            </a:xfrm>
            <a:solidFill>
              <a:schemeClr val="tx2">
                <a:lumMod val="60000"/>
                <a:lumOff val="40000"/>
              </a:schemeClr>
            </a:solidFill>
          </p:grpSpPr>
          <p:grpSp>
            <p:nvGrpSpPr>
              <p:cNvPr id="31" name="3 Grupo"/>
              <p:cNvGrpSpPr/>
              <p:nvPr/>
            </p:nvGrpSpPr>
            <p:grpSpPr>
              <a:xfrm>
                <a:off x="4772892" y="2564904"/>
                <a:ext cx="444500" cy="200025"/>
                <a:chOff x="5399089" y="2505075"/>
                <a:chExt cx="444500" cy="200025"/>
              </a:xfrm>
              <a:grpFill/>
            </p:grpSpPr>
            <p:sp>
              <p:nvSpPr>
                <p:cNvPr id="462"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63"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34" name="6 Grupo"/>
              <p:cNvGrpSpPr/>
              <p:nvPr/>
            </p:nvGrpSpPr>
            <p:grpSpPr>
              <a:xfrm>
                <a:off x="4772892" y="2899867"/>
                <a:ext cx="444500" cy="201613"/>
                <a:chOff x="5399089" y="2840038"/>
                <a:chExt cx="444500" cy="201613"/>
              </a:xfrm>
              <a:grpFill/>
            </p:grpSpPr>
            <p:sp>
              <p:nvSpPr>
                <p:cNvPr id="460"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61"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37" name="9 Grupo"/>
              <p:cNvGrpSpPr/>
              <p:nvPr/>
            </p:nvGrpSpPr>
            <p:grpSpPr>
              <a:xfrm>
                <a:off x="4772892" y="3236417"/>
                <a:ext cx="444500" cy="200025"/>
                <a:chOff x="5399089" y="3176588"/>
                <a:chExt cx="444500" cy="200025"/>
              </a:xfrm>
              <a:grpFill/>
            </p:grpSpPr>
            <p:sp>
              <p:nvSpPr>
                <p:cNvPr id="458"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59"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40" name="12 Grupo"/>
              <p:cNvGrpSpPr/>
              <p:nvPr/>
            </p:nvGrpSpPr>
            <p:grpSpPr>
              <a:xfrm>
                <a:off x="4772892" y="3571379"/>
                <a:ext cx="444500" cy="201613"/>
                <a:chOff x="5399089" y="3511550"/>
                <a:chExt cx="444500" cy="201613"/>
              </a:xfrm>
              <a:grpFill/>
            </p:grpSpPr>
            <p:sp>
              <p:nvSpPr>
                <p:cNvPr id="456"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57"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43" name="419 Grupo"/>
              <p:cNvGrpSpPr/>
              <p:nvPr/>
            </p:nvGrpSpPr>
            <p:grpSpPr>
              <a:xfrm>
                <a:off x="5384079" y="2564904"/>
                <a:ext cx="444500" cy="200025"/>
                <a:chOff x="6010276" y="2505075"/>
                <a:chExt cx="444500" cy="200025"/>
              </a:xfrm>
              <a:grpFill/>
            </p:grpSpPr>
            <p:sp>
              <p:nvSpPr>
                <p:cNvPr id="454"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55"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46" name="18 Grupo"/>
              <p:cNvGrpSpPr/>
              <p:nvPr/>
            </p:nvGrpSpPr>
            <p:grpSpPr>
              <a:xfrm>
                <a:off x="5384079" y="2899867"/>
                <a:ext cx="444500" cy="201613"/>
                <a:chOff x="6010276" y="2840038"/>
                <a:chExt cx="444500" cy="201613"/>
              </a:xfrm>
              <a:grpFill/>
            </p:grpSpPr>
            <p:sp>
              <p:nvSpPr>
                <p:cNvPr id="452"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53"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49" name="85 Grupo"/>
              <p:cNvGrpSpPr/>
              <p:nvPr/>
            </p:nvGrpSpPr>
            <p:grpSpPr>
              <a:xfrm>
                <a:off x="5384079" y="3236417"/>
                <a:ext cx="444500" cy="200025"/>
                <a:chOff x="6010276" y="3176588"/>
                <a:chExt cx="444500" cy="200025"/>
              </a:xfrm>
              <a:grpFill/>
            </p:grpSpPr>
            <p:sp>
              <p:nvSpPr>
                <p:cNvPr id="450"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51"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55" name="24 Grupo"/>
              <p:cNvGrpSpPr/>
              <p:nvPr/>
            </p:nvGrpSpPr>
            <p:grpSpPr>
              <a:xfrm>
                <a:off x="5384079" y="3571379"/>
                <a:ext cx="444500" cy="201613"/>
                <a:chOff x="6010276" y="3511550"/>
                <a:chExt cx="444500" cy="201613"/>
              </a:xfrm>
              <a:grpFill/>
            </p:grpSpPr>
            <p:sp>
              <p:nvSpPr>
                <p:cNvPr id="448"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9"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58" name="27 Grupo"/>
              <p:cNvGrpSpPr/>
              <p:nvPr/>
            </p:nvGrpSpPr>
            <p:grpSpPr>
              <a:xfrm>
                <a:off x="5995267" y="2564904"/>
                <a:ext cx="442913" cy="200025"/>
                <a:chOff x="6621464" y="2505075"/>
                <a:chExt cx="442913" cy="200025"/>
              </a:xfrm>
              <a:grpFill/>
            </p:grpSpPr>
            <p:sp>
              <p:nvSpPr>
                <p:cNvPr id="446"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47"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61" name="30 Grupo"/>
              <p:cNvGrpSpPr/>
              <p:nvPr/>
            </p:nvGrpSpPr>
            <p:grpSpPr>
              <a:xfrm>
                <a:off x="5995267" y="2899867"/>
                <a:ext cx="442913" cy="201613"/>
                <a:chOff x="6621464" y="2840038"/>
                <a:chExt cx="442913" cy="201613"/>
              </a:xfrm>
              <a:grpFill/>
            </p:grpSpPr>
            <p:sp>
              <p:nvSpPr>
                <p:cNvPr id="444"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5"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192" name="33 Grupo"/>
              <p:cNvGrpSpPr/>
              <p:nvPr/>
            </p:nvGrpSpPr>
            <p:grpSpPr>
              <a:xfrm>
                <a:off x="5995267" y="3236417"/>
                <a:ext cx="442913" cy="200025"/>
                <a:chOff x="6621464" y="3176588"/>
                <a:chExt cx="442913" cy="200025"/>
              </a:xfrm>
              <a:grpFill/>
            </p:grpSpPr>
            <p:sp>
              <p:nvSpPr>
                <p:cNvPr id="442"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443"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01" name="36 Grupo"/>
              <p:cNvGrpSpPr/>
              <p:nvPr/>
            </p:nvGrpSpPr>
            <p:grpSpPr>
              <a:xfrm>
                <a:off x="5995267" y="3571379"/>
                <a:ext cx="442913" cy="201613"/>
                <a:chOff x="6621464" y="3511550"/>
                <a:chExt cx="442913" cy="201613"/>
              </a:xfrm>
              <a:grpFill/>
            </p:grpSpPr>
            <p:sp>
              <p:nvSpPr>
                <p:cNvPr id="440"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441"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10" name="39 Grupo"/>
              <p:cNvGrpSpPr/>
              <p:nvPr/>
            </p:nvGrpSpPr>
            <p:grpSpPr>
              <a:xfrm>
                <a:off x="6604867" y="2564904"/>
                <a:ext cx="444500" cy="200025"/>
                <a:chOff x="7231064" y="2505075"/>
                <a:chExt cx="444500" cy="200025"/>
              </a:xfrm>
              <a:grpFill/>
            </p:grpSpPr>
            <p:sp>
              <p:nvSpPr>
                <p:cNvPr id="438"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39"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22" name="42 Grupo"/>
              <p:cNvGrpSpPr/>
              <p:nvPr/>
            </p:nvGrpSpPr>
            <p:grpSpPr>
              <a:xfrm>
                <a:off x="6604867" y="2899867"/>
                <a:ext cx="444500" cy="201613"/>
                <a:chOff x="7231064" y="2840038"/>
                <a:chExt cx="444500" cy="201613"/>
              </a:xfrm>
              <a:grpFill/>
            </p:grpSpPr>
            <p:sp>
              <p:nvSpPr>
                <p:cNvPr id="436"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37"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23" name="45 Grupo"/>
              <p:cNvGrpSpPr/>
              <p:nvPr/>
            </p:nvGrpSpPr>
            <p:grpSpPr>
              <a:xfrm>
                <a:off x="6604867" y="3236417"/>
                <a:ext cx="444500" cy="200025"/>
                <a:chOff x="7231064" y="3176588"/>
                <a:chExt cx="444500" cy="200025"/>
              </a:xfrm>
              <a:grpFill/>
            </p:grpSpPr>
            <p:sp>
              <p:nvSpPr>
                <p:cNvPr id="434"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35"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28" name="48 Grupo"/>
              <p:cNvGrpSpPr/>
              <p:nvPr/>
            </p:nvGrpSpPr>
            <p:grpSpPr>
              <a:xfrm>
                <a:off x="6604867" y="3571379"/>
                <a:ext cx="444500" cy="201613"/>
                <a:chOff x="7231064" y="3511550"/>
                <a:chExt cx="444500" cy="201613"/>
              </a:xfrm>
              <a:grpFill/>
            </p:grpSpPr>
            <p:sp>
              <p:nvSpPr>
                <p:cNvPr id="432"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33"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grpSp>
      <p:sp>
        <p:nvSpPr>
          <p:cNvPr id="52" name="Rectangle 209"/>
          <p:cNvSpPr>
            <a:spLocks noChangeArrowheads="1"/>
          </p:cNvSpPr>
          <p:nvPr/>
        </p:nvSpPr>
        <p:spPr bwMode="blackWhite">
          <a:xfrm>
            <a:off x="3592983" y="2170852"/>
            <a:ext cx="3643313" cy="1844675"/>
          </a:xfrm>
          <a:prstGeom prst="rect">
            <a:avLst/>
          </a:prstGeom>
          <a:solidFill>
            <a:schemeClr val="accent6">
              <a:lumMod val="20000"/>
              <a:lumOff val="80000"/>
            </a:schemeClr>
          </a:solidFill>
          <a:ln w="19050">
            <a:noFill/>
            <a:miter lim="800000"/>
            <a:headEnd/>
            <a:tailEnd/>
          </a:ln>
        </p:spPr>
        <p:txBody>
          <a:bodyPr wrap="none" lIns="0" tIns="0" rIns="0" bIns="0" anchor="ctr"/>
          <a:lstStyle/>
          <a:p>
            <a:endParaRPr lang="es-ES"/>
          </a:p>
        </p:txBody>
      </p:sp>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69</a:t>
            </a:fld>
            <a:endParaRPr lang="en-US" dirty="0"/>
          </a:p>
        </p:txBody>
      </p:sp>
      <p:sp>
        <p:nvSpPr>
          <p:cNvPr id="53" name="Rectangle 225"/>
          <p:cNvSpPr>
            <a:spLocks noChangeArrowheads="1"/>
          </p:cNvSpPr>
          <p:nvPr/>
        </p:nvSpPr>
        <p:spPr bwMode="auto">
          <a:xfrm rot="16200000">
            <a:off x="3528000" y="2997214"/>
            <a:ext cx="792089" cy="380441"/>
          </a:xfrm>
          <a:prstGeom prst="rect">
            <a:avLst/>
          </a:prstGeom>
          <a:solidFill>
            <a:schemeClr val="accent6">
              <a:lumMod val="75000"/>
            </a:schemeClr>
          </a:solidFill>
          <a:ln w="12700">
            <a:solidFill>
              <a:schemeClr val="bg2"/>
            </a:solidFill>
            <a:miter lim="800000"/>
            <a:headEnd/>
            <a:tailEnd/>
          </a:ln>
        </p:spPr>
        <p:txBody>
          <a:bodyPr vert="horz" wrap="square" lIns="0" tIns="18000" rIns="0" bIns="18000" anchor="ctr">
            <a:noAutofit/>
          </a:bodyPr>
          <a:lstStyle/>
          <a:p>
            <a:r>
              <a:rPr lang="es-ES" sz="1200" kern="1500" dirty="0">
                <a:solidFill>
                  <a:schemeClr val="bg1"/>
                </a:solidFill>
              </a:rPr>
              <a:t>Registro  de </a:t>
            </a:r>
            <a:r>
              <a:rPr lang="es-ES" sz="1200" b="1" kern="1500" dirty="0">
                <a:solidFill>
                  <a:schemeClr val="bg1"/>
                </a:solidFill>
              </a:rPr>
              <a:t>fila</a:t>
            </a:r>
          </a:p>
        </p:txBody>
      </p:sp>
      <p:grpSp>
        <p:nvGrpSpPr>
          <p:cNvPr id="230" name="63 Grupo"/>
          <p:cNvGrpSpPr/>
          <p:nvPr/>
        </p:nvGrpSpPr>
        <p:grpSpPr>
          <a:xfrm>
            <a:off x="4100611" y="2431351"/>
            <a:ext cx="2487613" cy="1006475"/>
            <a:chOff x="4732339" y="2571750"/>
            <a:chExt cx="2487613" cy="1006475"/>
          </a:xfrm>
        </p:grpSpPr>
        <p:sp>
          <p:nvSpPr>
            <p:cNvPr id="54" name="Line 213"/>
            <p:cNvSpPr>
              <a:spLocks noChangeShapeType="1"/>
            </p:cNvSpPr>
            <p:nvPr/>
          </p:nvSpPr>
          <p:spPr bwMode="auto">
            <a:xfrm>
              <a:off x="4732339" y="3578225"/>
              <a:ext cx="248761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grpSp>
          <p:nvGrpSpPr>
            <p:cNvPr id="231" name="54 Grupo"/>
            <p:cNvGrpSpPr/>
            <p:nvPr/>
          </p:nvGrpSpPr>
          <p:grpSpPr>
            <a:xfrm>
              <a:off x="4732339" y="3241675"/>
              <a:ext cx="2487613" cy="201613"/>
              <a:chOff x="4732339" y="3241675"/>
              <a:chExt cx="2487613" cy="201613"/>
            </a:xfrm>
          </p:grpSpPr>
          <p:sp>
            <p:nvSpPr>
              <p:cNvPr id="56" name="Line 212"/>
              <p:cNvSpPr>
                <a:spLocks noChangeShapeType="1"/>
              </p:cNvSpPr>
              <p:nvPr/>
            </p:nvSpPr>
            <p:spPr bwMode="auto">
              <a:xfrm>
                <a:off x="5176839" y="3241675"/>
                <a:ext cx="204311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57" name="Freeform 224"/>
              <p:cNvSpPr>
                <a:spLocks/>
              </p:cNvSpPr>
              <p:nvPr/>
            </p:nvSpPr>
            <p:spPr bwMode="auto">
              <a:xfrm>
                <a:off x="4732339" y="3241675"/>
                <a:ext cx="444500" cy="201613"/>
              </a:xfrm>
              <a:custGeom>
                <a:avLst/>
                <a:gdLst>
                  <a:gd name="T0" fmla="*/ 0 w 137"/>
                  <a:gd name="T1" fmla="*/ 85 h 136"/>
                  <a:gd name="T2" fmla="*/ 20397 w 137"/>
                  <a:gd name="T3" fmla="*/ 85 h 136"/>
                  <a:gd name="T4" fmla="*/ 20397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nvGrpSpPr>
            <p:cNvPr id="242" name="57 Grupo"/>
            <p:cNvGrpSpPr/>
            <p:nvPr/>
          </p:nvGrpSpPr>
          <p:grpSpPr>
            <a:xfrm>
              <a:off x="4732339" y="2906713"/>
              <a:ext cx="2487613" cy="401638"/>
              <a:chOff x="4732339" y="2906713"/>
              <a:chExt cx="2487613" cy="401638"/>
            </a:xfrm>
          </p:grpSpPr>
          <p:sp>
            <p:nvSpPr>
              <p:cNvPr id="59" name="Line 211"/>
              <p:cNvSpPr>
                <a:spLocks noChangeShapeType="1"/>
              </p:cNvSpPr>
              <p:nvPr/>
            </p:nvSpPr>
            <p:spPr bwMode="auto">
              <a:xfrm>
                <a:off x="5065714" y="2906713"/>
                <a:ext cx="2154238"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60" name="Freeform 226"/>
              <p:cNvSpPr>
                <a:spLocks/>
              </p:cNvSpPr>
              <p:nvPr/>
            </p:nvSpPr>
            <p:spPr bwMode="auto">
              <a:xfrm>
                <a:off x="4732339" y="2906713"/>
                <a:ext cx="333375" cy="401638"/>
              </a:xfrm>
              <a:custGeom>
                <a:avLst/>
                <a:gdLst>
                  <a:gd name="T0" fmla="*/ 0 w 137"/>
                  <a:gd name="T1" fmla="*/ 10492 h 136"/>
                  <a:gd name="T2" fmla="*/ 2725 w 137"/>
                  <a:gd name="T3" fmla="*/ 10492 h 136"/>
                  <a:gd name="T4" fmla="*/ 2725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nvGrpSpPr>
            <p:cNvPr id="247" name="60 Grupo"/>
            <p:cNvGrpSpPr/>
            <p:nvPr/>
          </p:nvGrpSpPr>
          <p:grpSpPr>
            <a:xfrm>
              <a:off x="4732339" y="2571750"/>
              <a:ext cx="2487613" cy="604838"/>
              <a:chOff x="4732339" y="2571750"/>
              <a:chExt cx="2487613" cy="604838"/>
            </a:xfrm>
          </p:grpSpPr>
          <p:sp>
            <p:nvSpPr>
              <p:cNvPr id="62" name="Line 210"/>
              <p:cNvSpPr>
                <a:spLocks noChangeShapeType="1"/>
              </p:cNvSpPr>
              <p:nvPr/>
            </p:nvSpPr>
            <p:spPr bwMode="auto">
              <a:xfrm>
                <a:off x="4954589" y="2571750"/>
                <a:ext cx="2265363" cy="0"/>
              </a:xfrm>
              <a:prstGeom prst="line">
                <a:avLst/>
              </a:prstGeom>
              <a:noFill/>
              <a:ln w="38100">
                <a:solidFill>
                  <a:schemeClr val="accent6">
                    <a:lumMod val="60000"/>
                    <a:lumOff val="40000"/>
                  </a:schemeClr>
                </a:solidFill>
                <a:round/>
                <a:headEnd/>
                <a:tailEnd/>
              </a:ln>
            </p:spPr>
            <p:txBody>
              <a:bodyPr anchor="ctr">
                <a:spAutoFit/>
              </a:bodyPr>
              <a:lstStyle/>
              <a:p>
                <a:endParaRPr lang="es-ES"/>
              </a:p>
            </p:txBody>
          </p:sp>
          <p:sp>
            <p:nvSpPr>
              <p:cNvPr id="63" name="Freeform 227"/>
              <p:cNvSpPr>
                <a:spLocks/>
              </p:cNvSpPr>
              <p:nvPr/>
            </p:nvSpPr>
            <p:spPr bwMode="auto">
              <a:xfrm>
                <a:off x="4732339" y="2571750"/>
                <a:ext cx="222250" cy="604838"/>
              </a:xfrm>
              <a:custGeom>
                <a:avLst/>
                <a:gdLst>
                  <a:gd name="T0" fmla="*/ 0 w 137"/>
                  <a:gd name="T1" fmla="*/ 184118 h 136"/>
                  <a:gd name="T2" fmla="*/ 158 w 137"/>
                  <a:gd name="T3" fmla="*/ 184118 h 136"/>
                  <a:gd name="T4" fmla="*/ 158 w 137"/>
                  <a:gd name="T5" fmla="*/ 0 h 136"/>
                  <a:gd name="T6" fmla="*/ 0 60000 65536"/>
                  <a:gd name="T7" fmla="*/ 0 60000 65536"/>
                  <a:gd name="T8" fmla="*/ 0 60000 65536"/>
                  <a:gd name="T9" fmla="*/ 0 w 137"/>
                  <a:gd name="T10" fmla="*/ 0 h 136"/>
                  <a:gd name="T11" fmla="*/ 137 w 137"/>
                  <a:gd name="T12" fmla="*/ 136 h 136"/>
                </a:gdLst>
                <a:ahLst/>
                <a:cxnLst>
                  <a:cxn ang="T6">
                    <a:pos x="T0" y="T1"/>
                  </a:cxn>
                  <a:cxn ang="T7">
                    <a:pos x="T2" y="T3"/>
                  </a:cxn>
                  <a:cxn ang="T8">
                    <a:pos x="T4" y="T5"/>
                  </a:cxn>
                </a:cxnLst>
                <a:rect l="T9" t="T10" r="T11" b="T12"/>
                <a:pathLst>
                  <a:path w="137" h="136">
                    <a:moveTo>
                      <a:pt x="0" y="136"/>
                    </a:moveTo>
                    <a:lnTo>
                      <a:pt x="137" y="136"/>
                    </a:lnTo>
                    <a:lnTo>
                      <a:pt x="137" y="0"/>
                    </a:lnTo>
                  </a:path>
                </a:pathLst>
              </a:custGeom>
              <a:noFill/>
              <a:ln w="38100">
                <a:solidFill>
                  <a:schemeClr val="accent6">
                    <a:lumMod val="60000"/>
                    <a:lumOff val="40000"/>
                  </a:schemeClr>
                </a:solidFill>
                <a:round/>
                <a:headEnd/>
                <a:tailEnd/>
              </a:ln>
            </p:spPr>
            <p:txBody>
              <a:bodyPr anchor="ctr">
                <a:spAutoFit/>
              </a:bodyPr>
              <a:lstStyle/>
              <a:p>
                <a:endParaRPr lang="es-ES"/>
              </a:p>
            </p:txBody>
          </p:sp>
        </p:grpSp>
      </p:grpSp>
      <p:grpSp>
        <p:nvGrpSpPr>
          <p:cNvPr id="248" name="191 Grupo"/>
          <p:cNvGrpSpPr/>
          <p:nvPr/>
        </p:nvGrpSpPr>
        <p:grpSpPr>
          <a:xfrm>
            <a:off x="4860032" y="2503359"/>
            <a:ext cx="2054225" cy="1230313"/>
            <a:chOff x="5510214" y="2705100"/>
            <a:chExt cx="2054225" cy="1230313"/>
          </a:xfrm>
        </p:grpSpPr>
        <p:sp>
          <p:nvSpPr>
            <p:cNvPr id="193" name="Line 214"/>
            <p:cNvSpPr>
              <a:spLocks noChangeShapeType="1"/>
            </p:cNvSpPr>
            <p:nvPr/>
          </p:nvSpPr>
          <p:spPr bwMode="auto">
            <a:xfrm flipH="1">
              <a:off x="551021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4" name="Line 215"/>
            <p:cNvSpPr>
              <a:spLocks noChangeShapeType="1"/>
            </p:cNvSpPr>
            <p:nvPr/>
          </p:nvSpPr>
          <p:spPr bwMode="auto">
            <a:xfrm flipH="1">
              <a:off x="573246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5" name="Line 216"/>
            <p:cNvSpPr>
              <a:spLocks noChangeShapeType="1"/>
            </p:cNvSpPr>
            <p:nvPr/>
          </p:nvSpPr>
          <p:spPr bwMode="auto">
            <a:xfrm flipH="1">
              <a:off x="611981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6" name="Line 217"/>
            <p:cNvSpPr>
              <a:spLocks noChangeShapeType="1"/>
            </p:cNvSpPr>
            <p:nvPr/>
          </p:nvSpPr>
          <p:spPr bwMode="auto">
            <a:xfrm flipH="1">
              <a:off x="6342064" y="2705100"/>
              <a:ext cx="0" cy="1209675"/>
            </a:xfrm>
            <a:prstGeom prst="line">
              <a:avLst/>
            </a:prstGeom>
            <a:noFill/>
            <a:ln w="28575">
              <a:solidFill>
                <a:srgbClr val="00B050"/>
              </a:solidFill>
              <a:round/>
              <a:headEnd/>
              <a:tailEnd/>
            </a:ln>
          </p:spPr>
          <p:txBody>
            <a:bodyPr anchor="ctr">
              <a:spAutoFit/>
            </a:bodyPr>
            <a:lstStyle/>
            <a:p>
              <a:endParaRPr lang="es-ES"/>
            </a:p>
          </p:txBody>
        </p:sp>
        <p:sp>
          <p:nvSpPr>
            <p:cNvPr id="197" name="Line 218"/>
            <p:cNvSpPr>
              <a:spLocks noChangeShapeType="1"/>
            </p:cNvSpPr>
            <p:nvPr/>
          </p:nvSpPr>
          <p:spPr bwMode="auto">
            <a:xfrm flipH="1">
              <a:off x="6731001" y="2716213"/>
              <a:ext cx="0" cy="1209675"/>
            </a:xfrm>
            <a:prstGeom prst="line">
              <a:avLst/>
            </a:prstGeom>
            <a:noFill/>
            <a:ln w="28575">
              <a:solidFill>
                <a:srgbClr val="00B050"/>
              </a:solidFill>
              <a:round/>
              <a:headEnd/>
              <a:tailEnd/>
            </a:ln>
          </p:spPr>
          <p:txBody>
            <a:bodyPr anchor="ctr">
              <a:spAutoFit/>
            </a:bodyPr>
            <a:lstStyle/>
            <a:p>
              <a:endParaRPr lang="es-ES"/>
            </a:p>
          </p:txBody>
        </p:sp>
        <p:sp>
          <p:nvSpPr>
            <p:cNvPr id="198" name="Line 219"/>
            <p:cNvSpPr>
              <a:spLocks noChangeShapeType="1"/>
            </p:cNvSpPr>
            <p:nvPr/>
          </p:nvSpPr>
          <p:spPr bwMode="auto">
            <a:xfrm flipH="1">
              <a:off x="6953251" y="2716213"/>
              <a:ext cx="0" cy="1209675"/>
            </a:xfrm>
            <a:prstGeom prst="line">
              <a:avLst/>
            </a:prstGeom>
            <a:noFill/>
            <a:ln w="28575">
              <a:solidFill>
                <a:srgbClr val="00B050"/>
              </a:solidFill>
              <a:round/>
              <a:headEnd/>
              <a:tailEnd/>
            </a:ln>
          </p:spPr>
          <p:txBody>
            <a:bodyPr anchor="ctr">
              <a:spAutoFit/>
            </a:bodyPr>
            <a:lstStyle/>
            <a:p>
              <a:endParaRPr lang="es-ES"/>
            </a:p>
          </p:txBody>
        </p:sp>
        <p:sp>
          <p:nvSpPr>
            <p:cNvPr id="199" name="Line 220"/>
            <p:cNvSpPr>
              <a:spLocks noChangeShapeType="1"/>
            </p:cNvSpPr>
            <p:nvPr/>
          </p:nvSpPr>
          <p:spPr bwMode="auto">
            <a:xfrm flipH="1">
              <a:off x="7342189" y="2725738"/>
              <a:ext cx="0" cy="1209675"/>
            </a:xfrm>
            <a:prstGeom prst="line">
              <a:avLst/>
            </a:prstGeom>
            <a:noFill/>
            <a:ln w="28575">
              <a:solidFill>
                <a:srgbClr val="00B050"/>
              </a:solidFill>
              <a:round/>
              <a:headEnd/>
              <a:tailEnd/>
            </a:ln>
          </p:spPr>
          <p:txBody>
            <a:bodyPr anchor="ctr">
              <a:spAutoFit/>
            </a:bodyPr>
            <a:lstStyle/>
            <a:p>
              <a:endParaRPr lang="es-ES"/>
            </a:p>
          </p:txBody>
        </p:sp>
        <p:sp>
          <p:nvSpPr>
            <p:cNvPr id="200" name="Line 221"/>
            <p:cNvSpPr>
              <a:spLocks noChangeShapeType="1"/>
            </p:cNvSpPr>
            <p:nvPr/>
          </p:nvSpPr>
          <p:spPr bwMode="auto">
            <a:xfrm flipH="1">
              <a:off x="7564439" y="2725738"/>
              <a:ext cx="0" cy="1209675"/>
            </a:xfrm>
            <a:prstGeom prst="line">
              <a:avLst/>
            </a:prstGeom>
            <a:noFill/>
            <a:ln w="28575">
              <a:solidFill>
                <a:srgbClr val="00B050"/>
              </a:solidFill>
              <a:round/>
              <a:headEnd/>
              <a:tailEnd/>
            </a:ln>
          </p:spPr>
          <p:txBody>
            <a:bodyPr anchor="ctr">
              <a:spAutoFit/>
            </a:bodyPr>
            <a:lstStyle/>
            <a:p>
              <a:endParaRPr lang="es-ES"/>
            </a:p>
          </p:txBody>
        </p:sp>
      </p:grpSp>
      <p:grpSp>
        <p:nvGrpSpPr>
          <p:cNvPr id="250" name="64 Grupo"/>
          <p:cNvGrpSpPr/>
          <p:nvPr/>
        </p:nvGrpSpPr>
        <p:grpSpPr>
          <a:xfrm>
            <a:off x="4772892" y="2359343"/>
            <a:ext cx="2276475" cy="1208088"/>
            <a:chOff x="4772892" y="2564904"/>
            <a:chExt cx="2276475" cy="1208088"/>
          </a:xfrm>
        </p:grpSpPr>
        <p:grpSp>
          <p:nvGrpSpPr>
            <p:cNvPr id="253" name="3 Grupo"/>
            <p:cNvGrpSpPr/>
            <p:nvPr/>
          </p:nvGrpSpPr>
          <p:grpSpPr>
            <a:xfrm>
              <a:off x="4772892" y="2564904"/>
              <a:ext cx="444500" cy="200025"/>
              <a:chOff x="5399089" y="2505075"/>
              <a:chExt cx="444500" cy="200025"/>
            </a:xfrm>
            <a:solidFill>
              <a:schemeClr val="accent6">
                <a:lumMod val="60000"/>
                <a:lumOff val="40000"/>
              </a:schemeClr>
            </a:solidFill>
          </p:grpSpPr>
          <p:sp>
            <p:nvSpPr>
              <p:cNvPr id="5" name="Rectangle 222"/>
              <p:cNvSpPr>
                <a:spLocks noChangeArrowheads="1"/>
              </p:cNvSpPr>
              <p:nvPr/>
            </p:nvSpPr>
            <p:spPr bwMode="auto">
              <a:xfrm>
                <a:off x="5399089"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6" name="Rectangle 228"/>
              <p:cNvSpPr>
                <a:spLocks noChangeArrowheads="1"/>
              </p:cNvSpPr>
              <p:nvPr/>
            </p:nvSpPr>
            <p:spPr bwMode="auto">
              <a:xfrm>
                <a:off x="5621339"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54" name="6 Grupo"/>
            <p:cNvGrpSpPr/>
            <p:nvPr/>
          </p:nvGrpSpPr>
          <p:grpSpPr>
            <a:xfrm>
              <a:off x="4772892" y="2899867"/>
              <a:ext cx="444500" cy="201613"/>
              <a:chOff x="5399089" y="2840038"/>
              <a:chExt cx="444500" cy="201613"/>
            </a:xfrm>
            <a:solidFill>
              <a:schemeClr val="accent6">
                <a:lumMod val="60000"/>
                <a:lumOff val="40000"/>
              </a:schemeClr>
            </a:solidFill>
          </p:grpSpPr>
          <p:sp>
            <p:nvSpPr>
              <p:cNvPr id="8" name="Rectangle 229"/>
              <p:cNvSpPr>
                <a:spLocks noChangeArrowheads="1"/>
              </p:cNvSpPr>
              <p:nvPr/>
            </p:nvSpPr>
            <p:spPr bwMode="auto">
              <a:xfrm>
                <a:off x="5399089"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9" name="Rectangle 230"/>
              <p:cNvSpPr>
                <a:spLocks noChangeArrowheads="1"/>
              </p:cNvSpPr>
              <p:nvPr/>
            </p:nvSpPr>
            <p:spPr bwMode="auto">
              <a:xfrm>
                <a:off x="5621339"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55" name="9 Grupo"/>
            <p:cNvGrpSpPr/>
            <p:nvPr/>
          </p:nvGrpSpPr>
          <p:grpSpPr>
            <a:xfrm>
              <a:off x="4772892" y="3236417"/>
              <a:ext cx="444500" cy="200025"/>
              <a:chOff x="5399089" y="3176588"/>
              <a:chExt cx="444500" cy="200025"/>
            </a:xfrm>
            <a:solidFill>
              <a:schemeClr val="accent6">
                <a:lumMod val="60000"/>
                <a:lumOff val="40000"/>
              </a:schemeClr>
            </a:solidFill>
          </p:grpSpPr>
          <p:sp>
            <p:nvSpPr>
              <p:cNvPr id="11" name="Rectangle 231"/>
              <p:cNvSpPr>
                <a:spLocks noChangeArrowheads="1"/>
              </p:cNvSpPr>
              <p:nvPr/>
            </p:nvSpPr>
            <p:spPr bwMode="auto">
              <a:xfrm>
                <a:off x="5399089"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12" name="Rectangle 232"/>
              <p:cNvSpPr>
                <a:spLocks noChangeArrowheads="1"/>
              </p:cNvSpPr>
              <p:nvPr/>
            </p:nvSpPr>
            <p:spPr bwMode="auto">
              <a:xfrm>
                <a:off x="5621339"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88" name="12 Grupo"/>
            <p:cNvGrpSpPr/>
            <p:nvPr/>
          </p:nvGrpSpPr>
          <p:grpSpPr>
            <a:xfrm>
              <a:off x="4772892" y="3571379"/>
              <a:ext cx="444500" cy="201613"/>
              <a:chOff x="5399089" y="3511550"/>
              <a:chExt cx="444500" cy="201613"/>
            </a:xfrm>
            <a:solidFill>
              <a:schemeClr val="accent6">
                <a:lumMod val="60000"/>
                <a:lumOff val="40000"/>
              </a:schemeClr>
            </a:solidFill>
          </p:grpSpPr>
          <p:sp>
            <p:nvSpPr>
              <p:cNvPr id="14" name="Rectangle 233"/>
              <p:cNvSpPr>
                <a:spLocks noChangeArrowheads="1"/>
              </p:cNvSpPr>
              <p:nvPr/>
            </p:nvSpPr>
            <p:spPr bwMode="auto">
              <a:xfrm>
                <a:off x="5399089"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15" name="Rectangle 234"/>
              <p:cNvSpPr>
                <a:spLocks noChangeArrowheads="1"/>
              </p:cNvSpPr>
              <p:nvPr/>
            </p:nvSpPr>
            <p:spPr bwMode="auto">
              <a:xfrm>
                <a:off x="5621339"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89" name="15 Grupo"/>
            <p:cNvGrpSpPr/>
            <p:nvPr/>
          </p:nvGrpSpPr>
          <p:grpSpPr>
            <a:xfrm>
              <a:off x="5384079" y="2564904"/>
              <a:ext cx="444500" cy="200025"/>
              <a:chOff x="6010276" y="2505075"/>
              <a:chExt cx="444500" cy="200025"/>
            </a:xfrm>
            <a:solidFill>
              <a:schemeClr val="accent6">
                <a:lumMod val="60000"/>
                <a:lumOff val="40000"/>
              </a:schemeClr>
            </a:solidFill>
          </p:grpSpPr>
          <p:sp>
            <p:nvSpPr>
              <p:cNvPr id="17" name="Rectangle 235"/>
              <p:cNvSpPr>
                <a:spLocks noChangeArrowheads="1"/>
              </p:cNvSpPr>
              <p:nvPr/>
            </p:nvSpPr>
            <p:spPr bwMode="auto">
              <a:xfrm>
                <a:off x="6010276"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18" name="Rectangle 236"/>
              <p:cNvSpPr>
                <a:spLocks noChangeArrowheads="1"/>
              </p:cNvSpPr>
              <p:nvPr/>
            </p:nvSpPr>
            <p:spPr bwMode="auto">
              <a:xfrm>
                <a:off x="6232526" y="2505075"/>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0" name="18 Grupo"/>
            <p:cNvGrpSpPr/>
            <p:nvPr/>
          </p:nvGrpSpPr>
          <p:grpSpPr>
            <a:xfrm>
              <a:off x="5384079" y="2899867"/>
              <a:ext cx="444500" cy="201613"/>
              <a:chOff x="6010276" y="2840038"/>
              <a:chExt cx="444500" cy="201613"/>
            </a:xfrm>
            <a:solidFill>
              <a:schemeClr val="accent6">
                <a:lumMod val="60000"/>
                <a:lumOff val="40000"/>
              </a:schemeClr>
            </a:solidFill>
          </p:grpSpPr>
          <p:sp>
            <p:nvSpPr>
              <p:cNvPr id="20" name="Rectangle 237"/>
              <p:cNvSpPr>
                <a:spLocks noChangeArrowheads="1"/>
              </p:cNvSpPr>
              <p:nvPr/>
            </p:nvSpPr>
            <p:spPr bwMode="auto">
              <a:xfrm>
                <a:off x="6010276"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21" name="Rectangle 238"/>
              <p:cNvSpPr>
                <a:spLocks noChangeArrowheads="1"/>
              </p:cNvSpPr>
              <p:nvPr/>
            </p:nvSpPr>
            <p:spPr bwMode="auto">
              <a:xfrm>
                <a:off x="6232526" y="2840038"/>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1" name="21 Grupo"/>
            <p:cNvGrpSpPr/>
            <p:nvPr/>
          </p:nvGrpSpPr>
          <p:grpSpPr>
            <a:xfrm>
              <a:off x="5384079" y="3236417"/>
              <a:ext cx="444500" cy="200025"/>
              <a:chOff x="6010276" y="3176588"/>
              <a:chExt cx="444500" cy="200025"/>
            </a:xfrm>
            <a:solidFill>
              <a:schemeClr val="accent6">
                <a:lumMod val="60000"/>
                <a:lumOff val="40000"/>
              </a:schemeClr>
            </a:solidFill>
          </p:grpSpPr>
          <p:sp>
            <p:nvSpPr>
              <p:cNvPr id="23" name="Rectangle 239"/>
              <p:cNvSpPr>
                <a:spLocks noChangeArrowheads="1"/>
              </p:cNvSpPr>
              <p:nvPr/>
            </p:nvSpPr>
            <p:spPr bwMode="auto">
              <a:xfrm>
                <a:off x="6010276"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24" name="Rectangle 240"/>
              <p:cNvSpPr>
                <a:spLocks noChangeArrowheads="1"/>
              </p:cNvSpPr>
              <p:nvPr/>
            </p:nvSpPr>
            <p:spPr bwMode="auto">
              <a:xfrm>
                <a:off x="6232526" y="3176588"/>
                <a:ext cx="222250"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2" name="24 Grupo"/>
            <p:cNvGrpSpPr/>
            <p:nvPr/>
          </p:nvGrpSpPr>
          <p:grpSpPr>
            <a:xfrm>
              <a:off x="5384079" y="3571379"/>
              <a:ext cx="444500" cy="201613"/>
              <a:chOff x="6010276" y="3511550"/>
              <a:chExt cx="444500" cy="201613"/>
            </a:xfrm>
            <a:solidFill>
              <a:schemeClr val="accent6">
                <a:lumMod val="60000"/>
                <a:lumOff val="40000"/>
              </a:schemeClr>
            </a:solidFill>
          </p:grpSpPr>
          <p:sp>
            <p:nvSpPr>
              <p:cNvPr id="26" name="Rectangle 241"/>
              <p:cNvSpPr>
                <a:spLocks noChangeArrowheads="1"/>
              </p:cNvSpPr>
              <p:nvPr/>
            </p:nvSpPr>
            <p:spPr bwMode="auto">
              <a:xfrm>
                <a:off x="6010276"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27" name="Rectangle 242"/>
              <p:cNvSpPr>
                <a:spLocks noChangeArrowheads="1"/>
              </p:cNvSpPr>
              <p:nvPr/>
            </p:nvSpPr>
            <p:spPr bwMode="auto">
              <a:xfrm>
                <a:off x="6232526" y="3511550"/>
                <a:ext cx="222250"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3" name="27 Grupo"/>
            <p:cNvGrpSpPr/>
            <p:nvPr/>
          </p:nvGrpSpPr>
          <p:grpSpPr>
            <a:xfrm>
              <a:off x="5995267" y="2564904"/>
              <a:ext cx="442913" cy="200025"/>
              <a:chOff x="6621464" y="2505075"/>
              <a:chExt cx="442913" cy="200025"/>
            </a:xfrm>
            <a:solidFill>
              <a:schemeClr val="accent6">
                <a:lumMod val="60000"/>
                <a:lumOff val="40000"/>
              </a:schemeClr>
            </a:solidFill>
          </p:grpSpPr>
          <p:sp>
            <p:nvSpPr>
              <p:cNvPr id="29" name="Rectangle 243"/>
              <p:cNvSpPr>
                <a:spLocks noChangeArrowheads="1"/>
              </p:cNvSpPr>
              <p:nvPr/>
            </p:nvSpPr>
            <p:spPr bwMode="auto">
              <a:xfrm>
                <a:off x="6621464" y="2505075"/>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30" name="Rectangle 244"/>
              <p:cNvSpPr>
                <a:spLocks noChangeArrowheads="1"/>
              </p:cNvSpPr>
              <p:nvPr/>
            </p:nvSpPr>
            <p:spPr bwMode="auto">
              <a:xfrm>
                <a:off x="6843714"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4" name="30 Grupo"/>
            <p:cNvGrpSpPr/>
            <p:nvPr/>
          </p:nvGrpSpPr>
          <p:grpSpPr>
            <a:xfrm>
              <a:off x="5995267" y="2899867"/>
              <a:ext cx="442913" cy="201613"/>
              <a:chOff x="6621464" y="2840038"/>
              <a:chExt cx="442913" cy="201613"/>
            </a:xfrm>
            <a:solidFill>
              <a:schemeClr val="accent6">
                <a:lumMod val="60000"/>
                <a:lumOff val="40000"/>
              </a:schemeClr>
            </a:solidFill>
          </p:grpSpPr>
          <p:sp>
            <p:nvSpPr>
              <p:cNvPr id="32" name="Rectangle 245"/>
              <p:cNvSpPr>
                <a:spLocks noChangeArrowheads="1"/>
              </p:cNvSpPr>
              <p:nvPr/>
            </p:nvSpPr>
            <p:spPr bwMode="auto">
              <a:xfrm>
                <a:off x="6621464" y="2840038"/>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33" name="Rectangle 246"/>
              <p:cNvSpPr>
                <a:spLocks noChangeArrowheads="1"/>
              </p:cNvSpPr>
              <p:nvPr/>
            </p:nvSpPr>
            <p:spPr bwMode="auto">
              <a:xfrm>
                <a:off x="6843714"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5" name="33 Grupo"/>
            <p:cNvGrpSpPr/>
            <p:nvPr/>
          </p:nvGrpSpPr>
          <p:grpSpPr>
            <a:xfrm>
              <a:off x="5995267" y="3236417"/>
              <a:ext cx="442913" cy="200025"/>
              <a:chOff x="6621464" y="3176588"/>
              <a:chExt cx="442913" cy="200025"/>
            </a:xfrm>
            <a:solidFill>
              <a:schemeClr val="accent6">
                <a:lumMod val="60000"/>
                <a:lumOff val="40000"/>
              </a:schemeClr>
            </a:solidFill>
          </p:grpSpPr>
          <p:sp>
            <p:nvSpPr>
              <p:cNvPr id="35" name="Rectangle 247"/>
              <p:cNvSpPr>
                <a:spLocks noChangeArrowheads="1"/>
              </p:cNvSpPr>
              <p:nvPr/>
            </p:nvSpPr>
            <p:spPr bwMode="auto">
              <a:xfrm>
                <a:off x="6621464" y="3176588"/>
                <a:ext cx="220663" cy="200025"/>
              </a:xfrm>
              <a:prstGeom prst="rect">
                <a:avLst/>
              </a:prstGeom>
              <a:grpFill/>
              <a:ln w="19050">
                <a:solidFill>
                  <a:schemeClr val="tx2"/>
                </a:solidFill>
                <a:miter lim="800000"/>
                <a:headEnd/>
                <a:tailEnd/>
              </a:ln>
            </p:spPr>
            <p:txBody>
              <a:bodyPr anchor="ctr">
                <a:spAutoFit/>
              </a:bodyPr>
              <a:lstStyle/>
              <a:p>
                <a:endParaRPr lang="es-ES"/>
              </a:p>
            </p:txBody>
          </p:sp>
          <p:sp>
            <p:nvSpPr>
              <p:cNvPr id="36" name="Rectangle 248"/>
              <p:cNvSpPr>
                <a:spLocks noChangeArrowheads="1"/>
              </p:cNvSpPr>
              <p:nvPr/>
            </p:nvSpPr>
            <p:spPr bwMode="auto">
              <a:xfrm>
                <a:off x="6843714"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6" name="36 Grupo"/>
            <p:cNvGrpSpPr/>
            <p:nvPr/>
          </p:nvGrpSpPr>
          <p:grpSpPr>
            <a:xfrm>
              <a:off x="5995267" y="3571379"/>
              <a:ext cx="442913" cy="201613"/>
              <a:chOff x="6621464" y="3511550"/>
              <a:chExt cx="442913" cy="201613"/>
            </a:xfrm>
            <a:solidFill>
              <a:schemeClr val="accent6">
                <a:lumMod val="60000"/>
                <a:lumOff val="40000"/>
              </a:schemeClr>
            </a:solidFill>
          </p:grpSpPr>
          <p:sp>
            <p:nvSpPr>
              <p:cNvPr id="38" name="Rectangle 249"/>
              <p:cNvSpPr>
                <a:spLocks noChangeArrowheads="1"/>
              </p:cNvSpPr>
              <p:nvPr/>
            </p:nvSpPr>
            <p:spPr bwMode="auto">
              <a:xfrm>
                <a:off x="6621464" y="3511550"/>
                <a:ext cx="220663" cy="201613"/>
              </a:xfrm>
              <a:prstGeom prst="rect">
                <a:avLst/>
              </a:prstGeom>
              <a:grpFill/>
              <a:ln w="19050">
                <a:solidFill>
                  <a:schemeClr val="tx2"/>
                </a:solidFill>
                <a:miter lim="800000"/>
                <a:headEnd/>
                <a:tailEnd/>
              </a:ln>
            </p:spPr>
            <p:txBody>
              <a:bodyPr anchor="ctr">
                <a:spAutoFit/>
              </a:bodyPr>
              <a:lstStyle/>
              <a:p>
                <a:endParaRPr lang="es-ES"/>
              </a:p>
            </p:txBody>
          </p:sp>
          <p:sp>
            <p:nvSpPr>
              <p:cNvPr id="39" name="Rectangle 250"/>
              <p:cNvSpPr>
                <a:spLocks noChangeArrowheads="1"/>
              </p:cNvSpPr>
              <p:nvPr/>
            </p:nvSpPr>
            <p:spPr bwMode="auto">
              <a:xfrm>
                <a:off x="6843714"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7" name="39 Grupo"/>
            <p:cNvGrpSpPr/>
            <p:nvPr/>
          </p:nvGrpSpPr>
          <p:grpSpPr>
            <a:xfrm>
              <a:off x="6604867" y="2564904"/>
              <a:ext cx="444500" cy="200025"/>
              <a:chOff x="7231064" y="2505075"/>
              <a:chExt cx="444500" cy="200025"/>
            </a:xfrm>
            <a:solidFill>
              <a:schemeClr val="accent6">
                <a:lumMod val="60000"/>
                <a:lumOff val="40000"/>
              </a:schemeClr>
            </a:solidFill>
          </p:grpSpPr>
          <p:sp>
            <p:nvSpPr>
              <p:cNvPr id="41" name="Rectangle 251"/>
              <p:cNvSpPr>
                <a:spLocks noChangeArrowheads="1"/>
              </p:cNvSpPr>
              <p:nvPr/>
            </p:nvSpPr>
            <p:spPr bwMode="auto">
              <a:xfrm>
                <a:off x="7231064" y="2505075"/>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2" name="Rectangle 252"/>
              <p:cNvSpPr>
                <a:spLocks noChangeArrowheads="1"/>
              </p:cNvSpPr>
              <p:nvPr/>
            </p:nvSpPr>
            <p:spPr bwMode="auto">
              <a:xfrm>
                <a:off x="7454901" y="2505075"/>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298" name="42 Grupo"/>
            <p:cNvGrpSpPr/>
            <p:nvPr/>
          </p:nvGrpSpPr>
          <p:grpSpPr>
            <a:xfrm>
              <a:off x="6604867" y="2899867"/>
              <a:ext cx="444500" cy="201613"/>
              <a:chOff x="7231064" y="2840038"/>
              <a:chExt cx="444500" cy="201613"/>
            </a:xfrm>
            <a:solidFill>
              <a:schemeClr val="accent6">
                <a:lumMod val="60000"/>
                <a:lumOff val="40000"/>
              </a:schemeClr>
            </a:solidFill>
          </p:grpSpPr>
          <p:sp>
            <p:nvSpPr>
              <p:cNvPr id="44" name="Rectangle 253"/>
              <p:cNvSpPr>
                <a:spLocks noChangeArrowheads="1"/>
              </p:cNvSpPr>
              <p:nvPr/>
            </p:nvSpPr>
            <p:spPr bwMode="auto">
              <a:xfrm>
                <a:off x="7231064" y="2840038"/>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45" name="Rectangle 254"/>
              <p:cNvSpPr>
                <a:spLocks noChangeArrowheads="1"/>
              </p:cNvSpPr>
              <p:nvPr/>
            </p:nvSpPr>
            <p:spPr bwMode="auto">
              <a:xfrm>
                <a:off x="7454901" y="2840038"/>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nvGrpSpPr>
            <p:cNvPr id="299" name="45 Grupo"/>
            <p:cNvGrpSpPr/>
            <p:nvPr/>
          </p:nvGrpSpPr>
          <p:grpSpPr>
            <a:xfrm>
              <a:off x="6604867" y="3236417"/>
              <a:ext cx="444500" cy="200025"/>
              <a:chOff x="7231064" y="3176588"/>
              <a:chExt cx="444500" cy="200025"/>
            </a:xfrm>
            <a:solidFill>
              <a:schemeClr val="accent6">
                <a:lumMod val="60000"/>
                <a:lumOff val="40000"/>
              </a:schemeClr>
            </a:solidFill>
          </p:grpSpPr>
          <p:sp>
            <p:nvSpPr>
              <p:cNvPr id="47" name="Rectangle 255"/>
              <p:cNvSpPr>
                <a:spLocks noChangeArrowheads="1"/>
              </p:cNvSpPr>
              <p:nvPr/>
            </p:nvSpPr>
            <p:spPr bwMode="auto">
              <a:xfrm>
                <a:off x="7231064" y="3176588"/>
                <a:ext cx="222250" cy="200025"/>
              </a:xfrm>
              <a:prstGeom prst="rect">
                <a:avLst/>
              </a:prstGeom>
              <a:grpFill/>
              <a:ln w="19050">
                <a:solidFill>
                  <a:schemeClr val="tx2"/>
                </a:solidFill>
                <a:miter lim="800000"/>
                <a:headEnd/>
                <a:tailEnd/>
              </a:ln>
            </p:spPr>
            <p:txBody>
              <a:bodyPr anchor="ctr">
                <a:spAutoFit/>
              </a:bodyPr>
              <a:lstStyle/>
              <a:p>
                <a:endParaRPr lang="es-ES"/>
              </a:p>
            </p:txBody>
          </p:sp>
          <p:sp>
            <p:nvSpPr>
              <p:cNvPr id="48" name="Rectangle 256"/>
              <p:cNvSpPr>
                <a:spLocks noChangeArrowheads="1"/>
              </p:cNvSpPr>
              <p:nvPr/>
            </p:nvSpPr>
            <p:spPr bwMode="auto">
              <a:xfrm>
                <a:off x="7454901" y="3176588"/>
                <a:ext cx="220663" cy="200025"/>
              </a:xfrm>
              <a:prstGeom prst="rect">
                <a:avLst/>
              </a:prstGeom>
              <a:grpFill/>
              <a:ln w="19050">
                <a:solidFill>
                  <a:schemeClr val="tx2"/>
                </a:solidFill>
                <a:miter lim="800000"/>
                <a:headEnd/>
                <a:tailEnd/>
              </a:ln>
            </p:spPr>
            <p:txBody>
              <a:bodyPr anchor="ctr">
                <a:spAutoFit/>
              </a:bodyPr>
              <a:lstStyle/>
              <a:p>
                <a:endParaRPr lang="es-ES"/>
              </a:p>
            </p:txBody>
          </p:sp>
        </p:grpSp>
        <p:grpSp>
          <p:nvGrpSpPr>
            <p:cNvPr id="300" name="48 Grupo"/>
            <p:cNvGrpSpPr/>
            <p:nvPr/>
          </p:nvGrpSpPr>
          <p:grpSpPr>
            <a:xfrm>
              <a:off x="6604867" y="3571379"/>
              <a:ext cx="444500" cy="201613"/>
              <a:chOff x="7231064" y="3511550"/>
              <a:chExt cx="444500" cy="201613"/>
            </a:xfrm>
            <a:solidFill>
              <a:schemeClr val="accent6">
                <a:lumMod val="60000"/>
                <a:lumOff val="40000"/>
              </a:schemeClr>
            </a:solidFill>
          </p:grpSpPr>
          <p:sp>
            <p:nvSpPr>
              <p:cNvPr id="50" name="Rectangle 257"/>
              <p:cNvSpPr>
                <a:spLocks noChangeArrowheads="1"/>
              </p:cNvSpPr>
              <p:nvPr/>
            </p:nvSpPr>
            <p:spPr bwMode="auto">
              <a:xfrm>
                <a:off x="7231064" y="3511550"/>
                <a:ext cx="222250" cy="201613"/>
              </a:xfrm>
              <a:prstGeom prst="rect">
                <a:avLst/>
              </a:prstGeom>
              <a:grpFill/>
              <a:ln w="19050">
                <a:solidFill>
                  <a:schemeClr val="tx2"/>
                </a:solidFill>
                <a:miter lim="800000"/>
                <a:headEnd/>
                <a:tailEnd/>
              </a:ln>
            </p:spPr>
            <p:txBody>
              <a:bodyPr anchor="ctr">
                <a:spAutoFit/>
              </a:bodyPr>
              <a:lstStyle/>
              <a:p>
                <a:endParaRPr lang="es-ES"/>
              </a:p>
            </p:txBody>
          </p:sp>
          <p:sp>
            <p:nvSpPr>
              <p:cNvPr id="51" name="Rectangle 258"/>
              <p:cNvSpPr>
                <a:spLocks noChangeArrowheads="1"/>
              </p:cNvSpPr>
              <p:nvPr/>
            </p:nvSpPr>
            <p:spPr bwMode="auto">
              <a:xfrm>
                <a:off x="7454901" y="3511550"/>
                <a:ext cx="220663" cy="201613"/>
              </a:xfrm>
              <a:prstGeom prst="rect">
                <a:avLst/>
              </a:prstGeom>
              <a:grpFill/>
              <a:ln w="19050">
                <a:solidFill>
                  <a:schemeClr val="tx2"/>
                </a:solidFill>
                <a:miter lim="800000"/>
                <a:headEnd/>
                <a:tailEnd/>
              </a:ln>
            </p:spPr>
            <p:txBody>
              <a:bodyPr anchor="ctr">
                <a:spAutoFit/>
              </a:bodyPr>
              <a:lstStyle/>
              <a:p>
                <a:endParaRPr lang="es-ES"/>
              </a:p>
            </p:txBody>
          </p:sp>
        </p:grpSp>
      </p:grpSp>
      <p:grpSp>
        <p:nvGrpSpPr>
          <p:cNvPr id="301" name="200 Grupo"/>
          <p:cNvGrpSpPr/>
          <p:nvPr/>
        </p:nvGrpSpPr>
        <p:grpSpPr>
          <a:xfrm>
            <a:off x="4743797" y="3707627"/>
            <a:ext cx="2276475" cy="134938"/>
            <a:chOff x="5399089" y="3913188"/>
            <a:chExt cx="2276475" cy="134938"/>
          </a:xfrm>
        </p:grpSpPr>
        <p:sp>
          <p:nvSpPr>
            <p:cNvPr id="202" name="Rectangle 223"/>
            <p:cNvSpPr>
              <a:spLocks noChangeArrowheads="1"/>
            </p:cNvSpPr>
            <p:nvPr/>
          </p:nvSpPr>
          <p:spPr bwMode="auto">
            <a:xfrm>
              <a:off x="539908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3" name="Rectangle 259"/>
            <p:cNvSpPr>
              <a:spLocks noChangeArrowheads="1"/>
            </p:cNvSpPr>
            <p:nvPr/>
          </p:nvSpPr>
          <p:spPr bwMode="auto">
            <a:xfrm>
              <a:off x="5621339"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4" name="Rectangle 260"/>
            <p:cNvSpPr>
              <a:spLocks noChangeArrowheads="1"/>
            </p:cNvSpPr>
            <p:nvPr/>
          </p:nvSpPr>
          <p:spPr bwMode="auto">
            <a:xfrm>
              <a:off x="6010276"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5" name="Rectangle 261"/>
            <p:cNvSpPr>
              <a:spLocks noChangeArrowheads="1"/>
            </p:cNvSpPr>
            <p:nvPr/>
          </p:nvSpPr>
          <p:spPr bwMode="auto">
            <a:xfrm>
              <a:off x="6232526"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6" name="Rectangle 262"/>
            <p:cNvSpPr>
              <a:spLocks noChangeArrowheads="1"/>
            </p:cNvSpPr>
            <p:nvPr/>
          </p:nvSpPr>
          <p:spPr bwMode="auto">
            <a:xfrm>
              <a:off x="662146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7" name="Rectangle 263"/>
            <p:cNvSpPr>
              <a:spLocks noChangeArrowheads="1"/>
            </p:cNvSpPr>
            <p:nvPr/>
          </p:nvSpPr>
          <p:spPr bwMode="auto">
            <a:xfrm>
              <a:off x="6843714"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8" name="Rectangle 264"/>
            <p:cNvSpPr>
              <a:spLocks noChangeArrowheads="1"/>
            </p:cNvSpPr>
            <p:nvPr/>
          </p:nvSpPr>
          <p:spPr bwMode="auto">
            <a:xfrm>
              <a:off x="7231064" y="3913188"/>
              <a:ext cx="222250"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sp>
          <p:nvSpPr>
            <p:cNvPr id="209" name="Rectangle 265"/>
            <p:cNvSpPr>
              <a:spLocks noChangeArrowheads="1"/>
            </p:cNvSpPr>
            <p:nvPr/>
          </p:nvSpPr>
          <p:spPr bwMode="auto">
            <a:xfrm>
              <a:off x="7454901" y="3913188"/>
              <a:ext cx="220663" cy="134938"/>
            </a:xfrm>
            <a:prstGeom prst="rect">
              <a:avLst/>
            </a:prstGeom>
            <a:solidFill>
              <a:srgbClr val="CCFFCC"/>
            </a:solidFill>
            <a:ln w="28575" algn="ctr">
              <a:solidFill>
                <a:srgbClr val="66FF33"/>
              </a:solidFill>
              <a:miter lim="800000"/>
              <a:headEnd/>
              <a:tailEnd/>
            </a:ln>
          </p:spPr>
          <p:txBody>
            <a:bodyPr anchor="ctr">
              <a:spAutoFit/>
            </a:bodyPr>
            <a:lstStyle/>
            <a:p>
              <a:endParaRPr lang="es-ES"/>
            </a:p>
          </p:txBody>
        </p:sp>
      </p:grpSp>
      <p:grpSp>
        <p:nvGrpSpPr>
          <p:cNvPr id="302" name="Group 266"/>
          <p:cNvGrpSpPr>
            <a:grpSpLocks/>
          </p:cNvGrpSpPr>
          <p:nvPr/>
        </p:nvGrpSpPr>
        <p:grpSpPr bwMode="auto">
          <a:xfrm>
            <a:off x="4860032" y="3840977"/>
            <a:ext cx="2054225" cy="665163"/>
            <a:chOff x="2724" y="2704"/>
            <a:chExt cx="1678" cy="267"/>
          </a:xfrm>
        </p:grpSpPr>
        <p:sp>
          <p:nvSpPr>
            <p:cNvPr id="211" name="Line 267"/>
            <p:cNvSpPr>
              <a:spLocks noChangeShapeType="1"/>
            </p:cNvSpPr>
            <p:nvPr/>
          </p:nvSpPr>
          <p:spPr bwMode="auto">
            <a:xfrm flipH="1">
              <a:off x="272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2" name="Line 268"/>
            <p:cNvSpPr>
              <a:spLocks noChangeShapeType="1"/>
            </p:cNvSpPr>
            <p:nvPr/>
          </p:nvSpPr>
          <p:spPr bwMode="auto">
            <a:xfrm flipH="1">
              <a:off x="2905"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3" name="Line 269"/>
            <p:cNvSpPr>
              <a:spLocks noChangeShapeType="1"/>
            </p:cNvSpPr>
            <p:nvPr/>
          </p:nvSpPr>
          <p:spPr bwMode="auto">
            <a:xfrm flipH="1">
              <a:off x="322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4" name="Line 270"/>
            <p:cNvSpPr>
              <a:spLocks noChangeShapeType="1"/>
            </p:cNvSpPr>
            <p:nvPr/>
          </p:nvSpPr>
          <p:spPr bwMode="auto">
            <a:xfrm flipH="1">
              <a:off x="3404"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5" name="Line 271"/>
            <p:cNvSpPr>
              <a:spLocks noChangeShapeType="1"/>
            </p:cNvSpPr>
            <p:nvPr/>
          </p:nvSpPr>
          <p:spPr bwMode="auto">
            <a:xfrm flipH="1">
              <a:off x="372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6" name="Line 272"/>
            <p:cNvSpPr>
              <a:spLocks noChangeShapeType="1"/>
            </p:cNvSpPr>
            <p:nvPr/>
          </p:nvSpPr>
          <p:spPr bwMode="auto">
            <a:xfrm flipH="1">
              <a:off x="3903"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7" name="Line 273"/>
            <p:cNvSpPr>
              <a:spLocks noChangeShapeType="1"/>
            </p:cNvSpPr>
            <p:nvPr/>
          </p:nvSpPr>
          <p:spPr bwMode="auto">
            <a:xfrm flipH="1">
              <a:off x="4221"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sp>
          <p:nvSpPr>
            <p:cNvPr id="218" name="Line 274"/>
            <p:cNvSpPr>
              <a:spLocks noChangeShapeType="1"/>
            </p:cNvSpPr>
            <p:nvPr/>
          </p:nvSpPr>
          <p:spPr bwMode="auto">
            <a:xfrm flipH="1">
              <a:off x="4402" y="2704"/>
              <a:ext cx="0" cy="267"/>
            </a:xfrm>
            <a:prstGeom prst="line">
              <a:avLst/>
            </a:prstGeom>
            <a:noFill/>
            <a:ln w="28575">
              <a:solidFill>
                <a:srgbClr val="00FF66"/>
              </a:solidFill>
              <a:round/>
              <a:headEnd type="triangle" w="med" len="med"/>
              <a:tailEnd type="triangle" w="med" len="med"/>
            </a:ln>
          </p:spPr>
          <p:txBody>
            <a:bodyPr anchor="ctr">
              <a:spAutoFit/>
            </a:bodyPr>
            <a:lstStyle/>
            <a:p>
              <a:endParaRPr lang="es-ES"/>
            </a:p>
          </p:txBody>
        </p:sp>
      </p:grpSp>
      <p:grpSp>
        <p:nvGrpSpPr>
          <p:cNvPr id="303" name="221 Grupo"/>
          <p:cNvGrpSpPr/>
          <p:nvPr/>
        </p:nvGrpSpPr>
        <p:grpSpPr>
          <a:xfrm>
            <a:off x="3635896" y="847175"/>
            <a:ext cx="595313" cy="1944032"/>
            <a:chOff x="3635896" y="1052736"/>
            <a:chExt cx="595313" cy="1944032"/>
          </a:xfrm>
        </p:grpSpPr>
        <p:sp>
          <p:nvSpPr>
            <p:cNvPr id="220" name="Text Box 145"/>
            <p:cNvSpPr txBox="1">
              <a:spLocks noChangeArrowheads="1"/>
            </p:cNvSpPr>
            <p:nvPr/>
          </p:nvSpPr>
          <p:spPr bwMode="auto">
            <a:xfrm>
              <a:off x="3635896" y="1052736"/>
              <a:ext cx="595313" cy="276999"/>
            </a:xfrm>
            <a:prstGeom prst="rect">
              <a:avLst/>
            </a:prstGeom>
            <a:noFill/>
            <a:ln w="12700">
              <a:noFill/>
              <a:miter lim="800000"/>
              <a:headEnd/>
              <a:tailEnd/>
            </a:ln>
          </p:spPr>
          <p:txBody>
            <a:bodyPr lIns="0" tIns="0" rIns="0" bIns="0">
              <a:spAutoFit/>
            </a:bodyPr>
            <a:lstStyle/>
            <a:p>
              <a:r>
                <a:rPr lang="es-ES" sz="1800" dirty="0"/>
                <a:t>RAS*</a:t>
              </a:r>
            </a:p>
          </p:txBody>
        </p:sp>
        <p:sp>
          <p:nvSpPr>
            <p:cNvPr id="221" name="Line 155"/>
            <p:cNvSpPr>
              <a:spLocks noChangeShapeType="1"/>
            </p:cNvSpPr>
            <p:nvPr/>
          </p:nvSpPr>
          <p:spPr bwMode="auto">
            <a:xfrm>
              <a:off x="3923928" y="1340768"/>
              <a:ext cx="0" cy="1656000"/>
            </a:xfrm>
            <a:prstGeom prst="line">
              <a:avLst/>
            </a:prstGeom>
            <a:noFill/>
            <a:ln w="15875">
              <a:solidFill>
                <a:srgbClr val="FFCC00"/>
              </a:solidFill>
              <a:round/>
              <a:headEnd/>
              <a:tailEnd type="triangle" w="med" len="med"/>
            </a:ln>
          </p:spPr>
          <p:txBody>
            <a:bodyPr anchor="ctr">
              <a:spAutoFit/>
            </a:bodyPr>
            <a:lstStyle/>
            <a:p>
              <a:endParaRPr lang="es-ES"/>
            </a:p>
          </p:txBody>
        </p:sp>
      </p:grpSp>
      <p:cxnSp>
        <p:nvCxnSpPr>
          <p:cNvPr id="314" name="313 Forma"/>
          <p:cNvCxnSpPr/>
          <p:nvPr/>
        </p:nvCxnSpPr>
        <p:spPr bwMode="auto">
          <a:xfrm>
            <a:off x="3923928" y="1594789"/>
            <a:ext cx="720101" cy="304972"/>
          </a:xfrm>
          <a:prstGeom prst="bentConnector2">
            <a:avLst/>
          </a:prstGeom>
          <a:ln w="15875">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304" name="222 Grupo"/>
          <p:cNvGrpSpPr/>
          <p:nvPr/>
        </p:nvGrpSpPr>
        <p:grpSpPr>
          <a:xfrm>
            <a:off x="7740352" y="3943519"/>
            <a:ext cx="760655" cy="1178936"/>
            <a:chOff x="7740352" y="4149080"/>
            <a:chExt cx="760655" cy="1178936"/>
          </a:xfrm>
        </p:grpSpPr>
        <p:sp>
          <p:nvSpPr>
            <p:cNvPr id="500" name="Freeform 288"/>
            <p:cNvSpPr>
              <a:spLocks/>
            </p:cNvSpPr>
            <p:nvPr/>
          </p:nvSpPr>
          <p:spPr bwMode="auto">
            <a:xfrm>
              <a:off x="7740352" y="4471988"/>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a:tailEnd type="triangle" w="med" len="med"/>
            </a:ln>
          </p:spPr>
          <p:txBody>
            <a:bodyPr anchor="ctr">
              <a:spAutoFit/>
            </a:bodyPr>
            <a:lstStyle/>
            <a:p>
              <a:endParaRPr lang="es-ES"/>
            </a:p>
          </p:txBody>
        </p:sp>
        <p:sp>
          <p:nvSpPr>
            <p:cNvPr id="501" name="Freeform 291"/>
            <p:cNvSpPr>
              <a:spLocks/>
            </p:cNvSpPr>
            <p:nvPr/>
          </p:nvSpPr>
          <p:spPr bwMode="auto">
            <a:xfrm flipV="1">
              <a:off x="7740352" y="4978400"/>
              <a:ext cx="720725" cy="288925"/>
            </a:xfrm>
            <a:custGeom>
              <a:avLst/>
              <a:gdLst>
                <a:gd name="T0" fmla="*/ 0 w 454"/>
                <a:gd name="T1" fmla="*/ 182 h 182"/>
                <a:gd name="T2" fmla="*/ 272 w 454"/>
                <a:gd name="T3" fmla="*/ 182 h 182"/>
                <a:gd name="T4" fmla="*/ 272 w 454"/>
                <a:gd name="T5" fmla="*/ 0 h 182"/>
                <a:gd name="T6" fmla="*/ 454 w 454"/>
                <a:gd name="T7" fmla="*/ 0 h 182"/>
                <a:gd name="T8" fmla="*/ 0 60000 65536"/>
                <a:gd name="T9" fmla="*/ 0 60000 65536"/>
                <a:gd name="T10" fmla="*/ 0 60000 65536"/>
                <a:gd name="T11" fmla="*/ 0 60000 65536"/>
                <a:gd name="T12" fmla="*/ 0 w 454"/>
                <a:gd name="T13" fmla="*/ 0 h 182"/>
                <a:gd name="T14" fmla="*/ 454 w 454"/>
                <a:gd name="T15" fmla="*/ 182 h 182"/>
              </a:gdLst>
              <a:ahLst/>
              <a:cxnLst>
                <a:cxn ang="T8">
                  <a:pos x="T0" y="T1"/>
                </a:cxn>
                <a:cxn ang="T9">
                  <a:pos x="T2" y="T3"/>
                </a:cxn>
                <a:cxn ang="T10">
                  <a:pos x="T4" y="T5"/>
                </a:cxn>
                <a:cxn ang="T11">
                  <a:pos x="T6" y="T7"/>
                </a:cxn>
              </a:cxnLst>
              <a:rect l="T12" t="T13" r="T14" b="T15"/>
              <a:pathLst>
                <a:path w="454" h="182">
                  <a:moveTo>
                    <a:pt x="0" y="182"/>
                  </a:moveTo>
                  <a:lnTo>
                    <a:pt x="272" y="182"/>
                  </a:lnTo>
                  <a:lnTo>
                    <a:pt x="272" y="0"/>
                  </a:lnTo>
                  <a:lnTo>
                    <a:pt x="454" y="0"/>
                  </a:lnTo>
                </a:path>
              </a:pathLst>
            </a:custGeom>
            <a:noFill/>
            <a:ln w="28575">
              <a:solidFill>
                <a:srgbClr val="66FF33"/>
              </a:solidFill>
              <a:round/>
              <a:headEnd type="triangle" w="med" len="med"/>
              <a:tailEnd/>
            </a:ln>
          </p:spPr>
          <p:txBody>
            <a:bodyPr anchor="ctr">
              <a:spAutoFit/>
            </a:bodyPr>
            <a:lstStyle/>
            <a:p>
              <a:endParaRPr lang="es-ES"/>
            </a:p>
          </p:txBody>
        </p:sp>
        <p:cxnSp>
          <p:nvCxnSpPr>
            <p:cNvPr id="502" name="501 Conector recto"/>
            <p:cNvCxnSpPr/>
            <p:nvPr/>
          </p:nvCxnSpPr>
          <p:spPr bwMode="auto">
            <a:xfrm flipH="1">
              <a:off x="8285756" y="5184000"/>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3" name="502 CuadroTexto"/>
            <p:cNvSpPr txBox="1"/>
            <p:nvPr/>
          </p:nvSpPr>
          <p:spPr>
            <a:xfrm>
              <a:off x="8168864" y="4941168"/>
              <a:ext cx="332143" cy="338554"/>
            </a:xfrm>
            <a:prstGeom prst="rect">
              <a:avLst/>
            </a:prstGeom>
            <a:noFill/>
          </p:spPr>
          <p:txBody>
            <a:bodyPr wrap="none" rtlCol="0">
              <a:spAutoFit/>
            </a:bodyPr>
            <a:lstStyle/>
            <a:p>
              <a:r>
                <a:rPr lang="es-ES" sz="1600" i="1" dirty="0"/>
                <a:t>w</a:t>
              </a:r>
            </a:p>
          </p:txBody>
        </p:sp>
        <p:cxnSp>
          <p:nvCxnSpPr>
            <p:cNvPr id="504" name="503 Conector recto"/>
            <p:cNvCxnSpPr/>
            <p:nvPr/>
          </p:nvCxnSpPr>
          <p:spPr bwMode="auto">
            <a:xfrm flipH="1">
              <a:off x="8214521" y="4391912"/>
              <a:ext cx="144016" cy="144016"/>
            </a:xfrm>
            <a:prstGeom prst="line">
              <a:avLst/>
            </a:prstGeom>
            <a:noFill/>
            <a:ln w="19050" cap="flat" cmpd="sng" algn="ctr">
              <a:solidFill>
                <a:srgbClr val="FFCC00"/>
              </a:solidFill>
              <a:prstDash val="solid"/>
              <a:round/>
              <a:headEnd type="none" w="med" len="med"/>
              <a:tailEnd type="none" w="med" len="med"/>
            </a:ln>
            <a:effectLst/>
          </p:spPr>
        </p:cxnSp>
        <p:sp>
          <p:nvSpPr>
            <p:cNvPr id="505" name="504 CuadroTexto"/>
            <p:cNvSpPr txBox="1"/>
            <p:nvPr/>
          </p:nvSpPr>
          <p:spPr>
            <a:xfrm>
              <a:off x="8097629" y="4149080"/>
              <a:ext cx="332143" cy="338554"/>
            </a:xfrm>
            <a:prstGeom prst="rect">
              <a:avLst/>
            </a:prstGeom>
            <a:noFill/>
          </p:spPr>
          <p:txBody>
            <a:bodyPr wrap="none" rtlCol="0">
              <a:spAutoFit/>
            </a:bodyPr>
            <a:lstStyle/>
            <a:p>
              <a:r>
                <a:rPr lang="es-ES" sz="1600" i="1" dirty="0"/>
                <a:t>w</a:t>
              </a:r>
            </a:p>
          </p:txBody>
        </p:sp>
      </p:grpSp>
      <p:grpSp>
        <p:nvGrpSpPr>
          <p:cNvPr id="305" name="506 Grupo"/>
          <p:cNvGrpSpPr/>
          <p:nvPr/>
        </p:nvGrpSpPr>
        <p:grpSpPr>
          <a:xfrm>
            <a:off x="3995936" y="5214974"/>
            <a:ext cx="3096344" cy="766546"/>
            <a:chOff x="4514851" y="5321300"/>
            <a:chExt cx="3527425" cy="936625"/>
          </a:xfrm>
        </p:grpSpPr>
        <p:sp>
          <p:nvSpPr>
            <p:cNvPr id="508" name="Line 296"/>
            <p:cNvSpPr>
              <a:spLocks noChangeShapeType="1"/>
            </p:cNvSpPr>
            <p:nvPr/>
          </p:nvSpPr>
          <p:spPr bwMode="auto">
            <a:xfrm flipV="1">
              <a:off x="5665789" y="5321300"/>
              <a:ext cx="0" cy="503238"/>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09" name="Line 297"/>
            <p:cNvSpPr>
              <a:spLocks noChangeShapeType="1"/>
            </p:cNvSpPr>
            <p:nvPr/>
          </p:nvSpPr>
          <p:spPr bwMode="auto">
            <a:xfrm flipV="1">
              <a:off x="6457951" y="5321300"/>
              <a:ext cx="0" cy="647700"/>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0" name="Line 298"/>
            <p:cNvSpPr>
              <a:spLocks noChangeShapeType="1"/>
            </p:cNvSpPr>
            <p:nvPr/>
          </p:nvSpPr>
          <p:spPr bwMode="auto">
            <a:xfrm flipV="1">
              <a:off x="7250114" y="5321300"/>
              <a:ext cx="0" cy="792163"/>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1" name="Line 299"/>
            <p:cNvSpPr>
              <a:spLocks noChangeShapeType="1"/>
            </p:cNvSpPr>
            <p:nvPr/>
          </p:nvSpPr>
          <p:spPr bwMode="auto">
            <a:xfrm flipV="1">
              <a:off x="8042276" y="5321300"/>
              <a:ext cx="0" cy="936625"/>
            </a:xfrm>
            <a:prstGeom prst="line">
              <a:avLst/>
            </a:prstGeom>
            <a:noFill/>
            <a:ln w="38100">
              <a:solidFill>
                <a:schemeClr val="tx2">
                  <a:lumMod val="60000"/>
                  <a:lumOff val="40000"/>
                </a:schemeClr>
              </a:solidFill>
              <a:round/>
              <a:headEnd/>
              <a:tailEnd type="triangle" w="med" len="med"/>
            </a:ln>
          </p:spPr>
          <p:txBody>
            <a:bodyPr anchor="ctr">
              <a:spAutoFit/>
            </a:bodyPr>
            <a:lstStyle/>
            <a:p>
              <a:endParaRPr lang="es-ES"/>
            </a:p>
          </p:txBody>
        </p:sp>
        <p:sp>
          <p:nvSpPr>
            <p:cNvPr id="512" name="Line 301"/>
            <p:cNvSpPr>
              <a:spLocks noChangeShapeType="1"/>
            </p:cNvSpPr>
            <p:nvPr/>
          </p:nvSpPr>
          <p:spPr bwMode="auto">
            <a:xfrm>
              <a:off x="4514851" y="5824538"/>
              <a:ext cx="1150938"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3" name="Line 302"/>
            <p:cNvSpPr>
              <a:spLocks noChangeShapeType="1"/>
            </p:cNvSpPr>
            <p:nvPr/>
          </p:nvSpPr>
          <p:spPr bwMode="auto">
            <a:xfrm>
              <a:off x="4514851" y="5969000"/>
              <a:ext cx="1943100"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4" name="Line 303"/>
            <p:cNvSpPr>
              <a:spLocks noChangeShapeType="1"/>
            </p:cNvSpPr>
            <p:nvPr/>
          </p:nvSpPr>
          <p:spPr bwMode="auto">
            <a:xfrm>
              <a:off x="4514851" y="6113463"/>
              <a:ext cx="2735263"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sp>
          <p:nvSpPr>
            <p:cNvPr id="515" name="Line 304"/>
            <p:cNvSpPr>
              <a:spLocks noChangeShapeType="1"/>
            </p:cNvSpPr>
            <p:nvPr/>
          </p:nvSpPr>
          <p:spPr bwMode="auto">
            <a:xfrm>
              <a:off x="4514851" y="6256338"/>
              <a:ext cx="3527425" cy="0"/>
            </a:xfrm>
            <a:prstGeom prst="line">
              <a:avLst/>
            </a:prstGeom>
            <a:noFill/>
            <a:ln w="38100">
              <a:solidFill>
                <a:schemeClr val="tx2">
                  <a:lumMod val="60000"/>
                  <a:lumOff val="40000"/>
                </a:schemeClr>
              </a:solidFill>
              <a:round/>
              <a:headEnd/>
              <a:tailEnd/>
            </a:ln>
          </p:spPr>
          <p:txBody>
            <a:bodyPr anchor="ctr">
              <a:spAutoFit/>
            </a:bodyPr>
            <a:lstStyle/>
            <a:p>
              <a:endParaRPr lang="es-ES"/>
            </a:p>
          </p:txBody>
        </p:sp>
      </p:grpSp>
      <p:sp>
        <p:nvSpPr>
          <p:cNvPr id="516" name="Rectangle 300"/>
          <p:cNvSpPr>
            <a:spLocks noChangeArrowheads="1"/>
          </p:cNvSpPr>
          <p:nvPr/>
        </p:nvSpPr>
        <p:spPr bwMode="auto">
          <a:xfrm>
            <a:off x="3667254" y="5329975"/>
            <a:ext cx="400690" cy="846386"/>
          </a:xfrm>
          <a:prstGeom prst="rect">
            <a:avLst/>
          </a:prstGeom>
          <a:solidFill>
            <a:schemeClr val="accent2">
              <a:lumMod val="50000"/>
            </a:schemeClr>
          </a:solidFill>
          <a:ln w="12700">
            <a:solidFill>
              <a:schemeClr val="bg2"/>
            </a:solidFill>
            <a:miter lim="800000"/>
            <a:headEnd/>
            <a:tailEnd/>
          </a:ln>
        </p:spPr>
        <p:txBody>
          <a:bodyPr vert="vert270" wrap="square" lIns="0" tIns="0" rIns="0" bIns="0" anchor="ctr">
            <a:noAutofit/>
          </a:bodyPr>
          <a:lstStyle/>
          <a:p>
            <a:r>
              <a:rPr lang="es-ES" sz="1200" dirty="0">
                <a:solidFill>
                  <a:schemeClr val="bg1"/>
                </a:solidFill>
              </a:rPr>
              <a:t>Registro de </a:t>
            </a:r>
            <a:r>
              <a:rPr lang="es-ES" sz="1200" b="1" dirty="0">
                <a:solidFill>
                  <a:schemeClr val="bg1"/>
                </a:solidFill>
              </a:rPr>
              <a:t>columna</a:t>
            </a:r>
          </a:p>
        </p:txBody>
      </p:sp>
      <p:grpSp>
        <p:nvGrpSpPr>
          <p:cNvPr id="306" name="230 Grupo"/>
          <p:cNvGrpSpPr/>
          <p:nvPr/>
        </p:nvGrpSpPr>
        <p:grpSpPr>
          <a:xfrm>
            <a:off x="3428992" y="986836"/>
            <a:ext cx="4523708" cy="3330198"/>
            <a:chOff x="3428992" y="986836"/>
            <a:chExt cx="4523708" cy="3330198"/>
          </a:xfrm>
        </p:grpSpPr>
        <p:sp>
          <p:nvSpPr>
            <p:cNvPr id="224" name="223 CuadroTexto"/>
            <p:cNvSpPr txBox="1"/>
            <p:nvPr/>
          </p:nvSpPr>
          <p:spPr>
            <a:xfrm>
              <a:off x="3428992" y="4009257"/>
              <a:ext cx="880370" cy="307777"/>
            </a:xfrm>
            <a:prstGeom prst="rect">
              <a:avLst/>
            </a:prstGeom>
            <a:noFill/>
          </p:spPr>
          <p:txBody>
            <a:bodyPr wrap="none" rtlCol="0">
              <a:spAutoFit/>
            </a:bodyPr>
            <a:lstStyle/>
            <a:p>
              <a:r>
                <a:rPr lang="es-ES" sz="1400" b="1" dirty="0">
                  <a:solidFill>
                    <a:schemeClr val="accent6">
                      <a:lumMod val="60000"/>
                      <a:lumOff val="40000"/>
                    </a:schemeClr>
                  </a:solidFill>
                </a:rPr>
                <a:t>Banco 0</a:t>
              </a:r>
            </a:p>
          </p:txBody>
        </p:sp>
        <p:sp>
          <p:nvSpPr>
            <p:cNvPr id="225" name="224 CuadroTexto"/>
            <p:cNvSpPr txBox="1"/>
            <p:nvPr/>
          </p:nvSpPr>
          <p:spPr>
            <a:xfrm>
              <a:off x="7072330" y="986836"/>
              <a:ext cx="880370" cy="307777"/>
            </a:xfrm>
            <a:prstGeom prst="rect">
              <a:avLst/>
            </a:prstGeom>
            <a:noFill/>
          </p:spPr>
          <p:txBody>
            <a:bodyPr wrap="none" rtlCol="0">
              <a:spAutoFit/>
            </a:bodyPr>
            <a:lstStyle/>
            <a:p>
              <a:r>
                <a:rPr lang="es-ES" sz="1400" b="1" dirty="0">
                  <a:solidFill>
                    <a:schemeClr val="tx2">
                      <a:lumMod val="60000"/>
                      <a:lumOff val="40000"/>
                    </a:schemeClr>
                  </a:solidFill>
                </a:rPr>
                <a:t>Banco 1</a:t>
              </a:r>
            </a:p>
          </p:txBody>
        </p:sp>
      </p:grpSp>
      <p:sp>
        <p:nvSpPr>
          <p:cNvPr id="226" name="225 CuadroTexto"/>
          <p:cNvSpPr txBox="1"/>
          <p:nvPr/>
        </p:nvSpPr>
        <p:spPr>
          <a:xfrm>
            <a:off x="7665710" y="3580629"/>
            <a:ext cx="1478290" cy="307777"/>
          </a:xfrm>
          <a:prstGeom prst="rect">
            <a:avLst/>
          </a:prstGeom>
          <a:noFill/>
        </p:spPr>
        <p:txBody>
          <a:bodyPr wrap="none" rtlCol="0">
            <a:spAutoFit/>
          </a:bodyPr>
          <a:lstStyle/>
          <a:p>
            <a:r>
              <a:rPr lang="es-ES" sz="1400" b="1" dirty="0">
                <a:solidFill>
                  <a:srgbClr val="00B050"/>
                </a:solidFill>
              </a:rPr>
              <a:t>Amplificadores</a:t>
            </a:r>
          </a:p>
        </p:txBody>
      </p:sp>
      <p:grpSp>
        <p:nvGrpSpPr>
          <p:cNvPr id="307" name="229 Grupo"/>
          <p:cNvGrpSpPr/>
          <p:nvPr/>
        </p:nvGrpSpPr>
        <p:grpSpPr>
          <a:xfrm>
            <a:off x="3571868" y="6176361"/>
            <a:ext cx="595313" cy="610225"/>
            <a:chOff x="3571868" y="6176361"/>
            <a:chExt cx="595313" cy="610225"/>
          </a:xfrm>
        </p:grpSpPr>
        <p:sp>
          <p:nvSpPr>
            <p:cNvPr id="227" name="Text Box 145"/>
            <p:cNvSpPr txBox="1">
              <a:spLocks noChangeArrowheads="1"/>
            </p:cNvSpPr>
            <p:nvPr/>
          </p:nvSpPr>
          <p:spPr bwMode="auto">
            <a:xfrm>
              <a:off x="3571868" y="6509587"/>
              <a:ext cx="595313" cy="276999"/>
            </a:xfrm>
            <a:prstGeom prst="rect">
              <a:avLst/>
            </a:prstGeom>
            <a:noFill/>
            <a:ln w="12700">
              <a:noFill/>
              <a:miter lim="800000"/>
              <a:headEnd/>
              <a:tailEnd/>
            </a:ln>
          </p:spPr>
          <p:txBody>
            <a:bodyPr lIns="0" tIns="0" rIns="0" bIns="0">
              <a:spAutoFit/>
            </a:bodyPr>
            <a:lstStyle/>
            <a:p>
              <a:r>
                <a:rPr lang="es-ES" sz="1800" dirty="0"/>
                <a:t>CAS*</a:t>
              </a:r>
            </a:p>
          </p:txBody>
        </p:sp>
        <p:cxnSp>
          <p:nvCxnSpPr>
            <p:cNvPr id="229" name="228 Conector recto de flecha"/>
            <p:cNvCxnSpPr>
              <a:stCxn id="227" idx="0"/>
              <a:endCxn id="516" idx="2"/>
            </p:cNvCxnSpPr>
            <p:nvPr/>
          </p:nvCxnSpPr>
          <p:spPr bwMode="auto">
            <a:xfrm rot="16200000" flipV="1">
              <a:off x="3701949" y="6342011"/>
              <a:ext cx="333226" cy="1926"/>
            </a:xfrm>
            <a:prstGeom prst="straightConnector1">
              <a:avLst/>
            </a:prstGeom>
            <a:ln w="22225">
              <a:solidFill>
                <a:schemeClr val="accent2">
                  <a:lumMod val="60000"/>
                  <a:lumOff val="4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grpSp>
      <p:sp>
        <p:nvSpPr>
          <p:cNvPr id="232" name="231 CuadroTexto"/>
          <p:cNvSpPr txBox="1"/>
          <p:nvPr/>
        </p:nvSpPr>
        <p:spPr>
          <a:xfrm>
            <a:off x="2071670" y="2928934"/>
            <a:ext cx="582211" cy="369332"/>
          </a:xfrm>
          <a:prstGeom prst="rect">
            <a:avLst/>
          </a:prstGeom>
          <a:noFill/>
        </p:spPr>
        <p:txBody>
          <a:bodyPr wrap="none" rtlCol="0">
            <a:spAutoFit/>
          </a:bodyPr>
          <a:lstStyle/>
          <a:p>
            <a:r>
              <a:rPr lang="es-ES" sz="1800" b="1" dirty="0">
                <a:solidFill>
                  <a:schemeClr val="tx1">
                    <a:lumMod val="65000"/>
                    <a:lumOff val="35000"/>
                  </a:schemeClr>
                </a:solidFill>
              </a:rPr>
              <a:t>Fila</a:t>
            </a:r>
          </a:p>
        </p:txBody>
      </p:sp>
      <p:sp>
        <p:nvSpPr>
          <p:cNvPr id="233" name="232 CuadroTexto"/>
          <p:cNvSpPr txBox="1"/>
          <p:nvPr/>
        </p:nvSpPr>
        <p:spPr>
          <a:xfrm>
            <a:off x="2681881" y="4631304"/>
            <a:ext cx="889987" cy="369332"/>
          </a:xfrm>
          <a:prstGeom prst="rect">
            <a:avLst/>
          </a:prstGeom>
          <a:noFill/>
        </p:spPr>
        <p:txBody>
          <a:bodyPr wrap="none" rtlCol="0">
            <a:spAutoFit/>
          </a:bodyPr>
          <a:lstStyle/>
          <a:p>
            <a:r>
              <a:rPr lang="es-ES" sz="1800" b="1" dirty="0">
                <a:solidFill>
                  <a:schemeClr val="tx1">
                    <a:lumMod val="65000"/>
                    <a:lumOff val="35000"/>
                  </a:schemeClr>
                </a:solidFill>
              </a:rPr>
              <a:t>Banco</a:t>
            </a:r>
          </a:p>
        </p:txBody>
      </p:sp>
      <p:sp>
        <p:nvSpPr>
          <p:cNvPr id="234" name="233 CuadroTexto"/>
          <p:cNvSpPr txBox="1"/>
          <p:nvPr/>
        </p:nvSpPr>
        <p:spPr>
          <a:xfrm>
            <a:off x="1571604" y="5559998"/>
            <a:ext cx="1172116" cy="369332"/>
          </a:xfrm>
          <a:prstGeom prst="rect">
            <a:avLst/>
          </a:prstGeom>
          <a:noFill/>
        </p:spPr>
        <p:txBody>
          <a:bodyPr wrap="none" rtlCol="0">
            <a:spAutoFit/>
          </a:bodyPr>
          <a:lstStyle/>
          <a:p>
            <a:r>
              <a:rPr lang="es-ES" sz="1800" b="1" dirty="0">
                <a:solidFill>
                  <a:schemeClr val="tx1">
                    <a:lumMod val="65000"/>
                    <a:lumOff val="35000"/>
                  </a:schemeClr>
                </a:solidFill>
              </a:rPr>
              <a:t>Columna</a:t>
            </a:r>
          </a:p>
        </p:txBody>
      </p:sp>
      <p:cxnSp>
        <p:nvCxnSpPr>
          <p:cNvPr id="256" name="255 Conector recto de flecha"/>
          <p:cNvCxnSpPr/>
          <p:nvPr/>
        </p:nvCxnSpPr>
        <p:spPr bwMode="auto">
          <a:xfrm>
            <a:off x="2707772" y="3151431"/>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cxnSp>
        <p:nvCxnSpPr>
          <p:cNvPr id="257" name="256 Conector recto de flecha"/>
          <p:cNvCxnSpPr/>
          <p:nvPr/>
        </p:nvCxnSpPr>
        <p:spPr bwMode="auto">
          <a:xfrm>
            <a:off x="3707904" y="4856172"/>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cxnSp>
        <p:nvCxnSpPr>
          <p:cNvPr id="258" name="257 Conector recto de flecha"/>
          <p:cNvCxnSpPr/>
          <p:nvPr/>
        </p:nvCxnSpPr>
        <p:spPr bwMode="auto">
          <a:xfrm>
            <a:off x="2786050" y="5715016"/>
            <a:ext cx="864096" cy="1588"/>
          </a:xfrm>
          <a:prstGeom prst="straightConnector1">
            <a:avLst/>
          </a:prstGeom>
          <a:noFill/>
          <a:ln w="50800" cap="flat" cmpd="sng" algn="ctr">
            <a:solidFill>
              <a:schemeClr val="bg1">
                <a:lumMod val="65000"/>
              </a:schemeClr>
            </a:solidFill>
            <a:prstDash val="solid"/>
            <a:round/>
            <a:headEnd type="none" w="med" len="med"/>
            <a:tailEnd type="arrow"/>
          </a:ln>
          <a:effectLst/>
        </p:spPr>
      </p:cxnSp>
      <p:grpSp>
        <p:nvGrpSpPr>
          <p:cNvPr id="259" name="258 Grupo"/>
          <p:cNvGrpSpPr/>
          <p:nvPr/>
        </p:nvGrpSpPr>
        <p:grpSpPr>
          <a:xfrm>
            <a:off x="4761528" y="3722690"/>
            <a:ext cx="2276475" cy="134938"/>
            <a:chOff x="5399089" y="3913188"/>
            <a:chExt cx="2276475" cy="134938"/>
          </a:xfrm>
          <a:solidFill>
            <a:srgbClr val="FF0000"/>
          </a:solidFill>
        </p:grpSpPr>
        <p:sp>
          <p:nvSpPr>
            <p:cNvPr id="260" name="Rectangle 223"/>
            <p:cNvSpPr>
              <a:spLocks noChangeArrowheads="1"/>
            </p:cNvSpPr>
            <p:nvPr/>
          </p:nvSpPr>
          <p:spPr bwMode="auto">
            <a:xfrm>
              <a:off x="5399089"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1" name="Rectangle 259"/>
            <p:cNvSpPr>
              <a:spLocks noChangeArrowheads="1"/>
            </p:cNvSpPr>
            <p:nvPr/>
          </p:nvSpPr>
          <p:spPr bwMode="auto">
            <a:xfrm>
              <a:off x="5621339"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2" name="Rectangle 260"/>
            <p:cNvSpPr>
              <a:spLocks noChangeArrowheads="1"/>
            </p:cNvSpPr>
            <p:nvPr/>
          </p:nvSpPr>
          <p:spPr bwMode="auto">
            <a:xfrm>
              <a:off x="6010276"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3" name="Rectangle 261"/>
            <p:cNvSpPr>
              <a:spLocks noChangeArrowheads="1"/>
            </p:cNvSpPr>
            <p:nvPr/>
          </p:nvSpPr>
          <p:spPr bwMode="auto">
            <a:xfrm>
              <a:off x="6232526"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4" name="Rectangle 262"/>
            <p:cNvSpPr>
              <a:spLocks noChangeArrowheads="1"/>
            </p:cNvSpPr>
            <p:nvPr/>
          </p:nvSpPr>
          <p:spPr bwMode="auto">
            <a:xfrm>
              <a:off x="6621464"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5" name="Rectangle 263"/>
            <p:cNvSpPr>
              <a:spLocks noChangeArrowheads="1"/>
            </p:cNvSpPr>
            <p:nvPr/>
          </p:nvSpPr>
          <p:spPr bwMode="auto">
            <a:xfrm>
              <a:off x="6843714"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6" name="Rectangle 264"/>
            <p:cNvSpPr>
              <a:spLocks noChangeArrowheads="1"/>
            </p:cNvSpPr>
            <p:nvPr/>
          </p:nvSpPr>
          <p:spPr bwMode="auto">
            <a:xfrm>
              <a:off x="7231064" y="3913188"/>
              <a:ext cx="222250" cy="134938"/>
            </a:xfrm>
            <a:prstGeom prst="rect">
              <a:avLst/>
            </a:prstGeom>
            <a:grpFill/>
            <a:ln w="28575" algn="ctr">
              <a:solidFill>
                <a:srgbClr val="00FF66"/>
              </a:solidFill>
              <a:miter lim="800000"/>
              <a:headEnd/>
              <a:tailEnd/>
            </a:ln>
          </p:spPr>
          <p:txBody>
            <a:bodyPr anchor="ctr">
              <a:spAutoFit/>
            </a:bodyPr>
            <a:lstStyle/>
            <a:p>
              <a:endParaRPr lang="es-ES"/>
            </a:p>
          </p:txBody>
        </p:sp>
        <p:sp>
          <p:nvSpPr>
            <p:cNvPr id="267" name="Rectangle 265"/>
            <p:cNvSpPr>
              <a:spLocks noChangeArrowheads="1"/>
            </p:cNvSpPr>
            <p:nvPr/>
          </p:nvSpPr>
          <p:spPr bwMode="auto">
            <a:xfrm>
              <a:off x="7454901" y="3913188"/>
              <a:ext cx="220663" cy="134938"/>
            </a:xfrm>
            <a:prstGeom prst="rect">
              <a:avLst/>
            </a:prstGeom>
            <a:grpFill/>
            <a:ln w="28575" algn="ctr">
              <a:solidFill>
                <a:srgbClr val="00FF66"/>
              </a:solidFill>
              <a:miter lim="800000"/>
              <a:headEnd/>
              <a:tailEnd/>
            </a:ln>
          </p:spPr>
          <p:txBody>
            <a:bodyPr anchor="ctr">
              <a:spAutoFit/>
            </a:bodyPr>
            <a:lstStyle/>
            <a:p>
              <a:endParaRPr lang="es-ES"/>
            </a:p>
          </p:txBody>
        </p:sp>
      </p:grpSp>
      <p:cxnSp>
        <p:nvCxnSpPr>
          <p:cNvPr id="268" name="267 Conector recto de flecha"/>
          <p:cNvCxnSpPr/>
          <p:nvPr/>
        </p:nvCxnSpPr>
        <p:spPr bwMode="auto">
          <a:xfrm>
            <a:off x="3707904" y="4856172"/>
            <a:ext cx="864096" cy="1588"/>
          </a:xfrm>
          <a:prstGeom prst="straightConnector1">
            <a:avLst/>
          </a:prstGeom>
          <a:noFill/>
          <a:ln w="82550" cap="flat" cmpd="sng" algn="ctr">
            <a:solidFill>
              <a:srgbClr val="FF0000"/>
            </a:solidFill>
            <a:prstDash val="solid"/>
            <a:round/>
            <a:headEnd type="none" w="med" len="med"/>
            <a:tailEnd type="arrow"/>
          </a:ln>
          <a:effectLst/>
        </p:spPr>
      </p:cxnSp>
      <p:sp>
        <p:nvSpPr>
          <p:cNvPr id="269" name="268 CuadroTexto"/>
          <p:cNvSpPr txBox="1"/>
          <p:nvPr/>
        </p:nvSpPr>
        <p:spPr>
          <a:xfrm>
            <a:off x="906678" y="1124744"/>
            <a:ext cx="2153154" cy="461665"/>
          </a:xfrm>
          <a:prstGeom prst="rect">
            <a:avLst/>
          </a:prstGeom>
          <a:solidFill>
            <a:schemeClr val="bg2">
              <a:lumMod val="25000"/>
            </a:schemeClr>
          </a:solidFill>
        </p:spPr>
        <p:txBody>
          <a:bodyPr wrap="none" rtlCol="0">
            <a:spAutoFit/>
          </a:bodyPr>
          <a:lstStyle/>
          <a:p>
            <a:r>
              <a:rPr lang="es-ES" sz="2400" b="1" dirty="0">
                <a:solidFill>
                  <a:schemeClr val="bg1">
                    <a:lumMod val="95000"/>
                  </a:schemeClr>
                </a:solidFill>
              </a:rPr>
              <a:t>PRECHARGE</a:t>
            </a:r>
          </a:p>
        </p:txBody>
      </p:sp>
      <p:sp>
        <p:nvSpPr>
          <p:cNvPr id="235" name="234 CuadroTexto"/>
          <p:cNvSpPr txBox="1"/>
          <p:nvPr/>
        </p:nvSpPr>
        <p:spPr>
          <a:xfrm>
            <a:off x="899592" y="1683708"/>
            <a:ext cx="1088760" cy="1034129"/>
          </a:xfrm>
          <a:prstGeom prst="rect">
            <a:avLst/>
          </a:prstGeom>
          <a:noFill/>
        </p:spPr>
        <p:txBody>
          <a:bodyPr wrap="none" rtlCol="0">
            <a:spAutoFit/>
          </a:bodyPr>
          <a:lstStyle/>
          <a:p>
            <a:pPr algn="l"/>
            <a:r>
              <a:rPr lang="es-ES" sz="1800" b="1" dirty="0">
                <a:solidFill>
                  <a:schemeClr val="tx1">
                    <a:lumMod val="65000"/>
                    <a:lumOff val="35000"/>
                  </a:schemeClr>
                </a:solidFill>
              </a:rPr>
              <a:t>RAS*= 0</a:t>
            </a:r>
          </a:p>
          <a:p>
            <a:pPr algn="l"/>
            <a:r>
              <a:rPr lang="es-ES" sz="1800" b="1" dirty="0">
                <a:solidFill>
                  <a:schemeClr val="tx1">
                    <a:lumMod val="65000"/>
                    <a:lumOff val="35000"/>
                  </a:schemeClr>
                </a:solidFill>
              </a:rPr>
              <a:t>CAS*= 1</a:t>
            </a:r>
          </a:p>
          <a:p>
            <a:pPr algn="l"/>
            <a:r>
              <a:rPr lang="es-ES" sz="1800" b="1" dirty="0">
                <a:solidFill>
                  <a:schemeClr val="tx1">
                    <a:lumMod val="65000"/>
                    <a:lumOff val="35000"/>
                  </a:schemeClr>
                </a:solidFill>
              </a:rPr>
              <a:t>WE*= 0</a:t>
            </a:r>
          </a:p>
        </p:txBody>
      </p:sp>
    </p:spTree>
    <p:extLst>
      <p:ext uri="{BB962C8B-B14F-4D97-AF65-F5344CB8AC3E}">
        <p14:creationId xmlns:p14="http://schemas.microsoft.com/office/powerpoint/2010/main" val="2195255599"/>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33"/>
                                        </p:tgtEl>
                                        <p:attrNameLst>
                                          <p:attrName>style.color</p:attrName>
                                        </p:attrNameLst>
                                      </p:cBhvr>
                                      <p:to>
                                        <a:srgbClr val="FF0000"/>
                                      </p:to>
                                    </p:animClr>
                                  </p:childTnLst>
                                </p:cTn>
                              </p:par>
                              <p:par>
                                <p:cTn id="7" presetID="17" presetClass="entr" presetSubtype="8" fill="hold" nodeType="withEffect">
                                  <p:stCondLst>
                                    <p:cond delay="0"/>
                                  </p:stCondLst>
                                  <p:childTnLst>
                                    <p:set>
                                      <p:cBhvr>
                                        <p:cTn id="8" dur="1" fill="hold">
                                          <p:stCondLst>
                                            <p:cond delay="0"/>
                                          </p:stCondLst>
                                        </p:cTn>
                                        <p:tgtEl>
                                          <p:spTgt spid="268"/>
                                        </p:tgtEl>
                                        <p:attrNameLst>
                                          <p:attrName>style.visibility</p:attrName>
                                        </p:attrNameLst>
                                      </p:cBhvr>
                                      <p:to>
                                        <p:strVal val="visible"/>
                                      </p:to>
                                    </p:set>
                                    <p:anim calcmode="lin" valueType="num">
                                      <p:cBhvr>
                                        <p:cTn id="9" dur="2000" fill="hold"/>
                                        <p:tgtEl>
                                          <p:spTgt spid="268"/>
                                        </p:tgtEl>
                                        <p:attrNameLst>
                                          <p:attrName>ppt_x</p:attrName>
                                        </p:attrNameLst>
                                      </p:cBhvr>
                                      <p:tavLst>
                                        <p:tav tm="0">
                                          <p:val>
                                            <p:strVal val="#ppt_x-#ppt_w/2"/>
                                          </p:val>
                                        </p:tav>
                                        <p:tav tm="100000">
                                          <p:val>
                                            <p:strVal val="#ppt_x"/>
                                          </p:val>
                                        </p:tav>
                                      </p:tavLst>
                                    </p:anim>
                                    <p:anim calcmode="lin" valueType="num">
                                      <p:cBhvr>
                                        <p:cTn id="10" dur="2000" fill="hold"/>
                                        <p:tgtEl>
                                          <p:spTgt spid="268"/>
                                        </p:tgtEl>
                                        <p:attrNameLst>
                                          <p:attrName>ppt_y</p:attrName>
                                        </p:attrNameLst>
                                      </p:cBhvr>
                                      <p:tavLst>
                                        <p:tav tm="0">
                                          <p:val>
                                            <p:strVal val="#ppt_y"/>
                                          </p:val>
                                        </p:tav>
                                        <p:tav tm="100000">
                                          <p:val>
                                            <p:strVal val="#ppt_y"/>
                                          </p:val>
                                        </p:tav>
                                      </p:tavLst>
                                    </p:anim>
                                    <p:anim calcmode="lin" valueType="num">
                                      <p:cBhvr>
                                        <p:cTn id="11" dur="2000" fill="hold"/>
                                        <p:tgtEl>
                                          <p:spTgt spid="268"/>
                                        </p:tgtEl>
                                        <p:attrNameLst>
                                          <p:attrName>ppt_w</p:attrName>
                                        </p:attrNameLst>
                                      </p:cBhvr>
                                      <p:tavLst>
                                        <p:tav tm="0">
                                          <p:val>
                                            <p:fltVal val="0"/>
                                          </p:val>
                                        </p:tav>
                                        <p:tav tm="100000">
                                          <p:val>
                                            <p:strVal val="#ppt_w"/>
                                          </p:val>
                                        </p:tav>
                                      </p:tavLst>
                                    </p:anim>
                                    <p:anim calcmode="lin" valueType="num">
                                      <p:cBhvr>
                                        <p:cTn id="12" dur="2000" fill="hold"/>
                                        <p:tgtEl>
                                          <p:spTgt spid="268"/>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0"/>
                                        <p:tgtEl>
                                          <p:spTgt spid="259"/>
                                        </p:tgtEl>
                                      </p:cBhvr>
                                    </p:animEffect>
                                    <p:set>
                                      <p:cBhvr>
                                        <p:cTn id="17" dur="1" fill="hold">
                                          <p:stCondLst>
                                            <p:cond delay="4999"/>
                                          </p:stCondLst>
                                        </p:cTn>
                                        <p:tgtEl>
                                          <p:spTgt spid="2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s-ES" dirty="0"/>
              <a:t>Cronogramas de lectura y escritura</a:t>
            </a:r>
          </a:p>
        </p:txBody>
      </p:sp>
      <p:sp>
        <p:nvSpPr>
          <p:cNvPr id="57348" name="Rectangle 3"/>
          <p:cNvSpPr>
            <a:spLocks noGrp="1" noChangeArrowheads="1"/>
          </p:cNvSpPr>
          <p:nvPr>
            <p:ph type="body" idx="1"/>
          </p:nvPr>
        </p:nvSpPr>
        <p:spPr>
          <a:xfrm>
            <a:off x="428595" y="836712"/>
            <a:ext cx="8715405" cy="3138487"/>
          </a:xfrm>
        </p:spPr>
        <p:txBody>
          <a:bodyPr/>
          <a:lstStyle/>
          <a:p>
            <a:pPr>
              <a:lnSpc>
                <a:spcPct val="100000"/>
              </a:lnSpc>
            </a:pPr>
            <a:r>
              <a:rPr lang="es-ES" dirty="0"/>
              <a:t>Parámetros temporales importantes</a:t>
            </a:r>
          </a:p>
          <a:p>
            <a:pPr marL="819150" lvl="1">
              <a:lnSpc>
                <a:spcPct val="100000"/>
              </a:lnSpc>
              <a:spcBef>
                <a:spcPts val="0"/>
              </a:spcBef>
            </a:pPr>
            <a:r>
              <a:rPr lang="es-ES" sz="2400" dirty="0" err="1">
                <a:latin typeface="Arial Narrow" pitchFamily="34" charset="0"/>
              </a:rPr>
              <a:t>t</a:t>
            </a:r>
            <a:r>
              <a:rPr lang="es-ES" sz="2400" b="1" baseline="-25000" dirty="0" err="1">
                <a:latin typeface="Arial Narrow" pitchFamily="34" charset="0"/>
              </a:rPr>
              <a:t>RCD</a:t>
            </a:r>
            <a:r>
              <a:rPr lang="es-ES" dirty="0"/>
              <a:t>: tiempo m</a:t>
            </a:r>
            <a:r>
              <a:rPr lang="es-ES" altLang="ja-JP" dirty="0">
                <a:ea typeface="Geneva" pitchFamily="1" charset="-128"/>
              </a:rPr>
              <a:t>ínimo</a:t>
            </a:r>
            <a:r>
              <a:rPr lang="es-ES" dirty="0"/>
              <a:t> entre la activación de una fila y el inicio de la operación de lectura/escritura</a:t>
            </a:r>
            <a:r>
              <a:rPr lang="es-ES" altLang="ja-JP" dirty="0">
                <a:ea typeface="Geneva" pitchFamily="1" charset="-128"/>
              </a:rPr>
              <a:t>. Contribuye al tiempo de acceso</a:t>
            </a:r>
            <a:endParaRPr lang="es-ES" dirty="0"/>
          </a:p>
          <a:p>
            <a:pPr marL="819150" lvl="1">
              <a:lnSpc>
                <a:spcPct val="100000"/>
              </a:lnSpc>
              <a:spcBef>
                <a:spcPts val="0"/>
              </a:spcBef>
            </a:pPr>
            <a:r>
              <a:rPr lang="es-ES" sz="2400" dirty="0" err="1">
                <a:latin typeface="Arial Narrow" pitchFamily="34" charset="0"/>
              </a:rPr>
              <a:t>t</a:t>
            </a:r>
            <a:r>
              <a:rPr lang="es-ES" sz="2400" b="1" baseline="-25000" dirty="0" err="1">
                <a:latin typeface="Arial Narrow" pitchFamily="34" charset="0"/>
              </a:rPr>
              <a:t>RAS</a:t>
            </a:r>
            <a:r>
              <a:rPr lang="es-ES" dirty="0"/>
              <a:t>: tiempo mínimo entre la activaci</a:t>
            </a:r>
            <a:r>
              <a:rPr lang="es-ES" altLang="ja-JP" dirty="0">
                <a:ea typeface="Geneva" pitchFamily="1" charset="-128"/>
              </a:rPr>
              <a:t>ón y la precarga de una fila</a:t>
            </a:r>
            <a:endParaRPr lang="es-ES" dirty="0"/>
          </a:p>
          <a:p>
            <a:pPr marL="819150" lvl="1">
              <a:lnSpc>
                <a:spcPct val="100000"/>
              </a:lnSpc>
              <a:spcBef>
                <a:spcPts val="0"/>
              </a:spcBef>
            </a:pPr>
            <a:r>
              <a:rPr lang="es-ES" sz="2400" dirty="0" err="1">
                <a:latin typeface="Arial Narrow" pitchFamily="34" charset="0"/>
              </a:rPr>
              <a:t>t</a:t>
            </a:r>
            <a:r>
              <a:rPr lang="es-ES" sz="2400" b="1" baseline="-25000" dirty="0" err="1">
                <a:latin typeface="Arial Narrow" pitchFamily="34" charset="0"/>
              </a:rPr>
              <a:t>RC</a:t>
            </a:r>
            <a:r>
              <a:rPr lang="es-ES" dirty="0"/>
              <a:t>: </a:t>
            </a:r>
            <a:r>
              <a:rPr lang="es-ES" spc="-50" dirty="0"/>
              <a:t>tiempo m</a:t>
            </a:r>
            <a:r>
              <a:rPr lang="es-ES" altLang="ja-JP" spc="-50" dirty="0">
                <a:ea typeface="Geneva" pitchFamily="1" charset="-128"/>
              </a:rPr>
              <a:t>ínimo entre dos activaciones. Se entiende como tiempo de ciclo</a:t>
            </a:r>
            <a:endParaRPr lang="es-ES" spc="-50" dirty="0"/>
          </a:p>
          <a:p>
            <a:pPr marL="819150" lvl="1">
              <a:lnSpc>
                <a:spcPct val="100000"/>
              </a:lnSpc>
              <a:spcBef>
                <a:spcPts val="0"/>
              </a:spcBef>
            </a:pPr>
            <a:r>
              <a:rPr lang="es-ES" sz="2400" dirty="0" err="1">
                <a:latin typeface="Arial Narrow" pitchFamily="34" charset="0"/>
              </a:rPr>
              <a:t>t</a:t>
            </a:r>
            <a:r>
              <a:rPr lang="es-ES" sz="2400" b="1" baseline="-25000" dirty="0" err="1">
                <a:latin typeface="Arial Narrow" pitchFamily="34" charset="0"/>
              </a:rPr>
              <a:t>RP</a:t>
            </a:r>
            <a:r>
              <a:rPr lang="es-ES" dirty="0"/>
              <a:t>: tiempo m</a:t>
            </a:r>
            <a:r>
              <a:rPr lang="es-ES" altLang="ja-JP" dirty="0">
                <a:ea typeface="Geneva" pitchFamily="1" charset="-128"/>
              </a:rPr>
              <a:t>ínimo entre la precarga y la activación siguiente</a:t>
            </a:r>
          </a:p>
          <a:p>
            <a:pPr marL="819150" lvl="1">
              <a:lnSpc>
                <a:spcPct val="100000"/>
              </a:lnSpc>
              <a:spcBef>
                <a:spcPts val="0"/>
              </a:spcBef>
            </a:pPr>
            <a:r>
              <a:rPr lang="es-ES" sz="2400" dirty="0" err="1">
                <a:latin typeface="Arial Narrow" pitchFamily="34" charset="0"/>
              </a:rPr>
              <a:t>t</a:t>
            </a:r>
            <a:r>
              <a:rPr lang="es-ES" sz="2400" b="1" baseline="-25000" dirty="0" err="1">
                <a:latin typeface="Arial Narrow" pitchFamily="34" charset="0"/>
              </a:rPr>
              <a:t>WR</a:t>
            </a:r>
            <a:r>
              <a:rPr lang="es-ES" sz="2400" dirty="0"/>
              <a:t>:</a:t>
            </a:r>
            <a:r>
              <a:rPr lang="es-ES" dirty="0"/>
              <a:t> </a:t>
            </a:r>
            <a:r>
              <a:rPr lang="es-ES" spc="-30" dirty="0">
                <a:ea typeface="Geneva" pitchFamily="1" charset="-128"/>
              </a:rPr>
              <a:t>tiempo mínimo entre el envío del último dato y la precarga (escritura)</a:t>
            </a:r>
          </a:p>
          <a:p>
            <a:pPr marL="819150" lvl="1">
              <a:lnSpc>
                <a:spcPct val="100000"/>
              </a:lnSpc>
              <a:spcBef>
                <a:spcPts val="0"/>
              </a:spcBef>
            </a:pPr>
            <a:r>
              <a:rPr lang="es-ES" spc="-30" dirty="0">
                <a:ea typeface="Geneva" pitchFamily="1" charset="-128"/>
              </a:rPr>
              <a:t>CL: tiempo máximo entre la lectura y la salida del primer dato</a:t>
            </a:r>
          </a:p>
        </p:txBody>
      </p:sp>
      <p:sp>
        <p:nvSpPr>
          <p:cNvPr id="23" name="Line 4"/>
          <p:cNvSpPr>
            <a:spLocks noChangeShapeType="1"/>
          </p:cNvSpPr>
          <p:nvPr/>
        </p:nvSpPr>
        <p:spPr bwMode="auto">
          <a:xfrm>
            <a:off x="1549450" y="4309864"/>
            <a:ext cx="0" cy="1524000"/>
          </a:xfrm>
          <a:prstGeom prst="line">
            <a:avLst/>
          </a:prstGeom>
          <a:noFill/>
          <a:ln w="28575">
            <a:solidFill>
              <a:schemeClr val="tx1"/>
            </a:solidFill>
            <a:round/>
            <a:headEnd/>
            <a:tailEnd/>
          </a:ln>
        </p:spPr>
        <p:txBody>
          <a:bodyPr wrap="none" lIns="0" tIns="0" rIns="0" bIns="0" anchor="ctr"/>
          <a:lstStyle/>
          <a:p>
            <a:endParaRPr lang="es-ES"/>
          </a:p>
        </p:txBody>
      </p:sp>
      <p:sp>
        <p:nvSpPr>
          <p:cNvPr id="24" name="Text Box 5"/>
          <p:cNvSpPr txBox="1">
            <a:spLocks noChangeArrowheads="1"/>
          </p:cNvSpPr>
          <p:nvPr/>
        </p:nvSpPr>
        <p:spPr bwMode="auto">
          <a:xfrm>
            <a:off x="971600" y="4005064"/>
            <a:ext cx="1158875" cy="304800"/>
          </a:xfrm>
          <a:prstGeom prst="rect">
            <a:avLst/>
          </a:prstGeom>
          <a:noFill/>
          <a:ln w="19050">
            <a:noFill/>
            <a:miter lim="800000"/>
            <a:headEnd/>
            <a:tailEnd/>
          </a:ln>
        </p:spPr>
        <p:txBody>
          <a:bodyPr wrap="none" lIns="0" tIns="0" rIns="0" bIns="0" anchor="ctr">
            <a:spAutoFit/>
          </a:bodyPr>
          <a:lstStyle/>
          <a:p>
            <a:r>
              <a:rPr lang="es-ES_tradnl"/>
              <a:t>Activaci</a:t>
            </a:r>
            <a:r>
              <a:rPr lang="es-ES_tradnl" altLang="ja-JP">
                <a:ea typeface="Geneva" pitchFamily="1" charset="-128"/>
              </a:rPr>
              <a:t>ón</a:t>
            </a:r>
            <a:endParaRPr lang="es-ES_tradnl"/>
          </a:p>
        </p:txBody>
      </p:sp>
      <p:sp>
        <p:nvSpPr>
          <p:cNvPr id="25" name="Line 6"/>
          <p:cNvSpPr>
            <a:spLocks noChangeShapeType="1"/>
          </p:cNvSpPr>
          <p:nvPr/>
        </p:nvSpPr>
        <p:spPr bwMode="auto">
          <a:xfrm>
            <a:off x="3200450" y="4919464"/>
            <a:ext cx="0" cy="1260000"/>
          </a:xfrm>
          <a:prstGeom prst="line">
            <a:avLst/>
          </a:prstGeom>
          <a:noFill/>
          <a:ln w="28575">
            <a:solidFill>
              <a:schemeClr val="tx1"/>
            </a:solidFill>
            <a:round/>
            <a:headEnd/>
            <a:tailEnd/>
          </a:ln>
        </p:spPr>
        <p:txBody>
          <a:bodyPr wrap="none" lIns="0" tIns="0" rIns="0" bIns="0" anchor="ctr"/>
          <a:lstStyle/>
          <a:p>
            <a:endParaRPr lang="es-ES"/>
          </a:p>
        </p:txBody>
      </p:sp>
      <p:sp>
        <p:nvSpPr>
          <p:cNvPr id="26" name="Text Box 7"/>
          <p:cNvSpPr txBox="1">
            <a:spLocks noChangeArrowheads="1"/>
          </p:cNvSpPr>
          <p:nvPr/>
        </p:nvSpPr>
        <p:spPr bwMode="auto">
          <a:xfrm>
            <a:off x="2790711" y="4613176"/>
            <a:ext cx="854400" cy="307777"/>
          </a:xfrm>
          <a:prstGeom prst="rect">
            <a:avLst/>
          </a:prstGeom>
          <a:noFill/>
          <a:ln w="19050">
            <a:noFill/>
            <a:miter lim="800000"/>
            <a:headEnd/>
            <a:tailEnd/>
          </a:ln>
        </p:spPr>
        <p:txBody>
          <a:bodyPr wrap="none" lIns="0" tIns="0" rIns="0" bIns="0" anchor="ctr">
            <a:spAutoFit/>
          </a:bodyPr>
          <a:lstStyle/>
          <a:p>
            <a:r>
              <a:rPr lang="es-ES_tradnl" dirty="0"/>
              <a:t>Lectura</a:t>
            </a:r>
          </a:p>
        </p:txBody>
      </p:sp>
      <p:sp>
        <p:nvSpPr>
          <p:cNvPr id="27" name="Line 8"/>
          <p:cNvSpPr>
            <a:spLocks noChangeShapeType="1"/>
          </p:cNvSpPr>
          <p:nvPr/>
        </p:nvSpPr>
        <p:spPr bwMode="auto">
          <a:xfrm>
            <a:off x="5826175" y="4919464"/>
            <a:ext cx="0" cy="612000"/>
          </a:xfrm>
          <a:prstGeom prst="line">
            <a:avLst/>
          </a:prstGeom>
          <a:noFill/>
          <a:ln w="28575">
            <a:solidFill>
              <a:schemeClr val="tx1"/>
            </a:solidFill>
            <a:round/>
            <a:headEnd/>
            <a:tailEnd/>
          </a:ln>
        </p:spPr>
        <p:txBody>
          <a:bodyPr wrap="none" lIns="0" tIns="0" rIns="0" bIns="0" anchor="ctr"/>
          <a:lstStyle/>
          <a:p>
            <a:endParaRPr lang="es-ES"/>
          </a:p>
        </p:txBody>
      </p:sp>
      <p:sp>
        <p:nvSpPr>
          <p:cNvPr id="28" name="Text Box 9"/>
          <p:cNvSpPr txBox="1">
            <a:spLocks noChangeArrowheads="1"/>
          </p:cNvSpPr>
          <p:nvPr/>
        </p:nvSpPr>
        <p:spPr bwMode="auto">
          <a:xfrm>
            <a:off x="5314732" y="4613176"/>
            <a:ext cx="1040349" cy="307777"/>
          </a:xfrm>
          <a:prstGeom prst="rect">
            <a:avLst/>
          </a:prstGeom>
          <a:noFill/>
          <a:ln w="19050">
            <a:noFill/>
            <a:miter lim="800000"/>
            <a:headEnd/>
            <a:tailEnd/>
          </a:ln>
        </p:spPr>
        <p:txBody>
          <a:bodyPr wrap="none" lIns="0" tIns="0" rIns="0" bIns="0" anchor="ctr">
            <a:spAutoFit/>
          </a:bodyPr>
          <a:lstStyle/>
          <a:p>
            <a:r>
              <a:rPr lang="es-ES_tradnl"/>
              <a:t>Prec</a:t>
            </a:r>
            <a:r>
              <a:rPr lang="es-ES_tradnl" altLang="ja-JP">
                <a:ea typeface="Geneva" pitchFamily="1" charset="-128"/>
              </a:rPr>
              <a:t>arga</a:t>
            </a:r>
            <a:endParaRPr lang="es-ES_tradnl"/>
          </a:p>
        </p:txBody>
      </p:sp>
      <p:sp>
        <p:nvSpPr>
          <p:cNvPr id="29" name="Rectangle 10"/>
          <p:cNvSpPr>
            <a:spLocks noChangeArrowheads="1"/>
          </p:cNvSpPr>
          <p:nvPr/>
        </p:nvSpPr>
        <p:spPr bwMode="auto">
          <a:xfrm>
            <a:off x="2159050" y="5605264"/>
            <a:ext cx="511175" cy="304800"/>
          </a:xfrm>
          <a:prstGeom prst="rect">
            <a:avLst/>
          </a:prstGeom>
          <a:noFill/>
          <a:ln w="19050">
            <a:noFill/>
            <a:miter lim="800000"/>
            <a:headEnd/>
            <a:tailEnd/>
          </a:ln>
        </p:spPr>
        <p:txBody>
          <a:bodyPr wrap="none" lIns="0" tIns="0" rIns="0" bIns="0" anchor="ctr">
            <a:spAutoFit/>
          </a:bodyPr>
          <a:lstStyle/>
          <a:p>
            <a:r>
              <a:rPr lang="es-ES"/>
              <a:t>t</a:t>
            </a:r>
            <a:r>
              <a:rPr lang="es-ES" sz="2400" b="1" baseline="-25000"/>
              <a:t>RCD</a:t>
            </a:r>
            <a:endParaRPr lang="es-ES_tradnl" sz="2400" b="1" baseline="-25000"/>
          </a:p>
        </p:txBody>
      </p:sp>
      <p:sp>
        <p:nvSpPr>
          <p:cNvPr id="30" name="Line 11"/>
          <p:cNvSpPr>
            <a:spLocks noChangeShapeType="1"/>
          </p:cNvSpPr>
          <p:nvPr/>
        </p:nvSpPr>
        <p:spPr bwMode="auto">
          <a:xfrm>
            <a:off x="1549450" y="5605264"/>
            <a:ext cx="1651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31" name="Line 12"/>
          <p:cNvSpPr>
            <a:spLocks noChangeShapeType="1"/>
          </p:cNvSpPr>
          <p:nvPr/>
        </p:nvSpPr>
        <p:spPr bwMode="auto">
          <a:xfrm>
            <a:off x="1549450" y="5224264"/>
            <a:ext cx="4276725"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32" name="Line 13"/>
          <p:cNvSpPr>
            <a:spLocks noChangeShapeType="1"/>
          </p:cNvSpPr>
          <p:nvPr/>
        </p:nvSpPr>
        <p:spPr bwMode="auto">
          <a:xfrm>
            <a:off x="7391450" y="4309864"/>
            <a:ext cx="0" cy="1524000"/>
          </a:xfrm>
          <a:prstGeom prst="line">
            <a:avLst/>
          </a:prstGeom>
          <a:noFill/>
          <a:ln w="28575">
            <a:solidFill>
              <a:schemeClr val="tx1"/>
            </a:solidFill>
            <a:round/>
            <a:headEnd/>
            <a:tailEnd/>
          </a:ln>
        </p:spPr>
        <p:txBody>
          <a:bodyPr wrap="none" lIns="0" tIns="0" rIns="0" bIns="0" anchor="ctr"/>
          <a:lstStyle/>
          <a:p>
            <a:endParaRPr lang="es-ES"/>
          </a:p>
        </p:txBody>
      </p:sp>
      <p:sp>
        <p:nvSpPr>
          <p:cNvPr id="33" name="Text Box 14"/>
          <p:cNvSpPr txBox="1">
            <a:spLocks noChangeArrowheads="1"/>
          </p:cNvSpPr>
          <p:nvPr/>
        </p:nvSpPr>
        <p:spPr bwMode="auto">
          <a:xfrm>
            <a:off x="6813600" y="4005064"/>
            <a:ext cx="1158875" cy="304800"/>
          </a:xfrm>
          <a:prstGeom prst="rect">
            <a:avLst/>
          </a:prstGeom>
          <a:noFill/>
          <a:ln w="19050">
            <a:noFill/>
            <a:miter lim="800000"/>
            <a:headEnd/>
            <a:tailEnd/>
          </a:ln>
        </p:spPr>
        <p:txBody>
          <a:bodyPr wrap="none" lIns="0" tIns="0" rIns="0" bIns="0" anchor="ctr">
            <a:spAutoFit/>
          </a:bodyPr>
          <a:lstStyle/>
          <a:p>
            <a:r>
              <a:rPr lang="es-ES_tradnl"/>
              <a:t>Activaci</a:t>
            </a:r>
            <a:r>
              <a:rPr lang="es-ES_tradnl" altLang="ja-JP">
                <a:ea typeface="Geneva" pitchFamily="1" charset="-128"/>
              </a:rPr>
              <a:t>ón</a:t>
            </a:r>
            <a:endParaRPr lang="es-ES_tradnl"/>
          </a:p>
        </p:txBody>
      </p:sp>
      <p:sp>
        <p:nvSpPr>
          <p:cNvPr id="34" name="Rectangle 15"/>
          <p:cNvSpPr>
            <a:spLocks noChangeArrowheads="1"/>
          </p:cNvSpPr>
          <p:nvPr/>
        </p:nvSpPr>
        <p:spPr bwMode="auto">
          <a:xfrm>
            <a:off x="3759250" y="4843264"/>
            <a:ext cx="500063" cy="304800"/>
          </a:xfrm>
          <a:prstGeom prst="rect">
            <a:avLst/>
          </a:prstGeom>
          <a:noFill/>
          <a:ln w="19050">
            <a:noFill/>
            <a:miter lim="800000"/>
            <a:headEnd/>
            <a:tailEnd/>
          </a:ln>
        </p:spPr>
        <p:txBody>
          <a:bodyPr wrap="none" lIns="0" tIns="0" rIns="0" bIns="0" anchor="ctr">
            <a:spAutoFit/>
          </a:bodyPr>
          <a:lstStyle/>
          <a:p>
            <a:r>
              <a:rPr lang="es-ES"/>
              <a:t>t</a:t>
            </a:r>
            <a:r>
              <a:rPr lang="es-ES" sz="2400" b="1" baseline="-25000"/>
              <a:t>RAS</a:t>
            </a:r>
            <a:endParaRPr lang="es-ES_tradnl" sz="2400" b="1" baseline="-25000"/>
          </a:p>
        </p:txBody>
      </p:sp>
      <p:sp>
        <p:nvSpPr>
          <p:cNvPr id="35" name="Line 16"/>
          <p:cNvSpPr>
            <a:spLocks noChangeShapeType="1"/>
          </p:cNvSpPr>
          <p:nvPr/>
        </p:nvSpPr>
        <p:spPr bwMode="auto">
          <a:xfrm>
            <a:off x="1549450" y="4462264"/>
            <a:ext cx="5842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36" name="Rectangle 17"/>
          <p:cNvSpPr>
            <a:spLocks noChangeArrowheads="1"/>
          </p:cNvSpPr>
          <p:nvPr/>
        </p:nvSpPr>
        <p:spPr bwMode="auto">
          <a:xfrm>
            <a:off x="4338688" y="4081264"/>
            <a:ext cx="363537" cy="304800"/>
          </a:xfrm>
          <a:prstGeom prst="rect">
            <a:avLst/>
          </a:prstGeom>
          <a:noFill/>
          <a:ln w="19050">
            <a:noFill/>
            <a:miter lim="800000"/>
            <a:headEnd/>
            <a:tailEnd/>
          </a:ln>
        </p:spPr>
        <p:txBody>
          <a:bodyPr wrap="none" lIns="0" tIns="0" rIns="0" bIns="0" anchor="ctr">
            <a:spAutoFit/>
          </a:bodyPr>
          <a:lstStyle/>
          <a:p>
            <a:r>
              <a:rPr lang="es-ES"/>
              <a:t>t</a:t>
            </a:r>
            <a:r>
              <a:rPr lang="es-ES" sz="2400" b="1" baseline="-25000"/>
              <a:t>RC</a:t>
            </a:r>
            <a:endParaRPr lang="es-ES_tradnl" sz="2400" b="1" baseline="-25000"/>
          </a:p>
        </p:txBody>
      </p:sp>
      <p:sp>
        <p:nvSpPr>
          <p:cNvPr id="37" name="Rectangle 18"/>
          <p:cNvSpPr>
            <a:spLocks noChangeArrowheads="1"/>
          </p:cNvSpPr>
          <p:nvPr/>
        </p:nvSpPr>
        <p:spPr bwMode="auto">
          <a:xfrm>
            <a:off x="6426250" y="5224264"/>
            <a:ext cx="352425" cy="304800"/>
          </a:xfrm>
          <a:prstGeom prst="rect">
            <a:avLst/>
          </a:prstGeom>
          <a:noFill/>
          <a:ln w="19050">
            <a:noFill/>
            <a:miter lim="800000"/>
            <a:headEnd/>
            <a:tailEnd/>
          </a:ln>
        </p:spPr>
        <p:txBody>
          <a:bodyPr wrap="none" lIns="0" tIns="0" rIns="0" bIns="0" anchor="ctr">
            <a:spAutoFit/>
          </a:bodyPr>
          <a:lstStyle/>
          <a:p>
            <a:r>
              <a:rPr lang="es-ES"/>
              <a:t>t</a:t>
            </a:r>
            <a:r>
              <a:rPr lang="es-ES" sz="2400" b="1" baseline="-25000"/>
              <a:t>RP</a:t>
            </a:r>
            <a:endParaRPr lang="es-ES_tradnl" sz="2400" b="1" baseline="-25000"/>
          </a:p>
        </p:txBody>
      </p:sp>
      <p:sp>
        <p:nvSpPr>
          <p:cNvPr id="38" name="Line 19"/>
          <p:cNvSpPr>
            <a:spLocks noChangeShapeType="1"/>
          </p:cNvSpPr>
          <p:nvPr/>
        </p:nvSpPr>
        <p:spPr bwMode="auto">
          <a:xfrm>
            <a:off x="5826175" y="5224264"/>
            <a:ext cx="1565275"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0" name="39 Forma libre"/>
          <p:cNvSpPr/>
          <p:nvPr/>
        </p:nvSpPr>
        <p:spPr bwMode="auto">
          <a:xfrm flipV="1">
            <a:off x="7883115" y="4372546"/>
            <a:ext cx="361293" cy="496614"/>
          </a:xfrm>
          <a:custGeom>
            <a:avLst/>
            <a:gdLst>
              <a:gd name="connsiteX0" fmla="*/ 361293 w 361293"/>
              <a:gd name="connsiteY0" fmla="*/ 0 h 496614"/>
              <a:gd name="connsiteX1" fmla="*/ 6569 w 361293"/>
              <a:gd name="connsiteY1" fmla="*/ 110359 h 496614"/>
              <a:gd name="connsiteX2" fmla="*/ 321879 w 361293"/>
              <a:gd name="connsiteY2" fmla="*/ 291662 h 496614"/>
              <a:gd name="connsiteX3" fmla="*/ 116928 w 361293"/>
              <a:gd name="connsiteY3" fmla="*/ 496614 h 496614"/>
            </a:gdLst>
            <a:ahLst/>
            <a:cxnLst>
              <a:cxn ang="0">
                <a:pos x="connsiteX0" y="connsiteY0"/>
              </a:cxn>
              <a:cxn ang="0">
                <a:pos x="connsiteX1" y="connsiteY1"/>
              </a:cxn>
              <a:cxn ang="0">
                <a:pos x="connsiteX2" y="connsiteY2"/>
              </a:cxn>
              <a:cxn ang="0">
                <a:pos x="connsiteX3" y="connsiteY3"/>
              </a:cxn>
            </a:cxnLst>
            <a:rect l="l" t="t" r="r" b="b"/>
            <a:pathLst>
              <a:path w="361293" h="496614">
                <a:moveTo>
                  <a:pt x="361293" y="0"/>
                </a:moveTo>
                <a:cubicBezTo>
                  <a:pt x="187215" y="30874"/>
                  <a:pt x="13138" y="61749"/>
                  <a:pt x="6569" y="110359"/>
                </a:cubicBezTo>
                <a:cubicBezTo>
                  <a:pt x="0" y="158969"/>
                  <a:pt x="303486" y="227286"/>
                  <a:pt x="321879" y="291662"/>
                </a:cubicBezTo>
                <a:cubicBezTo>
                  <a:pt x="340272" y="356038"/>
                  <a:pt x="228600" y="426326"/>
                  <a:pt x="116928" y="496614"/>
                </a:cubicBezTo>
              </a:path>
            </a:pathLst>
          </a:custGeom>
          <a:noFill/>
          <a:ln w="19050" cap="flat" cmpd="sng" algn="ctr">
            <a:solidFill>
              <a:schemeClr val="accent1"/>
            </a:solidFill>
            <a:prstDash val="solid"/>
            <a:round/>
            <a:headEnd type="none" w="med" len="med"/>
            <a:tailEnd type="stealth"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effectLst/>
              <a:latin typeface="Arial" charset="0"/>
            </a:endParaRPr>
          </a:p>
        </p:txBody>
      </p:sp>
      <p:sp>
        <p:nvSpPr>
          <p:cNvPr id="51" name="50 CuadroTexto"/>
          <p:cNvSpPr txBox="1"/>
          <p:nvPr/>
        </p:nvSpPr>
        <p:spPr>
          <a:xfrm>
            <a:off x="7452320" y="4850576"/>
            <a:ext cx="1686679" cy="824841"/>
          </a:xfrm>
          <a:prstGeom prst="rect">
            <a:avLst/>
          </a:prstGeom>
          <a:noFill/>
        </p:spPr>
        <p:txBody>
          <a:bodyPr wrap="none" rtlCol="0">
            <a:spAutoFit/>
          </a:bodyPr>
          <a:lstStyle/>
          <a:p>
            <a:r>
              <a:rPr lang="es-ES" sz="1400" dirty="0"/>
              <a:t>Inicio de un nuevo </a:t>
            </a:r>
          </a:p>
          <a:p>
            <a:r>
              <a:rPr lang="es-ES" sz="1400" dirty="0"/>
              <a:t>acceso sobre el </a:t>
            </a:r>
          </a:p>
          <a:p>
            <a:r>
              <a:rPr lang="es-ES" sz="1400" dirty="0"/>
              <a:t>mismo banco</a:t>
            </a:r>
          </a:p>
        </p:txBody>
      </p:sp>
      <p:sp>
        <p:nvSpPr>
          <p:cNvPr id="52" name="Line 16"/>
          <p:cNvSpPr>
            <a:spLocks noChangeShapeType="1"/>
          </p:cNvSpPr>
          <p:nvPr/>
        </p:nvSpPr>
        <p:spPr bwMode="auto">
          <a:xfrm>
            <a:off x="3209032" y="5877272"/>
            <a:ext cx="1224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grpSp>
        <p:nvGrpSpPr>
          <p:cNvPr id="2" name="52 Grupo"/>
          <p:cNvGrpSpPr/>
          <p:nvPr/>
        </p:nvGrpSpPr>
        <p:grpSpPr>
          <a:xfrm>
            <a:off x="4427984" y="5733256"/>
            <a:ext cx="2376264" cy="864096"/>
            <a:chOff x="2915816" y="5013176"/>
            <a:chExt cx="2376264" cy="864096"/>
          </a:xfrm>
        </p:grpSpPr>
        <p:sp>
          <p:nvSpPr>
            <p:cNvPr id="54" name="53 Cerrar llave"/>
            <p:cNvSpPr/>
            <p:nvPr/>
          </p:nvSpPr>
          <p:spPr bwMode="auto">
            <a:xfrm rot="5400000">
              <a:off x="4012299" y="4390760"/>
              <a:ext cx="153308" cy="2118221"/>
            </a:xfrm>
            <a:prstGeom prst="rightBrace">
              <a:avLst/>
            </a:prstGeom>
            <a:noFill/>
            <a:ln w="19050" cap="flat" cmpd="sng" algn="ctr">
              <a:solidFill>
                <a:schemeClr val="accent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effectLst/>
                <a:latin typeface="Arial" charset="0"/>
              </a:endParaRPr>
            </a:p>
          </p:txBody>
        </p:sp>
        <p:sp>
          <p:nvSpPr>
            <p:cNvPr id="55" name="54 CuadroTexto"/>
            <p:cNvSpPr txBox="1"/>
            <p:nvPr/>
          </p:nvSpPr>
          <p:spPr>
            <a:xfrm>
              <a:off x="2927329" y="5507940"/>
              <a:ext cx="2364751" cy="369332"/>
            </a:xfrm>
            <a:prstGeom prst="rect">
              <a:avLst/>
            </a:prstGeom>
            <a:noFill/>
          </p:spPr>
          <p:txBody>
            <a:bodyPr wrap="none" rtlCol="0">
              <a:spAutoFit/>
            </a:bodyPr>
            <a:lstStyle/>
            <a:p>
              <a:r>
                <a:rPr lang="es-ES" sz="1800" dirty="0"/>
                <a:t>Bloque de 4 palabras</a:t>
              </a:r>
            </a:p>
          </p:txBody>
        </p:sp>
        <p:grpSp>
          <p:nvGrpSpPr>
            <p:cNvPr id="3" name="Group 149"/>
            <p:cNvGrpSpPr>
              <a:grpSpLocks/>
            </p:cNvGrpSpPr>
            <p:nvPr/>
          </p:nvGrpSpPr>
          <p:grpSpPr bwMode="auto">
            <a:xfrm>
              <a:off x="2915816" y="5013176"/>
              <a:ext cx="2303462" cy="304800"/>
              <a:chOff x="2744" y="2317"/>
              <a:chExt cx="1542" cy="192"/>
            </a:xfrm>
          </p:grpSpPr>
          <p:grpSp>
            <p:nvGrpSpPr>
              <p:cNvPr id="4" name="Group 82"/>
              <p:cNvGrpSpPr>
                <a:grpSpLocks/>
              </p:cNvGrpSpPr>
              <p:nvPr/>
            </p:nvGrpSpPr>
            <p:grpSpPr bwMode="auto">
              <a:xfrm>
                <a:off x="2744" y="2317"/>
                <a:ext cx="384" cy="192"/>
                <a:chOff x="2640" y="2304"/>
                <a:chExt cx="384" cy="192"/>
              </a:xfrm>
            </p:grpSpPr>
            <p:sp>
              <p:nvSpPr>
                <p:cNvPr id="67"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68" name="Text Box 72"/>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P0</a:t>
                  </a:r>
                </a:p>
              </p:txBody>
            </p:sp>
          </p:grpSp>
          <p:grpSp>
            <p:nvGrpSpPr>
              <p:cNvPr id="5" name="Group 85"/>
              <p:cNvGrpSpPr>
                <a:grpSpLocks/>
              </p:cNvGrpSpPr>
              <p:nvPr/>
            </p:nvGrpSpPr>
            <p:grpSpPr bwMode="auto">
              <a:xfrm>
                <a:off x="3130" y="2317"/>
                <a:ext cx="384" cy="192"/>
                <a:chOff x="3024" y="2304"/>
                <a:chExt cx="384" cy="192"/>
              </a:xfrm>
            </p:grpSpPr>
            <p:sp>
              <p:nvSpPr>
                <p:cNvPr id="65"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66" name="Text Box 75"/>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6" name="Group 84"/>
              <p:cNvGrpSpPr>
                <a:grpSpLocks/>
              </p:cNvGrpSpPr>
              <p:nvPr/>
            </p:nvGrpSpPr>
            <p:grpSpPr bwMode="auto">
              <a:xfrm>
                <a:off x="3514" y="2317"/>
                <a:ext cx="384" cy="192"/>
                <a:chOff x="3408" y="2304"/>
                <a:chExt cx="384" cy="192"/>
              </a:xfrm>
            </p:grpSpPr>
            <p:sp>
              <p:nvSpPr>
                <p:cNvPr id="63"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64" name="Text Box 78"/>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P2</a:t>
                  </a:r>
                </a:p>
              </p:txBody>
            </p:sp>
          </p:grpSp>
          <p:grpSp>
            <p:nvGrpSpPr>
              <p:cNvPr id="7" name="Group 83"/>
              <p:cNvGrpSpPr>
                <a:grpSpLocks/>
              </p:cNvGrpSpPr>
              <p:nvPr/>
            </p:nvGrpSpPr>
            <p:grpSpPr bwMode="auto">
              <a:xfrm>
                <a:off x="3902" y="2317"/>
                <a:ext cx="384" cy="192"/>
                <a:chOff x="3792" y="2304"/>
                <a:chExt cx="384" cy="192"/>
              </a:xfrm>
            </p:grpSpPr>
            <p:sp>
              <p:nvSpPr>
                <p:cNvPr id="61"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62" name="Text Box 81"/>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grpSp>
      </p:grpSp>
      <p:sp>
        <p:nvSpPr>
          <p:cNvPr id="69" name="Line 6"/>
          <p:cNvSpPr>
            <a:spLocks noChangeShapeType="1"/>
          </p:cNvSpPr>
          <p:nvPr/>
        </p:nvSpPr>
        <p:spPr bwMode="auto">
          <a:xfrm>
            <a:off x="4427984" y="5409360"/>
            <a:ext cx="0" cy="864000"/>
          </a:xfrm>
          <a:prstGeom prst="line">
            <a:avLst/>
          </a:prstGeom>
          <a:noFill/>
          <a:ln w="28575">
            <a:solidFill>
              <a:schemeClr val="tx1"/>
            </a:solidFill>
            <a:round/>
            <a:headEnd/>
            <a:tailEnd/>
          </a:ln>
        </p:spPr>
        <p:txBody>
          <a:bodyPr wrap="none" lIns="0" tIns="0" rIns="0" bIns="0" anchor="ctr"/>
          <a:lstStyle/>
          <a:p>
            <a:endParaRPr lang="es-ES"/>
          </a:p>
        </p:txBody>
      </p:sp>
      <p:sp>
        <p:nvSpPr>
          <p:cNvPr id="70" name="Rectangle 15"/>
          <p:cNvSpPr>
            <a:spLocks noChangeArrowheads="1"/>
          </p:cNvSpPr>
          <p:nvPr/>
        </p:nvSpPr>
        <p:spPr bwMode="auto">
          <a:xfrm>
            <a:off x="3707904" y="5929535"/>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8" name="2 Marcador de número de diapositiva">
            <a:extLst>
              <a:ext uri="{FF2B5EF4-FFF2-40B4-BE49-F238E27FC236}">
                <a16:creationId xmlns:a16="http://schemas.microsoft.com/office/drawing/2014/main" id="{25EEC202-F061-B436-F710-18831B84FB1A}"/>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70</a:t>
            </a:fld>
            <a:endParaRPr lang="en-US" dirty="0"/>
          </a:p>
        </p:txBody>
      </p:sp>
    </p:spTree>
    <p:extLst>
      <p:ext uri="{BB962C8B-B14F-4D97-AF65-F5344CB8AC3E}">
        <p14:creationId xmlns:p14="http://schemas.microsoft.com/office/powerpoint/2010/main" val="3543323622"/>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71</a:t>
            </a:fld>
            <a:endParaRPr lang="en-US" dirty="0"/>
          </a:p>
        </p:txBody>
      </p:sp>
      <p:grpSp>
        <p:nvGrpSpPr>
          <p:cNvPr id="4" name="Group 82"/>
          <p:cNvGrpSpPr>
            <a:grpSpLocks/>
          </p:cNvGrpSpPr>
          <p:nvPr/>
        </p:nvGrpSpPr>
        <p:grpSpPr bwMode="auto">
          <a:xfrm>
            <a:off x="4980133" y="3936033"/>
            <a:ext cx="573625" cy="304800"/>
            <a:chOff x="2640" y="2304"/>
            <a:chExt cx="384" cy="192"/>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7" name="Text Box 72"/>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P0</a:t>
              </a:r>
            </a:p>
          </p:txBody>
        </p:sp>
      </p:grpSp>
      <p:grpSp>
        <p:nvGrpSpPr>
          <p:cNvPr id="5" name="Group 85"/>
          <p:cNvGrpSpPr>
            <a:grpSpLocks/>
          </p:cNvGrpSpPr>
          <p:nvPr/>
        </p:nvGrpSpPr>
        <p:grpSpPr bwMode="auto">
          <a:xfrm>
            <a:off x="5556745" y="3936033"/>
            <a:ext cx="573625" cy="304800"/>
            <a:chOff x="3024" y="2304"/>
            <a:chExt cx="384" cy="192"/>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5" name="Text Box 75"/>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6" name="Group 84"/>
          <p:cNvGrpSpPr>
            <a:grpSpLocks/>
          </p:cNvGrpSpPr>
          <p:nvPr/>
        </p:nvGrpSpPr>
        <p:grpSpPr bwMode="auto">
          <a:xfrm>
            <a:off x="6130370" y="3936033"/>
            <a:ext cx="573625" cy="304800"/>
            <a:chOff x="3408" y="2304"/>
            <a:chExt cx="384" cy="192"/>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3" name="Text Box 78"/>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7" name="Group 83"/>
          <p:cNvGrpSpPr>
            <a:grpSpLocks/>
          </p:cNvGrpSpPr>
          <p:nvPr/>
        </p:nvGrpSpPr>
        <p:grpSpPr bwMode="auto">
          <a:xfrm>
            <a:off x="6709970" y="3936033"/>
            <a:ext cx="573625" cy="304800"/>
            <a:chOff x="3792" y="2304"/>
            <a:chExt cx="384" cy="192"/>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1" name="Text Box 81"/>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sp>
        <p:nvSpPr>
          <p:cNvPr id="49" name="Text Box 123"/>
          <p:cNvSpPr txBox="1">
            <a:spLocks noChangeArrowheads="1"/>
          </p:cNvSpPr>
          <p:nvPr/>
        </p:nvSpPr>
        <p:spPr bwMode="auto">
          <a:xfrm>
            <a:off x="1215998" y="2503580"/>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51" name="Text Box 125"/>
          <p:cNvSpPr txBox="1">
            <a:spLocks noChangeArrowheads="1"/>
          </p:cNvSpPr>
          <p:nvPr/>
        </p:nvSpPr>
        <p:spPr bwMode="auto">
          <a:xfrm>
            <a:off x="1512723" y="3933056"/>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57" name="Freeform 24"/>
          <p:cNvSpPr>
            <a:spLocks/>
          </p:cNvSpPr>
          <p:nvPr/>
        </p:nvSpPr>
        <p:spPr bwMode="blackWhite">
          <a:xfrm>
            <a:off x="2555776"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ACT</a:t>
            </a:r>
          </a:p>
        </p:txBody>
      </p:sp>
      <p:sp>
        <p:nvSpPr>
          <p:cNvPr id="59" name="Freeform 24"/>
          <p:cNvSpPr>
            <a:spLocks/>
          </p:cNvSpPr>
          <p:nvPr/>
        </p:nvSpPr>
        <p:spPr bwMode="blackWhite">
          <a:xfrm>
            <a:off x="3779912"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RD</a:t>
            </a:r>
          </a:p>
        </p:txBody>
      </p:sp>
      <p:sp>
        <p:nvSpPr>
          <p:cNvPr id="60" name="Freeform 24"/>
          <p:cNvSpPr>
            <a:spLocks/>
          </p:cNvSpPr>
          <p:nvPr/>
        </p:nvSpPr>
        <p:spPr bwMode="blackWhite">
          <a:xfrm>
            <a:off x="6012160"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PRE</a:t>
            </a:r>
          </a:p>
        </p:txBody>
      </p:sp>
      <p:sp>
        <p:nvSpPr>
          <p:cNvPr id="72" name="Freeform 24"/>
          <p:cNvSpPr>
            <a:spLocks/>
          </p:cNvSpPr>
          <p:nvPr/>
        </p:nvSpPr>
        <p:spPr bwMode="blackWhite">
          <a:xfrm>
            <a:off x="7308304"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ACT</a:t>
            </a:r>
          </a:p>
        </p:txBody>
      </p:sp>
      <p:sp>
        <p:nvSpPr>
          <p:cNvPr id="75" name="Rectangle 3"/>
          <p:cNvSpPr txBox="1">
            <a:spLocks noChangeArrowheads="1"/>
          </p:cNvSpPr>
          <p:nvPr/>
        </p:nvSpPr>
        <p:spPr>
          <a:xfrm>
            <a:off x="250825" y="981075"/>
            <a:ext cx="5329287"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Acceso a bloque (lectura)</a:t>
            </a:r>
          </a:p>
        </p:txBody>
      </p:sp>
      <p:sp>
        <p:nvSpPr>
          <p:cNvPr id="38" name="Rectangle 10"/>
          <p:cNvSpPr>
            <a:spLocks noChangeArrowheads="1"/>
          </p:cNvSpPr>
          <p:nvPr/>
        </p:nvSpPr>
        <p:spPr bwMode="auto">
          <a:xfrm>
            <a:off x="2987824" y="2996952"/>
            <a:ext cx="511175" cy="304800"/>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RCD</a:t>
            </a:r>
            <a:endParaRPr lang="es-ES_tradnl" sz="2400" b="1" baseline="-25000" dirty="0"/>
          </a:p>
        </p:txBody>
      </p:sp>
      <p:sp>
        <p:nvSpPr>
          <p:cNvPr id="39" name="Line 11"/>
          <p:cNvSpPr>
            <a:spLocks noChangeShapeType="1"/>
          </p:cNvSpPr>
          <p:nvPr/>
        </p:nvSpPr>
        <p:spPr bwMode="auto">
          <a:xfrm>
            <a:off x="2555776" y="2996952"/>
            <a:ext cx="1224136"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56" name="55 Grupo"/>
          <p:cNvGrpSpPr/>
          <p:nvPr/>
        </p:nvGrpSpPr>
        <p:grpSpPr>
          <a:xfrm>
            <a:off x="2555776" y="1628800"/>
            <a:ext cx="1224136" cy="2880320"/>
            <a:chOff x="2555776" y="1628800"/>
            <a:chExt cx="1224136" cy="2880320"/>
          </a:xfrm>
        </p:grpSpPr>
        <p:sp>
          <p:nvSpPr>
            <p:cNvPr id="40" name="Line 4"/>
            <p:cNvSpPr>
              <a:spLocks noChangeShapeType="1"/>
            </p:cNvSpPr>
            <p:nvPr/>
          </p:nvSpPr>
          <p:spPr bwMode="auto">
            <a:xfrm>
              <a:off x="2555776" y="1628800"/>
              <a:ext cx="0" cy="2172072"/>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1" name="Line 4"/>
            <p:cNvSpPr>
              <a:spLocks noChangeShapeType="1"/>
            </p:cNvSpPr>
            <p:nvPr/>
          </p:nvSpPr>
          <p:spPr bwMode="auto">
            <a:xfrm>
              <a:off x="3779912" y="2276872"/>
              <a:ext cx="0" cy="2232248"/>
            </a:xfrm>
            <a:prstGeom prst="line">
              <a:avLst/>
            </a:prstGeom>
            <a:noFill/>
            <a:ln w="28575">
              <a:solidFill>
                <a:schemeClr val="bg1">
                  <a:lumMod val="75000"/>
                </a:schemeClr>
              </a:solidFill>
              <a:round/>
              <a:headEnd/>
              <a:tailEnd/>
            </a:ln>
          </p:spPr>
          <p:txBody>
            <a:bodyPr wrap="none" lIns="0" tIns="0" rIns="0" bIns="0" anchor="ctr"/>
            <a:lstStyle/>
            <a:p>
              <a:endParaRPr lang="es-ES"/>
            </a:p>
          </p:txBody>
        </p:sp>
      </p:grpSp>
      <p:sp>
        <p:nvSpPr>
          <p:cNvPr id="42" name="Line 11"/>
          <p:cNvSpPr>
            <a:spLocks noChangeShapeType="1"/>
          </p:cNvSpPr>
          <p:nvPr/>
        </p:nvSpPr>
        <p:spPr bwMode="auto">
          <a:xfrm>
            <a:off x="2555776" y="3501008"/>
            <a:ext cx="345638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3" name="Line 4"/>
          <p:cNvSpPr>
            <a:spLocks noChangeShapeType="1"/>
          </p:cNvSpPr>
          <p:nvPr/>
        </p:nvSpPr>
        <p:spPr bwMode="auto">
          <a:xfrm>
            <a:off x="6012160" y="2204864"/>
            <a:ext cx="0" cy="1524000"/>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4" name="Rectangle 10"/>
          <p:cNvSpPr>
            <a:spLocks noChangeArrowheads="1"/>
          </p:cNvSpPr>
          <p:nvPr/>
        </p:nvSpPr>
        <p:spPr bwMode="auto">
          <a:xfrm>
            <a:off x="4499992" y="3068960"/>
            <a:ext cx="501739"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RAS</a:t>
            </a:r>
            <a:endParaRPr lang="es-ES_tradnl" sz="2400" b="1" baseline="-25000" dirty="0"/>
          </a:p>
        </p:txBody>
      </p:sp>
      <p:sp>
        <p:nvSpPr>
          <p:cNvPr id="45" name="Line 11"/>
          <p:cNvSpPr>
            <a:spLocks noChangeShapeType="1"/>
          </p:cNvSpPr>
          <p:nvPr/>
        </p:nvSpPr>
        <p:spPr bwMode="auto">
          <a:xfrm>
            <a:off x="3780000" y="4096817"/>
            <a:ext cx="1224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6" name="Line 4"/>
          <p:cNvSpPr>
            <a:spLocks noChangeShapeType="1"/>
          </p:cNvSpPr>
          <p:nvPr/>
        </p:nvSpPr>
        <p:spPr bwMode="auto">
          <a:xfrm>
            <a:off x="5004048" y="3717032"/>
            <a:ext cx="0" cy="792088"/>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7" name="Rectangle 10"/>
          <p:cNvSpPr>
            <a:spLocks noChangeArrowheads="1"/>
          </p:cNvSpPr>
          <p:nvPr/>
        </p:nvSpPr>
        <p:spPr bwMode="auto">
          <a:xfrm>
            <a:off x="4283968" y="4149080"/>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48" name="Line 4"/>
          <p:cNvSpPr>
            <a:spLocks noChangeShapeType="1"/>
          </p:cNvSpPr>
          <p:nvPr/>
        </p:nvSpPr>
        <p:spPr bwMode="auto">
          <a:xfrm>
            <a:off x="7308304" y="1700808"/>
            <a:ext cx="0" cy="2180456"/>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52" name="Rectangle 10"/>
          <p:cNvSpPr>
            <a:spLocks noChangeArrowheads="1"/>
          </p:cNvSpPr>
          <p:nvPr/>
        </p:nvSpPr>
        <p:spPr bwMode="auto">
          <a:xfrm>
            <a:off x="6516216" y="3067472"/>
            <a:ext cx="354264"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RP</a:t>
            </a:r>
            <a:endParaRPr lang="es-ES_tradnl" sz="2400" b="1" baseline="-25000" dirty="0"/>
          </a:p>
        </p:txBody>
      </p:sp>
      <p:sp>
        <p:nvSpPr>
          <p:cNvPr id="53" name="Line 11"/>
          <p:cNvSpPr>
            <a:spLocks noChangeShapeType="1"/>
          </p:cNvSpPr>
          <p:nvPr/>
        </p:nvSpPr>
        <p:spPr bwMode="auto">
          <a:xfrm>
            <a:off x="6012160" y="3068960"/>
            <a:ext cx="129614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54" name="Line 11"/>
          <p:cNvSpPr>
            <a:spLocks noChangeShapeType="1"/>
          </p:cNvSpPr>
          <p:nvPr/>
        </p:nvSpPr>
        <p:spPr bwMode="auto">
          <a:xfrm>
            <a:off x="2555776" y="2132856"/>
            <a:ext cx="4752528"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55" name="Rectangle 10"/>
          <p:cNvSpPr>
            <a:spLocks noChangeArrowheads="1"/>
          </p:cNvSpPr>
          <p:nvPr/>
        </p:nvSpPr>
        <p:spPr bwMode="auto">
          <a:xfrm>
            <a:off x="4858468" y="1681063"/>
            <a:ext cx="365485"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a:t>
            </a:r>
            <a:endParaRPr lang="es-ES_tradnl" sz="2400" b="1" baseline="-25000" dirty="0"/>
          </a:p>
        </p:txBody>
      </p:sp>
      <p:sp>
        <p:nvSpPr>
          <p:cNvPr id="58" name="Rectangle 3"/>
          <p:cNvSpPr txBox="1">
            <a:spLocks noChangeArrowheads="1"/>
          </p:cNvSpPr>
          <p:nvPr/>
        </p:nvSpPr>
        <p:spPr>
          <a:xfrm>
            <a:off x="304800" y="4725144"/>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kumimoji="0" lang="es-ES" sz="2000" b="0" i="0" u="none" strike="noStrike" kern="1200" cap="none" spc="0" normalizeH="0" baseline="0" noProof="0" dirty="0">
                <a:ln>
                  <a:noFill/>
                </a:ln>
                <a:solidFill>
                  <a:schemeClr val="tx1"/>
                </a:solidFill>
                <a:effectLst/>
                <a:uLnTx/>
                <a:uFillTx/>
                <a:latin typeface="+mn-lt"/>
                <a:ea typeface="+mn-ea"/>
                <a:cs typeface="+mn-cs"/>
              </a:rPr>
              <a:t>CL: latencia de CAS o tiempo </a:t>
            </a:r>
            <a:r>
              <a:rPr kumimoji="0" lang="es-ES" altLang="ja-JP" sz="2000" b="0" i="0" u="none" strike="noStrike" kern="1200" cap="none" spc="0" normalizeH="0" baseline="0" noProof="0" dirty="0">
                <a:ln>
                  <a:noFill/>
                </a:ln>
                <a:solidFill>
                  <a:schemeClr val="tx1"/>
                </a:solidFill>
                <a:effectLst/>
                <a:uLnTx/>
                <a:uFillTx/>
                <a:latin typeface="+mn-lt"/>
                <a:ea typeface="Geneva" pitchFamily="1" charset="-128"/>
                <a:cs typeface="+mn-cs"/>
              </a:rPr>
              <a:t>entre la orden de lectura y la salida de datos válidos </a:t>
            </a: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kumimoji="0" lang="es-ES" altLang="ja-JP" sz="2000" b="0" i="0" u="none" strike="noStrike" kern="1200" cap="none" spc="0" normalizeH="0" baseline="0" noProof="0" dirty="0">
                <a:ln>
                  <a:noFill/>
                </a:ln>
                <a:solidFill>
                  <a:schemeClr val="tx1"/>
                </a:solidFill>
                <a:effectLst/>
                <a:uLnTx/>
                <a:uFillTx/>
                <a:latin typeface="+mn-lt"/>
                <a:ea typeface="Geneva" pitchFamily="1" charset="-128"/>
                <a:cs typeface="+mn-cs"/>
              </a:rPr>
              <a:t>Tiempo de acceso a los datos (latencia</a:t>
            </a:r>
            <a:r>
              <a:rPr kumimoji="0" lang="es-ES" altLang="ja-JP" sz="2000" b="0" i="0" u="none" strike="noStrike" kern="1200" cap="none" spc="0" normalizeH="0" noProof="0" dirty="0">
                <a:ln>
                  <a:noFill/>
                </a:ln>
                <a:solidFill>
                  <a:schemeClr val="tx1"/>
                </a:solidFill>
                <a:effectLst/>
                <a:uLnTx/>
                <a:uFillTx/>
                <a:latin typeface="+mn-lt"/>
                <a:ea typeface="Geneva" pitchFamily="1" charset="-128"/>
                <a:cs typeface="+mn-cs"/>
              </a:rPr>
              <a:t> de lectura)</a:t>
            </a:r>
            <a:r>
              <a:rPr kumimoji="0" lang="es-ES" altLang="ja-JP" sz="2000" b="0" i="0" u="none" strike="noStrike" kern="1200" cap="none" spc="0" normalizeH="0" baseline="0" noProof="0" dirty="0">
                <a:ln>
                  <a:noFill/>
                </a:ln>
                <a:solidFill>
                  <a:schemeClr val="tx1"/>
                </a:solidFill>
                <a:effectLst/>
                <a:uLnTx/>
                <a:uFillTx/>
                <a:latin typeface="+mn-lt"/>
                <a:ea typeface="Geneva" pitchFamily="1" charset="-128"/>
                <a:cs typeface="+mn-cs"/>
              </a:rPr>
              <a:t> ≥ </a:t>
            </a:r>
            <a:r>
              <a:rPr kumimoji="0" lang="es-ES" sz="2000" b="0" i="0" u="none" strike="noStrike" kern="1200" cap="none" spc="0" normalizeH="0" baseline="0" noProof="0" dirty="0" err="1">
                <a:ln>
                  <a:noFill/>
                </a:ln>
                <a:solidFill>
                  <a:schemeClr val="tx1"/>
                </a:solidFill>
                <a:effectLst/>
                <a:uLnTx/>
                <a:uFillTx/>
                <a:latin typeface="+mn-lt"/>
                <a:ea typeface="+mn-ea"/>
                <a:cs typeface="+mn-cs"/>
              </a:rPr>
              <a:t>t</a:t>
            </a:r>
            <a:r>
              <a:rPr kumimoji="0" lang="es-ES" sz="2400" b="1" i="0" u="none" strike="noStrike" kern="1200" cap="none" spc="0" normalizeH="0" baseline="-25000" noProof="0" dirty="0" err="1">
                <a:ln>
                  <a:noFill/>
                </a:ln>
                <a:solidFill>
                  <a:schemeClr val="tx1"/>
                </a:solidFill>
                <a:effectLst/>
                <a:uLnTx/>
                <a:uFillTx/>
                <a:latin typeface="+mn-lt"/>
                <a:ea typeface="+mn-ea"/>
                <a:cs typeface="+mn-cs"/>
              </a:rPr>
              <a:t>RCD</a:t>
            </a:r>
            <a:r>
              <a:rPr kumimoji="0" lang="es-ES" sz="2000" b="1" i="0" u="none" strike="noStrike" kern="1200" cap="none" spc="0" normalizeH="0" baseline="0" noProof="0" dirty="0">
                <a:ln>
                  <a:noFill/>
                </a:ln>
                <a:solidFill>
                  <a:schemeClr val="tx1"/>
                </a:solidFill>
                <a:effectLst/>
                <a:uLnTx/>
                <a:uFillTx/>
                <a:latin typeface="+mn-lt"/>
                <a:ea typeface="+mn-ea"/>
                <a:cs typeface="+mn-cs"/>
              </a:rPr>
              <a:t> </a:t>
            </a:r>
            <a:r>
              <a:rPr kumimoji="0" lang="es-ES" sz="2000" b="0" i="0" u="none" strike="noStrike" kern="1200" cap="none" spc="0" normalizeH="0" baseline="0" noProof="0" dirty="0">
                <a:ln>
                  <a:noFill/>
                </a:ln>
                <a:solidFill>
                  <a:schemeClr val="tx1"/>
                </a:solidFill>
                <a:effectLst/>
                <a:uLnTx/>
                <a:uFillTx/>
                <a:latin typeface="+mn-lt"/>
                <a:ea typeface="+mn-ea"/>
                <a:cs typeface="+mn-cs"/>
              </a:rPr>
              <a:t>+ CL</a:t>
            </a: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err="1">
                <a:latin typeface="+mn-lt"/>
                <a:ea typeface="+mn-ea"/>
              </a:rPr>
              <a:t>t</a:t>
            </a:r>
            <a:r>
              <a:rPr lang="es-ES" altLang="ja-JP" sz="2400" b="1" baseline="-25000" dirty="0" err="1">
                <a:latin typeface="+mn-lt"/>
                <a:ea typeface="+mn-ea"/>
              </a:rPr>
              <a:t>RC</a:t>
            </a:r>
            <a:r>
              <a:rPr lang="es-ES" altLang="ja-JP" dirty="0">
                <a:latin typeface="+mn-lt"/>
                <a:ea typeface="+mn-ea"/>
              </a:rPr>
              <a:t> ≥ </a:t>
            </a:r>
            <a:r>
              <a:rPr lang="es-ES" altLang="ja-JP" dirty="0" err="1">
                <a:latin typeface="+mn-lt"/>
                <a:ea typeface="+mn-ea"/>
              </a:rPr>
              <a:t>t</a:t>
            </a:r>
            <a:r>
              <a:rPr lang="es-ES" altLang="ja-JP" sz="2400" b="1" baseline="-25000" dirty="0" err="1">
                <a:latin typeface="+mn-lt"/>
                <a:ea typeface="+mn-ea"/>
              </a:rPr>
              <a:t>RAS</a:t>
            </a:r>
            <a:r>
              <a:rPr lang="es-ES" altLang="ja-JP" dirty="0" err="1">
                <a:latin typeface="+mn-lt"/>
                <a:ea typeface="+mn-ea"/>
              </a:rPr>
              <a:t>+t</a:t>
            </a:r>
            <a:r>
              <a:rPr lang="es-ES" altLang="ja-JP" sz="2400" b="1" baseline="-25000" dirty="0" err="1">
                <a:latin typeface="+mn-lt"/>
                <a:ea typeface="+mn-ea"/>
              </a:rPr>
              <a:t>RP</a:t>
            </a:r>
            <a:endParaRPr kumimoji="0" lang="es-ES" altLang="ja-JP" sz="2000" b="0" u="none" strike="noStrike" kern="1200" cap="none" spc="0" normalizeH="0" baseline="0" noProof="0" dirty="0">
              <a:ln>
                <a:noFill/>
              </a:ln>
              <a:solidFill>
                <a:schemeClr val="tx1"/>
              </a:solidFill>
              <a:effectLst/>
              <a:uLnTx/>
              <a:uFillTx/>
              <a:latin typeface="+mn-lt"/>
              <a:ea typeface="ＭＳ Ｐゴシック" charset="-128"/>
              <a:cs typeface="+mn-cs"/>
            </a:endParaRPr>
          </a:p>
        </p:txBody>
      </p:sp>
    </p:spTree>
    <p:extLst>
      <p:ext uri="{BB962C8B-B14F-4D97-AF65-F5344CB8AC3E}">
        <p14:creationId xmlns:p14="http://schemas.microsoft.com/office/powerpoint/2010/main" val="2886243143"/>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72</a:t>
            </a:fld>
            <a:endParaRPr lang="en-US" dirty="0"/>
          </a:p>
        </p:txBody>
      </p:sp>
      <p:grpSp>
        <p:nvGrpSpPr>
          <p:cNvPr id="4" name="Group 82"/>
          <p:cNvGrpSpPr>
            <a:grpSpLocks/>
          </p:cNvGrpSpPr>
          <p:nvPr/>
        </p:nvGrpSpPr>
        <p:grpSpPr bwMode="auto">
          <a:xfrm>
            <a:off x="3391498" y="3936033"/>
            <a:ext cx="573625" cy="304800"/>
            <a:chOff x="2640" y="2304"/>
            <a:chExt cx="384" cy="192"/>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7" name="Text Box 72"/>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P0</a:t>
              </a:r>
            </a:p>
          </p:txBody>
        </p:sp>
      </p:grpSp>
      <p:grpSp>
        <p:nvGrpSpPr>
          <p:cNvPr id="5" name="Group 85"/>
          <p:cNvGrpSpPr>
            <a:grpSpLocks/>
          </p:cNvGrpSpPr>
          <p:nvPr/>
        </p:nvGrpSpPr>
        <p:grpSpPr bwMode="auto">
          <a:xfrm>
            <a:off x="3968110" y="3936033"/>
            <a:ext cx="573625" cy="304800"/>
            <a:chOff x="3024" y="2304"/>
            <a:chExt cx="384" cy="192"/>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5" name="Text Box 75"/>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6" name="Group 84"/>
          <p:cNvGrpSpPr>
            <a:grpSpLocks/>
          </p:cNvGrpSpPr>
          <p:nvPr/>
        </p:nvGrpSpPr>
        <p:grpSpPr bwMode="auto">
          <a:xfrm>
            <a:off x="4541735" y="3936033"/>
            <a:ext cx="573625" cy="304800"/>
            <a:chOff x="3408" y="2304"/>
            <a:chExt cx="384" cy="192"/>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3" name="Text Box 78"/>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7" name="Group 83"/>
          <p:cNvGrpSpPr>
            <a:grpSpLocks/>
          </p:cNvGrpSpPr>
          <p:nvPr/>
        </p:nvGrpSpPr>
        <p:grpSpPr bwMode="auto">
          <a:xfrm>
            <a:off x="5121335" y="3936033"/>
            <a:ext cx="573625" cy="304800"/>
            <a:chOff x="3792" y="2304"/>
            <a:chExt cx="384" cy="192"/>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1" name="Text Box 81"/>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sp>
        <p:nvSpPr>
          <p:cNvPr id="49" name="Text Box 123"/>
          <p:cNvSpPr txBox="1">
            <a:spLocks noChangeArrowheads="1"/>
          </p:cNvSpPr>
          <p:nvPr/>
        </p:nvSpPr>
        <p:spPr bwMode="auto">
          <a:xfrm>
            <a:off x="827584" y="2503580"/>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51" name="Text Box 125"/>
          <p:cNvSpPr txBox="1">
            <a:spLocks noChangeArrowheads="1"/>
          </p:cNvSpPr>
          <p:nvPr/>
        </p:nvSpPr>
        <p:spPr bwMode="auto">
          <a:xfrm>
            <a:off x="1124309" y="3933056"/>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57" name="Freeform 24"/>
          <p:cNvSpPr>
            <a:spLocks/>
          </p:cNvSpPr>
          <p:nvPr/>
        </p:nvSpPr>
        <p:spPr bwMode="blackWhite">
          <a:xfrm>
            <a:off x="2167362"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ACT</a:t>
            </a:r>
          </a:p>
        </p:txBody>
      </p:sp>
      <p:sp>
        <p:nvSpPr>
          <p:cNvPr id="59" name="Freeform 24"/>
          <p:cNvSpPr>
            <a:spLocks/>
          </p:cNvSpPr>
          <p:nvPr/>
        </p:nvSpPr>
        <p:spPr bwMode="blackWhite">
          <a:xfrm>
            <a:off x="3391498"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WR</a:t>
            </a:r>
          </a:p>
        </p:txBody>
      </p:sp>
      <p:sp>
        <p:nvSpPr>
          <p:cNvPr id="60" name="Freeform 24"/>
          <p:cNvSpPr>
            <a:spLocks/>
          </p:cNvSpPr>
          <p:nvPr/>
        </p:nvSpPr>
        <p:spPr bwMode="blackWhite">
          <a:xfrm>
            <a:off x="6444208"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PRE</a:t>
            </a:r>
          </a:p>
        </p:txBody>
      </p:sp>
      <p:sp>
        <p:nvSpPr>
          <p:cNvPr id="72" name="Freeform 24"/>
          <p:cNvSpPr>
            <a:spLocks/>
          </p:cNvSpPr>
          <p:nvPr/>
        </p:nvSpPr>
        <p:spPr bwMode="blackWhite">
          <a:xfrm>
            <a:off x="7740352"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ACT</a:t>
            </a:r>
          </a:p>
        </p:txBody>
      </p:sp>
      <p:sp>
        <p:nvSpPr>
          <p:cNvPr id="75" name="Rectangle 3"/>
          <p:cNvSpPr txBox="1">
            <a:spLocks noChangeArrowheads="1"/>
          </p:cNvSpPr>
          <p:nvPr/>
        </p:nvSpPr>
        <p:spPr>
          <a:xfrm>
            <a:off x="250825" y="981075"/>
            <a:ext cx="5329287"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Acceso a bloque (escritura)</a:t>
            </a:r>
          </a:p>
        </p:txBody>
      </p:sp>
      <p:sp>
        <p:nvSpPr>
          <p:cNvPr id="38" name="Rectangle 10"/>
          <p:cNvSpPr>
            <a:spLocks noChangeArrowheads="1"/>
          </p:cNvSpPr>
          <p:nvPr/>
        </p:nvSpPr>
        <p:spPr bwMode="auto">
          <a:xfrm>
            <a:off x="2599410" y="2996952"/>
            <a:ext cx="511175" cy="304800"/>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RCD</a:t>
            </a:r>
            <a:endParaRPr lang="es-ES_tradnl" sz="2400" b="1" baseline="-25000" dirty="0"/>
          </a:p>
        </p:txBody>
      </p:sp>
      <p:sp>
        <p:nvSpPr>
          <p:cNvPr id="39" name="Line 11"/>
          <p:cNvSpPr>
            <a:spLocks noChangeShapeType="1"/>
          </p:cNvSpPr>
          <p:nvPr/>
        </p:nvSpPr>
        <p:spPr bwMode="auto">
          <a:xfrm>
            <a:off x="2167362" y="2996952"/>
            <a:ext cx="1224136"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grpSp>
        <p:nvGrpSpPr>
          <p:cNvPr id="8" name="55 Grupo"/>
          <p:cNvGrpSpPr/>
          <p:nvPr/>
        </p:nvGrpSpPr>
        <p:grpSpPr>
          <a:xfrm>
            <a:off x="2167362" y="1628800"/>
            <a:ext cx="1224136" cy="2880320"/>
            <a:chOff x="2555776" y="1628800"/>
            <a:chExt cx="1224136" cy="2880320"/>
          </a:xfrm>
        </p:grpSpPr>
        <p:sp>
          <p:nvSpPr>
            <p:cNvPr id="40" name="Line 4"/>
            <p:cNvSpPr>
              <a:spLocks noChangeShapeType="1"/>
            </p:cNvSpPr>
            <p:nvPr/>
          </p:nvSpPr>
          <p:spPr bwMode="auto">
            <a:xfrm>
              <a:off x="2555776" y="1628800"/>
              <a:ext cx="0" cy="2172072"/>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1" name="Line 4"/>
            <p:cNvSpPr>
              <a:spLocks noChangeShapeType="1"/>
            </p:cNvSpPr>
            <p:nvPr/>
          </p:nvSpPr>
          <p:spPr bwMode="auto">
            <a:xfrm>
              <a:off x="3779912" y="2276872"/>
              <a:ext cx="0" cy="2232248"/>
            </a:xfrm>
            <a:prstGeom prst="line">
              <a:avLst/>
            </a:prstGeom>
            <a:noFill/>
            <a:ln w="28575">
              <a:solidFill>
                <a:schemeClr val="bg1">
                  <a:lumMod val="75000"/>
                </a:schemeClr>
              </a:solidFill>
              <a:round/>
              <a:headEnd/>
              <a:tailEnd/>
            </a:ln>
          </p:spPr>
          <p:txBody>
            <a:bodyPr wrap="none" lIns="0" tIns="0" rIns="0" bIns="0" anchor="ctr"/>
            <a:lstStyle/>
            <a:p>
              <a:endParaRPr lang="es-ES"/>
            </a:p>
          </p:txBody>
        </p:sp>
      </p:grpSp>
      <p:sp>
        <p:nvSpPr>
          <p:cNvPr id="42" name="Line 11"/>
          <p:cNvSpPr>
            <a:spLocks noChangeShapeType="1"/>
          </p:cNvSpPr>
          <p:nvPr/>
        </p:nvSpPr>
        <p:spPr bwMode="auto">
          <a:xfrm>
            <a:off x="2167362" y="3501008"/>
            <a:ext cx="4248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3" name="Line 4"/>
          <p:cNvSpPr>
            <a:spLocks noChangeShapeType="1"/>
          </p:cNvSpPr>
          <p:nvPr/>
        </p:nvSpPr>
        <p:spPr bwMode="auto">
          <a:xfrm>
            <a:off x="6444208" y="2204864"/>
            <a:ext cx="0" cy="2592288"/>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4" name="Rectangle 10"/>
          <p:cNvSpPr>
            <a:spLocks noChangeArrowheads="1"/>
          </p:cNvSpPr>
          <p:nvPr/>
        </p:nvSpPr>
        <p:spPr bwMode="auto">
          <a:xfrm>
            <a:off x="4111578" y="3068960"/>
            <a:ext cx="501739"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RAS</a:t>
            </a:r>
            <a:endParaRPr lang="es-ES_tradnl" sz="2400" b="1" baseline="-25000" dirty="0"/>
          </a:p>
        </p:txBody>
      </p:sp>
      <p:sp>
        <p:nvSpPr>
          <p:cNvPr id="48" name="Line 4"/>
          <p:cNvSpPr>
            <a:spLocks noChangeShapeType="1"/>
          </p:cNvSpPr>
          <p:nvPr/>
        </p:nvSpPr>
        <p:spPr bwMode="auto">
          <a:xfrm>
            <a:off x="7740352" y="1700808"/>
            <a:ext cx="0" cy="2180456"/>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52" name="Rectangle 10"/>
          <p:cNvSpPr>
            <a:spLocks noChangeArrowheads="1"/>
          </p:cNvSpPr>
          <p:nvPr/>
        </p:nvSpPr>
        <p:spPr bwMode="auto">
          <a:xfrm>
            <a:off x="6948264" y="3067472"/>
            <a:ext cx="354264"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RP</a:t>
            </a:r>
            <a:endParaRPr lang="es-ES_tradnl" sz="2400" b="1" baseline="-25000" dirty="0"/>
          </a:p>
        </p:txBody>
      </p:sp>
      <p:sp>
        <p:nvSpPr>
          <p:cNvPr id="53" name="Line 11"/>
          <p:cNvSpPr>
            <a:spLocks noChangeShapeType="1"/>
          </p:cNvSpPr>
          <p:nvPr/>
        </p:nvSpPr>
        <p:spPr bwMode="auto">
          <a:xfrm>
            <a:off x="6444208" y="3068960"/>
            <a:ext cx="129614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54" name="Line 11"/>
          <p:cNvSpPr>
            <a:spLocks noChangeShapeType="1"/>
          </p:cNvSpPr>
          <p:nvPr/>
        </p:nvSpPr>
        <p:spPr bwMode="auto">
          <a:xfrm>
            <a:off x="2167362" y="2132856"/>
            <a:ext cx="5544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55" name="Rectangle 10"/>
          <p:cNvSpPr>
            <a:spLocks noChangeArrowheads="1"/>
          </p:cNvSpPr>
          <p:nvPr/>
        </p:nvSpPr>
        <p:spPr bwMode="auto">
          <a:xfrm>
            <a:off x="4470054" y="1681063"/>
            <a:ext cx="365485"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a:t>
            </a:r>
            <a:endParaRPr lang="es-ES_tradnl" sz="2400" b="1" baseline="-25000" dirty="0"/>
          </a:p>
        </p:txBody>
      </p:sp>
      <p:sp>
        <p:nvSpPr>
          <p:cNvPr id="50" name="Rectangle 10"/>
          <p:cNvSpPr>
            <a:spLocks noChangeArrowheads="1"/>
          </p:cNvSpPr>
          <p:nvPr/>
        </p:nvSpPr>
        <p:spPr bwMode="auto">
          <a:xfrm>
            <a:off x="5580112" y="4435624"/>
            <a:ext cx="411972"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WR</a:t>
            </a:r>
            <a:endParaRPr lang="es-ES_tradnl" sz="2400" b="1" baseline="-25000" dirty="0"/>
          </a:p>
        </p:txBody>
      </p:sp>
      <p:sp>
        <p:nvSpPr>
          <p:cNvPr id="56" name="Line 11"/>
          <p:cNvSpPr>
            <a:spLocks noChangeShapeType="1"/>
          </p:cNvSpPr>
          <p:nvPr/>
        </p:nvSpPr>
        <p:spPr bwMode="auto">
          <a:xfrm>
            <a:off x="5148064" y="4437112"/>
            <a:ext cx="1260056"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61" name="Line 4"/>
          <p:cNvSpPr>
            <a:spLocks noChangeShapeType="1"/>
          </p:cNvSpPr>
          <p:nvPr/>
        </p:nvSpPr>
        <p:spPr bwMode="auto">
          <a:xfrm>
            <a:off x="5148064" y="3861048"/>
            <a:ext cx="0" cy="792088"/>
          </a:xfrm>
          <a:prstGeom prst="line">
            <a:avLst/>
          </a:prstGeom>
          <a:noFill/>
          <a:ln w="28575">
            <a:solidFill>
              <a:schemeClr val="bg1">
                <a:lumMod val="75000"/>
              </a:schemeClr>
            </a:solidFill>
            <a:round/>
            <a:headEnd/>
            <a:tailEnd/>
          </a:ln>
        </p:spPr>
        <p:txBody>
          <a:bodyPr wrap="none" lIns="0" tIns="0" rIns="0" bIns="0" anchor="ctr"/>
          <a:lstStyle/>
          <a:p>
            <a:endParaRPr lang="es-ES"/>
          </a:p>
        </p:txBody>
      </p:sp>
    </p:spTree>
    <p:extLst>
      <p:ext uri="{BB962C8B-B14F-4D97-AF65-F5344CB8AC3E}">
        <p14:creationId xmlns:p14="http://schemas.microsoft.com/office/powerpoint/2010/main" val="2056183991"/>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73</a:t>
            </a:fld>
            <a:endParaRPr lang="en-US" dirty="0"/>
          </a:p>
        </p:txBody>
      </p:sp>
      <p:grpSp>
        <p:nvGrpSpPr>
          <p:cNvPr id="4" name="Group 82"/>
          <p:cNvGrpSpPr>
            <a:grpSpLocks/>
          </p:cNvGrpSpPr>
          <p:nvPr/>
        </p:nvGrpSpPr>
        <p:grpSpPr bwMode="auto">
          <a:xfrm>
            <a:off x="4980133" y="3936033"/>
            <a:ext cx="573625" cy="304800"/>
            <a:chOff x="2640" y="2304"/>
            <a:chExt cx="384" cy="192"/>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7" name="Text Box 72"/>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P0</a:t>
              </a:r>
            </a:p>
          </p:txBody>
        </p:sp>
      </p:grpSp>
      <p:grpSp>
        <p:nvGrpSpPr>
          <p:cNvPr id="5" name="Group 85"/>
          <p:cNvGrpSpPr>
            <a:grpSpLocks/>
          </p:cNvGrpSpPr>
          <p:nvPr/>
        </p:nvGrpSpPr>
        <p:grpSpPr bwMode="auto">
          <a:xfrm>
            <a:off x="5556745" y="3936033"/>
            <a:ext cx="573625" cy="304800"/>
            <a:chOff x="3024" y="2304"/>
            <a:chExt cx="384" cy="192"/>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5" name="Text Box 75"/>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6" name="Group 84"/>
          <p:cNvGrpSpPr>
            <a:grpSpLocks/>
          </p:cNvGrpSpPr>
          <p:nvPr/>
        </p:nvGrpSpPr>
        <p:grpSpPr bwMode="auto">
          <a:xfrm>
            <a:off x="6130370" y="3936033"/>
            <a:ext cx="573625" cy="304800"/>
            <a:chOff x="3408" y="2304"/>
            <a:chExt cx="384" cy="192"/>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3" name="Text Box 78"/>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7" name="Group 83"/>
          <p:cNvGrpSpPr>
            <a:grpSpLocks/>
          </p:cNvGrpSpPr>
          <p:nvPr/>
        </p:nvGrpSpPr>
        <p:grpSpPr bwMode="auto">
          <a:xfrm>
            <a:off x="6709970" y="3936033"/>
            <a:ext cx="573625" cy="304800"/>
            <a:chOff x="3792" y="2304"/>
            <a:chExt cx="384" cy="192"/>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11" name="Text Box 81"/>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sp>
        <p:nvSpPr>
          <p:cNvPr id="49" name="Text Box 123"/>
          <p:cNvSpPr txBox="1">
            <a:spLocks noChangeArrowheads="1"/>
          </p:cNvSpPr>
          <p:nvPr/>
        </p:nvSpPr>
        <p:spPr bwMode="auto">
          <a:xfrm>
            <a:off x="1215998" y="2503580"/>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51" name="Text Box 125"/>
          <p:cNvSpPr txBox="1">
            <a:spLocks noChangeArrowheads="1"/>
          </p:cNvSpPr>
          <p:nvPr/>
        </p:nvSpPr>
        <p:spPr bwMode="auto">
          <a:xfrm>
            <a:off x="1512723" y="3933056"/>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57" name="Freeform 24"/>
          <p:cNvSpPr>
            <a:spLocks/>
          </p:cNvSpPr>
          <p:nvPr/>
        </p:nvSpPr>
        <p:spPr bwMode="blackWhite">
          <a:xfrm>
            <a:off x="2555776"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ACT</a:t>
            </a:r>
          </a:p>
        </p:txBody>
      </p:sp>
      <p:sp>
        <p:nvSpPr>
          <p:cNvPr id="59" name="Freeform 24"/>
          <p:cNvSpPr>
            <a:spLocks/>
          </p:cNvSpPr>
          <p:nvPr/>
        </p:nvSpPr>
        <p:spPr bwMode="blackWhite">
          <a:xfrm>
            <a:off x="3779912"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RD</a:t>
            </a:r>
          </a:p>
        </p:txBody>
      </p:sp>
      <p:sp>
        <p:nvSpPr>
          <p:cNvPr id="60" name="Freeform 24"/>
          <p:cNvSpPr>
            <a:spLocks/>
          </p:cNvSpPr>
          <p:nvPr/>
        </p:nvSpPr>
        <p:spPr bwMode="blackWhite">
          <a:xfrm>
            <a:off x="6012160"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PRE</a:t>
            </a:r>
          </a:p>
        </p:txBody>
      </p:sp>
      <p:sp>
        <p:nvSpPr>
          <p:cNvPr id="72" name="Freeform 24"/>
          <p:cNvSpPr>
            <a:spLocks/>
          </p:cNvSpPr>
          <p:nvPr/>
        </p:nvSpPr>
        <p:spPr bwMode="blackWhite">
          <a:xfrm>
            <a:off x="7308304" y="2420888"/>
            <a:ext cx="720080" cy="360040"/>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b="1" dirty="0">
                <a:solidFill>
                  <a:schemeClr val="bg1"/>
                </a:solidFill>
              </a:rPr>
              <a:t>ACT</a:t>
            </a:r>
          </a:p>
        </p:txBody>
      </p:sp>
      <p:sp>
        <p:nvSpPr>
          <p:cNvPr id="38" name="Rectangle 10"/>
          <p:cNvSpPr>
            <a:spLocks noChangeArrowheads="1"/>
          </p:cNvSpPr>
          <p:nvPr/>
        </p:nvSpPr>
        <p:spPr bwMode="auto">
          <a:xfrm>
            <a:off x="2987824" y="2996952"/>
            <a:ext cx="511175" cy="304800"/>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RCD</a:t>
            </a:r>
            <a:endParaRPr lang="es-ES_tradnl" sz="2400" b="1" baseline="-25000" dirty="0"/>
          </a:p>
        </p:txBody>
      </p:sp>
      <p:sp>
        <p:nvSpPr>
          <p:cNvPr id="39" name="Line 11"/>
          <p:cNvSpPr>
            <a:spLocks noChangeShapeType="1"/>
          </p:cNvSpPr>
          <p:nvPr/>
        </p:nvSpPr>
        <p:spPr bwMode="auto">
          <a:xfrm>
            <a:off x="2555776" y="2996952"/>
            <a:ext cx="1224136"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8" name="55 Grupo"/>
          <p:cNvGrpSpPr/>
          <p:nvPr/>
        </p:nvGrpSpPr>
        <p:grpSpPr>
          <a:xfrm>
            <a:off x="2555776" y="1628800"/>
            <a:ext cx="1224136" cy="2880320"/>
            <a:chOff x="2555776" y="1628800"/>
            <a:chExt cx="1224136" cy="2880320"/>
          </a:xfrm>
        </p:grpSpPr>
        <p:sp>
          <p:nvSpPr>
            <p:cNvPr id="40" name="Line 4"/>
            <p:cNvSpPr>
              <a:spLocks noChangeShapeType="1"/>
            </p:cNvSpPr>
            <p:nvPr/>
          </p:nvSpPr>
          <p:spPr bwMode="auto">
            <a:xfrm>
              <a:off x="2555776" y="1628800"/>
              <a:ext cx="0" cy="2172072"/>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1" name="Line 4"/>
            <p:cNvSpPr>
              <a:spLocks noChangeShapeType="1"/>
            </p:cNvSpPr>
            <p:nvPr/>
          </p:nvSpPr>
          <p:spPr bwMode="auto">
            <a:xfrm>
              <a:off x="3779912" y="2276872"/>
              <a:ext cx="0" cy="2232248"/>
            </a:xfrm>
            <a:prstGeom prst="line">
              <a:avLst/>
            </a:prstGeom>
            <a:noFill/>
            <a:ln w="28575">
              <a:solidFill>
                <a:schemeClr val="bg1">
                  <a:lumMod val="75000"/>
                </a:schemeClr>
              </a:solidFill>
              <a:round/>
              <a:headEnd/>
              <a:tailEnd/>
            </a:ln>
          </p:spPr>
          <p:txBody>
            <a:bodyPr wrap="none" lIns="0" tIns="0" rIns="0" bIns="0" anchor="ctr"/>
            <a:lstStyle/>
            <a:p>
              <a:endParaRPr lang="es-ES"/>
            </a:p>
          </p:txBody>
        </p:sp>
      </p:grpSp>
      <p:sp>
        <p:nvSpPr>
          <p:cNvPr id="42" name="Line 11"/>
          <p:cNvSpPr>
            <a:spLocks noChangeShapeType="1"/>
          </p:cNvSpPr>
          <p:nvPr/>
        </p:nvSpPr>
        <p:spPr bwMode="auto">
          <a:xfrm>
            <a:off x="2555776" y="3501008"/>
            <a:ext cx="345638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3" name="Line 4"/>
          <p:cNvSpPr>
            <a:spLocks noChangeShapeType="1"/>
          </p:cNvSpPr>
          <p:nvPr/>
        </p:nvSpPr>
        <p:spPr bwMode="auto">
          <a:xfrm>
            <a:off x="6012160" y="2204864"/>
            <a:ext cx="0" cy="1524000"/>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4" name="Rectangle 10"/>
          <p:cNvSpPr>
            <a:spLocks noChangeArrowheads="1"/>
          </p:cNvSpPr>
          <p:nvPr/>
        </p:nvSpPr>
        <p:spPr bwMode="auto">
          <a:xfrm>
            <a:off x="4499992" y="3068960"/>
            <a:ext cx="501739"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RAS</a:t>
            </a:r>
            <a:endParaRPr lang="es-ES_tradnl" sz="2400" b="1" baseline="-25000" dirty="0"/>
          </a:p>
        </p:txBody>
      </p:sp>
      <p:sp>
        <p:nvSpPr>
          <p:cNvPr id="45" name="Line 11"/>
          <p:cNvSpPr>
            <a:spLocks noChangeShapeType="1"/>
          </p:cNvSpPr>
          <p:nvPr/>
        </p:nvSpPr>
        <p:spPr bwMode="auto">
          <a:xfrm>
            <a:off x="3780000" y="4096817"/>
            <a:ext cx="1224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6" name="Line 4"/>
          <p:cNvSpPr>
            <a:spLocks noChangeShapeType="1"/>
          </p:cNvSpPr>
          <p:nvPr/>
        </p:nvSpPr>
        <p:spPr bwMode="auto">
          <a:xfrm>
            <a:off x="5004048" y="3717032"/>
            <a:ext cx="0" cy="792088"/>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47" name="Rectangle 10"/>
          <p:cNvSpPr>
            <a:spLocks noChangeArrowheads="1"/>
          </p:cNvSpPr>
          <p:nvPr/>
        </p:nvSpPr>
        <p:spPr bwMode="auto">
          <a:xfrm>
            <a:off x="4283968" y="4149080"/>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48" name="Line 4"/>
          <p:cNvSpPr>
            <a:spLocks noChangeShapeType="1"/>
          </p:cNvSpPr>
          <p:nvPr/>
        </p:nvSpPr>
        <p:spPr bwMode="auto">
          <a:xfrm>
            <a:off x="7308304" y="1700808"/>
            <a:ext cx="0" cy="2180456"/>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52" name="Rectangle 10"/>
          <p:cNvSpPr>
            <a:spLocks noChangeArrowheads="1"/>
          </p:cNvSpPr>
          <p:nvPr/>
        </p:nvSpPr>
        <p:spPr bwMode="auto">
          <a:xfrm>
            <a:off x="6516216" y="3067472"/>
            <a:ext cx="354264"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RP</a:t>
            </a:r>
            <a:endParaRPr lang="es-ES_tradnl" sz="2400" b="1" baseline="-25000" dirty="0"/>
          </a:p>
        </p:txBody>
      </p:sp>
      <p:sp>
        <p:nvSpPr>
          <p:cNvPr id="53" name="Line 11"/>
          <p:cNvSpPr>
            <a:spLocks noChangeShapeType="1"/>
          </p:cNvSpPr>
          <p:nvPr/>
        </p:nvSpPr>
        <p:spPr bwMode="auto">
          <a:xfrm>
            <a:off x="6012160" y="3068960"/>
            <a:ext cx="129614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54" name="Line 11"/>
          <p:cNvSpPr>
            <a:spLocks noChangeShapeType="1"/>
          </p:cNvSpPr>
          <p:nvPr/>
        </p:nvSpPr>
        <p:spPr bwMode="auto">
          <a:xfrm>
            <a:off x="2555776" y="2132856"/>
            <a:ext cx="4752528"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55" name="Rectangle 10"/>
          <p:cNvSpPr>
            <a:spLocks noChangeArrowheads="1"/>
          </p:cNvSpPr>
          <p:nvPr/>
        </p:nvSpPr>
        <p:spPr bwMode="auto">
          <a:xfrm>
            <a:off x="4858468" y="1681063"/>
            <a:ext cx="365485"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a:t>
            </a:r>
            <a:endParaRPr lang="es-ES_tradnl" sz="2400" b="1" baseline="-25000" dirty="0"/>
          </a:p>
        </p:txBody>
      </p:sp>
      <p:grpSp>
        <p:nvGrpSpPr>
          <p:cNvPr id="50" name="Group 87"/>
          <p:cNvGrpSpPr>
            <a:grpSpLocks/>
          </p:cNvGrpSpPr>
          <p:nvPr/>
        </p:nvGrpSpPr>
        <p:grpSpPr bwMode="auto">
          <a:xfrm>
            <a:off x="2571736" y="1285860"/>
            <a:ext cx="4786346" cy="228600"/>
            <a:chOff x="720" y="1728"/>
            <a:chExt cx="3552" cy="144"/>
          </a:xfrm>
        </p:grpSpPr>
        <p:sp>
          <p:nvSpPr>
            <p:cNvPr id="56" name="Freeform 67"/>
            <p:cNvSpPr>
              <a:spLocks/>
            </p:cNvSpPr>
            <p:nvPr/>
          </p:nvSpPr>
          <p:spPr bwMode="auto">
            <a:xfrm>
              <a:off x="720"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61" name="Freeform 68"/>
            <p:cNvSpPr>
              <a:spLocks/>
            </p:cNvSpPr>
            <p:nvPr/>
          </p:nvSpPr>
          <p:spPr bwMode="auto">
            <a:xfrm>
              <a:off x="2256"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62" name="Freeform 86"/>
            <p:cNvSpPr>
              <a:spLocks/>
            </p:cNvSpPr>
            <p:nvPr/>
          </p:nvSpPr>
          <p:spPr bwMode="auto">
            <a:xfrm>
              <a:off x="3792" y="1728"/>
              <a:ext cx="480" cy="144"/>
            </a:xfrm>
            <a:custGeom>
              <a:avLst/>
              <a:gdLst>
                <a:gd name="T0" fmla="*/ 0 w 480"/>
                <a:gd name="T1" fmla="*/ 144 h 144"/>
                <a:gd name="T2" fmla="*/ 96 w 480"/>
                <a:gd name="T3" fmla="*/ 0 h 144"/>
                <a:gd name="T4" fmla="*/ 192 w 480"/>
                <a:gd name="T5" fmla="*/ 0 h 144"/>
                <a:gd name="T6" fmla="*/ 288 w 480"/>
                <a:gd name="T7" fmla="*/ 144 h 144"/>
                <a:gd name="T8" fmla="*/ 384 w 480"/>
                <a:gd name="T9" fmla="*/ 144 h 144"/>
                <a:gd name="T10" fmla="*/ 480 w 480"/>
                <a:gd name="T11" fmla="*/ 0 h 144"/>
                <a:gd name="T12" fmla="*/ 0 60000 65536"/>
                <a:gd name="T13" fmla="*/ 0 60000 65536"/>
                <a:gd name="T14" fmla="*/ 0 60000 65536"/>
                <a:gd name="T15" fmla="*/ 0 60000 65536"/>
                <a:gd name="T16" fmla="*/ 0 60000 65536"/>
                <a:gd name="T17" fmla="*/ 0 60000 65536"/>
                <a:gd name="T18" fmla="*/ 0 w 480"/>
                <a:gd name="T19" fmla="*/ 0 h 144"/>
                <a:gd name="T20" fmla="*/ 480 w 480"/>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480" h="144">
                  <a:moveTo>
                    <a:pt x="0" y="144"/>
                  </a:moveTo>
                  <a:lnTo>
                    <a:pt x="96" y="0"/>
                  </a:lnTo>
                  <a:lnTo>
                    <a:pt x="192" y="0"/>
                  </a:lnTo>
                  <a:lnTo>
                    <a:pt x="288" y="144"/>
                  </a:lnTo>
                  <a:lnTo>
                    <a:pt x="384" y="144"/>
                  </a:lnTo>
                  <a:lnTo>
                    <a:pt x="480" y="0"/>
                  </a:lnTo>
                </a:path>
              </a:pathLst>
            </a:custGeom>
            <a:noFill/>
            <a:ln w="12700">
              <a:solidFill>
                <a:schemeClr val="tx1"/>
              </a:solidFill>
              <a:round/>
              <a:headEnd/>
              <a:tailEnd/>
            </a:ln>
          </p:spPr>
          <p:txBody>
            <a:bodyPr wrap="none" lIns="0" tIns="0" rIns="0" bIns="0" anchor="ctr"/>
            <a:lstStyle/>
            <a:p>
              <a:endParaRPr lang="es-ES"/>
            </a:p>
          </p:txBody>
        </p:sp>
      </p:grpSp>
      <p:sp>
        <p:nvSpPr>
          <p:cNvPr id="63" name="Text Box 125"/>
          <p:cNvSpPr txBox="1">
            <a:spLocks noChangeArrowheads="1"/>
          </p:cNvSpPr>
          <p:nvPr/>
        </p:nvSpPr>
        <p:spPr bwMode="auto">
          <a:xfrm>
            <a:off x="1655658" y="1214422"/>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304800" y="4725144"/>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dirty="0">
                <a:latin typeface="+mn-lt"/>
                <a:ea typeface="+mn-ea"/>
              </a:rPr>
              <a:t>En l</a:t>
            </a:r>
            <a:r>
              <a:rPr kumimoji="0" lang="es-ES" sz="2000" b="0" i="0" u="none" strike="noStrike" kern="1200" cap="none" spc="0" normalizeH="0" baseline="0" noProof="0" dirty="0">
                <a:ln>
                  <a:noFill/>
                </a:ln>
                <a:solidFill>
                  <a:schemeClr val="tx1"/>
                </a:solidFill>
                <a:effectLst/>
                <a:uLnTx/>
                <a:uFillTx/>
                <a:latin typeface="+mn-lt"/>
                <a:ea typeface="+mn-ea"/>
                <a:cs typeface="+mn-cs"/>
              </a:rPr>
              <a:t>as memorias</a:t>
            </a:r>
            <a:r>
              <a:rPr kumimoji="0" lang="es-ES" sz="2000" b="0" i="0" u="none" strike="noStrike" kern="1200" cap="none" spc="0" normalizeH="0" noProof="0" dirty="0">
                <a:ln>
                  <a:noFill/>
                </a:ln>
                <a:solidFill>
                  <a:schemeClr val="tx1"/>
                </a:solidFill>
                <a:effectLst/>
                <a:uLnTx/>
                <a:uFillTx/>
                <a:latin typeface="+mn-lt"/>
                <a:ea typeface="+mn-ea"/>
                <a:cs typeface="+mn-cs"/>
              </a:rPr>
              <a:t> SDRAM todas las transacciones se sincronizan </a:t>
            </a:r>
            <a:r>
              <a:rPr kumimoji="0" lang="es-ES" sz="2000" b="0" i="0" u="none" strike="noStrike" kern="1200" cap="none" spc="0" normalizeH="0" noProof="0" dirty="0" err="1">
                <a:ln>
                  <a:noFill/>
                </a:ln>
                <a:solidFill>
                  <a:schemeClr val="tx1"/>
                </a:solidFill>
                <a:effectLst/>
                <a:uLnTx/>
                <a:uFillTx/>
                <a:latin typeface="+mn-lt"/>
                <a:ea typeface="+mn-ea"/>
                <a:cs typeface="+mn-cs"/>
              </a:rPr>
              <a:t>co</a:t>
            </a:r>
            <a:r>
              <a:rPr lang="es-ES" dirty="0">
                <a:latin typeface="+mn-lt"/>
                <a:ea typeface="+mn-ea"/>
              </a:rPr>
              <a:t>n la señal de reloj (</a:t>
            </a:r>
            <a:r>
              <a:rPr lang="es-ES" dirty="0" err="1">
                <a:latin typeface="+mn-lt"/>
                <a:ea typeface="+mn-ea"/>
              </a:rPr>
              <a:t>clk</a:t>
            </a:r>
            <a:r>
              <a:rPr lang="es-ES" dirty="0">
                <a:latin typeface="+mn-lt"/>
                <a:ea typeface="+mn-ea"/>
              </a:rPr>
              <a:t>)</a:t>
            </a: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a:latin typeface="+mn-lt"/>
                <a:ea typeface="+mn-ea"/>
              </a:rPr>
              <a:t>Los parámetros temporales (valorados en </a:t>
            </a:r>
            <a:r>
              <a:rPr lang="es-ES" altLang="ja-JP" dirty="0" err="1">
                <a:latin typeface="+mn-lt"/>
                <a:ea typeface="+mn-ea"/>
              </a:rPr>
              <a:t>ns</a:t>
            </a:r>
            <a:r>
              <a:rPr lang="es-ES" altLang="ja-JP" dirty="0">
                <a:latin typeface="+mn-lt"/>
                <a:ea typeface="+mn-ea"/>
              </a:rPr>
              <a:t>) deben expresarse en números enteros de ciclos de reloj</a:t>
            </a:r>
            <a:endParaRPr kumimoji="0" lang="es-ES" altLang="ja-JP" sz="2000" b="0" u="none" strike="noStrike" kern="1200" cap="none" spc="0" normalizeH="0" baseline="0" noProof="0" dirty="0">
              <a:ln>
                <a:noFill/>
              </a:ln>
              <a:solidFill>
                <a:schemeClr val="tx1"/>
              </a:solidFill>
              <a:effectLst/>
              <a:uLnTx/>
              <a:uFillTx/>
              <a:latin typeface="+mn-lt"/>
              <a:ea typeface="ＭＳ Ｐゴシック" charset="-128"/>
              <a:cs typeface="+mn-cs"/>
            </a:endParaRPr>
          </a:p>
        </p:txBody>
      </p:sp>
      <p:grpSp>
        <p:nvGrpSpPr>
          <p:cNvPr id="70" name="69 Grupo"/>
          <p:cNvGrpSpPr/>
          <p:nvPr/>
        </p:nvGrpSpPr>
        <p:grpSpPr>
          <a:xfrm>
            <a:off x="6496330" y="714356"/>
            <a:ext cx="576000" cy="753190"/>
            <a:chOff x="6496330" y="714356"/>
            <a:chExt cx="576000" cy="753190"/>
          </a:xfrm>
        </p:grpSpPr>
        <p:grpSp>
          <p:nvGrpSpPr>
            <p:cNvPr id="58" name="57 Grupo"/>
            <p:cNvGrpSpPr/>
            <p:nvPr/>
          </p:nvGrpSpPr>
          <p:grpSpPr>
            <a:xfrm>
              <a:off x="6496330" y="1071546"/>
              <a:ext cx="571504" cy="396000"/>
              <a:chOff x="6496330" y="1071546"/>
              <a:chExt cx="571504" cy="396000"/>
            </a:xfrm>
          </p:grpSpPr>
          <p:sp>
            <p:nvSpPr>
              <p:cNvPr id="67" name="Line 4"/>
              <p:cNvSpPr>
                <a:spLocks noChangeShapeType="1"/>
              </p:cNvSpPr>
              <p:nvPr/>
            </p:nvSpPr>
            <p:spPr bwMode="auto">
              <a:xfrm>
                <a:off x="6496330" y="1071546"/>
                <a:ext cx="0" cy="396000"/>
              </a:xfrm>
              <a:prstGeom prst="line">
                <a:avLst/>
              </a:prstGeom>
              <a:noFill/>
              <a:ln w="28575">
                <a:solidFill>
                  <a:schemeClr val="bg1">
                    <a:lumMod val="75000"/>
                  </a:schemeClr>
                </a:solidFill>
                <a:round/>
                <a:headEnd/>
                <a:tailEnd/>
              </a:ln>
            </p:spPr>
            <p:txBody>
              <a:bodyPr wrap="none" lIns="0" tIns="0" rIns="0" bIns="0" anchor="ctr"/>
              <a:lstStyle/>
              <a:p>
                <a:endParaRPr lang="es-ES"/>
              </a:p>
            </p:txBody>
          </p:sp>
          <p:sp>
            <p:nvSpPr>
              <p:cNvPr id="68" name="Line 4"/>
              <p:cNvSpPr>
                <a:spLocks noChangeShapeType="1"/>
              </p:cNvSpPr>
              <p:nvPr/>
            </p:nvSpPr>
            <p:spPr bwMode="auto">
              <a:xfrm>
                <a:off x="7067834" y="1071546"/>
                <a:ext cx="0" cy="396000"/>
              </a:xfrm>
              <a:prstGeom prst="line">
                <a:avLst/>
              </a:prstGeom>
              <a:noFill/>
              <a:ln w="28575">
                <a:solidFill>
                  <a:schemeClr val="bg1">
                    <a:lumMod val="75000"/>
                  </a:schemeClr>
                </a:solidFill>
                <a:round/>
                <a:headEnd/>
                <a:tailEnd/>
              </a:ln>
            </p:spPr>
            <p:txBody>
              <a:bodyPr wrap="none" lIns="0" tIns="0" rIns="0" bIns="0" anchor="ctr"/>
              <a:lstStyle/>
              <a:p>
                <a:endParaRPr lang="es-ES"/>
              </a:p>
            </p:txBody>
          </p:sp>
        </p:grpSp>
        <p:grpSp>
          <p:nvGrpSpPr>
            <p:cNvPr id="66" name="65 Grupo"/>
            <p:cNvGrpSpPr/>
            <p:nvPr/>
          </p:nvGrpSpPr>
          <p:grpSpPr>
            <a:xfrm>
              <a:off x="6496330" y="714356"/>
              <a:ext cx="576000" cy="428628"/>
              <a:chOff x="6496330" y="714356"/>
              <a:chExt cx="576000" cy="428628"/>
            </a:xfrm>
          </p:grpSpPr>
          <p:sp>
            <p:nvSpPr>
              <p:cNvPr id="65" name="Rectangle 10"/>
              <p:cNvSpPr>
                <a:spLocks noChangeArrowheads="1"/>
              </p:cNvSpPr>
              <p:nvPr/>
            </p:nvSpPr>
            <p:spPr bwMode="auto">
              <a:xfrm>
                <a:off x="6567768" y="714356"/>
                <a:ext cx="365486"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CK</a:t>
                </a:r>
                <a:endParaRPr lang="es-ES_tradnl" sz="2400" b="1" baseline="-25000" dirty="0"/>
              </a:p>
            </p:txBody>
          </p:sp>
          <p:sp>
            <p:nvSpPr>
              <p:cNvPr id="69" name="Line 11"/>
              <p:cNvSpPr>
                <a:spLocks noChangeShapeType="1"/>
              </p:cNvSpPr>
              <p:nvPr/>
            </p:nvSpPr>
            <p:spPr bwMode="auto">
              <a:xfrm>
                <a:off x="6496330" y="1142984"/>
                <a:ext cx="576000"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grpSp>
      <mc:AlternateContent xmlns:mc="http://schemas.openxmlformats.org/markup-compatibility/2006" xmlns:a14="http://schemas.microsoft.com/office/drawing/2010/main">
        <mc:Choice Requires="a14">
          <p:sp>
            <p:nvSpPr>
              <p:cNvPr id="71" name="CuadroTexto 70">
                <a:extLst>
                  <a:ext uri="{FF2B5EF4-FFF2-40B4-BE49-F238E27FC236}">
                    <a16:creationId xmlns:a16="http://schemas.microsoft.com/office/drawing/2014/main" id="{B1C2FA52-4792-4450-8217-441359CDCC16}"/>
                  </a:ext>
                </a:extLst>
              </p:cNvPr>
              <p:cNvSpPr txBox="1"/>
              <p:nvPr/>
            </p:nvSpPr>
            <p:spPr>
              <a:xfrm flipH="1">
                <a:off x="4808628" y="6004302"/>
                <a:ext cx="3253507" cy="68480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solidFill>
                                <a:schemeClr val="accent1">
                                  <a:lumMod val="75000"/>
                                </a:schemeClr>
                              </a:solidFill>
                              <a:latin typeface="Cambria Math" panose="02040503050406030204" pitchFamily="18" charset="0"/>
                            </a:rPr>
                          </m:ctrlPr>
                        </m:dPr>
                        <m:e>
                          <m:f>
                            <m:fPr>
                              <m:ctrlPr>
                                <a:rPr lang="es-ES" i="1" smtClean="0">
                                  <a:solidFill>
                                    <a:schemeClr val="accent1">
                                      <a:lumMod val="75000"/>
                                    </a:schemeClr>
                                  </a:solidFill>
                                  <a:latin typeface="Cambria Math" panose="02040503050406030204" pitchFamily="18" charset="0"/>
                                </a:rPr>
                              </m:ctrlPr>
                            </m:fPr>
                            <m:num>
                              <m:r>
                                <a:rPr lang="es-ES" b="0" i="1" smtClean="0">
                                  <a:solidFill>
                                    <a:schemeClr val="accent1">
                                      <a:lumMod val="75000"/>
                                    </a:schemeClr>
                                  </a:solidFill>
                                  <a:latin typeface="Cambria Math" panose="02040503050406030204" pitchFamily="18" charset="0"/>
                                </a:rPr>
                                <m:t>𝑇𝑖𝑒𝑚𝑝𝑜</m:t>
                              </m:r>
                            </m:num>
                            <m:den>
                              <m:sSub>
                                <m:sSubPr>
                                  <m:ctrlPr>
                                    <a:rPr lang="es-ES" i="1" smtClean="0">
                                      <a:solidFill>
                                        <a:schemeClr val="accent1">
                                          <a:lumMod val="75000"/>
                                        </a:schemeClr>
                                      </a:solidFill>
                                      <a:latin typeface="Cambria Math" panose="02040503050406030204" pitchFamily="18" charset="0"/>
                                    </a:rPr>
                                  </m:ctrlPr>
                                </m:sSubPr>
                                <m:e>
                                  <m:r>
                                    <a:rPr lang="es-ES" b="0" i="1" smtClean="0">
                                      <a:solidFill>
                                        <a:schemeClr val="accent1">
                                          <a:lumMod val="75000"/>
                                        </a:schemeClr>
                                      </a:solidFill>
                                      <a:latin typeface="Cambria Math" panose="02040503050406030204" pitchFamily="18" charset="0"/>
                                    </a:rPr>
                                    <m:t>𝑇</m:t>
                                  </m:r>
                                </m:e>
                                <m:sub>
                                  <m:r>
                                    <a:rPr lang="es-ES" b="0" i="1" smtClean="0">
                                      <a:solidFill>
                                        <a:schemeClr val="accent1">
                                          <a:lumMod val="75000"/>
                                        </a:schemeClr>
                                      </a:solidFill>
                                      <a:latin typeface="Cambria Math" panose="02040503050406030204" pitchFamily="18" charset="0"/>
                                    </a:rPr>
                                    <m:t>𝑐𝑖𝑐𝑙𝑜</m:t>
                                  </m:r>
                                </m:sub>
                              </m:sSub>
                            </m:den>
                          </m:f>
                        </m:e>
                      </m:d>
                      <m:r>
                        <a:rPr lang="es-ES" b="0" i="1" smtClean="0">
                          <a:solidFill>
                            <a:schemeClr val="accent1">
                              <a:lumMod val="75000"/>
                            </a:schemeClr>
                          </a:solidFill>
                          <a:latin typeface="Cambria Math" panose="02040503050406030204" pitchFamily="18" charset="0"/>
                        </a:rPr>
                        <m:t>=</m:t>
                      </m:r>
                      <m:r>
                        <a:rPr lang="es-ES" b="0" i="1" smtClean="0">
                          <a:solidFill>
                            <a:schemeClr val="accent1">
                              <a:lumMod val="75000"/>
                            </a:schemeClr>
                          </a:solidFill>
                          <a:latin typeface="Cambria Math" panose="02040503050406030204" pitchFamily="18" charset="0"/>
                        </a:rPr>
                        <m:t>𝑐𝑖𝑐𝑙𝑜𝑠</m:t>
                      </m:r>
                    </m:oMath>
                  </m:oMathPara>
                </a14:m>
                <a:endParaRPr lang="es-ES" dirty="0">
                  <a:solidFill>
                    <a:schemeClr val="accent1">
                      <a:lumMod val="75000"/>
                    </a:schemeClr>
                  </a:solidFill>
                </a:endParaRPr>
              </a:p>
            </p:txBody>
          </p:sp>
        </mc:Choice>
        <mc:Fallback xmlns="">
          <p:sp>
            <p:nvSpPr>
              <p:cNvPr id="71" name="CuadroTexto 70">
                <a:extLst>
                  <a:ext uri="{FF2B5EF4-FFF2-40B4-BE49-F238E27FC236}">
                    <a16:creationId xmlns:a16="http://schemas.microsoft.com/office/drawing/2014/main" id="{B1C2FA52-4792-4450-8217-441359CDCC16}"/>
                  </a:ext>
                </a:extLst>
              </p:cNvPr>
              <p:cNvSpPr txBox="1">
                <a:spLocks noRot="1" noChangeAspect="1" noMove="1" noResize="1" noEditPoints="1" noAdjustHandles="1" noChangeArrowheads="1" noChangeShapeType="1" noTextEdit="1"/>
              </p:cNvSpPr>
              <p:nvPr/>
            </p:nvSpPr>
            <p:spPr>
              <a:xfrm flipH="1">
                <a:off x="4808628" y="6004302"/>
                <a:ext cx="3253507" cy="684803"/>
              </a:xfrm>
              <a:prstGeom prst="rect">
                <a:avLst/>
              </a:prstGeom>
              <a:blipFill>
                <a:blip r:embed="rId2"/>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876341153"/>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500" fill="hold"/>
                                        <p:tgtEl>
                                          <p:spTgt spid="63"/>
                                        </p:tgtEl>
                                        <p:attrNameLst>
                                          <p:attrName>ppt_x</p:attrName>
                                        </p:attrNameLst>
                                      </p:cBhvr>
                                      <p:tavLst>
                                        <p:tav tm="0">
                                          <p:val>
                                            <p:strVal val="0-#ppt_w/2"/>
                                          </p:val>
                                        </p:tav>
                                        <p:tav tm="100000">
                                          <p:val>
                                            <p:strVal val="#ppt_x"/>
                                          </p:val>
                                        </p:tav>
                                      </p:tavLst>
                                    </p:anim>
                                    <p:anim calcmode="lin" valueType="num">
                                      <p:cBhvr additive="base">
                                        <p:cTn id="13" dur="500" fill="hold"/>
                                        <p:tgtEl>
                                          <p:spTgt spid="6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fade">
                                      <p:cBhvr>
                                        <p:cTn id="17" dur="2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74</a:t>
            </a:fld>
            <a:endParaRPr lang="en-US" dirty="0"/>
          </a:p>
        </p:txBody>
      </p:sp>
      <p:sp>
        <p:nvSpPr>
          <p:cNvPr id="64" name="Rectangle 3"/>
          <p:cNvSpPr txBox="1">
            <a:spLocks noChangeArrowheads="1"/>
          </p:cNvSpPr>
          <p:nvPr/>
        </p:nvSpPr>
        <p:spPr>
          <a:xfrm>
            <a:off x="210312" y="980728"/>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a:latin typeface="+mn-lt"/>
                <a:ea typeface="+mn-ea"/>
              </a:rPr>
              <a:t>Los parámetros temporales (valorados en </a:t>
            </a:r>
            <a:r>
              <a:rPr lang="es-ES" altLang="ja-JP" dirty="0" err="1">
                <a:latin typeface="+mn-lt"/>
                <a:ea typeface="+mn-ea"/>
              </a:rPr>
              <a:t>ns</a:t>
            </a:r>
            <a:r>
              <a:rPr lang="es-ES" altLang="ja-JP" dirty="0">
                <a:latin typeface="+mn-lt"/>
                <a:ea typeface="+mn-ea"/>
              </a:rPr>
              <a:t>) deben expresarse en números enteros de ciclos de reloj</a:t>
            </a: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kumimoji="0" lang="es-ES" altLang="ja-JP" sz="2000" b="0" u="none" strike="noStrike" kern="1200" cap="none" spc="0" normalizeH="0" baseline="0" noProof="0" dirty="0">
                <a:ln>
                  <a:noFill/>
                </a:ln>
                <a:solidFill>
                  <a:schemeClr val="tx1"/>
                </a:solidFill>
                <a:effectLst/>
                <a:uLnTx/>
                <a:uFillTx/>
                <a:latin typeface="+mn-lt"/>
                <a:ea typeface="+mn-ea"/>
                <a:cs typeface="+mn-cs"/>
              </a:rPr>
              <a:t>Por ejemplo si la frecuencia del reloj fu</a:t>
            </a:r>
            <a:r>
              <a:rPr lang="es-ES" altLang="ja-JP" dirty="0">
                <a:latin typeface="+mn-lt"/>
                <a:ea typeface="+mn-ea"/>
              </a:rPr>
              <a:t>era de 50 MHz los ciclos para cada parámetro temporal serían:</a:t>
            </a:r>
            <a:endParaRPr kumimoji="0" lang="es-ES" altLang="ja-JP" sz="2000" b="0" u="none" strike="noStrike" kern="1200" cap="none" spc="0" normalizeH="0" baseline="0" noProof="0" dirty="0">
              <a:ln>
                <a:noFill/>
              </a:ln>
              <a:solidFill>
                <a:schemeClr val="tx1"/>
              </a:solidFill>
              <a:effectLst/>
              <a:uLnTx/>
              <a:uFillTx/>
              <a:latin typeface="+mn-lt"/>
              <a:ea typeface="ＭＳ Ｐゴシック" charset="-128"/>
              <a:cs typeface="+mn-cs"/>
            </a:endParaRPr>
          </a:p>
        </p:txBody>
      </p:sp>
      <p:sp>
        <p:nvSpPr>
          <p:cNvPr id="78" name="Rectangle 5">
            <a:extLst>
              <a:ext uri="{FF2B5EF4-FFF2-40B4-BE49-F238E27FC236}">
                <a16:creationId xmlns:a16="http://schemas.microsoft.com/office/drawing/2014/main" id="{4E4083BE-E7D9-4BC7-AA77-B3E6E1D07A38}"/>
              </a:ext>
            </a:extLst>
          </p:cNvPr>
          <p:cNvSpPr>
            <a:spLocks noChangeArrowheads="1"/>
          </p:cNvSpPr>
          <p:nvPr/>
        </p:nvSpPr>
        <p:spPr bwMode="auto">
          <a:xfrm>
            <a:off x="582202" y="2602870"/>
            <a:ext cx="4325734" cy="3828740"/>
          </a:xfrm>
          <a:prstGeom prst="rect">
            <a:avLst/>
          </a:prstGeom>
          <a:noFill/>
          <a:ln w="19050">
            <a:noFill/>
            <a:miter lim="800000"/>
            <a:headEnd/>
            <a:tailEnd/>
          </a:ln>
        </p:spPr>
        <p:txBody>
          <a:bodyPr wrap="square" lIns="0" tIns="0" rIns="0" bIns="0" anchor="ctr">
            <a:spAutoFit/>
          </a:bodyPr>
          <a:lstStyle/>
          <a:p>
            <a:pPr algn="l">
              <a:spcBef>
                <a:spcPct val="20000"/>
              </a:spcBef>
              <a:tabLst>
                <a:tab pos="2667000" algn="ctr"/>
                <a:tab pos="4306888" algn="ctr"/>
                <a:tab pos="5916613" algn="ctr"/>
              </a:tabLst>
            </a:pPr>
            <a:r>
              <a:rPr lang="es-ES" sz="1600" b="1" dirty="0"/>
              <a:t>                             50 MHz	</a:t>
            </a:r>
          </a:p>
          <a:p>
            <a:pPr algn="l">
              <a:spcBef>
                <a:spcPct val="20000"/>
              </a:spcBef>
              <a:tabLst>
                <a:tab pos="2667000" algn="ctr"/>
                <a:tab pos="4306888" algn="ctr"/>
                <a:tab pos="5916613" algn="ctr"/>
              </a:tabLst>
            </a:pPr>
            <a:r>
              <a:rPr lang="es-ES" sz="1600" b="1" dirty="0"/>
              <a:t>                           (</a:t>
            </a:r>
            <a:r>
              <a:rPr lang="es-ES" sz="1600" b="1" dirty="0" err="1"/>
              <a:t>t</a:t>
            </a:r>
            <a:r>
              <a:rPr lang="es-ES" sz="1600" b="1" baseline="-25000" dirty="0" err="1"/>
              <a:t>CK</a:t>
            </a:r>
            <a:r>
              <a:rPr lang="es-ES" sz="1600" b="1" dirty="0"/>
              <a:t> = 20 </a:t>
            </a:r>
            <a:r>
              <a:rPr lang="es-ES" sz="1600" b="1" dirty="0" err="1"/>
              <a:t>ns</a:t>
            </a:r>
            <a:r>
              <a:rPr lang="es-ES" sz="1600" b="1" dirty="0"/>
              <a:t>)</a:t>
            </a:r>
          </a:p>
          <a:p>
            <a:pPr algn="l">
              <a:spcBef>
                <a:spcPct val="20000"/>
              </a:spcBef>
              <a:tabLst>
                <a:tab pos="2667000" algn="ctr"/>
                <a:tab pos="4306888" algn="ctr"/>
                <a:tab pos="5916613" algn="ctr"/>
              </a:tabLst>
            </a:pPr>
            <a:r>
              <a:rPr lang="es-ES" sz="1600" b="1" dirty="0"/>
              <a:t>	  </a:t>
            </a:r>
          </a:p>
          <a:p>
            <a:pPr algn="l">
              <a:spcBef>
                <a:spcPct val="20000"/>
              </a:spcBef>
              <a:tabLst>
                <a:tab pos="2667000" algn="ctr"/>
                <a:tab pos="4306888" algn="ctr"/>
                <a:tab pos="5916613" algn="ctr"/>
              </a:tabLst>
            </a:pPr>
            <a:r>
              <a:rPr lang="es-ES" sz="1800" dirty="0" err="1"/>
              <a:t>t</a:t>
            </a:r>
            <a:r>
              <a:rPr lang="es-ES" sz="1800" b="1" baseline="-25000" dirty="0" err="1"/>
              <a:t>RCD</a:t>
            </a:r>
            <a:r>
              <a:rPr lang="es-ES" sz="1800" dirty="0"/>
              <a:t> = </a:t>
            </a:r>
            <a:r>
              <a:rPr lang="es-ES" altLang="ja-JP" sz="1800" dirty="0">
                <a:ea typeface="Geneva" pitchFamily="1" charset="-128"/>
              </a:rPr>
              <a:t>18 </a:t>
            </a:r>
            <a:r>
              <a:rPr lang="es-ES" altLang="ja-JP" sz="1800" dirty="0" err="1">
                <a:ea typeface="Geneva" pitchFamily="1" charset="-128"/>
              </a:rPr>
              <a:t>ns</a:t>
            </a:r>
            <a:endParaRPr lang="es-ES" altLang="ja-JP" sz="1800" dirty="0">
              <a:ea typeface="Geneva" pitchFamily="1" charset="-128"/>
            </a:endParaRPr>
          </a:p>
          <a:p>
            <a:pPr algn="l">
              <a:spcBef>
                <a:spcPct val="20000"/>
              </a:spcBef>
              <a:tabLst>
                <a:tab pos="2667000" algn="ctr"/>
                <a:tab pos="4306888" algn="ctr"/>
                <a:tab pos="5916613" algn="ctr"/>
              </a:tabLst>
            </a:pP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RAS</a:t>
            </a:r>
            <a:r>
              <a:rPr lang="es-ES" sz="1800" dirty="0"/>
              <a:t> = </a:t>
            </a:r>
            <a:r>
              <a:rPr lang="es-ES" sz="1800" dirty="0">
                <a:ea typeface="Geneva" pitchFamily="1" charset="-128"/>
              </a:rPr>
              <a:t>6</a:t>
            </a:r>
            <a:r>
              <a:rPr lang="es-ES" altLang="ja-JP" sz="1800" dirty="0">
                <a:ea typeface="Geneva" pitchFamily="1" charset="-128"/>
              </a:rPr>
              <a:t>2 </a:t>
            </a:r>
            <a:r>
              <a:rPr lang="es-ES" altLang="ja-JP" sz="1800" dirty="0" err="1">
                <a:ea typeface="Geneva" pitchFamily="1" charset="-128"/>
              </a:rPr>
              <a:t>ns</a:t>
            </a:r>
            <a:endParaRPr lang="es-ES" altLang="ja-JP" sz="1800" dirty="0">
              <a:ea typeface="Geneva" pitchFamily="1" charset="-128"/>
            </a:endParaRPr>
          </a:p>
          <a:p>
            <a:pPr algn="l">
              <a:spcBef>
                <a:spcPct val="20000"/>
              </a:spcBef>
              <a:tabLst>
                <a:tab pos="2667000" algn="ctr"/>
                <a:tab pos="4306888" algn="ctr"/>
                <a:tab pos="5916613" algn="ctr"/>
              </a:tabLst>
            </a:pP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RC</a:t>
            </a:r>
            <a:r>
              <a:rPr lang="es-ES" sz="1800" dirty="0"/>
              <a:t> = </a:t>
            </a:r>
            <a:r>
              <a:rPr lang="es-ES" sz="1800" dirty="0">
                <a:ea typeface="Geneva" pitchFamily="1" charset="-128"/>
              </a:rPr>
              <a:t>82</a:t>
            </a:r>
            <a:r>
              <a:rPr lang="es-ES" altLang="ja-JP" sz="1800" dirty="0">
                <a:ea typeface="Geneva" pitchFamily="1" charset="-128"/>
              </a:rPr>
              <a:t> </a:t>
            </a:r>
            <a:r>
              <a:rPr lang="es-ES" altLang="ja-JP" sz="1800" dirty="0" err="1">
                <a:ea typeface="Geneva" pitchFamily="1" charset="-128"/>
              </a:rPr>
              <a:t>ns</a:t>
            </a:r>
            <a:endParaRPr lang="es-ES" altLang="ja-JP" sz="1800" dirty="0">
              <a:ea typeface="Geneva" pitchFamily="1" charset="-128"/>
            </a:endParaRPr>
          </a:p>
          <a:p>
            <a:pPr algn="l">
              <a:spcBef>
                <a:spcPct val="20000"/>
              </a:spcBef>
              <a:tabLst>
                <a:tab pos="2667000" algn="ctr"/>
                <a:tab pos="4306888" algn="ctr"/>
                <a:tab pos="5916613" algn="ctr"/>
              </a:tabLst>
            </a:pP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RP</a:t>
            </a:r>
            <a:r>
              <a:rPr lang="es-ES" sz="1800" dirty="0"/>
              <a:t> = </a:t>
            </a:r>
            <a:r>
              <a:rPr lang="es-ES" sz="1800" dirty="0">
                <a:ea typeface="Geneva" pitchFamily="1" charset="-128"/>
              </a:rPr>
              <a:t>20</a:t>
            </a:r>
            <a:r>
              <a:rPr lang="es-ES" altLang="ja-JP" sz="1800" dirty="0">
                <a:ea typeface="Geneva" pitchFamily="1" charset="-128"/>
              </a:rPr>
              <a:t> </a:t>
            </a:r>
            <a:r>
              <a:rPr lang="es-ES" altLang="ja-JP" sz="1800" dirty="0" err="1">
                <a:ea typeface="Geneva" pitchFamily="1" charset="-128"/>
              </a:rPr>
              <a:t>ns</a:t>
            </a:r>
            <a:endParaRPr lang="es-ES" altLang="ja-JP" sz="1800" dirty="0">
              <a:ea typeface="Geneva" pitchFamily="1" charset="-128"/>
            </a:endParaRPr>
          </a:p>
          <a:p>
            <a:pPr algn="l">
              <a:spcBef>
                <a:spcPct val="20000"/>
              </a:spcBef>
              <a:tabLst>
                <a:tab pos="2667000" algn="ctr"/>
                <a:tab pos="4306888" algn="ctr"/>
                <a:tab pos="5916613" algn="ctr"/>
              </a:tabLst>
            </a:pPr>
            <a:endParaRPr lang="es-ES" altLang="ja-JP" sz="1800" dirty="0">
              <a:ea typeface="Geneva" pitchFamily="1" charset="-128"/>
            </a:endParaRPr>
          </a:p>
          <a:p>
            <a:pPr algn="l">
              <a:tabLst>
                <a:tab pos="2667000" algn="ctr"/>
                <a:tab pos="4306888" algn="ctr"/>
                <a:tab pos="5916613" algn="ctr"/>
              </a:tabLst>
            </a:pPr>
            <a:r>
              <a:rPr lang="es-ES" sz="1800" dirty="0" err="1"/>
              <a:t>t</a:t>
            </a:r>
            <a:r>
              <a:rPr lang="es-ES" sz="1800" b="1" baseline="-25000" dirty="0" err="1"/>
              <a:t>CL</a:t>
            </a:r>
            <a:r>
              <a:rPr lang="es-ES" sz="1800" dirty="0"/>
              <a:t> = </a:t>
            </a:r>
            <a:r>
              <a:rPr lang="es-ES" sz="1800" dirty="0">
                <a:ea typeface="Geneva" pitchFamily="1" charset="-128"/>
              </a:rPr>
              <a:t>18</a:t>
            </a:r>
            <a:r>
              <a:rPr lang="es-ES" altLang="ja-JP" sz="1800" dirty="0">
                <a:ea typeface="Geneva" pitchFamily="1" charset="-128"/>
              </a:rPr>
              <a:t> </a:t>
            </a:r>
            <a:r>
              <a:rPr lang="es-ES" altLang="ja-JP" sz="1800" dirty="0" err="1">
                <a:ea typeface="Geneva" pitchFamily="1" charset="-128"/>
              </a:rPr>
              <a:t>ns</a:t>
            </a:r>
            <a:r>
              <a:rPr lang="es-ES" altLang="ja-JP" sz="1800" dirty="0">
                <a:ea typeface="Geneva" pitchFamily="1" charset="-128"/>
              </a:rPr>
              <a:t> 	</a:t>
            </a:r>
            <a:endParaRPr lang="es-ES" sz="1800" dirty="0">
              <a:ea typeface="Geneva" pitchFamily="1" charset="-128"/>
            </a:endParaRPr>
          </a:p>
        </p:txBody>
      </p:sp>
      <mc:AlternateContent xmlns:mc="http://schemas.openxmlformats.org/markup-compatibility/2006" xmlns:a14="http://schemas.microsoft.com/office/drawing/2010/main">
        <mc:Choice Requires="a14">
          <p:sp>
            <p:nvSpPr>
              <p:cNvPr id="79" name="Rectangle 5">
                <a:extLst>
                  <a:ext uri="{FF2B5EF4-FFF2-40B4-BE49-F238E27FC236}">
                    <a16:creationId xmlns:a16="http://schemas.microsoft.com/office/drawing/2014/main" id="{5A119641-D2B2-4056-9257-87574DA56BA3}"/>
                  </a:ext>
                </a:extLst>
              </p:cNvPr>
              <p:cNvSpPr>
                <a:spLocks noChangeArrowheads="1"/>
              </p:cNvSpPr>
              <p:nvPr/>
            </p:nvSpPr>
            <p:spPr bwMode="auto">
              <a:xfrm>
                <a:off x="1664128" y="3507043"/>
                <a:ext cx="2158861" cy="3278911"/>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solidFill>
                      <a:schemeClr val="bg2">
                        <a:lumMod val="50000"/>
                      </a:schemeClr>
                    </a:solidFill>
                    <a:ea typeface="Geneva" pitchFamily="1" charset="-128"/>
                  </a:rPr>
                  <a:t>1ciclo = </a:t>
                </a:r>
                <a14:m>
                  <m:oMath xmlns:m="http://schemas.openxmlformats.org/officeDocument/2006/math">
                    <m:d>
                      <m:dPr>
                        <m:begChr m:val="⌈"/>
                        <m:endChr m:val="⌉"/>
                        <m:ctrlPr>
                          <a:rPr lang="es-ES" altLang="ja-JP" sz="1800" i="1" smtClean="0">
                            <a:solidFill>
                              <a:schemeClr val="bg2">
                                <a:lumMod val="50000"/>
                              </a:schemeClr>
                            </a:solidFill>
                            <a:latin typeface="Cambria Math" panose="02040503050406030204" pitchFamily="18" charset="0"/>
                            <a:ea typeface="Geneva" pitchFamily="1" charset="-128"/>
                          </a:rPr>
                        </m:ctrlPr>
                      </m:dPr>
                      <m:e>
                        <m:f>
                          <m:fPr>
                            <m:ctrlPr>
                              <a:rPr lang="es-ES" altLang="ja-JP" sz="1800" i="1" smtClean="0">
                                <a:solidFill>
                                  <a:schemeClr val="bg2">
                                    <a:lumMod val="50000"/>
                                  </a:schemeClr>
                                </a:solidFill>
                                <a:latin typeface="Cambria Math" panose="02040503050406030204" pitchFamily="18" charset="0"/>
                                <a:ea typeface="Geneva" pitchFamily="1" charset="-128"/>
                              </a:rPr>
                            </m:ctrlPr>
                          </m:fPr>
                          <m:num>
                            <m:r>
                              <a:rPr lang="es-ES" altLang="ja-JP" sz="1800" b="0" i="1" smtClean="0">
                                <a:solidFill>
                                  <a:schemeClr val="bg2">
                                    <a:lumMod val="50000"/>
                                  </a:schemeClr>
                                </a:solidFill>
                                <a:latin typeface="Cambria Math" panose="02040503050406030204" pitchFamily="18" charset="0"/>
                                <a:ea typeface="Geneva" pitchFamily="1" charset="-128"/>
                              </a:rPr>
                              <m:t>18</m:t>
                            </m:r>
                          </m:num>
                          <m:den>
                            <m:r>
                              <a:rPr lang="es-ES" altLang="ja-JP" sz="1800" b="0" i="1" smtClean="0">
                                <a:solidFill>
                                  <a:schemeClr val="bg2">
                                    <a:lumMod val="50000"/>
                                  </a:schemeClr>
                                </a:solidFill>
                                <a:latin typeface="Cambria Math" panose="02040503050406030204" pitchFamily="18" charset="0"/>
                                <a:ea typeface="Geneva" pitchFamily="1" charset="-128"/>
                              </a:rPr>
                              <m:t>20</m:t>
                            </m:r>
                          </m:den>
                        </m:f>
                      </m:e>
                    </m:d>
                  </m:oMath>
                </a14:m>
                <a:endParaRPr lang="es-ES" altLang="ja-JP" sz="1800" dirty="0">
                  <a:solidFill>
                    <a:schemeClr val="bg2">
                      <a:lumMod val="50000"/>
                    </a:schemeClr>
                  </a:solidFill>
                  <a:ea typeface="Geneva" pitchFamily="1" charset="-128"/>
                </a:endParaRPr>
              </a:p>
              <a:p>
                <a:pPr marL="342900" indent="-342900">
                  <a:spcBef>
                    <a:spcPct val="20000"/>
                  </a:spcBef>
                  <a:tabLst>
                    <a:tab pos="2667000" algn="ctr"/>
                    <a:tab pos="4306888" algn="ctr"/>
                    <a:tab pos="5916613" algn="ctr"/>
                  </a:tabLst>
                </a:pPr>
                <a:endParaRPr lang="es-ES" altLang="ja-JP" sz="1200" dirty="0">
                  <a:solidFill>
                    <a:schemeClr val="bg2">
                      <a:lumMod val="50000"/>
                    </a:schemeClr>
                  </a:solidFill>
                  <a:ea typeface="Geneva" pitchFamily="1" charset="-128"/>
                </a:endParaRPr>
              </a:p>
              <a:p>
                <a:pPr marL="342900" indent="-342900">
                  <a:spcBef>
                    <a:spcPct val="20000"/>
                  </a:spcBef>
                  <a:tabLst>
                    <a:tab pos="2667000" algn="ctr"/>
                    <a:tab pos="4306888" algn="ctr"/>
                    <a:tab pos="5916613" algn="ctr"/>
                  </a:tabLst>
                </a:pPr>
                <a:r>
                  <a:rPr lang="es-ES" altLang="ja-JP" sz="1800" dirty="0">
                    <a:solidFill>
                      <a:schemeClr val="bg2">
                        <a:lumMod val="50000"/>
                      </a:schemeClr>
                    </a:solidFill>
                    <a:ea typeface="Geneva" pitchFamily="1" charset="-128"/>
                  </a:rPr>
                  <a:t>4 ciclos = </a:t>
                </a:r>
                <a14:m>
                  <m:oMath xmlns:m="http://schemas.openxmlformats.org/officeDocument/2006/math">
                    <m:d>
                      <m:dPr>
                        <m:begChr m:val="⌈"/>
                        <m:endChr m:val="⌉"/>
                        <m:ctrlPr>
                          <a:rPr lang="es-ES" altLang="ja-JP" sz="1800" i="1">
                            <a:solidFill>
                              <a:schemeClr val="bg2">
                                <a:lumMod val="50000"/>
                              </a:schemeClr>
                            </a:solidFill>
                            <a:latin typeface="Cambria Math" panose="02040503050406030204" pitchFamily="18" charset="0"/>
                            <a:ea typeface="Geneva" pitchFamily="1" charset="-128"/>
                          </a:rPr>
                        </m:ctrlPr>
                      </m:dPr>
                      <m:e>
                        <m:f>
                          <m:fPr>
                            <m:ctrlPr>
                              <a:rPr lang="es-ES" altLang="ja-JP" sz="1800" i="1">
                                <a:solidFill>
                                  <a:schemeClr val="bg2">
                                    <a:lumMod val="50000"/>
                                  </a:schemeClr>
                                </a:solidFill>
                                <a:latin typeface="Cambria Math" panose="02040503050406030204" pitchFamily="18" charset="0"/>
                                <a:ea typeface="Geneva" pitchFamily="1" charset="-128"/>
                              </a:rPr>
                            </m:ctrlPr>
                          </m:fPr>
                          <m:num>
                            <m:r>
                              <a:rPr lang="es-ES" altLang="ja-JP" sz="1800" b="0" i="1" smtClean="0">
                                <a:solidFill>
                                  <a:schemeClr val="bg2">
                                    <a:lumMod val="50000"/>
                                  </a:schemeClr>
                                </a:solidFill>
                                <a:latin typeface="Cambria Math" panose="02040503050406030204" pitchFamily="18" charset="0"/>
                                <a:ea typeface="Geneva" pitchFamily="1" charset="-128"/>
                              </a:rPr>
                              <m:t>62</m:t>
                            </m:r>
                          </m:num>
                          <m:den>
                            <m:r>
                              <a:rPr lang="es-ES" altLang="ja-JP" sz="1800" i="1">
                                <a:solidFill>
                                  <a:schemeClr val="bg2">
                                    <a:lumMod val="50000"/>
                                  </a:schemeClr>
                                </a:solidFill>
                                <a:latin typeface="Cambria Math" panose="02040503050406030204" pitchFamily="18" charset="0"/>
                                <a:ea typeface="Geneva" pitchFamily="1" charset="-128"/>
                              </a:rPr>
                              <m:t>20</m:t>
                            </m:r>
                          </m:den>
                        </m:f>
                      </m:e>
                    </m:d>
                  </m:oMath>
                </a14:m>
                <a:endParaRPr lang="es-ES" altLang="ja-JP" sz="1800" dirty="0">
                  <a:solidFill>
                    <a:schemeClr val="bg2">
                      <a:lumMod val="50000"/>
                    </a:schemeClr>
                  </a:solidFill>
                  <a:ea typeface="Geneva" pitchFamily="1" charset="-128"/>
                </a:endParaRPr>
              </a:p>
              <a:p>
                <a:pPr marL="342900" indent="-342900">
                  <a:spcBef>
                    <a:spcPct val="20000"/>
                  </a:spcBef>
                  <a:tabLst>
                    <a:tab pos="2667000" algn="ctr"/>
                    <a:tab pos="4306888" algn="ctr"/>
                    <a:tab pos="5916613" algn="ctr"/>
                  </a:tabLst>
                </a:pPr>
                <a:endParaRPr lang="es-ES" altLang="ja-JP" sz="1200" dirty="0">
                  <a:solidFill>
                    <a:schemeClr val="bg2">
                      <a:lumMod val="50000"/>
                    </a:schemeClr>
                  </a:solidFill>
                  <a:ea typeface="Geneva" pitchFamily="1" charset="-128"/>
                </a:endParaRPr>
              </a:p>
              <a:p>
                <a:pPr marL="342900" indent="-342900">
                  <a:tabLst>
                    <a:tab pos="2667000" algn="ctr"/>
                    <a:tab pos="4306888" algn="ctr"/>
                    <a:tab pos="5916613" algn="ctr"/>
                  </a:tabLst>
                </a:pPr>
                <a:r>
                  <a:rPr lang="es-ES" altLang="ja-JP" sz="1800" dirty="0">
                    <a:solidFill>
                      <a:schemeClr val="bg2">
                        <a:lumMod val="50000"/>
                      </a:schemeClr>
                    </a:solidFill>
                    <a:ea typeface="Geneva" pitchFamily="1" charset="-128"/>
                  </a:rPr>
                  <a:t>5 ciclos = </a:t>
                </a:r>
                <a14:m>
                  <m:oMath xmlns:m="http://schemas.openxmlformats.org/officeDocument/2006/math">
                    <m:d>
                      <m:dPr>
                        <m:begChr m:val="⌈"/>
                        <m:endChr m:val="⌉"/>
                        <m:ctrlPr>
                          <a:rPr lang="es-ES" altLang="ja-JP" sz="1800" i="1">
                            <a:solidFill>
                              <a:schemeClr val="bg2">
                                <a:lumMod val="50000"/>
                              </a:schemeClr>
                            </a:solidFill>
                            <a:latin typeface="Cambria Math" panose="02040503050406030204" pitchFamily="18" charset="0"/>
                            <a:ea typeface="Geneva" pitchFamily="1" charset="-128"/>
                          </a:rPr>
                        </m:ctrlPr>
                      </m:dPr>
                      <m:e>
                        <m:f>
                          <m:fPr>
                            <m:ctrlPr>
                              <a:rPr lang="es-ES" altLang="ja-JP" sz="1800" i="1">
                                <a:solidFill>
                                  <a:schemeClr val="bg2">
                                    <a:lumMod val="50000"/>
                                  </a:schemeClr>
                                </a:solidFill>
                                <a:latin typeface="Cambria Math" panose="02040503050406030204" pitchFamily="18" charset="0"/>
                                <a:ea typeface="Geneva" pitchFamily="1" charset="-128"/>
                              </a:rPr>
                            </m:ctrlPr>
                          </m:fPr>
                          <m:num>
                            <m:r>
                              <a:rPr lang="es-ES" altLang="ja-JP" sz="1800" b="0" i="1" smtClean="0">
                                <a:solidFill>
                                  <a:schemeClr val="bg2">
                                    <a:lumMod val="50000"/>
                                  </a:schemeClr>
                                </a:solidFill>
                                <a:latin typeface="Cambria Math" panose="02040503050406030204" pitchFamily="18" charset="0"/>
                                <a:ea typeface="Geneva" pitchFamily="1" charset="-128"/>
                              </a:rPr>
                              <m:t>82</m:t>
                            </m:r>
                          </m:num>
                          <m:den>
                            <m:r>
                              <a:rPr lang="es-ES" altLang="ja-JP" sz="1800" i="1">
                                <a:solidFill>
                                  <a:schemeClr val="bg2">
                                    <a:lumMod val="50000"/>
                                  </a:schemeClr>
                                </a:solidFill>
                                <a:latin typeface="Cambria Math" panose="02040503050406030204" pitchFamily="18" charset="0"/>
                                <a:ea typeface="Geneva" pitchFamily="1" charset="-128"/>
                              </a:rPr>
                              <m:t>20</m:t>
                            </m:r>
                          </m:den>
                        </m:f>
                      </m:e>
                    </m:d>
                  </m:oMath>
                </a14:m>
                <a:endParaRPr lang="es-ES" altLang="ja-JP" sz="1800" dirty="0">
                  <a:solidFill>
                    <a:schemeClr val="bg2">
                      <a:lumMod val="50000"/>
                    </a:schemeClr>
                  </a:solidFill>
                  <a:ea typeface="Geneva" pitchFamily="1" charset="-128"/>
                </a:endParaRPr>
              </a:p>
              <a:p>
                <a:pPr marL="342900" indent="-342900">
                  <a:tabLst>
                    <a:tab pos="2667000" algn="ctr"/>
                    <a:tab pos="4306888" algn="ctr"/>
                    <a:tab pos="5916613" algn="ctr"/>
                  </a:tabLst>
                </a:pPr>
                <a:endParaRPr lang="es-ES" altLang="ja-JP" sz="1200" dirty="0">
                  <a:solidFill>
                    <a:schemeClr val="bg2">
                      <a:lumMod val="50000"/>
                    </a:schemeClr>
                  </a:solidFill>
                  <a:ea typeface="Geneva" pitchFamily="1" charset="-128"/>
                </a:endParaRPr>
              </a:p>
              <a:p>
                <a:pPr marL="342900" indent="-342900">
                  <a:tabLst>
                    <a:tab pos="2667000" algn="ctr"/>
                    <a:tab pos="4306888" algn="ctr"/>
                    <a:tab pos="5916613" algn="ctr"/>
                  </a:tabLst>
                </a:pPr>
                <a:r>
                  <a:rPr lang="es-ES" altLang="ja-JP" sz="1800" dirty="0">
                    <a:solidFill>
                      <a:schemeClr val="bg2">
                        <a:lumMod val="50000"/>
                      </a:schemeClr>
                    </a:solidFill>
                    <a:ea typeface="Geneva" pitchFamily="1" charset="-128"/>
                  </a:rPr>
                  <a:t> 1	ciclos = </a:t>
                </a:r>
                <a14:m>
                  <m:oMath xmlns:m="http://schemas.openxmlformats.org/officeDocument/2006/math">
                    <m:d>
                      <m:dPr>
                        <m:begChr m:val="⌈"/>
                        <m:endChr m:val="⌉"/>
                        <m:ctrlPr>
                          <a:rPr lang="es-ES" altLang="ja-JP" sz="1800" i="1">
                            <a:solidFill>
                              <a:schemeClr val="bg2">
                                <a:lumMod val="50000"/>
                              </a:schemeClr>
                            </a:solidFill>
                            <a:latin typeface="Cambria Math" panose="02040503050406030204" pitchFamily="18" charset="0"/>
                            <a:ea typeface="Geneva" pitchFamily="1" charset="-128"/>
                          </a:rPr>
                        </m:ctrlPr>
                      </m:dPr>
                      <m:e>
                        <m:f>
                          <m:fPr>
                            <m:ctrlPr>
                              <a:rPr lang="es-ES" altLang="ja-JP" sz="1800" i="1">
                                <a:solidFill>
                                  <a:schemeClr val="bg2">
                                    <a:lumMod val="50000"/>
                                  </a:schemeClr>
                                </a:solidFill>
                                <a:latin typeface="Cambria Math" panose="02040503050406030204" pitchFamily="18" charset="0"/>
                                <a:ea typeface="Geneva" pitchFamily="1" charset="-128"/>
                              </a:rPr>
                            </m:ctrlPr>
                          </m:fPr>
                          <m:num>
                            <m:r>
                              <a:rPr lang="es-ES" altLang="ja-JP" sz="1800" b="0" i="1" smtClean="0">
                                <a:solidFill>
                                  <a:schemeClr val="bg2">
                                    <a:lumMod val="50000"/>
                                  </a:schemeClr>
                                </a:solidFill>
                                <a:latin typeface="Cambria Math" panose="02040503050406030204" pitchFamily="18" charset="0"/>
                                <a:ea typeface="Geneva" pitchFamily="1" charset="-128"/>
                              </a:rPr>
                              <m:t>20</m:t>
                            </m:r>
                          </m:num>
                          <m:den>
                            <m:r>
                              <a:rPr lang="es-ES" altLang="ja-JP" sz="1800" i="1">
                                <a:solidFill>
                                  <a:schemeClr val="bg2">
                                    <a:lumMod val="50000"/>
                                  </a:schemeClr>
                                </a:solidFill>
                                <a:latin typeface="Cambria Math" panose="02040503050406030204" pitchFamily="18" charset="0"/>
                                <a:ea typeface="Geneva" pitchFamily="1" charset="-128"/>
                              </a:rPr>
                              <m:t>20</m:t>
                            </m:r>
                          </m:den>
                        </m:f>
                      </m:e>
                    </m:d>
                  </m:oMath>
                </a14:m>
                <a:endParaRPr lang="es-ES" altLang="ja-JP" sz="1800" dirty="0">
                  <a:solidFill>
                    <a:schemeClr val="bg2">
                      <a:lumMod val="50000"/>
                    </a:schemeClr>
                  </a:solidFill>
                  <a:ea typeface="Geneva" pitchFamily="1" charset="-128"/>
                </a:endParaRPr>
              </a:p>
              <a:p>
                <a:pPr marL="342900" indent="-342900">
                  <a:tabLst>
                    <a:tab pos="2667000" algn="ctr"/>
                    <a:tab pos="4306888" algn="ctr"/>
                    <a:tab pos="5916613" algn="ctr"/>
                  </a:tabLst>
                </a:pPr>
                <a:endParaRPr lang="es-ES" altLang="ja-JP" sz="1200" dirty="0">
                  <a:solidFill>
                    <a:schemeClr val="bg2">
                      <a:lumMod val="50000"/>
                    </a:schemeClr>
                  </a:solidFill>
                  <a:ea typeface="Geneva" pitchFamily="1" charset="-128"/>
                </a:endParaRPr>
              </a:p>
              <a:p>
                <a:pPr marL="342900" indent="-342900">
                  <a:tabLst>
                    <a:tab pos="2667000" algn="ctr"/>
                    <a:tab pos="4306888" algn="ctr"/>
                    <a:tab pos="5916613" algn="ctr"/>
                  </a:tabLst>
                </a:pPr>
                <a:r>
                  <a:rPr lang="es-ES" altLang="ja-JP" sz="1800" dirty="0">
                    <a:solidFill>
                      <a:schemeClr val="bg2">
                        <a:lumMod val="50000"/>
                      </a:schemeClr>
                    </a:solidFill>
                    <a:ea typeface="Geneva" pitchFamily="1" charset="-128"/>
                  </a:rPr>
                  <a:t>1 ciclos = </a:t>
                </a:r>
                <a14:m>
                  <m:oMath xmlns:m="http://schemas.openxmlformats.org/officeDocument/2006/math">
                    <m:d>
                      <m:dPr>
                        <m:begChr m:val="⌈"/>
                        <m:endChr m:val="⌉"/>
                        <m:ctrlPr>
                          <a:rPr lang="es-ES" altLang="ja-JP" sz="1800" i="1">
                            <a:solidFill>
                              <a:schemeClr val="bg2">
                                <a:lumMod val="50000"/>
                              </a:schemeClr>
                            </a:solidFill>
                            <a:latin typeface="Cambria Math" panose="02040503050406030204" pitchFamily="18" charset="0"/>
                            <a:ea typeface="Geneva" pitchFamily="1" charset="-128"/>
                          </a:rPr>
                        </m:ctrlPr>
                      </m:dPr>
                      <m:e>
                        <m:f>
                          <m:fPr>
                            <m:ctrlPr>
                              <a:rPr lang="es-ES" altLang="ja-JP" sz="1800" i="1">
                                <a:solidFill>
                                  <a:schemeClr val="bg2">
                                    <a:lumMod val="50000"/>
                                  </a:schemeClr>
                                </a:solidFill>
                                <a:latin typeface="Cambria Math" panose="02040503050406030204" pitchFamily="18" charset="0"/>
                                <a:ea typeface="Geneva" pitchFamily="1" charset="-128"/>
                              </a:rPr>
                            </m:ctrlPr>
                          </m:fPr>
                          <m:num>
                            <m:r>
                              <a:rPr lang="es-ES" altLang="ja-JP" sz="1800" b="0" i="1" smtClean="0">
                                <a:solidFill>
                                  <a:schemeClr val="bg2">
                                    <a:lumMod val="50000"/>
                                  </a:schemeClr>
                                </a:solidFill>
                                <a:latin typeface="Cambria Math" panose="02040503050406030204" pitchFamily="18" charset="0"/>
                                <a:ea typeface="Geneva" pitchFamily="1" charset="-128"/>
                              </a:rPr>
                              <m:t>18</m:t>
                            </m:r>
                          </m:num>
                          <m:den>
                            <m:r>
                              <a:rPr lang="es-ES" altLang="ja-JP" sz="1800" i="1">
                                <a:solidFill>
                                  <a:schemeClr val="bg2">
                                    <a:lumMod val="50000"/>
                                  </a:schemeClr>
                                </a:solidFill>
                                <a:latin typeface="Cambria Math" panose="02040503050406030204" pitchFamily="18" charset="0"/>
                                <a:ea typeface="Geneva" pitchFamily="1" charset="-128"/>
                              </a:rPr>
                              <m:t>20</m:t>
                            </m:r>
                          </m:den>
                        </m:f>
                      </m:e>
                    </m:d>
                  </m:oMath>
                </a14:m>
                <a:endParaRPr lang="es-ES" sz="1800" dirty="0">
                  <a:solidFill>
                    <a:schemeClr val="bg2">
                      <a:lumMod val="50000"/>
                    </a:schemeClr>
                  </a:solidFill>
                  <a:ea typeface="Geneva" pitchFamily="1" charset="-128"/>
                </a:endParaRPr>
              </a:p>
            </p:txBody>
          </p:sp>
        </mc:Choice>
        <mc:Fallback xmlns="">
          <p:sp>
            <p:nvSpPr>
              <p:cNvPr id="79" name="Rectangle 5">
                <a:extLst>
                  <a:ext uri="{FF2B5EF4-FFF2-40B4-BE49-F238E27FC236}">
                    <a16:creationId xmlns:a16="http://schemas.microsoft.com/office/drawing/2014/main" id="{5A119641-D2B2-4056-9257-87574DA56BA3}"/>
                  </a:ext>
                </a:extLst>
              </p:cNvPr>
              <p:cNvSpPr>
                <a:spLocks noRot="1" noChangeAspect="1" noMove="1" noResize="1" noEditPoints="1" noAdjustHandles="1" noChangeArrowheads="1" noChangeShapeType="1" noTextEdit="1"/>
              </p:cNvSpPr>
              <p:nvPr/>
            </p:nvSpPr>
            <p:spPr bwMode="auto">
              <a:xfrm>
                <a:off x="1664128" y="3507043"/>
                <a:ext cx="2158861" cy="3278911"/>
              </a:xfrm>
              <a:prstGeom prst="rect">
                <a:avLst/>
              </a:prstGeom>
              <a:blipFill>
                <a:blip r:embed="rId2"/>
                <a:stretch>
                  <a:fillRect b="-1859"/>
                </a:stretch>
              </a:blipFill>
              <a:ln w="19050">
                <a:noFill/>
                <a:miter lim="800000"/>
                <a:headEnd/>
                <a:tailEnd/>
              </a:ln>
            </p:spPr>
            <p:txBody>
              <a:bodyPr/>
              <a:lstStyle/>
              <a:p>
                <a:r>
                  <a:rPr lang="es-ES">
                    <a:noFill/>
                  </a:rPr>
                  <a:t> </a:t>
                </a:r>
              </a:p>
            </p:txBody>
          </p:sp>
        </mc:Fallback>
      </mc:AlternateContent>
      <p:grpSp>
        <p:nvGrpSpPr>
          <p:cNvPr id="8" name="Group 84">
            <a:extLst>
              <a:ext uri="{FF2B5EF4-FFF2-40B4-BE49-F238E27FC236}">
                <a16:creationId xmlns:a16="http://schemas.microsoft.com/office/drawing/2014/main" id="{1CF09CF1-F82D-4CF8-9B73-AFE0AC01F0F5}"/>
              </a:ext>
            </a:extLst>
          </p:cNvPr>
          <p:cNvGrpSpPr>
            <a:grpSpLocks/>
          </p:cNvGrpSpPr>
          <p:nvPr/>
        </p:nvGrpSpPr>
        <p:grpSpPr bwMode="auto">
          <a:xfrm>
            <a:off x="7650109" y="5231774"/>
            <a:ext cx="354264" cy="213033"/>
            <a:chOff x="3408" y="2304"/>
            <a:chExt cx="384" cy="181"/>
          </a:xfrm>
        </p:grpSpPr>
        <p:sp>
          <p:nvSpPr>
            <p:cNvPr id="10" name="Freeform 77">
              <a:extLst>
                <a:ext uri="{FF2B5EF4-FFF2-40B4-BE49-F238E27FC236}">
                  <a16:creationId xmlns:a16="http://schemas.microsoft.com/office/drawing/2014/main" id="{A8C3B742-7CDB-410B-8927-89EC794AC8BE}"/>
                </a:ext>
              </a:extLst>
            </p:cNvPr>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78">
              <a:extLst>
                <a:ext uri="{FF2B5EF4-FFF2-40B4-BE49-F238E27FC236}">
                  <a16:creationId xmlns:a16="http://schemas.microsoft.com/office/drawing/2014/main" id="{6CD94F2A-E8A2-4CDE-938A-CCAEF6387F3E}"/>
                </a:ext>
              </a:extLst>
            </p:cNvPr>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12" name="Group 83">
            <a:extLst>
              <a:ext uri="{FF2B5EF4-FFF2-40B4-BE49-F238E27FC236}">
                <a16:creationId xmlns:a16="http://schemas.microsoft.com/office/drawing/2014/main" id="{8BFF483E-3126-438C-8578-98E19C1A237A}"/>
              </a:ext>
            </a:extLst>
          </p:cNvPr>
          <p:cNvGrpSpPr>
            <a:grpSpLocks/>
          </p:cNvGrpSpPr>
          <p:nvPr/>
        </p:nvGrpSpPr>
        <p:grpSpPr bwMode="auto">
          <a:xfrm>
            <a:off x="8384666" y="5209833"/>
            <a:ext cx="354264" cy="213033"/>
            <a:chOff x="3792" y="2304"/>
            <a:chExt cx="384" cy="181"/>
          </a:xfrm>
        </p:grpSpPr>
        <p:sp>
          <p:nvSpPr>
            <p:cNvPr id="13" name="Freeform 80">
              <a:extLst>
                <a:ext uri="{FF2B5EF4-FFF2-40B4-BE49-F238E27FC236}">
                  <a16:creationId xmlns:a16="http://schemas.microsoft.com/office/drawing/2014/main" id="{9388AA65-BD05-48CE-A6D9-12E950993394}"/>
                </a:ext>
              </a:extLst>
            </p:cNvPr>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4" name="Text Box 81">
              <a:extLst>
                <a:ext uri="{FF2B5EF4-FFF2-40B4-BE49-F238E27FC236}">
                  <a16:creationId xmlns:a16="http://schemas.microsoft.com/office/drawing/2014/main" id="{BE48E427-2E78-444D-A3D9-D04FF3F0EBA8}"/>
                </a:ext>
              </a:extLst>
            </p:cNvPr>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15" name="Text Box 125">
            <a:extLst>
              <a:ext uri="{FF2B5EF4-FFF2-40B4-BE49-F238E27FC236}">
                <a16:creationId xmlns:a16="http://schemas.microsoft.com/office/drawing/2014/main" id="{3AAAE9CF-4167-4121-A9A9-60A38C92604F}"/>
              </a:ext>
            </a:extLst>
          </p:cNvPr>
          <p:cNvSpPr txBox="1">
            <a:spLocks noChangeArrowheads="1"/>
          </p:cNvSpPr>
          <p:nvPr/>
        </p:nvSpPr>
        <p:spPr bwMode="auto">
          <a:xfrm>
            <a:off x="4436786" y="3070179"/>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cxnSp>
        <p:nvCxnSpPr>
          <p:cNvPr id="16" name="Conector recto 15">
            <a:extLst>
              <a:ext uri="{FF2B5EF4-FFF2-40B4-BE49-F238E27FC236}">
                <a16:creationId xmlns:a16="http://schemas.microsoft.com/office/drawing/2014/main" id="{18A52094-34B8-4652-8531-458C61FE9688}"/>
              </a:ext>
            </a:extLst>
          </p:cNvPr>
          <p:cNvCxnSpPr>
            <a:cxnSpLocks/>
            <a:stCxn id="15" idx="2"/>
          </p:cNvCxnSpPr>
          <p:nvPr/>
        </p:nvCxnSpPr>
        <p:spPr bwMode="auto">
          <a:xfrm>
            <a:off x="4701282" y="3377956"/>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8" name="Conector recto 17">
            <a:extLst>
              <a:ext uri="{FF2B5EF4-FFF2-40B4-BE49-F238E27FC236}">
                <a16:creationId xmlns:a16="http://schemas.microsoft.com/office/drawing/2014/main" id="{F4065FDD-2FC4-4B2D-85D2-DC57964C57AB}"/>
              </a:ext>
            </a:extLst>
          </p:cNvPr>
          <p:cNvCxnSpPr>
            <a:cxnSpLocks/>
          </p:cNvCxnSpPr>
          <p:nvPr/>
        </p:nvCxnSpPr>
        <p:spPr bwMode="auto">
          <a:xfrm>
            <a:off x="5456872" y="3367910"/>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20" name="Conector recto 19">
            <a:extLst>
              <a:ext uri="{FF2B5EF4-FFF2-40B4-BE49-F238E27FC236}">
                <a16:creationId xmlns:a16="http://schemas.microsoft.com/office/drawing/2014/main" id="{011CCA05-F435-4604-B463-F423D9C6E073}"/>
              </a:ext>
            </a:extLst>
          </p:cNvPr>
          <p:cNvCxnSpPr>
            <a:cxnSpLocks/>
          </p:cNvCxnSpPr>
          <p:nvPr/>
        </p:nvCxnSpPr>
        <p:spPr bwMode="auto">
          <a:xfrm>
            <a:off x="6192429" y="3342943"/>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21" name="Conector recto 20">
            <a:extLst>
              <a:ext uri="{FF2B5EF4-FFF2-40B4-BE49-F238E27FC236}">
                <a16:creationId xmlns:a16="http://schemas.microsoft.com/office/drawing/2014/main" id="{51196323-0187-429B-9DC9-8B0E5BA84FE3}"/>
              </a:ext>
            </a:extLst>
          </p:cNvPr>
          <p:cNvCxnSpPr>
            <a:cxnSpLocks/>
          </p:cNvCxnSpPr>
          <p:nvPr/>
        </p:nvCxnSpPr>
        <p:spPr bwMode="auto">
          <a:xfrm>
            <a:off x="6918245" y="3320418"/>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23" name="Conector recto 22">
            <a:extLst>
              <a:ext uri="{FF2B5EF4-FFF2-40B4-BE49-F238E27FC236}">
                <a16:creationId xmlns:a16="http://schemas.microsoft.com/office/drawing/2014/main" id="{72CA8943-7F4B-4BFA-AA53-696E0DAA43A5}"/>
              </a:ext>
            </a:extLst>
          </p:cNvPr>
          <p:cNvCxnSpPr>
            <a:cxnSpLocks/>
          </p:cNvCxnSpPr>
          <p:nvPr/>
        </p:nvCxnSpPr>
        <p:spPr bwMode="auto">
          <a:xfrm>
            <a:off x="7591541" y="3329687"/>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26" name="Text Box 123">
            <a:extLst>
              <a:ext uri="{FF2B5EF4-FFF2-40B4-BE49-F238E27FC236}">
                <a16:creationId xmlns:a16="http://schemas.microsoft.com/office/drawing/2014/main" id="{4D6319C7-CE0A-42CE-9464-CE231CB9EC65}"/>
              </a:ext>
            </a:extLst>
          </p:cNvPr>
          <p:cNvSpPr txBox="1">
            <a:spLocks noChangeArrowheads="1"/>
          </p:cNvSpPr>
          <p:nvPr/>
        </p:nvSpPr>
        <p:spPr bwMode="auto">
          <a:xfrm>
            <a:off x="3903996" y="3826397"/>
            <a:ext cx="695703" cy="215444"/>
          </a:xfrm>
          <a:prstGeom prst="rect">
            <a:avLst/>
          </a:prstGeom>
          <a:noFill/>
          <a:ln w="19050">
            <a:noFill/>
            <a:miter lim="800000"/>
            <a:headEnd/>
            <a:tailEnd/>
          </a:ln>
        </p:spPr>
        <p:txBody>
          <a:bodyPr wrap="none" lIns="0" tIns="0" rIns="0" bIns="0" anchor="ctr">
            <a:spAutoFit/>
          </a:bodyPr>
          <a:lstStyle/>
          <a:p>
            <a:pPr algn="r"/>
            <a:r>
              <a:rPr lang="es-ES_tradnl" sz="1400" b="1" dirty="0">
                <a:solidFill>
                  <a:schemeClr val="bg2">
                    <a:lumMod val="25000"/>
                  </a:schemeClr>
                </a:solidFill>
              </a:rPr>
              <a:t>órdenes</a:t>
            </a:r>
          </a:p>
        </p:txBody>
      </p:sp>
      <p:sp>
        <p:nvSpPr>
          <p:cNvPr id="27" name="Text Box 125">
            <a:extLst>
              <a:ext uri="{FF2B5EF4-FFF2-40B4-BE49-F238E27FC236}">
                <a16:creationId xmlns:a16="http://schemas.microsoft.com/office/drawing/2014/main" id="{A83D719F-D8A2-4962-AE7D-B3BD7868EFE7}"/>
              </a:ext>
            </a:extLst>
          </p:cNvPr>
          <p:cNvSpPr txBox="1">
            <a:spLocks noChangeArrowheads="1"/>
          </p:cNvSpPr>
          <p:nvPr/>
        </p:nvSpPr>
        <p:spPr bwMode="auto">
          <a:xfrm>
            <a:off x="4074407" y="5181373"/>
            <a:ext cx="476092" cy="215444"/>
          </a:xfrm>
          <a:prstGeom prst="rect">
            <a:avLst/>
          </a:prstGeom>
          <a:noFill/>
          <a:ln w="19050">
            <a:noFill/>
            <a:miter lim="800000"/>
            <a:headEnd/>
            <a:tailEnd/>
          </a:ln>
        </p:spPr>
        <p:txBody>
          <a:bodyPr wrap="none" lIns="0" tIns="0" rIns="0" bIns="0" anchor="ctr">
            <a:spAutoFit/>
          </a:bodyPr>
          <a:lstStyle/>
          <a:p>
            <a:pPr algn="r"/>
            <a:r>
              <a:rPr lang="es-ES_tradnl" sz="1400" b="1" dirty="0">
                <a:solidFill>
                  <a:srgbClr val="00B050"/>
                </a:solidFill>
              </a:rPr>
              <a:t>datos</a:t>
            </a:r>
          </a:p>
        </p:txBody>
      </p:sp>
      <p:sp>
        <p:nvSpPr>
          <p:cNvPr id="28" name="Text Box 125">
            <a:extLst>
              <a:ext uri="{FF2B5EF4-FFF2-40B4-BE49-F238E27FC236}">
                <a16:creationId xmlns:a16="http://schemas.microsoft.com/office/drawing/2014/main" id="{883B69EE-2E0E-4087-98EF-F957D355FFA2}"/>
              </a:ext>
            </a:extLst>
          </p:cNvPr>
          <p:cNvSpPr txBox="1">
            <a:spLocks noChangeArrowheads="1"/>
          </p:cNvSpPr>
          <p:nvPr/>
        </p:nvSpPr>
        <p:spPr bwMode="auto">
          <a:xfrm>
            <a:off x="3498202" y="4633282"/>
            <a:ext cx="993862" cy="215444"/>
          </a:xfrm>
          <a:prstGeom prst="rect">
            <a:avLst/>
          </a:prstGeom>
          <a:noFill/>
          <a:ln w="19050">
            <a:noFill/>
            <a:miter lim="800000"/>
            <a:headEnd/>
            <a:tailEnd/>
          </a:ln>
        </p:spPr>
        <p:txBody>
          <a:bodyPr wrap="none" lIns="0" tIns="0" rIns="0" bIns="0" anchor="ctr">
            <a:spAutoFit/>
          </a:bodyPr>
          <a:lstStyle/>
          <a:p>
            <a:pPr algn="r"/>
            <a:r>
              <a:rPr lang="es-ES_tradnl" sz="1400" b="1" dirty="0">
                <a:solidFill>
                  <a:schemeClr val="accent1"/>
                </a:solidFill>
              </a:rPr>
              <a:t>direcciones</a:t>
            </a:r>
          </a:p>
        </p:txBody>
      </p:sp>
      <p:sp>
        <p:nvSpPr>
          <p:cNvPr id="34" name="Freeform 24">
            <a:extLst>
              <a:ext uri="{FF2B5EF4-FFF2-40B4-BE49-F238E27FC236}">
                <a16:creationId xmlns:a16="http://schemas.microsoft.com/office/drawing/2014/main" id="{7EFEAF47-3C83-4F6A-8382-A04055A000D5}"/>
              </a:ext>
            </a:extLst>
          </p:cNvPr>
          <p:cNvSpPr>
            <a:spLocks/>
          </p:cNvSpPr>
          <p:nvPr/>
        </p:nvSpPr>
        <p:spPr bwMode="blackWhite">
          <a:xfrm>
            <a:off x="5496992" y="3896653"/>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5" name="Rectangle 10">
            <a:extLst>
              <a:ext uri="{FF2B5EF4-FFF2-40B4-BE49-F238E27FC236}">
                <a16:creationId xmlns:a16="http://schemas.microsoft.com/office/drawing/2014/main" id="{2C7AEC67-C69B-42EC-BCE4-C33C227AF675}"/>
              </a:ext>
            </a:extLst>
          </p:cNvPr>
          <p:cNvSpPr>
            <a:spLocks noChangeArrowheads="1"/>
          </p:cNvSpPr>
          <p:nvPr/>
        </p:nvSpPr>
        <p:spPr bwMode="auto">
          <a:xfrm>
            <a:off x="5006080" y="4366552"/>
            <a:ext cx="264496" cy="184666"/>
          </a:xfrm>
          <a:prstGeom prst="rect">
            <a:avLst/>
          </a:prstGeom>
          <a:noFill/>
          <a:ln w="19050">
            <a:noFill/>
            <a:miter lim="800000"/>
            <a:headEnd/>
            <a:tailEnd/>
          </a:ln>
        </p:spPr>
        <p:txBody>
          <a:bodyPr wrap="none" lIns="0" tIns="0" rIns="0" bIns="0" anchor="ctr">
            <a:spAutoFit/>
          </a:bodyPr>
          <a:lstStyle/>
          <a:p>
            <a:r>
              <a:rPr lang="es-ES" sz="1200" dirty="0" err="1"/>
              <a:t>t</a:t>
            </a:r>
            <a:r>
              <a:rPr lang="es-ES" sz="1200" b="1" baseline="-25000" dirty="0" err="1"/>
              <a:t>RCD</a:t>
            </a:r>
            <a:endParaRPr lang="es-ES_tradnl" sz="1200" b="1" baseline="-25000" dirty="0"/>
          </a:p>
        </p:txBody>
      </p:sp>
      <p:sp>
        <p:nvSpPr>
          <p:cNvPr id="36" name="Line 11">
            <a:extLst>
              <a:ext uri="{FF2B5EF4-FFF2-40B4-BE49-F238E27FC236}">
                <a16:creationId xmlns:a16="http://schemas.microsoft.com/office/drawing/2014/main" id="{D6EBC91F-A7F8-43AE-911E-9335FE84BB1C}"/>
              </a:ext>
            </a:extLst>
          </p:cNvPr>
          <p:cNvSpPr>
            <a:spLocks noChangeShapeType="1"/>
          </p:cNvSpPr>
          <p:nvPr/>
        </p:nvSpPr>
        <p:spPr bwMode="auto">
          <a:xfrm>
            <a:off x="4743235" y="4245286"/>
            <a:ext cx="761314" cy="1792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31" name="Group 82">
            <a:extLst>
              <a:ext uri="{FF2B5EF4-FFF2-40B4-BE49-F238E27FC236}">
                <a16:creationId xmlns:a16="http://schemas.microsoft.com/office/drawing/2014/main" id="{252C9F65-0C94-41EB-9B17-E4FC3916BA46}"/>
              </a:ext>
            </a:extLst>
          </p:cNvPr>
          <p:cNvGrpSpPr>
            <a:grpSpLocks/>
          </p:cNvGrpSpPr>
          <p:nvPr/>
        </p:nvGrpSpPr>
        <p:grpSpPr bwMode="auto">
          <a:xfrm>
            <a:off x="5494667" y="4695571"/>
            <a:ext cx="354264" cy="213033"/>
            <a:chOff x="2640" y="2304"/>
            <a:chExt cx="384" cy="181"/>
          </a:xfrm>
        </p:grpSpPr>
        <p:sp>
          <p:nvSpPr>
            <p:cNvPr id="32" name="Freeform 71">
              <a:extLst>
                <a:ext uri="{FF2B5EF4-FFF2-40B4-BE49-F238E27FC236}">
                  <a16:creationId xmlns:a16="http://schemas.microsoft.com/office/drawing/2014/main" id="{A832138B-9B50-436E-917D-72CA205E7B52}"/>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33" name="Text Box 72">
              <a:extLst>
                <a:ext uri="{FF2B5EF4-FFF2-40B4-BE49-F238E27FC236}">
                  <a16:creationId xmlns:a16="http://schemas.microsoft.com/office/drawing/2014/main" id="{006C7480-08CE-4443-9D91-B1E172F571C3}"/>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sp>
        <p:nvSpPr>
          <p:cNvPr id="39" name="Freeform 24">
            <a:extLst>
              <a:ext uri="{FF2B5EF4-FFF2-40B4-BE49-F238E27FC236}">
                <a16:creationId xmlns:a16="http://schemas.microsoft.com/office/drawing/2014/main" id="{3D5D44BA-9FD4-423F-AD42-13BD76350DE0}"/>
              </a:ext>
            </a:extLst>
          </p:cNvPr>
          <p:cNvSpPr>
            <a:spLocks/>
          </p:cNvSpPr>
          <p:nvPr/>
        </p:nvSpPr>
        <p:spPr bwMode="blackWhite">
          <a:xfrm>
            <a:off x="4743351" y="3882809"/>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40" name="Group 82">
            <a:extLst>
              <a:ext uri="{FF2B5EF4-FFF2-40B4-BE49-F238E27FC236}">
                <a16:creationId xmlns:a16="http://schemas.microsoft.com/office/drawing/2014/main" id="{BD48EC97-EEEA-4083-8EED-D96DBF9A34B3}"/>
              </a:ext>
            </a:extLst>
          </p:cNvPr>
          <p:cNvGrpSpPr>
            <a:grpSpLocks/>
          </p:cNvGrpSpPr>
          <p:nvPr/>
        </p:nvGrpSpPr>
        <p:grpSpPr bwMode="auto">
          <a:xfrm>
            <a:off x="4777176" y="4708842"/>
            <a:ext cx="354264" cy="213033"/>
            <a:chOff x="2640" y="2304"/>
            <a:chExt cx="384" cy="181"/>
          </a:xfrm>
        </p:grpSpPr>
        <p:sp>
          <p:nvSpPr>
            <p:cNvPr id="42" name="Freeform 71">
              <a:extLst>
                <a:ext uri="{FF2B5EF4-FFF2-40B4-BE49-F238E27FC236}">
                  <a16:creationId xmlns:a16="http://schemas.microsoft.com/office/drawing/2014/main" id="{297FEBB5-B4BC-4643-8364-AF20C61EAD9D}"/>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43" name="Text Box 72">
              <a:extLst>
                <a:ext uri="{FF2B5EF4-FFF2-40B4-BE49-F238E27FC236}">
                  <a16:creationId xmlns:a16="http://schemas.microsoft.com/office/drawing/2014/main" id="{ACF22CC6-C1FB-4671-8BBA-65D5A7793292}"/>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sp>
        <p:nvSpPr>
          <p:cNvPr id="48" name="Line 11">
            <a:extLst>
              <a:ext uri="{FF2B5EF4-FFF2-40B4-BE49-F238E27FC236}">
                <a16:creationId xmlns:a16="http://schemas.microsoft.com/office/drawing/2014/main" id="{F584AA2D-F309-4D13-A0B2-CC34A2CF7A64}"/>
              </a:ext>
            </a:extLst>
          </p:cNvPr>
          <p:cNvSpPr>
            <a:spLocks noChangeShapeType="1"/>
          </p:cNvSpPr>
          <p:nvPr/>
        </p:nvSpPr>
        <p:spPr bwMode="auto">
          <a:xfrm flipV="1">
            <a:off x="4777176" y="5637557"/>
            <a:ext cx="2866235" cy="36812"/>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9" name="Rectangle 10">
            <a:extLst>
              <a:ext uri="{FF2B5EF4-FFF2-40B4-BE49-F238E27FC236}">
                <a16:creationId xmlns:a16="http://schemas.microsoft.com/office/drawing/2014/main" id="{41E2013C-9605-45E7-9494-3011E636B0B5}"/>
              </a:ext>
            </a:extLst>
          </p:cNvPr>
          <p:cNvSpPr>
            <a:spLocks noChangeArrowheads="1"/>
          </p:cNvSpPr>
          <p:nvPr/>
        </p:nvSpPr>
        <p:spPr bwMode="auto">
          <a:xfrm>
            <a:off x="6624325" y="5738749"/>
            <a:ext cx="259686" cy="184666"/>
          </a:xfrm>
          <a:prstGeom prst="rect">
            <a:avLst/>
          </a:prstGeom>
          <a:noFill/>
          <a:ln w="19050">
            <a:noFill/>
            <a:miter lim="800000"/>
            <a:headEnd/>
            <a:tailEnd/>
          </a:ln>
        </p:spPr>
        <p:txBody>
          <a:bodyPr wrap="none" lIns="0" tIns="0" rIns="0" bIns="0" anchor="ctr">
            <a:spAutoFit/>
          </a:bodyPr>
          <a:lstStyle/>
          <a:p>
            <a:r>
              <a:rPr lang="es-ES" sz="1200" dirty="0" err="1"/>
              <a:t>t</a:t>
            </a:r>
            <a:r>
              <a:rPr lang="es-ES" sz="1200" b="1" baseline="-25000" dirty="0" err="1"/>
              <a:t>RAS</a:t>
            </a:r>
            <a:endParaRPr lang="es-ES_tradnl" sz="1200" b="1" baseline="-25000" dirty="0"/>
          </a:p>
        </p:txBody>
      </p:sp>
      <p:sp>
        <p:nvSpPr>
          <p:cNvPr id="50" name="Line 11">
            <a:extLst>
              <a:ext uri="{FF2B5EF4-FFF2-40B4-BE49-F238E27FC236}">
                <a16:creationId xmlns:a16="http://schemas.microsoft.com/office/drawing/2014/main" id="{BCD6CA9E-B675-4ED3-8CB0-848CACA5BECE}"/>
              </a:ext>
            </a:extLst>
          </p:cNvPr>
          <p:cNvSpPr>
            <a:spLocks noChangeShapeType="1"/>
          </p:cNvSpPr>
          <p:nvPr/>
        </p:nvSpPr>
        <p:spPr bwMode="auto">
          <a:xfrm>
            <a:off x="4696037" y="3717032"/>
            <a:ext cx="3629400" cy="24302"/>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51" name="Rectangle 10">
            <a:extLst>
              <a:ext uri="{FF2B5EF4-FFF2-40B4-BE49-F238E27FC236}">
                <a16:creationId xmlns:a16="http://schemas.microsoft.com/office/drawing/2014/main" id="{F55AC0BF-286F-4554-A706-CA175C416841}"/>
              </a:ext>
            </a:extLst>
          </p:cNvPr>
          <p:cNvSpPr>
            <a:spLocks noChangeArrowheads="1"/>
          </p:cNvSpPr>
          <p:nvPr/>
        </p:nvSpPr>
        <p:spPr bwMode="auto">
          <a:xfrm>
            <a:off x="6663902" y="3743318"/>
            <a:ext cx="190757" cy="184666"/>
          </a:xfrm>
          <a:prstGeom prst="rect">
            <a:avLst/>
          </a:prstGeom>
          <a:noFill/>
          <a:ln w="19050">
            <a:noFill/>
            <a:miter lim="800000"/>
            <a:headEnd/>
            <a:tailEnd/>
          </a:ln>
        </p:spPr>
        <p:txBody>
          <a:bodyPr wrap="none" lIns="0" tIns="0" rIns="0" bIns="0" anchor="ctr">
            <a:spAutoFit/>
          </a:bodyPr>
          <a:lstStyle/>
          <a:p>
            <a:r>
              <a:rPr lang="es-ES" sz="1200" dirty="0" err="1"/>
              <a:t>t</a:t>
            </a:r>
            <a:r>
              <a:rPr lang="es-ES" sz="1200" b="1" baseline="-25000" dirty="0" err="1"/>
              <a:t>RC</a:t>
            </a:r>
            <a:endParaRPr lang="es-ES_tradnl" sz="1200" b="1" baseline="-25000" dirty="0"/>
          </a:p>
        </p:txBody>
      </p:sp>
      <p:cxnSp>
        <p:nvCxnSpPr>
          <p:cNvPr id="52" name="Conector recto 51">
            <a:extLst>
              <a:ext uri="{FF2B5EF4-FFF2-40B4-BE49-F238E27FC236}">
                <a16:creationId xmlns:a16="http://schemas.microsoft.com/office/drawing/2014/main" id="{57ECB50A-4EC5-4B2C-A4BF-4F5A072BDB56}"/>
              </a:ext>
            </a:extLst>
          </p:cNvPr>
          <p:cNvCxnSpPr>
            <a:cxnSpLocks/>
          </p:cNvCxnSpPr>
          <p:nvPr/>
        </p:nvCxnSpPr>
        <p:spPr bwMode="auto">
          <a:xfrm>
            <a:off x="8325436" y="3319966"/>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56" name="Group 84">
            <a:extLst>
              <a:ext uri="{FF2B5EF4-FFF2-40B4-BE49-F238E27FC236}">
                <a16:creationId xmlns:a16="http://schemas.microsoft.com/office/drawing/2014/main" id="{C30AFB9D-762C-418A-95B4-9BEDF08DFF8E}"/>
              </a:ext>
            </a:extLst>
          </p:cNvPr>
          <p:cNvGrpSpPr>
            <a:grpSpLocks/>
          </p:cNvGrpSpPr>
          <p:nvPr/>
        </p:nvGrpSpPr>
        <p:grpSpPr bwMode="auto">
          <a:xfrm>
            <a:off x="6255580" y="5222009"/>
            <a:ext cx="354264" cy="213033"/>
            <a:chOff x="3408" y="2304"/>
            <a:chExt cx="384" cy="181"/>
          </a:xfrm>
        </p:grpSpPr>
        <p:sp>
          <p:nvSpPr>
            <p:cNvPr id="57" name="Freeform 77">
              <a:extLst>
                <a:ext uri="{FF2B5EF4-FFF2-40B4-BE49-F238E27FC236}">
                  <a16:creationId xmlns:a16="http://schemas.microsoft.com/office/drawing/2014/main" id="{3D4FD1E9-131E-4AEC-9A75-29570FEED854}"/>
                </a:ext>
              </a:extLst>
            </p:cNvPr>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58" name="Text Box 78">
              <a:extLst>
                <a:ext uri="{FF2B5EF4-FFF2-40B4-BE49-F238E27FC236}">
                  <a16:creationId xmlns:a16="http://schemas.microsoft.com/office/drawing/2014/main" id="{07FCC142-C2B3-45EC-81F5-AA7E25DB9E82}"/>
                </a:ext>
              </a:extLst>
            </p:cNvPr>
            <p:cNvSpPr txBox="1">
              <a:spLocks noChangeArrowheads="1"/>
            </p:cNvSpPr>
            <p:nvPr/>
          </p:nvSpPr>
          <p:spPr bwMode="blackWhite">
            <a:xfrm>
              <a:off x="3408" y="2304"/>
              <a:ext cx="384" cy="131"/>
            </a:xfrm>
            <a:prstGeom prst="rect">
              <a:avLst/>
            </a:prstGeom>
            <a:noFill/>
            <a:ln w="19050">
              <a:noFill/>
              <a:miter lim="800000"/>
              <a:headEnd/>
              <a:tailEnd/>
            </a:ln>
          </p:spPr>
          <p:txBody>
            <a:bodyPr wrap="square" lIns="0" tIns="0" rIns="0" bIns="0">
              <a:spAutoFit/>
            </a:bodyPr>
            <a:lstStyle/>
            <a:p>
              <a:r>
                <a:rPr lang="es-ES" sz="1000" b="1" dirty="0">
                  <a:latin typeface="Arial Narrow" pitchFamily="34" charset="0"/>
                </a:rPr>
                <a:t>P0</a:t>
              </a:r>
            </a:p>
          </p:txBody>
        </p:sp>
      </p:grpSp>
      <p:grpSp>
        <p:nvGrpSpPr>
          <p:cNvPr id="59" name="Group 84">
            <a:extLst>
              <a:ext uri="{FF2B5EF4-FFF2-40B4-BE49-F238E27FC236}">
                <a16:creationId xmlns:a16="http://schemas.microsoft.com/office/drawing/2014/main" id="{9765FB89-5EE9-4DB4-9CD2-A8547E184B3D}"/>
              </a:ext>
            </a:extLst>
          </p:cNvPr>
          <p:cNvGrpSpPr>
            <a:grpSpLocks/>
          </p:cNvGrpSpPr>
          <p:nvPr/>
        </p:nvGrpSpPr>
        <p:grpSpPr bwMode="auto">
          <a:xfrm>
            <a:off x="6963673" y="5213287"/>
            <a:ext cx="354264" cy="213033"/>
            <a:chOff x="3408" y="2304"/>
            <a:chExt cx="384" cy="181"/>
          </a:xfrm>
        </p:grpSpPr>
        <p:sp>
          <p:nvSpPr>
            <p:cNvPr id="60" name="Freeform 77">
              <a:extLst>
                <a:ext uri="{FF2B5EF4-FFF2-40B4-BE49-F238E27FC236}">
                  <a16:creationId xmlns:a16="http://schemas.microsoft.com/office/drawing/2014/main" id="{1858DE40-EB94-4810-9F76-B5F19F4B7EA5}"/>
                </a:ext>
              </a:extLst>
            </p:cNvPr>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61" name="Text Box 78">
              <a:extLst>
                <a:ext uri="{FF2B5EF4-FFF2-40B4-BE49-F238E27FC236}">
                  <a16:creationId xmlns:a16="http://schemas.microsoft.com/office/drawing/2014/main" id="{B1146250-0EE6-4B8E-87B0-67CAFC29B1AB}"/>
                </a:ext>
              </a:extLst>
            </p:cNvPr>
            <p:cNvSpPr txBox="1">
              <a:spLocks noChangeArrowheads="1"/>
            </p:cNvSpPr>
            <p:nvPr/>
          </p:nvSpPr>
          <p:spPr bwMode="blackWhite">
            <a:xfrm>
              <a:off x="3408"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sp>
        <p:nvSpPr>
          <p:cNvPr id="62" name="Freeform 24">
            <a:extLst>
              <a:ext uri="{FF2B5EF4-FFF2-40B4-BE49-F238E27FC236}">
                <a16:creationId xmlns:a16="http://schemas.microsoft.com/office/drawing/2014/main" id="{75F0DD94-E296-42B4-BF3C-AB614E466F9A}"/>
              </a:ext>
            </a:extLst>
          </p:cNvPr>
          <p:cNvSpPr>
            <a:spLocks/>
          </p:cNvSpPr>
          <p:nvPr/>
        </p:nvSpPr>
        <p:spPr bwMode="blackWhite">
          <a:xfrm>
            <a:off x="7631293" y="3841937"/>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sp>
        <p:nvSpPr>
          <p:cNvPr id="70" name="Rectangle 10">
            <a:extLst>
              <a:ext uri="{FF2B5EF4-FFF2-40B4-BE49-F238E27FC236}">
                <a16:creationId xmlns:a16="http://schemas.microsoft.com/office/drawing/2014/main" id="{42AFDB0B-196E-4779-8A03-A608EE84A476}"/>
              </a:ext>
            </a:extLst>
          </p:cNvPr>
          <p:cNvSpPr>
            <a:spLocks noChangeArrowheads="1"/>
          </p:cNvSpPr>
          <p:nvPr/>
        </p:nvSpPr>
        <p:spPr bwMode="auto">
          <a:xfrm>
            <a:off x="8039622" y="4453350"/>
            <a:ext cx="224840" cy="184666"/>
          </a:xfrm>
          <a:prstGeom prst="rect">
            <a:avLst/>
          </a:prstGeom>
          <a:noFill/>
          <a:ln w="19050">
            <a:noFill/>
            <a:miter lim="800000"/>
            <a:headEnd/>
            <a:tailEnd/>
          </a:ln>
        </p:spPr>
        <p:txBody>
          <a:bodyPr wrap="square" lIns="0" tIns="0" rIns="0" bIns="0" anchor="ctr">
            <a:spAutoFit/>
          </a:bodyPr>
          <a:lstStyle/>
          <a:p>
            <a:r>
              <a:rPr lang="es-ES" sz="1200" dirty="0" err="1"/>
              <a:t>t</a:t>
            </a:r>
            <a:r>
              <a:rPr lang="es-ES" sz="1200" b="1" baseline="-25000" dirty="0" err="1"/>
              <a:t>RP</a:t>
            </a:r>
            <a:endParaRPr lang="es-ES_tradnl" sz="1200" b="1" baseline="-25000" dirty="0"/>
          </a:p>
        </p:txBody>
      </p:sp>
      <p:sp>
        <p:nvSpPr>
          <p:cNvPr id="71" name="Line 11">
            <a:extLst>
              <a:ext uri="{FF2B5EF4-FFF2-40B4-BE49-F238E27FC236}">
                <a16:creationId xmlns:a16="http://schemas.microsoft.com/office/drawing/2014/main" id="{D2737419-FAB3-45F5-A227-3E8352B037FE}"/>
              </a:ext>
            </a:extLst>
          </p:cNvPr>
          <p:cNvSpPr>
            <a:spLocks noChangeShapeType="1"/>
          </p:cNvSpPr>
          <p:nvPr/>
        </p:nvSpPr>
        <p:spPr bwMode="auto">
          <a:xfrm>
            <a:off x="7637439" y="4281779"/>
            <a:ext cx="739867" cy="3157"/>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72" name="Line 11">
            <a:extLst>
              <a:ext uri="{FF2B5EF4-FFF2-40B4-BE49-F238E27FC236}">
                <a16:creationId xmlns:a16="http://schemas.microsoft.com/office/drawing/2014/main" id="{D143CF9A-4E45-4CB3-810D-08A55EEF6EDC}"/>
              </a:ext>
            </a:extLst>
          </p:cNvPr>
          <p:cNvSpPr>
            <a:spLocks noChangeShapeType="1"/>
          </p:cNvSpPr>
          <p:nvPr/>
        </p:nvSpPr>
        <p:spPr bwMode="auto">
          <a:xfrm>
            <a:off x="5493706" y="4245286"/>
            <a:ext cx="742514" cy="15535"/>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73" name="Rectangle 10">
            <a:extLst>
              <a:ext uri="{FF2B5EF4-FFF2-40B4-BE49-F238E27FC236}">
                <a16:creationId xmlns:a16="http://schemas.microsoft.com/office/drawing/2014/main" id="{91D029F5-0945-4901-95AA-FA153337886B}"/>
              </a:ext>
            </a:extLst>
          </p:cNvPr>
          <p:cNvSpPr>
            <a:spLocks noChangeArrowheads="1"/>
          </p:cNvSpPr>
          <p:nvPr/>
        </p:nvSpPr>
        <p:spPr bwMode="auto">
          <a:xfrm>
            <a:off x="5854111" y="4380373"/>
            <a:ext cx="179537" cy="184666"/>
          </a:xfrm>
          <a:prstGeom prst="rect">
            <a:avLst/>
          </a:prstGeom>
          <a:noFill/>
          <a:ln w="19050">
            <a:noFill/>
            <a:miter lim="800000"/>
            <a:headEnd/>
            <a:tailEnd/>
          </a:ln>
        </p:spPr>
        <p:txBody>
          <a:bodyPr wrap="none" lIns="0" tIns="0" rIns="0" bIns="0" anchor="ctr">
            <a:spAutoFit/>
          </a:bodyPr>
          <a:lstStyle/>
          <a:p>
            <a:r>
              <a:rPr lang="es-ES" sz="1200" dirty="0" err="1"/>
              <a:t>t</a:t>
            </a:r>
            <a:r>
              <a:rPr lang="es-ES" sz="1200" b="1" baseline="-25000" dirty="0" err="1"/>
              <a:t>CL</a:t>
            </a:r>
            <a:endParaRPr lang="es-ES_tradnl" sz="1200" b="1" baseline="-25000" dirty="0"/>
          </a:p>
        </p:txBody>
      </p:sp>
      <p:cxnSp>
        <p:nvCxnSpPr>
          <p:cNvPr id="5" name="Conector recto 4">
            <a:extLst>
              <a:ext uri="{FF2B5EF4-FFF2-40B4-BE49-F238E27FC236}">
                <a16:creationId xmlns:a16="http://schemas.microsoft.com/office/drawing/2014/main" id="{D43838E3-60A7-4F5C-AAD5-9C2362562D8E}"/>
              </a:ext>
            </a:extLst>
          </p:cNvPr>
          <p:cNvCxnSpPr/>
          <p:nvPr/>
        </p:nvCxnSpPr>
        <p:spPr bwMode="auto">
          <a:xfrm>
            <a:off x="4644008" y="3573016"/>
            <a:ext cx="0"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87" name="Grupo 86">
            <a:extLst>
              <a:ext uri="{FF2B5EF4-FFF2-40B4-BE49-F238E27FC236}">
                <a16:creationId xmlns:a16="http://schemas.microsoft.com/office/drawing/2014/main" id="{BBBB94FF-3473-415A-86B8-894713932643}"/>
              </a:ext>
            </a:extLst>
          </p:cNvPr>
          <p:cNvGrpSpPr/>
          <p:nvPr/>
        </p:nvGrpSpPr>
        <p:grpSpPr>
          <a:xfrm>
            <a:off x="4644008" y="3357938"/>
            <a:ext cx="729524" cy="195314"/>
            <a:chOff x="4644008" y="3357938"/>
            <a:chExt cx="911600" cy="215078"/>
          </a:xfrm>
        </p:grpSpPr>
        <p:grpSp>
          <p:nvGrpSpPr>
            <p:cNvPr id="82" name="Grupo 81">
              <a:extLst>
                <a:ext uri="{FF2B5EF4-FFF2-40B4-BE49-F238E27FC236}">
                  <a16:creationId xmlns:a16="http://schemas.microsoft.com/office/drawing/2014/main" id="{1FB0411C-F407-47A9-AE56-26D65C0BA41A}"/>
                </a:ext>
              </a:extLst>
            </p:cNvPr>
            <p:cNvGrpSpPr/>
            <p:nvPr/>
          </p:nvGrpSpPr>
          <p:grpSpPr>
            <a:xfrm>
              <a:off x="4644008" y="3357938"/>
              <a:ext cx="617073" cy="215078"/>
              <a:chOff x="4644008" y="3357938"/>
              <a:chExt cx="617073" cy="215078"/>
            </a:xfrm>
          </p:grpSpPr>
          <p:cxnSp>
            <p:nvCxnSpPr>
              <p:cNvPr id="7" name="Conector recto 6">
                <a:extLst>
                  <a:ext uri="{FF2B5EF4-FFF2-40B4-BE49-F238E27FC236}">
                    <a16:creationId xmlns:a16="http://schemas.microsoft.com/office/drawing/2014/main" id="{F0C05614-18DB-42F2-AC4A-378EB0097BE6}"/>
                  </a:ext>
                </a:extLst>
              </p:cNvPr>
              <p:cNvCxnSpPr/>
              <p:nvPr/>
            </p:nvCxnSpPr>
            <p:spPr bwMode="auto">
              <a:xfrm flipV="1">
                <a:off x="4644008" y="3358323"/>
                <a:ext cx="216024" cy="21469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020419B9-86C9-45AC-B041-98E19CC6471E}"/>
                  </a:ext>
                </a:extLst>
              </p:cNvPr>
              <p:cNvCxnSpPr/>
              <p:nvPr/>
            </p:nvCxnSpPr>
            <p:spPr bwMode="auto">
              <a:xfrm>
                <a:off x="4860032" y="3358323"/>
                <a:ext cx="218795"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D29B2445-D821-4566-8CA0-659088D09A34}"/>
                  </a:ext>
                </a:extLst>
              </p:cNvPr>
              <p:cNvCxnSpPr/>
              <p:nvPr/>
            </p:nvCxnSpPr>
            <p:spPr bwMode="auto">
              <a:xfrm>
                <a:off x="5066561" y="3357938"/>
                <a:ext cx="194520" cy="1950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81" name="Conector recto 80">
              <a:extLst>
                <a:ext uri="{FF2B5EF4-FFF2-40B4-BE49-F238E27FC236}">
                  <a16:creationId xmlns:a16="http://schemas.microsoft.com/office/drawing/2014/main" id="{6D568B3E-4E50-4638-9F73-9C6DA6F2BAE2}"/>
                </a:ext>
              </a:extLst>
            </p:cNvPr>
            <p:cNvCxnSpPr/>
            <p:nvPr/>
          </p:nvCxnSpPr>
          <p:spPr bwMode="auto">
            <a:xfrm>
              <a:off x="5261081" y="3552998"/>
              <a:ext cx="294527"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12" name="Grupo 111">
            <a:extLst>
              <a:ext uri="{FF2B5EF4-FFF2-40B4-BE49-F238E27FC236}">
                <a16:creationId xmlns:a16="http://schemas.microsoft.com/office/drawing/2014/main" id="{221FC3A2-744A-483C-B01B-0596916E0A27}"/>
              </a:ext>
            </a:extLst>
          </p:cNvPr>
          <p:cNvGrpSpPr/>
          <p:nvPr/>
        </p:nvGrpSpPr>
        <p:grpSpPr>
          <a:xfrm>
            <a:off x="5367460" y="3331147"/>
            <a:ext cx="729524" cy="195314"/>
            <a:chOff x="4644008" y="3357938"/>
            <a:chExt cx="911600" cy="215078"/>
          </a:xfrm>
        </p:grpSpPr>
        <p:grpSp>
          <p:nvGrpSpPr>
            <p:cNvPr id="113" name="Grupo 112">
              <a:extLst>
                <a:ext uri="{FF2B5EF4-FFF2-40B4-BE49-F238E27FC236}">
                  <a16:creationId xmlns:a16="http://schemas.microsoft.com/office/drawing/2014/main" id="{16CA85CC-5314-4952-8B1E-77DEC15B9CAA}"/>
                </a:ext>
              </a:extLst>
            </p:cNvPr>
            <p:cNvGrpSpPr/>
            <p:nvPr/>
          </p:nvGrpSpPr>
          <p:grpSpPr>
            <a:xfrm>
              <a:off x="4644008" y="3357938"/>
              <a:ext cx="617073" cy="215078"/>
              <a:chOff x="4644008" y="3357938"/>
              <a:chExt cx="617073" cy="215078"/>
            </a:xfrm>
          </p:grpSpPr>
          <p:cxnSp>
            <p:nvCxnSpPr>
              <p:cNvPr id="115" name="Conector recto 114">
                <a:extLst>
                  <a:ext uri="{FF2B5EF4-FFF2-40B4-BE49-F238E27FC236}">
                    <a16:creationId xmlns:a16="http://schemas.microsoft.com/office/drawing/2014/main" id="{510DA150-5850-406A-AD78-4B6A641F0E0D}"/>
                  </a:ext>
                </a:extLst>
              </p:cNvPr>
              <p:cNvCxnSpPr/>
              <p:nvPr/>
            </p:nvCxnSpPr>
            <p:spPr bwMode="auto">
              <a:xfrm flipV="1">
                <a:off x="4644008" y="3358323"/>
                <a:ext cx="216024" cy="21469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16" name="Conector recto 115">
                <a:extLst>
                  <a:ext uri="{FF2B5EF4-FFF2-40B4-BE49-F238E27FC236}">
                    <a16:creationId xmlns:a16="http://schemas.microsoft.com/office/drawing/2014/main" id="{5DCC1F84-2EA1-41BF-80FB-62BFD1182848}"/>
                  </a:ext>
                </a:extLst>
              </p:cNvPr>
              <p:cNvCxnSpPr/>
              <p:nvPr/>
            </p:nvCxnSpPr>
            <p:spPr bwMode="auto">
              <a:xfrm>
                <a:off x="4860032" y="3358323"/>
                <a:ext cx="218795"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17" name="Conector recto 116">
                <a:extLst>
                  <a:ext uri="{FF2B5EF4-FFF2-40B4-BE49-F238E27FC236}">
                    <a16:creationId xmlns:a16="http://schemas.microsoft.com/office/drawing/2014/main" id="{0D8BDF22-D321-4ADA-9CCE-EF8B7B38EB59}"/>
                  </a:ext>
                </a:extLst>
              </p:cNvPr>
              <p:cNvCxnSpPr/>
              <p:nvPr/>
            </p:nvCxnSpPr>
            <p:spPr bwMode="auto">
              <a:xfrm>
                <a:off x="5066561" y="3357938"/>
                <a:ext cx="194520" cy="1950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14" name="Conector recto 113">
              <a:extLst>
                <a:ext uri="{FF2B5EF4-FFF2-40B4-BE49-F238E27FC236}">
                  <a16:creationId xmlns:a16="http://schemas.microsoft.com/office/drawing/2014/main" id="{E5ABCE18-BA09-4A4F-B3A7-2565EE0AE5A9}"/>
                </a:ext>
              </a:extLst>
            </p:cNvPr>
            <p:cNvCxnSpPr/>
            <p:nvPr/>
          </p:nvCxnSpPr>
          <p:spPr bwMode="auto">
            <a:xfrm>
              <a:off x="5261081" y="3552998"/>
              <a:ext cx="294527"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18" name="Grupo 117">
            <a:extLst>
              <a:ext uri="{FF2B5EF4-FFF2-40B4-BE49-F238E27FC236}">
                <a16:creationId xmlns:a16="http://schemas.microsoft.com/office/drawing/2014/main" id="{814D3DCD-8483-4E14-B4CE-02893F017BA8}"/>
              </a:ext>
            </a:extLst>
          </p:cNvPr>
          <p:cNvGrpSpPr/>
          <p:nvPr/>
        </p:nvGrpSpPr>
        <p:grpSpPr>
          <a:xfrm>
            <a:off x="6088174" y="3312968"/>
            <a:ext cx="729524" cy="195314"/>
            <a:chOff x="4644008" y="3357938"/>
            <a:chExt cx="911600" cy="215078"/>
          </a:xfrm>
        </p:grpSpPr>
        <p:grpSp>
          <p:nvGrpSpPr>
            <p:cNvPr id="119" name="Grupo 118">
              <a:extLst>
                <a:ext uri="{FF2B5EF4-FFF2-40B4-BE49-F238E27FC236}">
                  <a16:creationId xmlns:a16="http://schemas.microsoft.com/office/drawing/2014/main" id="{1F8E9691-CB27-491E-B3C0-69E3942DA89A}"/>
                </a:ext>
              </a:extLst>
            </p:cNvPr>
            <p:cNvGrpSpPr/>
            <p:nvPr/>
          </p:nvGrpSpPr>
          <p:grpSpPr>
            <a:xfrm>
              <a:off x="4644008" y="3357938"/>
              <a:ext cx="617073" cy="215078"/>
              <a:chOff x="4644008" y="3357938"/>
              <a:chExt cx="617073" cy="215078"/>
            </a:xfrm>
          </p:grpSpPr>
          <p:cxnSp>
            <p:nvCxnSpPr>
              <p:cNvPr id="121" name="Conector recto 120">
                <a:extLst>
                  <a:ext uri="{FF2B5EF4-FFF2-40B4-BE49-F238E27FC236}">
                    <a16:creationId xmlns:a16="http://schemas.microsoft.com/office/drawing/2014/main" id="{B10268B8-693B-4F05-B0EA-D8E00DCFE4C4}"/>
                  </a:ext>
                </a:extLst>
              </p:cNvPr>
              <p:cNvCxnSpPr/>
              <p:nvPr/>
            </p:nvCxnSpPr>
            <p:spPr bwMode="auto">
              <a:xfrm flipV="1">
                <a:off x="4644008" y="3358323"/>
                <a:ext cx="216024" cy="21469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22" name="Conector recto 121">
                <a:extLst>
                  <a:ext uri="{FF2B5EF4-FFF2-40B4-BE49-F238E27FC236}">
                    <a16:creationId xmlns:a16="http://schemas.microsoft.com/office/drawing/2014/main" id="{FE8BCD1B-7400-45F5-A471-33AEF728DB1D}"/>
                  </a:ext>
                </a:extLst>
              </p:cNvPr>
              <p:cNvCxnSpPr/>
              <p:nvPr/>
            </p:nvCxnSpPr>
            <p:spPr bwMode="auto">
              <a:xfrm>
                <a:off x="4860032" y="3358323"/>
                <a:ext cx="218795"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23" name="Conector recto 122">
                <a:extLst>
                  <a:ext uri="{FF2B5EF4-FFF2-40B4-BE49-F238E27FC236}">
                    <a16:creationId xmlns:a16="http://schemas.microsoft.com/office/drawing/2014/main" id="{4490B64B-A6B8-48AB-8BE7-9E51F8153000}"/>
                  </a:ext>
                </a:extLst>
              </p:cNvPr>
              <p:cNvCxnSpPr/>
              <p:nvPr/>
            </p:nvCxnSpPr>
            <p:spPr bwMode="auto">
              <a:xfrm>
                <a:off x="5066561" y="3357938"/>
                <a:ext cx="194520" cy="1950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20" name="Conector recto 119">
              <a:extLst>
                <a:ext uri="{FF2B5EF4-FFF2-40B4-BE49-F238E27FC236}">
                  <a16:creationId xmlns:a16="http://schemas.microsoft.com/office/drawing/2014/main" id="{A6479B82-7BE5-42CD-B818-A44588A62F7C}"/>
                </a:ext>
              </a:extLst>
            </p:cNvPr>
            <p:cNvCxnSpPr/>
            <p:nvPr/>
          </p:nvCxnSpPr>
          <p:spPr bwMode="auto">
            <a:xfrm>
              <a:off x="5261081" y="3552998"/>
              <a:ext cx="294527"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24" name="Grupo 123">
            <a:extLst>
              <a:ext uri="{FF2B5EF4-FFF2-40B4-BE49-F238E27FC236}">
                <a16:creationId xmlns:a16="http://schemas.microsoft.com/office/drawing/2014/main" id="{EC2D927B-2B9A-4CE3-B9DA-32399A7640FA}"/>
              </a:ext>
            </a:extLst>
          </p:cNvPr>
          <p:cNvGrpSpPr/>
          <p:nvPr/>
        </p:nvGrpSpPr>
        <p:grpSpPr>
          <a:xfrm>
            <a:off x="6811223" y="3289466"/>
            <a:ext cx="729524" cy="195314"/>
            <a:chOff x="4644008" y="3357938"/>
            <a:chExt cx="911600" cy="215078"/>
          </a:xfrm>
        </p:grpSpPr>
        <p:grpSp>
          <p:nvGrpSpPr>
            <p:cNvPr id="125" name="Grupo 124">
              <a:extLst>
                <a:ext uri="{FF2B5EF4-FFF2-40B4-BE49-F238E27FC236}">
                  <a16:creationId xmlns:a16="http://schemas.microsoft.com/office/drawing/2014/main" id="{C6E60212-FA0C-4A45-BBCA-4352F0C86D19}"/>
                </a:ext>
              </a:extLst>
            </p:cNvPr>
            <p:cNvGrpSpPr/>
            <p:nvPr/>
          </p:nvGrpSpPr>
          <p:grpSpPr>
            <a:xfrm>
              <a:off x="4644008" y="3357938"/>
              <a:ext cx="617073" cy="215078"/>
              <a:chOff x="4644008" y="3357938"/>
              <a:chExt cx="617073" cy="215078"/>
            </a:xfrm>
          </p:grpSpPr>
          <p:cxnSp>
            <p:nvCxnSpPr>
              <p:cNvPr id="127" name="Conector recto 126">
                <a:extLst>
                  <a:ext uri="{FF2B5EF4-FFF2-40B4-BE49-F238E27FC236}">
                    <a16:creationId xmlns:a16="http://schemas.microsoft.com/office/drawing/2014/main" id="{ED49FA89-5627-450B-AE7F-2297F7AC1D96}"/>
                  </a:ext>
                </a:extLst>
              </p:cNvPr>
              <p:cNvCxnSpPr/>
              <p:nvPr/>
            </p:nvCxnSpPr>
            <p:spPr bwMode="auto">
              <a:xfrm flipV="1">
                <a:off x="4644008" y="3358323"/>
                <a:ext cx="216024" cy="21469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28" name="Conector recto 127">
                <a:extLst>
                  <a:ext uri="{FF2B5EF4-FFF2-40B4-BE49-F238E27FC236}">
                    <a16:creationId xmlns:a16="http://schemas.microsoft.com/office/drawing/2014/main" id="{E05B4DD2-0DC9-42E8-A243-A796DF489E1E}"/>
                  </a:ext>
                </a:extLst>
              </p:cNvPr>
              <p:cNvCxnSpPr/>
              <p:nvPr/>
            </p:nvCxnSpPr>
            <p:spPr bwMode="auto">
              <a:xfrm>
                <a:off x="4860032" y="3358323"/>
                <a:ext cx="218795"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29" name="Conector recto 128">
                <a:extLst>
                  <a:ext uri="{FF2B5EF4-FFF2-40B4-BE49-F238E27FC236}">
                    <a16:creationId xmlns:a16="http://schemas.microsoft.com/office/drawing/2014/main" id="{570C40D1-3A1D-49C3-8B98-66D986027692}"/>
                  </a:ext>
                </a:extLst>
              </p:cNvPr>
              <p:cNvCxnSpPr/>
              <p:nvPr/>
            </p:nvCxnSpPr>
            <p:spPr bwMode="auto">
              <a:xfrm>
                <a:off x="5066561" y="3357938"/>
                <a:ext cx="194520" cy="1950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26" name="Conector recto 125">
              <a:extLst>
                <a:ext uri="{FF2B5EF4-FFF2-40B4-BE49-F238E27FC236}">
                  <a16:creationId xmlns:a16="http://schemas.microsoft.com/office/drawing/2014/main" id="{21E6E839-AB64-48CE-80F1-963D5EA88EA9}"/>
                </a:ext>
              </a:extLst>
            </p:cNvPr>
            <p:cNvCxnSpPr/>
            <p:nvPr/>
          </p:nvCxnSpPr>
          <p:spPr bwMode="auto">
            <a:xfrm>
              <a:off x="5261081" y="3552998"/>
              <a:ext cx="294527"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30" name="Grupo 129">
            <a:extLst>
              <a:ext uri="{FF2B5EF4-FFF2-40B4-BE49-F238E27FC236}">
                <a16:creationId xmlns:a16="http://schemas.microsoft.com/office/drawing/2014/main" id="{157D0BD9-6521-4C82-94AE-5927C59DEF51}"/>
              </a:ext>
            </a:extLst>
          </p:cNvPr>
          <p:cNvGrpSpPr/>
          <p:nvPr/>
        </p:nvGrpSpPr>
        <p:grpSpPr>
          <a:xfrm>
            <a:off x="7545797" y="3270078"/>
            <a:ext cx="729524" cy="195314"/>
            <a:chOff x="4644008" y="3357938"/>
            <a:chExt cx="911600" cy="215078"/>
          </a:xfrm>
        </p:grpSpPr>
        <p:grpSp>
          <p:nvGrpSpPr>
            <p:cNvPr id="131" name="Grupo 130">
              <a:extLst>
                <a:ext uri="{FF2B5EF4-FFF2-40B4-BE49-F238E27FC236}">
                  <a16:creationId xmlns:a16="http://schemas.microsoft.com/office/drawing/2014/main" id="{C9DF3122-D187-44DA-917D-4EA37C5D9E08}"/>
                </a:ext>
              </a:extLst>
            </p:cNvPr>
            <p:cNvGrpSpPr/>
            <p:nvPr/>
          </p:nvGrpSpPr>
          <p:grpSpPr>
            <a:xfrm>
              <a:off x="4644008" y="3357938"/>
              <a:ext cx="617073" cy="215078"/>
              <a:chOff x="4644008" y="3357938"/>
              <a:chExt cx="617073" cy="215078"/>
            </a:xfrm>
          </p:grpSpPr>
          <p:cxnSp>
            <p:nvCxnSpPr>
              <p:cNvPr id="133" name="Conector recto 132">
                <a:extLst>
                  <a:ext uri="{FF2B5EF4-FFF2-40B4-BE49-F238E27FC236}">
                    <a16:creationId xmlns:a16="http://schemas.microsoft.com/office/drawing/2014/main" id="{96262D2B-1BD7-4A15-896D-2F1FAF6EC7F0}"/>
                  </a:ext>
                </a:extLst>
              </p:cNvPr>
              <p:cNvCxnSpPr/>
              <p:nvPr/>
            </p:nvCxnSpPr>
            <p:spPr bwMode="auto">
              <a:xfrm flipV="1">
                <a:off x="4644008" y="3358323"/>
                <a:ext cx="216024" cy="21469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4" name="Conector recto 133">
                <a:extLst>
                  <a:ext uri="{FF2B5EF4-FFF2-40B4-BE49-F238E27FC236}">
                    <a16:creationId xmlns:a16="http://schemas.microsoft.com/office/drawing/2014/main" id="{336B1740-0D14-4D47-9395-70683397B08E}"/>
                  </a:ext>
                </a:extLst>
              </p:cNvPr>
              <p:cNvCxnSpPr/>
              <p:nvPr/>
            </p:nvCxnSpPr>
            <p:spPr bwMode="auto">
              <a:xfrm>
                <a:off x="4860032" y="3358323"/>
                <a:ext cx="218795"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5" name="Conector recto 134">
                <a:extLst>
                  <a:ext uri="{FF2B5EF4-FFF2-40B4-BE49-F238E27FC236}">
                    <a16:creationId xmlns:a16="http://schemas.microsoft.com/office/drawing/2014/main" id="{14E181AD-8E26-44FB-8E59-F6BED7A6EAB8}"/>
                  </a:ext>
                </a:extLst>
              </p:cNvPr>
              <p:cNvCxnSpPr/>
              <p:nvPr/>
            </p:nvCxnSpPr>
            <p:spPr bwMode="auto">
              <a:xfrm>
                <a:off x="5066561" y="3357938"/>
                <a:ext cx="194520" cy="1950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32" name="Conector recto 131">
              <a:extLst>
                <a:ext uri="{FF2B5EF4-FFF2-40B4-BE49-F238E27FC236}">
                  <a16:creationId xmlns:a16="http://schemas.microsoft.com/office/drawing/2014/main" id="{D1D47F6E-4694-4093-963A-C3823985A577}"/>
                </a:ext>
              </a:extLst>
            </p:cNvPr>
            <p:cNvCxnSpPr/>
            <p:nvPr/>
          </p:nvCxnSpPr>
          <p:spPr bwMode="auto">
            <a:xfrm>
              <a:off x="5261081" y="3552998"/>
              <a:ext cx="294527"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grpSp>
        <p:nvGrpSpPr>
          <p:cNvPr id="136" name="Grupo 135">
            <a:extLst>
              <a:ext uri="{FF2B5EF4-FFF2-40B4-BE49-F238E27FC236}">
                <a16:creationId xmlns:a16="http://schemas.microsoft.com/office/drawing/2014/main" id="{7C32BC97-69A9-42BE-9E24-3754C6110A49}"/>
              </a:ext>
            </a:extLst>
          </p:cNvPr>
          <p:cNvGrpSpPr/>
          <p:nvPr/>
        </p:nvGrpSpPr>
        <p:grpSpPr>
          <a:xfrm>
            <a:off x="8271599" y="3251191"/>
            <a:ext cx="729524" cy="195314"/>
            <a:chOff x="4644008" y="3357938"/>
            <a:chExt cx="911600" cy="215078"/>
          </a:xfrm>
        </p:grpSpPr>
        <p:grpSp>
          <p:nvGrpSpPr>
            <p:cNvPr id="137" name="Grupo 136">
              <a:extLst>
                <a:ext uri="{FF2B5EF4-FFF2-40B4-BE49-F238E27FC236}">
                  <a16:creationId xmlns:a16="http://schemas.microsoft.com/office/drawing/2014/main" id="{9D286E33-959F-4D36-BB4B-7491BAE33E09}"/>
                </a:ext>
              </a:extLst>
            </p:cNvPr>
            <p:cNvGrpSpPr/>
            <p:nvPr/>
          </p:nvGrpSpPr>
          <p:grpSpPr>
            <a:xfrm>
              <a:off x="4644008" y="3357938"/>
              <a:ext cx="617073" cy="215078"/>
              <a:chOff x="4644008" y="3357938"/>
              <a:chExt cx="617073" cy="215078"/>
            </a:xfrm>
          </p:grpSpPr>
          <p:cxnSp>
            <p:nvCxnSpPr>
              <p:cNvPr id="139" name="Conector recto 138">
                <a:extLst>
                  <a:ext uri="{FF2B5EF4-FFF2-40B4-BE49-F238E27FC236}">
                    <a16:creationId xmlns:a16="http://schemas.microsoft.com/office/drawing/2014/main" id="{C34DB62A-6FBC-4080-970F-C926FED85B67}"/>
                  </a:ext>
                </a:extLst>
              </p:cNvPr>
              <p:cNvCxnSpPr/>
              <p:nvPr/>
            </p:nvCxnSpPr>
            <p:spPr bwMode="auto">
              <a:xfrm flipV="1">
                <a:off x="4644008" y="3358323"/>
                <a:ext cx="216024" cy="21469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40" name="Conector recto 139">
                <a:extLst>
                  <a:ext uri="{FF2B5EF4-FFF2-40B4-BE49-F238E27FC236}">
                    <a16:creationId xmlns:a16="http://schemas.microsoft.com/office/drawing/2014/main" id="{E19789CE-7983-4120-88A8-E022127F4891}"/>
                  </a:ext>
                </a:extLst>
              </p:cNvPr>
              <p:cNvCxnSpPr/>
              <p:nvPr/>
            </p:nvCxnSpPr>
            <p:spPr bwMode="auto">
              <a:xfrm>
                <a:off x="4860032" y="3358323"/>
                <a:ext cx="218795"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41" name="Conector recto 140">
                <a:extLst>
                  <a:ext uri="{FF2B5EF4-FFF2-40B4-BE49-F238E27FC236}">
                    <a16:creationId xmlns:a16="http://schemas.microsoft.com/office/drawing/2014/main" id="{363FE332-7B71-4857-B9AA-D9FAF1E72FF1}"/>
                  </a:ext>
                </a:extLst>
              </p:cNvPr>
              <p:cNvCxnSpPr/>
              <p:nvPr/>
            </p:nvCxnSpPr>
            <p:spPr bwMode="auto">
              <a:xfrm>
                <a:off x="5066561" y="3357938"/>
                <a:ext cx="194520" cy="19506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cxnSp>
          <p:nvCxnSpPr>
            <p:cNvPr id="138" name="Conector recto 137">
              <a:extLst>
                <a:ext uri="{FF2B5EF4-FFF2-40B4-BE49-F238E27FC236}">
                  <a16:creationId xmlns:a16="http://schemas.microsoft.com/office/drawing/2014/main" id="{3C70D39B-15B8-4D31-9C23-13921AC9BC95}"/>
                </a:ext>
              </a:extLst>
            </p:cNvPr>
            <p:cNvCxnSpPr/>
            <p:nvPr/>
          </p:nvCxnSpPr>
          <p:spPr bwMode="auto">
            <a:xfrm>
              <a:off x="5261081" y="3552998"/>
              <a:ext cx="294527"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mc:AlternateContent xmlns:mc="http://schemas.openxmlformats.org/markup-compatibility/2006" xmlns:a14="http://schemas.microsoft.com/office/drawing/2010/main">
        <mc:Choice Requires="a14">
          <p:sp>
            <p:nvSpPr>
              <p:cNvPr id="142" name="CuadroTexto 141">
                <a:extLst>
                  <a:ext uri="{FF2B5EF4-FFF2-40B4-BE49-F238E27FC236}">
                    <a16:creationId xmlns:a16="http://schemas.microsoft.com/office/drawing/2014/main" id="{BDF47F06-3606-4252-AF0B-6A980DD16E92}"/>
                  </a:ext>
                </a:extLst>
              </p:cNvPr>
              <p:cNvSpPr txBox="1"/>
              <p:nvPr/>
            </p:nvSpPr>
            <p:spPr>
              <a:xfrm flipH="1">
                <a:off x="5190969" y="2260958"/>
                <a:ext cx="3253507" cy="68480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solidFill>
                                <a:schemeClr val="accent1">
                                  <a:lumMod val="75000"/>
                                </a:schemeClr>
                              </a:solidFill>
                              <a:latin typeface="Cambria Math" panose="02040503050406030204" pitchFamily="18" charset="0"/>
                            </a:rPr>
                          </m:ctrlPr>
                        </m:dPr>
                        <m:e>
                          <m:f>
                            <m:fPr>
                              <m:ctrlPr>
                                <a:rPr lang="es-ES" i="1" smtClean="0">
                                  <a:solidFill>
                                    <a:schemeClr val="accent1">
                                      <a:lumMod val="75000"/>
                                    </a:schemeClr>
                                  </a:solidFill>
                                  <a:latin typeface="Cambria Math" panose="02040503050406030204" pitchFamily="18" charset="0"/>
                                </a:rPr>
                              </m:ctrlPr>
                            </m:fPr>
                            <m:num>
                              <m:r>
                                <a:rPr lang="es-ES" b="0" i="1" smtClean="0">
                                  <a:solidFill>
                                    <a:schemeClr val="accent1">
                                      <a:lumMod val="75000"/>
                                    </a:schemeClr>
                                  </a:solidFill>
                                  <a:latin typeface="Cambria Math" panose="02040503050406030204" pitchFamily="18" charset="0"/>
                                </a:rPr>
                                <m:t>𝑇𝑖𝑒𝑚𝑝𝑜</m:t>
                              </m:r>
                            </m:num>
                            <m:den>
                              <m:sSub>
                                <m:sSubPr>
                                  <m:ctrlPr>
                                    <a:rPr lang="es-ES" i="1" smtClean="0">
                                      <a:solidFill>
                                        <a:schemeClr val="accent1">
                                          <a:lumMod val="75000"/>
                                        </a:schemeClr>
                                      </a:solidFill>
                                      <a:latin typeface="Cambria Math" panose="02040503050406030204" pitchFamily="18" charset="0"/>
                                    </a:rPr>
                                  </m:ctrlPr>
                                </m:sSubPr>
                                <m:e>
                                  <m:r>
                                    <a:rPr lang="es-ES" b="0" i="1" smtClean="0">
                                      <a:solidFill>
                                        <a:schemeClr val="accent1">
                                          <a:lumMod val="75000"/>
                                        </a:schemeClr>
                                      </a:solidFill>
                                      <a:latin typeface="Cambria Math" panose="02040503050406030204" pitchFamily="18" charset="0"/>
                                    </a:rPr>
                                    <m:t>𝑇</m:t>
                                  </m:r>
                                </m:e>
                                <m:sub>
                                  <m:r>
                                    <a:rPr lang="es-ES" b="0" i="1" smtClean="0">
                                      <a:solidFill>
                                        <a:schemeClr val="accent1">
                                          <a:lumMod val="75000"/>
                                        </a:schemeClr>
                                      </a:solidFill>
                                      <a:latin typeface="Cambria Math" panose="02040503050406030204" pitchFamily="18" charset="0"/>
                                    </a:rPr>
                                    <m:t>𝑐𝑖𝑐𝑙𝑜</m:t>
                                  </m:r>
                                </m:sub>
                              </m:sSub>
                            </m:den>
                          </m:f>
                        </m:e>
                      </m:d>
                      <m:r>
                        <a:rPr lang="es-ES" b="0" i="1" smtClean="0">
                          <a:solidFill>
                            <a:schemeClr val="accent1">
                              <a:lumMod val="75000"/>
                            </a:schemeClr>
                          </a:solidFill>
                          <a:latin typeface="Cambria Math" panose="02040503050406030204" pitchFamily="18" charset="0"/>
                        </a:rPr>
                        <m:t>=</m:t>
                      </m:r>
                      <m:r>
                        <a:rPr lang="es-ES" b="0" i="1" smtClean="0">
                          <a:solidFill>
                            <a:schemeClr val="accent1">
                              <a:lumMod val="75000"/>
                            </a:schemeClr>
                          </a:solidFill>
                          <a:latin typeface="Cambria Math" panose="02040503050406030204" pitchFamily="18" charset="0"/>
                        </a:rPr>
                        <m:t>𝑐𝑖𝑐𝑙𝑜𝑠</m:t>
                      </m:r>
                    </m:oMath>
                  </m:oMathPara>
                </a14:m>
                <a:endParaRPr lang="es-ES" dirty="0">
                  <a:solidFill>
                    <a:schemeClr val="accent1">
                      <a:lumMod val="75000"/>
                    </a:schemeClr>
                  </a:solidFill>
                </a:endParaRPr>
              </a:p>
            </p:txBody>
          </p:sp>
        </mc:Choice>
        <mc:Fallback xmlns="">
          <p:sp>
            <p:nvSpPr>
              <p:cNvPr id="142" name="CuadroTexto 141">
                <a:extLst>
                  <a:ext uri="{FF2B5EF4-FFF2-40B4-BE49-F238E27FC236}">
                    <a16:creationId xmlns:a16="http://schemas.microsoft.com/office/drawing/2014/main" id="{BDF47F06-3606-4252-AF0B-6A980DD16E92}"/>
                  </a:ext>
                </a:extLst>
              </p:cNvPr>
              <p:cNvSpPr txBox="1">
                <a:spLocks noRot="1" noChangeAspect="1" noMove="1" noResize="1" noEditPoints="1" noAdjustHandles="1" noChangeArrowheads="1" noChangeShapeType="1" noTextEdit="1"/>
              </p:cNvSpPr>
              <p:nvPr/>
            </p:nvSpPr>
            <p:spPr>
              <a:xfrm flipH="1">
                <a:off x="5190969" y="2260958"/>
                <a:ext cx="3253507" cy="684803"/>
              </a:xfrm>
              <a:prstGeom prst="rect">
                <a:avLst/>
              </a:prstGeom>
              <a:blipFill>
                <a:blip r:embed="rId3"/>
                <a:stretch>
                  <a:fillRect/>
                </a:stretch>
              </a:blipFill>
            </p:spPr>
            <p:txBody>
              <a:bodyPr/>
              <a:lstStyle/>
              <a:p>
                <a:r>
                  <a:rPr lang="es-ES">
                    <a:noFill/>
                  </a:rPr>
                  <a:t> </a:t>
                </a:r>
              </a:p>
            </p:txBody>
          </p:sp>
        </mc:Fallback>
      </mc:AlternateContent>
      <p:sp>
        <p:nvSpPr>
          <p:cNvPr id="143" name="Freeform 24">
            <a:extLst>
              <a:ext uri="{FF2B5EF4-FFF2-40B4-BE49-F238E27FC236}">
                <a16:creationId xmlns:a16="http://schemas.microsoft.com/office/drawing/2014/main" id="{CC0BBD93-E4A2-4B51-9898-FEE9213EBD3D}"/>
              </a:ext>
            </a:extLst>
          </p:cNvPr>
          <p:cNvSpPr>
            <a:spLocks/>
          </p:cNvSpPr>
          <p:nvPr/>
        </p:nvSpPr>
        <p:spPr bwMode="blackWhite">
          <a:xfrm>
            <a:off x="8437952" y="3821984"/>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spTree>
    <p:extLst>
      <p:ext uri="{BB962C8B-B14F-4D97-AF65-F5344CB8AC3E}">
        <p14:creationId xmlns:p14="http://schemas.microsoft.com/office/powerpoint/2010/main" val="1825459206"/>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75</a:t>
            </a:fld>
            <a:endParaRPr lang="en-US" dirty="0"/>
          </a:p>
        </p:txBody>
      </p:sp>
      <p:sp>
        <p:nvSpPr>
          <p:cNvPr id="64" name="Rectangle 3"/>
          <p:cNvSpPr txBox="1">
            <a:spLocks noChangeArrowheads="1"/>
          </p:cNvSpPr>
          <p:nvPr/>
        </p:nvSpPr>
        <p:spPr>
          <a:xfrm>
            <a:off x="107504" y="1605612"/>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dirty="0">
                <a:latin typeface="+mn-lt"/>
                <a:ea typeface="+mn-ea"/>
              </a:rPr>
              <a:t>Queremos leer la palabra P0, que se encuentra en la dirección </a:t>
            </a:r>
            <a:r>
              <a:rPr lang="es-ES" dirty="0" err="1">
                <a:latin typeface="+mn-lt"/>
                <a:ea typeface="+mn-ea"/>
              </a:rPr>
              <a:t>fila+col</a:t>
            </a:r>
            <a:endParaRPr lang="es-ES" dirty="0">
              <a:latin typeface="+mn-lt"/>
              <a:ea typeface="+mn-ea"/>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a:latin typeface="+mn-lt"/>
                <a:ea typeface="+mn-ea"/>
              </a:rPr>
              <a:t>El bloque al que pertenece dicha palabra consta de cuatro palabras: P0, P1, P2 y P3</a:t>
            </a: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endParaRPr kumimoji="0" lang="es-ES" altLang="ja-JP" sz="2000" b="0" u="none" strike="noStrike" kern="1200" cap="none" spc="0" normalizeH="0" baseline="0" noProof="0" dirty="0">
              <a:ln>
                <a:noFill/>
              </a:ln>
              <a:solidFill>
                <a:schemeClr val="tx1"/>
              </a:solidFill>
              <a:effectLst/>
              <a:uLnTx/>
              <a:uFillTx/>
              <a:latin typeface="+mn-lt"/>
              <a:ea typeface="+mn-ea"/>
              <a:cs typeface="+mn-cs"/>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endParaRPr lang="es-ES" altLang="ja-JP" dirty="0">
              <a:latin typeface="+mn-lt"/>
              <a:ea typeface="+mn-ea"/>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endParaRPr kumimoji="0" lang="es-ES" altLang="ja-JP" sz="2000" b="0" u="none" strike="noStrike" kern="1200" cap="none" spc="0" normalizeH="0" baseline="0" noProof="0" dirty="0">
              <a:ln>
                <a:noFill/>
              </a:ln>
              <a:solidFill>
                <a:schemeClr val="tx1"/>
              </a:solidFill>
              <a:effectLst/>
              <a:uLnTx/>
              <a:uFillTx/>
              <a:latin typeface="+mn-lt"/>
              <a:ea typeface="+mn-ea"/>
              <a:cs typeface="+mn-cs"/>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kumimoji="0" lang="es-ES" altLang="ja-JP" sz="2000" b="0" u="none" strike="noStrike" kern="1200" cap="none" spc="0" normalizeH="0" baseline="0" noProof="0" dirty="0">
                <a:ln>
                  <a:noFill/>
                </a:ln>
                <a:solidFill>
                  <a:schemeClr val="tx1"/>
                </a:solidFill>
                <a:effectLst/>
                <a:uLnTx/>
                <a:uFillTx/>
                <a:latin typeface="+mn-lt"/>
                <a:ea typeface="+mn-ea"/>
                <a:cs typeface="+mn-cs"/>
              </a:rPr>
              <a:t>Asumimos la siguiente temporización</a:t>
            </a:r>
            <a:r>
              <a:rPr lang="es-ES" altLang="ja-JP" dirty="0">
                <a:latin typeface="+mn-lt"/>
                <a:ea typeface="+mn-ea"/>
              </a:rPr>
              <a:t>:</a:t>
            </a:r>
            <a:endParaRPr lang="es-ES" altLang="ja-JP" dirty="0">
              <a:latin typeface="+mn-lt"/>
              <a:ea typeface="ＭＳ Ｐゴシック" charset="-128"/>
            </a:endParaRPr>
          </a:p>
          <a:p>
            <a:pPr marL="1382712" lvl="2" indent="-342900" algn="l">
              <a:lnSpc>
                <a:spcPts val="3000"/>
              </a:lnSpc>
              <a:spcBef>
                <a:spcPts val="550"/>
              </a:spcBef>
              <a:buClr>
                <a:srgbClr val="C58D01"/>
              </a:buClr>
              <a:buSzPct val="85000"/>
              <a:buFont typeface="Arial" panose="020B0604020202020204" pitchFamily="34" charset="0"/>
              <a:buChar char="•"/>
              <a:defRPr/>
            </a:pPr>
            <a:r>
              <a:rPr lang="es-ES" altLang="ja-JP" dirty="0">
                <a:latin typeface="+mn-lt"/>
                <a:ea typeface="ＭＳ Ｐゴシック" charset="-128"/>
              </a:rPr>
              <a:t>T</a:t>
            </a:r>
            <a:r>
              <a:rPr lang="es-ES" altLang="ja-JP" baseline="-25000" dirty="0">
                <a:latin typeface="+mn-lt"/>
                <a:ea typeface="ＭＳ Ｐゴシック" charset="-128"/>
              </a:rPr>
              <a:t>RCD</a:t>
            </a:r>
            <a:r>
              <a:rPr lang="es-ES" altLang="ja-JP" dirty="0">
                <a:latin typeface="+mn-lt"/>
                <a:ea typeface="ＭＳ Ｐゴシック" charset="-128"/>
              </a:rPr>
              <a:t> = 2 ciclos</a:t>
            </a:r>
          </a:p>
          <a:p>
            <a:pPr marL="1382712" lvl="2" indent="-342900" algn="l">
              <a:lnSpc>
                <a:spcPts val="3000"/>
              </a:lnSpc>
              <a:spcBef>
                <a:spcPts val="550"/>
              </a:spcBef>
              <a:buClr>
                <a:srgbClr val="C58D01"/>
              </a:buClr>
              <a:buSzPct val="85000"/>
              <a:buFont typeface="Arial" panose="020B0604020202020204" pitchFamily="34" charset="0"/>
              <a:buChar char="•"/>
              <a:defRPr/>
            </a:pPr>
            <a:r>
              <a:rPr lang="es-ES" altLang="ja-JP" dirty="0">
                <a:latin typeface="+mn-lt"/>
                <a:ea typeface="ＭＳ Ｐゴシック" charset="-128"/>
              </a:rPr>
              <a:t>T</a:t>
            </a:r>
            <a:r>
              <a:rPr lang="es-ES" altLang="ja-JP" baseline="-25000" dirty="0">
                <a:latin typeface="+mn-lt"/>
                <a:ea typeface="ＭＳ Ｐゴシック" charset="-128"/>
              </a:rPr>
              <a:t>CL</a:t>
            </a:r>
            <a:r>
              <a:rPr lang="es-ES" altLang="ja-JP" dirty="0">
                <a:latin typeface="+mn-lt"/>
                <a:ea typeface="ＭＳ Ｐゴシック" charset="-128"/>
              </a:rPr>
              <a:t> = 2 ciclos</a:t>
            </a:r>
          </a:p>
          <a:p>
            <a:pPr marL="1382712" lvl="2" indent="-342900" algn="l">
              <a:lnSpc>
                <a:spcPts val="3000"/>
              </a:lnSpc>
              <a:spcBef>
                <a:spcPts val="550"/>
              </a:spcBef>
              <a:buClr>
                <a:srgbClr val="C58D01"/>
              </a:buClr>
              <a:buSzPct val="85000"/>
              <a:buFont typeface="Arial" panose="020B0604020202020204" pitchFamily="34" charset="0"/>
              <a:buChar char="•"/>
              <a:defRPr/>
            </a:pPr>
            <a:r>
              <a:rPr lang="es-ES" altLang="ja-JP" dirty="0">
                <a:latin typeface="+mn-lt"/>
                <a:ea typeface="ＭＳ Ｐゴシック" charset="-128"/>
              </a:rPr>
              <a:t>T</a:t>
            </a:r>
            <a:r>
              <a:rPr lang="es-ES" altLang="ja-JP" baseline="-25000" dirty="0">
                <a:latin typeface="+mn-lt"/>
                <a:ea typeface="ＭＳ Ｐゴシック" charset="-128"/>
              </a:rPr>
              <a:t>RP</a:t>
            </a:r>
            <a:r>
              <a:rPr lang="es-ES" altLang="ja-JP" dirty="0">
                <a:latin typeface="+mn-lt"/>
                <a:ea typeface="ＭＳ Ｐゴシック" charset="-128"/>
              </a:rPr>
              <a:t> = 3 ciclos</a:t>
            </a:r>
          </a:p>
          <a:p>
            <a:pPr marL="1382712" lvl="2" indent="-342900" algn="l">
              <a:lnSpc>
                <a:spcPts val="3000"/>
              </a:lnSpc>
              <a:spcBef>
                <a:spcPts val="550"/>
              </a:spcBef>
              <a:buClr>
                <a:srgbClr val="C58D01"/>
              </a:buClr>
              <a:buSzPct val="85000"/>
              <a:buFont typeface="Arial" panose="020B0604020202020204" pitchFamily="34" charset="0"/>
              <a:buChar char="•"/>
              <a:defRPr/>
            </a:pPr>
            <a:r>
              <a:rPr lang="es-ES" altLang="ja-JP" dirty="0">
                <a:latin typeface="+mn-lt"/>
                <a:ea typeface="ＭＳ Ｐゴシック" charset="-128"/>
              </a:rPr>
              <a:t>T</a:t>
            </a:r>
            <a:r>
              <a:rPr lang="es-ES" altLang="ja-JP" baseline="-25000" dirty="0">
                <a:latin typeface="+mn-lt"/>
                <a:ea typeface="ＭＳ Ｐゴシック" charset="-128"/>
              </a:rPr>
              <a:t>RAS</a:t>
            </a:r>
            <a:r>
              <a:rPr lang="es-ES" altLang="ja-JP" dirty="0">
                <a:latin typeface="+mn-lt"/>
                <a:ea typeface="ＭＳ Ｐゴシック" charset="-128"/>
              </a:rPr>
              <a:t> = 6 ciclos</a:t>
            </a:r>
            <a:endParaRPr lang="es-ES" altLang="ja-JP" dirty="0">
              <a:latin typeface="+mn-lt"/>
              <a:ea typeface="+mn-ea"/>
            </a:endParaRPr>
          </a:p>
        </p:txBody>
      </p:sp>
      <p:sp>
        <p:nvSpPr>
          <p:cNvPr id="73" name="Rectangle 3">
            <a:extLst>
              <a:ext uri="{FF2B5EF4-FFF2-40B4-BE49-F238E27FC236}">
                <a16:creationId xmlns:a16="http://schemas.microsoft.com/office/drawing/2014/main" id="{5B46C39A-F44B-4D34-AA29-D5B5CF0A5F94}"/>
              </a:ext>
            </a:extLst>
          </p:cNvPr>
          <p:cNvSpPr txBox="1">
            <a:spLocks noChangeArrowheads="1"/>
          </p:cNvSpPr>
          <p:nvPr/>
        </p:nvSpPr>
        <p:spPr>
          <a:xfrm>
            <a:off x="107504" y="1064669"/>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
        <p:nvSpPr>
          <p:cNvPr id="34" name="CuadroTexto 33">
            <a:extLst>
              <a:ext uri="{FF2B5EF4-FFF2-40B4-BE49-F238E27FC236}">
                <a16:creationId xmlns:a16="http://schemas.microsoft.com/office/drawing/2014/main" id="{651C2402-5FA5-47E6-B0CE-A2ECD0168F78}"/>
              </a:ext>
            </a:extLst>
          </p:cNvPr>
          <p:cNvSpPr txBox="1"/>
          <p:nvPr/>
        </p:nvSpPr>
        <p:spPr>
          <a:xfrm>
            <a:off x="6853320" y="1439987"/>
            <a:ext cx="184730" cy="307777"/>
          </a:xfrm>
          <a:prstGeom prst="rect">
            <a:avLst/>
          </a:prstGeom>
          <a:noFill/>
        </p:spPr>
        <p:txBody>
          <a:bodyPr wrap="none" rtlCol="0">
            <a:spAutoFit/>
          </a:bodyPr>
          <a:lstStyle/>
          <a:p>
            <a:endParaRPr lang="es-ES" sz="1400" dirty="0">
              <a:solidFill>
                <a:schemeClr val="accent1">
                  <a:lumMod val="75000"/>
                </a:schemeClr>
              </a:solidFill>
            </a:endParaRPr>
          </a:p>
        </p:txBody>
      </p:sp>
      <p:sp>
        <p:nvSpPr>
          <p:cNvPr id="8" name="CuadroTexto 7">
            <a:extLst>
              <a:ext uri="{FF2B5EF4-FFF2-40B4-BE49-F238E27FC236}">
                <a16:creationId xmlns:a16="http://schemas.microsoft.com/office/drawing/2014/main" id="{8774ADD5-F1A6-4FFB-8C20-16A53BCCD200}"/>
              </a:ext>
            </a:extLst>
          </p:cNvPr>
          <p:cNvSpPr txBox="1"/>
          <p:nvPr/>
        </p:nvSpPr>
        <p:spPr>
          <a:xfrm>
            <a:off x="1403648" y="2972492"/>
            <a:ext cx="5801848" cy="1341906"/>
          </a:xfrm>
          <a:prstGeom prst="rect">
            <a:avLst/>
          </a:prstGeom>
          <a:noFill/>
        </p:spPr>
        <p:txBody>
          <a:bodyPr wrap="square" rtlCol="0">
            <a:spAutoFit/>
          </a:bodyPr>
          <a:lstStyle/>
          <a:p>
            <a:r>
              <a:rPr lang="es-ES" sz="1400" dirty="0">
                <a:solidFill>
                  <a:schemeClr val="accent1">
                    <a:lumMod val="75000"/>
                  </a:schemeClr>
                </a:solidFill>
              </a:rPr>
              <a:t>Dirección = Bloque +  Desplazamiento  =  Fila  +  Columna</a:t>
            </a:r>
          </a:p>
          <a:p>
            <a:pPr algn="l"/>
            <a:r>
              <a:rPr lang="es-ES" sz="1400" dirty="0">
                <a:solidFill>
                  <a:schemeClr val="accent1">
                    <a:lumMod val="75000"/>
                  </a:schemeClr>
                </a:solidFill>
              </a:rPr>
              <a:t>                     P0 =  Bloque + 0  =   Fila +  Col</a:t>
            </a:r>
          </a:p>
          <a:p>
            <a:pPr algn="l"/>
            <a:r>
              <a:rPr lang="es-ES" sz="1400" dirty="0">
                <a:solidFill>
                  <a:schemeClr val="accent1">
                    <a:lumMod val="75000"/>
                  </a:schemeClr>
                </a:solidFill>
              </a:rPr>
              <a:t>                     P1 =  Bloque + 1   =  Fila + (Col+1)</a:t>
            </a:r>
          </a:p>
          <a:p>
            <a:pPr algn="l"/>
            <a:r>
              <a:rPr lang="es-ES" sz="1400" dirty="0">
                <a:solidFill>
                  <a:schemeClr val="accent1">
                    <a:lumMod val="75000"/>
                  </a:schemeClr>
                </a:solidFill>
              </a:rPr>
              <a:t>                     P2  = Bloque + 2   =  Fila + (Col+2)</a:t>
            </a:r>
          </a:p>
          <a:p>
            <a:pPr algn="l"/>
            <a:r>
              <a:rPr lang="es-ES" sz="1400" dirty="0">
                <a:solidFill>
                  <a:schemeClr val="accent1">
                    <a:lumMod val="75000"/>
                  </a:schemeClr>
                </a:solidFill>
              </a:rPr>
              <a:t>                     P3  =  Bloque +3  =  Fila + (Col+3)</a:t>
            </a:r>
          </a:p>
        </p:txBody>
      </p:sp>
    </p:spTree>
    <p:extLst>
      <p:ext uri="{BB962C8B-B14F-4D97-AF65-F5344CB8AC3E}">
        <p14:creationId xmlns:p14="http://schemas.microsoft.com/office/powerpoint/2010/main" val="3079533017"/>
      </p:ext>
    </p:extLst>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76</a:t>
            </a:fld>
            <a:endParaRPr lang="en-US" dirty="0"/>
          </a:p>
        </p:txBody>
      </p:sp>
      <p:grpSp>
        <p:nvGrpSpPr>
          <p:cNvPr id="6" name="Group 84"/>
          <p:cNvGrpSpPr>
            <a:grpSpLocks/>
          </p:cNvGrpSpPr>
          <p:nvPr/>
        </p:nvGrpSpPr>
        <p:grpSpPr bwMode="auto">
          <a:xfrm>
            <a:off x="4355167" y="3485626"/>
            <a:ext cx="354264" cy="213033"/>
            <a:chOff x="3408" y="2304"/>
            <a:chExt cx="384" cy="181"/>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7" name="Group 83"/>
          <p:cNvGrpSpPr>
            <a:grpSpLocks/>
          </p:cNvGrpSpPr>
          <p:nvPr/>
        </p:nvGrpSpPr>
        <p:grpSpPr bwMode="auto">
          <a:xfrm>
            <a:off x="4788344" y="3485625"/>
            <a:ext cx="354264" cy="213033"/>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63" name="Text Box 125"/>
          <p:cNvSpPr txBox="1">
            <a:spLocks noChangeArrowheads="1"/>
          </p:cNvSpPr>
          <p:nvPr/>
        </p:nvSpPr>
        <p:spPr bwMode="auto">
          <a:xfrm>
            <a:off x="1403648" y="1380505"/>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323285" y="4419465"/>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dirty="0">
                <a:latin typeface="+mn-lt"/>
                <a:ea typeface="+mn-ea"/>
              </a:rPr>
              <a:t>Queremos leer la palabra P0, que se encuentra en la dirección </a:t>
            </a:r>
            <a:r>
              <a:rPr lang="es-ES" dirty="0" err="1">
                <a:latin typeface="+mn-lt"/>
                <a:ea typeface="+mn-ea"/>
              </a:rPr>
              <a:t>fila+col</a:t>
            </a:r>
            <a:endParaRPr lang="es-ES" dirty="0">
              <a:latin typeface="+mn-lt"/>
              <a:ea typeface="+mn-ea"/>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a:latin typeface="+mn-lt"/>
                <a:ea typeface="+mn-ea"/>
              </a:rPr>
              <a:t>El bloque al que pertenece dicha palabra consta de cuatro palabras: P0, P1, P2 y P3</a:t>
            </a:r>
            <a:endParaRPr kumimoji="0" lang="es-ES" altLang="ja-JP" sz="2000" b="0" u="none" strike="noStrike" kern="1200" cap="none" spc="0" normalizeH="0" baseline="0" noProof="0" dirty="0">
              <a:ln>
                <a:noFill/>
              </a:ln>
              <a:solidFill>
                <a:schemeClr val="tx1"/>
              </a:solidFill>
              <a:effectLst/>
              <a:uLnTx/>
              <a:uFillTx/>
              <a:latin typeface="+mn-lt"/>
              <a:ea typeface="ＭＳ Ｐゴシック" charset="-128"/>
              <a:cs typeface="+mn-cs"/>
            </a:endParaRPr>
          </a:p>
        </p:txBody>
      </p:sp>
      <p:cxnSp>
        <p:nvCxnSpPr>
          <p:cNvPr id="20" name="Conector recto 19">
            <a:extLst>
              <a:ext uri="{FF2B5EF4-FFF2-40B4-BE49-F238E27FC236}">
                <a16:creationId xmlns:a16="http://schemas.microsoft.com/office/drawing/2014/main" id="{546C9ED2-DA6B-46BD-B9E3-9BCD3AA47A26}"/>
              </a:ext>
            </a:extLst>
          </p:cNvPr>
          <p:cNvCxnSpPr>
            <a:cxnSpLocks/>
            <a:stCxn id="63" idx="2"/>
          </p:cNvCxnSpPr>
          <p:nvPr/>
        </p:nvCxnSpPr>
        <p:spPr bwMode="auto">
          <a:xfrm>
            <a:off x="1668144" y="1688282"/>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1700808"/>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1668649"/>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1648433"/>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1660959"/>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1628800"/>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1648433"/>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720847" y="1660959"/>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149007" y="1628800"/>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585700" y="1637189"/>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090557"/>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3445533"/>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2897442"/>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sp>
        <p:nvSpPr>
          <p:cNvPr id="34" name="CuadroTexto 33">
            <a:extLst>
              <a:ext uri="{FF2B5EF4-FFF2-40B4-BE49-F238E27FC236}">
                <a16:creationId xmlns:a16="http://schemas.microsoft.com/office/drawing/2014/main" id="{651C2402-5FA5-47E6-B0CE-A2ECD0168F78}"/>
              </a:ext>
            </a:extLst>
          </p:cNvPr>
          <p:cNvSpPr txBox="1"/>
          <p:nvPr/>
        </p:nvSpPr>
        <p:spPr>
          <a:xfrm>
            <a:off x="6853320" y="1439987"/>
            <a:ext cx="184730" cy="307777"/>
          </a:xfrm>
          <a:prstGeom prst="rect">
            <a:avLst/>
          </a:prstGeom>
          <a:noFill/>
        </p:spPr>
        <p:txBody>
          <a:bodyPr wrap="none" rtlCol="0">
            <a:spAutoFit/>
          </a:bodyPr>
          <a:lstStyle/>
          <a:p>
            <a:endParaRPr lang="es-ES" sz="1400" dirty="0">
              <a:solidFill>
                <a:schemeClr val="accent1">
                  <a:lumMod val="75000"/>
                </a:schemeClr>
              </a:solidFill>
            </a:endParaRPr>
          </a:p>
        </p:txBody>
      </p:sp>
      <p:grpSp>
        <p:nvGrpSpPr>
          <p:cNvPr id="108" name="Grupo 107">
            <a:extLst>
              <a:ext uri="{FF2B5EF4-FFF2-40B4-BE49-F238E27FC236}">
                <a16:creationId xmlns:a16="http://schemas.microsoft.com/office/drawing/2014/main" id="{324422B6-CA9B-485D-8337-F6C016C3EC29}"/>
              </a:ext>
            </a:extLst>
          </p:cNvPr>
          <p:cNvGrpSpPr/>
          <p:nvPr/>
        </p:nvGrpSpPr>
        <p:grpSpPr>
          <a:xfrm>
            <a:off x="1742835" y="2137490"/>
            <a:ext cx="6814046" cy="1051374"/>
            <a:chOff x="1742835" y="2137490"/>
            <a:chExt cx="6814046" cy="1051374"/>
          </a:xfrm>
        </p:grpSpPr>
        <p:grpSp>
          <p:nvGrpSpPr>
            <p:cNvPr id="37" name="Grupo 36">
              <a:extLst>
                <a:ext uri="{FF2B5EF4-FFF2-40B4-BE49-F238E27FC236}">
                  <a16:creationId xmlns:a16="http://schemas.microsoft.com/office/drawing/2014/main" id="{5C85F64C-985E-4D15-8366-E020FD0FEFAB}"/>
                </a:ext>
              </a:extLst>
            </p:cNvPr>
            <p:cNvGrpSpPr/>
            <p:nvPr/>
          </p:nvGrpSpPr>
          <p:grpSpPr>
            <a:xfrm>
              <a:off x="1742835" y="2137490"/>
              <a:ext cx="6814046" cy="716935"/>
              <a:chOff x="1742835" y="2143449"/>
              <a:chExt cx="6814046" cy="716935"/>
            </a:xfrm>
          </p:grpSpPr>
          <p:sp>
            <p:nvSpPr>
              <p:cNvPr id="59" name="Freeform 24"/>
              <p:cNvSpPr>
                <a:spLocks/>
              </p:cNvSpPr>
              <p:nvPr/>
            </p:nvSpPr>
            <p:spPr bwMode="blackWhite">
              <a:xfrm>
                <a:off x="2593220" y="2159433"/>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917517" y="2552607"/>
                <a:ext cx="440826"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RCD</a:t>
                </a:r>
                <a:endParaRPr lang="es-ES_tradnl" baseline="-25000" dirty="0"/>
              </a:p>
            </p:txBody>
          </p:sp>
          <p:sp>
            <p:nvSpPr>
              <p:cNvPr id="39" name="Line 11"/>
              <p:cNvSpPr>
                <a:spLocks noChangeShapeType="1"/>
              </p:cNvSpPr>
              <p:nvPr/>
            </p:nvSpPr>
            <p:spPr bwMode="auto">
              <a:xfrm>
                <a:off x="1742835" y="2492896"/>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36" name="CuadroTexto 35">
                <a:extLst>
                  <a:ext uri="{FF2B5EF4-FFF2-40B4-BE49-F238E27FC236}">
                    <a16:creationId xmlns:a16="http://schemas.microsoft.com/office/drawing/2014/main" id="{129FD82E-681F-4E4F-93D8-FBA7EA659FA0}"/>
                  </a:ext>
                </a:extLst>
              </p:cNvPr>
              <p:cNvSpPr txBox="1"/>
              <p:nvPr/>
            </p:nvSpPr>
            <p:spPr>
              <a:xfrm>
                <a:off x="6242281" y="2143449"/>
                <a:ext cx="2314600" cy="566309"/>
              </a:xfrm>
              <a:prstGeom prst="rect">
                <a:avLst/>
              </a:prstGeom>
              <a:noFill/>
            </p:spPr>
            <p:txBody>
              <a:bodyPr wrap="square" rtlCol="0">
                <a:spAutoFit/>
              </a:bodyPr>
              <a:lstStyle/>
              <a:p>
                <a:pPr algn="l"/>
                <a:r>
                  <a:rPr lang="es-ES" sz="1400" dirty="0">
                    <a:solidFill>
                      <a:schemeClr val="accent1">
                        <a:lumMod val="75000"/>
                      </a:schemeClr>
                    </a:solidFill>
                  </a:rPr>
                  <a:t>(2) Dar orden lectura:</a:t>
                </a:r>
              </a:p>
              <a:p>
                <a:pPr algn="l"/>
                <a:r>
                  <a:rPr lang="es-ES" sz="1400" dirty="0">
                    <a:solidFill>
                      <a:schemeClr val="accent1">
                        <a:lumMod val="75000"/>
                      </a:schemeClr>
                    </a:solidFill>
                  </a:rPr>
                  <a:t>      (esperar T</a:t>
                </a:r>
                <a:r>
                  <a:rPr lang="es-ES" sz="1400" baseline="-25000" dirty="0">
                    <a:solidFill>
                      <a:schemeClr val="accent1">
                        <a:lumMod val="75000"/>
                      </a:schemeClr>
                    </a:solidFill>
                  </a:rPr>
                  <a:t>RCD</a:t>
                </a:r>
                <a:r>
                  <a:rPr lang="es-ES" sz="1400" dirty="0">
                    <a:solidFill>
                      <a:schemeClr val="accent1">
                        <a:lumMod val="75000"/>
                      </a:schemeClr>
                    </a:solidFill>
                  </a:rPr>
                  <a:t>)</a:t>
                </a:r>
              </a:p>
            </p:txBody>
          </p:sp>
        </p:gr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122" y="2975831"/>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grpSp>
      <p:grpSp>
        <p:nvGrpSpPr>
          <p:cNvPr id="109" name="Grupo 108">
            <a:extLst>
              <a:ext uri="{FF2B5EF4-FFF2-40B4-BE49-F238E27FC236}">
                <a16:creationId xmlns:a16="http://schemas.microsoft.com/office/drawing/2014/main" id="{7E4BACC4-8999-482D-8D96-FFA0AF5BA70F}"/>
              </a:ext>
            </a:extLst>
          </p:cNvPr>
          <p:cNvGrpSpPr/>
          <p:nvPr/>
        </p:nvGrpSpPr>
        <p:grpSpPr>
          <a:xfrm>
            <a:off x="2615872" y="2492896"/>
            <a:ext cx="5935053" cy="1216649"/>
            <a:chOff x="2615872" y="2492896"/>
            <a:chExt cx="5935053" cy="1216649"/>
          </a:xfrm>
        </p:grpSpPr>
        <p:grpSp>
          <p:nvGrpSpPr>
            <p:cNvPr id="4" name="Group 82"/>
            <p:cNvGrpSpPr>
              <a:grpSpLocks/>
            </p:cNvGrpSpPr>
            <p:nvPr/>
          </p:nvGrpSpPr>
          <p:grpSpPr bwMode="auto">
            <a:xfrm>
              <a:off x="3499006" y="3496512"/>
              <a:ext cx="354264" cy="213033"/>
              <a:chOff x="2640" y="2304"/>
              <a:chExt cx="384" cy="181"/>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2640"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sp>
          <p:nvSpPr>
            <p:cNvPr id="45" name="Line 11"/>
            <p:cNvSpPr>
              <a:spLocks noChangeShapeType="1"/>
            </p:cNvSpPr>
            <p:nvPr/>
          </p:nvSpPr>
          <p:spPr bwMode="auto">
            <a:xfrm>
              <a:off x="2615872" y="2492896"/>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7" name="Rectangle 10"/>
            <p:cNvSpPr>
              <a:spLocks noChangeArrowheads="1"/>
            </p:cNvSpPr>
            <p:nvPr/>
          </p:nvSpPr>
          <p:spPr bwMode="auto">
            <a:xfrm>
              <a:off x="2683348" y="2610560"/>
              <a:ext cx="288541"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baseline="-25000" dirty="0"/>
            </a:p>
          </p:txBody>
        </p:sp>
        <p:sp>
          <p:nvSpPr>
            <p:cNvPr id="84" name="CuadroTexto 83">
              <a:extLst>
                <a:ext uri="{FF2B5EF4-FFF2-40B4-BE49-F238E27FC236}">
                  <a16:creationId xmlns:a16="http://schemas.microsoft.com/office/drawing/2014/main" id="{CC02E050-A760-41A5-96FF-EA80B44CE29E}"/>
                </a:ext>
              </a:extLst>
            </p:cNvPr>
            <p:cNvSpPr txBox="1"/>
            <p:nvPr/>
          </p:nvSpPr>
          <p:spPr>
            <a:xfrm>
              <a:off x="6236325" y="2936135"/>
              <a:ext cx="2314600" cy="738664"/>
            </a:xfrm>
            <a:prstGeom prst="rect">
              <a:avLst/>
            </a:prstGeom>
            <a:noFill/>
          </p:spPr>
          <p:txBody>
            <a:bodyPr wrap="square" rtlCol="0">
              <a:spAutoFit/>
            </a:bodyPr>
            <a:lstStyle/>
            <a:p>
              <a:pPr algn="l"/>
              <a:r>
                <a:rPr lang="es-ES" sz="1400" dirty="0">
                  <a:solidFill>
                    <a:schemeClr val="accent1">
                      <a:lumMod val="75000"/>
                    </a:schemeClr>
                  </a:solidFill>
                </a:rPr>
                <a:t>(3) Tras T</a:t>
              </a:r>
              <a:r>
                <a:rPr lang="es-ES" sz="1400" baseline="-25000" dirty="0">
                  <a:solidFill>
                    <a:schemeClr val="accent1">
                      <a:lumMod val="75000"/>
                    </a:schemeClr>
                  </a:solidFill>
                </a:rPr>
                <a:t>CL</a:t>
              </a:r>
              <a:r>
                <a:rPr lang="es-ES" sz="1400" dirty="0">
                  <a:solidFill>
                    <a:schemeClr val="accent1">
                      <a:lumMod val="75000"/>
                    </a:schemeClr>
                  </a:solidFill>
                </a:rPr>
                <a:t> ciclos aparece la primera palabra del bloque</a:t>
              </a:r>
            </a:p>
          </p:txBody>
        </p:sp>
      </p:grpSp>
      <p:grpSp>
        <p:nvGrpSpPr>
          <p:cNvPr id="110" name="Grupo 109">
            <a:extLst>
              <a:ext uri="{FF2B5EF4-FFF2-40B4-BE49-F238E27FC236}">
                <a16:creationId xmlns:a16="http://schemas.microsoft.com/office/drawing/2014/main" id="{BB86C600-48BA-4941-A25F-80D4040ED8CF}"/>
              </a:ext>
            </a:extLst>
          </p:cNvPr>
          <p:cNvGrpSpPr/>
          <p:nvPr/>
        </p:nvGrpSpPr>
        <p:grpSpPr>
          <a:xfrm>
            <a:off x="3924774" y="3494301"/>
            <a:ext cx="4841774" cy="943021"/>
            <a:chOff x="3924774" y="3494301"/>
            <a:chExt cx="4841774" cy="943021"/>
          </a:xfrm>
        </p:grpSpPr>
        <p:grpSp>
          <p:nvGrpSpPr>
            <p:cNvPr id="5" name="Group 85"/>
            <p:cNvGrpSpPr>
              <a:grpSpLocks/>
            </p:cNvGrpSpPr>
            <p:nvPr/>
          </p:nvGrpSpPr>
          <p:grpSpPr bwMode="auto">
            <a:xfrm>
              <a:off x="3924774" y="3494301"/>
              <a:ext cx="354264" cy="213033"/>
              <a:chOff x="3024" y="2304"/>
              <a:chExt cx="384" cy="181"/>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024"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sp>
          <p:nvSpPr>
            <p:cNvPr id="98" name="CuadroTexto 97">
              <a:extLst>
                <a:ext uri="{FF2B5EF4-FFF2-40B4-BE49-F238E27FC236}">
                  <a16:creationId xmlns:a16="http://schemas.microsoft.com/office/drawing/2014/main" id="{FC1605C0-50D9-450B-9799-978603046C20}"/>
                </a:ext>
              </a:extLst>
            </p:cNvPr>
            <p:cNvSpPr txBox="1"/>
            <p:nvPr/>
          </p:nvSpPr>
          <p:spPr>
            <a:xfrm>
              <a:off x="6269935" y="3698658"/>
              <a:ext cx="2496613" cy="738664"/>
            </a:xfrm>
            <a:prstGeom prst="rect">
              <a:avLst/>
            </a:prstGeom>
            <a:noFill/>
          </p:spPr>
          <p:txBody>
            <a:bodyPr wrap="square" rtlCol="0">
              <a:spAutoFit/>
            </a:bodyPr>
            <a:lstStyle/>
            <a:p>
              <a:pPr algn="l"/>
              <a:r>
                <a:rPr lang="es-ES" sz="1400" dirty="0">
                  <a:solidFill>
                    <a:schemeClr val="accent1">
                      <a:lumMod val="75000"/>
                    </a:schemeClr>
                  </a:solidFill>
                </a:rPr>
                <a:t>(4) A cada ciclo de reloj aparece cada una de las palabras del bloque</a:t>
              </a:r>
            </a:p>
          </p:txBody>
        </p:sp>
      </p:grpSp>
      <p:grpSp>
        <p:nvGrpSpPr>
          <p:cNvPr id="107" name="Grupo 106">
            <a:extLst>
              <a:ext uri="{FF2B5EF4-FFF2-40B4-BE49-F238E27FC236}">
                <a16:creationId xmlns:a16="http://schemas.microsoft.com/office/drawing/2014/main" id="{A791D4C9-6418-478D-AF51-93E06C4A4150}"/>
              </a:ext>
            </a:extLst>
          </p:cNvPr>
          <p:cNvGrpSpPr/>
          <p:nvPr/>
        </p:nvGrpSpPr>
        <p:grpSpPr>
          <a:xfrm>
            <a:off x="1703610" y="1681085"/>
            <a:ext cx="6560906" cy="1494849"/>
            <a:chOff x="1703610" y="1681085"/>
            <a:chExt cx="6560906" cy="1494849"/>
          </a:xfrm>
        </p:grpSpPr>
        <p:sp>
          <p:nvSpPr>
            <p:cNvPr id="57" name="Freeform 24"/>
            <p:cNvSpPr>
              <a:spLocks/>
            </p:cNvSpPr>
            <p:nvPr/>
          </p:nvSpPr>
          <p:spPr bwMode="blackWhite">
            <a:xfrm>
              <a:off x="1703610" y="2136868"/>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2962901"/>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sp>
          <p:nvSpPr>
            <p:cNvPr id="106" name="CuadroTexto 105">
              <a:extLst>
                <a:ext uri="{FF2B5EF4-FFF2-40B4-BE49-F238E27FC236}">
                  <a16:creationId xmlns:a16="http://schemas.microsoft.com/office/drawing/2014/main" id="{AEA0CAE1-F8E8-4298-8435-3D120BF13CA0}"/>
                </a:ext>
              </a:extLst>
            </p:cNvPr>
            <p:cNvSpPr txBox="1"/>
            <p:nvPr/>
          </p:nvSpPr>
          <p:spPr>
            <a:xfrm>
              <a:off x="6269935" y="1681085"/>
              <a:ext cx="1994581" cy="307777"/>
            </a:xfrm>
            <a:prstGeom prst="rect">
              <a:avLst/>
            </a:prstGeom>
            <a:noFill/>
          </p:spPr>
          <p:txBody>
            <a:bodyPr wrap="square" rtlCol="0">
              <a:spAutoFit/>
            </a:bodyPr>
            <a:lstStyle/>
            <a:p>
              <a:pPr algn="l"/>
              <a:r>
                <a:rPr lang="es-ES" sz="1400" dirty="0">
                  <a:solidFill>
                    <a:schemeClr val="accent1">
                      <a:lumMod val="75000"/>
                    </a:schemeClr>
                  </a:solidFill>
                </a:rPr>
                <a:t>(1) Activar la fila</a:t>
              </a:r>
            </a:p>
          </p:txBody>
        </p:sp>
      </p:grpSp>
      <p:sp>
        <p:nvSpPr>
          <p:cNvPr id="8" name="CuadroTexto 7">
            <a:extLst>
              <a:ext uri="{FF2B5EF4-FFF2-40B4-BE49-F238E27FC236}">
                <a16:creationId xmlns:a16="http://schemas.microsoft.com/office/drawing/2014/main" id="{8774ADD5-F1A6-4FFB-8C20-16A53BCCD200}"/>
              </a:ext>
            </a:extLst>
          </p:cNvPr>
          <p:cNvSpPr txBox="1"/>
          <p:nvPr/>
        </p:nvSpPr>
        <p:spPr>
          <a:xfrm>
            <a:off x="2742947" y="5329292"/>
            <a:ext cx="5801848" cy="1341906"/>
          </a:xfrm>
          <a:prstGeom prst="rect">
            <a:avLst/>
          </a:prstGeom>
          <a:noFill/>
        </p:spPr>
        <p:txBody>
          <a:bodyPr wrap="square" rtlCol="0">
            <a:spAutoFit/>
          </a:bodyPr>
          <a:lstStyle/>
          <a:p>
            <a:r>
              <a:rPr lang="es-ES" sz="1400" dirty="0">
                <a:solidFill>
                  <a:schemeClr val="accent1">
                    <a:lumMod val="75000"/>
                  </a:schemeClr>
                </a:solidFill>
              </a:rPr>
              <a:t>Dirección = Bloque +  Desplazamiento  =  Fila  +  Columna</a:t>
            </a:r>
          </a:p>
          <a:p>
            <a:pPr algn="l"/>
            <a:r>
              <a:rPr lang="es-ES" sz="1400" dirty="0">
                <a:solidFill>
                  <a:schemeClr val="accent1">
                    <a:lumMod val="75000"/>
                  </a:schemeClr>
                </a:solidFill>
              </a:rPr>
              <a:t>                     P0 =  Bloque + 0  =   Fila +  Col</a:t>
            </a:r>
          </a:p>
          <a:p>
            <a:pPr algn="l"/>
            <a:r>
              <a:rPr lang="es-ES" sz="1400" dirty="0">
                <a:solidFill>
                  <a:schemeClr val="accent1">
                    <a:lumMod val="75000"/>
                  </a:schemeClr>
                </a:solidFill>
              </a:rPr>
              <a:t>                     P1 =  Bloque + 1   =  Fila + (Col+1)</a:t>
            </a:r>
          </a:p>
          <a:p>
            <a:pPr algn="l"/>
            <a:r>
              <a:rPr lang="es-ES" sz="1400" dirty="0">
                <a:solidFill>
                  <a:schemeClr val="accent1">
                    <a:lumMod val="75000"/>
                  </a:schemeClr>
                </a:solidFill>
              </a:rPr>
              <a:t>                     P2  = Bloque + 2   =  Fila + (Col+2)</a:t>
            </a:r>
          </a:p>
          <a:p>
            <a:pPr algn="l"/>
            <a:r>
              <a:rPr lang="es-ES" sz="1400" dirty="0">
                <a:solidFill>
                  <a:schemeClr val="accent1">
                    <a:lumMod val="75000"/>
                  </a:schemeClr>
                </a:solidFill>
              </a:rPr>
              <a:t>                     P3  =  Bloque +3  =  Fila + (Col+3)</a:t>
            </a:r>
          </a:p>
        </p:txBody>
      </p:sp>
      <p:sp>
        <p:nvSpPr>
          <p:cNvPr id="55" name="Rectangle 3">
            <a:extLst>
              <a:ext uri="{FF2B5EF4-FFF2-40B4-BE49-F238E27FC236}">
                <a16:creationId xmlns:a16="http://schemas.microsoft.com/office/drawing/2014/main" id="{A06E9AE6-5FBA-4BB0-BC51-82D3836B065D}"/>
              </a:ext>
            </a:extLst>
          </p:cNvPr>
          <p:cNvSpPr txBox="1">
            <a:spLocks noChangeArrowheads="1"/>
          </p:cNvSpPr>
          <p:nvPr/>
        </p:nvSpPr>
        <p:spPr>
          <a:xfrm>
            <a:off x="65883" y="849352"/>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Tree>
    <p:extLst>
      <p:ext uri="{BB962C8B-B14F-4D97-AF65-F5344CB8AC3E}">
        <p14:creationId xmlns:p14="http://schemas.microsoft.com/office/powerpoint/2010/main" val="215188817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77</a:t>
            </a:fld>
            <a:endParaRPr lang="en-US" dirty="0"/>
          </a:p>
        </p:txBody>
      </p:sp>
      <p:grpSp>
        <p:nvGrpSpPr>
          <p:cNvPr id="6" name="Group 84"/>
          <p:cNvGrpSpPr>
            <a:grpSpLocks/>
          </p:cNvGrpSpPr>
          <p:nvPr/>
        </p:nvGrpSpPr>
        <p:grpSpPr bwMode="auto">
          <a:xfrm>
            <a:off x="4355167" y="3485626"/>
            <a:ext cx="354264" cy="213033"/>
            <a:chOff x="3408" y="2304"/>
            <a:chExt cx="384" cy="181"/>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7" name="Group 83"/>
          <p:cNvGrpSpPr>
            <a:grpSpLocks/>
          </p:cNvGrpSpPr>
          <p:nvPr/>
        </p:nvGrpSpPr>
        <p:grpSpPr bwMode="auto">
          <a:xfrm>
            <a:off x="4788344" y="3485625"/>
            <a:ext cx="354264" cy="213033"/>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63" name="Text Box 125"/>
          <p:cNvSpPr txBox="1">
            <a:spLocks noChangeArrowheads="1"/>
          </p:cNvSpPr>
          <p:nvPr/>
        </p:nvSpPr>
        <p:spPr bwMode="auto">
          <a:xfrm>
            <a:off x="1403648" y="1380505"/>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304800" y="4725144"/>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dirty="0">
                <a:latin typeface="+mn-lt"/>
                <a:ea typeface="+mn-ea"/>
              </a:rPr>
              <a:t>Si deseamos seguir leyendo palabras en la misma fila, solo hay que seguir concatenando las órdenes, siempre con </a:t>
            </a:r>
            <a:r>
              <a:rPr lang="es-ES" dirty="0" err="1">
                <a:latin typeface="+mn-lt"/>
                <a:ea typeface="+mn-ea"/>
              </a:rPr>
              <a:t>t</a:t>
            </a:r>
            <a:r>
              <a:rPr lang="es-ES" baseline="-25000" dirty="0" err="1">
                <a:latin typeface="+mn-lt"/>
                <a:ea typeface="+mn-ea"/>
              </a:rPr>
              <a:t>CL</a:t>
            </a:r>
            <a:r>
              <a:rPr lang="es-ES" dirty="0">
                <a:latin typeface="+mn-lt"/>
                <a:ea typeface="+mn-ea"/>
              </a:rPr>
              <a:t> ciclos de distancia</a:t>
            </a: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err="1">
                <a:latin typeface="+mn-lt"/>
                <a:ea typeface="+mn-ea"/>
              </a:rPr>
              <a:t>t</a:t>
            </a:r>
            <a:r>
              <a:rPr lang="es-ES" altLang="ja-JP" baseline="-25000" dirty="0" err="1">
                <a:latin typeface="+mn-lt"/>
                <a:ea typeface="+mn-ea"/>
              </a:rPr>
              <a:t>CL</a:t>
            </a:r>
            <a:r>
              <a:rPr lang="es-ES" altLang="ja-JP" dirty="0">
                <a:latin typeface="+mn-lt"/>
                <a:ea typeface="+mn-ea"/>
              </a:rPr>
              <a:t> es la latencia de la memoria, lo que “tarda en cumplir las órdenes”</a:t>
            </a:r>
            <a:endParaRPr kumimoji="0" lang="es-ES" altLang="ja-JP" sz="2000" b="0" u="none" strike="noStrike" kern="1200" cap="none" spc="0" normalizeH="0" baseline="0" noProof="0" dirty="0">
              <a:ln>
                <a:noFill/>
              </a:ln>
              <a:solidFill>
                <a:schemeClr val="tx1"/>
              </a:solidFill>
              <a:effectLst/>
              <a:uLnTx/>
              <a:uFillTx/>
              <a:latin typeface="+mn-lt"/>
              <a:ea typeface="ＭＳ Ｐゴシック" charset="-128"/>
              <a:cs typeface="+mn-cs"/>
            </a:endParaRPr>
          </a:p>
        </p:txBody>
      </p:sp>
      <p:cxnSp>
        <p:nvCxnSpPr>
          <p:cNvPr id="20" name="Conector recto 19">
            <a:extLst>
              <a:ext uri="{FF2B5EF4-FFF2-40B4-BE49-F238E27FC236}">
                <a16:creationId xmlns:a16="http://schemas.microsoft.com/office/drawing/2014/main" id="{546C9ED2-DA6B-46BD-B9E3-9BCD3AA47A26}"/>
              </a:ext>
            </a:extLst>
          </p:cNvPr>
          <p:cNvCxnSpPr>
            <a:cxnSpLocks/>
            <a:stCxn id="63" idx="2"/>
          </p:cNvCxnSpPr>
          <p:nvPr/>
        </p:nvCxnSpPr>
        <p:spPr bwMode="auto">
          <a:xfrm>
            <a:off x="1668144" y="1688282"/>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1700808"/>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1668649"/>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1648433"/>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1660959"/>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1628800"/>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1648433"/>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720847" y="1660959"/>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149007" y="1628800"/>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578461" y="1593875"/>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090557"/>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3445533"/>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2897442"/>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grpSp>
        <p:nvGrpSpPr>
          <p:cNvPr id="95" name="Grupo 94">
            <a:extLst>
              <a:ext uri="{FF2B5EF4-FFF2-40B4-BE49-F238E27FC236}">
                <a16:creationId xmlns:a16="http://schemas.microsoft.com/office/drawing/2014/main" id="{9D6422DF-8C95-44AE-B935-65B6C8C0CD8D}"/>
              </a:ext>
            </a:extLst>
          </p:cNvPr>
          <p:cNvGrpSpPr/>
          <p:nvPr/>
        </p:nvGrpSpPr>
        <p:grpSpPr>
          <a:xfrm>
            <a:off x="1703610" y="1439987"/>
            <a:ext cx="5334440" cy="1735947"/>
            <a:chOff x="1703610" y="1439987"/>
            <a:chExt cx="5334440" cy="1735947"/>
          </a:xfrm>
        </p:grpSpPr>
        <p:grpSp>
          <p:nvGrpSpPr>
            <p:cNvPr id="35" name="Grupo 34">
              <a:extLst>
                <a:ext uri="{FF2B5EF4-FFF2-40B4-BE49-F238E27FC236}">
                  <a16:creationId xmlns:a16="http://schemas.microsoft.com/office/drawing/2014/main" id="{49295E6A-EFB6-45EF-9E46-78C3C134C72C}"/>
                </a:ext>
              </a:extLst>
            </p:cNvPr>
            <p:cNvGrpSpPr/>
            <p:nvPr/>
          </p:nvGrpSpPr>
          <p:grpSpPr>
            <a:xfrm>
              <a:off x="1703610" y="1439987"/>
              <a:ext cx="5334440" cy="935813"/>
              <a:chOff x="1703610" y="1439987"/>
              <a:chExt cx="5334440" cy="935813"/>
            </a:xfrm>
          </p:grpSpPr>
          <p:sp>
            <p:nvSpPr>
              <p:cNvPr id="57" name="Freeform 24"/>
              <p:cNvSpPr>
                <a:spLocks/>
              </p:cNvSpPr>
              <p:nvPr/>
            </p:nvSpPr>
            <p:spPr bwMode="blackWhite">
              <a:xfrm>
                <a:off x="1703610" y="2136868"/>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sp>
            <p:nvSpPr>
              <p:cNvPr id="34" name="CuadroTexto 33">
                <a:extLst>
                  <a:ext uri="{FF2B5EF4-FFF2-40B4-BE49-F238E27FC236}">
                    <a16:creationId xmlns:a16="http://schemas.microsoft.com/office/drawing/2014/main" id="{651C2402-5FA5-47E6-B0CE-A2ECD0168F78}"/>
                  </a:ext>
                </a:extLst>
              </p:cNvPr>
              <p:cNvSpPr txBox="1"/>
              <p:nvPr/>
            </p:nvSpPr>
            <p:spPr>
              <a:xfrm>
                <a:off x="6853320" y="1439987"/>
                <a:ext cx="184730" cy="307777"/>
              </a:xfrm>
              <a:prstGeom prst="rect">
                <a:avLst/>
              </a:prstGeom>
              <a:noFill/>
            </p:spPr>
            <p:txBody>
              <a:bodyPr wrap="none" rtlCol="0">
                <a:spAutoFit/>
              </a:bodyPr>
              <a:lstStyle/>
              <a:p>
                <a:endParaRPr lang="es-ES" sz="1400" dirty="0">
                  <a:solidFill>
                    <a:schemeClr val="accent1">
                      <a:lumMod val="75000"/>
                    </a:schemeClr>
                  </a:solidFill>
                </a:endParaRPr>
              </a:p>
            </p:txBody>
          </p:sp>
        </p:gr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2962901"/>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grpSp>
      <p:sp>
        <p:nvSpPr>
          <p:cNvPr id="59" name="Freeform 24"/>
          <p:cNvSpPr>
            <a:spLocks/>
          </p:cNvSpPr>
          <p:nvPr/>
        </p:nvSpPr>
        <p:spPr bwMode="blackWhite">
          <a:xfrm>
            <a:off x="2593220" y="2153474"/>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740382" y="2548136"/>
            <a:ext cx="653135" cy="304800"/>
          </a:xfrm>
          <a:prstGeom prst="rect">
            <a:avLst/>
          </a:prstGeom>
          <a:noFill/>
          <a:ln w="19050">
            <a:noFill/>
            <a:miter lim="800000"/>
            <a:headEnd/>
            <a:tailEnd/>
          </a:ln>
        </p:spPr>
        <p:txBody>
          <a:bodyPr wrap="square" lIns="0" tIns="0" rIns="0" bIns="0" anchor="ctr">
            <a:spAutoFit/>
          </a:bodyPr>
          <a:lstStyle/>
          <a:p>
            <a:r>
              <a:rPr lang="es-ES" dirty="0" err="1"/>
              <a:t>t</a:t>
            </a:r>
            <a:r>
              <a:rPr lang="es-ES" baseline="-25000" dirty="0" err="1"/>
              <a:t>RCD</a:t>
            </a:r>
            <a:endParaRPr lang="es-ES_tradnl" baseline="-25000" dirty="0"/>
          </a:p>
        </p:txBody>
      </p:sp>
      <p:sp>
        <p:nvSpPr>
          <p:cNvPr id="39" name="Line 11"/>
          <p:cNvSpPr>
            <a:spLocks noChangeShapeType="1"/>
          </p:cNvSpPr>
          <p:nvPr/>
        </p:nvSpPr>
        <p:spPr bwMode="auto">
          <a:xfrm>
            <a:off x="1742835" y="2486937"/>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122" y="2975831"/>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grpSp>
        <p:nvGrpSpPr>
          <p:cNvPr id="4" name="Group 82"/>
          <p:cNvGrpSpPr>
            <a:grpSpLocks/>
          </p:cNvGrpSpPr>
          <p:nvPr/>
        </p:nvGrpSpPr>
        <p:grpSpPr bwMode="auto">
          <a:xfrm>
            <a:off x="3499006" y="3496512"/>
            <a:ext cx="354264" cy="213033"/>
            <a:chOff x="2640" y="2304"/>
            <a:chExt cx="384" cy="181"/>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2640"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sp>
        <p:nvSpPr>
          <p:cNvPr id="45" name="Line 11"/>
          <p:cNvSpPr>
            <a:spLocks noChangeShapeType="1"/>
          </p:cNvSpPr>
          <p:nvPr/>
        </p:nvSpPr>
        <p:spPr bwMode="auto">
          <a:xfrm>
            <a:off x="2615872" y="2492896"/>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7" name="Rectangle 10"/>
          <p:cNvSpPr>
            <a:spLocks noChangeArrowheads="1"/>
          </p:cNvSpPr>
          <p:nvPr/>
        </p:nvSpPr>
        <p:spPr bwMode="auto">
          <a:xfrm>
            <a:off x="2698492" y="2580952"/>
            <a:ext cx="288541"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dirty="0"/>
          </a:p>
        </p:txBody>
      </p:sp>
      <p:grpSp>
        <p:nvGrpSpPr>
          <p:cNvPr id="5" name="Group 85"/>
          <p:cNvGrpSpPr>
            <a:grpSpLocks/>
          </p:cNvGrpSpPr>
          <p:nvPr/>
        </p:nvGrpSpPr>
        <p:grpSpPr bwMode="auto">
          <a:xfrm>
            <a:off x="3924774" y="3494301"/>
            <a:ext cx="354264" cy="213033"/>
            <a:chOff x="3024" y="2304"/>
            <a:chExt cx="384" cy="181"/>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024"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grpSp>
        <p:nvGrpSpPr>
          <p:cNvPr id="19" name="Grupo 18">
            <a:extLst>
              <a:ext uri="{FF2B5EF4-FFF2-40B4-BE49-F238E27FC236}">
                <a16:creationId xmlns:a16="http://schemas.microsoft.com/office/drawing/2014/main" id="{621BCE44-9EAF-45DD-8C87-17416C0F4CD4}"/>
              </a:ext>
            </a:extLst>
          </p:cNvPr>
          <p:cNvGrpSpPr/>
          <p:nvPr/>
        </p:nvGrpSpPr>
        <p:grpSpPr>
          <a:xfrm>
            <a:off x="4298412" y="2142252"/>
            <a:ext cx="843507" cy="1021174"/>
            <a:chOff x="4298412" y="2142252"/>
            <a:chExt cx="843507" cy="1021174"/>
          </a:xfrm>
        </p:grpSpPr>
        <p:grpSp>
          <p:nvGrpSpPr>
            <p:cNvPr id="61" name="Group 82">
              <a:extLst>
                <a:ext uri="{FF2B5EF4-FFF2-40B4-BE49-F238E27FC236}">
                  <a16:creationId xmlns:a16="http://schemas.microsoft.com/office/drawing/2014/main" id="{AADD278A-E17C-4C11-B172-ABDA797039BB}"/>
                </a:ext>
              </a:extLst>
            </p:cNvPr>
            <p:cNvGrpSpPr>
              <a:grpSpLocks/>
            </p:cNvGrpSpPr>
            <p:nvPr/>
          </p:nvGrpSpPr>
          <p:grpSpPr bwMode="auto">
            <a:xfrm>
              <a:off x="4343599" y="2950393"/>
              <a:ext cx="354264" cy="213033"/>
              <a:chOff x="2640" y="2304"/>
              <a:chExt cx="384" cy="181"/>
            </a:xfrm>
          </p:grpSpPr>
          <p:sp>
            <p:nvSpPr>
              <p:cNvPr id="62" name="Freeform 71">
                <a:extLst>
                  <a:ext uri="{FF2B5EF4-FFF2-40B4-BE49-F238E27FC236}">
                    <a16:creationId xmlns:a16="http://schemas.microsoft.com/office/drawing/2014/main" id="{06018A69-C3B3-43BF-9A24-162B0455597A}"/>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65" name="Text Box 72">
                <a:extLst>
                  <a:ext uri="{FF2B5EF4-FFF2-40B4-BE49-F238E27FC236}">
                    <a16:creationId xmlns:a16="http://schemas.microsoft.com/office/drawing/2014/main" id="{549CCEB5-733F-49B8-844D-4D6068EDB11C}"/>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Col2</a:t>
                </a:r>
              </a:p>
            </p:txBody>
          </p:sp>
        </p:grpSp>
        <p:grpSp>
          <p:nvGrpSpPr>
            <p:cNvPr id="9" name="Grupo 8">
              <a:extLst>
                <a:ext uri="{FF2B5EF4-FFF2-40B4-BE49-F238E27FC236}">
                  <a16:creationId xmlns:a16="http://schemas.microsoft.com/office/drawing/2014/main" id="{AE247CB8-B450-4B97-886D-AA39E22DF7D5}"/>
                </a:ext>
              </a:extLst>
            </p:cNvPr>
            <p:cNvGrpSpPr/>
            <p:nvPr/>
          </p:nvGrpSpPr>
          <p:grpSpPr>
            <a:xfrm>
              <a:off x="4298412" y="2142252"/>
              <a:ext cx="843507" cy="740208"/>
              <a:chOff x="4298412" y="2142252"/>
              <a:chExt cx="843507" cy="740208"/>
            </a:xfrm>
          </p:grpSpPr>
          <p:sp>
            <p:nvSpPr>
              <p:cNvPr id="58" name="Freeform 24">
                <a:extLst>
                  <a:ext uri="{FF2B5EF4-FFF2-40B4-BE49-F238E27FC236}">
                    <a16:creationId xmlns:a16="http://schemas.microsoft.com/office/drawing/2014/main" id="{D4A1A677-3922-4C63-A8AB-940AE6160328}"/>
                  </a:ext>
                </a:extLst>
              </p:cNvPr>
              <p:cNvSpPr>
                <a:spLocks/>
              </p:cNvSpPr>
              <p:nvPr/>
            </p:nvSpPr>
            <p:spPr bwMode="blackWhite">
              <a:xfrm>
                <a:off x="4321643" y="2142252"/>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66" name="Line 11">
                <a:extLst>
                  <a:ext uri="{FF2B5EF4-FFF2-40B4-BE49-F238E27FC236}">
                    <a16:creationId xmlns:a16="http://schemas.microsoft.com/office/drawing/2014/main" id="{08C3116E-09C9-4591-A6CD-BAC934DBEEB7}"/>
                  </a:ext>
                </a:extLst>
              </p:cNvPr>
              <p:cNvSpPr>
                <a:spLocks noChangeShapeType="1"/>
              </p:cNvSpPr>
              <p:nvPr/>
            </p:nvSpPr>
            <p:spPr bwMode="auto">
              <a:xfrm>
                <a:off x="4298412" y="2500653"/>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67" name="Rectangle 10">
                <a:extLst>
                  <a:ext uri="{FF2B5EF4-FFF2-40B4-BE49-F238E27FC236}">
                    <a16:creationId xmlns:a16="http://schemas.microsoft.com/office/drawing/2014/main" id="{C37DAD64-929A-41D1-93A9-B366FBBF688E}"/>
                  </a:ext>
                </a:extLst>
              </p:cNvPr>
              <p:cNvSpPr>
                <a:spLocks noChangeArrowheads="1"/>
              </p:cNvSpPr>
              <p:nvPr/>
            </p:nvSpPr>
            <p:spPr bwMode="auto">
              <a:xfrm>
                <a:off x="4469146" y="2574683"/>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grpSp>
      </p:grpSp>
      <p:cxnSp>
        <p:nvCxnSpPr>
          <p:cNvPr id="71" name="Conector recto 70">
            <a:extLst>
              <a:ext uri="{FF2B5EF4-FFF2-40B4-BE49-F238E27FC236}">
                <a16:creationId xmlns:a16="http://schemas.microsoft.com/office/drawing/2014/main" id="{AB7F6E04-7F81-400E-9983-CF33F996D9FC}"/>
              </a:ext>
            </a:extLst>
          </p:cNvPr>
          <p:cNvCxnSpPr>
            <a:cxnSpLocks/>
          </p:cNvCxnSpPr>
          <p:nvPr/>
        </p:nvCxnSpPr>
        <p:spPr bwMode="auto">
          <a:xfrm>
            <a:off x="5988115" y="1567885"/>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2" name="Conector recto 71">
            <a:extLst>
              <a:ext uri="{FF2B5EF4-FFF2-40B4-BE49-F238E27FC236}">
                <a16:creationId xmlns:a16="http://schemas.microsoft.com/office/drawing/2014/main" id="{EECFB0E4-B605-417F-9138-5F613AB4477E}"/>
              </a:ext>
            </a:extLst>
          </p:cNvPr>
          <p:cNvCxnSpPr>
            <a:cxnSpLocks/>
          </p:cNvCxnSpPr>
          <p:nvPr/>
        </p:nvCxnSpPr>
        <p:spPr bwMode="auto">
          <a:xfrm>
            <a:off x="6374042" y="155718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3" name="Conector recto 82">
            <a:extLst>
              <a:ext uri="{FF2B5EF4-FFF2-40B4-BE49-F238E27FC236}">
                <a16:creationId xmlns:a16="http://schemas.microsoft.com/office/drawing/2014/main" id="{33E0A87F-3796-4E7D-A438-9A415F7F4A23}"/>
              </a:ext>
            </a:extLst>
          </p:cNvPr>
          <p:cNvCxnSpPr>
            <a:cxnSpLocks/>
          </p:cNvCxnSpPr>
          <p:nvPr/>
        </p:nvCxnSpPr>
        <p:spPr bwMode="auto">
          <a:xfrm>
            <a:off x="6792548" y="1575373"/>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18" name="Grupo 17">
            <a:extLst>
              <a:ext uri="{FF2B5EF4-FFF2-40B4-BE49-F238E27FC236}">
                <a16:creationId xmlns:a16="http://schemas.microsoft.com/office/drawing/2014/main" id="{532C6FCA-873E-4DBA-814F-47A74FA869A6}"/>
              </a:ext>
            </a:extLst>
          </p:cNvPr>
          <p:cNvGrpSpPr/>
          <p:nvPr/>
        </p:nvGrpSpPr>
        <p:grpSpPr>
          <a:xfrm>
            <a:off x="5236144" y="3471173"/>
            <a:ext cx="1801906" cy="1253955"/>
            <a:chOff x="5236144" y="3471173"/>
            <a:chExt cx="1801906" cy="1253955"/>
          </a:xfrm>
        </p:grpSpPr>
        <p:grpSp>
          <p:nvGrpSpPr>
            <p:cNvPr id="68" name="Group 82">
              <a:extLst>
                <a:ext uri="{FF2B5EF4-FFF2-40B4-BE49-F238E27FC236}">
                  <a16:creationId xmlns:a16="http://schemas.microsoft.com/office/drawing/2014/main" id="{138E359F-943B-4F84-BFAD-D7D7CBDE2E79}"/>
                </a:ext>
              </a:extLst>
            </p:cNvPr>
            <p:cNvGrpSpPr>
              <a:grpSpLocks/>
            </p:cNvGrpSpPr>
            <p:nvPr/>
          </p:nvGrpSpPr>
          <p:grpSpPr bwMode="auto">
            <a:xfrm>
              <a:off x="5236145" y="3485624"/>
              <a:ext cx="354264" cy="213033"/>
              <a:chOff x="2640" y="2304"/>
              <a:chExt cx="384" cy="181"/>
            </a:xfrm>
          </p:grpSpPr>
          <p:sp>
            <p:nvSpPr>
              <p:cNvPr id="69" name="Freeform 71">
                <a:extLst>
                  <a:ext uri="{FF2B5EF4-FFF2-40B4-BE49-F238E27FC236}">
                    <a16:creationId xmlns:a16="http://schemas.microsoft.com/office/drawing/2014/main" id="{26106CC1-66D5-4835-93DE-21CBEDEC4B78}"/>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70" name="Text Box 72">
                <a:extLst>
                  <a:ext uri="{FF2B5EF4-FFF2-40B4-BE49-F238E27FC236}">
                    <a16:creationId xmlns:a16="http://schemas.microsoft.com/office/drawing/2014/main" id="{6525AB45-B3B1-4486-AEBE-4C132659698C}"/>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P4</a:t>
                </a:r>
              </a:p>
            </p:txBody>
          </p:sp>
        </p:grpSp>
        <p:grpSp>
          <p:nvGrpSpPr>
            <p:cNvPr id="94" name="Group 82">
              <a:extLst>
                <a:ext uri="{FF2B5EF4-FFF2-40B4-BE49-F238E27FC236}">
                  <a16:creationId xmlns:a16="http://schemas.microsoft.com/office/drawing/2014/main" id="{42719A29-49C1-413D-91B6-D2C3F849DCBD}"/>
                </a:ext>
              </a:extLst>
            </p:cNvPr>
            <p:cNvGrpSpPr>
              <a:grpSpLocks/>
            </p:cNvGrpSpPr>
            <p:nvPr/>
          </p:nvGrpSpPr>
          <p:grpSpPr bwMode="auto">
            <a:xfrm>
              <a:off x="5662937" y="3483107"/>
              <a:ext cx="354264" cy="213033"/>
              <a:chOff x="2640" y="2304"/>
              <a:chExt cx="384" cy="181"/>
            </a:xfrm>
          </p:grpSpPr>
          <p:sp>
            <p:nvSpPr>
              <p:cNvPr id="96" name="Freeform 71">
                <a:extLst>
                  <a:ext uri="{FF2B5EF4-FFF2-40B4-BE49-F238E27FC236}">
                    <a16:creationId xmlns:a16="http://schemas.microsoft.com/office/drawing/2014/main" id="{9E5BD5EF-43DF-4857-946F-A3C46D284F2C}"/>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97" name="Text Box 72">
                <a:extLst>
                  <a:ext uri="{FF2B5EF4-FFF2-40B4-BE49-F238E27FC236}">
                    <a16:creationId xmlns:a16="http://schemas.microsoft.com/office/drawing/2014/main" id="{0E1BB752-A4DC-4A1E-97EA-966D8D63550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P5</a:t>
                </a:r>
              </a:p>
            </p:txBody>
          </p:sp>
        </p:grpSp>
        <p:grpSp>
          <p:nvGrpSpPr>
            <p:cNvPr id="99" name="Group 82">
              <a:extLst>
                <a:ext uri="{FF2B5EF4-FFF2-40B4-BE49-F238E27FC236}">
                  <a16:creationId xmlns:a16="http://schemas.microsoft.com/office/drawing/2014/main" id="{3F0D7C02-43E0-4E36-88E1-54160119C936}"/>
                </a:ext>
              </a:extLst>
            </p:cNvPr>
            <p:cNvGrpSpPr>
              <a:grpSpLocks/>
            </p:cNvGrpSpPr>
            <p:nvPr/>
          </p:nvGrpSpPr>
          <p:grpSpPr bwMode="auto">
            <a:xfrm>
              <a:off x="6064779" y="3475935"/>
              <a:ext cx="354264" cy="213033"/>
              <a:chOff x="2640" y="2304"/>
              <a:chExt cx="384" cy="181"/>
            </a:xfrm>
          </p:grpSpPr>
          <p:sp>
            <p:nvSpPr>
              <p:cNvPr id="100" name="Freeform 71">
                <a:extLst>
                  <a:ext uri="{FF2B5EF4-FFF2-40B4-BE49-F238E27FC236}">
                    <a16:creationId xmlns:a16="http://schemas.microsoft.com/office/drawing/2014/main" id="{F55B8422-8E99-4355-9895-F246D6529342}"/>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01" name="Text Box 72">
                <a:extLst>
                  <a:ext uri="{FF2B5EF4-FFF2-40B4-BE49-F238E27FC236}">
                    <a16:creationId xmlns:a16="http://schemas.microsoft.com/office/drawing/2014/main" id="{19821BB8-54FE-427A-A4A7-A4FC4373C673}"/>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P6</a:t>
                </a:r>
              </a:p>
            </p:txBody>
          </p:sp>
        </p:grpSp>
        <p:grpSp>
          <p:nvGrpSpPr>
            <p:cNvPr id="102" name="Group 82">
              <a:extLst>
                <a:ext uri="{FF2B5EF4-FFF2-40B4-BE49-F238E27FC236}">
                  <a16:creationId xmlns:a16="http://schemas.microsoft.com/office/drawing/2014/main" id="{23C086FB-AF27-4433-A250-D1EA0B020E0D}"/>
                </a:ext>
              </a:extLst>
            </p:cNvPr>
            <p:cNvGrpSpPr>
              <a:grpSpLocks/>
            </p:cNvGrpSpPr>
            <p:nvPr/>
          </p:nvGrpSpPr>
          <p:grpSpPr bwMode="auto">
            <a:xfrm>
              <a:off x="6466774" y="3471173"/>
              <a:ext cx="354264" cy="213033"/>
              <a:chOff x="2640" y="2304"/>
              <a:chExt cx="384" cy="181"/>
            </a:xfrm>
          </p:grpSpPr>
          <p:sp>
            <p:nvSpPr>
              <p:cNvPr id="103" name="Freeform 71">
                <a:extLst>
                  <a:ext uri="{FF2B5EF4-FFF2-40B4-BE49-F238E27FC236}">
                    <a16:creationId xmlns:a16="http://schemas.microsoft.com/office/drawing/2014/main" id="{939E2C4C-2978-45AF-8806-A65FA7ABEA2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04" name="Text Box 72">
                <a:extLst>
                  <a:ext uri="{FF2B5EF4-FFF2-40B4-BE49-F238E27FC236}">
                    <a16:creationId xmlns:a16="http://schemas.microsoft.com/office/drawing/2014/main" id="{0F086D03-FED6-4791-9CD4-48E287F6F336}"/>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P7</a:t>
                </a:r>
              </a:p>
            </p:txBody>
          </p:sp>
        </p:grpSp>
        <p:sp>
          <p:nvSpPr>
            <p:cNvPr id="105" name="Line 11">
              <a:extLst>
                <a:ext uri="{FF2B5EF4-FFF2-40B4-BE49-F238E27FC236}">
                  <a16:creationId xmlns:a16="http://schemas.microsoft.com/office/drawing/2014/main" id="{2A25B4D7-1C9E-4B8F-8F16-1A17ED6E1979}"/>
                </a:ext>
              </a:extLst>
            </p:cNvPr>
            <p:cNvSpPr>
              <a:spLocks noChangeShapeType="1"/>
            </p:cNvSpPr>
            <p:nvPr/>
          </p:nvSpPr>
          <p:spPr bwMode="auto">
            <a:xfrm flipV="1">
              <a:off x="5236144" y="3997330"/>
              <a:ext cx="1712119" cy="26909"/>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8" name="CuadroTexto 7">
              <a:extLst>
                <a:ext uri="{FF2B5EF4-FFF2-40B4-BE49-F238E27FC236}">
                  <a16:creationId xmlns:a16="http://schemas.microsoft.com/office/drawing/2014/main" id="{6B704887-FE22-4D84-A460-F8D962A1A86F}"/>
                </a:ext>
              </a:extLst>
            </p:cNvPr>
            <p:cNvSpPr txBox="1"/>
            <p:nvPr/>
          </p:nvSpPr>
          <p:spPr>
            <a:xfrm>
              <a:off x="5413277" y="4158819"/>
              <a:ext cx="1624773" cy="566309"/>
            </a:xfrm>
            <a:prstGeom prst="rect">
              <a:avLst/>
            </a:prstGeom>
            <a:noFill/>
          </p:spPr>
          <p:txBody>
            <a:bodyPr wrap="square" rtlCol="0">
              <a:spAutoFit/>
            </a:bodyPr>
            <a:lstStyle/>
            <a:p>
              <a:r>
                <a:rPr lang="es-ES" sz="1400" dirty="0">
                  <a:solidFill>
                    <a:schemeClr val="accent1">
                      <a:lumMod val="75000"/>
                    </a:schemeClr>
                  </a:solidFill>
                </a:rPr>
                <a:t>Bloque (2)</a:t>
              </a:r>
            </a:p>
            <a:p>
              <a:pPr algn="l"/>
              <a:r>
                <a:rPr lang="es-ES" sz="1400" dirty="0">
                  <a:solidFill>
                    <a:schemeClr val="accent1">
                      <a:lumMod val="75000"/>
                    </a:schemeClr>
                  </a:solidFill>
                </a:rPr>
                <a:t>P4 en </a:t>
              </a:r>
              <a:r>
                <a:rPr lang="es-ES" sz="1400" dirty="0" err="1">
                  <a:solidFill>
                    <a:schemeClr val="accent1">
                      <a:lumMod val="75000"/>
                    </a:schemeClr>
                  </a:solidFill>
                </a:rPr>
                <a:t>dir</a:t>
              </a:r>
              <a:r>
                <a:rPr lang="es-ES" sz="1400" dirty="0">
                  <a:solidFill>
                    <a:schemeClr val="accent1">
                      <a:lumMod val="75000"/>
                    </a:schemeClr>
                  </a:solidFill>
                </a:rPr>
                <a:t> fila+col2</a:t>
              </a:r>
            </a:p>
          </p:txBody>
        </p:sp>
      </p:grpSp>
      <p:sp>
        <p:nvSpPr>
          <p:cNvPr id="106" name="CuadroTexto 105">
            <a:extLst>
              <a:ext uri="{FF2B5EF4-FFF2-40B4-BE49-F238E27FC236}">
                <a16:creationId xmlns:a16="http://schemas.microsoft.com/office/drawing/2014/main" id="{35BF3177-B0F3-4D6A-B3C7-34AC280B76B0}"/>
              </a:ext>
            </a:extLst>
          </p:cNvPr>
          <p:cNvSpPr txBox="1"/>
          <p:nvPr/>
        </p:nvSpPr>
        <p:spPr>
          <a:xfrm>
            <a:off x="3565559" y="4193828"/>
            <a:ext cx="1512167" cy="566309"/>
          </a:xfrm>
          <a:prstGeom prst="rect">
            <a:avLst/>
          </a:prstGeom>
          <a:noFill/>
        </p:spPr>
        <p:txBody>
          <a:bodyPr wrap="square" rtlCol="0">
            <a:spAutoFit/>
          </a:bodyPr>
          <a:lstStyle/>
          <a:p>
            <a:r>
              <a:rPr lang="es-ES" sz="1400" dirty="0">
                <a:solidFill>
                  <a:schemeClr val="accent1">
                    <a:lumMod val="75000"/>
                  </a:schemeClr>
                </a:solidFill>
              </a:rPr>
              <a:t>Bloque (1)</a:t>
            </a:r>
          </a:p>
          <a:p>
            <a:pPr algn="l"/>
            <a:r>
              <a:rPr lang="es-ES" sz="1400" dirty="0">
                <a:solidFill>
                  <a:schemeClr val="accent1">
                    <a:lumMod val="75000"/>
                  </a:schemeClr>
                </a:solidFill>
              </a:rPr>
              <a:t>P0 en </a:t>
            </a:r>
            <a:r>
              <a:rPr lang="es-ES" sz="1400" dirty="0" err="1">
                <a:solidFill>
                  <a:schemeClr val="accent1">
                    <a:lumMod val="75000"/>
                  </a:schemeClr>
                </a:solidFill>
              </a:rPr>
              <a:t>dir</a:t>
            </a:r>
            <a:r>
              <a:rPr lang="es-ES" sz="1400" dirty="0">
                <a:solidFill>
                  <a:schemeClr val="accent1">
                    <a:lumMod val="75000"/>
                  </a:schemeClr>
                </a:solidFill>
              </a:rPr>
              <a:t> </a:t>
            </a:r>
            <a:r>
              <a:rPr lang="es-ES" sz="1400" dirty="0" err="1">
                <a:solidFill>
                  <a:schemeClr val="accent1">
                    <a:lumMod val="75000"/>
                  </a:schemeClr>
                </a:solidFill>
              </a:rPr>
              <a:t>fila+col</a:t>
            </a:r>
            <a:endParaRPr lang="es-ES" sz="1400" dirty="0">
              <a:solidFill>
                <a:schemeClr val="accent1">
                  <a:lumMod val="75000"/>
                </a:schemeClr>
              </a:solidFill>
            </a:endParaRPr>
          </a:p>
        </p:txBody>
      </p:sp>
      <p:sp>
        <p:nvSpPr>
          <p:cNvPr id="107" name="Line 11">
            <a:extLst>
              <a:ext uri="{FF2B5EF4-FFF2-40B4-BE49-F238E27FC236}">
                <a16:creationId xmlns:a16="http://schemas.microsoft.com/office/drawing/2014/main" id="{E365AD9B-371C-4DE8-8C0F-7D7FCF733E23}"/>
              </a:ext>
            </a:extLst>
          </p:cNvPr>
          <p:cNvSpPr>
            <a:spLocks noChangeShapeType="1"/>
          </p:cNvSpPr>
          <p:nvPr/>
        </p:nvSpPr>
        <p:spPr bwMode="auto">
          <a:xfrm flipV="1">
            <a:off x="3499107" y="4030560"/>
            <a:ext cx="1712119" cy="26909"/>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84" name="Rectangle 3">
            <a:extLst>
              <a:ext uri="{FF2B5EF4-FFF2-40B4-BE49-F238E27FC236}">
                <a16:creationId xmlns:a16="http://schemas.microsoft.com/office/drawing/2014/main" id="{D834C051-7FA5-460C-A48A-5C4F853C49D4}"/>
              </a:ext>
            </a:extLst>
          </p:cNvPr>
          <p:cNvSpPr txBox="1">
            <a:spLocks noChangeArrowheads="1"/>
          </p:cNvSpPr>
          <p:nvPr/>
        </p:nvSpPr>
        <p:spPr>
          <a:xfrm>
            <a:off x="177806" y="807058"/>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Tree>
    <p:extLst>
      <p:ext uri="{BB962C8B-B14F-4D97-AF65-F5344CB8AC3E}">
        <p14:creationId xmlns:p14="http://schemas.microsoft.com/office/powerpoint/2010/main" val="338826421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78</a:t>
            </a:fld>
            <a:endParaRPr lang="en-US" dirty="0"/>
          </a:p>
        </p:txBody>
      </p:sp>
      <p:grpSp>
        <p:nvGrpSpPr>
          <p:cNvPr id="6" name="Group 84"/>
          <p:cNvGrpSpPr>
            <a:grpSpLocks/>
          </p:cNvGrpSpPr>
          <p:nvPr/>
        </p:nvGrpSpPr>
        <p:grpSpPr bwMode="auto">
          <a:xfrm>
            <a:off x="4331244" y="4218421"/>
            <a:ext cx="354264" cy="213033"/>
            <a:chOff x="3408" y="2304"/>
            <a:chExt cx="384" cy="181"/>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7" name="Group 83"/>
          <p:cNvGrpSpPr>
            <a:grpSpLocks/>
          </p:cNvGrpSpPr>
          <p:nvPr/>
        </p:nvGrpSpPr>
        <p:grpSpPr bwMode="auto">
          <a:xfrm>
            <a:off x="4741272" y="4225095"/>
            <a:ext cx="354264" cy="213033"/>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63" name="Text Box 125"/>
          <p:cNvSpPr txBox="1">
            <a:spLocks noChangeArrowheads="1"/>
          </p:cNvSpPr>
          <p:nvPr/>
        </p:nvSpPr>
        <p:spPr bwMode="auto">
          <a:xfrm>
            <a:off x="1403648" y="2160067"/>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175210" y="1203973"/>
            <a:ext cx="8227640" cy="1872208"/>
          </a:xfrm>
          <a:prstGeom prst="rect">
            <a:avLst/>
          </a:prstGeom>
        </p:spPr>
        <p:txBody>
          <a:bodyPr/>
          <a:lstStyle/>
          <a:p>
            <a:pPr marL="819150" lvl="1" indent="-236538" algn="l">
              <a:lnSpc>
                <a:spcPts val="3000"/>
              </a:lnSpc>
              <a:spcBef>
                <a:spcPts val="550"/>
              </a:spcBef>
              <a:buClr>
                <a:srgbClr val="C58D01"/>
              </a:buClr>
              <a:buSzPct val="85000"/>
              <a:buFont typeface="Wingdings" pitchFamily="2" charset="2"/>
              <a:buChar char="ü"/>
              <a:defRPr/>
            </a:pPr>
            <a:r>
              <a:rPr lang="es-ES" altLang="ja-JP" dirty="0">
                <a:latin typeface="+mn-lt"/>
                <a:ea typeface="+mn-ea"/>
              </a:rPr>
              <a:t>¿Qué pasaría si quiero leer otro bloque en otra fila diferente?</a:t>
            </a:r>
            <a:endParaRPr lang="es-ES" dirty="0">
              <a:latin typeface="+mn-lt"/>
              <a:ea typeface="+mn-ea"/>
            </a:endParaRPr>
          </a:p>
        </p:txBody>
      </p:sp>
      <p:cxnSp>
        <p:nvCxnSpPr>
          <p:cNvPr id="20" name="Conector recto 19">
            <a:extLst>
              <a:ext uri="{FF2B5EF4-FFF2-40B4-BE49-F238E27FC236}">
                <a16:creationId xmlns:a16="http://schemas.microsoft.com/office/drawing/2014/main" id="{546C9ED2-DA6B-46BD-B9E3-9BCD3AA47A26}"/>
              </a:ext>
            </a:extLst>
          </p:cNvPr>
          <p:cNvCxnSpPr>
            <a:cxnSpLocks/>
            <a:stCxn id="63" idx="2"/>
          </p:cNvCxnSpPr>
          <p:nvPr/>
        </p:nvCxnSpPr>
        <p:spPr bwMode="auto">
          <a:xfrm>
            <a:off x="1668144" y="2467844"/>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2480370"/>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2448211"/>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2427995"/>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2440521"/>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2408362"/>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2427995"/>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666313" y="2440991"/>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078079" y="2398579"/>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496146" y="2398587"/>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870119"/>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4225095"/>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3677004"/>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sp>
        <p:nvSpPr>
          <p:cNvPr id="57" name="Freeform 24"/>
          <p:cNvSpPr>
            <a:spLocks/>
          </p:cNvSpPr>
          <p:nvPr/>
        </p:nvSpPr>
        <p:spPr bwMode="blackWhite">
          <a:xfrm>
            <a:off x="1703610" y="2916430"/>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3742463"/>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sp>
        <p:nvSpPr>
          <p:cNvPr id="59" name="Freeform 24"/>
          <p:cNvSpPr>
            <a:spLocks/>
          </p:cNvSpPr>
          <p:nvPr/>
        </p:nvSpPr>
        <p:spPr bwMode="blackWhite">
          <a:xfrm>
            <a:off x="2576740" y="2891441"/>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768089" y="3270114"/>
            <a:ext cx="455254"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RCD</a:t>
            </a:r>
            <a:endParaRPr lang="es-ES_tradnl" baseline="-25000" dirty="0"/>
          </a:p>
        </p:txBody>
      </p:sp>
      <p:sp>
        <p:nvSpPr>
          <p:cNvPr id="39" name="Line 11"/>
          <p:cNvSpPr>
            <a:spLocks noChangeShapeType="1"/>
          </p:cNvSpPr>
          <p:nvPr/>
        </p:nvSpPr>
        <p:spPr bwMode="auto">
          <a:xfrm>
            <a:off x="1672192" y="3264471"/>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285" y="3790130"/>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grpSp>
        <p:nvGrpSpPr>
          <p:cNvPr id="4" name="Group 82"/>
          <p:cNvGrpSpPr>
            <a:grpSpLocks/>
          </p:cNvGrpSpPr>
          <p:nvPr/>
        </p:nvGrpSpPr>
        <p:grpSpPr bwMode="auto">
          <a:xfrm>
            <a:off x="3515079" y="4236378"/>
            <a:ext cx="354264" cy="213033"/>
            <a:chOff x="2640" y="2304"/>
            <a:chExt cx="384" cy="181"/>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2640"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sp>
        <p:nvSpPr>
          <p:cNvPr id="45" name="Line 11"/>
          <p:cNvSpPr>
            <a:spLocks noChangeShapeType="1"/>
          </p:cNvSpPr>
          <p:nvPr/>
        </p:nvSpPr>
        <p:spPr bwMode="auto">
          <a:xfrm>
            <a:off x="2599618" y="3270524"/>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grpSp>
        <p:nvGrpSpPr>
          <p:cNvPr id="5" name="Group 85"/>
          <p:cNvGrpSpPr>
            <a:grpSpLocks/>
          </p:cNvGrpSpPr>
          <p:nvPr/>
        </p:nvGrpSpPr>
        <p:grpSpPr bwMode="auto">
          <a:xfrm>
            <a:off x="3916804" y="4225095"/>
            <a:ext cx="354264" cy="213033"/>
            <a:chOff x="3024" y="2304"/>
            <a:chExt cx="384" cy="181"/>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024"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sp>
        <p:nvSpPr>
          <p:cNvPr id="98" name="CuadroTexto 97">
            <a:extLst>
              <a:ext uri="{FF2B5EF4-FFF2-40B4-BE49-F238E27FC236}">
                <a16:creationId xmlns:a16="http://schemas.microsoft.com/office/drawing/2014/main" id="{FC1605C0-50D9-450B-9799-978603046C20}"/>
              </a:ext>
            </a:extLst>
          </p:cNvPr>
          <p:cNvSpPr txBox="1"/>
          <p:nvPr/>
        </p:nvSpPr>
        <p:spPr>
          <a:xfrm>
            <a:off x="1527110" y="1671823"/>
            <a:ext cx="5329287" cy="307777"/>
          </a:xfrm>
          <a:prstGeom prst="rect">
            <a:avLst/>
          </a:prstGeom>
          <a:noFill/>
        </p:spPr>
        <p:txBody>
          <a:bodyPr wrap="square" rtlCol="0">
            <a:spAutoFit/>
          </a:bodyPr>
          <a:lstStyle/>
          <a:p>
            <a:pPr algn="l"/>
            <a:r>
              <a:rPr lang="es-ES" sz="1400" dirty="0">
                <a:solidFill>
                  <a:schemeClr val="accent1">
                    <a:lumMod val="75000"/>
                  </a:schemeClr>
                </a:solidFill>
              </a:rPr>
              <a:t>Tendría que cerrar la fila antes de activar otra</a:t>
            </a:r>
          </a:p>
        </p:txBody>
      </p:sp>
      <p:sp>
        <p:nvSpPr>
          <p:cNvPr id="65" name="Line 11">
            <a:extLst>
              <a:ext uri="{FF2B5EF4-FFF2-40B4-BE49-F238E27FC236}">
                <a16:creationId xmlns:a16="http://schemas.microsoft.com/office/drawing/2014/main" id="{7F4E9607-335C-42DD-A910-A23C7905AA47}"/>
              </a:ext>
            </a:extLst>
          </p:cNvPr>
          <p:cNvSpPr>
            <a:spLocks noChangeShapeType="1"/>
          </p:cNvSpPr>
          <p:nvPr/>
        </p:nvSpPr>
        <p:spPr bwMode="auto">
          <a:xfrm>
            <a:off x="3513049" y="4615593"/>
            <a:ext cx="1623201"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67" name="CuadroTexto 66">
            <a:extLst>
              <a:ext uri="{FF2B5EF4-FFF2-40B4-BE49-F238E27FC236}">
                <a16:creationId xmlns:a16="http://schemas.microsoft.com/office/drawing/2014/main" id="{A74D0805-E1E2-49BA-884E-33FFDDFAF727}"/>
              </a:ext>
            </a:extLst>
          </p:cNvPr>
          <p:cNvSpPr txBox="1"/>
          <p:nvPr/>
        </p:nvSpPr>
        <p:spPr>
          <a:xfrm>
            <a:off x="3583369" y="4696502"/>
            <a:ext cx="1512167" cy="566309"/>
          </a:xfrm>
          <a:prstGeom prst="rect">
            <a:avLst/>
          </a:prstGeom>
          <a:noFill/>
        </p:spPr>
        <p:txBody>
          <a:bodyPr wrap="square" rtlCol="0">
            <a:spAutoFit/>
          </a:bodyPr>
          <a:lstStyle/>
          <a:p>
            <a:r>
              <a:rPr lang="es-ES" sz="1400" dirty="0">
                <a:solidFill>
                  <a:schemeClr val="accent1">
                    <a:lumMod val="75000"/>
                  </a:schemeClr>
                </a:solidFill>
              </a:rPr>
              <a:t>Bloque (1)</a:t>
            </a:r>
          </a:p>
          <a:p>
            <a:pPr algn="l"/>
            <a:r>
              <a:rPr lang="es-ES" sz="1400" dirty="0">
                <a:solidFill>
                  <a:schemeClr val="accent1">
                    <a:lumMod val="75000"/>
                  </a:schemeClr>
                </a:solidFill>
              </a:rPr>
              <a:t>P0 en </a:t>
            </a:r>
            <a:r>
              <a:rPr lang="es-ES" sz="1400" dirty="0" err="1">
                <a:solidFill>
                  <a:schemeClr val="accent1">
                    <a:lumMod val="75000"/>
                  </a:schemeClr>
                </a:solidFill>
              </a:rPr>
              <a:t>dir</a:t>
            </a:r>
            <a:r>
              <a:rPr lang="es-ES" sz="1400" dirty="0">
                <a:solidFill>
                  <a:schemeClr val="accent1">
                    <a:lumMod val="75000"/>
                  </a:schemeClr>
                </a:solidFill>
              </a:rPr>
              <a:t> </a:t>
            </a:r>
            <a:r>
              <a:rPr lang="es-ES" sz="1400" dirty="0" err="1">
                <a:solidFill>
                  <a:schemeClr val="accent1">
                    <a:lumMod val="75000"/>
                  </a:schemeClr>
                </a:solidFill>
              </a:rPr>
              <a:t>fila+col</a:t>
            </a:r>
            <a:endParaRPr lang="es-ES" sz="1400" dirty="0">
              <a:solidFill>
                <a:schemeClr val="accent1">
                  <a:lumMod val="75000"/>
                </a:schemeClr>
              </a:solidFill>
            </a:endParaRPr>
          </a:p>
        </p:txBody>
      </p:sp>
      <p:cxnSp>
        <p:nvCxnSpPr>
          <p:cNvPr id="68" name="Conector recto 67">
            <a:extLst>
              <a:ext uri="{FF2B5EF4-FFF2-40B4-BE49-F238E27FC236}">
                <a16:creationId xmlns:a16="http://schemas.microsoft.com/office/drawing/2014/main" id="{EA58A652-AB3A-4C8E-AD9F-98FEFB54FB87}"/>
              </a:ext>
            </a:extLst>
          </p:cNvPr>
          <p:cNvCxnSpPr>
            <a:cxnSpLocks/>
          </p:cNvCxnSpPr>
          <p:nvPr/>
        </p:nvCxnSpPr>
        <p:spPr bwMode="auto">
          <a:xfrm>
            <a:off x="5908464"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69" name="Conector recto 68">
            <a:extLst>
              <a:ext uri="{FF2B5EF4-FFF2-40B4-BE49-F238E27FC236}">
                <a16:creationId xmlns:a16="http://schemas.microsoft.com/office/drawing/2014/main" id="{FE11FF5A-67F9-4CF6-831D-E009C9E25E1D}"/>
              </a:ext>
            </a:extLst>
          </p:cNvPr>
          <p:cNvCxnSpPr>
            <a:cxnSpLocks/>
          </p:cNvCxnSpPr>
          <p:nvPr/>
        </p:nvCxnSpPr>
        <p:spPr bwMode="auto">
          <a:xfrm>
            <a:off x="6320782"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0" name="Conector recto 69">
            <a:extLst>
              <a:ext uri="{FF2B5EF4-FFF2-40B4-BE49-F238E27FC236}">
                <a16:creationId xmlns:a16="http://schemas.microsoft.com/office/drawing/2014/main" id="{6226F54E-4DD9-4E36-929A-F7216F8C9089}"/>
              </a:ext>
            </a:extLst>
          </p:cNvPr>
          <p:cNvCxnSpPr>
            <a:cxnSpLocks/>
          </p:cNvCxnSpPr>
          <p:nvPr/>
        </p:nvCxnSpPr>
        <p:spPr bwMode="auto">
          <a:xfrm>
            <a:off x="6704014" y="2366443"/>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2" name="Conector recto 71">
            <a:extLst>
              <a:ext uri="{FF2B5EF4-FFF2-40B4-BE49-F238E27FC236}">
                <a16:creationId xmlns:a16="http://schemas.microsoft.com/office/drawing/2014/main" id="{A3C23E9C-FC35-42E6-8FE2-385888E9C7A8}"/>
              </a:ext>
            </a:extLst>
          </p:cNvPr>
          <p:cNvCxnSpPr>
            <a:cxnSpLocks/>
          </p:cNvCxnSpPr>
          <p:nvPr/>
        </p:nvCxnSpPr>
        <p:spPr bwMode="auto">
          <a:xfrm>
            <a:off x="7087246" y="2350466"/>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21" name="Grupo 20">
            <a:extLst>
              <a:ext uri="{FF2B5EF4-FFF2-40B4-BE49-F238E27FC236}">
                <a16:creationId xmlns:a16="http://schemas.microsoft.com/office/drawing/2014/main" id="{7A0D49FA-3FA4-4011-B816-C77D74D175DE}"/>
              </a:ext>
            </a:extLst>
          </p:cNvPr>
          <p:cNvGrpSpPr/>
          <p:nvPr/>
        </p:nvGrpSpPr>
        <p:grpSpPr>
          <a:xfrm>
            <a:off x="4277029" y="2915999"/>
            <a:ext cx="850428" cy="760899"/>
            <a:chOff x="4277029" y="2915999"/>
            <a:chExt cx="850428" cy="760899"/>
          </a:xfrm>
        </p:grpSpPr>
        <p:grpSp>
          <p:nvGrpSpPr>
            <p:cNvPr id="8" name="Grupo 7">
              <a:extLst>
                <a:ext uri="{FF2B5EF4-FFF2-40B4-BE49-F238E27FC236}">
                  <a16:creationId xmlns:a16="http://schemas.microsoft.com/office/drawing/2014/main" id="{ED8D216F-8D74-4DF0-AEBD-EECEA1276D60}"/>
                </a:ext>
              </a:extLst>
            </p:cNvPr>
            <p:cNvGrpSpPr/>
            <p:nvPr/>
          </p:nvGrpSpPr>
          <p:grpSpPr>
            <a:xfrm>
              <a:off x="4294296" y="2915999"/>
              <a:ext cx="363027" cy="760899"/>
              <a:chOff x="4294296" y="2915999"/>
              <a:chExt cx="363027" cy="760899"/>
            </a:xfrm>
          </p:grpSpPr>
          <p:sp>
            <p:nvSpPr>
              <p:cNvPr id="47" name="Rectangle 10"/>
              <p:cNvSpPr>
                <a:spLocks noChangeArrowheads="1"/>
              </p:cNvSpPr>
              <p:nvPr/>
            </p:nvSpPr>
            <p:spPr bwMode="auto">
              <a:xfrm>
                <a:off x="4368781" y="3369121"/>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sp>
            <p:nvSpPr>
              <p:cNvPr id="83" name="Freeform 24">
                <a:extLst>
                  <a:ext uri="{FF2B5EF4-FFF2-40B4-BE49-F238E27FC236}">
                    <a16:creationId xmlns:a16="http://schemas.microsoft.com/office/drawing/2014/main" id="{3DE25550-22D3-412F-A96F-C19073879101}"/>
                  </a:ext>
                </a:extLst>
              </p:cNvPr>
              <p:cNvSpPr>
                <a:spLocks/>
              </p:cNvSpPr>
              <p:nvPr/>
            </p:nvSpPr>
            <p:spPr bwMode="blackWhite">
              <a:xfrm>
                <a:off x="4294296" y="2915999"/>
                <a:ext cx="354264" cy="2130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grpSp>
        <p:sp>
          <p:nvSpPr>
            <p:cNvPr id="94" name="Line 11">
              <a:extLst>
                <a:ext uri="{FF2B5EF4-FFF2-40B4-BE49-F238E27FC236}">
                  <a16:creationId xmlns:a16="http://schemas.microsoft.com/office/drawing/2014/main" id="{FBBF4429-8A49-408B-82E7-8FA137A696BC}"/>
                </a:ext>
              </a:extLst>
            </p:cNvPr>
            <p:cNvSpPr>
              <a:spLocks noChangeShapeType="1"/>
            </p:cNvSpPr>
            <p:nvPr/>
          </p:nvSpPr>
          <p:spPr bwMode="auto">
            <a:xfrm flipV="1">
              <a:off x="4277029" y="3302776"/>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sp>
        <p:nvSpPr>
          <p:cNvPr id="99" name="Rectangle 10">
            <a:extLst>
              <a:ext uri="{FF2B5EF4-FFF2-40B4-BE49-F238E27FC236}">
                <a16:creationId xmlns:a16="http://schemas.microsoft.com/office/drawing/2014/main" id="{27A37F49-4517-4F00-AB40-EA77733795F5}"/>
              </a:ext>
            </a:extLst>
          </p:cNvPr>
          <p:cNvSpPr>
            <a:spLocks noChangeArrowheads="1"/>
          </p:cNvSpPr>
          <p:nvPr/>
        </p:nvSpPr>
        <p:spPr bwMode="auto">
          <a:xfrm>
            <a:off x="2638297" y="3359725"/>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grpSp>
        <p:nvGrpSpPr>
          <p:cNvPr id="23" name="Grupo 22">
            <a:extLst>
              <a:ext uri="{FF2B5EF4-FFF2-40B4-BE49-F238E27FC236}">
                <a16:creationId xmlns:a16="http://schemas.microsoft.com/office/drawing/2014/main" id="{0F4F0FEC-6E08-49E6-BE30-C654E0A9B3D9}"/>
              </a:ext>
            </a:extLst>
          </p:cNvPr>
          <p:cNvGrpSpPr/>
          <p:nvPr/>
        </p:nvGrpSpPr>
        <p:grpSpPr>
          <a:xfrm>
            <a:off x="5937863" y="2924944"/>
            <a:ext cx="2544830" cy="2473371"/>
            <a:chOff x="5937863" y="2924944"/>
            <a:chExt cx="2544830" cy="2473371"/>
          </a:xfrm>
        </p:grpSpPr>
        <p:sp>
          <p:nvSpPr>
            <p:cNvPr id="125" name="Freeform 24">
              <a:extLst>
                <a:ext uri="{FF2B5EF4-FFF2-40B4-BE49-F238E27FC236}">
                  <a16:creationId xmlns:a16="http://schemas.microsoft.com/office/drawing/2014/main" id="{DCD500B6-7631-478D-B5D6-3F65E7F751B1}"/>
                </a:ext>
              </a:extLst>
            </p:cNvPr>
            <p:cNvSpPr>
              <a:spLocks/>
            </p:cNvSpPr>
            <p:nvPr/>
          </p:nvSpPr>
          <p:spPr bwMode="blackWhite">
            <a:xfrm>
              <a:off x="5937863" y="2924944"/>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grpSp>
          <p:nvGrpSpPr>
            <p:cNvPr id="22" name="Grupo 21">
              <a:extLst>
                <a:ext uri="{FF2B5EF4-FFF2-40B4-BE49-F238E27FC236}">
                  <a16:creationId xmlns:a16="http://schemas.microsoft.com/office/drawing/2014/main" id="{650C987E-26CD-4297-B61E-B20E288F5012}"/>
                </a:ext>
              </a:extLst>
            </p:cNvPr>
            <p:cNvGrpSpPr/>
            <p:nvPr/>
          </p:nvGrpSpPr>
          <p:grpSpPr>
            <a:xfrm>
              <a:off x="5960741" y="3304027"/>
              <a:ext cx="2521952" cy="2094288"/>
              <a:chOff x="5960741" y="3304027"/>
              <a:chExt cx="2521952" cy="2094288"/>
            </a:xfrm>
          </p:grpSpPr>
          <p:grpSp>
            <p:nvGrpSpPr>
              <p:cNvPr id="110" name="Grupo 109">
                <a:extLst>
                  <a:ext uri="{FF2B5EF4-FFF2-40B4-BE49-F238E27FC236}">
                    <a16:creationId xmlns:a16="http://schemas.microsoft.com/office/drawing/2014/main" id="{857ACF20-510A-49FC-A33A-6C55193CFF54}"/>
                  </a:ext>
                </a:extLst>
              </p:cNvPr>
              <p:cNvGrpSpPr/>
              <p:nvPr/>
            </p:nvGrpSpPr>
            <p:grpSpPr>
              <a:xfrm>
                <a:off x="6477699" y="4167060"/>
                <a:ext cx="2004994" cy="1231255"/>
                <a:chOff x="6550423" y="3451219"/>
                <a:chExt cx="2004994" cy="1231255"/>
              </a:xfrm>
            </p:grpSpPr>
            <p:grpSp>
              <p:nvGrpSpPr>
                <p:cNvPr id="111" name="Group 82">
                  <a:extLst>
                    <a:ext uri="{FF2B5EF4-FFF2-40B4-BE49-F238E27FC236}">
                      <a16:creationId xmlns:a16="http://schemas.microsoft.com/office/drawing/2014/main" id="{A3B1E82F-4E54-4896-9034-C6820DF6D2BD}"/>
                    </a:ext>
                  </a:extLst>
                </p:cNvPr>
                <p:cNvGrpSpPr>
                  <a:grpSpLocks/>
                </p:cNvGrpSpPr>
                <p:nvPr/>
              </p:nvGrpSpPr>
              <p:grpSpPr bwMode="auto">
                <a:xfrm>
                  <a:off x="6841403" y="3476208"/>
                  <a:ext cx="354264" cy="213033"/>
                  <a:chOff x="4380" y="2296"/>
                  <a:chExt cx="384" cy="181"/>
                </a:xfrm>
              </p:grpSpPr>
              <p:sp>
                <p:nvSpPr>
                  <p:cNvPr id="123" name="Freeform 71">
                    <a:extLst>
                      <a:ext uri="{FF2B5EF4-FFF2-40B4-BE49-F238E27FC236}">
                        <a16:creationId xmlns:a16="http://schemas.microsoft.com/office/drawing/2014/main" id="{69DD4324-AE22-409E-BE1C-4EAE58617736}"/>
                      </a:ext>
                    </a:extLst>
                  </p:cNvPr>
                  <p:cNvSpPr>
                    <a:spLocks/>
                  </p:cNvSpPr>
                  <p:nvPr/>
                </p:nvSpPr>
                <p:spPr bwMode="blackWhite">
                  <a:xfrm>
                    <a:off x="4380" y="229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4" name="Text Box 72">
                    <a:extLst>
                      <a:ext uri="{FF2B5EF4-FFF2-40B4-BE49-F238E27FC236}">
                        <a16:creationId xmlns:a16="http://schemas.microsoft.com/office/drawing/2014/main" id="{3D6BAF3F-0527-4EAF-977F-445CCC2F1CB4}"/>
                      </a:ext>
                    </a:extLst>
                  </p:cNvPr>
                  <p:cNvSpPr txBox="1">
                    <a:spLocks noChangeArrowheads="1"/>
                  </p:cNvSpPr>
                  <p:nvPr/>
                </p:nvSpPr>
                <p:spPr bwMode="blackWhite">
                  <a:xfrm>
                    <a:off x="4380" y="2296"/>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P4</a:t>
                    </a:r>
                  </a:p>
                </p:txBody>
              </p:sp>
            </p:grpSp>
            <p:grpSp>
              <p:nvGrpSpPr>
                <p:cNvPr id="112" name="Group 82">
                  <a:extLst>
                    <a:ext uri="{FF2B5EF4-FFF2-40B4-BE49-F238E27FC236}">
                      <a16:creationId xmlns:a16="http://schemas.microsoft.com/office/drawing/2014/main" id="{29AAD4DB-23A7-47D7-AC96-72583C8A5805}"/>
                    </a:ext>
                  </a:extLst>
                </p:cNvPr>
                <p:cNvGrpSpPr>
                  <a:grpSpLocks/>
                </p:cNvGrpSpPr>
                <p:nvPr/>
              </p:nvGrpSpPr>
              <p:grpSpPr bwMode="auto">
                <a:xfrm>
                  <a:off x="7227603" y="3463099"/>
                  <a:ext cx="354264" cy="213033"/>
                  <a:chOff x="4336" y="2287"/>
                  <a:chExt cx="384" cy="181"/>
                </a:xfrm>
              </p:grpSpPr>
              <p:sp>
                <p:nvSpPr>
                  <p:cNvPr id="121" name="Freeform 71">
                    <a:extLst>
                      <a:ext uri="{FF2B5EF4-FFF2-40B4-BE49-F238E27FC236}">
                        <a16:creationId xmlns:a16="http://schemas.microsoft.com/office/drawing/2014/main" id="{9D971EAB-5BB6-480D-B44F-7C5211DF0B86}"/>
                      </a:ext>
                    </a:extLst>
                  </p:cNvPr>
                  <p:cNvSpPr>
                    <a:spLocks/>
                  </p:cNvSpPr>
                  <p:nvPr/>
                </p:nvSpPr>
                <p:spPr bwMode="blackWhite">
                  <a:xfrm>
                    <a:off x="4336" y="2287"/>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2" name="Text Box 72">
                    <a:extLst>
                      <a:ext uri="{FF2B5EF4-FFF2-40B4-BE49-F238E27FC236}">
                        <a16:creationId xmlns:a16="http://schemas.microsoft.com/office/drawing/2014/main" id="{9D35DFDA-EA58-4A93-A97A-90A1C059CAB2}"/>
                      </a:ext>
                    </a:extLst>
                  </p:cNvPr>
                  <p:cNvSpPr txBox="1">
                    <a:spLocks noChangeArrowheads="1"/>
                  </p:cNvSpPr>
                  <p:nvPr/>
                </p:nvSpPr>
                <p:spPr bwMode="blackWhite">
                  <a:xfrm>
                    <a:off x="4336" y="2287"/>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P5</a:t>
                    </a:r>
                  </a:p>
                </p:txBody>
              </p:sp>
            </p:grpSp>
            <p:grpSp>
              <p:nvGrpSpPr>
                <p:cNvPr id="113" name="Group 82">
                  <a:extLst>
                    <a:ext uri="{FF2B5EF4-FFF2-40B4-BE49-F238E27FC236}">
                      <a16:creationId xmlns:a16="http://schemas.microsoft.com/office/drawing/2014/main" id="{25D9B1D1-566C-4E33-A35C-75603B57F6AD}"/>
                    </a:ext>
                  </a:extLst>
                </p:cNvPr>
                <p:cNvGrpSpPr>
                  <a:grpSpLocks/>
                </p:cNvGrpSpPr>
                <p:nvPr/>
              </p:nvGrpSpPr>
              <p:grpSpPr bwMode="auto">
                <a:xfrm>
                  <a:off x="7622987" y="3451219"/>
                  <a:ext cx="354264" cy="213033"/>
                  <a:chOff x="4329" y="2283"/>
                  <a:chExt cx="384" cy="181"/>
                </a:xfrm>
              </p:grpSpPr>
              <p:sp>
                <p:nvSpPr>
                  <p:cNvPr id="119" name="Freeform 71">
                    <a:extLst>
                      <a:ext uri="{FF2B5EF4-FFF2-40B4-BE49-F238E27FC236}">
                        <a16:creationId xmlns:a16="http://schemas.microsoft.com/office/drawing/2014/main" id="{ECE533B3-11B8-4950-86FD-D95C84FA6284}"/>
                      </a:ext>
                    </a:extLst>
                  </p:cNvPr>
                  <p:cNvSpPr>
                    <a:spLocks/>
                  </p:cNvSpPr>
                  <p:nvPr/>
                </p:nvSpPr>
                <p:spPr bwMode="blackWhite">
                  <a:xfrm>
                    <a:off x="4329" y="2283"/>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0" name="Text Box 72">
                    <a:extLst>
                      <a:ext uri="{FF2B5EF4-FFF2-40B4-BE49-F238E27FC236}">
                        <a16:creationId xmlns:a16="http://schemas.microsoft.com/office/drawing/2014/main" id="{E86CA07C-6316-4239-BFBA-6CEB58A6C77F}"/>
                      </a:ext>
                    </a:extLst>
                  </p:cNvPr>
                  <p:cNvSpPr txBox="1">
                    <a:spLocks noChangeArrowheads="1"/>
                  </p:cNvSpPr>
                  <p:nvPr/>
                </p:nvSpPr>
                <p:spPr bwMode="blackWhite">
                  <a:xfrm>
                    <a:off x="4329" y="228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P6</a:t>
                    </a:r>
                  </a:p>
                </p:txBody>
              </p:sp>
            </p:grpSp>
            <p:grpSp>
              <p:nvGrpSpPr>
                <p:cNvPr id="114" name="Group 82">
                  <a:extLst>
                    <a:ext uri="{FF2B5EF4-FFF2-40B4-BE49-F238E27FC236}">
                      <a16:creationId xmlns:a16="http://schemas.microsoft.com/office/drawing/2014/main" id="{E8A0332C-E417-46F2-90A7-0C1EB4ADBD23}"/>
                    </a:ext>
                  </a:extLst>
                </p:cNvPr>
                <p:cNvGrpSpPr>
                  <a:grpSpLocks/>
                </p:cNvGrpSpPr>
                <p:nvPr/>
              </p:nvGrpSpPr>
              <p:grpSpPr bwMode="auto">
                <a:xfrm>
                  <a:off x="8022209" y="3459403"/>
                  <a:ext cx="384708" cy="213033"/>
                  <a:chOff x="4326" y="2294"/>
                  <a:chExt cx="417" cy="181"/>
                </a:xfrm>
              </p:grpSpPr>
              <p:sp>
                <p:nvSpPr>
                  <p:cNvPr id="117" name="Freeform 71">
                    <a:extLst>
                      <a:ext uri="{FF2B5EF4-FFF2-40B4-BE49-F238E27FC236}">
                        <a16:creationId xmlns:a16="http://schemas.microsoft.com/office/drawing/2014/main" id="{40AC42CB-E1AE-4CD8-BA2C-2D220AB05175}"/>
                      </a:ext>
                    </a:extLst>
                  </p:cNvPr>
                  <p:cNvSpPr>
                    <a:spLocks/>
                  </p:cNvSpPr>
                  <p:nvPr/>
                </p:nvSpPr>
                <p:spPr bwMode="blackWhite">
                  <a:xfrm>
                    <a:off x="4326" y="229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8" name="Text Box 72">
                    <a:extLst>
                      <a:ext uri="{FF2B5EF4-FFF2-40B4-BE49-F238E27FC236}">
                        <a16:creationId xmlns:a16="http://schemas.microsoft.com/office/drawing/2014/main" id="{3BB047CF-A3F1-4EA4-8607-B6AB80A5F257}"/>
                      </a:ext>
                    </a:extLst>
                  </p:cNvPr>
                  <p:cNvSpPr txBox="1">
                    <a:spLocks noChangeArrowheads="1"/>
                  </p:cNvSpPr>
                  <p:nvPr/>
                </p:nvSpPr>
                <p:spPr bwMode="blackWhite">
                  <a:xfrm>
                    <a:off x="4359" y="2308"/>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P7</a:t>
                    </a:r>
                  </a:p>
                </p:txBody>
              </p:sp>
            </p:grpSp>
            <p:sp>
              <p:nvSpPr>
                <p:cNvPr id="115" name="Line 11">
                  <a:extLst>
                    <a:ext uri="{FF2B5EF4-FFF2-40B4-BE49-F238E27FC236}">
                      <a16:creationId xmlns:a16="http://schemas.microsoft.com/office/drawing/2014/main" id="{8B5B7AA7-8A87-4018-BBFE-33F9B62D12F0}"/>
                    </a:ext>
                  </a:extLst>
                </p:cNvPr>
                <p:cNvSpPr>
                  <a:spLocks noChangeShapeType="1"/>
                </p:cNvSpPr>
                <p:nvPr/>
              </p:nvSpPr>
              <p:spPr bwMode="auto">
                <a:xfrm flipV="1">
                  <a:off x="6837453" y="3969454"/>
                  <a:ext cx="159876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116" name="CuadroTexto 115">
                  <a:extLst>
                    <a:ext uri="{FF2B5EF4-FFF2-40B4-BE49-F238E27FC236}">
                      <a16:creationId xmlns:a16="http://schemas.microsoft.com/office/drawing/2014/main" id="{6A0B6893-AC38-47C5-B80B-92B74B6B74A1}"/>
                    </a:ext>
                  </a:extLst>
                </p:cNvPr>
                <p:cNvSpPr txBox="1"/>
                <p:nvPr/>
              </p:nvSpPr>
              <p:spPr>
                <a:xfrm>
                  <a:off x="6550423" y="4116165"/>
                  <a:ext cx="2004994" cy="566309"/>
                </a:xfrm>
                <a:prstGeom prst="rect">
                  <a:avLst/>
                </a:prstGeom>
                <a:noFill/>
              </p:spPr>
              <p:txBody>
                <a:bodyPr wrap="square" rtlCol="0">
                  <a:spAutoFit/>
                </a:bodyPr>
                <a:lstStyle/>
                <a:p>
                  <a:r>
                    <a:rPr lang="es-ES" sz="1400" dirty="0">
                      <a:solidFill>
                        <a:schemeClr val="accent1">
                          <a:lumMod val="75000"/>
                        </a:schemeClr>
                      </a:solidFill>
                    </a:rPr>
                    <a:t>Bloque (2)</a:t>
                  </a:r>
                </a:p>
                <a:p>
                  <a:pPr algn="l"/>
                  <a:r>
                    <a:rPr lang="es-ES" sz="1400" dirty="0">
                      <a:solidFill>
                        <a:schemeClr val="accent1">
                          <a:lumMod val="75000"/>
                        </a:schemeClr>
                      </a:solidFill>
                    </a:rPr>
                    <a:t>P4 en </a:t>
                  </a:r>
                  <a:r>
                    <a:rPr lang="es-ES" sz="1400" dirty="0" err="1">
                      <a:solidFill>
                        <a:schemeClr val="accent1">
                          <a:lumMod val="75000"/>
                        </a:schemeClr>
                      </a:solidFill>
                    </a:rPr>
                    <a:t>dir</a:t>
                  </a:r>
                  <a:r>
                    <a:rPr lang="es-ES" sz="1400" dirty="0">
                      <a:solidFill>
                        <a:schemeClr val="accent1">
                          <a:lumMod val="75000"/>
                        </a:schemeClr>
                      </a:solidFill>
                    </a:rPr>
                    <a:t> fila2+col2</a:t>
                  </a:r>
                </a:p>
              </p:txBody>
            </p:sp>
          </p:grpSp>
          <p:grpSp>
            <p:nvGrpSpPr>
              <p:cNvPr id="126" name="Group 82">
                <a:extLst>
                  <a:ext uri="{FF2B5EF4-FFF2-40B4-BE49-F238E27FC236}">
                    <a16:creationId xmlns:a16="http://schemas.microsoft.com/office/drawing/2014/main" id="{E073B431-128E-41A9-BA4E-AB94EA79B738}"/>
                  </a:ext>
                </a:extLst>
              </p:cNvPr>
              <p:cNvGrpSpPr>
                <a:grpSpLocks/>
              </p:cNvGrpSpPr>
              <p:nvPr/>
            </p:nvGrpSpPr>
            <p:grpSpPr bwMode="auto">
              <a:xfrm>
                <a:off x="5975124" y="3673962"/>
                <a:ext cx="354264" cy="213033"/>
                <a:chOff x="2640" y="2318"/>
                <a:chExt cx="384" cy="181"/>
              </a:xfrm>
            </p:grpSpPr>
            <p:sp>
              <p:nvSpPr>
                <p:cNvPr id="127" name="Freeform 71">
                  <a:extLst>
                    <a:ext uri="{FF2B5EF4-FFF2-40B4-BE49-F238E27FC236}">
                      <a16:creationId xmlns:a16="http://schemas.microsoft.com/office/drawing/2014/main" id="{AEBEFEDA-7935-44A3-BEAF-5B7DA36BBFA2}"/>
                    </a:ext>
                  </a:extLst>
                </p:cNvPr>
                <p:cNvSpPr>
                  <a:spLocks/>
                </p:cNvSpPr>
                <p:nvPr/>
              </p:nvSpPr>
              <p:spPr bwMode="blackWhite">
                <a:xfrm>
                  <a:off x="2640" y="2318"/>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28" name="Text Box 72">
                  <a:extLst>
                    <a:ext uri="{FF2B5EF4-FFF2-40B4-BE49-F238E27FC236}">
                      <a16:creationId xmlns:a16="http://schemas.microsoft.com/office/drawing/2014/main" id="{E644E3F3-C2CA-4BE0-8CB6-65E3E91D7E81}"/>
                    </a:ext>
                  </a:extLst>
                </p:cNvPr>
                <p:cNvSpPr txBox="1">
                  <a:spLocks noChangeArrowheads="1"/>
                </p:cNvSpPr>
                <p:nvPr/>
              </p:nvSpPr>
              <p:spPr bwMode="blackWhite">
                <a:xfrm>
                  <a:off x="2640" y="2346"/>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Col2</a:t>
                  </a:r>
                </a:p>
              </p:txBody>
            </p:sp>
          </p:grpSp>
          <p:sp>
            <p:nvSpPr>
              <p:cNvPr id="129" name="Line 11">
                <a:extLst>
                  <a:ext uri="{FF2B5EF4-FFF2-40B4-BE49-F238E27FC236}">
                    <a16:creationId xmlns:a16="http://schemas.microsoft.com/office/drawing/2014/main" id="{6FFD01D0-6A5B-40AA-9F87-F5EFB6200C26}"/>
                  </a:ext>
                </a:extLst>
              </p:cNvPr>
              <p:cNvSpPr>
                <a:spLocks noChangeShapeType="1"/>
              </p:cNvSpPr>
              <p:nvPr/>
            </p:nvSpPr>
            <p:spPr bwMode="auto">
              <a:xfrm>
                <a:off x="5960741" y="3304027"/>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30" name="Rectangle 10">
                <a:extLst>
                  <a:ext uri="{FF2B5EF4-FFF2-40B4-BE49-F238E27FC236}">
                    <a16:creationId xmlns:a16="http://schemas.microsoft.com/office/drawing/2014/main" id="{07164567-9450-4E25-880C-B72E438CA00F}"/>
                  </a:ext>
                </a:extLst>
              </p:cNvPr>
              <p:cNvSpPr>
                <a:spLocks noChangeArrowheads="1"/>
              </p:cNvSpPr>
              <p:nvPr/>
            </p:nvSpPr>
            <p:spPr bwMode="auto">
              <a:xfrm>
                <a:off x="6038828" y="3313843"/>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grpSp>
      </p:grpSp>
      <p:grpSp>
        <p:nvGrpSpPr>
          <p:cNvPr id="27" name="Grupo 26">
            <a:extLst>
              <a:ext uri="{FF2B5EF4-FFF2-40B4-BE49-F238E27FC236}">
                <a16:creationId xmlns:a16="http://schemas.microsoft.com/office/drawing/2014/main" id="{98AF9200-8774-4BCC-B300-FFC30BBB06EC}"/>
              </a:ext>
            </a:extLst>
          </p:cNvPr>
          <p:cNvGrpSpPr/>
          <p:nvPr/>
        </p:nvGrpSpPr>
        <p:grpSpPr>
          <a:xfrm>
            <a:off x="4304467" y="2938526"/>
            <a:ext cx="1612417" cy="1225347"/>
            <a:chOff x="4304467" y="2938526"/>
            <a:chExt cx="1612417" cy="1225347"/>
          </a:xfrm>
        </p:grpSpPr>
        <p:grpSp>
          <p:nvGrpSpPr>
            <p:cNvPr id="19" name="Grupo 18">
              <a:extLst>
                <a:ext uri="{FF2B5EF4-FFF2-40B4-BE49-F238E27FC236}">
                  <a16:creationId xmlns:a16="http://schemas.microsoft.com/office/drawing/2014/main" id="{02461F7E-0C95-494B-8E0F-A42378A9D749}"/>
                </a:ext>
              </a:extLst>
            </p:cNvPr>
            <p:cNvGrpSpPr/>
            <p:nvPr/>
          </p:nvGrpSpPr>
          <p:grpSpPr>
            <a:xfrm>
              <a:off x="4304467" y="2938526"/>
              <a:ext cx="1203637" cy="1225347"/>
              <a:chOff x="4304467" y="2938526"/>
              <a:chExt cx="1203637" cy="1225347"/>
            </a:xfrm>
          </p:grpSpPr>
          <p:sp>
            <p:nvSpPr>
              <p:cNvPr id="107" name="Line 11">
                <a:extLst>
                  <a:ext uri="{FF2B5EF4-FFF2-40B4-BE49-F238E27FC236}">
                    <a16:creationId xmlns:a16="http://schemas.microsoft.com/office/drawing/2014/main" id="{6F5A486C-634A-4EC8-9386-2AA4B939C2C5}"/>
                  </a:ext>
                </a:extLst>
              </p:cNvPr>
              <p:cNvSpPr>
                <a:spLocks noChangeShapeType="1"/>
              </p:cNvSpPr>
              <p:nvPr/>
            </p:nvSpPr>
            <p:spPr bwMode="auto">
              <a:xfrm flipV="1">
                <a:off x="4304467" y="3836390"/>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18" name="Grupo 17">
                <a:extLst>
                  <a:ext uri="{FF2B5EF4-FFF2-40B4-BE49-F238E27FC236}">
                    <a16:creationId xmlns:a16="http://schemas.microsoft.com/office/drawing/2014/main" id="{4793FFBC-B557-47BB-93DE-4AB3C9386FC9}"/>
                  </a:ext>
                </a:extLst>
              </p:cNvPr>
              <p:cNvGrpSpPr/>
              <p:nvPr/>
            </p:nvGrpSpPr>
            <p:grpSpPr>
              <a:xfrm>
                <a:off x="4801239" y="2938526"/>
                <a:ext cx="706865" cy="1225347"/>
                <a:chOff x="4801239" y="2938526"/>
                <a:chExt cx="706865" cy="1225347"/>
              </a:xfrm>
            </p:grpSpPr>
            <p:sp>
              <p:nvSpPr>
                <p:cNvPr id="100" name="Freeform 24">
                  <a:extLst>
                    <a:ext uri="{FF2B5EF4-FFF2-40B4-BE49-F238E27FC236}">
                      <a16:creationId xmlns:a16="http://schemas.microsoft.com/office/drawing/2014/main" id="{25F3E227-07DD-4EA0-B8DA-5D71665A5453}"/>
                    </a:ext>
                  </a:extLst>
                </p:cNvPr>
                <p:cNvSpPr>
                  <a:spLocks/>
                </p:cNvSpPr>
                <p:nvPr/>
              </p:nvSpPr>
              <p:spPr bwMode="blackWhite">
                <a:xfrm>
                  <a:off x="5134991" y="2938526"/>
                  <a:ext cx="373113" cy="20244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102" name="Group 82">
                  <a:extLst>
                    <a:ext uri="{FF2B5EF4-FFF2-40B4-BE49-F238E27FC236}">
                      <a16:creationId xmlns:a16="http://schemas.microsoft.com/office/drawing/2014/main" id="{712AF981-A185-455E-A42A-9E77F785F8D0}"/>
                    </a:ext>
                  </a:extLst>
                </p:cNvPr>
                <p:cNvGrpSpPr>
                  <a:grpSpLocks/>
                </p:cNvGrpSpPr>
                <p:nvPr/>
              </p:nvGrpSpPr>
              <p:grpSpPr bwMode="auto">
                <a:xfrm>
                  <a:off x="5149758" y="3717132"/>
                  <a:ext cx="354264" cy="215385"/>
                  <a:chOff x="2640" y="2373"/>
                  <a:chExt cx="384" cy="183"/>
                </a:xfrm>
              </p:grpSpPr>
              <p:sp>
                <p:nvSpPr>
                  <p:cNvPr id="103" name="Freeform 71">
                    <a:extLst>
                      <a:ext uri="{FF2B5EF4-FFF2-40B4-BE49-F238E27FC236}">
                        <a16:creationId xmlns:a16="http://schemas.microsoft.com/office/drawing/2014/main" id="{7A312F8D-D932-4DB6-9F1D-C05229CA1646}"/>
                      </a:ext>
                    </a:extLst>
                  </p:cNvPr>
                  <p:cNvSpPr>
                    <a:spLocks/>
                  </p:cNvSpPr>
                  <p:nvPr/>
                </p:nvSpPr>
                <p:spPr bwMode="blackWhite">
                  <a:xfrm>
                    <a:off x="2640" y="2375"/>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06" name="Text Box 72">
                    <a:extLst>
                      <a:ext uri="{FF2B5EF4-FFF2-40B4-BE49-F238E27FC236}">
                        <a16:creationId xmlns:a16="http://schemas.microsoft.com/office/drawing/2014/main" id="{47DB2DD4-FF98-4950-96A9-C862EBDE8626}"/>
                      </a:ext>
                    </a:extLst>
                  </p:cNvPr>
                  <p:cNvSpPr txBox="1">
                    <a:spLocks noChangeArrowheads="1"/>
                  </p:cNvSpPr>
                  <p:nvPr/>
                </p:nvSpPr>
                <p:spPr bwMode="blackWhite">
                  <a:xfrm>
                    <a:off x="2640" y="237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Fila2</a:t>
                    </a:r>
                  </a:p>
                </p:txBody>
              </p:sp>
            </p:grpSp>
            <p:sp>
              <p:nvSpPr>
                <p:cNvPr id="108" name="Rectangle 10">
                  <a:extLst>
                    <a:ext uri="{FF2B5EF4-FFF2-40B4-BE49-F238E27FC236}">
                      <a16:creationId xmlns:a16="http://schemas.microsoft.com/office/drawing/2014/main" id="{EBE5EAA8-E9AB-477D-B4FD-7DD58A931D92}"/>
                    </a:ext>
                  </a:extLst>
                </p:cNvPr>
                <p:cNvSpPr>
                  <a:spLocks noChangeArrowheads="1"/>
                </p:cNvSpPr>
                <p:nvPr/>
              </p:nvSpPr>
              <p:spPr bwMode="auto">
                <a:xfrm>
                  <a:off x="4801239" y="3856096"/>
                  <a:ext cx="307777"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RP</a:t>
                  </a:r>
                  <a:endParaRPr lang="es-ES_tradnl" baseline="-25000" dirty="0"/>
                </a:p>
              </p:txBody>
            </p:sp>
          </p:grpSp>
        </p:grpSp>
        <p:sp>
          <p:nvSpPr>
            <p:cNvPr id="131" name="Rectangle 10">
              <a:extLst>
                <a:ext uri="{FF2B5EF4-FFF2-40B4-BE49-F238E27FC236}">
                  <a16:creationId xmlns:a16="http://schemas.microsoft.com/office/drawing/2014/main" id="{DB89A4C3-3C5E-47B9-948B-C79C71EEE100}"/>
                </a:ext>
              </a:extLst>
            </p:cNvPr>
            <p:cNvSpPr>
              <a:spLocks noChangeArrowheads="1"/>
            </p:cNvSpPr>
            <p:nvPr/>
          </p:nvSpPr>
          <p:spPr bwMode="auto">
            <a:xfrm>
              <a:off x="5213520" y="3318531"/>
              <a:ext cx="511175" cy="304800"/>
            </a:xfrm>
            <a:prstGeom prst="rect">
              <a:avLst/>
            </a:prstGeom>
            <a:noFill/>
            <a:ln w="19050">
              <a:noFill/>
              <a:miter lim="800000"/>
              <a:headEnd/>
              <a:tailEnd/>
            </a:ln>
          </p:spPr>
          <p:txBody>
            <a:bodyPr wrap="square" lIns="0" tIns="0" rIns="0" bIns="0" anchor="ctr">
              <a:spAutoFit/>
            </a:bodyPr>
            <a:lstStyle/>
            <a:p>
              <a:r>
                <a:rPr lang="es-ES" dirty="0" err="1"/>
                <a:t>t</a:t>
              </a:r>
              <a:r>
                <a:rPr lang="es-ES" baseline="-25000" dirty="0" err="1"/>
                <a:t>RCD</a:t>
              </a:r>
              <a:endParaRPr lang="es-ES_tradnl" baseline="-25000" dirty="0"/>
            </a:p>
          </p:txBody>
        </p:sp>
        <p:sp>
          <p:nvSpPr>
            <p:cNvPr id="132" name="Line 11">
              <a:extLst>
                <a:ext uri="{FF2B5EF4-FFF2-40B4-BE49-F238E27FC236}">
                  <a16:creationId xmlns:a16="http://schemas.microsoft.com/office/drawing/2014/main" id="{80094CB0-3DD0-4CC9-90E7-9694E94DB880}"/>
                </a:ext>
              </a:extLst>
            </p:cNvPr>
            <p:cNvSpPr>
              <a:spLocks noChangeShapeType="1"/>
            </p:cNvSpPr>
            <p:nvPr/>
          </p:nvSpPr>
          <p:spPr bwMode="auto">
            <a:xfrm>
              <a:off x="5126939" y="3293005"/>
              <a:ext cx="789945" cy="17592"/>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cxnSp>
        <p:nvCxnSpPr>
          <p:cNvPr id="133" name="Conector recto 132">
            <a:extLst>
              <a:ext uri="{FF2B5EF4-FFF2-40B4-BE49-F238E27FC236}">
                <a16:creationId xmlns:a16="http://schemas.microsoft.com/office/drawing/2014/main" id="{98B65355-D8F3-48A6-90C1-5EF9460AAD76}"/>
              </a:ext>
            </a:extLst>
          </p:cNvPr>
          <p:cNvCxnSpPr>
            <a:cxnSpLocks/>
          </p:cNvCxnSpPr>
          <p:nvPr/>
        </p:nvCxnSpPr>
        <p:spPr bwMode="auto">
          <a:xfrm>
            <a:off x="7483456" y="236644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4" name="Conector recto 133">
            <a:extLst>
              <a:ext uri="{FF2B5EF4-FFF2-40B4-BE49-F238E27FC236}">
                <a16:creationId xmlns:a16="http://schemas.microsoft.com/office/drawing/2014/main" id="{A514F77F-20F1-4626-8F4B-86796AA8EA59}"/>
              </a:ext>
            </a:extLst>
          </p:cNvPr>
          <p:cNvCxnSpPr>
            <a:cxnSpLocks/>
          </p:cNvCxnSpPr>
          <p:nvPr/>
        </p:nvCxnSpPr>
        <p:spPr bwMode="auto">
          <a:xfrm>
            <a:off x="7867880" y="233506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5" name="Conector recto 134">
            <a:extLst>
              <a:ext uri="{FF2B5EF4-FFF2-40B4-BE49-F238E27FC236}">
                <a16:creationId xmlns:a16="http://schemas.microsoft.com/office/drawing/2014/main" id="{40F2B329-A7AB-4EAA-9CDB-D9467B4B5A10}"/>
              </a:ext>
            </a:extLst>
          </p:cNvPr>
          <p:cNvCxnSpPr>
            <a:cxnSpLocks/>
          </p:cNvCxnSpPr>
          <p:nvPr/>
        </p:nvCxnSpPr>
        <p:spPr bwMode="auto">
          <a:xfrm>
            <a:off x="8305322" y="233535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101" name="CuadroTexto 100">
            <a:extLst>
              <a:ext uri="{FF2B5EF4-FFF2-40B4-BE49-F238E27FC236}">
                <a16:creationId xmlns:a16="http://schemas.microsoft.com/office/drawing/2014/main" id="{2030C4FE-6DE0-4352-800C-4984B297DFD9}"/>
              </a:ext>
            </a:extLst>
          </p:cNvPr>
          <p:cNvSpPr txBox="1"/>
          <p:nvPr/>
        </p:nvSpPr>
        <p:spPr>
          <a:xfrm>
            <a:off x="1175119" y="5879622"/>
            <a:ext cx="7307574" cy="566309"/>
          </a:xfrm>
          <a:prstGeom prst="rect">
            <a:avLst/>
          </a:prstGeom>
          <a:noFill/>
        </p:spPr>
        <p:txBody>
          <a:bodyPr wrap="square" rtlCol="0">
            <a:spAutoFit/>
          </a:bodyPr>
          <a:lstStyle/>
          <a:p>
            <a:pPr algn="l"/>
            <a:r>
              <a:rPr lang="es-ES" sz="1400" dirty="0">
                <a:solidFill>
                  <a:schemeClr val="accent1">
                    <a:lumMod val="75000"/>
                  </a:schemeClr>
                </a:solidFill>
              </a:rPr>
              <a:t>Tiempo OPTIMO de precarga:  sería  4 ciclos tras la orden de lectura.</a:t>
            </a:r>
          </a:p>
          <a:p>
            <a:pPr algn="l"/>
            <a:r>
              <a:rPr lang="es-ES" sz="1400" dirty="0">
                <a:solidFill>
                  <a:schemeClr val="accent1">
                    <a:lumMod val="75000"/>
                  </a:schemeClr>
                </a:solidFill>
              </a:rPr>
              <a:t>      EN GENERAL, si el bloque tiene R palabras, R ciclos tras la orden de lectura</a:t>
            </a:r>
          </a:p>
        </p:txBody>
      </p:sp>
      <p:sp>
        <p:nvSpPr>
          <p:cNvPr id="95" name="Rectangle 3">
            <a:extLst>
              <a:ext uri="{FF2B5EF4-FFF2-40B4-BE49-F238E27FC236}">
                <a16:creationId xmlns:a16="http://schemas.microsoft.com/office/drawing/2014/main" id="{FD5BA462-048F-4692-9421-0D2B8BCF1E90}"/>
              </a:ext>
            </a:extLst>
          </p:cNvPr>
          <p:cNvSpPr txBox="1">
            <a:spLocks noChangeArrowheads="1"/>
          </p:cNvSpPr>
          <p:nvPr/>
        </p:nvSpPr>
        <p:spPr>
          <a:xfrm>
            <a:off x="72930" y="783933"/>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Tree>
    <p:extLst>
      <p:ext uri="{BB962C8B-B14F-4D97-AF65-F5344CB8AC3E}">
        <p14:creationId xmlns:p14="http://schemas.microsoft.com/office/powerpoint/2010/main" val="206672393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101"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79</a:t>
            </a:fld>
            <a:endParaRPr lang="en-US" dirty="0"/>
          </a:p>
        </p:txBody>
      </p:sp>
      <p:grpSp>
        <p:nvGrpSpPr>
          <p:cNvPr id="6" name="Group 84"/>
          <p:cNvGrpSpPr>
            <a:grpSpLocks/>
          </p:cNvGrpSpPr>
          <p:nvPr/>
        </p:nvGrpSpPr>
        <p:grpSpPr bwMode="auto">
          <a:xfrm>
            <a:off x="4331244" y="4218421"/>
            <a:ext cx="354264" cy="213033"/>
            <a:chOff x="3408" y="2304"/>
            <a:chExt cx="384" cy="181"/>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7" name="Group 83"/>
          <p:cNvGrpSpPr>
            <a:grpSpLocks/>
          </p:cNvGrpSpPr>
          <p:nvPr/>
        </p:nvGrpSpPr>
        <p:grpSpPr bwMode="auto">
          <a:xfrm>
            <a:off x="4741272" y="4225095"/>
            <a:ext cx="354264" cy="213033"/>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63" name="Text Box 125"/>
          <p:cNvSpPr txBox="1">
            <a:spLocks noChangeArrowheads="1"/>
          </p:cNvSpPr>
          <p:nvPr/>
        </p:nvSpPr>
        <p:spPr bwMode="auto">
          <a:xfrm>
            <a:off x="1403648" y="2160067"/>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175210" y="1203973"/>
            <a:ext cx="8227640" cy="1872208"/>
          </a:xfrm>
          <a:prstGeom prst="rect">
            <a:avLst/>
          </a:prstGeom>
        </p:spPr>
        <p:txBody>
          <a:bodyPr/>
          <a:lstStyle/>
          <a:p>
            <a:pPr marL="819150" lvl="1" indent="-236538" algn="l">
              <a:lnSpc>
                <a:spcPts val="3000"/>
              </a:lnSpc>
              <a:spcBef>
                <a:spcPts val="550"/>
              </a:spcBef>
              <a:buClr>
                <a:srgbClr val="C58D01"/>
              </a:buClr>
              <a:buSzPct val="85000"/>
              <a:buFont typeface="Wingdings" pitchFamily="2" charset="2"/>
              <a:buChar char="ü"/>
              <a:defRPr/>
            </a:pPr>
            <a:r>
              <a:rPr lang="es-ES" altLang="ja-JP" dirty="0">
                <a:latin typeface="+mn-lt"/>
                <a:ea typeface="+mn-ea"/>
              </a:rPr>
              <a:t>¿Qué pasaría si quiero leer otro bloque en otra fila diferente?</a:t>
            </a:r>
            <a:endParaRPr lang="es-ES" dirty="0">
              <a:latin typeface="+mn-lt"/>
              <a:ea typeface="+mn-ea"/>
            </a:endParaRPr>
          </a:p>
        </p:txBody>
      </p:sp>
      <p:cxnSp>
        <p:nvCxnSpPr>
          <p:cNvPr id="20" name="Conector recto 19">
            <a:extLst>
              <a:ext uri="{FF2B5EF4-FFF2-40B4-BE49-F238E27FC236}">
                <a16:creationId xmlns:a16="http://schemas.microsoft.com/office/drawing/2014/main" id="{546C9ED2-DA6B-46BD-B9E3-9BCD3AA47A26}"/>
              </a:ext>
            </a:extLst>
          </p:cNvPr>
          <p:cNvCxnSpPr>
            <a:cxnSpLocks/>
            <a:stCxn id="63" idx="2"/>
          </p:cNvCxnSpPr>
          <p:nvPr/>
        </p:nvCxnSpPr>
        <p:spPr bwMode="auto">
          <a:xfrm>
            <a:off x="1668144" y="2467844"/>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2480370"/>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2448211"/>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2427995"/>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2440521"/>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2408362"/>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2427995"/>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666313" y="2440991"/>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078079" y="2398579"/>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496146" y="2398587"/>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870119"/>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4225095"/>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3677004"/>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sp>
        <p:nvSpPr>
          <p:cNvPr id="57" name="Freeform 24"/>
          <p:cNvSpPr>
            <a:spLocks/>
          </p:cNvSpPr>
          <p:nvPr/>
        </p:nvSpPr>
        <p:spPr bwMode="blackWhite">
          <a:xfrm>
            <a:off x="1703610" y="2916430"/>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3742463"/>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sp>
        <p:nvSpPr>
          <p:cNvPr id="59" name="Freeform 24"/>
          <p:cNvSpPr>
            <a:spLocks/>
          </p:cNvSpPr>
          <p:nvPr/>
        </p:nvSpPr>
        <p:spPr bwMode="blackWhite">
          <a:xfrm>
            <a:off x="2576740" y="2891441"/>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775303" y="3270114"/>
            <a:ext cx="440826"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RCD</a:t>
            </a:r>
            <a:endParaRPr lang="es-ES_tradnl" baseline="-25000" dirty="0"/>
          </a:p>
        </p:txBody>
      </p:sp>
      <p:sp>
        <p:nvSpPr>
          <p:cNvPr id="39" name="Line 11"/>
          <p:cNvSpPr>
            <a:spLocks noChangeShapeType="1"/>
          </p:cNvSpPr>
          <p:nvPr/>
        </p:nvSpPr>
        <p:spPr bwMode="auto">
          <a:xfrm>
            <a:off x="1672192" y="3264471"/>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285" y="3790130"/>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grpSp>
        <p:nvGrpSpPr>
          <p:cNvPr id="4" name="Group 82"/>
          <p:cNvGrpSpPr>
            <a:grpSpLocks/>
          </p:cNvGrpSpPr>
          <p:nvPr/>
        </p:nvGrpSpPr>
        <p:grpSpPr bwMode="auto">
          <a:xfrm>
            <a:off x="3515079" y="4236378"/>
            <a:ext cx="354264" cy="213033"/>
            <a:chOff x="2640" y="2304"/>
            <a:chExt cx="384" cy="181"/>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2640"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sp>
        <p:nvSpPr>
          <p:cNvPr id="45" name="Line 11"/>
          <p:cNvSpPr>
            <a:spLocks noChangeShapeType="1"/>
          </p:cNvSpPr>
          <p:nvPr/>
        </p:nvSpPr>
        <p:spPr bwMode="auto">
          <a:xfrm>
            <a:off x="2599618" y="3270524"/>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grpSp>
        <p:nvGrpSpPr>
          <p:cNvPr id="5" name="Group 85"/>
          <p:cNvGrpSpPr>
            <a:grpSpLocks/>
          </p:cNvGrpSpPr>
          <p:nvPr/>
        </p:nvGrpSpPr>
        <p:grpSpPr bwMode="auto">
          <a:xfrm>
            <a:off x="3916804" y="4225095"/>
            <a:ext cx="354264" cy="213033"/>
            <a:chOff x="3024" y="2304"/>
            <a:chExt cx="384" cy="181"/>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024"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sp>
        <p:nvSpPr>
          <p:cNvPr id="98" name="CuadroTexto 97">
            <a:extLst>
              <a:ext uri="{FF2B5EF4-FFF2-40B4-BE49-F238E27FC236}">
                <a16:creationId xmlns:a16="http://schemas.microsoft.com/office/drawing/2014/main" id="{FC1605C0-50D9-450B-9799-978603046C20}"/>
              </a:ext>
            </a:extLst>
          </p:cNvPr>
          <p:cNvSpPr txBox="1"/>
          <p:nvPr/>
        </p:nvSpPr>
        <p:spPr>
          <a:xfrm>
            <a:off x="1527110" y="1671823"/>
            <a:ext cx="5329287" cy="307777"/>
          </a:xfrm>
          <a:prstGeom prst="rect">
            <a:avLst/>
          </a:prstGeom>
          <a:noFill/>
        </p:spPr>
        <p:txBody>
          <a:bodyPr wrap="square" rtlCol="0">
            <a:spAutoFit/>
          </a:bodyPr>
          <a:lstStyle/>
          <a:p>
            <a:pPr algn="l"/>
            <a:r>
              <a:rPr lang="es-ES" sz="1400" dirty="0">
                <a:solidFill>
                  <a:schemeClr val="accent1">
                    <a:lumMod val="75000"/>
                  </a:schemeClr>
                </a:solidFill>
              </a:rPr>
              <a:t>Tendría que cerrar la fila antes de activar otra</a:t>
            </a:r>
          </a:p>
        </p:txBody>
      </p:sp>
      <p:sp>
        <p:nvSpPr>
          <p:cNvPr id="65" name="Line 11">
            <a:extLst>
              <a:ext uri="{FF2B5EF4-FFF2-40B4-BE49-F238E27FC236}">
                <a16:creationId xmlns:a16="http://schemas.microsoft.com/office/drawing/2014/main" id="{7F4E9607-335C-42DD-A910-A23C7905AA47}"/>
              </a:ext>
            </a:extLst>
          </p:cNvPr>
          <p:cNvSpPr>
            <a:spLocks noChangeShapeType="1"/>
          </p:cNvSpPr>
          <p:nvPr/>
        </p:nvSpPr>
        <p:spPr bwMode="auto">
          <a:xfrm>
            <a:off x="3513049" y="4615593"/>
            <a:ext cx="1623201"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67" name="CuadroTexto 66">
            <a:extLst>
              <a:ext uri="{FF2B5EF4-FFF2-40B4-BE49-F238E27FC236}">
                <a16:creationId xmlns:a16="http://schemas.microsoft.com/office/drawing/2014/main" id="{A74D0805-E1E2-49BA-884E-33FFDDFAF727}"/>
              </a:ext>
            </a:extLst>
          </p:cNvPr>
          <p:cNvSpPr txBox="1"/>
          <p:nvPr/>
        </p:nvSpPr>
        <p:spPr>
          <a:xfrm>
            <a:off x="3583369" y="4696502"/>
            <a:ext cx="1512167" cy="566309"/>
          </a:xfrm>
          <a:prstGeom prst="rect">
            <a:avLst/>
          </a:prstGeom>
          <a:noFill/>
        </p:spPr>
        <p:txBody>
          <a:bodyPr wrap="square" rtlCol="0">
            <a:spAutoFit/>
          </a:bodyPr>
          <a:lstStyle/>
          <a:p>
            <a:r>
              <a:rPr lang="es-ES" sz="1400" dirty="0">
                <a:solidFill>
                  <a:schemeClr val="accent1">
                    <a:lumMod val="75000"/>
                  </a:schemeClr>
                </a:solidFill>
              </a:rPr>
              <a:t>Bloque (1)</a:t>
            </a:r>
          </a:p>
          <a:p>
            <a:pPr algn="l"/>
            <a:r>
              <a:rPr lang="es-ES" sz="1400" dirty="0">
                <a:solidFill>
                  <a:schemeClr val="accent1">
                    <a:lumMod val="75000"/>
                  </a:schemeClr>
                </a:solidFill>
              </a:rPr>
              <a:t>P0 en </a:t>
            </a:r>
            <a:r>
              <a:rPr lang="es-ES" sz="1400" dirty="0" err="1">
                <a:solidFill>
                  <a:schemeClr val="accent1">
                    <a:lumMod val="75000"/>
                  </a:schemeClr>
                </a:solidFill>
              </a:rPr>
              <a:t>dir</a:t>
            </a:r>
            <a:r>
              <a:rPr lang="es-ES" sz="1400" dirty="0">
                <a:solidFill>
                  <a:schemeClr val="accent1">
                    <a:lumMod val="75000"/>
                  </a:schemeClr>
                </a:solidFill>
              </a:rPr>
              <a:t> </a:t>
            </a:r>
            <a:r>
              <a:rPr lang="es-ES" sz="1400" dirty="0" err="1">
                <a:solidFill>
                  <a:schemeClr val="accent1">
                    <a:lumMod val="75000"/>
                  </a:schemeClr>
                </a:solidFill>
              </a:rPr>
              <a:t>fila+col</a:t>
            </a:r>
            <a:endParaRPr lang="es-ES" sz="1400" dirty="0">
              <a:solidFill>
                <a:schemeClr val="accent1">
                  <a:lumMod val="75000"/>
                </a:schemeClr>
              </a:solidFill>
            </a:endParaRPr>
          </a:p>
        </p:txBody>
      </p:sp>
      <p:cxnSp>
        <p:nvCxnSpPr>
          <p:cNvPr id="68" name="Conector recto 67">
            <a:extLst>
              <a:ext uri="{FF2B5EF4-FFF2-40B4-BE49-F238E27FC236}">
                <a16:creationId xmlns:a16="http://schemas.microsoft.com/office/drawing/2014/main" id="{EA58A652-AB3A-4C8E-AD9F-98FEFB54FB87}"/>
              </a:ext>
            </a:extLst>
          </p:cNvPr>
          <p:cNvCxnSpPr>
            <a:cxnSpLocks/>
          </p:cNvCxnSpPr>
          <p:nvPr/>
        </p:nvCxnSpPr>
        <p:spPr bwMode="auto">
          <a:xfrm>
            <a:off x="5908464"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69" name="Conector recto 68">
            <a:extLst>
              <a:ext uri="{FF2B5EF4-FFF2-40B4-BE49-F238E27FC236}">
                <a16:creationId xmlns:a16="http://schemas.microsoft.com/office/drawing/2014/main" id="{FE11FF5A-67F9-4CF6-831D-E009C9E25E1D}"/>
              </a:ext>
            </a:extLst>
          </p:cNvPr>
          <p:cNvCxnSpPr>
            <a:cxnSpLocks/>
          </p:cNvCxnSpPr>
          <p:nvPr/>
        </p:nvCxnSpPr>
        <p:spPr bwMode="auto">
          <a:xfrm>
            <a:off x="6320782"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0" name="Conector recto 69">
            <a:extLst>
              <a:ext uri="{FF2B5EF4-FFF2-40B4-BE49-F238E27FC236}">
                <a16:creationId xmlns:a16="http://schemas.microsoft.com/office/drawing/2014/main" id="{6226F54E-4DD9-4E36-929A-F7216F8C9089}"/>
              </a:ext>
            </a:extLst>
          </p:cNvPr>
          <p:cNvCxnSpPr>
            <a:cxnSpLocks/>
          </p:cNvCxnSpPr>
          <p:nvPr/>
        </p:nvCxnSpPr>
        <p:spPr bwMode="auto">
          <a:xfrm>
            <a:off x="6704014" y="2366443"/>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2" name="Conector recto 71">
            <a:extLst>
              <a:ext uri="{FF2B5EF4-FFF2-40B4-BE49-F238E27FC236}">
                <a16:creationId xmlns:a16="http://schemas.microsoft.com/office/drawing/2014/main" id="{A3C23E9C-FC35-42E6-8FE2-385888E9C7A8}"/>
              </a:ext>
            </a:extLst>
          </p:cNvPr>
          <p:cNvCxnSpPr>
            <a:cxnSpLocks/>
          </p:cNvCxnSpPr>
          <p:nvPr/>
        </p:nvCxnSpPr>
        <p:spPr bwMode="auto">
          <a:xfrm>
            <a:off x="7087246" y="2350466"/>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21" name="Grupo 20">
            <a:extLst>
              <a:ext uri="{FF2B5EF4-FFF2-40B4-BE49-F238E27FC236}">
                <a16:creationId xmlns:a16="http://schemas.microsoft.com/office/drawing/2014/main" id="{7A0D49FA-3FA4-4011-B816-C77D74D175DE}"/>
              </a:ext>
            </a:extLst>
          </p:cNvPr>
          <p:cNvGrpSpPr/>
          <p:nvPr/>
        </p:nvGrpSpPr>
        <p:grpSpPr>
          <a:xfrm>
            <a:off x="4277029" y="2915999"/>
            <a:ext cx="850428" cy="785109"/>
            <a:chOff x="4277029" y="2915999"/>
            <a:chExt cx="850428" cy="785109"/>
          </a:xfrm>
        </p:grpSpPr>
        <p:grpSp>
          <p:nvGrpSpPr>
            <p:cNvPr id="8" name="Grupo 7">
              <a:extLst>
                <a:ext uri="{FF2B5EF4-FFF2-40B4-BE49-F238E27FC236}">
                  <a16:creationId xmlns:a16="http://schemas.microsoft.com/office/drawing/2014/main" id="{ED8D216F-8D74-4DF0-AEBD-EECEA1276D60}"/>
                </a:ext>
              </a:extLst>
            </p:cNvPr>
            <p:cNvGrpSpPr/>
            <p:nvPr/>
          </p:nvGrpSpPr>
          <p:grpSpPr>
            <a:xfrm>
              <a:off x="4294296" y="2915999"/>
              <a:ext cx="368642" cy="785109"/>
              <a:chOff x="4294296" y="2915999"/>
              <a:chExt cx="368642" cy="785109"/>
            </a:xfrm>
          </p:grpSpPr>
          <p:sp>
            <p:nvSpPr>
              <p:cNvPr id="47" name="Rectangle 10"/>
              <p:cNvSpPr>
                <a:spLocks noChangeArrowheads="1"/>
              </p:cNvSpPr>
              <p:nvPr/>
            </p:nvSpPr>
            <p:spPr bwMode="auto">
              <a:xfrm>
                <a:off x="4374396" y="3393331"/>
                <a:ext cx="288542" cy="307777"/>
              </a:xfrm>
              <a:prstGeom prst="rect">
                <a:avLst/>
              </a:prstGeom>
              <a:noFill/>
              <a:ln w="19050">
                <a:noFill/>
                <a:miter lim="800000"/>
                <a:headEnd/>
                <a:tailEnd/>
              </a:ln>
            </p:spPr>
            <p:txBody>
              <a:bodyPr wrap="square" lIns="0" tIns="0" rIns="0" bIns="0" anchor="ctr">
                <a:spAutoFit/>
              </a:bodyPr>
              <a:lstStyle/>
              <a:p>
                <a:r>
                  <a:rPr lang="es-ES" dirty="0" err="1"/>
                  <a:t>t</a:t>
                </a:r>
                <a:r>
                  <a:rPr lang="es-ES" baseline="-25000" dirty="0" err="1"/>
                  <a:t>CL</a:t>
                </a:r>
                <a:endParaRPr lang="es-ES_tradnl" sz="2400" b="1" baseline="-25000" dirty="0"/>
              </a:p>
            </p:txBody>
          </p:sp>
          <p:sp>
            <p:nvSpPr>
              <p:cNvPr id="83" name="Freeform 24">
                <a:extLst>
                  <a:ext uri="{FF2B5EF4-FFF2-40B4-BE49-F238E27FC236}">
                    <a16:creationId xmlns:a16="http://schemas.microsoft.com/office/drawing/2014/main" id="{3DE25550-22D3-412F-A96F-C19073879101}"/>
                  </a:ext>
                </a:extLst>
              </p:cNvPr>
              <p:cNvSpPr>
                <a:spLocks/>
              </p:cNvSpPr>
              <p:nvPr/>
            </p:nvSpPr>
            <p:spPr bwMode="blackWhite">
              <a:xfrm>
                <a:off x="4294296" y="2915999"/>
                <a:ext cx="354264" cy="2130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grpSp>
        <p:sp>
          <p:nvSpPr>
            <p:cNvPr id="94" name="Line 11">
              <a:extLst>
                <a:ext uri="{FF2B5EF4-FFF2-40B4-BE49-F238E27FC236}">
                  <a16:creationId xmlns:a16="http://schemas.microsoft.com/office/drawing/2014/main" id="{FBBF4429-8A49-408B-82E7-8FA137A696BC}"/>
                </a:ext>
              </a:extLst>
            </p:cNvPr>
            <p:cNvSpPr>
              <a:spLocks noChangeShapeType="1"/>
            </p:cNvSpPr>
            <p:nvPr/>
          </p:nvSpPr>
          <p:spPr bwMode="auto">
            <a:xfrm flipV="1">
              <a:off x="4277029" y="3302776"/>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sp>
        <p:nvSpPr>
          <p:cNvPr id="99" name="Rectangle 10">
            <a:extLst>
              <a:ext uri="{FF2B5EF4-FFF2-40B4-BE49-F238E27FC236}">
                <a16:creationId xmlns:a16="http://schemas.microsoft.com/office/drawing/2014/main" id="{27A37F49-4517-4F00-AB40-EA77733795F5}"/>
              </a:ext>
            </a:extLst>
          </p:cNvPr>
          <p:cNvSpPr>
            <a:spLocks noChangeArrowheads="1"/>
          </p:cNvSpPr>
          <p:nvPr/>
        </p:nvSpPr>
        <p:spPr bwMode="auto">
          <a:xfrm>
            <a:off x="2638297" y="3359725"/>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grpSp>
        <p:nvGrpSpPr>
          <p:cNvPr id="26" name="Grupo 25">
            <a:extLst>
              <a:ext uri="{FF2B5EF4-FFF2-40B4-BE49-F238E27FC236}">
                <a16:creationId xmlns:a16="http://schemas.microsoft.com/office/drawing/2014/main" id="{8709A875-1577-4D01-8950-AE4DDE9AEBD4}"/>
              </a:ext>
            </a:extLst>
          </p:cNvPr>
          <p:cNvGrpSpPr/>
          <p:nvPr/>
        </p:nvGrpSpPr>
        <p:grpSpPr>
          <a:xfrm>
            <a:off x="1690222" y="2174032"/>
            <a:ext cx="2556596" cy="515803"/>
            <a:chOff x="1690222" y="2174032"/>
            <a:chExt cx="2556596" cy="515803"/>
          </a:xfrm>
        </p:grpSpPr>
        <p:sp>
          <p:nvSpPr>
            <p:cNvPr id="97" name="Line 11">
              <a:extLst>
                <a:ext uri="{FF2B5EF4-FFF2-40B4-BE49-F238E27FC236}">
                  <a16:creationId xmlns:a16="http://schemas.microsoft.com/office/drawing/2014/main" id="{F1700A17-E2EC-4975-895E-E49B99381653}"/>
                </a:ext>
              </a:extLst>
            </p:cNvPr>
            <p:cNvSpPr>
              <a:spLocks noChangeShapeType="1"/>
            </p:cNvSpPr>
            <p:nvPr/>
          </p:nvSpPr>
          <p:spPr bwMode="auto">
            <a:xfrm>
              <a:off x="1690222" y="2674594"/>
              <a:ext cx="2556596" cy="15241"/>
            </a:xfrm>
            <a:prstGeom prst="line">
              <a:avLst/>
            </a:prstGeom>
            <a:noFill/>
            <a:ln w="57150">
              <a:solidFill>
                <a:schemeClr val="accent3"/>
              </a:solidFill>
              <a:round/>
              <a:headEnd type="triangle" w="med" len="med"/>
              <a:tailEnd type="triangle" w="med" len="med"/>
            </a:ln>
          </p:spPr>
          <p:txBody>
            <a:bodyPr wrap="none" lIns="0" tIns="0" rIns="0" bIns="0" anchor="ctr"/>
            <a:lstStyle/>
            <a:p>
              <a:endParaRPr lang="es-ES">
                <a:solidFill>
                  <a:schemeClr val="bg1"/>
                </a:solidFill>
              </a:endParaRPr>
            </a:p>
          </p:txBody>
        </p:sp>
        <p:sp>
          <p:nvSpPr>
            <p:cNvPr id="109" name="Rectangle 10">
              <a:extLst>
                <a:ext uri="{FF2B5EF4-FFF2-40B4-BE49-F238E27FC236}">
                  <a16:creationId xmlns:a16="http://schemas.microsoft.com/office/drawing/2014/main" id="{3126AD2E-0405-436C-A474-EB58D9BAEB00}"/>
                </a:ext>
              </a:extLst>
            </p:cNvPr>
            <p:cNvSpPr>
              <a:spLocks noChangeArrowheads="1"/>
            </p:cNvSpPr>
            <p:nvPr/>
          </p:nvSpPr>
          <p:spPr bwMode="auto">
            <a:xfrm>
              <a:off x="2547254" y="2174032"/>
              <a:ext cx="501739" cy="307777"/>
            </a:xfrm>
            <a:prstGeom prst="rect">
              <a:avLst/>
            </a:prstGeom>
            <a:noFill/>
            <a:ln w="19050">
              <a:noFill/>
              <a:miter lim="800000"/>
              <a:headEnd/>
              <a:tailEnd/>
            </a:ln>
          </p:spPr>
          <p:txBody>
            <a:bodyPr wrap="square" lIns="0" tIns="0" rIns="0" bIns="0" anchor="ctr">
              <a:spAutoFit/>
            </a:bodyPr>
            <a:lstStyle/>
            <a:p>
              <a:r>
                <a:rPr lang="es-ES" dirty="0" err="1"/>
                <a:t>t</a:t>
              </a:r>
              <a:r>
                <a:rPr lang="es-ES" sz="2400" b="1" baseline="-25000" dirty="0" err="1"/>
                <a:t>RAS</a:t>
              </a:r>
              <a:endParaRPr lang="es-ES_tradnl" sz="2400" b="1" baseline="-25000" dirty="0"/>
            </a:p>
          </p:txBody>
        </p:sp>
      </p:grpSp>
      <p:grpSp>
        <p:nvGrpSpPr>
          <p:cNvPr id="23" name="Grupo 22">
            <a:extLst>
              <a:ext uri="{FF2B5EF4-FFF2-40B4-BE49-F238E27FC236}">
                <a16:creationId xmlns:a16="http://schemas.microsoft.com/office/drawing/2014/main" id="{0F4F0FEC-6E08-49E6-BE30-C654E0A9B3D9}"/>
              </a:ext>
            </a:extLst>
          </p:cNvPr>
          <p:cNvGrpSpPr/>
          <p:nvPr/>
        </p:nvGrpSpPr>
        <p:grpSpPr>
          <a:xfrm>
            <a:off x="5937863" y="2924944"/>
            <a:ext cx="2544830" cy="2473371"/>
            <a:chOff x="5937863" y="2924944"/>
            <a:chExt cx="2544830" cy="2473371"/>
          </a:xfrm>
        </p:grpSpPr>
        <p:sp>
          <p:nvSpPr>
            <p:cNvPr id="125" name="Freeform 24">
              <a:extLst>
                <a:ext uri="{FF2B5EF4-FFF2-40B4-BE49-F238E27FC236}">
                  <a16:creationId xmlns:a16="http://schemas.microsoft.com/office/drawing/2014/main" id="{DCD500B6-7631-478D-B5D6-3F65E7F751B1}"/>
                </a:ext>
              </a:extLst>
            </p:cNvPr>
            <p:cNvSpPr>
              <a:spLocks/>
            </p:cNvSpPr>
            <p:nvPr/>
          </p:nvSpPr>
          <p:spPr bwMode="blackWhite">
            <a:xfrm>
              <a:off x="5937863" y="2924944"/>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grpSp>
          <p:nvGrpSpPr>
            <p:cNvPr id="22" name="Grupo 21">
              <a:extLst>
                <a:ext uri="{FF2B5EF4-FFF2-40B4-BE49-F238E27FC236}">
                  <a16:creationId xmlns:a16="http://schemas.microsoft.com/office/drawing/2014/main" id="{650C987E-26CD-4297-B61E-B20E288F5012}"/>
                </a:ext>
              </a:extLst>
            </p:cNvPr>
            <p:cNvGrpSpPr/>
            <p:nvPr/>
          </p:nvGrpSpPr>
          <p:grpSpPr>
            <a:xfrm>
              <a:off x="5960741" y="3304027"/>
              <a:ext cx="2521952" cy="2094288"/>
              <a:chOff x="5960741" y="3304027"/>
              <a:chExt cx="2521952" cy="2094288"/>
            </a:xfrm>
          </p:grpSpPr>
          <p:grpSp>
            <p:nvGrpSpPr>
              <p:cNvPr id="110" name="Grupo 109">
                <a:extLst>
                  <a:ext uri="{FF2B5EF4-FFF2-40B4-BE49-F238E27FC236}">
                    <a16:creationId xmlns:a16="http://schemas.microsoft.com/office/drawing/2014/main" id="{857ACF20-510A-49FC-A33A-6C55193CFF54}"/>
                  </a:ext>
                </a:extLst>
              </p:cNvPr>
              <p:cNvGrpSpPr/>
              <p:nvPr/>
            </p:nvGrpSpPr>
            <p:grpSpPr>
              <a:xfrm>
                <a:off x="6477699" y="4167060"/>
                <a:ext cx="2004994" cy="1231255"/>
                <a:chOff x="6550423" y="3451219"/>
                <a:chExt cx="2004994" cy="1231255"/>
              </a:xfrm>
            </p:grpSpPr>
            <p:grpSp>
              <p:nvGrpSpPr>
                <p:cNvPr id="111" name="Group 82">
                  <a:extLst>
                    <a:ext uri="{FF2B5EF4-FFF2-40B4-BE49-F238E27FC236}">
                      <a16:creationId xmlns:a16="http://schemas.microsoft.com/office/drawing/2014/main" id="{A3B1E82F-4E54-4896-9034-C6820DF6D2BD}"/>
                    </a:ext>
                  </a:extLst>
                </p:cNvPr>
                <p:cNvGrpSpPr>
                  <a:grpSpLocks/>
                </p:cNvGrpSpPr>
                <p:nvPr/>
              </p:nvGrpSpPr>
              <p:grpSpPr bwMode="auto">
                <a:xfrm>
                  <a:off x="6841403" y="3476208"/>
                  <a:ext cx="354264" cy="213033"/>
                  <a:chOff x="4380" y="2296"/>
                  <a:chExt cx="384" cy="181"/>
                </a:xfrm>
              </p:grpSpPr>
              <p:sp>
                <p:nvSpPr>
                  <p:cNvPr id="123" name="Freeform 71">
                    <a:extLst>
                      <a:ext uri="{FF2B5EF4-FFF2-40B4-BE49-F238E27FC236}">
                        <a16:creationId xmlns:a16="http://schemas.microsoft.com/office/drawing/2014/main" id="{69DD4324-AE22-409E-BE1C-4EAE58617736}"/>
                      </a:ext>
                    </a:extLst>
                  </p:cNvPr>
                  <p:cNvSpPr>
                    <a:spLocks/>
                  </p:cNvSpPr>
                  <p:nvPr/>
                </p:nvSpPr>
                <p:spPr bwMode="blackWhite">
                  <a:xfrm>
                    <a:off x="4380" y="229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4" name="Text Box 72">
                    <a:extLst>
                      <a:ext uri="{FF2B5EF4-FFF2-40B4-BE49-F238E27FC236}">
                        <a16:creationId xmlns:a16="http://schemas.microsoft.com/office/drawing/2014/main" id="{3D6BAF3F-0527-4EAF-977F-445CCC2F1CB4}"/>
                      </a:ext>
                    </a:extLst>
                  </p:cNvPr>
                  <p:cNvSpPr txBox="1">
                    <a:spLocks noChangeArrowheads="1"/>
                  </p:cNvSpPr>
                  <p:nvPr/>
                </p:nvSpPr>
                <p:spPr bwMode="blackWhite">
                  <a:xfrm>
                    <a:off x="4380" y="2296"/>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P4</a:t>
                    </a:r>
                  </a:p>
                </p:txBody>
              </p:sp>
            </p:grpSp>
            <p:grpSp>
              <p:nvGrpSpPr>
                <p:cNvPr id="112" name="Group 82">
                  <a:extLst>
                    <a:ext uri="{FF2B5EF4-FFF2-40B4-BE49-F238E27FC236}">
                      <a16:creationId xmlns:a16="http://schemas.microsoft.com/office/drawing/2014/main" id="{29AAD4DB-23A7-47D7-AC96-72583C8A5805}"/>
                    </a:ext>
                  </a:extLst>
                </p:cNvPr>
                <p:cNvGrpSpPr>
                  <a:grpSpLocks/>
                </p:cNvGrpSpPr>
                <p:nvPr/>
              </p:nvGrpSpPr>
              <p:grpSpPr bwMode="auto">
                <a:xfrm>
                  <a:off x="7227603" y="3463099"/>
                  <a:ext cx="354264" cy="213033"/>
                  <a:chOff x="4336" y="2287"/>
                  <a:chExt cx="384" cy="181"/>
                </a:xfrm>
              </p:grpSpPr>
              <p:sp>
                <p:nvSpPr>
                  <p:cNvPr id="121" name="Freeform 71">
                    <a:extLst>
                      <a:ext uri="{FF2B5EF4-FFF2-40B4-BE49-F238E27FC236}">
                        <a16:creationId xmlns:a16="http://schemas.microsoft.com/office/drawing/2014/main" id="{9D971EAB-5BB6-480D-B44F-7C5211DF0B86}"/>
                      </a:ext>
                    </a:extLst>
                  </p:cNvPr>
                  <p:cNvSpPr>
                    <a:spLocks/>
                  </p:cNvSpPr>
                  <p:nvPr/>
                </p:nvSpPr>
                <p:spPr bwMode="blackWhite">
                  <a:xfrm>
                    <a:off x="4336" y="2287"/>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2" name="Text Box 72">
                    <a:extLst>
                      <a:ext uri="{FF2B5EF4-FFF2-40B4-BE49-F238E27FC236}">
                        <a16:creationId xmlns:a16="http://schemas.microsoft.com/office/drawing/2014/main" id="{9D35DFDA-EA58-4A93-A97A-90A1C059CAB2}"/>
                      </a:ext>
                    </a:extLst>
                  </p:cNvPr>
                  <p:cNvSpPr txBox="1">
                    <a:spLocks noChangeArrowheads="1"/>
                  </p:cNvSpPr>
                  <p:nvPr/>
                </p:nvSpPr>
                <p:spPr bwMode="blackWhite">
                  <a:xfrm>
                    <a:off x="4336" y="2287"/>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P5</a:t>
                    </a:r>
                  </a:p>
                </p:txBody>
              </p:sp>
            </p:grpSp>
            <p:grpSp>
              <p:nvGrpSpPr>
                <p:cNvPr id="113" name="Group 82">
                  <a:extLst>
                    <a:ext uri="{FF2B5EF4-FFF2-40B4-BE49-F238E27FC236}">
                      <a16:creationId xmlns:a16="http://schemas.microsoft.com/office/drawing/2014/main" id="{25D9B1D1-566C-4E33-A35C-75603B57F6AD}"/>
                    </a:ext>
                  </a:extLst>
                </p:cNvPr>
                <p:cNvGrpSpPr>
                  <a:grpSpLocks/>
                </p:cNvGrpSpPr>
                <p:nvPr/>
              </p:nvGrpSpPr>
              <p:grpSpPr bwMode="auto">
                <a:xfrm>
                  <a:off x="7622987" y="3451219"/>
                  <a:ext cx="354264" cy="213033"/>
                  <a:chOff x="4329" y="2283"/>
                  <a:chExt cx="384" cy="181"/>
                </a:xfrm>
              </p:grpSpPr>
              <p:sp>
                <p:nvSpPr>
                  <p:cNvPr id="119" name="Freeform 71">
                    <a:extLst>
                      <a:ext uri="{FF2B5EF4-FFF2-40B4-BE49-F238E27FC236}">
                        <a16:creationId xmlns:a16="http://schemas.microsoft.com/office/drawing/2014/main" id="{ECE533B3-11B8-4950-86FD-D95C84FA6284}"/>
                      </a:ext>
                    </a:extLst>
                  </p:cNvPr>
                  <p:cNvSpPr>
                    <a:spLocks/>
                  </p:cNvSpPr>
                  <p:nvPr/>
                </p:nvSpPr>
                <p:spPr bwMode="blackWhite">
                  <a:xfrm>
                    <a:off x="4329" y="2283"/>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0" name="Text Box 72">
                    <a:extLst>
                      <a:ext uri="{FF2B5EF4-FFF2-40B4-BE49-F238E27FC236}">
                        <a16:creationId xmlns:a16="http://schemas.microsoft.com/office/drawing/2014/main" id="{E86CA07C-6316-4239-BFBA-6CEB58A6C77F}"/>
                      </a:ext>
                    </a:extLst>
                  </p:cNvPr>
                  <p:cNvSpPr txBox="1">
                    <a:spLocks noChangeArrowheads="1"/>
                  </p:cNvSpPr>
                  <p:nvPr/>
                </p:nvSpPr>
                <p:spPr bwMode="blackWhite">
                  <a:xfrm>
                    <a:off x="4329" y="228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P6</a:t>
                    </a:r>
                  </a:p>
                </p:txBody>
              </p:sp>
            </p:grpSp>
            <p:grpSp>
              <p:nvGrpSpPr>
                <p:cNvPr id="114" name="Group 82">
                  <a:extLst>
                    <a:ext uri="{FF2B5EF4-FFF2-40B4-BE49-F238E27FC236}">
                      <a16:creationId xmlns:a16="http://schemas.microsoft.com/office/drawing/2014/main" id="{E8A0332C-E417-46F2-90A7-0C1EB4ADBD23}"/>
                    </a:ext>
                  </a:extLst>
                </p:cNvPr>
                <p:cNvGrpSpPr>
                  <a:grpSpLocks/>
                </p:cNvGrpSpPr>
                <p:nvPr/>
              </p:nvGrpSpPr>
              <p:grpSpPr bwMode="auto">
                <a:xfrm>
                  <a:off x="8022209" y="3459403"/>
                  <a:ext cx="384708" cy="213033"/>
                  <a:chOff x="4326" y="2294"/>
                  <a:chExt cx="417" cy="181"/>
                </a:xfrm>
              </p:grpSpPr>
              <p:sp>
                <p:nvSpPr>
                  <p:cNvPr id="117" name="Freeform 71">
                    <a:extLst>
                      <a:ext uri="{FF2B5EF4-FFF2-40B4-BE49-F238E27FC236}">
                        <a16:creationId xmlns:a16="http://schemas.microsoft.com/office/drawing/2014/main" id="{40AC42CB-E1AE-4CD8-BA2C-2D220AB05175}"/>
                      </a:ext>
                    </a:extLst>
                  </p:cNvPr>
                  <p:cNvSpPr>
                    <a:spLocks/>
                  </p:cNvSpPr>
                  <p:nvPr/>
                </p:nvSpPr>
                <p:spPr bwMode="blackWhite">
                  <a:xfrm>
                    <a:off x="4326" y="229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8" name="Text Box 72">
                    <a:extLst>
                      <a:ext uri="{FF2B5EF4-FFF2-40B4-BE49-F238E27FC236}">
                        <a16:creationId xmlns:a16="http://schemas.microsoft.com/office/drawing/2014/main" id="{3BB047CF-A3F1-4EA4-8607-B6AB80A5F257}"/>
                      </a:ext>
                    </a:extLst>
                  </p:cNvPr>
                  <p:cNvSpPr txBox="1">
                    <a:spLocks noChangeArrowheads="1"/>
                  </p:cNvSpPr>
                  <p:nvPr/>
                </p:nvSpPr>
                <p:spPr bwMode="blackWhite">
                  <a:xfrm>
                    <a:off x="4359" y="2308"/>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P7</a:t>
                    </a:r>
                  </a:p>
                </p:txBody>
              </p:sp>
            </p:grpSp>
            <p:sp>
              <p:nvSpPr>
                <p:cNvPr id="115" name="Line 11">
                  <a:extLst>
                    <a:ext uri="{FF2B5EF4-FFF2-40B4-BE49-F238E27FC236}">
                      <a16:creationId xmlns:a16="http://schemas.microsoft.com/office/drawing/2014/main" id="{8B5B7AA7-8A87-4018-BBFE-33F9B62D12F0}"/>
                    </a:ext>
                  </a:extLst>
                </p:cNvPr>
                <p:cNvSpPr>
                  <a:spLocks noChangeShapeType="1"/>
                </p:cNvSpPr>
                <p:nvPr/>
              </p:nvSpPr>
              <p:spPr bwMode="auto">
                <a:xfrm flipV="1">
                  <a:off x="6837453" y="3969454"/>
                  <a:ext cx="159876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116" name="CuadroTexto 115">
                  <a:extLst>
                    <a:ext uri="{FF2B5EF4-FFF2-40B4-BE49-F238E27FC236}">
                      <a16:creationId xmlns:a16="http://schemas.microsoft.com/office/drawing/2014/main" id="{6A0B6893-AC38-47C5-B80B-92B74B6B74A1}"/>
                    </a:ext>
                  </a:extLst>
                </p:cNvPr>
                <p:cNvSpPr txBox="1"/>
                <p:nvPr/>
              </p:nvSpPr>
              <p:spPr>
                <a:xfrm>
                  <a:off x="6550423" y="4116165"/>
                  <a:ext cx="2004994" cy="566309"/>
                </a:xfrm>
                <a:prstGeom prst="rect">
                  <a:avLst/>
                </a:prstGeom>
                <a:noFill/>
              </p:spPr>
              <p:txBody>
                <a:bodyPr wrap="square" rtlCol="0">
                  <a:spAutoFit/>
                </a:bodyPr>
                <a:lstStyle/>
                <a:p>
                  <a:r>
                    <a:rPr lang="es-ES" sz="1400" dirty="0">
                      <a:solidFill>
                        <a:schemeClr val="accent1">
                          <a:lumMod val="75000"/>
                        </a:schemeClr>
                      </a:solidFill>
                    </a:rPr>
                    <a:t>Bloque (2)</a:t>
                  </a:r>
                </a:p>
                <a:p>
                  <a:pPr algn="l"/>
                  <a:r>
                    <a:rPr lang="es-ES" sz="1400" dirty="0">
                      <a:solidFill>
                        <a:schemeClr val="accent1">
                          <a:lumMod val="75000"/>
                        </a:schemeClr>
                      </a:solidFill>
                    </a:rPr>
                    <a:t>P4 en </a:t>
                  </a:r>
                  <a:r>
                    <a:rPr lang="es-ES" sz="1400" dirty="0" err="1">
                      <a:solidFill>
                        <a:schemeClr val="accent1">
                          <a:lumMod val="75000"/>
                        </a:schemeClr>
                      </a:solidFill>
                    </a:rPr>
                    <a:t>dir</a:t>
                  </a:r>
                  <a:r>
                    <a:rPr lang="es-ES" sz="1400" dirty="0">
                      <a:solidFill>
                        <a:schemeClr val="accent1">
                          <a:lumMod val="75000"/>
                        </a:schemeClr>
                      </a:solidFill>
                    </a:rPr>
                    <a:t> fila2+col2</a:t>
                  </a:r>
                </a:p>
              </p:txBody>
            </p:sp>
          </p:grpSp>
          <p:grpSp>
            <p:nvGrpSpPr>
              <p:cNvPr id="126" name="Group 82">
                <a:extLst>
                  <a:ext uri="{FF2B5EF4-FFF2-40B4-BE49-F238E27FC236}">
                    <a16:creationId xmlns:a16="http://schemas.microsoft.com/office/drawing/2014/main" id="{E073B431-128E-41A9-BA4E-AB94EA79B738}"/>
                  </a:ext>
                </a:extLst>
              </p:cNvPr>
              <p:cNvGrpSpPr>
                <a:grpSpLocks/>
              </p:cNvGrpSpPr>
              <p:nvPr/>
            </p:nvGrpSpPr>
            <p:grpSpPr bwMode="auto">
              <a:xfrm>
                <a:off x="5970509" y="3731634"/>
                <a:ext cx="364412" cy="213033"/>
                <a:chOff x="2635" y="2367"/>
                <a:chExt cx="395" cy="181"/>
              </a:xfrm>
            </p:grpSpPr>
            <p:sp>
              <p:nvSpPr>
                <p:cNvPr id="127" name="Freeform 71">
                  <a:extLst>
                    <a:ext uri="{FF2B5EF4-FFF2-40B4-BE49-F238E27FC236}">
                      <a16:creationId xmlns:a16="http://schemas.microsoft.com/office/drawing/2014/main" id="{AEBEFEDA-7935-44A3-BEAF-5B7DA36BBFA2}"/>
                    </a:ext>
                  </a:extLst>
                </p:cNvPr>
                <p:cNvSpPr>
                  <a:spLocks/>
                </p:cNvSpPr>
                <p:nvPr/>
              </p:nvSpPr>
              <p:spPr bwMode="blackWhite">
                <a:xfrm>
                  <a:off x="2646" y="2367"/>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28" name="Text Box 72">
                  <a:extLst>
                    <a:ext uri="{FF2B5EF4-FFF2-40B4-BE49-F238E27FC236}">
                      <a16:creationId xmlns:a16="http://schemas.microsoft.com/office/drawing/2014/main" id="{E644E3F3-C2CA-4BE0-8CB6-65E3E91D7E81}"/>
                    </a:ext>
                  </a:extLst>
                </p:cNvPr>
                <p:cNvSpPr txBox="1">
                  <a:spLocks noChangeArrowheads="1"/>
                </p:cNvSpPr>
                <p:nvPr/>
              </p:nvSpPr>
              <p:spPr bwMode="blackWhite">
                <a:xfrm>
                  <a:off x="2635" y="238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Col2</a:t>
                  </a:r>
                </a:p>
              </p:txBody>
            </p:sp>
          </p:grpSp>
          <p:sp>
            <p:nvSpPr>
              <p:cNvPr id="129" name="Line 11">
                <a:extLst>
                  <a:ext uri="{FF2B5EF4-FFF2-40B4-BE49-F238E27FC236}">
                    <a16:creationId xmlns:a16="http://schemas.microsoft.com/office/drawing/2014/main" id="{6FFD01D0-6A5B-40AA-9F87-F5EFB6200C26}"/>
                  </a:ext>
                </a:extLst>
              </p:cNvPr>
              <p:cNvSpPr>
                <a:spLocks noChangeShapeType="1"/>
              </p:cNvSpPr>
              <p:nvPr/>
            </p:nvSpPr>
            <p:spPr bwMode="auto">
              <a:xfrm>
                <a:off x="5960741" y="3304027"/>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30" name="Rectangle 10">
                <a:extLst>
                  <a:ext uri="{FF2B5EF4-FFF2-40B4-BE49-F238E27FC236}">
                    <a16:creationId xmlns:a16="http://schemas.microsoft.com/office/drawing/2014/main" id="{07164567-9450-4E25-880C-B72E438CA00F}"/>
                  </a:ext>
                </a:extLst>
              </p:cNvPr>
              <p:cNvSpPr>
                <a:spLocks noChangeArrowheads="1"/>
              </p:cNvSpPr>
              <p:nvPr/>
            </p:nvSpPr>
            <p:spPr bwMode="auto">
              <a:xfrm>
                <a:off x="6035012" y="3361388"/>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grpSp>
      </p:grpSp>
      <p:grpSp>
        <p:nvGrpSpPr>
          <p:cNvPr id="25" name="Grupo 24">
            <a:extLst>
              <a:ext uri="{FF2B5EF4-FFF2-40B4-BE49-F238E27FC236}">
                <a16:creationId xmlns:a16="http://schemas.microsoft.com/office/drawing/2014/main" id="{D34C5927-35CB-4DFA-8FB4-C7296E64202B}"/>
              </a:ext>
            </a:extLst>
          </p:cNvPr>
          <p:cNvGrpSpPr/>
          <p:nvPr/>
        </p:nvGrpSpPr>
        <p:grpSpPr>
          <a:xfrm>
            <a:off x="1198762" y="5428721"/>
            <a:ext cx="7537572" cy="904863"/>
            <a:chOff x="1198762" y="5428721"/>
            <a:chExt cx="6486047" cy="904863"/>
          </a:xfrm>
        </p:grpSpPr>
        <p:sp>
          <p:nvSpPr>
            <p:cNvPr id="34" name="CuadroTexto 33">
              <a:extLst>
                <a:ext uri="{FF2B5EF4-FFF2-40B4-BE49-F238E27FC236}">
                  <a16:creationId xmlns:a16="http://schemas.microsoft.com/office/drawing/2014/main" id="{651C2402-5FA5-47E6-B0CE-A2ECD0168F78}"/>
                </a:ext>
              </a:extLst>
            </p:cNvPr>
            <p:cNvSpPr txBox="1"/>
            <p:nvPr/>
          </p:nvSpPr>
          <p:spPr>
            <a:xfrm>
              <a:off x="1612313" y="5428721"/>
              <a:ext cx="6072496" cy="904863"/>
            </a:xfrm>
            <a:prstGeom prst="rect">
              <a:avLst/>
            </a:prstGeom>
            <a:noFill/>
          </p:spPr>
          <p:txBody>
            <a:bodyPr wrap="none" rtlCol="0">
              <a:spAutoFit/>
            </a:bodyPr>
            <a:lstStyle/>
            <a:p>
              <a:r>
                <a:rPr lang="es-ES" sz="2400" dirty="0">
                  <a:solidFill>
                    <a:schemeClr val="accent3"/>
                  </a:solidFill>
                </a:rPr>
                <a:t>Pero…se tiene que cumplir una restricción:</a:t>
              </a:r>
            </a:p>
            <a:p>
              <a:r>
                <a:rPr lang="es-ES" sz="2400" dirty="0">
                  <a:solidFill>
                    <a:schemeClr val="accent3"/>
                  </a:solidFill>
                </a:rPr>
                <a:t> el tiempo mínimo llamado </a:t>
              </a:r>
              <a:r>
                <a:rPr lang="es-ES" sz="2400" dirty="0" err="1">
                  <a:solidFill>
                    <a:schemeClr val="accent3"/>
                  </a:solidFill>
                </a:rPr>
                <a:t>t</a:t>
              </a:r>
              <a:r>
                <a:rPr lang="es-ES" sz="2400" baseline="-25000" dirty="0" err="1">
                  <a:solidFill>
                    <a:schemeClr val="accent3"/>
                  </a:solidFill>
                </a:rPr>
                <a:t>RAS</a:t>
              </a:r>
              <a:endParaRPr lang="es-ES" sz="2400" dirty="0">
                <a:solidFill>
                  <a:schemeClr val="accent3"/>
                </a:solidFill>
              </a:endParaRPr>
            </a:p>
          </p:txBody>
        </p:sp>
        <p:sp>
          <p:nvSpPr>
            <p:cNvPr id="24" name="Flecha: a la derecha 23">
              <a:extLst>
                <a:ext uri="{FF2B5EF4-FFF2-40B4-BE49-F238E27FC236}">
                  <a16:creationId xmlns:a16="http://schemas.microsoft.com/office/drawing/2014/main" id="{7FFF1E08-86A0-4711-8653-5E6DA2F08ECC}"/>
                </a:ext>
              </a:extLst>
            </p:cNvPr>
            <p:cNvSpPr/>
            <p:nvPr/>
          </p:nvSpPr>
          <p:spPr bwMode="auto">
            <a:xfrm>
              <a:off x="1198762" y="5469052"/>
              <a:ext cx="864096" cy="859911"/>
            </a:xfrm>
            <a:prstGeom prst="rightArrow">
              <a:avLst/>
            </a:prstGeom>
            <a:solidFill>
              <a:schemeClr val="accent3"/>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27" name="Grupo 26">
            <a:extLst>
              <a:ext uri="{FF2B5EF4-FFF2-40B4-BE49-F238E27FC236}">
                <a16:creationId xmlns:a16="http://schemas.microsoft.com/office/drawing/2014/main" id="{98AF9200-8774-4BCC-B300-FFC30BBB06EC}"/>
              </a:ext>
            </a:extLst>
          </p:cNvPr>
          <p:cNvGrpSpPr/>
          <p:nvPr/>
        </p:nvGrpSpPr>
        <p:grpSpPr>
          <a:xfrm>
            <a:off x="4304467" y="2938526"/>
            <a:ext cx="1612417" cy="1225347"/>
            <a:chOff x="4304467" y="2938526"/>
            <a:chExt cx="1612417" cy="1225347"/>
          </a:xfrm>
        </p:grpSpPr>
        <p:grpSp>
          <p:nvGrpSpPr>
            <p:cNvPr id="19" name="Grupo 18">
              <a:extLst>
                <a:ext uri="{FF2B5EF4-FFF2-40B4-BE49-F238E27FC236}">
                  <a16:creationId xmlns:a16="http://schemas.microsoft.com/office/drawing/2014/main" id="{02461F7E-0C95-494B-8E0F-A42378A9D749}"/>
                </a:ext>
              </a:extLst>
            </p:cNvPr>
            <p:cNvGrpSpPr/>
            <p:nvPr/>
          </p:nvGrpSpPr>
          <p:grpSpPr>
            <a:xfrm>
              <a:off x="4304467" y="2938526"/>
              <a:ext cx="1203637" cy="1225347"/>
              <a:chOff x="4304467" y="2938526"/>
              <a:chExt cx="1203637" cy="1225347"/>
            </a:xfrm>
          </p:grpSpPr>
          <p:sp>
            <p:nvSpPr>
              <p:cNvPr id="107" name="Line 11">
                <a:extLst>
                  <a:ext uri="{FF2B5EF4-FFF2-40B4-BE49-F238E27FC236}">
                    <a16:creationId xmlns:a16="http://schemas.microsoft.com/office/drawing/2014/main" id="{6F5A486C-634A-4EC8-9386-2AA4B939C2C5}"/>
                  </a:ext>
                </a:extLst>
              </p:cNvPr>
              <p:cNvSpPr>
                <a:spLocks noChangeShapeType="1"/>
              </p:cNvSpPr>
              <p:nvPr/>
            </p:nvSpPr>
            <p:spPr bwMode="auto">
              <a:xfrm flipV="1">
                <a:off x="4304467" y="3836390"/>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18" name="Grupo 17">
                <a:extLst>
                  <a:ext uri="{FF2B5EF4-FFF2-40B4-BE49-F238E27FC236}">
                    <a16:creationId xmlns:a16="http://schemas.microsoft.com/office/drawing/2014/main" id="{4793FFBC-B557-47BB-93DE-4AB3C9386FC9}"/>
                  </a:ext>
                </a:extLst>
              </p:cNvPr>
              <p:cNvGrpSpPr/>
              <p:nvPr/>
            </p:nvGrpSpPr>
            <p:grpSpPr>
              <a:xfrm>
                <a:off x="4777996" y="2938526"/>
                <a:ext cx="730108" cy="1225347"/>
                <a:chOff x="4777996" y="2938526"/>
                <a:chExt cx="730108" cy="1225347"/>
              </a:xfrm>
            </p:grpSpPr>
            <p:sp>
              <p:nvSpPr>
                <p:cNvPr id="100" name="Freeform 24">
                  <a:extLst>
                    <a:ext uri="{FF2B5EF4-FFF2-40B4-BE49-F238E27FC236}">
                      <a16:creationId xmlns:a16="http://schemas.microsoft.com/office/drawing/2014/main" id="{25F3E227-07DD-4EA0-B8DA-5D71665A5453}"/>
                    </a:ext>
                  </a:extLst>
                </p:cNvPr>
                <p:cNvSpPr>
                  <a:spLocks/>
                </p:cNvSpPr>
                <p:nvPr/>
              </p:nvSpPr>
              <p:spPr bwMode="blackWhite">
                <a:xfrm>
                  <a:off x="5134991" y="2938526"/>
                  <a:ext cx="373113" cy="20244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102" name="Group 82">
                  <a:extLst>
                    <a:ext uri="{FF2B5EF4-FFF2-40B4-BE49-F238E27FC236}">
                      <a16:creationId xmlns:a16="http://schemas.microsoft.com/office/drawing/2014/main" id="{712AF981-A185-455E-A42A-9E77F785F8D0}"/>
                    </a:ext>
                  </a:extLst>
                </p:cNvPr>
                <p:cNvGrpSpPr>
                  <a:grpSpLocks/>
                </p:cNvGrpSpPr>
                <p:nvPr/>
              </p:nvGrpSpPr>
              <p:grpSpPr bwMode="auto">
                <a:xfrm>
                  <a:off x="5149758" y="3717132"/>
                  <a:ext cx="354264" cy="215385"/>
                  <a:chOff x="2640" y="2373"/>
                  <a:chExt cx="384" cy="183"/>
                </a:xfrm>
              </p:grpSpPr>
              <p:sp>
                <p:nvSpPr>
                  <p:cNvPr id="103" name="Freeform 71">
                    <a:extLst>
                      <a:ext uri="{FF2B5EF4-FFF2-40B4-BE49-F238E27FC236}">
                        <a16:creationId xmlns:a16="http://schemas.microsoft.com/office/drawing/2014/main" id="{7A312F8D-D932-4DB6-9F1D-C05229CA1646}"/>
                      </a:ext>
                    </a:extLst>
                  </p:cNvPr>
                  <p:cNvSpPr>
                    <a:spLocks/>
                  </p:cNvSpPr>
                  <p:nvPr/>
                </p:nvSpPr>
                <p:spPr bwMode="blackWhite">
                  <a:xfrm>
                    <a:off x="2640" y="2375"/>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06" name="Text Box 72">
                    <a:extLst>
                      <a:ext uri="{FF2B5EF4-FFF2-40B4-BE49-F238E27FC236}">
                        <a16:creationId xmlns:a16="http://schemas.microsoft.com/office/drawing/2014/main" id="{47DB2DD4-FF98-4950-96A9-C862EBDE8626}"/>
                      </a:ext>
                    </a:extLst>
                  </p:cNvPr>
                  <p:cNvSpPr txBox="1">
                    <a:spLocks noChangeArrowheads="1"/>
                  </p:cNvSpPr>
                  <p:nvPr/>
                </p:nvSpPr>
                <p:spPr bwMode="blackWhite">
                  <a:xfrm>
                    <a:off x="2640" y="237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Fila2</a:t>
                    </a:r>
                  </a:p>
                </p:txBody>
              </p:sp>
            </p:grpSp>
            <p:sp>
              <p:nvSpPr>
                <p:cNvPr id="108" name="Rectangle 10">
                  <a:extLst>
                    <a:ext uri="{FF2B5EF4-FFF2-40B4-BE49-F238E27FC236}">
                      <a16:creationId xmlns:a16="http://schemas.microsoft.com/office/drawing/2014/main" id="{EBE5EAA8-E9AB-477D-B4FD-7DD58A931D92}"/>
                    </a:ext>
                  </a:extLst>
                </p:cNvPr>
                <p:cNvSpPr>
                  <a:spLocks noChangeArrowheads="1"/>
                </p:cNvSpPr>
                <p:nvPr/>
              </p:nvSpPr>
              <p:spPr bwMode="auto">
                <a:xfrm>
                  <a:off x="4777996" y="3856096"/>
                  <a:ext cx="354263" cy="307777"/>
                </a:xfrm>
                <a:prstGeom prst="rect">
                  <a:avLst/>
                </a:prstGeom>
                <a:noFill/>
                <a:ln w="19050">
                  <a:noFill/>
                  <a:miter lim="800000"/>
                  <a:headEnd/>
                  <a:tailEnd/>
                </a:ln>
              </p:spPr>
              <p:txBody>
                <a:bodyPr wrap="none" lIns="0" tIns="0" rIns="0" bIns="0" anchor="ctr">
                  <a:spAutoFit/>
                </a:bodyPr>
                <a:lstStyle/>
                <a:p>
                  <a:r>
                    <a:rPr lang="es-ES" dirty="0" err="1"/>
                    <a:t>t</a:t>
                  </a:r>
                  <a:r>
                    <a:rPr lang="es-ES" sz="2400" baseline="-25000" dirty="0" err="1"/>
                    <a:t>RP</a:t>
                  </a:r>
                  <a:endParaRPr lang="es-ES_tradnl" sz="2400" baseline="-25000" dirty="0"/>
                </a:p>
              </p:txBody>
            </p:sp>
          </p:grpSp>
        </p:grpSp>
        <p:sp>
          <p:nvSpPr>
            <p:cNvPr id="131" name="Rectangle 10">
              <a:extLst>
                <a:ext uri="{FF2B5EF4-FFF2-40B4-BE49-F238E27FC236}">
                  <a16:creationId xmlns:a16="http://schemas.microsoft.com/office/drawing/2014/main" id="{DB89A4C3-3C5E-47B9-948B-C79C71EEE100}"/>
                </a:ext>
              </a:extLst>
            </p:cNvPr>
            <p:cNvSpPr>
              <a:spLocks noChangeArrowheads="1"/>
            </p:cNvSpPr>
            <p:nvPr/>
          </p:nvSpPr>
          <p:spPr bwMode="auto">
            <a:xfrm>
              <a:off x="5255790" y="3366102"/>
              <a:ext cx="511175" cy="304800"/>
            </a:xfrm>
            <a:prstGeom prst="rect">
              <a:avLst/>
            </a:prstGeom>
            <a:noFill/>
            <a:ln w="19050">
              <a:noFill/>
              <a:miter lim="800000"/>
              <a:headEnd/>
              <a:tailEnd/>
            </a:ln>
          </p:spPr>
          <p:txBody>
            <a:bodyPr wrap="square" lIns="0" tIns="0" rIns="0" bIns="0" anchor="ctr">
              <a:spAutoFit/>
            </a:bodyPr>
            <a:lstStyle/>
            <a:p>
              <a:r>
                <a:rPr lang="es-ES" dirty="0" err="1"/>
                <a:t>t</a:t>
              </a:r>
              <a:r>
                <a:rPr lang="es-ES" baseline="-25000" dirty="0" err="1"/>
                <a:t>RCD</a:t>
              </a:r>
              <a:endParaRPr lang="es-ES_tradnl" baseline="-25000" dirty="0"/>
            </a:p>
          </p:txBody>
        </p:sp>
        <p:sp>
          <p:nvSpPr>
            <p:cNvPr id="132" name="Line 11">
              <a:extLst>
                <a:ext uri="{FF2B5EF4-FFF2-40B4-BE49-F238E27FC236}">
                  <a16:creationId xmlns:a16="http://schemas.microsoft.com/office/drawing/2014/main" id="{80094CB0-3DD0-4CC9-90E7-9694E94DB880}"/>
                </a:ext>
              </a:extLst>
            </p:cNvPr>
            <p:cNvSpPr>
              <a:spLocks noChangeShapeType="1"/>
            </p:cNvSpPr>
            <p:nvPr/>
          </p:nvSpPr>
          <p:spPr bwMode="auto">
            <a:xfrm>
              <a:off x="5126939" y="3293005"/>
              <a:ext cx="789945" cy="17592"/>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cxnSp>
        <p:nvCxnSpPr>
          <p:cNvPr id="133" name="Conector recto 132">
            <a:extLst>
              <a:ext uri="{FF2B5EF4-FFF2-40B4-BE49-F238E27FC236}">
                <a16:creationId xmlns:a16="http://schemas.microsoft.com/office/drawing/2014/main" id="{98B65355-D8F3-48A6-90C1-5EF9460AAD76}"/>
              </a:ext>
            </a:extLst>
          </p:cNvPr>
          <p:cNvCxnSpPr>
            <a:cxnSpLocks/>
          </p:cNvCxnSpPr>
          <p:nvPr/>
        </p:nvCxnSpPr>
        <p:spPr bwMode="auto">
          <a:xfrm>
            <a:off x="7483456" y="236644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4" name="Conector recto 133">
            <a:extLst>
              <a:ext uri="{FF2B5EF4-FFF2-40B4-BE49-F238E27FC236}">
                <a16:creationId xmlns:a16="http://schemas.microsoft.com/office/drawing/2014/main" id="{A514F77F-20F1-4626-8F4B-86796AA8EA59}"/>
              </a:ext>
            </a:extLst>
          </p:cNvPr>
          <p:cNvCxnSpPr>
            <a:cxnSpLocks/>
          </p:cNvCxnSpPr>
          <p:nvPr/>
        </p:nvCxnSpPr>
        <p:spPr bwMode="auto">
          <a:xfrm>
            <a:off x="7867880" y="233506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5" name="Conector recto 134">
            <a:extLst>
              <a:ext uri="{FF2B5EF4-FFF2-40B4-BE49-F238E27FC236}">
                <a16:creationId xmlns:a16="http://schemas.microsoft.com/office/drawing/2014/main" id="{40F2B329-A7AB-4EAA-9CDB-D9467B4B5A10}"/>
              </a:ext>
            </a:extLst>
          </p:cNvPr>
          <p:cNvCxnSpPr>
            <a:cxnSpLocks/>
          </p:cNvCxnSpPr>
          <p:nvPr/>
        </p:nvCxnSpPr>
        <p:spPr bwMode="auto">
          <a:xfrm>
            <a:off x="8305322" y="233535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101" name="Rectangle 3">
            <a:extLst>
              <a:ext uri="{FF2B5EF4-FFF2-40B4-BE49-F238E27FC236}">
                <a16:creationId xmlns:a16="http://schemas.microsoft.com/office/drawing/2014/main" id="{F72B57FB-1F18-4E9A-A887-A174AB6FE34D}"/>
              </a:ext>
            </a:extLst>
          </p:cNvPr>
          <p:cNvSpPr txBox="1">
            <a:spLocks noChangeArrowheads="1"/>
          </p:cNvSpPr>
          <p:nvPr/>
        </p:nvSpPr>
        <p:spPr>
          <a:xfrm>
            <a:off x="72930" y="783933"/>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Tree>
    <p:extLst>
      <p:ext uri="{BB962C8B-B14F-4D97-AF65-F5344CB8AC3E}">
        <p14:creationId xmlns:p14="http://schemas.microsoft.com/office/powerpoint/2010/main" val="3774187558"/>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80</a:t>
            </a:fld>
            <a:endParaRPr lang="en-US" dirty="0"/>
          </a:p>
        </p:txBody>
      </p:sp>
      <p:sp>
        <p:nvSpPr>
          <p:cNvPr id="12" name="Freeform 77"/>
          <p:cNvSpPr>
            <a:spLocks/>
          </p:cNvSpPr>
          <p:nvPr/>
        </p:nvSpPr>
        <p:spPr bwMode="blackWhite">
          <a:xfrm>
            <a:off x="4331244" y="4218421"/>
            <a:ext cx="354264" cy="21303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4331244" y="4218421"/>
            <a:ext cx="354264" cy="11416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sp>
        <p:nvSpPr>
          <p:cNvPr id="10" name="Freeform 80"/>
          <p:cNvSpPr>
            <a:spLocks/>
          </p:cNvSpPr>
          <p:nvPr/>
        </p:nvSpPr>
        <p:spPr bwMode="blackWhite">
          <a:xfrm>
            <a:off x="4741272" y="4225095"/>
            <a:ext cx="354264" cy="21303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4741272" y="4225095"/>
            <a:ext cx="354264" cy="11416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sp>
        <p:nvSpPr>
          <p:cNvPr id="63" name="Text Box 125"/>
          <p:cNvSpPr txBox="1">
            <a:spLocks noChangeArrowheads="1"/>
          </p:cNvSpPr>
          <p:nvPr/>
        </p:nvSpPr>
        <p:spPr bwMode="auto">
          <a:xfrm>
            <a:off x="1068128" y="2158764"/>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175210" y="1203973"/>
            <a:ext cx="8227640" cy="1872208"/>
          </a:xfrm>
          <a:prstGeom prst="rect">
            <a:avLst/>
          </a:prstGeom>
        </p:spPr>
        <p:txBody>
          <a:bodyPr/>
          <a:lstStyle/>
          <a:p>
            <a:pPr marL="819150" lvl="1" indent="-236538" algn="l">
              <a:lnSpc>
                <a:spcPts val="3000"/>
              </a:lnSpc>
              <a:spcBef>
                <a:spcPts val="550"/>
              </a:spcBef>
              <a:buClr>
                <a:srgbClr val="C58D01"/>
              </a:buClr>
              <a:buSzPct val="85000"/>
              <a:buFont typeface="Wingdings" pitchFamily="2" charset="2"/>
              <a:buChar char="ü"/>
              <a:defRPr/>
            </a:pPr>
            <a:r>
              <a:rPr lang="es-ES" altLang="ja-JP" dirty="0">
                <a:latin typeface="+mn-lt"/>
                <a:ea typeface="+mn-ea"/>
              </a:rPr>
              <a:t>¿Qué pasaría si ese tiempo es mayor del óptimo?</a:t>
            </a:r>
            <a:endParaRPr lang="es-ES" dirty="0">
              <a:latin typeface="+mn-lt"/>
              <a:ea typeface="+mn-ea"/>
            </a:endParaRPr>
          </a:p>
        </p:txBody>
      </p:sp>
      <p:cxnSp>
        <p:nvCxnSpPr>
          <p:cNvPr id="20" name="Conector recto 19">
            <a:extLst>
              <a:ext uri="{FF2B5EF4-FFF2-40B4-BE49-F238E27FC236}">
                <a16:creationId xmlns:a16="http://schemas.microsoft.com/office/drawing/2014/main" id="{546C9ED2-DA6B-46BD-B9E3-9BCD3AA47A26}"/>
              </a:ext>
            </a:extLst>
          </p:cNvPr>
          <p:cNvCxnSpPr>
            <a:cxnSpLocks/>
          </p:cNvCxnSpPr>
          <p:nvPr/>
        </p:nvCxnSpPr>
        <p:spPr bwMode="auto">
          <a:xfrm>
            <a:off x="1668898" y="2439202"/>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2480370"/>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2448211"/>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2427995"/>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2440521"/>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2408362"/>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2427995"/>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666313" y="2440991"/>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078079" y="2398579"/>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496146" y="2398587"/>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870119"/>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4225095"/>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3677004"/>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sp>
        <p:nvSpPr>
          <p:cNvPr id="57" name="Freeform 24"/>
          <p:cNvSpPr>
            <a:spLocks/>
          </p:cNvSpPr>
          <p:nvPr/>
        </p:nvSpPr>
        <p:spPr bwMode="blackWhite">
          <a:xfrm>
            <a:off x="1703610" y="2916430"/>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1737435" y="3742463"/>
            <a:ext cx="354264" cy="21303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1737435" y="3742463"/>
            <a:ext cx="354264" cy="154184"/>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sp>
        <p:nvSpPr>
          <p:cNvPr id="59" name="Freeform 24"/>
          <p:cNvSpPr>
            <a:spLocks/>
          </p:cNvSpPr>
          <p:nvPr/>
        </p:nvSpPr>
        <p:spPr bwMode="blackWhite">
          <a:xfrm>
            <a:off x="2576740" y="2891441"/>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740128" y="3271602"/>
            <a:ext cx="511175" cy="304800"/>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RCD</a:t>
            </a:r>
            <a:endParaRPr lang="es-ES_tradnl" sz="2400" b="1" baseline="-25000" dirty="0"/>
          </a:p>
        </p:txBody>
      </p:sp>
      <p:sp>
        <p:nvSpPr>
          <p:cNvPr id="39" name="Line 11"/>
          <p:cNvSpPr>
            <a:spLocks noChangeShapeType="1"/>
          </p:cNvSpPr>
          <p:nvPr/>
        </p:nvSpPr>
        <p:spPr bwMode="auto">
          <a:xfrm>
            <a:off x="1672192" y="3264471"/>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598285" y="3790130"/>
            <a:ext cx="354264" cy="21303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598285" y="3790130"/>
            <a:ext cx="354264" cy="154184"/>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sp>
        <p:nvSpPr>
          <p:cNvPr id="16" name="Freeform 71"/>
          <p:cNvSpPr>
            <a:spLocks/>
          </p:cNvSpPr>
          <p:nvPr/>
        </p:nvSpPr>
        <p:spPr bwMode="blackWhite">
          <a:xfrm>
            <a:off x="3515079" y="4236378"/>
            <a:ext cx="354264" cy="21303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3515079" y="4236378"/>
            <a:ext cx="354264" cy="11416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sp>
        <p:nvSpPr>
          <p:cNvPr id="45" name="Line 11"/>
          <p:cNvSpPr>
            <a:spLocks noChangeShapeType="1"/>
          </p:cNvSpPr>
          <p:nvPr/>
        </p:nvSpPr>
        <p:spPr bwMode="auto">
          <a:xfrm>
            <a:off x="2599618" y="3270524"/>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4" name="Freeform 74"/>
          <p:cNvSpPr>
            <a:spLocks/>
          </p:cNvSpPr>
          <p:nvPr/>
        </p:nvSpPr>
        <p:spPr bwMode="blackWhite">
          <a:xfrm>
            <a:off x="3916804" y="4225095"/>
            <a:ext cx="354264" cy="21303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916804" y="4225095"/>
            <a:ext cx="354264" cy="11416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sp>
        <p:nvSpPr>
          <p:cNvPr id="65" name="Line 11">
            <a:extLst>
              <a:ext uri="{FF2B5EF4-FFF2-40B4-BE49-F238E27FC236}">
                <a16:creationId xmlns:a16="http://schemas.microsoft.com/office/drawing/2014/main" id="{7F4E9607-335C-42DD-A910-A23C7905AA47}"/>
              </a:ext>
            </a:extLst>
          </p:cNvPr>
          <p:cNvSpPr>
            <a:spLocks noChangeShapeType="1"/>
          </p:cNvSpPr>
          <p:nvPr/>
        </p:nvSpPr>
        <p:spPr bwMode="auto">
          <a:xfrm>
            <a:off x="3513049" y="4615593"/>
            <a:ext cx="1623201"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67" name="CuadroTexto 66">
            <a:extLst>
              <a:ext uri="{FF2B5EF4-FFF2-40B4-BE49-F238E27FC236}">
                <a16:creationId xmlns:a16="http://schemas.microsoft.com/office/drawing/2014/main" id="{A74D0805-E1E2-49BA-884E-33FFDDFAF727}"/>
              </a:ext>
            </a:extLst>
          </p:cNvPr>
          <p:cNvSpPr txBox="1"/>
          <p:nvPr/>
        </p:nvSpPr>
        <p:spPr>
          <a:xfrm>
            <a:off x="3583369" y="4696502"/>
            <a:ext cx="1512167" cy="566309"/>
          </a:xfrm>
          <a:prstGeom prst="rect">
            <a:avLst/>
          </a:prstGeom>
          <a:noFill/>
        </p:spPr>
        <p:txBody>
          <a:bodyPr wrap="square" rtlCol="0">
            <a:spAutoFit/>
          </a:bodyPr>
          <a:lstStyle/>
          <a:p>
            <a:r>
              <a:rPr lang="es-ES" sz="1400" dirty="0">
                <a:solidFill>
                  <a:schemeClr val="accent1">
                    <a:lumMod val="75000"/>
                  </a:schemeClr>
                </a:solidFill>
              </a:rPr>
              <a:t>Bloque (1)</a:t>
            </a:r>
          </a:p>
          <a:p>
            <a:pPr algn="l"/>
            <a:r>
              <a:rPr lang="es-ES" sz="1400" dirty="0">
                <a:solidFill>
                  <a:schemeClr val="accent1">
                    <a:lumMod val="75000"/>
                  </a:schemeClr>
                </a:solidFill>
              </a:rPr>
              <a:t>P0 en </a:t>
            </a:r>
            <a:r>
              <a:rPr lang="es-ES" sz="1400" dirty="0" err="1">
                <a:solidFill>
                  <a:schemeClr val="accent1">
                    <a:lumMod val="75000"/>
                  </a:schemeClr>
                </a:solidFill>
              </a:rPr>
              <a:t>dir</a:t>
            </a:r>
            <a:r>
              <a:rPr lang="es-ES" sz="1400" dirty="0">
                <a:solidFill>
                  <a:schemeClr val="accent1">
                    <a:lumMod val="75000"/>
                  </a:schemeClr>
                </a:solidFill>
              </a:rPr>
              <a:t> </a:t>
            </a:r>
            <a:r>
              <a:rPr lang="es-ES" sz="1400" dirty="0" err="1">
                <a:solidFill>
                  <a:schemeClr val="accent1">
                    <a:lumMod val="75000"/>
                  </a:schemeClr>
                </a:solidFill>
              </a:rPr>
              <a:t>fila+col</a:t>
            </a:r>
            <a:endParaRPr lang="es-ES" sz="1400" dirty="0">
              <a:solidFill>
                <a:schemeClr val="accent1">
                  <a:lumMod val="75000"/>
                </a:schemeClr>
              </a:solidFill>
            </a:endParaRPr>
          </a:p>
        </p:txBody>
      </p:sp>
      <p:cxnSp>
        <p:nvCxnSpPr>
          <p:cNvPr id="68" name="Conector recto 67">
            <a:extLst>
              <a:ext uri="{FF2B5EF4-FFF2-40B4-BE49-F238E27FC236}">
                <a16:creationId xmlns:a16="http://schemas.microsoft.com/office/drawing/2014/main" id="{EA58A652-AB3A-4C8E-AD9F-98FEFB54FB87}"/>
              </a:ext>
            </a:extLst>
          </p:cNvPr>
          <p:cNvCxnSpPr>
            <a:cxnSpLocks/>
          </p:cNvCxnSpPr>
          <p:nvPr/>
        </p:nvCxnSpPr>
        <p:spPr bwMode="auto">
          <a:xfrm>
            <a:off x="5908464"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69" name="Conector recto 68">
            <a:extLst>
              <a:ext uri="{FF2B5EF4-FFF2-40B4-BE49-F238E27FC236}">
                <a16:creationId xmlns:a16="http://schemas.microsoft.com/office/drawing/2014/main" id="{FE11FF5A-67F9-4CF6-831D-E009C9E25E1D}"/>
              </a:ext>
            </a:extLst>
          </p:cNvPr>
          <p:cNvCxnSpPr>
            <a:cxnSpLocks/>
          </p:cNvCxnSpPr>
          <p:nvPr/>
        </p:nvCxnSpPr>
        <p:spPr bwMode="auto">
          <a:xfrm>
            <a:off x="6320782"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0" name="Conector recto 69">
            <a:extLst>
              <a:ext uri="{FF2B5EF4-FFF2-40B4-BE49-F238E27FC236}">
                <a16:creationId xmlns:a16="http://schemas.microsoft.com/office/drawing/2014/main" id="{6226F54E-4DD9-4E36-929A-F7216F8C9089}"/>
              </a:ext>
            </a:extLst>
          </p:cNvPr>
          <p:cNvCxnSpPr>
            <a:cxnSpLocks/>
          </p:cNvCxnSpPr>
          <p:nvPr/>
        </p:nvCxnSpPr>
        <p:spPr bwMode="auto">
          <a:xfrm>
            <a:off x="6704014" y="2366443"/>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2" name="Conector recto 71">
            <a:extLst>
              <a:ext uri="{FF2B5EF4-FFF2-40B4-BE49-F238E27FC236}">
                <a16:creationId xmlns:a16="http://schemas.microsoft.com/office/drawing/2014/main" id="{A3C23E9C-FC35-42E6-8FE2-385888E9C7A8}"/>
              </a:ext>
            </a:extLst>
          </p:cNvPr>
          <p:cNvCxnSpPr>
            <a:cxnSpLocks/>
          </p:cNvCxnSpPr>
          <p:nvPr/>
        </p:nvCxnSpPr>
        <p:spPr bwMode="auto">
          <a:xfrm>
            <a:off x="7087246" y="2350466"/>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8" name="Grupo 7">
            <a:extLst>
              <a:ext uri="{FF2B5EF4-FFF2-40B4-BE49-F238E27FC236}">
                <a16:creationId xmlns:a16="http://schemas.microsoft.com/office/drawing/2014/main" id="{ED8D216F-8D74-4DF0-AEBD-EECEA1276D60}"/>
              </a:ext>
            </a:extLst>
          </p:cNvPr>
          <p:cNvGrpSpPr/>
          <p:nvPr/>
        </p:nvGrpSpPr>
        <p:grpSpPr>
          <a:xfrm>
            <a:off x="5131828" y="2944410"/>
            <a:ext cx="360039" cy="841625"/>
            <a:chOff x="4294296" y="2915999"/>
            <a:chExt cx="360039" cy="841625"/>
          </a:xfrm>
        </p:grpSpPr>
        <p:sp>
          <p:nvSpPr>
            <p:cNvPr id="47" name="Rectangle 10"/>
            <p:cNvSpPr>
              <a:spLocks noChangeArrowheads="1"/>
            </p:cNvSpPr>
            <p:nvPr/>
          </p:nvSpPr>
          <p:spPr bwMode="auto">
            <a:xfrm>
              <a:off x="4325719" y="3449847"/>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83" name="Freeform 24">
              <a:extLst>
                <a:ext uri="{FF2B5EF4-FFF2-40B4-BE49-F238E27FC236}">
                  <a16:creationId xmlns:a16="http://schemas.microsoft.com/office/drawing/2014/main" id="{3DE25550-22D3-412F-A96F-C19073879101}"/>
                </a:ext>
              </a:extLst>
            </p:cNvPr>
            <p:cNvSpPr>
              <a:spLocks/>
            </p:cNvSpPr>
            <p:nvPr/>
          </p:nvSpPr>
          <p:spPr bwMode="blackWhite">
            <a:xfrm>
              <a:off x="4294296" y="2915999"/>
              <a:ext cx="354264" cy="2130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grpSp>
      <p:sp>
        <p:nvSpPr>
          <p:cNvPr id="94" name="Line 11">
            <a:extLst>
              <a:ext uri="{FF2B5EF4-FFF2-40B4-BE49-F238E27FC236}">
                <a16:creationId xmlns:a16="http://schemas.microsoft.com/office/drawing/2014/main" id="{FBBF4429-8A49-408B-82E7-8FA137A696BC}"/>
              </a:ext>
            </a:extLst>
          </p:cNvPr>
          <p:cNvSpPr>
            <a:spLocks noChangeShapeType="1"/>
          </p:cNvSpPr>
          <p:nvPr/>
        </p:nvSpPr>
        <p:spPr bwMode="auto">
          <a:xfrm flipV="1">
            <a:off x="5114561" y="3331187"/>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99" name="Rectangle 10">
            <a:extLst>
              <a:ext uri="{FF2B5EF4-FFF2-40B4-BE49-F238E27FC236}">
                <a16:creationId xmlns:a16="http://schemas.microsoft.com/office/drawing/2014/main" id="{27A37F49-4517-4F00-AB40-EA77733795F5}"/>
              </a:ext>
            </a:extLst>
          </p:cNvPr>
          <p:cNvSpPr>
            <a:spLocks noChangeArrowheads="1"/>
          </p:cNvSpPr>
          <p:nvPr/>
        </p:nvSpPr>
        <p:spPr bwMode="auto">
          <a:xfrm>
            <a:off x="2618260" y="3359725"/>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107" name="Line 11">
            <a:extLst>
              <a:ext uri="{FF2B5EF4-FFF2-40B4-BE49-F238E27FC236}">
                <a16:creationId xmlns:a16="http://schemas.microsoft.com/office/drawing/2014/main" id="{6F5A486C-634A-4EC8-9386-2AA4B939C2C5}"/>
              </a:ext>
            </a:extLst>
          </p:cNvPr>
          <p:cNvSpPr>
            <a:spLocks noChangeShapeType="1"/>
          </p:cNvSpPr>
          <p:nvPr/>
        </p:nvSpPr>
        <p:spPr bwMode="auto">
          <a:xfrm flipV="1">
            <a:off x="5117098" y="3836265"/>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18" name="Grupo 17">
            <a:extLst>
              <a:ext uri="{FF2B5EF4-FFF2-40B4-BE49-F238E27FC236}">
                <a16:creationId xmlns:a16="http://schemas.microsoft.com/office/drawing/2014/main" id="{4793FFBC-B557-47BB-93DE-4AB3C9386FC9}"/>
              </a:ext>
            </a:extLst>
          </p:cNvPr>
          <p:cNvGrpSpPr/>
          <p:nvPr/>
        </p:nvGrpSpPr>
        <p:grpSpPr>
          <a:xfrm>
            <a:off x="5590627" y="2938401"/>
            <a:ext cx="757396" cy="1225347"/>
            <a:chOff x="4777996" y="2938526"/>
            <a:chExt cx="757396" cy="1225347"/>
          </a:xfrm>
        </p:grpSpPr>
        <p:sp>
          <p:nvSpPr>
            <p:cNvPr id="100" name="Freeform 24">
              <a:extLst>
                <a:ext uri="{FF2B5EF4-FFF2-40B4-BE49-F238E27FC236}">
                  <a16:creationId xmlns:a16="http://schemas.microsoft.com/office/drawing/2014/main" id="{25F3E227-07DD-4EA0-B8DA-5D71665A5453}"/>
                </a:ext>
              </a:extLst>
            </p:cNvPr>
            <p:cNvSpPr>
              <a:spLocks/>
            </p:cNvSpPr>
            <p:nvPr/>
          </p:nvSpPr>
          <p:spPr bwMode="blackWhite">
            <a:xfrm>
              <a:off x="5134991" y="2938526"/>
              <a:ext cx="373113" cy="20244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102" name="Group 82">
              <a:extLst>
                <a:ext uri="{FF2B5EF4-FFF2-40B4-BE49-F238E27FC236}">
                  <a16:creationId xmlns:a16="http://schemas.microsoft.com/office/drawing/2014/main" id="{712AF981-A185-455E-A42A-9E77F785F8D0}"/>
                </a:ext>
              </a:extLst>
            </p:cNvPr>
            <p:cNvGrpSpPr>
              <a:grpSpLocks/>
            </p:cNvGrpSpPr>
            <p:nvPr/>
          </p:nvGrpSpPr>
          <p:grpSpPr bwMode="auto">
            <a:xfrm>
              <a:off x="5171902" y="3710096"/>
              <a:ext cx="363490" cy="213033"/>
              <a:chOff x="2664" y="2367"/>
              <a:chExt cx="394" cy="181"/>
            </a:xfrm>
          </p:grpSpPr>
          <p:sp>
            <p:nvSpPr>
              <p:cNvPr id="103" name="Freeform 71">
                <a:extLst>
                  <a:ext uri="{FF2B5EF4-FFF2-40B4-BE49-F238E27FC236}">
                    <a16:creationId xmlns:a16="http://schemas.microsoft.com/office/drawing/2014/main" id="{7A312F8D-D932-4DB6-9F1D-C05229CA1646}"/>
                  </a:ext>
                </a:extLst>
              </p:cNvPr>
              <p:cNvSpPr>
                <a:spLocks/>
              </p:cNvSpPr>
              <p:nvPr/>
            </p:nvSpPr>
            <p:spPr bwMode="blackWhite">
              <a:xfrm>
                <a:off x="2664" y="2367"/>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06" name="Text Box 72">
                <a:extLst>
                  <a:ext uri="{FF2B5EF4-FFF2-40B4-BE49-F238E27FC236}">
                    <a16:creationId xmlns:a16="http://schemas.microsoft.com/office/drawing/2014/main" id="{47DB2DD4-FF98-4950-96A9-C862EBDE8626}"/>
                  </a:ext>
                </a:extLst>
              </p:cNvPr>
              <p:cNvSpPr txBox="1">
                <a:spLocks noChangeArrowheads="1"/>
              </p:cNvSpPr>
              <p:nvPr/>
            </p:nvSpPr>
            <p:spPr bwMode="blackWhite">
              <a:xfrm>
                <a:off x="2674" y="2382"/>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Fila2</a:t>
                </a:r>
              </a:p>
            </p:txBody>
          </p:sp>
        </p:grpSp>
        <p:sp>
          <p:nvSpPr>
            <p:cNvPr id="108" name="Rectangle 10">
              <a:extLst>
                <a:ext uri="{FF2B5EF4-FFF2-40B4-BE49-F238E27FC236}">
                  <a16:creationId xmlns:a16="http://schemas.microsoft.com/office/drawing/2014/main" id="{EBE5EAA8-E9AB-477D-B4FD-7DD58A931D92}"/>
                </a:ext>
              </a:extLst>
            </p:cNvPr>
            <p:cNvSpPr>
              <a:spLocks noChangeArrowheads="1"/>
            </p:cNvSpPr>
            <p:nvPr/>
          </p:nvSpPr>
          <p:spPr bwMode="auto">
            <a:xfrm>
              <a:off x="4777996" y="3856096"/>
              <a:ext cx="354264"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RP</a:t>
              </a:r>
              <a:endParaRPr lang="es-ES_tradnl" sz="2400" b="1" baseline="-25000" dirty="0"/>
            </a:p>
          </p:txBody>
        </p:sp>
      </p:grpSp>
      <p:sp>
        <p:nvSpPr>
          <p:cNvPr id="97" name="Line 11">
            <a:extLst>
              <a:ext uri="{FF2B5EF4-FFF2-40B4-BE49-F238E27FC236}">
                <a16:creationId xmlns:a16="http://schemas.microsoft.com/office/drawing/2014/main" id="{F1700A17-E2EC-4975-895E-E49B99381653}"/>
              </a:ext>
            </a:extLst>
          </p:cNvPr>
          <p:cNvSpPr>
            <a:spLocks noChangeShapeType="1"/>
          </p:cNvSpPr>
          <p:nvPr/>
        </p:nvSpPr>
        <p:spPr bwMode="auto">
          <a:xfrm>
            <a:off x="1703610" y="2699905"/>
            <a:ext cx="3395334" cy="19736"/>
          </a:xfrm>
          <a:prstGeom prst="line">
            <a:avLst/>
          </a:prstGeom>
          <a:noFill/>
          <a:ln w="57150">
            <a:solidFill>
              <a:schemeClr val="accent3"/>
            </a:solidFill>
            <a:round/>
            <a:headEnd type="triangle" w="med" len="med"/>
            <a:tailEnd type="triangle" w="med" len="med"/>
          </a:ln>
        </p:spPr>
        <p:txBody>
          <a:bodyPr wrap="none" lIns="0" tIns="0" rIns="0" bIns="0" anchor="ctr"/>
          <a:lstStyle/>
          <a:p>
            <a:endParaRPr lang="es-ES">
              <a:solidFill>
                <a:schemeClr val="bg1"/>
              </a:solidFill>
            </a:endParaRPr>
          </a:p>
        </p:txBody>
      </p:sp>
      <p:sp>
        <p:nvSpPr>
          <p:cNvPr id="109" name="Rectangle 10">
            <a:extLst>
              <a:ext uri="{FF2B5EF4-FFF2-40B4-BE49-F238E27FC236}">
                <a16:creationId xmlns:a16="http://schemas.microsoft.com/office/drawing/2014/main" id="{3126AD2E-0405-436C-A474-EB58D9BAEB00}"/>
              </a:ext>
            </a:extLst>
          </p:cNvPr>
          <p:cNvSpPr>
            <a:spLocks noChangeArrowheads="1"/>
          </p:cNvSpPr>
          <p:nvPr/>
        </p:nvSpPr>
        <p:spPr bwMode="auto">
          <a:xfrm>
            <a:off x="3399380" y="2203837"/>
            <a:ext cx="501739" cy="307777"/>
          </a:xfrm>
          <a:prstGeom prst="rect">
            <a:avLst/>
          </a:prstGeom>
          <a:noFill/>
          <a:ln w="19050">
            <a:noFill/>
            <a:miter lim="800000"/>
            <a:headEnd/>
            <a:tailEnd/>
          </a:ln>
        </p:spPr>
        <p:txBody>
          <a:bodyPr wrap="square" lIns="0" tIns="0" rIns="0" bIns="0" anchor="ctr">
            <a:spAutoFit/>
          </a:bodyPr>
          <a:lstStyle/>
          <a:p>
            <a:r>
              <a:rPr lang="es-ES" dirty="0" err="1"/>
              <a:t>t</a:t>
            </a:r>
            <a:r>
              <a:rPr lang="es-ES" sz="2400" b="1" baseline="-25000" dirty="0" err="1"/>
              <a:t>RAS</a:t>
            </a:r>
            <a:endParaRPr lang="es-ES_tradnl" sz="2400" b="1" baseline="-25000" dirty="0"/>
          </a:p>
        </p:txBody>
      </p:sp>
      <p:sp>
        <p:nvSpPr>
          <p:cNvPr id="125" name="Freeform 24">
            <a:extLst>
              <a:ext uri="{FF2B5EF4-FFF2-40B4-BE49-F238E27FC236}">
                <a16:creationId xmlns:a16="http://schemas.microsoft.com/office/drawing/2014/main" id="{DCD500B6-7631-478D-B5D6-3F65E7F751B1}"/>
              </a:ext>
            </a:extLst>
          </p:cNvPr>
          <p:cNvSpPr>
            <a:spLocks/>
          </p:cNvSpPr>
          <p:nvPr/>
        </p:nvSpPr>
        <p:spPr bwMode="blackWhite">
          <a:xfrm>
            <a:off x="6741869" y="2961236"/>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grpSp>
        <p:nvGrpSpPr>
          <p:cNvPr id="111" name="Group 82">
            <a:extLst>
              <a:ext uri="{FF2B5EF4-FFF2-40B4-BE49-F238E27FC236}">
                <a16:creationId xmlns:a16="http://schemas.microsoft.com/office/drawing/2014/main" id="{A3B1E82F-4E54-4896-9034-C6820DF6D2BD}"/>
              </a:ext>
            </a:extLst>
          </p:cNvPr>
          <p:cNvGrpSpPr>
            <a:grpSpLocks/>
          </p:cNvGrpSpPr>
          <p:nvPr/>
        </p:nvGrpSpPr>
        <p:grpSpPr bwMode="auto">
          <a:xfrm>
            <a:off x="7503358" y="4223633"/>
            <a:ext cx="357954" cy="213033"/>
            <a:chOff x="2631" y="2292"/>
            <a:chExt cx="388" cy="181"/>
          </a:xfrm>
        </p:grpSpPr>
        <p:sp>
          <p:nvSpPr>
            <p:cNvPr id="123" name="Freeform 71">
              <a:extLst>
                <a:ext uri="{FF2B5EF4-FFF2-40B4-BE49-F238E27FC236}">
                  <a16:creationId xmlns:a16="http://schemas.microsoft.com/office/drawing/2014/main" id="{69DD4324-AE22-409E-BE1C-4EAE58617736}"/>
                </a:ext>
              </a:extLst>
            </p:cNvPr>
            <p:cNvSpPr>
              <a:spLocks/>
            </p:cNvSpPr>
            <p:nvPr/>
          </p:nvSpPr>
          <p:spPr bwMode="blackWhite">
            <a:xfrm>
              <a:off x="2635" y="2292"/>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4" name="Text Box 72">
              <a:extLst>
                <a:ext uri="{FF2B5EF4-FFF2-40B4-BE49-F238E27FC236}">
                  <a16:creationId xmlns:a16="http://schemas.microsoft.com/office/drawing/2014/main" id="{3D6BAF3F-0527-4EAF-977F-445CCC2F1CB4}"/>
                </a:ext>
              </a:extLst>
            </p:cNvPr>
            <p:cNvSpPr txBox="1">
              <a:spLocks noChangeArrowheads="1"/>
            </p:cNvSpPr>
            <p:nvPr/>
          </p:nvSpPr>
          <p:spPr bwMode="blackWhite">
            <a:xfrm>
              <a:off x="2631" y="2309"/>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P4</a:t>
              </a:r>
            </a:p>
          </p:txBody>
        </p:sp>
      </p:grpSp>
      <p:grpSp>
        <p:nvGrpSpPr>
          <p:cNvPr id="112" name="Group 82">
            <a:extLst>
              <a:ext uri="{FF2B5EF4-FFF2-40B4-BE49-F238E27FC236}">
                <a16:creationId xmlns:a16="http://schemas.microsoft.com/office/drawing/2014/main" id="{29AAD4DB-23A7-47D7-AC96-72583C8A5805}"/>
              </a:ext>
            </a:extLst>
          </p:cNvPr>
          <p:cNvGrpSpPr>
            <a:grpSpLocks/>
          </p:cNvGrpSpPr>
          <p:nvPr/>
        </p:nvGrpSpPr>
        <p:grpSpPr bwMode="auto">
          <a:xfrm>
            <a:off x="7877565" y="4218762"/>
            <a:ext cx="392089" cy="213033"/>
            <a:chOff x="2574" y="2290"/>
            <a:chExt cx="425" cy="181"/>
          </a:xfrm>
        </p:grpSpPr>
        <p:sp>
          <p:nvSpPr>
            <p:cNvPr id="121" name="Freeform 71">
              <a:extLst>
                <a:ext uri="{FF2B5EF4-FFF2-40B4-BE49-F238E27FC236}">
                  <a16:creationId xmlns:a16="http://schemas.microsoft.com/office/drawing/2014/main" id="{9D971EAB-5BB6-480D-B44F-7C5211DF0B86}"/>
                </a:ext>
              </a:extLst>
            </p:cNvPr>
            <p:cNvSpPr>
              <a:spLocks/>
            </p:cNvSpPr>
            <p:nvPr/>
          </p:nvSpPr>
          <p:spPr bwMode="blackWhite">
            <a:xfrm>
              <a:off x="2615" y="2290"/>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2" name="Text Box 72">
              <a:extLst>
                <a:ext uri="{FF2B5EF4-FFF2-40B4-BE49-F238E27FC236}">
                  <a16:creationId xmlns:a16="http://schemas.microsoft.com/office/drawing/2014/main" id="{9D35DFDA-EA58-4A93-A97A-90A1C059CAB2}"/>
                </a:ext>
              </a:extLst>
            </p:cNvPr>
            <p:cNvSpPr txBox="1">
              <a:spLocks noChangeArrowheads="1"/>
            </p:cNvSpPr>
            <p:nvPr/>
          </p:nvSpPr>
          <p:spPr bwMode="blackWhite">
            <a:xfrm>
              <a:off x="2574" y="2312"/>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P5</a:t>
              </a:r>
            </a:p>
          </p:txBody>
        </p:sp>
      </p:grpSp>
      <p:grpSp>
        <p:nvGrpSpPr>
          <p:cNvPr id="113" name="Group 82">
            <a:extLst>
              <a:ext uri="{FF2B5EF4-FFF2-40B4-BE49-F238E27FC236}">
                <a16:creationId xmlns:a16="http://schemas.microsoft.com/office/drawing/2014/main" id="{25D9B1D1-566C-4E33-A35C-75603B57F6AD}"/>
              </a:ext>
            </a:extLst>
          </p:cNvPr>
          <p:cNvGrpSpPr>
            <a:grpSpLocks/>
          </p:cNvGrpSpPr>
          <p:nvPr/>
        </p:nvGrpSpPr>
        <p:grpSpPr bwMode="auto">
          <a:xfrm>
            <a:off x="8297861" y="4217475"/>
            <a:ext cx="363490" cy="213033"/>
            <a:chOff x="2594" y="2295"/>
            <a:chExt cx="394" cy="181"/>
          </a:xfrm>
        </p:grpSpPr>
        <p:sp>
          <p:nvSpPr>
            <p:cNvPr id="119" name="Freeform 71">
              <a:extLst>
                <a:ext uri="{FF2B5EF4-FFF2-40B4-BE49-F238E27FC236}">
                  <a16:creationId xmlns:a16="http://schemas.microsoft.com/office/drawing/2014/main" id="{ECE533B3-11B8-4950-86FD-D95C84FA6284}"/>
                </a:ext>
              </a:extLst>
            </p:cNvPr>
            <p:cNvSpPr>
              <a:spLocks/>
            </p:cNvSpPr>
            <p:nvPr/>
          </p:nvSpPr>
          <p:spPr bwMode="blackWhite">
            <a:xfrm>
              <a:off x="2604" y="2295"/>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0" name="Text Box 72">
              <a:extLst>
                <a:ext uri="{FF2B5EF4-FFF2-40B4-BE49-F238E27FC236}">
                  <a16:creationId xmlns:a16="http://schemas.microsoft.com/office/drawing/2014/main" id="{E86CA07C-6316-4239-BFBA-6CEB58A6C77F}"/>
                </a:ext>
              </a:extLst>
            </p:cNvPr>
            <p:cNvSpPr txBox="1">
              <a:spLocks noChangeArrowheads="1"/>
            </p:cNvSpPr>
            <p:nvPr/>
          </p:nvSpPr>
          <p:spPr bwMode="blackWhite">
            <a:xfrm>
              <a:off x="2594" y="2305"/>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P6</a:t>
              </a:r>
            </a:p>
          </p:txBody>
        </p:sp>
      </p:grpSp>
      <p:grpSp>
        <p:nvGrpSpPr>
          <p:cNvPr id="114" name="Group 82">
            <a:extLst>
              <a:ext uri="{FF2B5EF4-FFF2-40B4-BE49-F238E27FC236}">
                <a16:creationId xmlns:a16="http://schemas.microsoft.com/office/drawing/2014/main" id="{E8A0332C-E417-46F2-90A7-0C1EB4ADBD23}"/>
              </a:ext>
            </a:extLst>
          </p:cNvPr>
          <p:cNvGrpSpPr>
            <a:grpSpLocks/>
          </p:cNvGrpSpPr>
          <p:nvPr/>
        </p:nvGrpSpPr>
        <p:grpSpPr bwMode="auto">
          <a:xfrm>
            <a:off x="8622355" y="4223306"/>
            <a:ext cx="374560" cy="213033"/>
            <a:chOff x="2510" y="2304"/>
            <a:chExt cx="406" cy="181"/>
          </a:xfrm>
        </p:grpSpPr>
        <p:sp>
          <p:nvSpPr>
            <p:cNvPr id="117" name="Freeform 71">
              <a:extLst>
                <a:ext uri="{FF2B5EF4-FFF2-40B4-BE49-F238E27FC236}">
                  <a16:creationId xmlns:a16="http://schemas.microsoft.com/office/drawing/2014/main" id="{40AC42CB-E1AE-4CD8-BA2C-2D220AB05175}"/>
                </a:ext>
              </a:extLst>
            </p:cNvPr>
            <p:cNvSpPr>
              <a:spLocks/>
            </p:cNvSpPr>
            <p:nvPr/>
          </p:nvSpPr>
          <p:spPr bwMode="blackWhite">
            <a:xfrm>
              <a:off x="251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8" name="Text Box 72">
              <a:extLst>
                <a:ext uri="{FF2B5EF4-FFF2-40B4-BE49-F238E27FC236}">
                  <a16:creationId xmlns:a16="http://schemas.microsoft.com/office/drawing/2014/main" id="{3BB047CF-A3F1-4EA4-8607-B6AB80A5F257}"/>
                </a:ext>
              </a:extLst>
            </p:cNvPr>
            <p:cNvSpPr txBox="1">
              <a:spLocks noChangeArrowheads="1"/>
            </p:cNvSpPr>
            <p:nvPr/>
          </p:nvSpPr>
          <p:spPr bwMode="blackWhite">
            <a:xfrm>
              <a:off x="2532" y="2315"/>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P7</a:t>
              </a:r>
            </a:p>
          </p:txBody>
        </p:sp>
      </p:grpSp>
      <p:sp>
        <p:nvSpPr>
          <p:cNvPr id="115" name="Line 11">
            <a:extLst>
              <a:ext uri="{FF2B5EF4-FFF2-40B4-BE49-F238E27FC236}">
                <a16:creationId xmlns:a16="http://schemas.microsoft.com/office/drawing/2014/main" id="{8B5B7AA7-8A87-4018-BBFE-33F9B62D12F0}"/>
              </a:ext>
            </a:extLst>
          </p:cNvPr>
          <p:cNvSpPr>
            <a:spLocks noChangeShapeType="1"/>
          </p:cNvSpPr>
          <p:nvPr/>
        </p:nvSpPr>
        <p:spPr bwMode="auto">
          <a:xfrm flipV="1">
            <a:off x="7511663" y="4654906"/>
            <a:ext cx="159876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116" name="CuadroTexto 115">
            <a:extLst>
              <a:ext uri="{FF2B5EF4-FFF2-40B4-BE49-F238E27FC236}">
                <a16:creationId xmlns:a16="http://schemas.microsoft.com/office/drawing/2014/main" id="{6A0B6893-AC38-47C5-B80B-92B74B6B74A1}"/>
              </a:ext>
            </a:extLst>
          </p:cNvPr>
          <p:cNvSpPr txBox="1"/>
          <p:nvPr/>
        </p:nvSpPr>
        <p:spPr>
          <a:xfrm>
            <a:off x="7463550" y="4759588"/>
            <a:ext cx="2004994" cy="566309"/>
          </a:xfrm>
          <a:prstGeom prst="rect">
            <a:avLst/>
          </a:prstGeom>
          <a:noFill/>
        </p:spPr>
        <p:txBody>
          <a:bodyPr wrap="square" rtlCol="0">
            <a:spAutoFit/>
          </a:bodyPr>
          <a:lstStyle/>
          <a:p>
            <a:r>
              <a:rPr lang="es-ES" sz="1400" dirty="0">
                <a:solidFill>
                  <a:schemeClr val="accent1">
                    <a:lumMod val="75000"/>
                  </a:schemeClr>
                </a:solidFill>
              </a:rPr>
              <a:t>Bloque (2)</a:t>
            </a:r>
          </a:p>
          <a:p>
            <a:pPr algn="l"/>
            <a:r>
              <a:rPr lang="es-ES" sz="1400" dirty="0">
                <a:solidFill>
                  <a:schemeClr val="accent1">
                    <a:lumMod val="75000"/>
                  </a:schemeClr>
                </a:solidFill>
              </a:rPr>
              <a:t>P4 en </a:t>
            </a:r>
            <a:r>
              <a:rPr lang="es-ES" sz="1400" dirty="0" err="1">
                <a:solidFill>
                  <a:schemeClr val="accent1">
                    <a:lumMod val="75000"/>
                  </a:schemeClr>
                </a:solidFill>
              </a:rPr>
              <a:t>dir</a:t>
            </a:r>
            <a:r>
              <a:rPr lang="es-ES" sz="1400" dirty="0">
                <a:solidFill>
                  <a:schemeClr val="accent1">
                    <a:lumMod val="75000"/>
                  </a:schemeClr>
                </a:solidFill>
              </a:rPr>
              <a:t> fila2+col2</a:t>
            </a:r>
          </a:p>
        </p:txBody>
      </p:sp>
      <p:grpSp>
        <p:nvGrpSpPr>
          <p:cNvPr id="126" name="Group 82">
            <a:extLst>
              <a:ext uri="{FF2B5EF4-FFF2-40B4-BE49-F238E27FC236}">
                <a16:creationId xmlns:a16="http://schemas.microsoft.com/office/drawing/2014/main" id="{E073B431-128E-41A9-BA4E-AB94EA79B738}"/>
              </a:ext>
            </a:extLst>
          </p:cNvPr>
          <p:cNvGrpSpPr>
            <a:grpSpLocks/>
          </p:cNvGrpSpPr>
          <p:nvPr/>
        </p:nvGrpSpPr>
        <p:grpSpPr bwMode="auto">
          <a:xfrm>
            <a:off x="6756060" y="3740856"/>
            <a:ext cx="358876" cy="213033"/>
            <a:chOff x="2615" y="2344"/>
            <a:chExt cx="389" cy="181"/>
          </a:xfrm>
        </p:grpSpPr>
        <p:sp>
          <p:nvSpPr>
            <p:cNvPr id="127" name="Freeform 71">
              <a:extLst>
                <a:ext uri="{FF2B5EF4-FFF2-40B4-BE49-F238E27FC236}">
                  <a16:creationId xmlns:a16="http://schemas.microsoft.com/office/drawing/2014/main" id="{AEBEFEDA-7935-44A3-BEAF-5B7DA36BBFA2}"/>
                </a:ext>
              </a:extLst>
            </p:cNvPr>
            <p:cNvSpPr>
              <a:spLocks/>
            </p:cNvSpPr>
            <p:nvPr/>
          </p:nvSpPr>
          <p:spPr bwMode="blackWhite">
            <a:xfrm>
              <a:off x="2620" y="234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28" name="Text Box 72">
              <a:extLst>
                <a:ext uri="{FF2B5EF4-FFF2-40B4-BE49-F238E27FC236}">
                  <a16:creationId xmlns:a16="http://schemas.microsoft.com/office/drawing/2014/main" id="{E644E3F3-C2CA-4BE0-8CB6-65E3E91D7E81}"/>
                </a:ext>
              </a:extLst>
            </p:cNvPr>
            <p:cNvSpPr txBox="1">
              <a:spLocks noChangeArrowheads="1"/>
            </p:cNvSpPr>
            <p:nvPr/>
          </p:nvSpPr>
          <p:spPr bwMode="blackWhite">
            <a:xfrm>
              <a:off x="2615" y="2365"/>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Col2</a:t>
              </a:r>
            </a:p>
          </p:txBody>
        </p:sp>
      </p:grpSp>
      <p:sp>
        <p:nvSpPr>
          <p:cNvPr id="129" name="Line 11">
            <a:extLst>
              <a:ext uri="{FF2B5EF4-FFF2-40B4-BE49-F238E27FC236}">
                <a16:creationId xmlns:a16="http://schemas.microsoft.com/office/drawing/2014/main" id="{6FFD01D0-6A5B-40AA-9F87-F5EFB6200C26}"/>
              </a:ext>
            </a:extLst>
          </p:cNvPr>
          <p:cNvSpPr>
            <a:spLocks noChangeShapeType="1"/>
          </p:cNvSpPr>
          <p:nvPr/>
        </p:nvSpPr>
        <p:spPr bwMode="auto">
          <a:xfrm>
            <a:off x="6764747" y="3340318"/>
            <a:ext cx="730859" cy="14609"/>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30" name="Rectangle 10">
            <a:extLst>
              <a:ext uri="{FF2B5EF4-FFF2-40B4-BE49-F238E27FC236}">
                <a16:creationId xmlns:a16="http://schemas.microsoft.com/office/drawing/2014/main" id="{07164567-9450-4E25-880C-B72E438CA00F}"/>
              </a:ext>
            </a:extLst>
          </p:cNvPr>
          <p:cNvSpPr>
            <a:spLocks noChangeArrowheads="1"/>
          </p:cNvSpPr>
          <p:nvPr/>
        </p:nvSpPr>
        <p:spPr bwMode="auto">
          <a:xfrm>
            <a:off x="6818981" y="3397680"/>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34" name="CuadroTexto 33">
            <a:extLst>
              <a:ext uri="{FF2B5EF4-FFF2-40B4-BE49-F238E27FC236}">
                <a16:creationId xmlns:a16="http://schemas.microsoft.com/office/drawing/2014/main" id="{651C2402-5FA5-47E6-B0CE-A2ECD0168F78}"/>
              </a:ext>
            </a:extLst>
          </p:cNvPr>
          <p:cNvSpPr txBox="1"/>
          <p:nvPr/>
        </p:nvSpPr>
        <p:spPr>
          <a:xfrm>
            <a:off x="2065160" y="5428721"/>
            <a:ext cx="5166799" cy="904863"/>
          </a:xfrm>
          <a:prstGeom prst="rect">
            <a:avLst/>
          </a:prstGeom>
          <a:noFill/>
        </p:spPr>
        <p:txBody>
          <a:bodyPr wrap="none" rtlCol="0">
            <a:spAutoFit/>
          </a:bodyPr>
          <a:lstStyle/>
          <a:p>
            <a:r>
              <a:rPr lang="es-ES" sz="2400" dirty="0">
                <a:solidFill>
                  <a:schemeClr val="accent3"/>
                </a:solidFill>
              </a:rPr>
              <a:t>Se tiene que cumplir una restricción:</a:t>
            </a:r>
          </a:p>
          <a:p>
            <a:r>
              <a:rPr lang="es-ES" sz="2400" dirty="0">
                <a:solidFill>
                  <a:schemeClr val="accent3"/>
                </a:solidFill>
              </a:rPr>
              <a:t> el tiempo mínimo llamado </a:t>
            </a:r>
            <a:r>
              <a:rPr lang="es-ES" sz="2400" dirty="0" err="1">
                <a:solidFill>
                  <a:schemeClr val="accent3"/>
                </a:solidFill>
              </a:rPr>
              <a:t>t</a:t>
            </a:r>
            <a:r>
              <a:rPr lang="es-ES" sz="2400" baseline="-25000" dirty="0" err="1">
                <a:solidFill>
                  <a:schemeClr val="accent3"/>
                </a:solidFill>
              </a:rPr>
              <a:t>RAS</a:t>
            </a:r>
            <a:endParaRPr lang="es-ES" sz="2400" dirty="0">
              <a:solidFill>
                <a:schemeClr val="accent3"/>
              </a:solidFill>
            </a:endParaRPr>
          </a:p>
        </p:txBody>
      </p:sp>
      <p:sp>
        <p:nvSpPr>
          <p:cNvPr id="24" name="Flecha: a la derecha 23">
            <a:extLst>
              <a:ext uri="{FF2B5EF4-FFF2-40B4-BE49-F238E27FC236}">
                <a16:creationId xmlns:a16="http://schemas.microsoft.com/office/drawing/2014/main" id="{7FFF1E08-86A0-4711-8653-5E6DA2F08ECC}"/>
              </a:ext>
            </a:extLst>
          </p:cNvPr>
          <p:cNvSpPr/>
          <p:nvPr/>
        </p:nvSpPr>
        <p:spPr bwMode="auto">
          <a:xfrm>
            <a:off x="1198762" y="5469052"/>
            <a:ext cx="864096" cy="859911"/>
          </a:xfrm>
          <a:prstGeom prst="rightArrow">
            <a:avLst/>
          </a:prstGeom>
          <a:solidFill>
            <a:schemeClr val="accent3"/>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Rectangle 10">
            <a:extLst>
              <a:ext uri="{FF2B5EF4-FFF2-40B4-BE49-F238E27FC236}">
                <a16:creationId xmlns:a16="http://schemas.microsoft.com/office/drawing/2014/main" id="{12103CF7-7DF5-484D-AB1F-B9CD76E449AE}"/>
              </a:ext>
            </a:extLst>
          </p:cNvPr>
          <p:cNvSpPr>
            <a:spLocks noChangeArrowheads="1"/>
          </p:cNvSpPr>
          <p:nvPr/>
        </p:nvSpPr>
        <p:spPr bwMode="auto">
          <a:xfrm>
            <a:off x="6057622" y="3363444"/>
            <a:ext cx="511175" cy="304800"/>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RCD</a:t>
            </a:r>
            <a:endParaRPr lang="es-ES_tradnl" sz="2400" b="1" baseline="-25000" dirty="0"/>
          </a:p>
        </p:txBody>
      </p:sp>
      <p:sp>
        <p:nvSpPr>
          <p:cNvPr id="96" name="Line 11">
            <a:extLst>
              <a:ext uri="{FF2B5EF4-FFF2-40B4-BE49-F238E27FC236}">
                <a16:creationId xmlns:a16="http://schemas.microsoft.com/office/drawing/2014/main" id="{CD6F064F-0CE2-490B-B80D-75775200D9E0}"/>
              </a:ext>
            </a:extLst>
          </p:cNvPr>
          <p:cNvSpPr>
            <a:spLocks noChangeShapeType="1"/>
          </p:cNvSpPr>
          <p:nvPr/>
        </p:nvSpPr>
        <p:spPr bwMode="auto">
          <a:xfrm flipV="1">
            <a:off x="5989686" y="3354928"/>
            <a:ext cx="770153" cy="1386"/>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cxnSp>
        <p:nvCxnSpPr>
          <p:cNvPr id="101" name="Conector recto 100">
            <a:extLst>
              <a:ext uri="{FF2B5EF4-FFF2-40B4-BE49-F238E27FC236}">
                <a16:creationId xmlns:a16="http://schemas.microsoft.com/office/drawing/2014/main" id="{D491AB84-8263-475B-857D-89F992D7920C}"/>
              </a:ext>
            </a:extLst>
          </p:cNvPr>
          <p:cNvCxnSpPr>
            <a:cxnSpLocks/>
          </p:cNvCxnSpPr>
          <p:nvPr/>
        </p:nvCxnSpPr>
        <p:spPr bwMode="auto">
          <a:xfrm>
            <a:off x="7437435" y="2397539"/>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04" name="Conector recto 103">
            <a:extLst>
              <a:ext uri="{FF2B5EF4-FFF2-40B4-BE49-F238E27FC236}">
                <a16:creationId xmlns:a16="http://schemas.microsoft.com/office/drawing/2014/main" id="{97513C69-A64B-4A15-A8E4-09D63A6CE212}"/>
              </a:ext>
            </a:extLst>
          </p:cNvPr>
          <p:cNvCxnSpPr>
            <a:cxnSpLocks/>
          </p:cNvCxnSpPr>
          <p:nvPr/>
        </p:nvCxnSpPr>
        <p:spPr bwMode="auto">
          <a:xfrm>
            <a:off x="7834376" y="2385125"/>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05" name="Conector recto 104">
            <a:extLst>
              <a:ext uri="{FF2B5EF4-FFF2-40B4-BE49-F238E27FC236}">
                <a16:creationId xmlns:a16="http://schemas.microsoft.com/office/drawing/2014/main" id="{93DC520E-2A1F-4969-B45E-1D583AC05145}"/>
              </a:ext>
            </a:extLst>
          </p:cNvPr>
          <p:cNvCxnSpPr>
            <a:cxnSpLocks/>
          </p:cNvCxnSpPr>
          <p:nvPr/>
        </p:nvCxnSpPr>
        <p:spPr bwMode="auto">
          <a:xfrm>
            <a:off x="8231755" y="243302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1" name="Conector recto 130">
            <a:extLst>
              <a:ext uri="{FF2B5EF4-FFF2-40B4-BE49-F238E27FC236}">
                <a16:creationId xmlns:a16="http://schemas.microsoft.com/office/drawing/2014/main" id="{9BE3A350-F398-4AD1-B74A-67797B7F4108}"/>
              </a:ext>
            </a:extLst>
          </p:cNvPr>
          <p:cNvCxnSpPr>
            <a:cxnSpLocks/>
          </p:cNvCxnSpPr>
          <p:nvPr/>
        </p:nvCxnSpPr>
        <p:spPr bwMode="auto">
          <a:xfrm>
            <a:off x="8582104" y="2405516"/>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2" name="Conector recto 131">
            <a:extLst>
              <a:ext uri="{FF2B5EF4-FFF2-40B4-BE49-F238E27FC236}">
                <a16:creationId xmlns:a16="http://schemas.microsoft.com/office/drawing/2014/main" id="{0CC0FF4E-F636-4C5A-BCCE-BA647E393477}"/>
              </a:ext>
            </a:extLst>
          </p:cNvPr>
          <p:cNvCxnSpPr>
            <a:cxnSpLocks/>
          </p:cNvCxnSpPr>
          <p:nvPr/>
        </p:nvCxnSpPr>
        <p:spPr bwMode="auto">
          <a:xfrm>
            <a:off x="8963590" y="239726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27" name="Grupo 26">
            <a:extLst>
              <a:ext uri="{FF2B5EF4-FFF2-40B4-BE49-F238E27FC236}">
                <a16:creationId xmlns:a16="http://schemas.microsoft.com/office/drawing/2014/main" id="{04275D1C-93CC-4FDC-A390-A1D61DEB4FFA}"/>
              </a:ext>
            </a:extLst>
          </p:cNvPr>
          <p:cNvGrpSpPr/>
          <p:nvPr/>
        </p:nvGrpSpPr>
        <p:grpSpPr>
          <a:xfrm>
            <a:off x="1703609" y="1808056"/>
            <a:ext cx="4241281" cy="418723"/>
            <a:chOff x="1703609" y="1808056"/>
            <a:chExt cx="4241281" cy="418723"/>
          </a:xfrm>
        </p:grpSpPr>
        <p:grpSp>
          <p:nvGrpSpPr>
            <p:cNvPr id="9" name="Grupo 8">
              <a:extLst>
                <a:ext uri="{FF2B5EF4-FFF2-40B4-BE49-F238E27FC236}">
                  <a16:creationId xmlns:a16="http://schemas.microsoft.com/office/drawing/2014/main" id="{0DA10EE3-1C4B-4F8C-86D1-EA5724B97BD0}"/>
                </a:ext>
              </a:extLst>
            </p:cNvPr>
            <p:cNvGrpSpPr/>
            <p:nvPr/>
          </p:nvGrpSpPr>
          <p:grpSpPr>
            <a:xfrm>
              <a:off x="2517658" y="1808056"/>
              <a:ext cx="1886819" cy="366954"/>
              <a:chOff x="2517658" y="1808056"/>
              <a:chExt cx="1886819" cy="366954"/>
            </a:xfrm>
          </p:grpSpPr>
          <p:sp>
            <p:nvSpPr>
              <p:cNvPr id="133" name="Rectangle 10">
                <a:extLst>
                  <a:ext uri="{FF2B5EF4-FFF2-40B4-BE49-F238E27FC236}">
                    <a16:creationId xmlns:a16="http://schemas.microsoft.com/office/drawing/2014/main" id="{AB4C4AE4-BC02-4DE7-A53F-426EDC4F3C18}"/>
                  </a:ext>
                </a:extLst>
              </p:cNvPr>
              <p:cNvSpPr>
                <a:spLocks noChangeArrowheads="1"/>
              </p:cNvSpPr>
              <p:nvPr/>
            </p:nvSpPr>
            <p:spPr bwMode="auto">
              <a:xfrm>
                <a:off x="2517658" y="1808056"/>
                <a:ext cx="501739" cy="307777"/>
              </a:xfrm>
              <a:prstGeom prst="rect">
                <a:avLst/>
              </a:prstGeom>
              <a:noFill/>
              <a:ln w="19050">
                <a:noFill/>
                <a:miter lim="800000"/>
                <a:headEnd/>
                <a:tailEnd/>
              </a:ln>
            </p:spPr>
            <p:txBody>
              <a:bodyPr wrap="square" lIns="0" tIns="0" rIns="0" bIns="0" anchor="ctr">
                <a:spAutoFit/>
              </a:bodyPr>
              <a:lstStyle/>
              <a:p>
                <a:r>
                  <a:rPr lang="es-ES" dirty="0" err="1"/>
                  <a:t>t</a:t>
                </a:r>
                <a:r>
                  <a:rPr lang="es-ES" sz="2400" b="1" baseline="-25000" dirty="0" err="1"/>
                  <a:t>RAS</a:t>
                </a:r>
                <a:endParaRPr lang="es-ES_tradnl" sz="2400" b="1" baseline="-25000" dirty="0"/>
              </a:p>
            </p:txBody>
          </p:sp>
          <p:sp>
            <p:nvSpPr>
              <p:cNvPr id="134" name="Rectangle 10">
                <a:extLst>
                  <a:ext uri="{FF2B5EF4-FFF2-40B4-BE49-F238E27FC236}">
                    <a16:creationId xmlns:a16="http://schemas.microsoft.com/office/drawing/2014/main" id="{FAE23743-228B-42C1-B0BC-F877262798C2}"/>
                  </a:ext>
                </a:extLst>
              </p:cNvPr>
              <p:cNvSpPr>
                <a:spLocks noChangeArrowheads="1"/>
              </p:cNvSpPr>
              <p:nvPr/>
            </p:nvSpPr>
            <p:spPr bwMode="auto">
              <a:xfrm>
                <a:off x="3171940" y="1867233"/>
                <a:ext cx="573876" cy="307777"/>
              </a:xfrm>
              <a:prstGeom prst="rect">
                <a:avLst/>
              </a:prstGeom>
              <a:noFill/>
              <a:ln w="19050">
                <a:noFill/>
                <a:miter lim="800000"/>
                <a:headEnd/>
                <a:tailEnd/>
              </a:ln>
            </p:spPr>
            <p:txBody>
              <a:bodyPr wrap="none" lIns="0" tIns="0" rIns="0" bIns="0" anchor="ctr">
                <a:spAutoFit/>
              </a:bodyPr>
              <a:lstStyle/>
              <a:p>
                <a:r>
                  <a:rPr lang="es-ES" dirty="0"/>
                  <a:t>+ </a:t>
                </a:r>
                <a:r>
                  <a:rPr lang="es-ES" dirty="0" err="1"/>
                  <a:t>t</a:t>
                </a:r>
                <a:r>
                  <a:rPr lang="es-ES" sz="2400" b="1" baseline="-25000" dirty="0" err="1"/>
                  <a:t>RP</a:t>
                </a:r>
                <a:endParaRPr lang="es-ES_tradnl" sz="2400" b="1" baseline="-25000" dirty="0"/>
              </a:p>
            </p:txBody>
          </p:sp>
          <p:sp>
            <p:nvSpPr>
              <p:cNvPr id="135" name="Rectangle 10">
                <a:extLst>
                  <a:ext uri="{FF2B5EF4-FFF2-40B4-BE49-F238E27FC236}">
                    <a16:creationId xmlns:a16="http://schemas.microsoft.com/office/drawing/2014/main" id="{9DF1A604-B08A-4160-AC6A-36E73946B7BC}"/>
                  </a:ext>
                </a:extLst>
              </p:cNvPr>
              <p:cNvSpPr>
                <a:spLocks noChangeArrowheads="1"/>
              </p:cNvSpPr>
              <p:nvPr/>
            </p:nvSpPr>
            <p:spPr bwMode="auto">
              <a:xfrm>
                <a:off x="3889913" y="1808549"/>
                <a:ext cx="514564" cy="307777"/>
              </a:xfrm>
              <a:prstGeom prst="rect">
                <a:avLst/>
              </a:prstGeom>
              <a:noFill/>
              <a:ln w="19050">
                <a:noFill/>
                <a:miter lim="800000"/>
                <a:headEnd/>
                <a:tailEnd/>
              </a:ln>
            </p:spPr>
            <p:txBody>
              <a:bodyPr wrap="none" lIns="0" tIns="0" rIns="0" bIns="0" anchor="ctr">
                <a:spAutoFit/>
              </a:bodyPr>
              <a:lstStyle/>
              <a:p>
                <a:r>
                  <a:rPr lang="es-ES" dirty="0"/>
                  <a:t>=</a:t>
                </a:r>
                <a:r>
                  <a:rPr lang="es-ES" dirty="0" err="1"/>
                  <a:t>t</a:t>
                </a:r>
                <a:r>
                  <a:rPr lang="es-ES" sz="2400" b="1" baseline="-25000" dirty="0" err="1"/>
                  <a:t>RC</a:t>
                </a:r>
                <a:endParaRPr lang="es-ES_tradnl" sz="2400" b="1" baseline="-25000" dirty="0"/>
              </a:p>
            </p:txBody>
          </p:sp>
        </p:grpSp>
        <p:sp>
          <p:nvSpPr>
            <p:cNvPr id="136" name="Line 11">
              <a:extLst>
                <a:ext uri="{FF2B5EF4-FFF2-40B4-BE49-F238E27FC236}">
                  <a16:creationId xmlns:a16="http://schemas.microsoft.com/office/drawing/2014/main" id="{E9B46BDF-0D44-43C4-8A30-943CCAFFA868}"/>
                </a:ext>
              </a:extLst>
            </p:cNvPr>
            <p:cNvSpPr>
              <a:spLocks noChangeShapeType="1"/>
            </p:cNvSpPr>
            <p:nvPr/>
          </p:nvSpPr>
          <p:spPr bwMode="auto">
            <a:xfrm>
              <a:off x="1703609" y="2212807"/>
              <a:ext cx="4241281" cy="13972"/>
            </a:xfrm>
            <a:prstGeom prst="line">
              <a:avLst/>
            </a:prstGeom>
            <a:noFill/>
            <a:ln w="57150">
              <a:solidFill>
                <a:schemeClr val="accent3"/>
              </a:solidFill>
              <a:round/>
              <a:headEnd type="triangle" w="med" len="med"/>
              <a:tailEnd type="triangle" w="med" len="med"/>
            </a:ln>
          </p:spPr>
          <p:txBody>
            <a:bodyPr wrap="none" lIns="0" tIns="0" rIns="0" bIns="0" anchor="ctr"/>
            <a:lstStyle/>
            <a:p>
              <a:endParaRPr lang="es-ES">
                <a:solidFill>
                  <a:schemeClr val="bg1"/>
                </a:solidFill>
              </a:endParaRPr>
            </a:p>
          </p:txBody>
        </p:sp>
      </p:grpSp>
      <p:sp>
        <p:nvSpPr>
          <p:cNvPr id="98" name="Rectangle 3">
            <a:extLst>
              <a:ext uri="{FF2B5EF4-FFF2-40B4-BE49-F238E27FC236}">
                <a16:creationId xmlns:a16="http://schemas.microsoft.com/office/drawing/2014/main" id="{9D173EDE-66DD-40C4-8E44-2BECECF986C6}"/>
              </a:ext>
            </a:extLst>
          </p:cNvPr>
          <p:cNvSpPr txBox="1">
            <a:spLocks noChangeArrowheads="1"/>
          </p:cNvSpPr>
          <p:nvPr/>
        </p:nvSpPr>
        <p:spPr>
          <a:xfrm>
            <a:off x="72930" y="783933"/>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Tree>
    <p:extLst>
      <p:ext uri="{BB962C8B-B14F-4D97-AF65-F5344CB8AC3E}">
        <p14:creationId xmlns:p14="http://schemas.microsoft.com/office/powerpoint/2010/main" val="125318644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Cronogramas de lectura y escritura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81</a:t>
            </a:fld>
            <a:endParaRPr lang="en-US" dirty="0"/>
          </a:p>
        </p:txBody>
      </p:sp>
      <p:grpSp>
        <p:nvGrpSpPr>
          <p:cNvPr id="6" name="Group 84"/>
          <p:cNvGrpSpPr>
            <a:grpSpLocks/>
          </p:cNvGrpSpPr>
          <p:nvPr/>
        </p:nvGrpSpPr>
        <p:grpSpPr bwMode="auto">
          <a:xfrm>
            <a:off x="4331244" y="4218421"/>
            <a:ext cx="354264" cy="213033"/>
            <a:chOff x="3408" y="2304"/>
            <a:chExt cx="384" cy="181"/>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7" name="Group 83"/>
          <p:cNvGrpSpPr>
            <a:grpSpLocks/>
          </p:cNvGrpSpPr>
          <p:nvPr/>
        </p:nvGrpSpPr>
        <p:grpSpPr bwMode="auto">
          <a:xfrm>
            <a:off x="4741272" y="4225095"/>
            <a:ext cx="354264" cy="213033"/>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cxnSp>
        <p:nvCxnSpPr>
          <p:cNvPr id="20" name="Conector recto 19">
            <a:extLst>
              <a:ext uri="{FF2B5EF4-FFF2-40B4-BE49-F238E27FC236}">
                <a16:creationId xmlns:a16="http://schemas.microsoft.com/office/drawing/2014/main" id="{546C9ED2-DA6B-46BD-B9E3-9BCD3AA47A26}"/>
              </a:ext>
            </a:extLst>
          </p:cNvPr>
          <p:cNvCxnSpPr>
            <a:cxnSpLocks/>
          </p:cNvCxnSpPr>
          <p:nvPr/>
        </p:nvCxnSpPr>
        <p:spPr bwMode="auto">
          <a:xfrm>
            <a:off x="1668144" y="2467844"/>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2480370"/>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2448211"/>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2427995"/>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2440521"/>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2408362"/>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2427995"/>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666313" y="2440991"/>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078079" y="2398579"/>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496146" y="2398587"/>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870119"/>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4225095"/>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3677004"/>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sp>
        <p:nvSpPr>
          <p:cNvPr id="57" name="Freeform 24"/>
          <p:cNvSpPr>
            <a:spLocks/>
          </p:cNvSpPr>
          <p:nvPr/>
        </p:nvSpPr>
        <p:spPr bwMode="blackWhite">
          <a:xfrm>
            <a:off x="1703610" y="2916430"/>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3742463"/>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sp>
        <p:nvSpPr>
          <p:cNvPr id="59" name="Freeform 24"/>
          <p:cNvSpPr>
            <a:spLocks/>
          </p:cNvSpPr>
          <p:nvPr/>
        </p:nvSpPr>
        <p:spPr bwMode="blackWhite">
          <a:xfrm>
            <a:off x="2576740" y="2891441"/>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740128" y="3271602"/>
            <a:ext cx="511175" cy="304800"/>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RCD</a:t>
            </a:r>
            <a:endParaRPr lang="es-ES_tradnl" sz="2400" b="1" baseline="-25000" dirty="0"/>
          </a:p>
        </p:txBody>
      </p:sp>
      <p:sp>
        <p:nvSpPr>
          <p:cNvPr id="39" name="Line 11"/>
          <p:cNvSpPr>
            <a:spLocks noChangeShapeType="1"/>
          </p:cNvSpPr>
          <p:nvPr/>
        </p:nvSpPr>
        <p:spPr bwMode="auto">
          <a:xfrm>
            <a:off x="1672192" y="3264471"/>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285" y="3790130"/>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grpSp>
        <p:nvGrpSpPr>
          <p:cNvPr id="4" name="Group 82"/>
          <p:cNvGrpSpPr>
            <a:grpSpLocks/>
          </p:cNvGrpSpPr>
          <p:nvPr/>
        </p:nvGrpSpPr>
        <p:grpSpPr bwMode="auto">
          <a:xfrm>
            <a:off x="3515079" y="4236378"/>
            <a:ext cx="354264" cy="213033"/>
            <a:chOff x="2640" y="2304"/>
            <a:chExt cx="384" cy="181"/>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2640"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sp>
        <p:nvSpPr>
          <p:cNvPr id="45" name="Line 11"/>
          <p:cNvSpPr>
            <a:spLocks noChangeShapeType="1"/>
          </p:cNvSpPr>
          <p:nvPr/>
        </p:nvSpPr>
        <p:spPr bwMode="auto">
          <a:xfrm>
            <a:off x="2599618" y="3270524"/>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grpSp>
        <p:nvGrpSpPr>
          <p:cNvPr id="5" name="Group 85"/>
          <p:cNvGrpSpPr>
            <a:grpSpLocks/>
          </p:cNvGrpSpPr>
          <p:nvPr/>
        </p:nvGrpSpPr>
        <p:grpSpPr bwMode="auto">
          <a:xfrm>
            <a:off x="3916804" y="4225095"/>
            <a:ext cx="354264" cy="213033"/>
            <a:chOff x="3024" y="2304"/>
            <a:chExt cx="384" cy="181"/>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024"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sp>
        <p:nvSpPr>
          <p:cNvPr id="65" name="Line 11">
            <a:extLst>
              <a:ext uri="{FF2B5EF4-FFF2-40B4-BE49-F238E27FC236}">
                <a16:creationId xmlns:a16="http://schemas.microsoft.com/office/drawing/2014/main" id="{7F4E9607-335C-42DD-A910-A23C7905AA47}"/>
              </a:ext>
            </a:extLst>
          </p:cNvPr>
          <p:cNvSpPr>
            <a:spLocks noChangeShapeType="1"/>
          </p:cNvSpPr>
          <p:nvPr/>
        </p:nvSpPr>
        <p:spPr bwMode="auto">
          <a:xfrm>
            <a:off x="3513049" y="4615593"/>
            <a:ext cx="1623201"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67" name="CuadroTexto 66">
            <a:extLst>
              <a:ext uri="{FF2B5EF4-FFF2-40B4-BE49-F238E27FC236}">
                <a16:creationId xmlns:a16="http://schemas.microsoft.com/office/drawing/2014/main" id="{A74D0805-E1E2-49BA-884E-33FFDDFAF727}"/>
              </a:ext>
            </a:extLst>
          </p:cNvPr>
          <p:cNvSpPr txBox="1"/>
          <p:nvPr/>
        </p:nvSpPr>
        <p:spPr>
          <a:xfrm>
            <a:off x="3583369" y="4696502"/>
            <a:ext cx="1512167" cy="566309"/>
          </a:xfrm>
          <a:prstGeom prst="rect">
            <a:avLst/>
          </a:prstGeom>
          <a:noFill/>
        </p:spPr>
        <p:txBody>
          <a:bodyPr wrap="square" rtlCol="0">
            <a:spAutoFit/>
          </a:bodyPr>
          <a:lstStyle/>
          <a:p>
            <a:r>
              <a:rPr lang="es-ES" sz="1400" dirty="0">
                <a:solidFill>
                  <a:schemeClr val="accent1">
                    <a:lumMod val="75000"/>
                  </a:schemeClr>
                </a:solidFill>
              </a:rPr>
              <a:t>Bloque (1)</a:t>
            </a:r>
          </a:p>
          <a:p>
            <a:pPr algn="l"/>
            <a:r>
              <a:rPr lang="es-ES" sz="1400" dirty="0">
                <a:solidFill>
                  <a:schemeClr val="accent1">
                    <a:lumMod val="75000"/>
                  </a:schemeClr>
                </a:solidFill>
              </a:rPr>
              <a:t>P0 en </a:t>
            </a:r>
            <a:r>
              <a:rPr lang="es-ES" sz="1400" dirty="0" err="1">
                <a:solidFill>
                  <a:schemeClr val="accent1">
                    <a:lumMod val="75000"/>
                  </a:schemeClr>
                </a:solidFill>
              </a:rPr>
              <a:t>dir</a:t>
            </a:r>
            <a:r>
              <a:rPr lang="es-ES" sz="1400" dirty="0">
                <a:solidFill>
                  <a:schemeClr val="accent1">
                    <a:lumMod val="75000"/>
                  </a:schemeClr>
                </a:solidFill>
              </a:rPr>
              <a:t> </a:t>
            </a:r>
            <a:r>
              <a:rPr lang="es-ES" sz="1400" dirty="0" err="1">
                <a:solidFill>
                  <a:schemeClr val="accent1">
                    <a:lumMod val="75000"/>
                  </a:schemeClr>
                </a:solidFill>
              </a:rPr>
              <a:t>fila+col</a:t>
            </a:r>
            <a:endParaRPr lang="es-ES" sz="1400" dirty="0">
              <a:solidFill>
                <a:schemeClr val="accent1">
                  <a:lumMod val="75000"/>
                </a:schemeClr>
              </a:solidFill>
            </a:endParaRPr>
          </a:p>
        </p:txBody>
      </p:sp>
      <p:cxnSp>
        <p:nvCxnSpPr>
          <p:cNvPr id="68" name="Conector recto 67">
            <a:extLst>
              <a:ext uri="{FF2B5EF4-FFF2-40B4-BE49-F238E27FC236}">
                <a16:creationId xmlns:a16="http://schemas.microsoft.com/office/drawing/2014/main" id="{EA58A652-AB3A-4C8E-AD9F-98FEFB54FB87}"/>
              </a:ext>
            </a:extLst>
          </p:cNvPr>
          <p:cNvCxnSpPr>
            <a:cxnSpLocks/>
          </p:cNvCxnSpPr>
          <p:nvPr/>
        </p:nvCxnSpPr>
        <p:spPr bwMode="auto">
          <a:xfrm>
            <a:off x="5908464"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69" name="Conector recto 68">
            <a:extLst>
              <a:ext uri="{FF2B5EF4-FFF2-40B4-BE49-F238E27FC236}">
                <a16:creationId xmlns:a16="http://schemas.microsoft.com/office/drawing/2014/main" id="{FE11FF5A-67F9-4CF6-831D-E009C9E25E1D}"/>
              </a:ext>
            </a:extLst>
          </p:cNvPr>
          <p:cNvCxnSpPr>
            <a:cxnSpLocks/>
          </p:cNvCxnSpPr>
          <p:nvPr/>
        </p:nvCxnSpPr>
        <p:spPr bwMode="auto">
          <a:xfrm>
            <a:off x="6320782" y="238620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0" name="Conector recto 69">
            <a:extLst>
              <a:ext uri="{FF2B5EF4-FFF2-40B4-BE49-F238E27FC236}">
                <a16:creationId xmlns:a16="http://schemas.microsoft.com/office/drawing/2014/main" id="{6226F54E-4DD9-4E36-929A-F7216F8C9089}"/>
              </a:ext>
            </a:extLst>
          </p:cNvPr>
          <p:cNvCxnSpPr>
            <a:cxnSpLocks/>
          </p:cNvCxnSpPr>
          <p:nvPr/>
        </p:nvCxnSpPr>
        <p:spPr bwMode="auto">
          <a:xfrm>
            <a:off x="6704014" y="2366443"/>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2" name="Conector recto 71">
            <a:extLst>
              <a:ext uri="{FF2B5EF4-FFF2-40B4-BE49-F238E27FC236}">
                <a16:creationId xmlns:a16="http://schemas.microsoft.com/office/drawing/2014/main" id="{A3C23E9C-FC35-42E6-8FE2-385888E9C7A8}"/>
              </a:ext>
            </a:extLst>
          </p:cNvPr>
          <p:cNvCxnSpPr>
            <a:cxnSpLocks/>
          </p:cNvCxnSpPr>
          <p:nvPr/>
        </p:nvCxnSpPr>
        <p:spPr bwMode="auto">
          <a:xfrm>
            <a:off x="7087246" y="2350466"/>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nvGrpSpPr>
          <p:cNvPr id="21" name="Grupo 20">
            <a:extLst>
              <a:ext uri="{FF2B5EF4-FFF2-40B4-BE49-F238E27FC236}">
                <a16:creationId xmlns:a16="http://schemas.microsoft.com/office/drawing/2014/main" id="{7A0D49FA-3FA4-4011-B816-C77D74D175DE}"/>
              </a:ext>
            </a:extLst>
          </p:cNvPr>
          <p:cNvGrpSpPr/>
          <p:nvPr/>
        </p:nvGrpSpPr>
        <p:grpSpPr>
          <a:xfrm>
            <a:off x="4277029" y="2915999"/>
            <a:ext cx="850428" cy="841625"/>
            <a:chOff x="4277029" y="2915999"/>
            <a:chExt cx="850428" cy="841625"/>
          </a:xfrm>
        </p:grpSpPr>
        <p:grpSp>
          <p:nvGrpSpPr>
            <p:cNvPr id="8" name="Grupo 7">
              <a:extLst>
                <a:ext uri="{FF2B5EF4-FFF2-40B4-BE49-F238E27FC236}">
                  <a16:creationId xmlns:a16="http://schemas.microsoft.com/office/drawing/2014/main" id="{ED8D216F-8D74-4DF0-AEBD-EECEA1276D60}"/>
                </a:ext>
              </a:extLst>
            </p:cNvPr>
            <p:cNvGrpSpPr/>
            <p:nvPr/>
          </p:nvGrpSpPr>
          <p:grpSpPr>
            <a:xfrm>
              <a:off x="4294296" y="2915999"/>
              <a:ext cx="360039" cy="841625"/>
              <a:chOff x="4294296" y="2915999"/>
              <a:chExt cx="360039" cy="841625"/>
            </a:xfrm>
          </p:grpSpPr>
          <p:sp>
            <p:nvSpPr>
              <p:cNvPr id="47" name="Rectangle 10"/>
              <p:cNvSpPr>
                <a:spLocks noChangeArrowheads="1"/>
              </p:cNvSpPr>
              <p:nvPr/>
            </p:nvSpPr>
            <p:spPr bwMode="auto">
              <a:xfrm>
                <a:off x="4325719" y="3449847"/>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sp>
            <p:nvSpPr>
              <p:cNvPr id="83" name="Freeform 24">
                <a:extLst>
                  <a:ext uri="{FF2B5EF4-FFF2-40B4-BE49-F238E27FC236}">
                    <a16:creationId xmlns:a16="http://schemas.microsoft.com/office/drawing/2014/main" id="{3DE25550-22D3-412F-A96F-C19073879101}"/>
                  </a:ext>
                </a:extLst>
              </p:cNvPr>
              <p:cNvSpPr>
                <a:spLocks/>
              </p:cNvSpPr>
              <p:nvPr/>
            </p:nvSpPr>
            <p:spPr bwMode="blackWhite">
              <a:xfrm>
                <a:off x="4294296" y="2915999"/>
                <a:ext cx="354264" cy="2130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grpSp>
        <p:sp>
          <p:nvSpPr>
            <p:cNvPr id="94" name="Line 11">
              <a:extLst>
                <a:ext uri="{FF2B5EF4-FFF2-40B4-BE49-F238E27FC236}">
                  <a16:creationId xmlns:a16="http://schemas.microsoft.com/office/drawing/2014/main" id="{FBBF4429-8A49-408B-82E7-8FA137A696BC}"/>
                </a:ext>
              </a:extLst>
            </p:cNvPr>
            <p:cNvSpPr>
              <a:spLocks noChangeShapeType="1"/>
            </p:cNvSpPr>
            <p:nvPr/>
          </p:nvSpPr>
          <p:spPr bwMode="auto">
            <a:xfrm flipV="1">
              <a:off x="4277029" y="3302776"/>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sp>
        <p:nvSpPr>
          <p:cNvPr id="99" name="Rectangle 10">
            <a:extLst>
              <a:ext uri="{FF2B5EF4-FFF2-40B4-BE49-F238E27FC236}">
                <a16:creationId xmlns:a16="http://schemas.microsoft.com/office/drawing/2014/main" id="{27A37F49-4517-4F00-AB40-EA77733795F5}"/>
              </a:ext>
            </a:extLst>
          </p:cNvPr>
          <p:cNvSpPr>
            <a:spLocks noChangeArrowheads="1"/>
          </p:cNvSpPr>
          <p:nvPr/>
        </p:nvSpPr>
        <p:spPr bwMode="auto">
          <a:xfrm>
            <a:off x="2618260" y="3359725"/>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grpSp>
        <p:nvGrpSpPr>
          <p:cNvPr id="23" name="Grupo 22">
            <a:extLst>
              <a:ext uri="{FF2B5EF4-FFF2-40B4-BE49-F238E27FC236}">
                <a16:creationId xmlns:a16="http://schemas.microsoft.com/office/drawing/2014/main" id="{0F4F0FEC-6E08-49E6-BE30-C654E0A9B3D9}"/>
              </a:ext>
            </a:extLst>
          </p:cNvPr>
          <p:cNvGrpSpPr/>
          <p:nvPr/>
        </p:nvGrpSpPr>
        <p:grpSpPr>
          <a:xfrm>
            <a:off x="5937863" y="2924944"/>
            <a:ext cx="2544830" cy="2473371"/>
            <a:chOff x="5937863" y="2924944"/>
            <a:chExt cx="2544830" cy="2473371"/>
          </a:xfrm>
        </p:grpSpPr>
        <p:sp>
          <p:nvSpPr>
            <p:cNvPr id="125" name="Freeform 24">
              <a:extLst>
                <a:ext uri="{FF2B5EF4-FFF2-40B4-BE49-F238E27FC236}">
                  <a16:creationId xmlns:a16="http://schemas.microsoft.com/office/drawing/2014/main" id="{DCD500B6-7631-478D-B5D6-3F65E7F751B1}"/>
                </a:ext>
              </a:extLst>
            </p:cNvPr>
            <p:cNvSpPr>
              <a:spLocks/>
            </p:cNvSpPr>
            <p:nvPr/>
          </p:nvSpPr>
          <p:spPr bwMode="blackWhite">
            <a:xfrm>
              <a:off x="5937863" y="2924944"/>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grpSp>
          <p:nvGrpSpPr>
            <p:cNvPr id="22" name="Grupo 21">
              <a:extLst>
                <a:ext uri="{FF2B5EF4-FFF2-40B4-BE49-F238E27FC236}">
                  <a16:creationId xmlns:a16="http://schemas.microsoft.com/office/drawing/2014/main" id="{650C987E-26CD-4297-B61E-B20E288F5012}"/>
                </a:ext>
              </a:extLst>
            </p:cNvPr>
            <p:cNvGrpSpPr/>
            <p:nvPr/>
          </p:nvGrpSpPr>
          <p:grpSpPr>
            <a:xfrm>
              <a:off x="5960741" y="3304027"/>
              <a:ext cx="2521952" cy="2094288"/>
              <a:chOff x="5960741" y="3304027"/>
              <a:chExt cx="2521952" cy="2094288"/>
            </a:xfrm>
          </p:grpSpPr>
          <p:grpSp>
            <p:nvGrpSpPr>
              <p:cNvPr id="110" name="Grupo 109">
                <a:extLst>
                  <a:ext uri="{FF2B5EF4-FFF2-40B4-BE49-F238E27FC236}">
                    <a16:creationId xmlns:a16="http://schemas.microsoft.com/office/drawing/2014/main" id="{857ACF20-510A-49FC-A33A-6C55193CFF54}"/>
                  </a:ext>
                </a:extLst>
              </p:cNvPr>
              <p:cNvGrpSpPr/>
              <p:nvPr/>
            </p:nvGrpSpPr>
            <p:grpSpPr>
              <a:xfrm>
                <a:off x="6477699" y="4167060"/>
                <a:ext cx="2004994" cy="1231255"/>
                <a:chOff x="6550423" y="3451219"/>
                <a:chExt cx="2004994" cy="1231255"/>
              </a:xfrm>
            </p:grpSpPr>
            <p:grpSp>
              <p:nvGrpSpPr>
                <p:cNvPr id="111" name="Group 82">
                  <a:extLst>
                    <a:ext uri="{FF2B5EF4-FFF2-40B4-BE49-F238E27FC236}">
                      <a16:creationId xmlns:a16="http://schemas.microsoft.com/office/drawing/2014/main" id="{A3B1E82F-4E54-4896-9034-C6820DF6D2BD}"/>
                    </a:ext>
                  </a:extLst>
                </p:cNvPr>
                <p:cNvGrpSpPr>
                  <a:grpSpLocks/>
                </p:cNvGrpSpPr>
                <p:nvPr/>
              </p:nvGrpSpPr>
              <p:grpSpPr bwMode="auto">
                <a:xfrm>
                  <a:off x="6841403" y="3476208"/>
                  <a:ext cx="354264" cy="213033"/>
                  <a:chOff x="4380" y="2296"/>
                  <a:chExt cx="384" cy="181"/>
                </a:xfrm>
              </p:grpSpPr>
              <p:sp>
                <p:nvSpPr>
                  <p:cNvPr id="123" name="Freeform 71">
                    <a:extLst>
                      <a:ext uri="{FF2B5EF4-FFF2-40B4-BE49-F238E27FC236}">
                        <a16:creationId xmlns:a16="http://schemas.microsoft.com/office/drawing/2014/main" id="{69DD4324-AE22-409E-BE1C-4EAE58617736}"/>
                      </a:ext>
                    </a:extLst>
                  </p:cNvPr>
                  <p:cNvSpPr>
                    <a:spLocks/>
                  </p:cNvSpPr>
                  <p:nvPr/>
                </p:nvSpPr>
                <p:spPr bwMode="blackWhite">
                  <a:xfrm>
                    <a:off x="4380" y="229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4" name="Text Box 72">
                    <a:extLst>
                      <a:ext uri="{FF2B5EF4-FFF2-40B4-BE49-F238E27FC236}">
                        <a16:creationId xmlns:a16="http://schemas.microsoft.com/office/drawing/2014/main" id="{3D6BAF3F-0527-4EAF-977F-445CCC2F1CB4}"/>
                      </a:ext>
                    </a:extLst>
                  </p:cNvPr>
                  <p:cNvSpPr txBox="1">
                    <a:spLocks noChangeArrowheads="1"/>
                  </p:cNvSpPr>
                  <p:nvPr/>
                </p:nvSpPr>
                <p:spPr bwMode="blackWhite">
                  <a:xfrm>
                    <a:off x="4380" y="2296"/>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P4</a:t>
                    </a:r>
                  </a:p>
                </p:txBody>
              </p:sp>
            </p:grpSp>
            <p:grpSp>
              <p:nvGrpSpPr>
                <p:cNvPr id="112" name="Group 82">
                  <a:extLst>
                    <a:ext uri="{FF2B5EF4-FFF2-40B4-BE49-F238E27FC236}">
                      <a16:creationId xmlns:a16="http://schemas.microsoft.com/office/drawing/2014/main" id="{29AAD4DB-23A7-47D7-AC96-72583C8A5805}"/>
                    </a:ext>
                  </a:extLst>
                </p:cNvPr>
                <p:cNvGrpSpPr>
                  <a:grpSpLocks/>
                </p:cNvGrpSpPr>
                <p:nvPr/>
              </p:nvGrpSpPr>
              <p:grpSpPr bwMode="auto">
                <a:xfrm>
                  <a:off x="7227603" y="3463099"/>
                  <a:ext cx="354264" cy="213033"/>
                  <a:chOff x="4336" y="2287"/>
                  <a:chExt cx="384" cy="181"/>
                </a:xfrm>
              </p:grpSpPr>
              <p:sp>
                <p:nvSpPr>
                  <p:cNvPr id="121" name="Freeform 71">
                    <a:extLst>
                      <a:ext uri="{FF2B5EF4-FFF2-40B4-BE49-F238E27FC236}">
                        <a16:creationId xmlns:a16="http://schemas.microsoft.com/office/drawing/2014/main" id="{9D971EAB-5BB6-480D-B44F-7C5211DF0B86}"/>
                      </a:ext>
                    </a:extLst>
                  </p:cNvPr>
                  <p:cNvSpPr>
                    <a:spLocks/>
                  </p:cNvSpPr>
                  <p:nvPr/>
                </p:nvSpPr>
                <p:spPr bwMode="blackWhite">
                  <a:xfrm>
                    <a:off x="4336" y="2287"/>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2" name="Text Box 72">
                    <a:extLst>
                      <a:ext uri="{FF2B5EF4-FFF2-40B4-BE49-F238E27FC236}">
                        <a16:creationId xmlns:a16="http://schemas.microsoft.com/office/drawing/2014/main" id="{9D35DFDA-EA58-4A93-A97A-90A1C059CAB2}"/>
                      </a:ext>
                    </a:extLst>
                  </p:cNvPr>
                  <p:cNvSpPr txBox="1">
                    <a:spLocks noChangeArrowheads="1"/>
                  </p:cNvSpPr>
                  <p:nvPr/>
                </p:nvSpPr>
                <p:spPr bwMode="blackWhite">
                  <a:xfrm>
                    <a:off x="4336" y="2287"/>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P5</a:t>
                    </a:r>
                  </a:p>
                </p:txBody>
              </p:sp>
            </p:grpSp>
            <p:grpSp>
              <p:nvGrpSpPr>
                <p:cNvPr id="113" name="Group 82">
                  <a:extLst>
                    <a:ext uri="{FF2B5EF4-FFF2-40B4-BE49-F238E27FC236}">
                      <a16:creationId xmlns:a16="http://schemas.microsoft.com/office/drawing/2014/main" id="{25D9B1D1-566C-4E33-A35C-75603B57F6AD}"/>
                    </a:ext>
                  </a:extLst>
                </p:cNvPr>
                <p:cNvGrpSpPr>
                  <a:grpSpLocks/>
                </p:cNvGrpSpPr>
                <p:nvPr/>
              </p:nvGrpSpPr>
              <p:grpSpPr bwMode="auto">
                <a:xfrm>
                  <a:off x="7622987" y="3451219"/>
                  <a:ext cx="354264" cy="213033"/>
                  <a:chOff x="4329" y="2283"/>
                  <a:chExt cx="384" cy="181"/>
                </a:xfrm>
              </p:grpSpPr>
              <p:sp>
                <p:nvSpPr>
                  <p:cNvPr id="119" name="Freeform 71">
                    <a:extLst>
                      <a:ext uri="{FF2B5EF4-FFF2-40B4-BE49-F238E27FC236}">
                        <a16:creationId xmlns:a16="http://schemas.microsoft.com/office/drawing/2014/main" id="{ECE533B3-11B8-4950-86FD-D95C84FA6284}"/>
                      </a:ext>
                    </a:extLst>
                  </p:cNvPr>
                  <p:cNvSpPr>
                    <a:spLocks/>
                  </p:cNvSpPr>
                  <p:nvPr/>
                </p:nvSpPr>
                <p:spPr bwMode="blackWhite">
                  <a:xfrm>
                    <a:off x="4329" y="2283"/>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20" name="Text Box 72">
                    <a:extLst>
                      <a:ext uri="{FF2B5EF4-FFF2-40B4-BE49-F238E27FC236}">
                        <a16:creationId xmlns:a16="http://schemas.microsoft.com/office/drawing/2014/main" id="{E86CA07C-6316-4239-BFBA-6CEB58A6C77F}"/>
                      </a:ext>
                    </a:extLst>
                  </p:cNvPr>
                  <p:cNvSpPr txBox="1">
                    <a:spLocks noChangeArrowheads="1"/>
                  </p:cNvSpPr>
                  <p:nvPr/>
                </p:nvSpPr>
                <p:spPr bwMode="blackWhite">
                  <a:xfrm>
                    <a:off x="4329" y="228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P6</a:t>
                    </a:r>
                  </a:p>
                </p:txBody>
              </p:sp>
            </p:grpSp>
            <p:grpSp>
              <p:nvGrpSpPr>
                <p:cNvPr id="114" name="Group 82">
                  <a:extLst>
                    <a:ext uri="{FF2B5EF4-FFF2-40B4-BE49-F238E27FC236}">
                      <a16:creationId xmlns:a16="http://schemas.microsoft.com/office/drawing/2014/main" id="{E8A0332C-E417-46F2-90A7-0C1EB4ADBD23}"/>
                    </a:ext>
                  </a:extLst>
                </p:cNvPr>
                <p:cNvGrpSpPr>
                  <a:grpSpLocks/>
                </p:cNvGrpSpPr>
                <p:nvPr/>
              </p:nvGrpSpPr>
              <p:grpSpPr bwMode="auto">
                <a:xfrm>
                  <a:off x="8022209" y="3459403"/>
                  <a:ext cx="384708" cy="213033"/>
                  <a:chOff x="4326" y="2294"/>
                  <a:chExt cx="417" cy="181"/>
                </a:xfrm>
              </p:grpSpPr>
              <p:sp>
                <p:nvSpPr>
                  <p:cNvPr id="117" name="Freeform 71">
                    <a:extLst>
                      <a:ext uri="{FF2B5EF4-FFF2-40B4-BE49-F238E27FC236}">
                        <a16:creationId xmlns:a16="http://schemas.microsoft.com/office/drawing/2014/main" id="{40AC42CB-E1AE-4CD8-BA2C-2D220AB05175}"/>
                      </a:ext>
                    </a:extLst>
                  </p:cNvPr>
                  <p:cNvSpPr>
                    <a:spLocks/>
                  </p:cNvSpPr>
                  <p:nvPr/>
                </p:nvSpPr>
                <p:spPr bwMode="blackWhite">
                  <a:xfrm>
                    <a:off x="4326" y="229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8" name="Text Box 72">
                    <a:extLst>
                      <a:ext uri="{FF2B5EF4-FFF2-40B4-BE49-F238E27FC236}">
                        <a16:creationId xmlns:a16="http://schemas.microsoft.com/office/drawing/2014/main" id="{3BB047CF-A3F1-4EA4-8607-B6AB80A5F257}"/>
                      </a:ext>
                    </a:extLst>
                  </p:cNvPr>
                  <p:cNvSpPr txBox="1">
                    <a:spLocks noChangeArrowheads="1"/>
                  </p:cNvSpPr>
                  <p:nvPr/>
                </p:nvSpPr>
                <p:spPr bwMode="blackWhite">
                  <a:xfrm>
                    <a:off x="4359" y="2308"/>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P7</a:t>
                    </a:r>
                  </a:p>
                </p:txBody>
              </p:sp>
            </p:grpSp>
            <p:sp>
              <p:nvSpPr>
                <p:cNvPr id="115" name="Line 11">
                  <a:extLst>
                    <a:ext uri="{FF2B5EF4-FFF2-40B4-BE49-F238E27FC236}">
                      <a16:creationId xmlns:a16="http://schemas.microsoft.com/office/drawing/2014/main" id="{8B5B7AA7-8A87-4018-BBFE-33F9B62D12F0}"/>
                    </a:ext>
                  </a:extLst>
                </p:cNvPr>
                <p:cNvSpPr>
                  <a:spLocks noChangeShapeType="1"/>
                </p:cNvSpPr>
                <p:nvPr/>
              </p:nvSpPr>
              <p:spPr bwMode="auto">
                <a:xfrm flipV="1">
                  <a:off x="6837453" y="3969454"/>
                  <a:ext cx="1598764" cy="0"/>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116" name="CuadroTexto 115">
                  <a:extLst>
                    <a:ext uri="{FF2B5EF4-FFF2-40B4-BE49-F238E27FC236}">
                      <a16:creationId xmlns:a16="http://schemas.microsoft.com/office/drawing/2014/main" id="{6A0B6893-AC38-47C5-B80B-92B74B6B74A1}"/>
                    </a:ext>
                  </a:extLst>
                </p:cNvPr>
                <p:cNvSpPr txBox="1"/>
                <p:nvPr/>
              </p:nvSpPr>
              <p:spPr>
                <a:xfrm>
                  <a:off x="6550423" y="4116165"/>
                  <a:ext cx="2004994" cy="566309"/>
                </a:xfrm>
                <a:prstGeom prst="rect">
                  <a:avLst/>
                </a:prstGeom>
                <a:noFill/>
              </p:spPr>
              <p:txBody>
                <a:bodyPr wrap="square" rtlCol="0">
                  <a:spAutoFit/>
                </a:bodyPr>
                <a:lstStyle/>
                <a:p>
                  <a:r>
                    <a:rPr lang="es-ES" sz="1400" dirty="0">
                      <a:solidFill>
                        <a:schemeClr val="accent1">
                          <a:lumMod val="75000"/>
                        </a:schemeClr>
                      </a:solidFill>
                    </a:rPr>
                    <a:t>Bloque (2)</a:t>
                  </a:r>
                </a:p>
                <a:p>
                  <a:pPr algn="l"/>
                  <a:r>
                    <a:rPr lang="es-ES" sz="1400" dirty="0">
                      <a:solidFill>
                        <a:schemeClr val="accent1">
                          <a:lumMod val="75000"/>
                        </a:schemeClr>
                      </a:solidFill>
                    </a:rPr>
                    <a:t>P4 en </a:t>
                  </a:r>
                  <a:r>
                    <a:rPr lang="es-ES" sz="1400" dirty="0" err="1">
                      <a:solidFill>
                        <a:schemeClr val="accent1">
                          <a:lumMod val="75000"/>
                        </a:schemeClr>
                      </a:solidFill>
                    </a:rPr>
                    <a:t>dir</a:t>
                  </a:r>
                  <a:r>
                    <a:rPr lang="es-ES" sz="1400" dirty="0">
                      <a:solidFill>
                        <a:schemeClr val="accent1">
                          <a:lumMod val="75000"/>
                        </a:schemeClr>
                      </a:solidFill>
                    </a:rPr>
                    <a:t> fila2+col2</a:t>
                  </a:r>
                </a:p>
              </p:txBody>
            </p:sp>
          </p:grpSp>
          <p:grpSp>
            <p:nvGrpSpPr>
              <p:cNvPr id="126" name="Group 82">
                <a:extLst>
                  <a:ext uri="{FF2B5EF4-FFF2-40B4-BE49-F238E27FC236}">
                    <a16:creationId xmlns:a16="http://schemas.microsoft.com/office/drawing/2014/main" id="{E073B431-128E-41A9-BA4E-AB94EA79B738}"/>
                  </a:ext>
                </a:extLst>
              </p:cNvPr>
              <p:cNvGrpSpPr>
                <a:grpSpLocks/>
              </p:cNvGrpSpPr>
              <p:nvPr/>
            </p:nvGrpSpPr>
            <p:grpSpPr bwMode="auto">
              <a:xfrm>
                <a:off x="5975124" y="3673962"/>
                <a:ext cx="354264" cy="213033"/>
                <a:chOff x="2640" y="2318"/>
                <a:chExt cx="384" cy="181"/>
              </a:xfrm>
            </p:grpSpPr>
            <p:sp>
              <p:nvSpPr>
                <p:cNvPr id="127" name="Freeform 71">
                  <a:extLst>
                    <a:ext uri="{FF2B5EF4-FFF2-40B4-BE49-F238E27FC236}">
                      <a16:creationId xmlns:a16="http://schemas.microsoft.com/office/drawing/2014/main" id="{AEBEFEDA-7935-44A3-BEAF-5B7DA36BBFA2}"/>
                    </a:ext>
                  </a:extLst>
                </p:cNvPr>
                <p:cNvSpPr>
                  <a:spLocks/>
                </p:cNvSpPr>
                <p:nvPr/>
              </p:nvSpPr>
              <p:spPr bwMode="blackWhite">
                <a:xfrm>
                  <a:off x="2640" y="2318"/>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28" name="Text Box 72">
                  <a:extLst>
                    <a:ext uri="{FF2B5EF4-FFF2-40B4-BE49-F238E27FC236}">
                      <a16:creationId xmlns:a16="http://schemas.microsoft.com/office/drawing/2014/main" id="{E644E3F3-C2CA-4BE0-8CB6-65E3E91D7E81}"/>
                    </a:ext>
                  </a:extLst>
                </p:cNvPr>
                <p:cNvSpPr txBox="1">
                  <a:spLocks noChangeArrowheads="1"/>
                </p:cNvSpPr>
                <p:nvPr/>
              </p:nvSpPr>
              <p:spPr bwMode="blackWhite">
                <a:xfrm>
                  <a:off x="2640" y="2346"/>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Col2</a:t>
                  </a:r>
                </a:p>
              </p:txBody>
            </p:sp>
          </p:grpSp>
          <p:sp>
            <p:nvSpPr>
              <p:cNvPr id="129" name="Line 11">
                <a:extLst>
                  <a:ext uri="{FF2B5EF4-FFF2-40B4-BE49-F238E27FC236}">
                    <a16:creationId xmlns:a16="http://schemas.microsoft.com/office/drawing/2014/main" id="{6FFD01D0-6A5B-40AA-9F87-F5EFB6200C26}"/>
                  </a:ext>
                </a:extLst>
              </p:cNvPr>
              <p:cNvSpPr>
                <a:spLocks noChangeShapeType="1"/>
              </p:cNvSpPr>
              <p:nvPr/>
            </p:nvSpPr>
            <p:spPr bwMode="auto">
              <a:xfrm>
                <a:off x="5960741" y="3304027"/>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30" name="Rectangle 10">
                <a:extLst>
                  <a:ext uri="{FF2B5EF4-FFF2-40B4-BE49-F238E27FC236}">
                    <a16:creationId xmlns:a16="http://schemas.microsoft.com/office/drawing/2014/main" id="{07164567-9450-4E25-880C-B72E438CA00F}"/>
                  </a:ext>
                </a:extLst>
              </p:cNvPr>
              <p:cNvSpPr>
                <a:spLocks noChangeArrowheads="1"/>
              </p:cNvSpPr>
              <p:nvPr/>
            </p:nvSpPr>
            <p:spPr bwMode="auto">
              <a:xfrm>
                <a:off x="6014975" y="3361388"/>
                <a:ext cx="328616" cy="307777"/>
              </a:xfrm>
              <a:prstGeom prst="rect">
                <a:avLst/>
              </a:prstGeom>
              <a:noFill/>
              <a:ln w="19050">
                <a:noFill/>
                <a:miter lim="800000"/>
                <a:headEnd/>
                <a:tailEnd/>
              </a:ln>
            </p:spPr>
            <p:txBody>
              <a:bodyPr wrap="none" lIns="0" tIns="0" rIns="0" bIns="0" anchor="ctr">
                <a:spAutoFit/>
              </a:bodyPr>
              <a:lstStyle/>
              <a:p>
                <a:r>
                  <a:rPr lang="es-ES" dirty="0"/>
                  <a:t>CL</a:t>
                </a:r>
                <a:endParaRPr lang="es-ES_tradnl" sz="2400" b="1" baseline="-25000" dirty="0"/>
              </a:p>
            </p:txBody>
          </p:sp>
        </p:grpSp>
      </p:grpSp>
      <p:grpSp>
        <p:nvGrpSpPr>
          <p:cNvPr id="27" name="Grupo 26">
            <a:extLst>
              <a:ext uri="{FF2B5EF4-FFF2-40B4-BE49-F238E27FC236}">
                <a16:creationId xmlns:a16="http://schemas.microsoft.com/office/drawing/2014/main" id="{98AF9200-8774-4BCC-B300-FFC30BBB06EC}"/>
              </a:ext>
            </a:extLst>
          </p:cNvPr>
          <p:cNvGrpSpPr/>
          <p:nvPr/>
        </p:nvGrpSpPr>
        <p:grpSpPr>
          <a:xfrm>
            <a:off x="4304467" y="2938526"/>
            <a:ext cx="1612417" cy="1225347"/>
            <a:chOff x="4304467" y="2938526"/>
            <a:chExt cx="1612417" cy="1225347"/>
          </a:xfrm>
        </p:grpSpPr>
        <p:grpSp>
          <p:nvGrpSpPr>
            <p:cNvPr id="19" name="Grupo 18">
              <a:extLst>
                <a:ext uri="{FF2B5EF4-FFF2-40B4-BE49-F238E27FC236}">
                  <a16:creationId xmlns:a16="http://schemas.microsoft.com/office/drawing/2014/main" id="{02461F7E-0C95-494B-8E0F-A42378A9D749}"/>
                </a:ext>
              </a:extLst>
            </p:cNvPr>
            <p:cNvGrpSpPr/>
            <p:nvPr/>
          </p:nvGrpSpPr>
          <p:grpSpPr>
            <a:xfrm>
              <a:off x="4304467" y="2938526"/>
              <a:ext cx="1203637" cy="1225347"/>
              <a:chOff x="4304467" y="2938526"/>
              <a:chExt cx="1203637" cy="1225347"/>
            </a:xfrm>
          </p:grpSpPr>
          <p:sp>
            <p:nvSpPr>
              <p:cNvPr id="107" name="Line 11">
                <a:extLst>
                  <a:ext uri="{FF2B5EF4-FFF2-40B4-BE49-F238E27FC236}">
                    <a16:creationId xmlns:a16="http://schemas.microsoft.com/office/drawing/2014/main" id="{6F5A486C-634A-4EC8-9386-2AA4B939C2C5}"/>
                  </a:ext>
                </a:extLst>
              </p:cNvPr>
              <p:cNvSpPr>
                <a:spLocks noChangeShapeType="1"/>
              </p:cNvSpPr>
              <p:nvPr/>
            </p:nvSpPr>
            <p:spPr bwMode="auto">
              <a:xfrm flipV="1">
                <a:off x="4304467" y="3836390"/>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nvGrpSpPr>
              <p:cNvPr id="18" name="Grupo 17">
                <a:extLst>
                  <a:ext uri="{FF2B5EF4-FFF2-40B4-BE49-F238E27FC236}">
                    <a16:creationId xmlns:a16="http://schemas.microsoft.com/office/drawing/2014/main" id="{4793FFBC-B557-47BB-93DE-4AB3C9386FC9}"/>
                  </a:ext>
                </a:extLst>
              </p:cNvPr>
              <p:cNvGrpSpPr/>
              <p:nvPr/>
            </p:nvGrpSpPr>
            <p:grpSpPr>
              <a:xfrm>
                <a:off x="4777996" y="2938526"/>
                <a:ext cx="730108" cy="1225347"/>
                <a:chOff x="4777996" y="2938526"/>
                <a:chExt cx="730108" cy="1225347"/>
              </a:xfrm>
            </p:grpSpPr>
            <p:sp>
              <p:nvSpPr>
                <p:cNvPr id="100" name="Freeform 24">
                  <a:extLst>
                    <a:ext uri="{FF2B5EF4-FFF2-40B4-BE49-F238E27FC236}">
                      <a16:creationId xmlns:a16="http://schemas.microsoft.com/office/drawing/2014/main" id="{25F3E227-07DD-4EA0-B8DA-5D71665A5453}"/>
                    </a:ext>
                  </a:extLst>
                </p:cNvPr>
                <p:cNvSpPr>
                  <a:spLocks/>
                </p:cNvSpPr>
                <p:nvPr/>
              </p:nvSpPr>
              <p:spPr bwMode="blackWhite">
                <a:xfrm>
                  <a:off x="5134991" y="2938526"/>
                  <a:ext cx="373113" cy="20244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102" name="Group 82">
                  <a:extLst>
                    <a:ext uri="{FF2B5EF4-FFF2-40B4-BE49-F238E27FC236}">
                      <a16:creationId xmlns:a16="http://schemas.microsoft.com/office/drawing/2014/main" id="{712AF981-A185-455E-A42A-9E77F785F8D0}"/>
                    </a:ext>
                  </a:extLst>
                </p:cNvPr>
                <p:cNvGrpSpPr>
                  <a:grpSpLocks/>
                </p:cNvGrpSpPr>
                <p:nvPr/>
              </p:nvGrpSpPr>
              <p:grpSpPr bwMode="auto">
                <a:xfrm>
                  <a:off x="5149758" y="3717132"/>
                  <a:ext cx="354264" cy="215385"/>
                  <a:chOff x="2640" y="2373"/>
                  <a:chExt cx="384" cy="183"/>
                </a:xfrm>
              </p:grpSpPr>
              <p:sp>
                <p:nvSpPr>
                  <p:cNvPr id="103" name="Freeform 71">
                    <a:extLst>
                      <a:ext uri="{FF2B5EF4-FFF2-40B4-BE49-F238E27FC236}">
                        <a16:creationId xmlns:a16="http://schemas.microsoft.com/office/drawing/2014/main" id="{7A312F8D-D932-4DB6-9F1D-C05229CA1646}"/>
                      </a:ext>
                    </a:extLst>
                  </p:cNvPr>
                  <p:cNvSpPr>
                    <a:spLocks/>
                  </p:cNvSpPr>
                  <p:nvPr/>
                </p:nvSpPr>
                <p:spPr bwMode="blackWhite">
                  <a:xfrm>
                    <a:off x="2640" y="2375"/>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106" name="Text Box 72">
                    <a:extLst>
                      <a:ext uri="{FF2B5EF4-FFF2-40B4-BE49-F238E27FC236}">
                        <a16:creationId xmlns:a16="http://schemas.microsoft.com/office/drawing/2014/main" id="{47DB2DD4-FF98-4950-96A9-C862EBDE8626}"/>
                      </a:ext>
                    </a:extLst>
                  </p:cNvPr>
                  <p:cNvSpPr txBox="1">
                    <a:spLocks noChangeArrowheads="1"/>
                  </p:cNvSpPr>
                  <p:nvPr/>
                </p:nvSpPr>
                <p:spPr bwMode="blackWhite">
                  <a:xfrm>
                    <a:off x="2640" y="2373"/>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Fila2</a:t>
                    </a:r>
                  </a:p>
                </p:txBody>
              </p:sp>
            </p:grpSp>
            <p:sp>
              <p:nvSpPr>
                <p:cNvPr id="108" name="Rectangle 10">
                  <a:extLst>
                    <a:ext uri="{FF2B5EF4-FFF2-40B4-BE49-F238E27FC236}">
                      <a16:creationId xmlns:a16="http://schemas.microsoft.com/office/drawing/2014/main" id="{EBE5EAA8-E9AB-477D-B4FD-7DD58A931D92}"/>
                    </a:ext>
                  </a:extLst>
                </p:cNvPr>
                <p:cNvSpPr>
                  <a:spLocks noChangeArrowheads="1"/>
                </p:cNvSpPr>
                <p:nvPr/>
              </p:nvSpPr>
              <p:spPr bwMode="auto">
                <a:xfrm>
                  <a:off x="4777996" y="3856096"/>
                  <a:ext cx="354264"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RP</a:t>
                  </a:r>
                  <a:endParaRPr lang="es-ES_tradnl" sz="2400" b="1" baseline="-25000" dirty="0"/>
                </a:p>
              </p:txBody>
            </p:sp>
          </p:grpSp>
        </p:grpSp>
        <p:sp>
          <p:nvSpPr>
            <p:cNvPr id="131" name="Rectangle 10">
              <a:extLst>
                <a:ext uri="{FF2B5EF4-FFF2-40B4-BE49-F238E27FC236}">
                  <a16:creationId xmlns:a16="http://schemas.microsoft.com/office/drawing/2014/main" id="{DB89A4C3-3C5E-47B9-948B-C79C71EEE100}"/>
                </a:ext>
              </a:extLst>
            </p:cNvPr>
            <p:cNvSpPr>
              <a:spLocks noChangeArrowheads="1"/>
            </p:cNvSpPr>
            <p:nvPr/>
          </p:nvSpPr>
          <p:spPr bwMode="auto">
            <a:xfrm>
              <a:off x="5213520" y="3318531"/>
              <a:ext cx="511175" cy="304800"/>
            </a:xfrm>
            <a:prstGeom prst="rect">
              <a:avLst/>
            </a:prstGeom>
            <a:noFill/>
            <a:ln w="19050">
              <a:noFill/>
              <a:miter lim="800000"/>
              <a:headEnd/>
              <a:tailEnd/>
            </a:ln>
          </p:spPr>
          <p:txBody>
            <a:bodyPr wrap="square" lIns="0" tIns="0" rIns="0" bIns="0" anchor="ctr">
              <a:spAutoFit/>
            </a:bodyPr>
            <a:lstStyle/>
            <a:p>
              <a:r>
                <a:rPr lang="es-ES" dirty="0" err="1"/>
                <a:t>t</a:t>
              </a:r>
              <a:r>
                <a:rPr lang="es-ES" sz="2400" b="1" baseline="-25000" dirty="0" err="1"/>
                <a:t>RCD</a:t>
              </a:r>
              <a:endParaRPr lang="es-ES_tradnl" sz="2400" b="1" baseline="-25000" dirty="0"/>
            </a:p>
          </p:txBody>
        </p:sp>
        <p:sp>
          <p:nvSpPr>
            <p:cNvPr id="132" name="Line 11">
              <a:extLst>
                <a:ext uri="{FF2B5EF4-FFF2-40B4-BE49-F238E27FC236}">
                  <a16:creationId xmlns:a16="http://schemas.microsoft.com/office/drawing/2014/main" id="{80094CB0-3DD0-4CC9-90E7-9694E94DB880}"/>
                </a:ext>
              </a:extLst>
            </p:cNvPr>
            <p:cNvSpPr>
              <a:spLocks noChangeShapeType="1"/>
            </p:cNvSpPr>
            <p:nvPr/>
          </p:nvSpPr>
          <p:spPr bwMode="auto">
            <a:xfrm>
              <a:off x="5126939" y="3293005"/>
              <a:ext cx="789945" cy="17592"/>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cxnSp>
        <p:nvCxnSpPr>
          <p:cNvPr id="133" name="Conector recto 132">
            <a:extLst>
              <a:ext uri="{FF2B5EF4-FFF2-40B4-BE49-F238E27FC236}">
                <a16:creationId xmlns:a16="http://schemas.microsoft.com/office/drawing/2014/main" id="{98B65355-D8F3-48A6-90C1-5EF9460AAD76}"/>
              </a:ext>
            </a:extLst>
          </p:cNvPr>
          <p:cNvCxnSpPr>
            <a:cxnSpLocks/>
          </p:cNvCxnSpPr>
          <p:nvPr/>
        </p:nvCxnSpPr>
        <p:spPr bwMode="auto">
          <a:xfrm>
            <a:off x="7483456" y="236644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4" name="Conector recto 133">
            <a:extLst>
              <a:ext uri="{FF2B5EF4-FFF2-40B4-BE49-F238E27FC236}">
                <a16:creationId xmlns:a16="http://schemas.microsoft.com/office/drawing/2014/main" id="{A514F77F-20F1-4626-8F4B-86796AA8EA59}"/>
              </a:ext>
            </a:extLst>
          </p:cNvPr>
          <p:cNvCxnSpPr>
            <a:cxnSpLocks/>
          </p:cNvCxnSpPr>
          <p:nvPr/>
        </p:nvCxnSpPr>
        <p:spPr bwMode="auto">
          <a:xfrm>
            <a:off x="7867880" y="2335061"/>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5" name="Conector recto 134">
            <a:extLst>
              <a:ext uri="{FF2B5EF4-FFF2-40B4-BE49-F238E27FC236}">
                <a16:creationId xmlns:a16="http://schemas.microsoft.com/office/drawing/2014/main" id="{40F2B329-A7AB-4EAA-9CDB-D9467B4B5A10}"/>
              </a:ext>
            </a:extLst>
          </p:cNvPr>
          <p:cNvCxnSpPr>
            <a:cxnSpLocks/>
          </p:cNvCxnSpPr>
          <p:nvPr/>
        </p:nvCxnSpPr>
        <p:spPr bwMode="auto">
          <a:xfrm>
            <a:off x="8305322" y="2335352"/>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101" name="Rectangle 3">
            <a:extLst>
              <a:ext uri="{FF2B5EF4-FFF2-40B4-BE49-F238E27FC236}">
                <a16:creationId xmlns:a16="http://schemas.microsoft.com/office/drawing/2014/main" id="{FB6C1417-6F21-4D13-B5E1-007E0B6DB977}"/>
              </a:ext>
            </a:extLst>
          </p:cNvPr>
          <p:cNvSpPr txBox="1">
            <a:spLocks noChangeArrowheads="1"/>
          </p:cNvSpPr>
          <p:nvPr/>
        </p:nvSpPr>
        <p:spPr>
          <a:xfrm>
            <a:off x="175210" y="1203973"/>
            <a:ext cx="8227640" cy="546784"/>
          </a:xfrm>
          <a:prstGeom prst="rect">
            <a:avLst/>
          </a:prstGeom>
        </p:spPr>
        <p:txBody>
          <a:bodyPr/>
          <a:lstStyle/>
          <a:p>
            <a:pPr marL="819150" lvl="1" indent="-236538" algn="l">
              <a:lnSpc>
                <a:spcPts val="3000"/>
              </a:lnSpc>
              <a:spcBef>
                <a:spcPts val="550"/>
              </a:spcBef>
              <a:buClr>
                <a:srgbClr val="C58D01"/>
              </a:buClr>
              <a:buSzPct val="85000"/>
              <a:buFont typeface="Wingdings" pitchFamily="2" charset="2"/>
              <a:buChar char="ü"/>
              <a:defRPr/>
            </a:pPr>
            <a:r>
              <a:rPr lang="es-ES" altLang="ja-JP" dirty="0">
                <a:latin typeface="+mn-lt"/>
                <a:ea typeface="+mn-ea"/>
              </a:rPr>
              <a:t>¿Qué es PRECARGA </a:t>
            </a:r>
            <a:r>
              <a:rPr lang="es-ES" altLang="ja-JP" dirty="0">
                <a:solidFill>
                  <a:schemeClr val="accent3"/>
                </a:solidFill>
                <a:latin typeface="+mn-lt"/>
                <a:ea typeface="+mn-ea"/>
              </a:rPr>
              <a:t>Automática</a:t>
            </a:r>
            <a:r>
              <a:rPr lang="es-ES" altLang="ja-JP" dirty="0">
                <a:latin typeface="+mn-lt"/>
                <a:ea typeface="+mn-ea"/>
              </a:rPr>
              <a:t> ?</a:t>
            </a:r>
            <a:endParaRPr lang="es-ES" dirty="0">
              <a:latin typeface="+mn-lt"/>
              <a:ea typeface="+mn-ea"/>
            </a:endParaRPr>
          </a:p>
        </p:txBody>
      </p:sp>
      <p:sp>
        <p:nvSpPr>
          <p:cNvPr id="9" name="CuadroTexto 8">
            <a:extLst>
              <a:ext uri="{FF2B5EF4-FFF2-40B4-BE49-F238E27FC236}">
                <a16:creationId xmlns:a16="http://schemas.microsoft.com/office/drawing/2014/main" id="{1D1D6F11-AD42-41C6-8FC9-631133A281D0}"/>
              </a:ext>
            </a:extLst>
          </p:cNvPr>
          <p:cNvSpPr txBox="1"/>
          <p:nvPr/>
        </p:nvSpPr>
        <p:spPr>
          <a:xfrm>
            <a:off x="1341659" y="1657778"/>
            <a:ext cx="5150290" cy="523220"/>
          </a:xfrm>
          <a:prstGeom prst="rect">
            <a:avLst/>
          </a:prstGeom>
          <a:noFill/>
        </p:spPr>
        <p:txBody>
          <a:bodyPr wrap="square" rtlCol="0">
            <a:spAutoFit/>
          </a:bodyPr>
          <a:lstStyle/>
          <a:p>
            <a:r>
              <a:rPr lang="es-ES" sz="1400" dirty="0">
                <a:solidFill>
                  <a:schemeClr val="accent1">
                    <a:lumMod val="75000"/>
                  </a:schemeClr>
                </a:solidFill>
              </a:rPr>
              <a:t>El chip cierra la fila en el lugar ÓPTIMO. Sin necesidad de que externamente se proporcione la orden PRECARGA</a:t>
            </a:r>
          </a:p>
        </p:txBody>
      </p:sp>
      <p:sp>
        <p:nvSpPr>
          <p:cNvPr id="95" name="Rectangle 3">
            <a:extLst>
              <a:ext uri="{FF2B5EF4-FFF2-40B4-BE49-F238E27FC236}">
                <a16:creationId xmlns:a16="http://schemas.microsoft.com/office/drawing/2014/main" id="{80B73811-480C-461F-AC9F-76C452D09913}"/>
              </a:ext>
            </a:extLst>
          </p:cNvPr>
          <p:cNvSpPr txBox="1">
            <a:spLocks noChangeArrowheads="1"/>
          </p:cNvSpPr>
          <p:nvPr/>
        </p:nvSpPr>
        <p:spPr>
          <a:xfrm>
            <a:off x="72930" y="783933"/>
            <a:ext cx="7848200"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 </a:t>
            </a:r>
            <a:r>
              <a:rPr kumimoji="0" lang="es-ES" sz="2400" b="1" i="0" u="none" strike="noStrike" kern="1200" cap="none" spc="0" normalizeH="0" baseline="0" noProof="0" dirty="0">
                <a:ln>
                  <a:noFill/>
                </a:ln>
                <a:solidFill>
                  <a:schemeClr val="bg2">
                    <a:lumMod val="50000"/>
                  </a:schemeClr>
                </a:solidFill>
                <a:effectLst/>
                <a:uLnTx/>
                <a:uFillTx/>
                <a:latin typeface="+mn-lt"/>
                <a:ea typeface="+mn-ea"/>
                <a:cs typeface="+mn-cs"/>
              </a:rPr>
              <a:t>Ejemplo de Acceso a bloque (lectura)</a:t>
            </a:r>
          </a:p>
        </p:txBody>
      </p:sp>
    </p:spTree>
    <p:extLst>
      <p:ext uri="{BB962C8B-B14F-4D97-AF65-F5344CB8AC3E}">
        <p14:creationId xmlns:p14="http://schemas.microsoft.com/office/powerpoint/2010/main" val="395274436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es-ES" dirty="0"/>
              <a:t>Cronogramas de lectura y escritura</a:t>
            </a:r>
          </a:p>
        </p:txBody>
      </p:sp>
      <p:sp>
        <p:nvSpPr>
          <p:cNvPr id="71684" name="Rectangle 3"/>
          <p:cNvSpPr>
            <a:spLocks noGrp="1" noChangeArrowheads="1"/>
          </p:cNvSpPr>
          <p:nvPr>
            <p:ph type="body" idx="1"/>
          </p:nvPr>
        </p:nvSpPr>
        <p:spPr>
          <a:xfrm>
            <a:off x="533400" y="1052513"/>
            <a:ext cx="8182004" cy="3948123"/>
          </a:xfrm>
        </p:spPr>
        <p:txBody>
          <a:bodyPr/>
          <a:lstStyle/>
          <a:p>
            <a:pPr marL="82550" indent="0">
              <a:buNone/>
            </a:pPr>
            <a:r>
              <a:rPr lang="es-ES" u="sng" dirty="0">
                <a:solidFill>
                  <a:srgbClr val="FF0000"/>
                </a:solidFill>
              </a:rPr>
              <a:t>RESUMEN</a:t>
            </a:r>
            <a:endParaRPr lang="es-ES" dirty="0"/>
          </a:p>
          <a:p>
            <a:r>
              <a:rPr lang="es-ES" dirty="0"/>
              <a:t>Temporización de la PRECHARGE</a:t>
            </a:r>
          </a:p>
          <a:p>
            <a:pPr lvl="1"/>
            <a:r>
              <a:rPr lang="es-ES" dirty="0"/>
              <a:t>El cumplimiento de </a:t>
            </a:r>
            <a:r>
              <a:rPr lang="es-ES" sz="2400" dirty="0" err="1">
                <a:latin typeface="Arial Narrow" pitchFamily="34" charset="0"/>
              </a:rPr>
              <a:t>t</a:t>
            </a:r>
            <a:r>
              <a:rPr lang="es-ES" sz="2400" b="1" baseline="-25000" dirty="0" err="1">
                <a:latin typeface="Arial Narrow" pitchFamily="34" charset="0"/>
              </a:rPr>
              <a:t>RAS</a:t>
            </a:r>
            <a:r>
              <a:rPr lang="es-ES" b="1" baseline="-25000" dirty="0">
                <a:latin typeface="Arial Narrow" pitchFamily="34" charset="0"/>
              </a:rPr>
              <a:t>  </a:t>
            </a:r>
            <a:r>
              <a:rPr lang="es-ES" dirty="0"/>
              <a:t>es una condición necesaria para la orden </a:t>
            </a:r>
            <a:r>
              <a:rPr lang="es-ES" dirty="0">
                <a:latin typeface="Arial Narrow" pitchFamily="34" charset="0"/>
              </a:rPr>
              <a:t>PRECHARGE,</a:t>
            </a:r>
            <a:r>
              <a:rPr lang="es-ES" dirty="0"/>
              <a:t> pero no es suficiente. </a:t>
            </a:r>
          </a:p>
          <a:p>
            <a:pPr lvl="1"/>
            <a:r>
              <a:rPr lang="es-ES" dirty="0"/>
              <a:t>En caso de tamaño de bloque elevado, aun cumpliendo </a:t>
            </a:r>
            <a:r>
              <a:rPr lang="es-ES" sz="2400" dirty="0" err="1">
                <a:latin typeface="Arial Narrow" pitchFamily="34" charset="0"/>
              </a:rPr>
              <a:t>t</a:t>
            </a:r>
            <a:r>
              <a:rPr lang="es-ES" sz="2400" b="1" baseline="-25000" dirty="0" err="1">
                <a:latin typeface="Arial Narrow" pitchFamily="34" charset="0"/>
              </a:rPr>
              <a:t>RAS</a:t>
            </a:r>
            <a:r>
              <a:rPr lang="es-ES" dirty="0"/>
              <a:t>, el envío prematuro </a:t>
            </a:r>
            <a:r>
              <a:rPr lang="es-ES" dirty="0">
                <a:latin typeface="Arial Narrow" pitchFamily="34" charset="0"/>
              </a:rPr>
              <a:t>PRECHARGE </a:t>
            </a:r>
            <a:r>
              <a:rPr lang="es-ES" dirty="0"/>
              <a:t> podría abortar la operación de lectura /escritura.</a:t>
            </a:r>
          </a:p>
          <a:p>
            <a:pPr lvl="1"/>
            <a:r>
              <a:rPr lang="es-ES" dirty="0"/>
              <a:t>El momento óptimo de envío de la orden de</a:t>
            </a:r>
            <a:r>
              <a:rPr lang="es-ES" altLang="ja-JP" dirty="0">
                <a:ea typeface="ＭＳ Ｐゴシック" charset="-128"/>
              </a:rPr>
              <a:t> </a:t>
            </a:r>
            <a:r>
              <a:rPr lang="es-ES" dirty="0">
                <a:latin typeface="Arial Narrow" pitchFamily="34" charset="0"/>
              </a:rPr>
              <a:t>PRECHARGE</a:t>
            </a:r>
            <a:r>
              <a:rPr lang="es-ES" dirty="0"/>
              <a:t> coincide con R</a:t>
            </a:r>
            <a:r>
              <a:rPr lang="es-ES" baseline="30000" dirty="0">
                <a:latin typeface="Arial" pitchFamily="34" charset="0"/>
                <a:cs typeface="Arial" pitchFamily="34" charset="0"/>
              </a:rPr>
              <a:t>(1)</a:t>
            </a:r>
            <a:r>
              <a:rPr lang="es-ES" baseline="30000" dirty="0"/>
              <a:t> </a:t>
            </a:r>
            <a:r>
              <a:rPr lang="es-ES" dirty="0"/>
              <a:t>ciclos después de ordenar la operación de </a:t>
            </a:r>
            <a:r>
              <a:rPr lang="es-ES" dirty="0">
                <a:latin typeface="Arial Narrow" pitchFamily="34" charset="0"/>
              </a:rPr>
              <a:t>READ</a:t>
            </a:r>
            <a:r>
              <a:rPr lang="es-ES" baseline="30000" dirty="0"/>
              <a:t>(2) </a:t>
            </a:r>
            <a:r>
              <a:rPr lang="es-ES" dirty="0"/>
              <a:t>o </a:t>
            </a:r>
            <a:r>
              <a:rPr lang="es-ES" dirty="0">
                <a:latin typeface="Arial Narrow" pitchFamily="34" charset="0"/>
              </a:rPr>
              <a:t>WRITE</a:t>
            </a:r>
          </a:p>
        </p:txBody>
      </p:sp>
      <p:sp>
        <p:nvSpPr>
          <p:cNvPr id="5" name="4 CuadroTexto"/>
          <p:cNvSpPr txBox="1"/>
          <p:nvPr/>
        </p:nvSpPr>
        <p:spPr>
          <a:xfrm>
            <a:off x="1173994" y="5785013"/>
            <a:ext cx="6397905" cy="858697"/>
          </a:xfrm>
          <a:prstGeom prst="rect">
            <a:avLst/>
          </a:prstGeom>
          <a:noFill/>
        </p:spPr>
        <p:txBody>
          <a:bodyPr wrap="none" rtlCol="0">
            <a:spAutoFit/>
          </a:bodyPr>
          <a:lstStyle/>
          <a:p>
            <a:pPr algn="l"/>
            <a:r>
              <a:rPr lang="es-ES" sz="1400" i="1" dirty="0"/>
              <a:t>(1)   R representa el tamaño del bloque (número de palabras que se acceden)</a:t>
            </a:r>
          </a:p>
          <a:p>
            <a:pPr algn="l">
              <a:spcBef>
                <a:spcPts val="600"/>
              </a:spcBef>
            </a:pPr>
            <a:r>
              <a:rPr lang="es-ES" sz="1400" i="1" dirty="0"/>
              <a:t>(2)  En el caso de lectura, ello es equivalente a enviar la orden de </a:t>
            </a:r>
            <a:r>
              <a:rPr lang="es-ES" sz="1400" i="1" dirty="0">
                <a:latin typeface="Arial Narrow" pitchFamily="34" charset="0"/>
              </a:rPr>
              <a:t>PRECHARGE </a:t>
            </a:r>
          </a:p>
          <a:p>
            <a:pPr algn="l"/>
            <a:r>
              <a:rPr lang="es-ES" sz="1400" i="1" dirty="0"/>
              <a:t>      CL-1 ciclos antes de que se transfiera la última palabra del bloque </a:t>
            </a:r>
          </a:p>
        </p:txBody>
      </p:sp>
      <p:sp>
        <p:nvSpPr>
          <p:cNvPr id="2" name="2 Marcador de número de diapositiva">
            <a:extLst>
              <a:ext uri="{FF2B5EF4-FFF2-40B4-BE49-F238E27FC236}">
                <a16:creationId xmlns:a16="http://schemas.microsoft.com/office/drawing/2014/main" id="{DE1884A0-1617-B666-2862-3D7F14CCC4D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82</a:t>
            </a:fld>
            <a:endParaRPr lang="en-US" dirty="0"/>
          </a:p>
        </p:txBody>
      </p:sp>
    </p:spTree>
    <p:extLst>
      <p:ext uri="{BB962C8B-B14F-4D97-AF65-F5344CB8AC3E}">
        <p14:creationId xmlns:p14="http://schemas.microsoft.com/office/powerpoint/2010/main" val="3297128029"/>
      </p:ext>
    </p:extLst>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es-ES" dirty="0"/>
              <a:t>Cronogramas de lectura y escritura</a:t>
            </a:r>
          </a:p>
        </p:txBody>
      </p:sp>
      <p:sp>
        <p:nvSpPr>
          <p:cNvPr id="71684" name="Rectangle 3"/>
          <p:cNvSpPr>
            <a:spLocks noGrp="1" noChangeArrowheads="1"/>
          </p:cNvSpPr>
          <p:nvPr>
            <p:ph type="body" idx="1"/>
          </p:nvPr>
        </p:nvSpPr>
        <p:spPr>
          <a:xfrm>
            <a:off x="533400" y="1052513"/>
            <a:ext cx="8182004" cy="1728415"/>
          </a:xfrm>
        </p:spPr>
        <p:txBody>
          <a:bodyPr/>
          <a:lstStyle/>
          <a:p>
            <a:pPr marL="82550" indent="0">
              <a:buNone/>
            </a:pPr>
            <a:r>
              <a:rPr lang="es-ES" u="sng" dirty="0">
                <a:solidFill>
                  <a:srgbClr val="FF0000"/>
                </a:solidFill>
              </a:rPr>
              <a:t>RESUMEN</a:t>
            </a:r>
            <a:endParaRPr lang="es-ES" dirty="0"/>
          </a:p>
          <a:p>
            <a:r>
              <a:rPr lang="es-ES" dirty="0"/>
              <a:t>La precarga automática</a:t>
            </a:r>
          </a:p>
          <a:p>
            <a:pPr lvl="1"/>
            <a:r>
              <a:rPr lang="es-ES" dirty="0">
                <a:cs typeface="Arial" charset="0"/>
              </a:rPr>
              <a:t>Las operaciones </a:t>
            </a:r>
            <a:r>
              <a:rPr lang="es-ES" dirty="0">
                <a:latin typeface="Arial Narrow" pitchFamily="34" charset="0"/>
                <a:cs typeface="Arial" charset="0"/>
              </a:rPr>
              <a:t>READ</a:t>
            </a:r>
            <a:r>
              <a:rPr lang="es-ES" dirty="0">
                <a:cs typeface="Arial" charset="0"/>
              </a:rPr>
              <a:t> y </a:t>
            </a:r>
            <a:r>
              <a:rPr lang="es-ES" dirty="0">
                <a:latin typeface="Arial Narrow" pitchFamily="34" charset="0"/>
                <a:cs typeface="Arial" charset="0"/>
              </a:rPr>
              <a:t>WRITE</a:t>
            </a:r>
            <a:r>
              <a:rPr lang="es-ES" dirty="0">
                <a:cs typeface="Arial" charset="0"/>
              </a:rPr>
              <a:t> tienen un modo automático, que provoca la precarga en el momento óptimo y ahorra la orden </a:t>
            </a:r>
            <a:r>
              <a:rPr lang="es-ES" dirty="0">
                <a:latin typeface="Arial Narrow" pitchFamily="34" charset="0"/>
              </a:rPr>
              <a:t>PRECHARGE</a:t>
            </a:r>
            <a:r>
              <a:rPr lang="es-ES" dirty="0">
                <a:cs typeface="Arial" charset="0"/>
              </a:rPr>
              <a:t> explícita.</a:t>
            </a:r>
          </a:p>
        </p:txBody>
      </p:sp>
      <p:sp>
        <p:nvSpPr>
          <p:cNvPr id="2" name="2 Marcador de número de diapositiva">
            <a:extLst>
              <a:ext uri="{FF2B5EF4-FFF2-40B4-BE49-F238E27FC236}">
                <a16:creationId xmlns:a16="http://schemas.microsoft.com/office/drawing/2014/main" id="{1D99AA43-F459-77A7-4E3B-56122E3CE30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83</a:t>
            </a:fld>
            <a:endParaRPr lang="en-US" dirty="0"/>
          </a:p>
        </p:txBody>
      </p:sp>
    </p:spTree>
    <p:extLst>
      <p:ext uri="{BB962C8B-B14F-4D97-AF65-F5344CB8AC3E}">
        <p14:creationId xmlns:p14="http://schemas.microsoft.com/office/powerpoint/2010/main" val="1522139143"/>
      </p:ext>
    </p:extLst>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es-ES" dirty="0"/>
              <a:t>Cronogramas de lectura y escritura</a:t>
            </a:r>
          </a:p>
        </p:txBody>
      </p:sp>
      <p:sp>
        <p:nvSpPr>
          <p:cNvPr id="73732" name="Rectangle 3"/>
          <p:cNvSpPr>
            <a:spLocks noGrp="1" noChangeArrowheads="1"/>
          </p:cNvSpPr>
          <p:nvPr>
            <p:ph type="body" idx="1"/>
          </p:nvPr>
        </p:nvSpPr>
        <p:spPr>
          <a:xfrm>
            <a:off x="539552" y="1341780"/>
            <a:ext cx="6829412" cy="731629"/>
          </a:xfrm>
        </p:spPr>
        <p:txBody>
          <a:bodyPr/>
          <a:lstStyle/>
          <a:p>
            <a:r>
              <a:rPr lang="es-ES" dirty="0"/>
              <a:t> Ejemplo con punto óptimo de la PRECHARGE</a:t>
            </a:r>
          </a:p>
        </p:txBody>
      </p:sp>
      <p:sp>
        <p:nvSpPr>
          <p:cNvPr id="73733" name="Line 33"/>
          <p:cNvSpPr>
            <a:spLocks noChangeShapeType="1"/>
          </p:cNvSpPr>
          <p:nvPr/>
        </p:nvSpPr>
        <p:spPr bwMode="auto">
          <a:xfrm>
            <a:off x="4848517" y="2534578"/>
            <a:ext cx="0" cy="1846262"/>
          </a:xfrm>
          <a:prstGeom prst="line">
            <a:avLst/>
          </a:prstGeom>
          <a:noFill/>
          <a:ln w="9525">
            <a:solidFill>
              <a:schemeClr val="tx1"/>
            </a:solidFill>
            <a:round/>
            <a:headEnd/>
            <a:tailEnd/>
          </a:ln>
        </p:spPr>
        <p:txBody>
          <a:bodyPr wrap="none" lIns="0" tIns="0" rIns="0" bIns="0" anchor="ctr"/>
          <a:lstStyle/>
          <a:p>
            <a:endParaRPr lang="es-ES"/>
          </a:p>
        </p:txBody>
      </p:sp>
      <p:sp>
        <p:nvSpPr>
          <p:cNvPr id="73734" name="Line 45"/>
          <p:cNvSpPr>
            <a:spLocks noChangeShapeType="1"/>
          </p:cNvSpPr>
          <p:nvPr/>
        </p:nvSpPr>
        <p:spPr bwMode="auto">
          <a:xfrm>
            <a:off x="6575717" y="2509177"/>
            <a:ext cx="0" cy="3456000"/>
          </a:xfrm>
          <a:prstGeom prst="line">
            <a:avLst/>
          </a:prstGeom>
          <a:noFill/>
          <a:ln w="9525">
            <a:solidFill>
              <a:schemeClr val="tx1"/>
            </a:solidFill>
            <a:round/>
            <a:headEnd/>
            <a:tailEnd/>
          </a:ln>
        </p:spPr>
        <p:txBody>
          <a:bodyPr wrap="none" lIns="0" tIns="0" rIns="0" bIns="0" anchor="ctr"/>
          <a:lstStyle/>
          <a:p>
            <a:endParaRPr lang="es-ES"/>
          </a:p>
        </p:txBody>
      </p:sp>
      <p:sp>
        <p:nvSpPr>
          <p:cNvPr id="73735" name="Line 17"/>
          <p:cNvSpPr>
            <a:spLocks noChangeShapeType="1"/>
          </p:cNvSpPr>
          <p:nvPr/>
        </p:nvSpPr>
        <p:spPr bwMode="auto">
          <a:xfrm>
            <a:off x="2543467" y="2510765"/>
            <a:ext cx="0" cy="1393825"/>
          </a:xfrm>
          <a:prstGeom prst="line">
            <a:avLst/>
          </a:prstGeom>
          <a:noFill/>
          <a:ln w="9525">
            <a:solidFill>
              <a:schemeClr val="tx1"/>
            </a:solidFill>
            <a:round/>
            <a:headEnd/>
            <a:tailEnd/>
          </a:ln>
        </p:spPr>
        <p:txBody>
          <a:bodyPr wrap="none" lIns="0" tIns="0" rIns="0" bIns="0" anchor="ctr"/>
          <a:lstStyle/>
          <a:p>
            <a:endParaRPr lang="es-ES"/>
          </a:p>
        </p:txBody>
      </p:sp>
      <p:sp>
        <p:nvSpPr>
          <p:cNvPr id="73736" name="Line 25"/>
          <p:cNvSpPr>
            <a:spLocks noChangeShapeType="1"/>
          </p:cNvSpPr>
          <p:nvPr/>
        </p:nvSpPr>
        <p:spPr bwMode="auto">
          <a:xfrm>
            <a:off x="3695992" y="2510765"/>
            <a:ext cx="0" cy="1393825"/>
          </a:xfrm>
          <a:prstGeom prst="line">
            <a:avLst/>
          </a:prstGeom>
          <a:noFill/>
          <a:ln w="9525">
            <a:solidFill>
              <a:schemeClr val="tx1"/>
            </a:solidFill>
            <a:round/>
            <a:headEnd/>
            <a:tailEnd/>
          </a:ln>
        </p:spPr>
        <p:txBody>
          <a:bodyPr wrap="none" lIns="0" tIns="0" rIns="0" bIns="0" anchor="ctr"/>
          <a:lstStyle/>
          <a:p>
            <a:endParaRPr lang="es-ES"/>
          </a:p>
        </p:txBody>
      </p:sp>
      <p:sp>
        <p:nvSpPr>
          <p:cNvPr id="73737" name="Line 29"/>
          <p:cNvSpPr>
            <a:spLocks noChangeShapeType="1"/>
          </p:cNvSpPr>
          <p:nvPr/>
        </p:nvSpPr>
        <p:spPr bwMode="auto">
          <a:xfrm>
            <a:off x="4272255" y="2510765"/>
            <a:ext cx="0" cy="1870075"/>
          </a:xfrm>
          <a:prstGeom prst="line">
            <a:avLst/>
          </a:prstGeom>
          <a:noFill/>
          <a:ln w="9525">
            <a:solidFill>
              <a:schemeClr val="tx1"/>
            </a:solidFill>
            <a:round/>
            <a:headEnd/>
            <a:tailEnd/>
          </a:ln>
        </p:spPr>
        <p:txBody>
          <a:bodyPr wrap="none" lIns="0" tIns="0" rIns="0" bIns="0" anchor="ctr"/>
          <a:lstStyle/>
          <a:p>
            <a:endParaRPr lang="es-ES"/>
          </a:p>
        </p:txBody>
      </p:sp>
      <p:sp>
        <p:nvSpPr>
          <p:cNvPr id="73738" name="Line 41"/>
          <p:cNvSpPr>
            <a:spLocks noChangeShapeType="1"/>
          </p:cNvSpPr>
          <p:nvPr/>
        </p:nvSpPr>
        <p:spPr bwMode="auto">
          <a:xfrm>
            <a:off x="5999455" y="2510765"/>
            <a:ext cx="0" cy="1870075"/>
          </a:xfrm>
          <a:prstGeom prst="line">
            <a:avLst/>
          </a:prstGeom>
          <a:noFill/>
          <a:ln w="9525">
            <a:solidFill>
              <a:schemeClr val="tx1"/>
            </a:solidFill>
            <a:round/>
            <a:headEnd/>
            <a:tailEnd/>
          </a:ln>
        </p:spPr>
        <p:txBody>
          <a:bodyPr wrap="none" lIns="0" tIns="0" rIns="0" bIns="0" anchor="ctr"/>
          <a:lstStyle/>
          <a:p>
            <a:endParaRPr lang="es-ES"/>
          </a:p>
        </p:txBody>
      </p:sp>
      <p:sp>
        <p:nvSpPr>
          <p:cNvPr id="73739" name="Line 16"/>
          <p:cNvSpPr>
            <a:spLocks noChangeShapeType="1"/>
          </p:cNvSpPr>
          <p:nvPr/>
        </p:nvSpPr>
        <p:spPr bwMode="auto">
          <a:xfrm>
            <a:off x="1967204" y="2532990"/>
            <a:ext cx="223" cy="3420000"/>
          </a:xfrm>
          <a:prstGeom prst="line">
            <a:avLst/>
          </a:prstGeom>
          <a:noFill/>
          <a:ln w="9525">
            <a:solidFill>
              <a:schemeClr val="tx1"/>
            </a:solidFill>
            <a:round/>
            <a:headEnd/>
            <a:tailEnd/>
          </a:ln>
        </p:spPr>
        <p:txBody>
          <a:bodyPr wrap="none" lIns="0" tIns="0" rIns="0" bIns="0" anchor="ctr"/>
          <a:lstStyle/>
          <a:p>
            <a:endParaRPr lang="es-ES"/>
          </a:p>
        </p:txBody>
      </p:sp>
      <p:sp>
        <p:nvSpPr>
          <p:cNvPr id="73740" name="Line 21"/>
          <p:cNvSpPr>
            <a:spLocks noChangeShapeType="1"/>
          </p:cNvSpPr>
          <p:nvPr/>
        </p:nvSpPr>
        <p:spPr bwMode="auto">
          <a:xfrm>
            <a:off x="3119730" y="2532990"/>
            <a:ext cx="0" cy="2346325"/>
          </a:xfrm>
          <a:prstGeom prst="line">
            <a:avLst/>
          </a:prstGeom>
          <a:noFill/>
          <a:ln w="9525">
            <a:solidFill>
              <a:schemeClr val="tx1"/>
            </a:solidFill>
            <a:round/>
            <a:headEnd/>
            <a:tailEnd/>
          </a:ln>
        </p:spPr>
        <p:txBody>
          <a:bodyPr wrap="none" lIns="0" tIns="0" rIns="0" bIns="0" anchor="ctr"/>
          <a:lstStyle/>
          <a:p>
            <a:endParaRPr lang="es-ES"/>
          </a:p>
        </p:txBody>
      </p:sp>
      <p:sp>
        <p:nvSpPr>
          <p:cNvPr id="73741" name="Line 37"/>
          <p:cNvSpPr>
            <a:spLocks noChangeShapeType="1"/>
          </p:cNvSpPr>
          <p:nvPr/>
        </p:nvSpPr>
        <p:spPr bwMode="auto">
          <a:xfrm>
            <a:off x="5423192" y="2532990"/>
            <a:ext cx="620" cy="3288382"/>
          </a:xfrm>
          <a:prstGeom prst="line">
            <a:avLst/>
          </a:prstGeom>
          <a:noFill/>
          <a:ln w="9525">
            <a:solidFill>
              <a:schemeClr val="tx1"/>
            </a:solidFill>
            <a:round/>
            <a:headEnd/>
            <a:tailEnd/>
          </a:ln>
        </p:spPr>
        <p:txBody>
          <a:bodyPr wrap="none" lIns="0" tIns="0" rIns="0" bIns="0" anchor="ctr"/>
          <a:lstStyle/>
          <a:p>
            <a:endParaRPr lang="es-ES"/>
          </a:p>
        </p:txBody>
      </p:sp>
      <p:sp>
        <p:nvSpPr>
          <p:cNvPr id="73742" name="Line 49"/>
          <p:cNvSpPr>
            <a:spLocks noChangeShapeType="1"/>
          </p:cNvSpPr>
          <p:nvPr/>
        </p:nvSpPr>
        <p:spPr bwMode="auto">
          <a:xfrm flipH="1">
            <a:off x="7151980" y="2532990"/>
            <a:ext cx="0" cy="1416050"/>
          </a:xfrm>
          <a:prstGeom prst="line">
            <a:avLst/>
          </a:prstGeom>
          <a:noFill/>
          <a:ln w="9525">
            <a:solidFill>
              <a:schemeClr val="tx1"/>
            </a:solidFill>
            <a:round/>
            <a:headEnd/>
            <a:tailEnd/>
          </a:ln>
        </p:spPr>
        <p:txBody>
          <a:bodyPr wrap="none" lIns="0" tIns="0" rIns="0" bIns="0" anchor="ctr"/>
          <a:lstStyle/>
          <a:p>
            <a:endParaRPr lang="es-ES"/>
          </a:p>
        </p:txBody>
      </p:sp>
      <p:sp>
        <p:nvSpPr>
          <p:cNvPr id="73743" name="Rectangle 69"/>
          <p:cNvSpPr>
            <a:spLocks noChangeArrowheads="1"/>
          </p:cNvSpPr>
          <p:nvPr/>
        </p:nvSpPr>
        <p:spPr bwMode="auto">
          <a:xfrm>
            <a:off x="6205830" y="3599790"/>
            <a:ext cx="0" cy="304800"/>
          </a:xfrm>
          <a:prstGeom prst="rect">
            <a:avLst/>
          </a:prstGeom>
          <a:noFill/>
          <a:ln w="19050">
            <a:noFill/>
            <a:miter lim="800000"/>
            <a:headEnd/>
            <a:tailEnd/>
          </a:ln>
        </p:spPr>
        <p:txBody>
          <a:bodyPr wrap="none" lIns="0" tIns="0" rIns="0" bIns="0" anchor="ctr">
            <a:spAutoFit/>
          </a:bodyPr>
          <a:lstStyle/>
          <a:p>
            <a:endParaRPr lang="es-ES_tradnl"/>
          </a:p>
        </p:txBody>
      </p:sp>
      <p:grpSp>
        <p:nvGrpSpPr>
          <p:cNvPr id="2" name="Group 149"/>
          <p:cNvGrpSpPr>
            <a:grpSpLocks/>
          </p:cNvGrpSpPr>
          <p:nvPr/>
        </p:nvGrpSpPr>
        <p:grpSpPr bwMode="auto">
          <a:xfrm>
            <a:off x="4056355" y="3982378"/>
            <a:ext cx="2303462" cy="304800"/>
            <a:chOff x="2744" y="2317"/>
            <a:chExt cx="1542" cy="192"/>
          </a:xfrm>
        </p:grpSpPr>
        <p:grpSp>
          <p:nvGrpSpPr>
            <p:cNvPr id="3" name="Group 82"/>
            <p:cNvGrpSpPr>
              <a:grpSpLocks/>
            </p:cNvGrpSpPr>
            <p:nvPr/>
          </p:nvGrpSpPr>
          <p:grpSpPr bwMode="auto">
            <a:xfrm>
              <a:off x="2744" y="2317"/>
              <a:ext cx="384" cy="192"/>
              <a:chOff x="2640" y="2304"/>
              <a:chExt cx="384" cy="192"/>
            </a:xfrm>
          </p:grpSpPr>
          <p:sp>
            <p:nvSpPr>
              <p:cNvPr id="73838"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9" name="Text Box 72"/>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P0</a:t>
                </a:r>
              </a:p>
            </p:txBody>
          </p:sp>
        </p:grpSp>
        <p:grpSp>
          <p:nvGrpSpPr>
            <p:cNvPr id="4" name="Group 85"/>
            <p:cNvGrpSpPr>
              <a:grpSpLocks/>
            </p:cNvGrpSpPr>
            <p:nvPr/>
          </p:nvGrpSpPr>
          <p:grpSpPr bwMode="auto">
            <a:xfrm>
              <a:off x="3130" y="2317"/>
              <a:ext cx="384" cy="192"/>
              <a:chOff x="3024" y="2304"/>
              <a:chExt cx="384" cy="192"/>
            </a:xfrm>
          </p:grpSpPr>
          <p:sp>
            <p:nvSpPr>
              <p:cNvPr id="73836"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7" name="Text Box 75"/>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5" name="Group 84"/>
            <p:cNvGrpSpPr>
              <a:grpSpLocks/>
            </p:cNvGrpSpPr>
            <p:nvPr/>
          </p:nvGrpSpPr>
          <p:grpSpPr bwMode="auto">
            <a:xfrm>
              <a:off x="3514" y="2317"/>
              <a:ext cx="384" cy="192"/>
              <a:chOff x="3408" y="2304"/>
              <a:chExt cx="384" cy="192"/>
            </a:xfrm>
          </p:grpSpPr>
          <p:sp>
            <p:nvSpPr>
              <p:cNvPr id="73834"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5" name="Text Box 78"/>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6" name="Group 83"/>
            <p:cNvGrpSpPr>
              <a:grpSpLocks/>
            </p:cNvGrpSpPr>
            <p:nvPr/>
          </p:nvGrpSpPr>
          <p:grpSpPr bwMode="auto">
            <a:xfrm>
              <a:off x="3902" y="2317"/>
              <a:ext cx="384" cy="192"/>
              <a:chOff x="3792" y="2304"/>
              <a:chExt cx="384" cy="192"/>
            </a:xfrm>
          </p:grpSpPr>
          <p:sp>
            <p:nvSpPr>
              <p:cNvPr id="73832"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3" name="Text Box 81"/>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grpSp>
      <p:grpSp>
        <p:nvGrpSpPr>
          <p:cNvPr id="7" name="Group 87"/>
          <p:cNvGrpSpPr>
            <a:grpSpLocks/>
          </p:cNvGrpSpPr>
          <p:nvPr/>
        </p:nvGrpSpPr>
        <p:grpSpPr bwMode="auto">
          <a:xfrm>
            <a:off x="1895767" y="2610778"/>
            <a:ext cx="5327650" cy="228600"/>
            <a:chOff x="720" y="1728"/>
            <a:chExt cx="3552" cy="144"/>
          </a:xfrm>
        </p:grpSpPr>
        <p:sp>
          <p:nvSpPr>
            <p:cNvPr id="73825" name="Freeform 67"/>
            <p:cNvSpPr>
              <a:spLocks/>
            </p:cNvSpPr>
            <p:nvPr/>
          </p:nvSpPr>
          <p:spPr bwMode="auto">
            <a:xfrm>
              <a:off x="720"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73826" name="Freeform 68"/>
            <p:cNvSpPr>
              <a:spLocks/>
            </p:cNvSpPr>
            <p:nvPr/>
          </p:nvSpPr>
          <p:spPr bwMode="auto">
            <a:xfrm>
              <a:off x="2256"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73827" name="Freeform 86"/>
            <p:cNvSpPr>
              <a:spLocks/>
            </p:cNvSpPr>
            <p:nvPr/>
          </p:nvSpPr>
          <p:spPr bwMode="auto">
            <a:xfrm>
              <a:off x="3792" y="1728"/>
              <a:ext cx="480" cy="144"/>
            </a:xfrm>
            <a:custGeom>
              <a:avLst/>
              <a:gdLst>
                <a:gd name="T0" fmla="*/ 0 w 480"/>
                <a:gd name="T1" fmla="*/ 144 h 144"/>
                <a:gd name="T2" fmla="*/ 96 w 480"/>
                <a:gd name="T3" fmla="*/ 0 h 144"/>
                <a:gd name="T4" fmla="*/ 192 w 480"/>
                <a:gd name="T5" fmla="*/ 0 h 144"/>
                <a:gd name="T6" fmla="*/ 288 w 480"/>
                <a:gd name="T7" fmla="*/ 144 h 144"/>
                <a:gd name="T8" fmla="*/ 384 w 480"/>
                <a:gd name="T9" fmla="*/ 144 h 144"/>
                <a:gd name="T10" fmla="*/ 480 w 480"/>
                <a:gd name="T11" fmla="*/ 0 h 144"/>
                <a:gd name="T12" fmla="*/ 0 60000 65536"/>
                <a:gd name="T13" fmla="*/ 0 60000 65536"/>
                <a:gd name="T14" fmla="*/ 0 60000 65536"/>
                <a:gd name="T15" fmla="*/ 0 60000 65536"/>
                <a:gd name="T16" fmla="*/ 0 60000 65536"/>
                <a:gd name="T17" fmla="*/ 0 60000 65536"/>
                <a:gd name="T18" fmla="*/ 0 w 480"/>
                <a:gd name="T19" fmla="*/ 0 h 144"/>
                <a:gd name="T20" fmla="*/ 480 w 480"/>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480" h="144">
                  <a:moveTo>
                    <a:pt x="0" y="144"/>
                  </a:moveTo>
                  <a:lnTo>
                    <a:pt x="96" y="0"/>
                  </a:lnTo>
                  <a:lnTo>
                    <a:pt x="192" y="0"/>
                  </a:lnTo>
                  <a:lnTo>
                    <a:pt x="288" y="144"/>
                  </a:lnTo>
                  <a:lnTo>
                    <a:pt x="384" y="144"/>
                  </a:lnTo>
                  <a:lnTo>
                    <a:pt x="480" y="0"/>
                  </a:lnTo>
                </a:path>
              </a:pathLst>
            </a:custGeom>
            <a:noFill/>
            <a:ln w="12700">
              <a:solidFill>
                <a:schemeClr val="tx1"/>
              </a:solidFill>
              <a:round/>
              <a:headEnd/>
              <a:tailEnd/>
            </a:ln>
          </p:spPr>
          <p:txBody>
            <a:bodyPr wrap="none" lIns="0" tIns="0" rIns="0" bIns="0" anchor="ctr"/>
            <a:lstStyle/>
            <a:p>
              <a:endParaRPr lang="es-ES"/>
            </a:p>
          </p:txBody>
        </p:sp>
      </p:grpSp>
      <p:sp>
        <p:nvSpPr>
          <p:cNvPr id="73746" name="Line 88"/>
          <p:cNvSpPr>
            <a:spLocks noChangeShapeType="1"/>
          </p:cNvSpPr>
          <p:nvPr/>
        </p:nvSpPr>
        <p:spPr bwMode="auto">
          <a:xfrm>
            <a:off x="1980000" y="4741252"/>
            <a:ext cx="1116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47" name="Text Box 89"/>
          <p:cNvSpPr txBox="1">
            <a:spLocks noChangeArrowheads="1"/>
          </p:cNvSpPr>
          <p:nvPr/>
        </p:nvSpPr>
        <p:spPr bwMode="auto">
          <a:xfrm>
            <a:off x="1980118" y="4865582"/>
            <a:ext cx="1125308" cy="366254"/>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Ciclos para </a:t>
            </a:r>
            <a:br>
              <a:rPr lang="es-ES_tradnl" sz="1400" dirty="0"/>
            </a:br>
            <a:r>
              <a:rPr lang="es-ES_tradnl" sz="1400" dirty="0"/>
              <a:t>satisfacer </a:t>
            </a:r>
            <a:r>
              <a:rPr lang="es-ES_tradnl" sz="1400" dirty="0" err="1"/>
              <a:t>t</a:t>
            </a:r>
            <a:r>
              <a:rPr lang="es-ES_tradnl" sz="1400" b="1" baseline="-25000" dirty="0" err="1"/>
              <a:t>RCD</a:t>
            </a:r>
            <a:endParaRPr lang="es-ES_tradnl" sz="1400" dirty="0"/>
          </a:p>
        </p:txBody>
      </p:sp>
      <p:sp>
        <p:nvSpPr>
          <p:cNvPr id="73748" name="Line 90"/>
          <p:cNvSpPr>
            <a:spLocks noChangeShapeType="1"/>
          </p:cNvSpPr>
          <p:nvPr/>
        </p:nvSpPr>
        <p:spPr bwMode="auto">
          <a:xfrm>
            <a:off x="3131999" y="4309403"/>
            <a:ext cx="1080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49" name="Text Box 91"/>
          <p:cNvSpPr txBox="1">
            <a:spLocks noChangeArrowheads="1"/>
          </p:cNvSpPr>
          <p:nvPr/>
        </p:nvSpPr>
        <p:spPr bwMode="auto">
          <a:xfrm>
            <a:off x="3191564" y="4433534"/>
            <a:ext cx="963404" cy="366254"/>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valor de </a:t>
            </a:r>
            <a:r>
              <a:rPr lang="es-ES_tradnl" sz="1400" dirty="0">
                <a:latin typeface="Arial Narrow" pitchFamily="34" charset="0"/>
              </a:rPr>
              <a:t>CL</a:t>
            </a:r>
            <a:br>
              <a:rPr lang="es-ES_tradnl" altLang="ja-JP" sz="1400" dirty="0">
                <a:ea typeface="Geneva" pitchFamily="1" charset="-128"/>
              </a:rPr>
            </a:br>
            <a:r>
              <a:rPr lang="es-ES_tradnl" altLang="ja-JP" sz="1400" dirty="0">
                <a:ea typeface="Geneva" pitchFamily="1" charset="-128"/>
              </a:rPr>
              <a:t>programado</a:t>
            </a:r>
            <a:endParaRPr lang="es-ES_tradnl" sz="1400" dirty="0"/>
          </a:p>
        </p:txBody>
      </p:sp>
      <p:grpSp>
        <p:nvGrpSpPr>
          <p:cNvPr id="8" name="116 Grupo"/>
          <p:cNvGrpSpPr/>
          <p:nvPr/>
        </p:nvGrpSpPr>
        <p:grpSpPr>
          <a:xfrm>
            <a:off x="539552" y="2624679"/>
            <a:ext cx="1132378" cy="1633209"/>
            <a:chOff x="767860" y="2320539"/>
            <a:chExt cx="1132378" cy="1633209"/>
          </a:xfrm>
        </p:grpSpPr>
        <p:sp>
          <p:nvSpPr>
            <p:cNvPr id="73760" name="Text Box 122"/>
            <p:cNvSpPr txBox="1">
              <a:spLocks noChangeArrowheads="1"/>
            </p:cNvSpPr>
            <p:nvPr/>
          </p:nvSpPr>
          <p:spPr bwMode="auto">
            <a:xfrm>
              <a:off x="1451397" y="2320539"/>
              <a:ext cx="448841" cy="276999"/>
            </a:xfrm>
            <a:prstGeom prst="rect">
              <a:avLst/>
            </a:prstGeom>
            <a:noFill/>
            <a:ln w="19050">
              <a:noFill/>
              <a:miter lim="800000"/>
              <a:headEnd/>
              <a:tailEnd/>
            </a:ln>
          </p:spPr>
          <p:txBody>
            <a:bodyPr wrap="none" lIns="0" tIns="0" rIns="0" bIns="0" anchor="ctr">
              <a:spAutoFit/>
            </a:bodyPr>
            <a:lstStyle/>
            <a:p>
              <a:pPr algn="r"/>
              <a:r>
                <a:rPr lang="es-ES_tradnl" sz="1800" dirty="0"/>
                <a:t>CLK</a:t>
              </a:r>
              <a:endParaRPr lang="es-ES_tradnl" sz="2400" dirty="0"/>
            </a:p>
          </p:txBody>
        </p:sp>
        <p:sp>
          <p:nvSpPr>
            <p:cNvPr id="73761" name="Text Box 123"/>
            <p:cNvSpPr txBox="1">
              <a:spLocks noChangeArrowheads="1"/>
            </p:cNvSpPr>
            <p:nvPr/>
          </p:nvSpPr>
          <p:spPr bwMode="auto">
            <a:xfrm>
              <a:off x="1061226" y="2793127"/>
              <a:ext cx="740587" cy="246221"/>
            </a:xfrm>
            <a:prstGeom prst="rect">
              <a:avLst/>
            </a:prstGeom>
            <a:noFill/>
            <a:ln w="19050">
              <a:noFill/>
              <a:miter lim="800000"/>
              <a:headEnd/>
              <a:tailEnd/>
            </a:ln>
          </p:spPr>
          <p:txBody>
            <a:bodyPr wrap="none" lIns="0" tIns="0" rIns="0" bIns="0" anchor="ctr">
              <a:spAutoFit/>
            </a:bodyPr>
            <a:lstStyle/>
            <a:p>
              <a:pPr algn="r"/>
              <a:r>
                <a:rPr lang="es-ES_tradnl" sz="1600" dirty="0"/>
                <a:t>órdenes</a:t>
              </a:r>
            </a:p>
          </p:txBody>
        </p:sp>
        <p:sp>
          <p:nvSpPr>
            <p:cNvPr id="73762" name="Text Box 124"/>
            <p:cNvSpPr txBox="1">
              <a:spLocks noChangeArrowheads="1"/>
            </p:cNvSpPr>
            <p:nvPr/>
          </p:nvSpPr>
          <p:spPr bwMode="auto">
            <a:xfrm>
              <a:off x="767860" y="3250327"/>
              <a:ext cx="1035540" cy="246221"/>
            </a:xfrm>
            <a:prstGeom prst="rect">
              <a:avLst/>
            </a:prstGeom>
            <a:noFill/>
            <a:ln w="19050">
              <a:noFill/>
              <a:miter lim="800000"/>
              <a:headEnd/>
              <a:tailEnd/>
            </a:ln>
          </p:spPr>
          <p:txBody>
            <a:bodyPr wrap="none" lIns="0" tIns="0" rIns="0" bIns="0" anchor="ctr">
              <a:spAutoFit/>
            </a:bodyPr>
            <a:lstStyle/>
            <a:p>
              <a:pPr algn="r"/>
              <a:r>
                <a:rPr lang="es-ES_tradnl" sz="1600" dirty="0"/>
                <a:t>direcciones</a:t>
              </a:r>
            </a:p>
          </p:txBody>
        </p:sp>
        <p:sp>
          <p:nvSpPr>
            <p:cNvPr id="73763" name="Text Box 125"/>
            <p:cNvSpPr txBox="1">
              <a:spLocks noChangeArrowheads="1"/>
            </p:cNvSpPr>
            <p:nvPr/>
          </p:nvSpPr>
          <p:spPr bwMode="auto">
            <a:xfrm>
              <a:off x="1282611" y="3707527"/>
              <a:ext cx="501739" cy="246221"/>
            </a:xfrm>
            <a:prstGeom prst="rect">
              <a:avLst/>
            </a:prstGeom>
            <a:noFill/>
            <a:ln w="19050">
              <a:noFill/>
              <a:miter lim="800000"/>
              <a:headEnd/>
              <a:tailEnd/>
            </a:ln>
          </p:spPr>
          <p:txBody>
            <a:bodyPr wrap="none" lIns="0" tIns="0" rIns="0" bIns="0" anchor="ctr">
              <a:spAutoFit/>
            </a:bodyPr>
            <a:lstStyle/>
            <a:p>
              <a:pPr algn="r"/>
              <a:r>
                <a:rPr lang="es-ES_tradnl" sz="1600" dirty="0"/>
                <a:t>datos</a:t>
              </a:r>
            </a:p>
          </p:txBody>
        </p:sp>
      </p:grpSp>
      <p:sp>
        <p:nvSpPr>
          <p:cNvPr id="73764" name="Line 126"/>
          <p:cNvSpPr>
            <a:spLocks noChangeShapeType="1"/>
          </p:cNvSpPr>
          <p:nvPr/>
        </p:nvSpPr>
        <p:spPr bwMode="auto">
          <a:xfrm>
            <a:off x="4843758" y="2437740"/>
            <a:ext cx="576000" cy="0"/>
          </a:xfrm>
          <a:prstGeom prst="line">
            <a:avLst/>
          </a:prstGeom>
          <a:noFill/>
          <a:ln w="28575">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65" name="Text Box 127"/>
          <p:cNvSpPr txBox="1">
            <a:spLocks noChangeArrowheads="1"/>
          </p:cNvSpPr>
          <p:nvPr/>
        </p:nvSpPr>
        <p:spPr bwMode="auto">
          <a:xfrm>
            <a:off x="4775492" y="2106667"/>
            <a:ext cx="720725" cy="246221"/>
          </a:xfrm>
          <a:prstGeom prst="rect">
            <a:avLst/>
          </a:prstGeom>
          <a:noFill/>
          <a:ln w="19050">
            <a:noFill/>
            <a:miter lim="800000"/>
            <a:headEnd/>
            <a:tailEnd/>
          </a:ln>
        </p:spPr>
        <p:txBody>
          <a:bodyPr lIns="0" tIns="0" rIns="0" bIns="0" anchor="ctr">
            <a:spAutoFit/>
          </a:bodyPr>
          <a:lstStyle/>
          <a:p>
            <a:r>
              <a:rPr lang="es-ES_tradnl" sz="1600" dirty="0"/>
              <a:t>10 </a:t>
            </a:r>
            <a:r>
              <a:rPr lang="es-ES_tradnl" sz="1600" dirty="0" err="1"/>
              <a:t>ns</a:t>
            </a:r>
            <a:endParaRPr lang="es-ES_tradnl" sz="1600" dirty="0"/>
          </a:p>
        </p:txBody>
      </p:sp>
      <p:grpSp>
        <p:nvGrpSpPr>
          <p:cNvPr id="9" name="117 Grupo"/>
          <p:cNvGrpSpPr/>
          <p:nvPr/>
        </p:nvGrpSpPr>
        <p:grpSpPr>
          <a:xfrm>
            <a:off x="1679867" y="3067978"/>
            <a:ext cx="576263" cy="762000"/>
            <a:chOff x="1908175" y="2763838"/>
            <a:chExt cx="576263" cy="762000"/>
          </a:xfrm>
        </p:grpSpPr>
        <p:grpSp>
          <p:nvGrpSpPr>
            <p:cNvPr id="10" name="Group 92"/>
            <p:cNvGrpSpPr>
              <a:grpSpLocks/>
            </p:cNvGrpSpPr>
            <p:nvPr/>
          </p:nvGrpSpPr>
          <p:grpSpPr bwMode="auto">
            <a:xfrm>
              <a:off x="1908175" y="3221038"/>
              <a:ext cx="576263" cy="304800"/>
              <a:chOff x="576" y="2016"/>
              <a:chExt cx="384" cy="192"/>
            </a:xfrm>
          </p:grpSpPr>
          <p:sp>
            <p:nvSpPr>
              <p:cNvPr id="73823" name="Freeform 93"/>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24" name="Text Box 94"/>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fil</a:t>
                </a:r>
              </a:p>
            </p:txBody>
          </p:sp>
        </p:grpSp>
        <p:grpSp>
          <p:nvGrpSpPr>
            <p:cNvPr id="11" name="Group 55"/>
            <p:cNvGrpSpPr>
              <a:grpSpLocks/>
            </p:cNvGrpSpPr>
            <p:nvPr/>
          </p:nvGrpSpPr>
          <p:grpSpPr bwMode="auto">
            <a:xfrm>
              <a:off x="1908175" y="2763838"/>
              <a:ext cx="576263" cy="304800"/>
              <a:chOff x="576" y="2016"/>
              <a:chExt cx="384" cy="192"/>
            </a:xfrm>
          </p:grpSpPr>
          <p:sp>
            <p:nvSpPr>
              <p:cNvPr id="73803" name="Freeform 9"/>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4" name="Text Box 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ACT</a:t>
                </a:r>
              </a:p>
            </p:txBody>
          </p:sp>
        </p:grpSp>
      </p:grpSp>
      <p:grpSp>
        <p:nvGrpSpPr>
          <p:cNvPr id="12" name="Group 56"/>
          <p:cNvGrpSpPr>
            <a:grpSpLocks/>
          </p:cNvGrpSpPr>
          <p:nvPr/>
        </p:nvGrpSpPr>
        <p:grpSpPr bwMode="auto">
          <a:xfrm>
            <a:off x="2256130" y="3067978"/>
            <a:ext cx="576262" cy="304800"/>
            <a:chOff x="960" y="2016"/>
            <a:chExt cx="384" cy="192"/>
          </a:xfrm>
        </p:grpSpPr>
        <p:sp>
          <p:nvSpPr>
            <p:cNvPr id="73801" name="Freeform 12"/>
            <p:cNvSpPr>
              <a:spLocks/>
            </p:cNvSpPr>
            <p:nvPr/>
          </p:nvSpPr>
          <p:spPr bwMode="blackWhite">
            <a:xfrm>
              <a:off x="96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2" name="Text Box 11"/>
            <p:cNvSpPr txBox="1">
              <a:spLocks noChangeArrowheads="1"/>
            </p:cNvSpPr>
            <p:nvPr/>
          </p:nvSpPr>
          <p:spPr bwMode="blackWhite">
            <a:xfrm>
              <a:off x="960" y="2016"/>
              <a:ext cx="384" cy="192"/>
            </a:xfrm>
            <a:prstGeom prst="rect">
              <a:avLst/>
            </a:prstGeom>
            <a:noFill/>
            <a:ln w="19050">
              <a:noFill/>
              <a:miter lim="800000"/>
              <a:headEnd/>
              <a:tailEnd/>
            </a:ln>
          </p:spPr>
          <p:txBody>
            <a:bodyPr lIns="0" tIns="0" rIns="0" bIns="0">
              <a:spAutoFit/>
            </a:bodyPr>
            <a:lstStyle/>
            <a:p>
              <a:r>
                <a:rPr lang="es-ES" dirty="0">
                  <a:solidFill>
                    <a:srgbClr val="FFFFFF"/>
                  </a:solidFill>
                  <a:latin typeface="Arial Narrow" pitchFamily="34" charset="0"/>
                </a:rPr>
                <a:t>NOP</a:t>
              </a:r>
            </a:p>
          </p:txBody>
        </p:sp>
      </p:grpSp>
      <p:grpSp>
        <p:nvGrpSpPr>
          <p:cNvPr id="13" name="Group 57"/>
          <p:cNvGrpSpPr>
            <a:grpSpLocks/>
          </p:cNvGrpSpPr>
          <p:nvPr/>
        </p:nvGrpSpPr>
        <p:grpSpPr bwMode="auto">
          <a:xfrm>
            <a:off x="3407067" y="3067978"/>
            <a:ext cx="576263" cy="304800"/>
            <a:chOff x="1344" y="2016"/>
            <a:chExt cx="384" cy="192"/>
          </a:xfrm>
        </p:grpSpPr>
        <p:sp>
          <p:nvSpPr>
            <p:cNvPr id="73799" name="Freeform 20"/>
            <p:cNvSpPr>
              <a:spLocks/>
            </p:cNvSpPr>
            <p:nvPr/>
          </p:nvSpPr>
          <p:spPr bwMode="blackWhite">
            <a:xfrm>
              <a:off x="134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0" name="Text Box 19"/>
            <p:cNvSpPr txBox="1">
              <a:spLocks noChangeArrowheads="1"/>
            </p:cNvSpPr>
            <p:nvPr/>
          </p:nvSpPr>
          <p:spPr bwMode="blackWhite">
            <a:xfrm>
              <a:off x="1344" y="2016"/>
              <a:ext cx="384" cy="192"/>
            </a:xfrm>
            <a:prstGeom prst="rect">
              <a:avLst/>
            </a:prstGeom>
            <a:noFill/>
            <a:ln w="19050">
              <a:noFill/>
              <a:miter lim="800000"/>
              <a:headEnd/>
              <a:tailEnd/>
            </a:ln>
          </p:spPr>
          <p:txBody>
            <a:bodyPr lIns="0" tIns="0" rIns="0" bIns="0">
              <a:spAutoFit/>
            </a:bodyPr>
            <a:lstStyle/>
            <a:p>
              <a:r>
                <a:rPr lang="es-ES" dirty="0">
                  <a:solidFill>
                    <a:srgbClr val="FFFFFF"/>
                  </a:solidFill>
                  <a:latin typeface="Arial Narrow" pitchFamily="34" charset="0"/>
                </a:rPr>
                <a:t>NOP</a:t>
              </a:r>
            </a:p>
          </p:txBody>
        </p:sp>
      </p:grpSp>
      <p:grpSp>
        <p:nvGrpSpPr>
          <p:cNvPr id="14" name="118 Grupo"/>
          <p:cNvGrpSpPr/>
          <p:nvPr/>
        </p:nvGrpSpPr>
        <p:grpSpPr>
          <a:xfrm>
            <a:off x="2832392" y="3067978"/>
            <a:ext cx="574675" cy="762000"/>
            <a:chOff x="3060700" y="2763838"/>
            <a:chExt cx="574675" cy="762000"/>
          </a:xfrm>
        </p:grpSpPr>
        <p:grpSp>
          <p:nvGrpSpPr>
            <p:cNvPr id="15" name="Group 95"/>
            <p:cNvGrpSpPr>
              <a:grpSpLocks/>
            </p:cNvGrpSpPr>
            <p:nvPr/>
          </p:nvGrpSpPr>
          <p:grpSpPr bwMode="auto">
            <a:xfrm>
              <a:off x="3060700" y="3221038"/>
              <a:ext cx="574675" cy="304800"/>
              <a:chOff x="1728" y="2016"/>
              <a:chExt cx="384" cy="192"/>
            </a:xfrm>
          </p:grpSpPr>
          <p:sp>
            <p:nvSpPr>
              <p:cNvPr id="73821" name="Freeform 96"/>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22" name="Text Box 97"/>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col</a:t>
                </a:r>
                <a:endParaRPr lang="es-ES" b="1" dirty="0">
                  <a:solidFill>
                    <a:schemeClr val="bg1"/>
                  </a:solidFill>
                  <a:latin typeface="Arial Narrow" pitchFamily="34" charset="0"/>
                </a:endParaRPr>
              </a:p>
            </p:txBody>
          </p:sp>
        </p:grpSp>
        <p:grpSp>
          <p:nvGrpSpPr>
            <p:cNvPr id="16" name="Group 58"/>
            <p:cNvGrpSpPr>
              <a:grpSpLocks/>
            </p:cNvGrpSpPr>
            <p:nvPr/>
          </p:nvGrpSpPr>
          <p:grpSpPr bwMode="auto">
            <a:xfrm>
              <a:off x="3060700" y="2763838"/>
              <a:ext cx="574675" cy="304800"/>
              <a:chOff x="1728" y="2016"/>
              <a:chExt cx="384" cy="192"/>
            </a:xfrm>
          </p:grpSpPr>
          <p:sp>
            <p:nvSpPr>
              <p:cNvPr id="73797" name="Freeform 24"/>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8" name="Text Box 23"/>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RD</a:t>
                </a:r>
              </a:p>
            </p:txBody>
          </p:sp>
        </p:grpSp>
      </p:grpSp>
      <p:grpSp>
        <p:nvGrpSpPr>
          <p:cNvPr id="17" name="Group 59"/>
          <p:cNvGrpSpPr>
            <a:grpSpLocks/>
          </p:cNvGrpSpPr>
          <p:nvPr/>
        </p:nvGrpSpPr>
        <p:grpSpPr bwMode="auto">
          <a:xfrm>
            <a:off x="3983330" y="3067978"/>
            <a:ext cx="576262" cy="304800"/>
            <a:chOff x="2112" y="2016"/>
            <a:chExt cx="384" cy="192"/>
          </a:xfrm>
        </p:grpSpPr>
        <p:sp>
          <p:nvSpPr>
            <p:cNvPr id="73795" name="Freeform 28"/>
            <p:cNvSpPr>
              <a:spLocks/>
            </p:cNvSpPr>
            <p:nvPr/>
          </p:nvSpPr>
          <p:spPr bwMode="blackWhite">
            <a:xfrm>
              <a:off x="2112"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6" name="Text Box 27"/>
            <p:cNvSpPr txBox="1">
              <a:spLocks noChangeArrowheads="1"/>
            </p:cNvSpPr>
            <p:nvPr/>
          </p:nvSpPr>
          <p:spPr bwMode="blackWhite">
            <a:xfrm>
              <a:off x="2112"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18" name="Group 60"/>
          <p:cNvGrpSpPr>
            <a:grpSpLocks/>
          </p:cNvGrpSpPr>
          <p:nvPr/>
        </p:nvGrpSpPr>
        <p:grpSpPr bwMode="auto">
          <a:xfrm>
            <a:off x="5135855" y="3063215"/>
            <a:ext cx="576262" cy="304800"/>
            <a:chOff x="2496" y="2016"/>
            <a:chExt cx="384" cy="192"/>
          </a:xfrm>
        </p:grpSpPr>
        <p:sp>
          <p:nvSpPr>
            <p:cNvPr id="73793" name="Freeform 32"/>
            <p:cNvSpPr>
              <a:spLocks/>
            </p:cNvSpPr>
            <p:nvPr/>
          </p:nvSpPr>
          <p:spPr bwMode="blackWhite">
            <a:xfrm>
              <a:off x="249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4" name="Text Box 31"/>
            <p:cNvSpPr txBox="1">
              <a:spLocks noChangeArrowheads="1"/>
            </p:cNvSpPr>
            <p:nvPr/>
          </p:nvSpPr>
          <p:spPr bwMode="blackWhite">
            <a:xfrm>
              <a:off x="2496"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PRE</a:t>
              </a:r>
            </a:p>
          </p:txBody>
        </p:sp>
      </p:grpSp>
      <p:grpSp>
        <p:nvGrpSpPr>
          <p:cNvPr id="19" name="Group 61"/>
          <p:cNvGrpSpPr>
            <a:grpSpLocks/>
          </p:cNvGrpSpPr>
          <p:nvPr/>
        </p:nvGrpSpPr>
        <p:grpSpPr bwMode="auto">
          <a:xfrm>
            <a:off x="4559592" y="3067978"/>
            <a:ext cx="576263" cy="304800"/>
            <a:chOff x="2880" y="2016"/>
            <a:chExt cx="384" cy="192"/>
          </a:xfrm>
        </p:grpSpPr>
        <p:sp>
          <p:nvSpPr>
            <p:cNvPr id="73791" name="Freeform 36"/>
            <p:cNvSpPr>
              <a:spLocks/>
            </p:cNvSpPr>
            <p:nvPr/>
          </p:nvSpPr>
          <p:spPr bwMode="blackWhite">
            <a:xfrm>
              <a:off x="288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2" name="Text Box 35"/>
            <p:cNvSpPr txBox="1">
              <a:spLocks noChangeArrowheads="1"/>
            </p:cNvSpPr>
            <p:nvPr/>
          </p:nvSpPr>
          <p:spPr bwMode="blackWhite">
            <a:xfrm>
              <a:off x="2880"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0" name="Group 62"/>
          <p:cNvGrpSpPr>
            <a:grpSpLocks/>
          </p:cNvGrpSpPr>
          <p:nvPr/>
        </p:nvGrpSpPr>
        <p:grpSpPr bwMode="auto">
          <a:xfrm>
            <a:off x="5712117" y="3067978"/>
            <a:ext cx="574675" cy="304800"/>
            <a:chOff x="3264" y="2016"/>
            <a:chExt cx="384" cy="192"/>
          </a:xfrm>
        </p:grpSpPr>
        <p:sp>
          <p:nvSpPr>
            <p:cNvPr id="73789" name="Freeform 40"/>
            <p:cNvSpPr>
              <a:spLocks/>
            </p:cNvSpPr>
            <p:nvPr/>
          </p:nvSpPr>
          <p:spPr bwMode="blackWhite">
            <a:xfrm>
              <a:off x="326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0" name="Text Box 39"/>
            <p:cNvSpPr txBox="1">
              <a:spLocks noChangeArrowheads="1"/>
            </p:cNvSpPr>
            <p:nvPr/>
          </p:nvSpPr>
          <p:spPr bwMode="blackWhite">
            <a:xfrm>
              <a:off x="3264"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1" name="Group 63"/>
          <p:cNvGrpSpPr>
            <a:grpSpLocks/>
          </p:cNvGrpSpPr>
          <p:nvPr/>
        </p:nvGrpSpPr>
        <p:grpSpPr bwMode="auto">
          <a:xfrm>
            <a:off x="6864642" y="3085440"/>
            <a:ext cx="576263" cy="304800"/>
            <a:chOff x="3648" y="2016"/>
            <a:chExt cx="384" cy="192"/>
          </a:xfrm>
        </p:grpSpPr>
        <p:sp>
          <p:nvSpPr>
            <p:cNvPr id="73787" name="Freeform 44"/>
            <p:cNvSpPr>
              <a:spLocks/>
            </p:cNvSpPr>
            <p:nvPr/>
          </p:nvSpPr>
          <p:spPr bwMode="blackWhite">
            <a:xfrm>
              <a:off x="364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88" name="Text Box 43"/>
            <p:cNvSpPr txBox="1">
              <a:spLocks noChangeArrowheads="1"/>
            </p:cNvSpPr>
            <p:nvPr/>
          </p:nvSpPr>
          <p:spPr bwMode="blackWhite">
            <a:xfrm>
              <a:off x="3648"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2" name="119 Grupo"/>
          <p:cNvGrpSpPr/>
          <p:nvPr/>
        </p:nvGrpSpPr>
        <p:grpSpPr>
          <a:xfrm>
            <a:off x="6286792" y="3063215"/>
            <a:ext cx="577850" cy="766763"/>
            <a:chOff x="6515100" y="2759075"/>
            <a:chExt cx="577850" cy="766763"/>
          </a:xfrm>
        </p:grpSpPr>
        <p:grpSp>
          <p:nvGrpSpPr>
            <p:cNvPr id="23" name="Group 116"/>
            <p:cNvGrpSpPr>
              <a:grpSpLocks/>
            </p:cNvGrpSpPr>
            <p:nvPr/>
          </p:nvGrpSpPr>
          <p:grpSpPr bwMode="auto">
            <a:xfrm>
              <a:off x="6515100" y="3221038"/>
              <a:ext cx="576263" cy="304800"/>
              <a:chOff x="576" y="2016"/>
              <a:chExt cx="384" cy="192"/>
            </a:xfrm>
          </p:grpSpPr>
          <p:sp>
            <p:nvSpPr>
              <p:cNvPr id="73807" name="Freeform 117"/>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8" name="Text Box 11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dirty="0">
                    <a:solidFill>
                      <a:schemeClr val="bg1"/>
                    </a:solidFill>
                  </a:rPr>
                  <a:t>fil</a:t>
                </a:r>
              </a:p>
            </p:txBody>
          </p:sp>
        </p:grpSp>
        <p:grpSp>
          <p:nvGrpSpPr>
            <p:cNvPr id="24" name="Group 129"/>
            <p:cNvGrpSpPr>
              <a:grpSpLocks/>
            </p:cNvGrpSpPr>
            <p:nvPr/>
          </p:nvGrpSpPr>
          <p:grpSpPr bwMode="auto">
            <a:xfrm>
              <a:off x="6516688" y="2759075"/>
              <a:ext cx="576262" cy="304800"/>
              <a:chOff x="576" y="2016"/>
              <a:chExt cx="384" cy="192"/>
            </a:xfrm>
          </p:grpSpPr>
          <p:sp>
            <p:nvSpPr>
              <p:cNvPr id="73785" name="Freeform 130"/>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86" name="Text Box 131"/>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ACT</a:t>
                </a:r>
              </a:p>
            </p:txBody>
          </p:sp>
        </p:grpSp>
      </p:grpSp>
      <p:sp>
        <p:nvSpPr>
          <p:cNvPr id="73777" name="Line 132"/>
          <p:cNvSpPr>
            <a:spLocks noChangeShapeType="1"/>
          </p:cNvSpPr>
          <p:nvPr/>
        </p:nvSpPr>
        <p:spPr bwMode="auto">
          <a:xfrm>
            <a:off x="5436000" y="4741203"/>
            <a:ext cx="1116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78" name="Text Box 133"/>
          <p:cNvSpPr txBox="1">
            <a:spLocks noChangeArrowheads="1"/>
          </p:cNvSpPr>
          <p:nvPr/>
        </p:nvSpPr>
        <p:spPr bwMode="auto">
          <a:xfrm>
            <a:off x="5499954" y="4865582"/>
            <a:ext cx="1032334" cy="366254"/>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Ciclos para </a:t>
            </a:r>
            <a:br>
              <a:rPr lang="es-ES_tradnl" sz="1400" dirty="0"/>
            </a:br>
            <a:r>
              <a:rPr lang="es-ES_tradnl" sz="1400" dirty="0"/>
              <a:t>satisfacer </a:t>
            </a:r>
            <a:r>
              <a:rPr lang="es-ES_tradnl" sz="1400" dirty="0" err="1"/>
              <a:t>t</a:t>
            </a:r>
            <a:r>
              <a:rPr lang="es-ES_tradnl" sz="1400" b="1" baseline="-25000" dirty="0" err="1"/>
              <a:t>RP</a:t>
            </a:r>
            <a:endParaRPr lang="es-ES_tradnl" sz="1400" dirty="0"/>
          </a:p>
        </p:txBody>
      </p:sp>
      <p:sp>
        <p:nvSpPr>
          <p:cNvPr id="73779" name="Oval 134"/>
          <p:cNvSpPr>
            <a:spLocks noChangeArrowheads="1"/>
          </p:cNvSpPr>
          <p:nvPr/>
        </p:nvSpPr>
        <p:spPr bwMode="auto">
          <a:xfrm>
            <a:off x="6288380" y="2940978"/>
            <a:ext cx="576262" cy="576262"/>
          </a:xfrm>
          <a:prstGeom prst="ellipse">
            <a:avLst/>
          </a:prstGeom>
          <a:noFill/>
          <a:ln w="19050">
            <a:solidFill>
              <a:schemeClr val="hlink"/>
            </a:solidFill>
            <a:prstDash val="sysDot"/>
            <a:round/>
            <a:headEnd/>
            <a:tailEnd/>
          </a:ln>
        </p:spPr>
        <p:txBody>
          <a:bodyPr wrap="none" lIns="0" tIns="0" rIns="0" bIns="0" anchor="ctr"/>
          <a:lstStyle/>
          <a:p>
            <a:endParaRPr lang="es-ES"/>
          </a:p>
        </p:txBody>
      </p:sp>
      <p:sp>
        <p:nvSpPr>
          <p:cNvPr id="73781" name="Text Box 136"/>
          <p:cNvSpPr txBox="1">
            <a:spLocks noChangeArrowheads="1"/>
          </p:cNvSpPr>
          <p:nvPr/>
        </p:nvSpPr>
        <p:spPr bwMode="auto">
          <a:xfrm>
            <a:off x="7583780" y="3841090"/>
            <a:ext cx="785471" cy="366254"/>
          </a:xfrm>
          <a:prstGeom prst="rect">
            <a:avLst/>
          </a:prstGeom>
          <a:noFill/>
          <a:ln w="19050">
            <a:noFill/>
            <a:miter lim="800000"/>
            <a:headEnd/>
            <a:tailEnd/>
          </a:ln>
        </p:spPr>
        <p:txBody>
          <a:bodyPr wrap="none" lIns="0" tIns="0" rIns="0" bIns="0">
            <a:spAutoFit/>
          </a:bodyPr>
          <a:lstStyle/>
          <a:p>
            <a:pPr algn="l">
              <a:lnSpc>
                <a:spcPct val="85000"/>
              </a:lnSpc>
            </a:pPr>
            <a:r>
              <a:rPr lang="es-ES" sz="1400" dirty="0"/>
              <a:t>Siguiente</a:t>
            </a:r>
            <a:br>
              <a:rPr lang="es-ES" sz="1400" dirty="0"/>
            </a:br>
            <a:r>
              <a:rPr lang="es-ES" sz="1400" dirty="0"/>
              <a:t>operación</a:t>
            </a:r>
          </a:p>
        </p:txBody>
      </p:sp>
      <p:sp>
        <p:nvSpPr>
          <p:cNvPr id="73782" name="Freeform 142"/>
          <p:cNvSpPr>
            <a:spLocks/>
          </p:cNvSpPr>
          <p:nvPr/>
        </p:nvSpPr>
        <p:spPr bwMode="auto">
          <a:xfrm>
            <a:off x="6864642" y="3372778"/>
            <a:ext cx="719138" cy="709612"/>
          </a:xfrm>
          <a:custGeom>
            <a:avLst/>
            <a:gdLst>
              <a:gd name="T0" fmla="*/ 0 w 337"/>
              <a:gd name="T1" fmla="*/ 0 h 447"/>
              <a:gd name="T2" fmla="*/ 2147483647 w 337"/>
              <a:gd name="T3" fmla="*/ 2147483647 h 447"/>
              <a:gd name="T4" fmla="*/ 0 60000 65536"/>
              <a:gd name="T5" fmla="*/ 0 60000 65536"/>
              <a:gd name="T6" fmla="*/ 0 w 337"/>
              <a:gd name="T7" fmla="*/ 0 h 447"/>
              <a:gd name="T8" fmla="*/ 337 w 337"/>
              <a:gd name="T9" fmla="*/ 447 h 447"/>
            </a:gdLst>
            <a:ahLst/>
            <a:cxnLst>
              <a:cxn ang="T4">
                <a:pos x="T0" y="T1"/>
              </a:cxn>
              <a:cxn ang="T5">
                <a:pos x="T2" y="T3"/>
              </a:cxn>
            </a:cxnLst>
            <a:rect l="T6" t="T7" r="T8" b="T9"/>
            <a:pathLst>
              <a:path w="337" h="447">
                <a:moveTo>
                  <a:pt x="0" y="0"/>
                </a:moveTo>
                <a:cubicBezTo>
                  <a:pt x="248" y="103"/>
                  <a:pt x="20" y="229"/>
                  <a:pt x="337" y="447"/>
                </a:cubicBezTo>
              </a:path>
            </a:pathLst>
          </a:custGeom>
          <a:noFill/>
          <a:ln w="19050">
            <a:solidFill>
              <a:schemeClr val="hlink"/>
            </a:solidFill>
            <a:prstDash val="sysDot"/>
            <a:round/>
            <a:headEnd type="triangle" w="med" len="med"/>
            <a:tailEnd/>
          </a:ln>
        </p:spPr>
        <p:txBody>
          <a:bodyPr lIns="0" tIns="0" rIns="0" bIns="0" anchor="ctr"/>
          <a:lstStyle/>
          <a:p>
            <a:endParaRPr lang="es-ES"/>
          </a:p>
        </p:txBody>
      </p:sp>
      <p:grpSp>
        <p:nvGrpSpPr>
          <p:cNvPr id="99" name="98 Grupo"/>
          <p:cNvGrpSpPr/>
          <p:nvPr/>
        </p:nvGrpSpPr>
        <p:grpSpPr>
          <a:xfrm>
            <a:off x="5567655" y="2077378"/>
            <a:ext cx="2783563" cy="931862"/>
            <a:chOff x="5795963" y="1773238"/>
            <a:chExt cx="2783563" cy="931862"/>
          </a:xfrm>
        </p:grpSpPr>
        <p:sp>
          <p:nvSpPr>
            <p:cNvPr id="73780" name="Freeform 135"/>
            <p:cNvSpPr>
              <a:spLocks/>
            </p:cNvSpPr>
            <p:nvPr/>
          </p:nvSpPr>
          <p:spPr bwMode="auto">
            <a:xfrm>
              <a:off x="5795963" y="1773238"/>
              <a:ext cx="1616075" cy="931862"/>
            </a:xfrm>
            <a:custGeom>
              <a:avLst/>
              <a:gdLst>
                <a:gd name="T0" fmla="*/ 0 w 590"/>
                <a:gd name="T1" fmla="*/ 2147483647 h 305"/>
                <a:gd name="T2" fmla="*/ 2147483647 w 590"/>
                <a:gd name="T3" fmla="*/ 2147483647 h 305"/>
                <a:gd name="T4" fmla="*/ 0 60000 65536"/>
                <a:gd name="T5" fmla="*/ 0 60000 65536"/>
                <a:gd name="T6" fmla="*/ 0 w 590"/>
                <a:gd name="T7" fmla="*/ 0 h 305"/>
                <a:gd name="T8" fmla="*/ 590 w 590"/>
                <a:gd name="T9" fmla="*/ 305 h 305"/>
              </a:gdLst>
              <a:ahLst/>
              <a:cxnLst>
                <a:cxn ang="T4">
                  <a:pos x="T0" y="T1"/>
                </a:cxn>
                <a:cxn ang="T5">
                  <a:pos x="T2" y="T3"/>
                </a:cxn>
              </a:cxnLst>
              <a:rect l="T6" t="T7" r="T8" b="T9"/>
              <a:pathLst>
                <a:path w="590" h="305">
                  <a:moveTo>
                    <a:pt x="0" y="305"/>
                  </a:moveTo>
                  <a:cubicBezTo>
                    <a:pt x="283" y="0"/>
                    <a:pt x="590" y="123"/>
                    <a:pt x="590" y="123"/>
                  </a:cubicBezTo>
                </a:path>
              </a:pathLst>
            </a:custGeom>
            <a:noFill/>
            <a:ln w="19050">
              <a:solidFill>
                <a:schemeClr val="hlink"/>
              </a:solidFill>
              <a:prstDash val="sysDot"/>
              <a:round/>
              <a:headEnd type="triangle" w="med" len="med"/>
              <a:tailEnd/>
            </a:ln>
          </p:spPr>
          <p:txBody>
            <a:bodyPr lIns="0" tIns="0" rIns="0" bIns="0" anchor="ctr"/>
            <a:lstStyle/>
            <a:p>
              <a:endParaRPr lang="es-ES"/>
            </a:p>
          </p:txBody>
        </p:sp>
        <p:sp>
          <p:nvSpPr>
            <p:cNvPr id="73783" name="Text Box 143"/>
            <p:cNvSpPr txBox="1">
              <a:spLocks noChangeArrowheads="1"/>
            </p:cNvSpPr>
            <p:nvPr/>
          </p:nvSpPr>
          <p:spPr bwMode="auto">
            <a:xfrm>
              <a:off x="7524750" y="1844675"/>
              <a:ext cx="1054776" cy="366254"/>
            </a:xfrm>
            <a:prstGeom prst="rect">
              <a:avLst/>
            </a:prstGeom>
            <a:noFill/>
            <a:ln w="19050">
              <a:noFill/>
              <a:miter lim="800000"/>
              <a:headEnd/>
              <a:tailEnd/>
            </a:ln>
          </p:spPr>
          <p:txBody>
            <a:bodyPr wrap="none" lIns="0" tIns="0" rIns="0" bIns="0">
              <a:spAutoFit/>
            </a:bodyPr>
            <a:lstStyle/>
            <a:p>
              <a:pPr algn="l">
                <a:lnSpc>
                  <a:spcPct val="85000"/>
                </a:lnSpc>
              </a:pPr>
              <a:r>
                <a:rPr lang="es-ES" sz="1400" dirty="0"/>
                <a:t>Punto óptimo</a:t>
              </a:r>
              <a:br>
                <a:rPr lang="es-ES" sz="1400" dirty="0"/>
              </a:br>
              <a:r>
                <a:rPr lang="es-ES" sz="1400" dirty="0"/>
                <a:t>de precarga</a:t>
              </a:r>
            </a:p>
          </p:txBody>
        </p:sp>
      </p:grpSp>
      <p:sp>
        <p:nvSpPr>
          <p:cNvPr id="111" name="Line 88"/>
          <p:cNvSpPr>
            <a:spLocks noChangeShapeType="1"/>
          </p:cNvSpPr>
          <p:nvPr/>
        </p:nvSpPr>
        <p:spPr bwMode="auto">
          <a:xfrm>
            <a:off x="1967428" y="5461332"/>
            <a:ext cx="3456384"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12" name="Text Box 133"/>
          <p:cNvSpPr txBox="1">
            <a:spLocks noChangeArrowheads="1"/>
          </p:cNvSpPr>
          <p:nvPr/>
        </p:nvSpPr>
        <p:spPr bwMode="auto">
          <a:xfrm>
            <a:off x="3695762" y="5022750"/>
            <a:ext cx="1407437" cy="409343"/>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Se comprueba </a:t>
            </a:r>
          </a:p>
          <a:p>
            <a:pPr>
              <a:lnSpc>
                <a:spcPct val="85000"/>
              </a:lnSpc>
            </a:pPr>
            <a:r>
              <a:rPr lang="es-ES_tradnl" sz="1400" dirty="0"/>
              <a:t>que satisface </a:t>
            </a:r>
            <a:r>
              <a:rPr lang="es-ES_tradnl" sz="1400" dirty="0" err="1"/>
              <a:t>t</a:t>
            </a:r>
            <a:r>
              <a:rPr lang="es-ES_tradnl" sz="1400" b="1" baseline="-25000" dirty="0" err="1"/>
              <a:t>RAS</a:t>
            </a:r>
            <a:endParaRPr lang="es-ES_tradnl" sz="1400" dirty="0"/>
          </a:p>
        </p:txBody>
      </p:sp>
      <p:sp>
        <p:nvSpPr>
          <p:cNvPr id="113" name="Line 88"/>
          <p:cNvSpPr>
            <a:spLocks noChangeShapeType="1"/>
          </p:cNvSpPr>
          <p:nvPr/>
        </p:nvSpPr>
        <p:spPr bwMode="auto">
          <a:xfrm>
            <a:off x="1967428" y="5893380"/>
            <a:ext cx="4608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14" name="Text Box 133"/>
          <p:cNvSpPr txBox="1">
            <a:spLocks noChangeArrowheads="1"/>
          </p:cNvSpPr>
          <p:nvPr/>
        </p:nvSpPr>
        <p:spPr bwMode="auto">
          <a:xfrm>
            <a:off x="2340000" y="5652080"/>
            <a:ext cx="3600400" cy="183127"/>
          </a:xfrm>
          <a:prstGeom prst="rect">
            <a:avLst/>
          </a:prstGeom>
          <a:noFill/>
          <a:ln w="19050">
            <a:noFill/>
            <a:miter lim="800000"/>
            <a:headEnd/>
            <a:tailEnd/>
          </a:ln>
        </p:spPr>
        <p:txBody>
          <a:bodyPr wrap="square" lIns="0" tIns="0" rIns="0" bIns="0" anchor="ctr">
            <a:spAutoFit/>
          </a:bodyPr>
          <a:lstStyle/>
          <a:p>
            <a:pPr>
              <a:lnSpc>
                <a:spcPct val="85000"/>
              </a:lnSpc>
            </a:pPr>
            <a:r>
              <a:rPr lang="es-ES_tradnl" sz="1400" dirty="0"/>
              <a:t>Se comprueba que satisface </a:t>
            </a:r>
            <a:r>
              <a:rPr lang="es-ES_tradnl" sz="1400" dirty="0" err="1"/>
              <a:t>t</a:t>
            </a:r>
            <a:r>
              <a:rPr lang="es-ES_tradnl" sz="1400" b="1" baseline="-25000" dirty="0" err="1"/>
              <a:t>RC</a:t>
            </a:r>
            <a:endParaRPr lang="es-ES_tradnl" sz="1400" dirty="0"/>
          </a:p>
        </p:txBody>
      </p:sp>
      <p:sp>
        <p:nvSpPr>
          <p:cNvPr id="116" name="Rectangle 5"/>
          <p:cNvSpPr>
            <a:spLocks noChangeArrowheads="1"/>
          </p:cNvSpPr>
          <p:nvPr/>
        </p:nvSpPr>
        <p:spPr bwMode="auto">
          <a:xfrm>
            <a:off x="7715272" y="4929198"/>
            <a:ext cx="1072372" cy="1606594"/>
          </a:xfrm>
          <a:prstGeom prst="rect">
            <a:avLst/>
          </a:prstGeom>
          <a:solidFill>
            <a:schemeClr val="accent3">
              <a:lumMod val="20000"/>
              <a:lumOff val="80000"/>
            </a:schemeClr>
          </a:solidFill>
          <a:ln w="19050">
            <a:noFill/>
            <a:miter lim="800000"/>
            <a:headEnd/>
            <a:tailEnd/>
          </a:ln>
        </p:spPr>
        <p:txBody>
          <a:bodyPr wrap="square" lIns="0" tIns="0" rIns="0" bIns="0" anchor="ctr">
            <a:spAutoFit/>
          </a:bodyPr>
          <a:lstStyle/>
          <a:p>
            <a:pPr algn="r">
              <a:spcBef>
                <a:spcPct val="20000"/>
              </a:spcBef>
              <a:tabLst>
                <a:tab pos="2667000" algn="ctr"/>
                <a:tab pos="4306888" algn="ctr"/>
                <a:tab pos="5916613" algn="ctr"/>
              </a:tabLst>
            </a:pPr>
            <a:r>
              <a:rPr lang="es-ES" sz="1800" dirty="0"/>
              <a:t> </a:t>
            </a:r>
            <a:r>
              <a:rPr lang="es-ES" sz="1800" dirty="0" err="1"/>
              <a:t>t</a:t>
            </a:r>
            <a:r>
              <a:rPr lang="es-ES" sz="1800" b="1" baseline="-25000" dirty="0" err="1"/>
              <a:t>RCD</a:t>
            </a:r>
            <a:r>
              <a:rPr lang="es-ES" sz="1800" dirty="0"/>
              <a:t> = </a:t>
            </a:r>
            <a:r>
              <a:rPr lang="es-ES" altLang="ja-JP" sz="1800" dirty="0">
                <a:ea typeface="Geneva" pitchFamily="1" charset="-128"/>
              </a:rPr>
              <a:t>2	</a:t>
            </a:r>
            <a:endParaRPr lang="es-ES" sz="1800" dirty="0"/>
          </a:p>
          <a:p>
            <a:pPr algn="l">
              <a:spcBef>
                <a:spcPct val="20000"/>
              </a:spcBef>
              <a:tabLst>
                <a:tab pos="2667000" algn="ctr"/>
                <a:tab pos="4306888" algn="ctr"/>
                <a:tab pos="5916613" algn="ctr"/>
              </a:tabLst>
            </a:pPr>
            <a:r>
              <a:rPr lang="es-ES" sz="1800" dirty="0"/>
              <a:t> </a:t>
            </a:r>
            <a:r>
              <a:rPr lang="es-ES" sz="1800" dirty="0" err="1"/>
              <a:t>t</a:t>
            </a:r>
            <a:r>
              <a:rPr lang="es-ES" sz="1800" b="1" baseline="-25000" dirty="0" err="1"/>
              <a:t>RAS</a:t>
            </a:r>
            <a:r>
              <a:rPr lang="es-ES" sz="1800" dirty="0"/>
              <a:t> = </a:t>
            </a:r>
            <a:r>
              <a:rPr lang="es-ES" altLang="ja-JP" sz="1800" dirty="0">
                <a:ea typeface="Geneva" pitchFamily="1" charset="-128"/>
              </a:rPr>
              <a:t>5	</a:t>
            </a:r>
            <a:endParaRPr lang="es-ES" sz="1800" dirty="0"/>
          </a:p>
          <a:p>
            <a:pPr algn="l">
              <a:spcBef>
                <a:spcPct val="20000"/>
              </a:spcBef>
              <a:tabLst>
                <a:tab pos="2667000" algn="ctr"/>
                <a:tab pos="4306888" algn="ctr"/>
                <a:tab pos="5916613" algn="ctr"/>
              </a:tabLst>
            </a:pPr>
            <a:r>
              <a:rPr lang="es-ES" sz="1800" dirty="0"/>
              <a:t> </a:t>
            </a:r>
            <a:r>
              <a:rPr lang="es-ES" sz="1800" dirty="0" err="1"/>
              <a:t>t</a:t>
            </a:r>
            <a:r>
              <a:rPr lang="es-ES" sz="1800" b="1" baseline="-25000" dirty="0" err="1"/>
              <a:t>RC</a:t>
            </a:r>
            <a:r>
              <a:rPr lang="es-ES" sz="1800" dirty="0"/>
              <a:t> = </a:t>
            </a:r>
            <a:r>
              <a:rPr lang="es-ES" altLang="ja-JP" sz="1800" dirty="0">
                <a:ea typeface="Geneva" pitchFamily="1" charset="-128"/>
              </a:rPr>
              <a:t>6	</a:t>
            </a:r>
            <a:endParaRPr lang="es-ES" sz="1800" dirty="0"/>
          </a:p>
          <a:p>
            <a:pPr algn="l">
              <a:spcBef>
                <a:spcPct val="20000"/>
              </a:spcBef>
              <a:tabLst>
                <a:tab pos="2667000" algn="ctr"/>
                <a:tab pos="4306888" algn="ctr"/>
                <a:tab pos="5916613" algn="ctr"/>
              </a:tabLst>
            </a:pPr>
            <a:r>
              <a:rPr lang="es-ES" sz="1800" dirty="0"/>
              <a:t> </a:t>
            </a:r>
            <a:r>
              <a:rPr lang="es-ES" sz="1800" dirty="0" err="1"/>
              <a:t>t</a:t>
            </a:r>
            <a:r>
              <a:rPr lang="es-ES" sz="1800" b="1" baseline="-25000" dirty="0" err="1"/>
              <a:t>RP</a:t>
            </a:r>
            <a:r>
              <a:rPr lang="es-ES" sz="1800" dirty="0"/>
              <a:t> = </a:t>
            </a:r>
            <a:r>
              <a:rPr lang="es-ES" altLang="ja-JP" sz="1800" dirty="0">
                <a:ea typeface="Geneva" pitchFamily="1" charset="-128"/>
              </a:rPr>
              <a:t>2</a:t>
            </a:r>
          </a:p>
          <a:p>
            <a:pPr algn="l">
              <a:spcBef>
                <a:spcPct val="20000"/>
              </a:spcBef>
              <a:tabLst>
                <a:tab pos="2667000" algn="ctr"/>
                <a:tab pos="4306888" algn="ctr"/>
                <a:tab pos="5916613" algn="ctr"/>
              </a:tabLst>
            </a:pPr>
            <a:r>
              <a:rPr lang="es-ES" altLang="ja-JP" sz="1800" dirty="0">
                <a:ea typeface="Geneva" pitchFamily="1" charset="-128"/>
              </a:rPr>
              <a:t> CL = 2	</a:t>
            </a:r>
            <a:endParaRPr lang="es-ES" sz="1800" dirty="0">
              <a:ea typeface="Geneva" pitchFamily="1" charset="-128"/>
            </a:endParaRPr>
          </a:p>
        </p:txBody>
      </p:sp>
      <p:sp>
        <p:nvSpPr>
          <p:cNvPr id="100" name="99 CuadroTexto"/>
          <p:cNvSpPr txBox="1"/>
          <p:nvPr/>
        </p:nvSpPr>
        <p:spPr>
          <a:xfrm>
            <a:off x="2411760" y="6269570"/>
            <a:ext cx="4392488" cy="327782"/>
          </a:xfrm>
          <a:prstGeom prst="rect">
            <a:avLst/>
          </a:prstGeom>
          <a:noFill/>
        </p:spPr>
        <p:txBody>
          <a:bodyPr wrap="square" rtlCol="0">
            <a:spAutoFit/>
          </a:bodyPr>
          <a:lstStyle/>
          <a:p>
            <a:pPr algn="l">
              <a:lnSpc>
                <a:spcPct val="85000"/>
              </a:lnSpc>
            </a:pPr>
            <a:r>
              <a:rPr lang="es-ES" sz="1800" b="1" dirty="0">
                <a:solidFill>
                  <a:srgbClr val="FF0000"/>
                </a:solidFill>
              </a:rPr>
              <a:t>R=4 ciclos posterior a orden READ</a:t>
            </a:r>
          </a:p>
        </p:txBody>
      </p:sp>
      <p:sp>
        <p:nvSpPr>
          <p:cNvPr id="101" name="Line 88"/>
          <p:cNvSpPr>
            <a:spLocks noChangeShapeType="1"/>
          </p:cNvSpPr>
          <p:nvPr/>
        </p:nvSpPr>
        <p:spPr bwMode="auto">
          <a:xfrm>
            <a:off x="3059832" y="3501008"/>
            <a:ext cx="2376000" cy="0"/>
          </a:xfrm>
          <a:prstGeom prst="line">
            <a:avLst/>
          </a:prstGeom>
          <a:noFill/>
          <a:ln w="76200">
            <a:solidFill>
              <a:srgbClr val="FF3300"/>
            </a:solidFill>
            <a:round/>
            <a:headEnd type="triangle" w="med" len="med"/>
            <a:tailEnd type="triangle" w="med" len="med"/>
          </a:ln>
        </p:spPr>
        <p:txBody>
          <a:bodyPr wrap="none" lIns="0" tIns="0" rIns="0" bIns="0" anchor="ctr"/>
          <a:lstStyle/>
          <a:p>
            <a:endParaRPr lang="es-ES"/>
          </a:p>
        </p:txBody>
      </p:sp>
      <p:sp>
        <p:nvSpPr>
          <p:cNvPr id="102" name="Rectangle 3">
            <a:extLst>
              <a:ext uri="{FF2B5EF4-FFF2-40B4-BE49-F238E27FC236}">
                <a16:creationId xmlns:a16="http://schemas.microsoft.com/office/drawing/2014/main" id="{18E1AAEB-AB62-4DAD-9027-76646CE3646A}"/>
              </a:ext>
            </a:extLst>
          </p:cNvPr>
          <p:cNvSpPr txBox="1">
            <a:spLocks noChangeArrowheads="1"/>
          </p:cNvSpPr>
          <p:nvPr/>
        </p:nvSpPr>
        <p:spPr>
          <a:xfrm>
            <a:off x="593456" y="843685"/>
            <a:ext cx="8182004" cy="485760"/>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marL="82550" indent="0">
              <a:buFont typeface="Wingdings 2" pitchFamily="18" charset="2"/>
              <a:buNone/>
            </a:pPr>
            <a:r>
              <a:rPr lang="es-ES" u="sng" dirty="0">
                <a:solidFill>
                  <a:srgbClr val="FF0000"/>
                </a:solidFill>
              </a:rPr>
              <a:t>RESUMEN</a:t>
            </a:r>
            <a:endParaRPr lang="es-ES" dirty="0">
              <a:cs typeface="Arial" charset="0"/>
            </a:endParaRPr>
          </a:p>
        </p:txBody>
      </p:sp>
      <p:sp>
        <p:nvSpPr>
          <p:cNvPr id="25" name="2 Marcador de número de diapositiva">
            <a:extLst>
              <a:ext uri="{FF2B5EF4-FFF2-40B4-BE49-F238E27FC236}">
                <a16:creationId xmlns:a16="http://schemas.microsoft.com/office/drawing/2014/main" id="{03B85E8B-B500-01A9-D2E5-15685563D1D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84</a:t>
            </a:fld>
            <a:endParaRPr lang="en-US" dirty="0"/>
          </a:p>
        </p:txBody>
      </p:sp>
    </p:spTree>
    <p:extLst>
      <p:ext uri="{BB962C8B-B14F-4D97-AF65-F5344CB8AC3E}">
        <p14:creationId xmlns:p14="http://schemas.microsoft.com/office/powerpoint/2010/main" val="312029648"/>
      </p:ext>
    </p:extLst>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es-ES" dirty="0"/>
              <a:t>Cronogramas de lectura y escritura</a:t>
            </a:r>
          </a:p>
        </p:txBody>
      </p:sp>
      <p:sp>
        <p:nvSpPr>
          <p:cNvPr id="73732" name="Rectangle 3"/>
          <p:cNvSpPr>
            <a:spLocks noGrp="1" noChangeArrowheads="1"/>
          </p:cNvSpPr>
          <p:nvPr>
            <p:ph type="body" idx="1"/>
          </p:nvPr>
        </p:nvSpPr>
        <p:spPr>
          <a:xfrm>
            <a:off x="447847" y="1223017"/>
            <a:ext cx="6829412" cy="731629"/>
          </a:xfrm>
        </p:spPr>
        <p:txBody>
          <a:bodyPr/>
          <a:lstStyle/>
          <a:p>
            <a:r>
              <a:rPr lang="es-ES" dirty="0"/>
              <a:t>Ejemplo con PRECHARGE automática</a:t>
            </a:r>
          </a:p>
        </p:txBody>
      </p:sp>
      <p:sp>
        <p:nvSpPr>
          <p:cNvPr id="73733" name="Line 33"/>
          <p:cNvSpPr>
            <a:spLocks noChangeShapeType="1"/>
          </p:cNvSpPr>
          <p:nvPr/>
        </p:nvSpPr>
        <p:spPr bwMode="auto">
          <a:xfrm>
            <a:off x="4848517" y="2158641"/>
            <a:ext cx="0" cy="1846262"/>
          </a:xfrm>
          <a:prstGeom prst="line">
            <a:avLst/>
          </a:prstGeom>
          <a:noFill/>
          <a:ln w="9525">
            <a:solidFill>
              <a:schemeClr val="tx1"/>
            </a:solidFill>
            <a:round/>
            <a:headEnd/>
            <a:tailEnd/>
          </a:ln>
        </p:spPr>
        <p:txBody>
          <a:bodyPr wrap="none" lIns="0" tIns="0" rIns="0" bIns="0" anchor="ctr"/>
          <a:lstStyle/>
          <a:p>
            <a:endParaRPr lang="es-ES"/>
          </a:p>
        </p:txBody>
      </p:sp>
      <p:sp>
        <p:nvSpPr>
          <p:cNvPr id="73734" name="Line 45"/>
          <p:cNvSpPr>
            <a:spLocks noChangeShapeType="1"/>
          </p:cNvSpPr>
          <p:nvPr/>
        </p:nvSpPr>
        <p:spPr bwMode="auto">
          <a:xfrm>
            <a:off x="6575717" y="2133240"/>
            <a:ext cx="0" cy="3456000"/>
          </a:xfrm>
          <a:prstGeom prst="line">
            <a:avLst/>
          </a:prstGeom>
          <a:noFill/>
          <a:ln w="9525">
            <a:solidFill>
              <a:schemeClr val="tx1"/>
            </a:solidFill>
            <a:round/>
            <a:headEnd/>
            <a:tailEnd/>
          </a:ln>
        </p:spPr>
        <p:txBody>
          <a:bodyPr wrap="none" lIns="0" tIns="0" rIns="0" bIns="0" anchor="ctr"/>
          <a:lstStyle/>
          <a:p>
            <a:endParaRPr lang="es-ES"/>
          </a:p>
        </p:txBody>
      </p:sp>
      <p:sp>
        <p:nvSpPr>
          <p:cNvPr id="73735" name="Line 17"/>
          <p:cNvSpPr>
            <a:spLocks noChangeShapeType="1"/>
          </p:cNvSpPr>
          <p:nvPr/>
        </p:nvSpPr>
        <p:spPr bwMode="auto">
          <a:xfrm>
            <a:off x="2543467" y="2134828"/>
            <a:ext cx="0" cy="1393825"/>
          </a:xfrm>
          <a:prstGeom prst="line">
            <a:avLst/>
          </a:prstGeom>
          <a:noFill/>
          <a:ln w="9525">
            <a:solidFill>
              <a:schemeClr val="tx1"/>
            </a:solidFill>
            <a:round/>
            <a:headEnd/>
            <a:tailEnd/>
          </a:ln>
        </p:spPr>
        <p:txBody>
          <a:bodyPr wrap="none" lIns="0" tIns="0" rIns="0" bIns="0" anchor="ctr"/>
          <a:lstStyle/>
          <a:p>
            <a:endParaRPr lang="es-ES"/>
          </a:p>
        </p:txBody>
      </p:sp>
      <p:sp>
        <p:nvSpPr>
          <p:cNvPr id="73736" name="Line 25"/>
          <p:cNvSpPr>
            <a:spLocks noChangeShapeType="1"/>
          </p:cNvSpPr>
          <p:nvPr/>
        </p:nvSpPr>
        <p:spPr bwMode="auto">
          <a:xfrm>
            <a:off x="3695992" y="2134828"/>
            <a:ext cx="0" cy="1393825"/>
          </a:xfrm>
          <a:prstGeom prst="line">
            <a:avLst/>
          </a:prstGeom>
          <a:noFill/>
          <a:ln w="9525">
            <a:solidFill>
              <a:schemeClr val="tx1"/>
            </a:solidFill>
            <a:round/>
            <a:headEnd/>
            <a:tailEnd/>
          </a:ln>
        </p:spPr>
        <p:txBody>
          <a:bodyPr wrap="none" lIns="0" tIns="0" rIns="0" bIns="0" anchor="ctr"/>
          <a:lstStyle/>
          <a:p>
            <a:endParaRPr lang="es-ES"/>
          </a:p>
        </p:txBody>
      </p:sp>
      <p:sp>
        <p:nvSpPr>
          <p:cNvPr id="73737" name="Line 29"/>
          <p:cNvSpPr>
            <a:spLocks noChangeShapeType="1"/>
          </p:cNvSpPr>
          <p:nvPr/>
        </p:nvSpPr>
        <p:spPr bwMode="auto">
          <a:xfrm>
            <a:off x="4272255" y="2134828"/>
            <a:ext cx="0" cy="1870075"/>
          </a:xfrm>
          <a:prstGeom prst="line">
            <a:avLst/>
          </a:prstGeom>
          <a:noFill/>
          <a:ln w="9525">
            <a:solidFill>
              <a:schemeClr val="tx1"/>
            </a:solidFill>
            <a:round/>
            <a:headEnd/>
            <a:tailEnd/>
          </a:ln>
        </p:spPr>
        <p:txBody>
          <a:bodyPr wrap="none" lIns="0" tIns="0" rIns="0" bIns="0" anchor="ctr"/>
          <a:lstStyle/>
          <a:p>
            <a:endParaRPr lang="es-ES"/>
          </a:p>
        </p:txBody>
      </p:sp>
      <p:sp>
        <p:nvSpPr>
          <p:cNvPr id="73738" name="Line 41"/>
          <p:cNvSpPr>
            <a:spLocks noChangeShapeType="1"/>
          </p:cNvSpPr>
          <p:nvPr/>
        </p:nvSpPr>
        <p:spPr bwMode="auto">
          <a:xfrm>
            <a:off x="5999455" y="2134828"/>
            <a:ext cx="0" cy="1870075"/>
          </a:xfrm>
          <a:prstGeom prst="line">
            <a:avLst/>
          </a:prstGeom>
          <a:noFill/>
          <a:ln w="9525">
            <a:solidFill>
              <a:schemeClr val="tx1"/>
            </a:solidFill>
            <a:round/>
            <a:headEnd/>
            <a:tailEnd/>
          </a:ln>
        </p:spPr>
        <p:txBody>
          <a:bodyPr wrap="none" lIns="0" tIns="0" rIns="0" bIns="0" anchor="ctr"/>
          <a:lstStyle/>
          <a:p>
            <a:endParaRPr lang="es-ES"/>
          </a:p>
        </p:txBody>
      </p:sp>
      <p:sp>
        <p:nvSpPr>
          <p:cNvPr id="73739" name="Line 16"/>
          <p:cNvSpPr>
            <a:spLocks noChangeShapeType="1"/>
          </p:cNvSpPr>
          <p:nvPr/>
        </p:nvSpPr>
        <p:spPr bwMode="auto">
          <a:xfrm>
            <a:off x="1967204" y="2157053"/>
            <a:ext cx="223" cy="3420000"/>
          </a:xfrm>
          <a:prstGeom prst="line">
            <a:avLst/>
          </a:prstGeom>
          <a:noFill/>
          <a:ln w="9525">
            <a:solidFill>
              <a:schemeClr val="tx1"/>
            </a:solidFill>
            <a:round/>
            <a:headEnd/>
            <a:tailEnd/>
          </a:ln>
        </p:spPr>
        <p:txBody>
          <a:bodyPr wrap="none" lIns="0" tIns="0" rIns="0" bIns="0" anchor="ctr"/>
          <a:lstStyle/>
          <a:p>
            <a:endParaRPr lang="es-ES"/>
          </a:p>
        </p:txBody>
      </p:sp>
      <p:sp>
        <p:nvSpPr>
          <p:cNvPr id="73740" name="Line 21"/>
          <p:cNvSpPr>
            <a:spLocks noChangeShapeType="1"/>
          </p:cNvSpPr>
          <p:nvPr/>
        </p:nvSpPr>
        <p:spPr bwMode="auto">
          <a:xfrm>
            <a:off x="3119730" y="2157053"/>
            <a:ext cx="0" cy="2346325"/>
          </a:xfrm>
          <a:prstGeom prst="line">
            <a:avLst/>
          </a:prstGeom>
          <a:noFill/>
          <a:ln w="9525">
            <a:solidFill>
              <a:schemeClr val="tx1"/>
            </a:solidFill>
            <a:round/>
            <a:headEnd/>
            <a:tailEnd/>
          </a:ln>
        </p:spPr>
        <p:txBody>
          <a:bodyPr wrap="none" lIns="0" tIns="0" rIns="0" bIns="0" anchor="ctr"/>
          <a:lstStyle/>
          <a:p>
            <a:endParaRPr lang="es-ES"/>
          </a:p>
        </p:txBody>
      </p:sp>
      <p:sp>
        <p:nvSpPr>
          <p:cNvPr id="73741" name="Line 37"/>
          <p:cNvSpPr>
            <a:spLocks noChangeShapeType="1"/>
          </p:cNvSpPr>
          <p:nvPr/>
        </p:nvSpPr>
        <p:spPr bwMode="auto">
          <a:xfrm>
            <a:off x="5423192" y="2157053"/>
            <a:ext cx="620" cy="3288382"/>
          </a:xfrm>
          <a:prstGeom prst="line">
            <a:avLst/>
          </a:prstGeom>
          <a:noFill/>
          <a:ln w="9525">
            <a:solidFill>
              <a:schemeClr val="tx1"/>
            </a:solidFill>
            <a:round/>
            <a:headEnd/>
            <a:tailEnd/>
          </a:ln>
        </p:spPr>
        <p:txBody>
          <a:bodyPr wrap="none" lIns="0" tIns="0" rIns="0" bIns="0" anchor="ctr"/>
          <a:lstStyle/>
          <a:p>
            <a:endParaRPr lang="es-ES"/>
          </a:p>
        </p:txBody>
      </p:sp>
      <p:sp>
        <p:nvSpPr>
          <p:cNvPr id="73742" name="Line 49"/>
          <p:cNvSpPr>
            <a:spLocks noChangeShapeType="1"/>
          </p:cNvSpPr>
          <p:nvPr/>
        </p:nvSpPr>
        <p:spPr bwMode="auto">
          <a:xfrm flipH="1">
            <a:off x="7151980" y="2157053"/>
            <a:ext cx="0" cy="1416050"/>
          </a:xfrm>
          <a:prstGeom prst="line">
            <a:avLst/>
          </a:prstGeom>
          <a:noFill/>
          <a:ln w="9525">
            <a:solidFill>
              <a:schemeClr val="tx1"/>
            </a:solidFill>
            <a:round/>
            <a:headEnd/>
            <a:tailEnd/>
          </a:ln>
        </p:spPr>
        <p:txBody>
          <a:bodyPr wrap="none" lIns="0" tIns="0" rIns="0" bIns="0" anchor="ctr"/>
          <a:lstStyle/>
          <a:p>
            <a:endParaRPr lang="es-ES"/>
          </a:p>
        </p:txBody>
      </p:sp>
      <p:sp>
        <p:nvSpPr>
          <p:cNvPr id="73743" name="Rectangle 69"/>
          <p:cNvSpPr>
            <a:spLocks noChangeArrowheads="1"/>
          </p:cNvSpPr>
          <p:nvPr/>
        </p:nvSpPr>
        <p:spPr bwMode="auto">
          <a:xfrm>
            <a:off x="6205830" y="3223853"/>
            <a:ext cx="0" cy="304800"/>
          </a:xfrm>
          <a:prstGeom prst="rect">
            <a:avLst/>
          </a:prstGeom>
          <a:noFill/>
          <a:ln w="19050">
            <a:noFill/>
            <a:miter lim="800000"/>
            <a:headEnd/>
            <a:tailEnd/>
          </a:ln>
        </p:spPr>
        <p:txBody>
          <a:bodyPr wrap="none" lIns="0" tIns="0" rIns="0" bIns="0" anchor="ctr">
            <a:spAutoFit/>
          </a:bodyPr>
          <a:lstStyle/>
          <a:p>
            <a:endParaRPr lang="es-ES_tradnl"/>
          </a:p>
        </p:txBody>
      </p:sp>
      <p:grpSp>
        <p:nvGrpSpPr>
          <p:cNvPr id="2" name="Group 149"/>
          <p:cNvGrpSpPr>
            <a:grpSpLocks/>
          </p:cNvGrpSpPr>
          <p:nvPr/>
        </p:nvGrpSpPr>
        <p:grpSpPr bwMode="auto">
          <a:xfrm>
            <a:off x="4056355" y="3606441"/>
            <a:ext cx="2303462" cy="304800"/>
            <a:chOff x="2744" y="2317"/>
            <a:chExt cx="1542" cy="192"/>
          </a:xfrm>
        </p:grpSpPr>
        <p:grpSp>
          <p:nvGrpSpPr>
            <p:cNvPr id="3" name="Group 82"/>
            <p:cNvGrpSpPr>
              <a:grpSpLocks/>
            </p:cNvGrpSpPr>
            <p:nvPr/>
          </p:nvGrpSpPr>
          <p:grpSpPr bwMode="auto">
            <a:xfrm>
              <a:off x="2744" y="2317"/>
              <a:ext cx="384" cy="192"/>
              <a:chOff x="2640" y="2304"/>
              <a:chExt cx="384" cy="192"/>
            </a:xfrm>
          </p:grpSpPr>
          <p:sp>
            <p:nvSpPr>
              <p:cNvPr id="73838"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9" name="Text Box 72"/>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P0</a:t>
                </a:r>
              </a:p>
            </p:txBody>
          </p:sp>
        </p:grpSp>
        <p:grpSp>
          <p:nvGrpSpPr>
            <p:cNvPr id="4" name="Group 85"/>
            <p:cNvGrpSpPr>
              <a:grpSpLocks/>
            </p:cNvGrpSpPr>
            <p:nvPr/>
          </p:nvGrpSpPr>
          <p:grpSpPr bwMode="auto">
            <a:xfrm>
              <a:off x="3130" y="2317"/>
              <a:ext cx="384" cy="192"/>
              <a:chOff x="3024" y="2304"/>
              <a:chExt cx="384" cy="192"/>
            </a:xfrm>
          </p:grpSpPr>
          <p:sp>
            <p:nvSpPr>
              <p:cNvPr id="73836"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7" name="Text Box 75"/>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5" name="Group 84"/>
            <p:cNvGrpSpPr>
              <a:grpSpLocks/>
            </p:cNvGrpSpPr>
            <p:nvPr/>
          </p:nvGrpSpPr>
          <p:grpSpPr bwMode="auto">
            <a:xfrm>
              <a:off x="3514" y="2317"/>
              <a:ext cx="384" cy="192"/>
              <a:chOff x="3408" y="2304"/>
              <a:chExt cx="384" cy="192"/>
            </a:xfrm>
          </p:grpSpPr>
          <p:sp>
            <p:nvSpPr>
              <p:cNvPr id="73834"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5" name="Text Box 78"/>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6" name="Group 83"/>
            <p:cNvGrpSpPr>
              <a:grpSpLocks/>
            </p:cNvGrpSpPr>
            <p:nvPr/>
          </p:nvGrpSpPr>
          <p:grpSpPr bwMode="auto">
            <a:xfrm>
              <a:off x="3902" y="2317"/>
              <a:ext cx="384" cy="192"/>
              <a:chOff x="3792" y="2304"/>
              <a:chExt cx="384" cy="192"/>
            </a:xfrm>
          </p:grpSpPr>
          <p:sp>
            <p:nvSpPr>
              <p:cNvPr id="73832"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3833" name="Text Box 81"/>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grpSp>
      <p:grpSp>
        <p:nvGrpSpPr>
          <p:cNvPr id="7" name="Group 87"/>
          <p:cNvGrpSpPr>
            <a:grpSpLocks/>
          </p:cNvGrpSpPr>
          <p:nvPr/>
        </p:nvGrpSpPr>
        <p:grpSpPr bwMode="auto">
          <a:xfrm>
            <a:off x="1895767" y="2234841"/>
            <a:ext cx="5327650" cy="228600"/>
            <a:chOff x="720" y="1728"/>
            <a:chExt cx="3552" cy="144"/>
          </a:xfrm>
        </p:grpSpPr>
        <p:sp>
          <p:nvSpPr>
            <p:cNvPr id="73825" name="Freeform 67"/>
            <p:cNvSpPr>
              <a:spLocks/>
            </p:cNvSpPr>
            <p:nvPr/>
          </p:nvSpPr>
          <p:spPr bwMode="auto">
            <a:xfrm>
              <a:off x="720"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73826" name="Freeform 68"/>
            <p:cNvSpPr>
              <a:spLocks/>
            </p:cNvSpPr>
            <p:nvPr/>
          </p:nvSpPr>
          <p:spPr bwMode="auto">
            <a:xfrm>
              <a:off x="2256"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73827" name="Freeform 86"/>
            <p:cNvSpPr>
              <a:spLocks/>
            </p:cNvSpPr>
            <p:nvPr/>
          </p:nvSpPr>
          <p:spPr bwMode="auto">
            <a:xfrm>
              <a:off x="3792" y="1728"/>
              <a:ext cx="480" cy="144"/>
            </a:xfrm>
            <a:custGeom>
              <a:avLst/>
              <a:gdLst>
                <a:gd name="T0" fmla="*/ 0 w 480"/>
                <a:gd name="T1" fmla="*/ 144 h 144"/>
                <a:gd name="T2" fmla="*/ 96 w 480"/>
                <a:gd name="T3" fmla="*/ 0 h 144"/>
                <a:gd name="T4" fmla="*/ 192 w 480"/>
                <a:gd name="T5" fmla="*/ 0 h 144"/>
                <a:gd name="T6" fmla="*/ 288 w 480"/>
                <a:gd name="T7" fmla="*/ 144 h 144"/>
                <a:gd name="T8" fmla="*/ 384 w 480"/>
                <a:gd name="T9" fmla="*/ 144 h 144"/>
                <a:gd name="T10" fmla="*/ 480 w 480"/>
                <a:gd name="T11" fmla="*/ 0 h 144"/>
                <a:gd name="T12" fmla="*/ 0 60000 65536"/>
                <a:gd name="T13" fmla="*/ 0 60000 65536"/>
                <a:gd name="T14" fmla="*/ 0 60000 65536"/>
                <a:gd name="T15" fmla="*/ 0 60000 65536"/>
                <a:gd name="T16" fmla="*/ 0 60000 65536"/>
                <a:gd name="T17" fmla="*/ 0 60000 65536"/>
                <a:gd name="T18" fmla="*/ 0 w 480"/>
                <a:gd name="T19" fmla="*/ 0 h 144"/>
                <a:gd name="T20" fmla="*/ 480 w 480"/>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480" h="144">
                  <a:moveTo>
                    <a:pt x="0" y="144"/>
                  </a:moveTo>
                  <a:lnTo>
                    <a:pt x="96" y="0"/>
                  </a:lnTo>
                  <a:lnTo>
                    <a:pt x="192" y="0"/>
                  </a:lnTo>
                  <a:lnTo>
                    <a:pt x="288" y="144"/>
                  </a:lnTo>
                  <a:lnTo>
                    <a:pt x="384" y="144"/>
                  </a:lnTo>
                  <a:lnTo>
                    <a:pt x="480" y="0"/>
                  </a:lnTo>
                </a:path>
              </a:pathLst>
            </a:custGeom>
            <a:noFill/>
            <a:ln w="12700">
              <a:solidFill>
                <a:schemeClr val="tx1"/>
              </a:solidFill>
              <a:round/>
              <a:headEnd/>
              <a:tailEnd/>
            </a:ln>
          </p:spPr>
          <p:txBody>
            <a:bodyPr wrap="none" lIns="0" tIns="0" rIns="0" bIns="0" anchor="ctr"/>
            <a:lstStyle/>
            <a:p>
              <a:endParaRPr lang="es-ES"/>
            </a:p>
          </p:txBody>
        </p:sp>
      </p:grpSp>
      <p:sp>
        <p:nvSpPr>
          <p:cNvPr id="73746" name="Line 88"/>
          <p:cNvSpPr>
            <a:spLocks noChangeShapeType="1"/>
          </p:cNvSpPr>
          <p:nvPr/>
        </p:nvSpPr>
        <p:spPr bwMode="auto">
          <a:xfrm>
            <a:off x="1980000" y="4365315"/>
            <a:ext cx="1116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47" name="Text Box 89"/>
          <p:cNvSpPr txBox="1">
            <a:spLocks noChangeArrowheads="1"/>
          </p:cNvSpPr>
          <p:nvPr/>
        </p:nvSpPr>
        <p:spPr bwMode="auto">
          <a:xfrm>
            <a:off x="1980118" y="4489645"/>
            <a:ext cx="1125308" cy="366254"/>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Ciclos para </a:t>
            </a:r>
            <a:br>
              <a:rPr lang="es-ES_tradnl" sz="1400" dirty="0"/>
            </a:br>
            <a:r>
              <a:rPr lang="es-ES_tradnl" sz="1400" dirty="0"/>
              <a:t>satisfacer </a:t>
            </a:r>
            <a:r>
              <a:rPr lang="es-ES_tradnl" sz="1400" dirty="0" err="1"/>
              <a:t>t</a:t>
            </a:r>
            <a:r>
              <a:rPr lang="es-ES_tradnl" sz="1400" b="1" baseline="-25000" dirty="0" err="1"/>
              <a:t>RCD</a:t>
            </a:r>
            <a:endParaRPr lang="es-ES_tradnl" sz="1400" dirty="0"/>
          </a:p>
        </p:txBody>
      </p:sp>
      <p:sp>
        <p:nvSpPr>
          <p:cNvPr id="73748" name="Line 90"/>
          <p:cNvSpPr>
            <a:spLocks noChangeShapeType="1"/>
          </p:cNvSpPr>
          <p:nvPr/>
        </p:nvSpPr>
        <p:spPr bwMode="auto">
          <a:xfrm>
            <a:off x="3131999" y="3933466"/>
            <a:ext cx="1080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49" name="Text Box 91"/>
          <p:cNvSpPr txBox="1">
            <a:spLocks noChangeArrowheads="1"/>
          </p:cNvSpPr>
          <p:nvPr/>
        </p:nvSpPr>
        <p:spPr bwMode="auto">
          <a:xfrm>
            <a:off x="3191564" y="4057597"/>
            <a:ext cx="963404" cy="366254"/>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valor de </a:t>
            </a:r>
            <a:r>
              <a:rPr lang="es-ES_tradnl" sz="1400" dirty="0">
                <a:latin typeface="Arial Narrow" pitchFamily="34" charset="0"/>
              </a:rPr>
              <a:t>CL</a:t>
            </a:r>
            <a:br>
              <a:rPr lang="es-ES_tradnl" altLang="ja-JP" sz="1400" dirty="0">
                <a:ea typeface="Geneva" pitchFamily="1" charset="-128"/>
              </a:rPr>
            </a:br>
            <a:r>
              <a:rPr lang="es-ES_tradnl" altLang="ja-JP" sz="1400" dirty="0">
                <a:ea typeface="Geneva" pitchFamily="1" charset="-128"/>
              </a:rPr>
              <a:t>programado</a:t>
            </a:r>
            <a:endParaRPr lang="es-ES_tradnl" sz="1400" dirty="0"/>
          </a:p>
        </p:txBody>
      </p:sp>
      <p:grpSp>
        <p:nvGrpSpPr>
          <p:cNvPr id="8" name="116 Grupo"/>
          <p:cNvGrpSpPr/>
          <p:nvPr/>
        </p:nvGrpSpPr>
        <p:grpSpPr>
          <a:xfrm>
            <a:off x="539552" y="2248742"/>
            <a:ext cx="1132378" cy="1633209"/>
            <a:chOff x="767860" y="2320539"/>
            <a:chExt cx="1132378" cy="1633209"/>
          </a:xfrm>
        </p:grpSpPr>
        <p:sp>
          <p:nvSpPr>
            <p:cNvPr id="73760" name="Text Box 122"/>
            <p:cNvSpPr txBox="1">
              <a:spLocks noChangeArrowheads="1"/>
            </p:cNvSpPr>
            <p:nvPr/>
          </p:nvSpPr>
          <p:spPr bwMode="auto">
            <a:xfrm>
              <a:off x="1451397" y="2320539"/>
              <a:ext cx="448841" cy="276999"/>
            </a:xfrm>
            <a:prstGeom prst="rect">
              <a:avLst/>
            </a:prstGeom>
            <a:noFill/>
            <a:ln w="19050">
              <a:noFill/>
              <a:miter lim="800000"/>
              <a:headEnd/>
              <a:tailEnd/>
            </a:ln>
          </p:spPr>
          <p:txBody>
            <a:bodyPr wrap="none" lIns="0" tIns="0" rIns="0" bIns="0" anchor="ctr">
              <a:spAutoFit/>
            </a:bodyPr>
            <a:lstStyle/>
            <a:p>
              <a:pPr algn="r"/>
              <a:r>
                <a:rPr lang="es-ES_tradnl" sz="1800" dirty="0"/>
                <a:t>CLK</a:t>
              </a:r>
              <a:endParaRPr lang="es-ES_tradnl" sz="2400" dirty="0"/>
            </a:p>
          </p:txBody>
        </p:sp>
        <p:sp>
          <p:nvSpPr>
            <p:cNvPr id="73761" name="Text Box 123"/>
            <p:cNvSpPr txBox="1">
              <a:spLocks noChangeArrowheads="1"/>
            </p:cNvSpPr>
            <p:nvPr/>
          </p:nvSpPr>
          <p:spPr bwMode="auto">
            <a:xfrm>
              <a:off x="1061226" y="2793127"/>
              <a:ext cx="740587" cy="246221"/>
            </a:xfrm>
            <a:prstGeom prst="rect">
              <a:avLst/>
            </a:prstGeom>
            <a:noFill/>
            <a:ln w="19050">
              <a:noFill/>
              <a:miter lim="800000"/>
              <a:headEnd/>
              <a:tailEnd/>
            </a:ln>
          </p:spPr>
          <p:txBody>
            <a:bodyPr wrap="none" lIns="0" tIns="0" rIns="0" bIns="0" anchor="ctr">
              <a:spAutoFit/>
            </a:bodyPr>
            <a:lstStyle/>
            <a:p>
              <a:pPr algn="r"/>
              <a:r>
                <a:rPr lang="es-ES_tradnl" sz="1600" dirty="0"/>
                <a:t>órdenes</a:t>
              </a:r>
            </a:p>
          </p:txBody>
        </p:sp>
        <p:sp>
          <p:nvSpPr>
            <p:cNvPr id="73762" name="Text Box 124"/>
            <p:cNvSpPr txBox="1">
              <a:spLocks noChangeArrowheads="1"/>
            </p:cNvSpPr>
            <p:nvPr/>
          </p:nvSpPr>
          <p:spPr bwMode="auto">
            <a:xfrm>
              <a:off x="767860" y="3250327"/>
              <a:ext cx="1035540" cy="246221"/>
            </a:xfrm>
            <a:prstGeom prst="rect">
              <a:avLst/>
            </a:prstGeom>
            <a:noFill/>
            <a:ln w="19050">
              <a:noFill/>
              <a:miter lim="800000"/>
              <a:headEnd/>
              <a:tailEnd/>
            </a:ln>
          </p:spPr>
          <p:txBody>
            <a:bodyPr wrap="none" lIns="0" tIns="0" rIns="0" bIns="0" anchor="ctr">
              <a:spAutoFit/>
            </a:bodyPr>
            <a:lstStyle/>
            <a:p>
              <a:pPr algn="r"/>
              <a:r>
                <a:rPr lang="es-ES_tradnl" sz="1600" dirty="0"/>
                <a:t>direcciones</a:t>
              </a:r>
            </a:p>
          </p:txBody>
        </p:sp>
        <p:sp>
          <p:nvSpPr>
            <p:cNvPr id="73763" name="Text Box 125"/>
            <p:cNvSpPr txBox="1">
              <a:spLocks noChangeArrowheads="1"/>
            </p:cNvSpPr>
            <p:nvPr/>
          </p:nvSpPr>
          <p:spPr bwMode="auto">
            <a:xfrm>
              <a:off x="1282611" y="3707527"/>
              <a:ext cx="501739" cy="246221"/>
            </a:xfrm>
            <a:prstGeom prst="rect">
              <a:avLst/>
            </a:prstGeom>
            <a:noFill/>
            <a:ln w="19050">
              <a:noFill/>
              <a:miter lim="800000"/>
              <a:headEnd/>
              <a:tailEnd/>
            </a:ln>
          </p:spPr>
          <p:txBody>
            <a:bodyPr wrap="none" lIns="0" tIns="0" rIns="0" bIns="0" anchor="ctr">
              <a:spAutoFit/>
            </a:bodyPr>
            <a:lstStyle/>
            <a:p>
              <a:pPr algn="r"/>
              <a:r>
                <a:rPr lang="es-ES_tradnl" sz="1600" dirty="0"/>
                <a:t>datos</a:t>
              </a:r>
            </a:p>
          </p:txBody>
        </p:sp>
      </p:grpSp>
      <p:sp>
        <p:nvSpPr>
          <p:cNvPr id="73764" name="Line 126"/>
          <p:cNvSpPr>
            <a:spLocks noChangeShapeType="1"/>
          </p:cNvSpPr>
          <p:nvPr/>
        </p:nvSpPr>
        <p:spPr bwMode="auto">
          <a:xfrm>
            <a:off x="4843758" y="2061803"/>
            <a:ext cx="576000" cy="0"/>
          </a:xfrm>
          <a:prstGeom prst="line">
            <a:avLst/>
          </a:prstGeom>
          <a:noFill/>
          <a:ln w="28575">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65" name="Text Box 127"/>
          <p:cNvSpPr txBox="1">
            <a:spLocks noChangeArrowheads="1"/>
          </p:cNvSpPr>
          <p:nvPr/>
        </p:nvSpPr>
        <p:spPr bwMode="auto">
          <a:xfrm>
            <a:off x="4775492" y="1730730"/>
            <a:ext cx="720725" cy="246221"/>
          </a:xfrm>
          <a:prstGeom prst="rect">
            <a:avLst/>
          </a:prstGeom>
          <a:noFill/>
          <a:ln w="19050">
            <a:noFill/>
            <a:miter lim="800000"/>
            <a:headEnd/>
            <a:tailEnd/>
          </a:ln>
        </p:spPr>
        <p:txBody>
          <a:bodyPr lIns="0" tIns="0" rIns="0" bIns="0" anchor="ctr">
            <a:spAutoFit/>
          </a:bodyPr>
          <a:lstStyle/>
          <a:p>
            <a:r>
              <a:rPr lang="es-ES_tradnl" sz="1600" dirty="0"/>
              <a:t>10 </a:t>
            </a:r>
            <a:r>
              <a:rPr lang="es-ES_tradnl" sz="1600" dirty="0" err="1"/>
              <a:t>ns</a:t>
            </a:r>
            <a:endParaRPr lang="es-ES_tradnl" sz="1600" dirty="0"/>
          </a:p>
        </p:txBody>
      </p:sp>
      <p:grpSp>
        <p:nvGrpSpPr>
          <p:cNvPr id="9" name="117 Grupo"/>
          <p:cNvGrpSpPr/>
          <p:nvPr/>
        </p:nvGrpSpPr>
        <p:grpSpPr>
          <a:xfrm>
            <a:off x="1679867" y="2692041"/>
            <a:ext cx="576263" cy="762000"/>
            <a:chOff x="1908175" y="2763838"/>
            <a:chExt cx="576263" cy="762000"/>
          </a:xfrm>
        </p:grpSpPr>
        <p:grpSp>
          <p:nvGrpSpPr>
            <p:cNvPr id="10" name="Group 92"/>
            <p:cNvGrpSpPr>
              <a:grpSpLocks/>
            </p:cNvGrpSpPr>
            <p:nvPr/>
          </p:nvGrpSpPr>
          <p:grpSpPr bwMode="auto">
            <a:xfrm>
              <a:off x="1908175" y="3221038"/>
              <a:ext cx="576263" cy="304800"/>
              <a:chOff x="576" y="2016"/>
              <a:chExt cx="384" cy="192"/>
            </a:xfrm>
          </p:grpSpPr>
          <p:sp>
            <p:nvSpPr>
              <p:cNvPr id="73823" name="Freeform 93"/>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24" name="Text Box 94"/>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fil</a:t>
                </a:r>
              </a:p>
            </p:txBody>
          </p:sp>
        </p:grpSp>
        <p:grpSp>
          <p:nvGrpSpPr>
            <p:cNvPr id="11" name="Group 55"/>
            <p:cNvGrpSpPr>
              <a:grpSpLocks/>
            </p:cNvGrpSpPr>
            <p:nvPr/>
          </p:nvGrpSpPr>
          <p:grpSpPr bwMode="auto">
            <a:xfrm>
              <a:off x="1908175" y="2763838"/>
              <a:ext cx="576263" cy="304800"/>
              <a:chOff x="576" y="2016"/>
              <a:chExt cx="384" cy="192"/>
            </a:xfrm>
          </p:grpSpPr>
          <p:sp>
            <p:nvSpPr>
              <p:cNvPr id="73803" name="Freeform 9"/>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4" name="Text Box 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ACT</a:t>
                </a:r>
              </a:p>
            </p:txBody>
          </p:sp>
        </p:grpSp>
      </p:grpSp>
      <p:grpSp>
        <p:nvGrpSpPr>
          <p:cNvPr id="12" name="Group 56"/>
          <p:cNvGrpSpPr>
            <a:grpSpLocks/>
          </p:cNvGrpSpPr>
          <p:nvPr/>
        </p:nvGrpSpPr>
        <p:grpSpPr bwMode="auto">
          <a:xfrm>
            <a:off x="2256130" y="2692041"/>
            <a:ext cx="576262" cy="304800"/>
            <a:chOff x="960" y="2016"/>
            <a:chExt cx="384" cy="192"/>
          </a:xfrm>
        </p:grpSpPr>
        <p:sp>
          <p:nvSpPr>
            <p:cNvPr id="73801" name="Freeform 12"/>
            <p:cNvSpPr>
              <a:spLocks/>
            </p:cNvSpPr>
            <p:nvPr/>
          </p:nvSpPr>
          <p:spPr bwMode="blackWhite">
            <a:xfrm>
              <a:off x="96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2" name="Text Box 11"/>
            <p:cNvSpPr txBox="1">
              <a:spLocks noChangeArrowheads="1"/>
            </p:cNvSpPr>
            <p:nvPr/>
          </p:nvSpPr>
          <p:spPr bwMode="blackWhite">
            <a:xfrm>
              <a:off x="960" y="2016"/>
              <a:ext cx="384" cy="192"/>
            </a:xfrm>
            <a:prstGeom prst="rect">
              <a:avLst/>
            </a:prstGeom>
            <a:noFill/>
            <a:ln w="19050">
              <a:noFill/>
              <a:miter lim="800000"/>
              <a:headEnd/>
              <a:tailEnd/>
            </a:ln>
          </p:spPr>
          <p:txBody>
            <a:bodyPr lIns="0" tIns="0" rIns="0" bIns="0">
              <a:spAutoFit/>
            </a:bodyPr>
            <a:lstStyle/>
            <a:p>
              <a:r>
                <a:rPr lang="es-ES" dirty="0">
                  <a:solidFill>
                    <a:srgbClr val="FFFFFF"/>
                  </a:solidFill>
                  <a:latin typeface="Arial Narrow" pitchFamily="34" charset="0"/>
                </a:rPr>
                <a:t>NOP</a:t>
              </a:r>
            </a:p>
          </p:txBody>
        </p:sp>
      </p:grpSp>
      <p:grpSp>
        <p:nvGrpSpPr>
          <p:cNvPr id="13" name="Group 57"/>
          <p:cNvGrpSpPr>
            <a:grpSpLocks/>
          </p:cNvGrpSpPr>
          <p:nvPr/>
        </p:nvGrpSpPr>
        <p:grpSpPr bwMode="auto">
          <a:xfrm>
            <a:off x="3407067" y="2692041"/>
            <a:ext cx="576263" cy="304800"/>
            <a:chOff x="1344" y="2016"/>
            <a:chExt cx="384" cy="192"/>
          </a:xfrm>
        </p:grpSpPr>
        <p:sp>
          <p:nvSpPr>
            <p:cNvPr id="73799" name="Freeform 20"/>
            <p:cNvSpPr>
              <a:spLocks/>
            </p:cNvSpPr>
            <p:nvPr/>
          </p:nvSpPr>
          <p:spPr bwMode="blackWhite">
            <a:xfrm>
              <a:off x="134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0" name="Text Box 19"/>
            <p:cNvSpPr txBox="1">
              <a:spLocks noChangeArrowheads="1"/>
            </p:cNvSpPr>
            <p:nvPr/>
          </p:nvSpPr>
          <p:spPr bwMode="blackWhite">
            <a:xfrm>
              <a:off x="1344" y="2016"/>
              <a:ext cx="384" cy="192"/>
            </a:xfrm>
            <a:prstGeom prst="rect">
              <a:avLst/>
            </a:prstGeom>
            <a:noFill/>
            <a:ln w="19050">
              <a:noFill/>
              <a:miter lim="800000"/>
              <a:headEnd/>
              <a:tailEnd/>
            </a:ln>
          </p:spPr>
          <p:txBody>
            <a:bodyPr lIns="0" tIns="0" rIns="0" bIns="0">
              <a:spAutoFit/>
            </a:bodyPr>
            <a:lstStyle/>
            <a:p>
              <a:r>
                <a:rPr lang="es-ES" dirty="0">
                  <a:solidFill>
                    <a:srgbClr val="FFFFFF"/>
                  </a:solidFill>
                  <a:latin typeface="Arial Narrow" pitchFamily="34" charset="0"/>
                </a:rPr>
                <a:t>NOP</a:t>
              </a:r>
            </a:p>
          </p:txBody>
        </p:sp>
      </p:grpSp>
      <p:grpSp>
        <p:nvGrpSpPr>
          <p:cNvPr id="14" name="118 Grupo"/>
          <p:cNvGrpSpPr/>
          <p:nvPr/>
        </p:nvGrpSpPr>
        <p:grpSpPr>
          <a:xfrm>
            <a:off x="2832392" y="2692041"/>
            <a:ext cx="574675" cy="762000"/>
            <a:chOff x="3060700" y="2763838"/>
            <a:chExt cx="574675" cy="762000"/>
          </a:xfrm>
        </p:grpSpPr>
        <p:grpSp>
          <p:nvGrpSpPr>
            <p:cNvPr id="15" name="Group 95"/>
            <p:cNvGrpSpPr>
              <a:grpSpLocks/>
            </p:cNvGrpSpPr>
            <p:nvPr/>
          </p:nvGrpSpPr>
          <p:grpSpPr bwMode="auto">
            <a:xfrm>
              <a:off x="3060700" y="3221038"/>
              <a:ext cx="574675" cy="304800"/>
              <a:chOff x="1728" y="2016"/>
              <a:chExt cx="384" cy="192"/>
            </a:xfrm>
          </p:grpSpPr>
          <p:sp>
            <p:nvSpPr>
              <p:cNvPr id="73821" name="Freeform 96"/>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22" name="Text Box 97"/>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col</a:t>
                </a:r>
                <a:endParaRPr lang="es-ES" b="1" dirty="0">
                  <a:solidFill>
                    <a:schemeClr val="bg1"/>
                  </a:solidFill>
                  <a:latin typeface="Arial Narrow" pitchFamily="34" charset="0"/>
                </a:endParaRPr>
              </a:p>
            </p:txBody>
          </p:sp>
        </p:grpSp>
        <p:grpSp>
          <p:nvGrpSpPr>
            <p:cNvPr id="16" name="Group 58"/>
            <p:cNvGrpSpPr>
              <a:grpSpLocks/>
            </p:cNvGrpSpPr>
            <p:nvPr/>
          </p:nvGrpSpPr>
          <p:grpSpPr bwMode="auto">
            <a:xfrm>
              <a:off x="3060700" y="2763838"/>
              <a:ext cx="574675" cy="304800"/>
              <a:chOff x="1728" y="2016"/>
              <a:chExt cx="384" cy="192"/>
            </a:xfrm>
          </p:grpSpPr>
          <p:sp>
            <p:nvSpPr>
              <p:cNvPr id="73797" name="Freeform 24"/>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8" name="Text Box 23"/>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RD</a:t>
                </a:r>
              </a:p>
            </p:txBody>
          </p:sp>
        </p:grpSp>
      </p:grpSp>
      <p:grpSp>
        <p:nvGrpSpPr>
          <p:cNvPr id="17" name="Group 59"/>
          <p:cNvGrpSpPr>
            <a:grpSpLocks/>
          </p:cNvGrpSpPr>
          <p:nvPr/>
        </p:nvGrpSpPr>
        <p:grpSpPr bwMode="auto">
          <a:xfrm>
            <a:off x="3983330" y="2692041"/>
            <a:ext cx="576262" cy="304800"/>
            <a:chOff x="2112" y="2016"/>
            <a:chExt cx="384" cy="192"/>
          </a:xfrm>
        </p:grpSpPr>
        <p:sp>
          <p:nvSpPr>
            <p:cNvPr id="73795" name="Freeform 28"/>
            <p:cNvSpPr>
              <a:spLocks/>
            </p:cNvSpPr>
            <p:nvPr/>
          </p:nvSpPr>
          <p:spPr bwMode="blackWhite">
            <a:xfrm>
              <a:off x="2112"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6" name="Text Box 27"/>
            <p:cNvSpPr txBox="1">
              <a:spLocks noChangeArrowheads="1"/>
            </p:cNvSpPr>
            <p:nvPr/>
          </p:nvSpPr>
          <p:spPr bwMode="blackWhite">
            <a:xfrm>
              <a:off x="2112"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18" name="Group 60"/>
          <p:cNvGrpSpPr>
            <a:grpSpLocks/>
          </p:cNvGrpSpPr>
          <p:nvPr/>
        </p:nvGrpSpPr>
        <p:grpSpPr bwMode="auto">
          <a:xfrm>
            <a:off x="5135855" y="2687278"/>
            <a:ext cx="576262" cy="304800"/>
            <a:chOff x="2496" y="2016"/>
            <a:chExt cx="384" cy="192"/>
          </a:xfrm>
        </p:grpSpPr>
        <p:sp>
          <p:nvSpPr>
            <p:cNvPr id="73793" name="Freeform 32"/>
            <p:cNvSpPr>
              <a:spLocks/>
            </p:cNvSpPr>
            <p:nvPr/>
          </p:nvSpPr>
          <p:spPr bwMode="blackWhite">
            <a:xfrm>
              <a:off x="249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4" name="Text Box 31"/>
            <p:cNvSpPr txBox="1">
              <a:spLocks noChangeArrowheads="1"/>
            </p:cNvSpPr>
            <p:nvPr/>
          </p:nvSpPr>
          <p:spPr bwMode="blackWhite">
            <a:xfrm>
              <a:off x="2496"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NOP</a:t>
              </a:r>
            </a:p>
          </p:txBody>
        </p:sp>
      </p:grpSp>
      <p:grpSp>
        <p:nvGrpSpPr>
          <p:cNvPr id="19" name="Group 61"/>
          <p:cNvGrpSpPr>
            <a:grpSpLocks/>
          </p:cNvGrpSpPr>
          <p:nvPr/>
        </p:nvGrpSpPr>
        <p:grpSpPr bwMode="auto">
          <a:xfrm>
            <a:off x="4559592" y="2692041"/>
            <a:ext cx="576263" cy="304800"/>
            <a:chOff x="2880" y="2016"/>
            <a:chExt cx="384" cy="192"/>
          </a:xfrm>
        </p:grpSpPr>
        <p:sp>
          <p:nvSpPr>
            <p:cNvPr id="73791" name="Freeform 36"/>
            <p:cNvSpPr>
              <a:spLocks/>
            </p:cNvSpPr>
            <p:nvPr/>
          </p:nvSpPr>
          <p:spPr bwMode="blackWhite">
            <a:xfrm>
              <a:off x="288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2" name="Text Box 35"/>
            <p:cNvSpPr txBox="1">
              <a:spLocks noChangeArrowheads="1"/>
            </p:cNvSpPr>
            <p:nvPr/>
          </p:nvSpPr>
          <p:spPr bwMode="blackWhite">
            <a:xfrm>
              <a:off x="2880"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0" name="Group 62"/>
          <p:cNvGrpSpPr>
            <a:grpSpLocks/>
          </p:cNvGrpSpPr>
          <p:nvPr/>
        </p:nvGrpSpPr>
        <p:grpSpPr bwMode="auto">
          <a:xfrm>
            <a:off x="5712117" y="2692041"/>
            <a:ext cx="574675" cy="304800"/>
            <a:chOff x="3264" y="2016"/>
            <a:chExt cx="384" cy="192"/>
          </a:xfrm>
        </p:grpSpPr>
        <p:sp>
          <p:nvSpPr>
            <p:cNvPr id="73789" name="Freeform 40"/>
            <p:cNvSpPr>
              <a:spLocks/>
            </p:cNvSpPr>
            <p:nvPr/>
          </p:nvSpPr>
          <p:spPr bwMode="blackWhite">
            <a:xfrm>
              <a:off x="326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90" name="Text Box 39"/>
            <p:cNvSpPr txBox="1">
              <a:spLocks noChangeArrowheads="1"/>
            </p:cNvSpPr>
            <p:nvPr/>
          </p:nvSpPr>
          <p:spPr bwMode="blackWhite">
            <a:xfrm>
              <a:off x="3264"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1" name="Group 63"/>
          <p:cNvGrpSpPr>
            <a:grpSpLocks/>
          </p:cNvGrpSpPr>
          <p:nvPr/>
        </p:nvGrpSpPr>
        <p:grpSpPr bwMode="auto">
          <a:xfrm>
            <a:off x="6864642" y="2709503"/>
            <a:ext cx="576263" cy="304800"/>
            <a:chOff x="3648" y="2016"/>
            <a:chExt cx="384" cy="192"/>
          </a:xfrm>
        </p:grpSpPr>
        <p:sp>
          <p:nvSpPr>
            <p:cNvPr id="73787" name="Freeform 44"/>
            <p:cNvSpPr>
              <a:spLocks/>
            </p:cNvSpPr>
            <p:nvPr/>
          </p:nvSpPr>
          <p:spPr bwMode="blackWhite">
            <a:xfrm>
              <a:off x="364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88" name="Text Box 43"/>
            <p:cNvSpPr txBox="1">
              <a:spLocks noChangeArrowheads="1"/>
            </p:cNvSpPr>
            <p:nvPr/>
          </p:nvSpPr>
          <p:spPr bwMode="blackWhite">
            <a:xfrm>
              <a:off x="3648"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2" name="119 Grupo"/>
          <p:cNvGrpSpPr/>
          <p:nvPr/>
        </p:nvGrpSpPr>
        <p:grpSpPr>
          <a:xfrm>
            <a:off x="6286792" y="2687278"/>
            <a:ext cx="577850" cy="766763"/>
            <a:chOff x="6515100" y="2759075"/>
            <a:chExt cx="577850" cy="766763"/>
          </a:xfrm>
        </p:grpSpPr>
        <p:grpSp>
          <p:nvGrpSpPr>
            <p:cNvPr id="23" name="Group 116"/>
            <p:cNvGrpSpPr>
              <a:grpSpLocks/>
            </p:cNvGrpSpPr>
            <p:nvPr/>
          </p:nvGrpSpPr>
          <p:grpSpPr bwMode="auto">
            <a:xfrm>
              <a:off x="6515100" y="3221038"/>
              <a:ext cx="576263" cy="304800"/>
              <a:chOff x="576" y="2016"/>
              <a:chExt cx="384" cy="192"/>
            </a:xfrm>
          </p:grpSpPr>
          <p:sp>
            <p:nvSpPr>
              <p:cNvPr id="73807" name="Freeform 117"/>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808" name="Text Box 11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dirty="0">
                    <a:solidFill>
                      <a:schemeClr val="bg1"/>
                    </a:solidFill>
                  </a:rPr>
                  <a:t>fil</a:t>
                </a:r>
              </a:p>
            </p:txBody>
          </p:sp>
        </p:grpSp>
        <p:grpSp>
          <p:nvGrpSpPr>
            <p:cNvPr id="24" name="Group 129"/>
            <p:cNvGrpSpPr>
              <a:grpSpLocks/>
            </p:cNvGrpSpPr>
            <p:nvPr/>
          </p:nvGrpSpPr>
          <p:grpSpPr bwMode="auto">
            <a:xfrm>
              <a:off x="6516688" y="2759075"/>
              <a:ext cx="576262" cy="304800"/>
              <a:chOff x="576" y="2016"/>
              <a:chExt cx="384" cy="192"/>
            </a:xfrm>
          </p:grpSpPr>
          <p:sp>
            <p:nvSpPr>
              <p:cNvPr id="73785" name="Freeform 130"/>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3786" name="Text Box 131"/>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ACT</a:t>
                </a:r>
              </a:p>
            </p:txBody>
          </p:sp>
        </p:grpSp>
      </p:grpSp>
      <p:sp>
        <p:nvSpPr>
          <p:cNvPr id="73777" name="Line 132"/>
          <p:cNvSpPr>
            <a:spLocks noChangeShapeType="1"/>
          </p:cNvSpPr>
          <p:nvPr/>
        </p:nvSpPr>
        <p:spPr bwMode="auto">
          <a:xfrm>
            <a:off x="5436000" y="4365266"/>
            <a:ext cx="1116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73778" name="Text Box 133"/>
          <p:cNvSpPr txBox="1">
            <a:spLocks noChangeArrowheads="1"/>
          </p:cNvSpPr>
          <p:nvPr/>
        </p:nvSpPr>
        <p:spPr bwMode="auto">
          <a:xfrm>
            <a:off x="5499954" y="4489645"/>
            <a:ext cx="1032334" cy="366254"/>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Ciclos para </a:t>
            </a:r>
            <a:br>
              <a:rPr lang="es-ES_tradnl" sz="1400" dirty="0"/>
            </a:br>
            <a:r>
              <a:rPr lang="es-ES_tradnl" sz="1400" dirty="0"/>
              <a:t>satisfacer </a:t>
            </a:r>
            <a:r>
              <a:rPr lang="es-ES_tradnl" sz="1400" dirty="0" err="1"/>
              <a:t>t</a:t>
            </a:r>
            <a:r>
              <a:rPr lang="es-ES_tradnl" sz="1400" b="1" baseline="-25000" dirty="0" err="1"/>
              <a:t>RP</a:t>
            </a:r>
            <a:endParaRPr lang="es-ES_tradnl" sz="1400" dirty="0"/>
          </a:p>
        </p:txBody>
      </p:sp>
      <p:sp>
        <p:nvSpPr>
          <p:cNvPr id="73779" name="Oval 134"/>
          <p:cNvSpPr>
            <a:spLocks noChangeArrowheads="1"/>
          </p:cNvSpPr>
          <p:nvPr/>
        </p:nvSpPr>
        <p:spPr bwMode="auto">
          <a:xfrm>
            <a:off x="6288380" y="2565041"/>
            <a:ext cx="576262" cy="576262"/>
          </a:xfrm>
          <a:prstGeom prst="ellipse">
            <a:avLst/>
          </a:prstGeom>
          <a:noFill/>
          <a:ln w="19050">
            <a:solidFill>
              <a:schemeClr val="hlink"/>
            </a:solidFill>
            <a:prstDash val="sysDot"/>
            <a:round/>
            <a:headEnd/>
            <a:tailEnd/>
          </a:ln>
        </p:spPr>
        <p:txBody>
          <a:bodyPr wrap="none" lIns="0" tIns="0" rIns="0" bIns="0" anchor="ctr"/>
          <a:lstStyle/>
          <a:p>
            <a:endParaRPr lang="es-ES"/>
          </a:p>
        </p:txBody>
      </p:sp>
      <p:sp>
        <p:nvSpPr>
          <p:cNvPr id="73781" name="Text Box 136"/>
          <p:cNvSpPr txBox="1">
            <a:spLocks noChangeArrowheads="1"/>
          </p:cNvSpPr>
          <p:nvPr/>
        </p:nvSpPr>
        <p:spPr bwMode="auto">
          <a:xfrm>
            <a:off x="7583780" y="3465153"/>
            <a:ext cx="785471" cy="366254"/>
          </a:xfrm>
          <a:prstGeom prst="rect">
            <a:avLst/>
          </a:prstGeom>
          <a:noFill/>
          <a:ln w="19050">
            <a:noFill/>
            <a:miter lim="800000"/>
            <a:headEnd/>
            <a:tailEnd/>
          </a:ln>
        </p:spPr>
        <p:txBody>
          <a:bodyPr wrap="none" lIns="0" tIns="0" rIns="0" bIns="0">
            <a:spAutoFit/>
          </a:bodyPr>
          <a:lstStyle/>
          <a:p>
            <a:pPr algn="l">
              <a:lnSpc>
                <a:spcPct val="85000"/>
              </a:lnSpc>
            </a:pPr>
            <a:r>
              <a:rPr lang="es-ES" sz="1400" dirty="0"/>
              <a:t>Siguiente</a:t>
            </a:r>
            <a:br>
              <a:rPr lang="es-ES" sz="1400" dirty="0"/>
            </a:br>
            <a:r>
              <a:rPr lang="es-ES" sz="1400" dirty="0"/>
              <a:t>operación</a:t>
            </a:r>
          </a:p>
        </p:txBody>
      </p:sp>
      <p:sp>
        <p:nvSpPr>
          <p:cNvPr id="73782" name="Freeform 142"/>
          <p:cNvSpPr>
            <a:spLocks/>
          </p:cNvSpPr>
          <p:nvPr/>
        </p:nvSpPr>
        <p:spPr bwMode="auto">
          <a:xfrm>
            <a:off x="6864642" y="2996841"/>
            <a:ext cx="719138" cy="709612"/>
          </a:xfrm>
          <a:custGeom>
            <a:avLst/>
            <a:gdLst>
              <a:gd name="T0" fmla="*/ 0 w 337"/>
              <a:gd name="T1" fmla="*/ 0 h 447"/>
              <a:gd name="T2" fmla="*/ 2147483647 w 337"/>
              <a:gd name="T3" fmla="*/ 2147483647 h 447"/>
              <a:gd name="T4" fmla="*/ 0 60000 65536"/>
              <a:gd name="T5" fmla="*/ 0 60000 65536"/>
              <a:gd name="T6" fmla="*/ 0 w 337"/>
              <a:gd name="T7" fmla="*/ 0 h 447"/>
              <a:gd name="T8" fmla="*/ 337 w 337"/>
              <a:gd name="T9" fmla="*/ 447 h 447"/>
            </a:gdLst>
            <a:ahLst/>
            <a:cxnLst>
              <a:cxn ang="T4">
                <a:pos x="T0" y="T1"/>
              </a:cxn>
              <a:cxn ang="T5">
                <a:pos x="T2" y="T3"/>
              </a:cxn>
            </a:cxnLst>
            <a:rect l="T6" t="T7" r="T8" b="T9"/>
            <a:pathLst>
              <a:path w="337" h="447">
                <a:moveTo>
                  <a:pt x="0" y="0"/>
                </a:moveTo>
                <a:cubicBezTo>
                  <a:pt x="248" y="103"/>
                  <a:pt x="20" y="229"/>
                  <a:pt x="337" y="447"/>
                </a:cubicBezTo>
              </a:path>
            </a:pathLst>
          </a:custGeom>
          <a:noFill/>
          <a:ln w="19050">
            <a:solidFill>
              <a:schemeClr val="hlink"/>
            </a:solidFill>
            <a:prstDash val="sysDot"/>
            <a:round/>
            <a:headEnd type="triangle" w="med" len="med"/>
            <a:tailEnd/>
          </a:ln>
        </p:spPr>
        <p:txBody>
          <a:bodyPr lIns="0" tIns="0" rIns="0" bIns="0" anchor="ctr"/>
          <a:lstStyle/>
          <a:p>
            <a:endParaRPr lang="es-ES"/>
          </a:p>
        </p:txBody>
      </p:sp>
      <p:grpSp>
        <p:nvGrpSpPr>
          <p:cNvPr id="25" name="98 Grupo"/>
          <p:cNvGrpSpPr/>
          <p:nvPr/>
        </p:nvGrpSpPr>
        <p:grpSpPr>
          <a:xfrm>
            <a:off x="5567655" y="1701441"/>
            <a:ext cx="2783563" cy="931862"/>
            <a:chOff x="5795963" y="1773238"/>
            <a:chExt cx="2783563" cy="931862"/>
          </a:xfrm>
        </p:grpSpPr>
        <p:sp>
          <p:nvSpPr>
            <p:cNvPr id="73780" name="Freeform 135"/>
            <p:cNvSpPr>
              <a:spLocks/>
            </p:cNvSpPr>
            <p:nvPr/>
          </p:nvSpPr>
          <p:spPr bwMode="auto">
            <a:xfrm>
              <a:off x="5795963" y="1773238"/>
              <a:ext cx="1616075" cy="931862"/>
            </a:xfrm>
            <a:custGeom>
              <a:avLst/>
              <a:gdLst>
                <a:gd name="T0" fmla="*/ 0 w 590"/>
                <a:gd name="T1" fmla="*/ 2147483647 h 305"/>
                <a:gd name="T2" fmla="*/ 2147483647 w 590"/>
                <a:gd name="T3" fmla="*/ 2147483647 h 305"/>
                <a:gd name="T4" fmla="*/ 0 60000 65536"/>
                <a:gd name="T5" fmla="*/ 0 60000 65536"/>
                <a:gd name="T6" fmla="*/ 0 w 590"/>
                <a:gd name="T7" fmla="*/ 0 h 305"/>
                <a:gd name="T8" fmla="*/ 590 w 590"/>
                <a:gd name="T9" fmla="*/ 305 h 305"/>
              </a:gdLst>
              <a:ahLst/>
              <a:cxnLst>
                <a:cxn ang="T4">
                  <a:pos x="T0" y="T1"/>
                </a:cxn>
                <a:cxn ang="T5">
                  <a:pos x="T2" y="T3"/>
                </a:cxn>
              </a:cxnLst>
              <a:rect l="T6" t="T7" r="T8" b="T9"/>
              <a:pathLst>
                <a:path w="590" h="305">
                  <a:moveTo>
                    <a:pt x="0" y="305"/>
                  </a:moveTo>
                  <a:cubicBezTo>
                    <a:pt x="283" y="0"/>
                    <a:pt x="590" y="123"/>
                    <a:pt x="590" y="123"/>
                  </a:cubicBezTo>
                </a:path>
              </a:pathLst>
            </a:custGeom>
            <a:noFill/>
            <a:ln w="19050">
              <a:solidFill>
                <a:schemeClr val="hlink"/>
              </a:solidFill>
              <a:prstDash val="sysDot"/>
              <a:round/>
              <a:headEnd type="triangle" w="med" len="med"/>
              <a:tailEnd/>
            </a:ln>
          </p:spPr>
          <p:txBody>
            <a:bodyPr lIns="0" tIns="0" rIns="0" bIns="0" anchor="ctr"/>
            <a:lstStyle/>
            <a:p>
              <a:endParaRPr lang="es-ES"/>
            </a:p>
          </p:txBody>
        </p:sp>
        <p:sp>
          <p:nvSpPr>
            <p:cNvPr id="73783" name="Text Box 143"/>
            <p:cNvSpPr txBox="1">
              <a:spLocks noChangeArrowheads="1"/>
            </p:cNvSpPr>
            <p:nvPr/>
          </p:nvSpPr>
          <p:spPr bwMode="auto">
            <a:xfrm>
              <a:off x="7524750" y="1844675"/>
              <a:ext cx="1054776" cy="366254"/>
            </a:xfrm>
            <a:prstGeom prst="rect">
              <a:avLst/>
            </a:prstGeom>
            <a:noFill/>
            <a:ln w="19050">
              <a:noFill/>
              <a:miter lim="800000"/>
              <a:headEnd/>
              <a:tailEnd/>
            </a:ln>
          </p:spPr>
          <p:txBody>
            <a:bodyPr wrap="none" lIns="0" tIns="0" rIns="0" bIns="0">
              <a:spAutoFit/>
            </a:bodyPr>
            <a:lstStyle/>
            <a:p>
              <a:pPr algn="l">
                <a:lnSpc>
                  <a:spcPct val="85000"/>
                </a:lnSpc>
              </a:pPr>
              <a:r>
                <a:rPr lang="es-ES" sz="1400" dirty="0"/>
                <a:t>Punto óptimo</a:t>
              </a:r>
              <a:br>
                <a:rPr lang="es-ES" sz="1400" dirty="0"/>
              </a:br>
              <a:r>
                <a:rPr lang="es-ES" sz="1400" dirty="0"/>
                <a:t>de precarga</a:t>
              </a:r>
            </a:p>
          </p:txBody>
        </p:sp>
      </p:grpSp>
      <p:sp>
        <p:nvSpPr>
          <p:cNvPr id="111" name="Line 88"/>
          <p:cNvSpPr>
            <a:spLocks noChangeShapeType="1"/>
          </p:cNvSpPr>
          <p:nvPr/>
        </p:nvSpPr>
        <p:spPr bwMode="auto">
          <a:xfrm>
            <a:off x="1967428" y="5085395"/>
            <a:ext cx="3456384"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12" name="Text Box 133"/>
          <p:cNvSpPr txBox="1">
            <a:spLocks noChangeArrowheads="1"/>
          </p:cNvSpPr>
          <p:nvPr/>
        </p:nvSpPr>
        <p:spPr bwMode="auto">
          <a:xfrm>
            <a:off x="3695762" y="4646813"/>
            <a:ext cx="1407437" cy="409343"/>
          </a:xfrm>
          <a:prstGeom prst="rect">
            <a:avLst/>
          </a:prstGeom>
          <a:noFill/>
          <a:ln w="19050">
            <a:noFill/>
            <a:miter lim="800000"/>
            <a:headEnd/>
            <a:tailEnd/>
          </a:ln>
        </p:spPr>
        <p:txBody>
          <a:bodyPr wrap="none" lIns="0" tIns="0" rIns="0" bIns="0" anchor="ctr">
            <a:spAutoFit/>
          </a:bodyPr>
          <a:lstStyle/>
          <a:p>
            <a:pPr>
              <a:lnSpc>
                <a:spcPct val="85000"/>
              </a:lnSpc>
            </a:pPr>
            <a:r>
              <a:rPr lang="es-ES_tradnl" sz="1400" dirty="0"/>
              <a:t>Se comprueba </a:t>
            </a:r>
          </a:p>
          <a:p>
            <a:pPr>
              <a:lnSpc>
                <a:spcPct val="85000"/>
              </a:lnSpc>
            </a:pPr>
            <a:r>
              <a:rPr lang="es-ES_tradnl" sz="1400" dirty="0"/>
              <a:t>que satisface </a:t>
            </a:r>
            <a:r>
              <a:rPr lang="es-ES_tradnl" sz="1400" dirty="0" err="1"/>
              <a:t>t</a:t>
            </a:r>
            <a:r>
              <a:rPr lang="es-ES_tradnl" sz="1400" b="1" baseline="-25000" dirty="0" err="1"/>
              <a:t>RAS</a:t>
            </a:r>
            <a:endParaRPr lang="es-ES_tradnl" sz="1400" dirty="0"/>
          </a:p>
        </p:txBody>
      </p:sp>
      <p:sp>
        <p:nvSpPr>
          <p:cNvPr id="113" name="Line 88"/>
          <p:cNvSpPr>
            <a:spLocks noChangeShapeType="1"/>
          </p:cNvSpPr>
          <p:nvPr/>
        </p:nvSpPr>
        <p:spPr bwMode="auto">
          <a:xfrm>
            <a:off x="1967428" y="5517443"/>
            <a:ext cx="4608000" cy="0"/>
          </a:xfrm>
          <a:prstGeom prst="line">
            <a:avLst/>
          </a:prstGeom>
          <a:noFill/>
          <a:ln w="3810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114" name="Text Box 133"/>
          <p:cNvSpPr txBox="1">
            <a:spLocks noChangeArrowheads="1"/>
          </p:cNvSpPr>
          <p:nvPr/>
        </p:nvSpPr>
        <p:spPr bwMode="auto">
          <a:xfrm>
            <a:off x="2340000" y="5276143"/>
            <a:ext cx="3600400" cy="183127"/>
          </a:xfrm>
          <a:prstGeom prst="rect">
            <a:avLst/>
          </a:prstGeom>
          <a:noFill/>
          <a:ln w="19050">
            <a:noFill/>
            <a:miter lim="800000"/>
            <a:headEnd/>
            <a:tailEnd/>
          </a:ln>
        </p:spPr>
        <p:txBody>
          <a:bodyPr wrap="square" lIns="0" tIns="0" rIns="0" bIns="0" anchor="ctr">
            <a:spAutoFit/>
          </a:bodyPr>
          <a:lstStyle/>
          <a:p>
            <a:pPr>
              <a:lnSpc>
                <a:spcPct val="85000"/>
              </a:lnSpc>
            </a:pPr>
            <a:r>
              <a:rPr lang="es-ES_tradnl" sz="1400" dirty="0"/>
              <a:t>Se comprueba que satisface </a:t>
            </a:r>
            <a:r>
              <a:rPr lang="es-ES_tradnl" sz="1400" dirty="0" err="1"/>
              <a:t>t</a:t>
            </a:r>
            <a:r>
              <a:rPr lang="es-ES_tradnl" sz="1400" b="1" baseline="-25000" dirty="0" err="1"/>
              <a:t>RC</a:t>
            </a:r>
            <a:endParaRPr lang="es-ES_tradnl" sz="1400" dirty="0"/>
          </a:p>
        </p:txBody>
      </p:sp>
      <p:sp>
        <p:nvSpPr>
          <p:cNvPr id="116" name="Rectangle 5"/>
          <p:cNvSpPr>
            <a:spLocks noChangeArrowheads="1"/>
          </p:cNvSpPr>
          <p:nvPr/>
        </p:nvSpPr>
        <p:spPr bwMode="auto">
          <a:xfrm>
            <a:off x="7715272" y="4929198"/>
            <a:ext cx="1072372" cy="1606594"/>
          </a:xfrm>
          <a:prstGeom prst="rect">
            <a:avLst/>
          </a:prstGeom>
          <a:solidFill>
            <a:schemeClr val="accent3">
              <a:lumMod val="20000"/>
              <a:lumOff val="80000"/>
            </a:schemeClr>
          </a:solidFill>
          <a:ln w="19050">
            <a:noFill/>
            <a:miter lim="800000"/>
            <a:headEnd/>
            <a:tailEnd/>
          </a:ln>
        </p:spPr>
        <p:txBody>
          <a:bodyPr wrap="square" lIns="0" tIns="0" rIns="0" bIns="0" anchor="ctr">
            <a:spAutoFit/>
          </a:bodyPr>
          <a:lstStyle/>
          <a:p>
            <a:pPr algn="r">
              <a:spcBef>
                <a:spcPct val="20000"/>
              </a:spcBef>
              <a:tabLst>
                <a:tab pos="2667000" algn="ctr"/>
                <a:tab pos="4306888" algn="ctr"/>
                <a:tab pos="5916613" algn="ctr"/>
              </a:tabLst>
            </a:pPr>
            <a:r>
              <a:rPr lang="es-ES" sz="1800" dirty="0"/>
              <a:t> </a:t>
            </a:r>
            <a:r>
              <a:rPr lang="es-ES" sz="1800" dirty="0" err="1"/>
              <a:t>t</a:t>
            </a:r>
            <a:r>
              <a:rPr lang="es-ES" sz="1800" b="1" baseline="-25000" dirty="0" err="1"/>
              <a:t>RCD</a:t>
            </a:r>
            <a:r>
              <a:rPr lang="es-ES" sz="1800" dirty="0"/>
              <a:t> = </a:t>
            </a:r>
            <a:r>
              <a:rPr lang="es-ES" altLang="ja-JP" sz="1800" dirty="0">
                <a:ea typeface="Geneva" pitchFamily="1" charset="-128"/>
              </a:rPr>
              <a:t>2	</a:t>
            </a:r>
            <a:endParaRPr lang="es-ES" sz="1800" dirty="0"/>
          </a:p>
          <a:p>
            <a:pPr algn="l">
              <a:spcBef>
                <a:spcPct val="20000"/>
              </a:spcBef>
              <a:tabLst>
                <a:tab pos="2667000" algn="ctr"/>
                <a:tab pos="4306888" algn="ctr"/>
                <a:tab pos="5916613" algn="ctr"/>
              </a:tabLst>
            </a:pPr>
            <a:r>
              <a:rPr lang="es-ES" sz="1800" dirty="0"/>
              <a:t> </a:t>
            </a:r>
            <a:r>
              <a:rPr lang="es-ES" sz="1800" dirty="0" err="1"/>
              <a:t>t</a:t>
            </a:r>
            <a:r>
              <a:rPr lang="es-ES" sz="1800" b="1" baseline="-25000" dirty="0" err="1"/>
              <a:t>RAS</a:t>
            </a:r>
            <a:r>
              <a:rPr lang="es-ES" sz="1800" dirty="0"/>
              <a:t> = </a:t>
            </a:r>
            <a:r>
              <a:rPr lang="es-ES" altLang="ja-JP" sz="1800" dirty="0">
                <a:ea typeface="Geneva" pitchFamily="1" charset="-128"/>
              </a:rPr>
              <a:t>5	</a:t>
            </a:r>
            <a:endParaRPr lang="es-ES" sz="1800" dirty="0"/>
          </a:p>
          <a:p>
            <a:pPr algn="l">
              <a:spcBef>
                <a:spcPct val="20000"/>
              </a:spcBef>
              <a:tabLst>
                <a:tab pos="2667000" algn="ctr"/>
                <a:tab pos="4306888" algn="ctr"/>
                <a:tab pos="5916613" algn="ctr"/>
              </a:tabLst>
            </a:pPr>
            <a:r>
              <a:rPr lang="es-ES" sz="1800" dirty="0"/>
              <a:t> </a:t>
            </a:r>
            <a:r>
              <a:rPr lang="es-ES" sz="1800" dirty="0" err="1"/>
              <a:t>t</a:t>
            </a:r>
            <a:r>
              <a:rPr lang="es-ES" sz="1800" b="1" baseline="-25000" dirty="0" err="1"/>
              <a:t>RC</a:t>
            </a:r>
            <a:r>
              <a:rPr lang="es-ES" sz="1800" dirty="0"/>
              <a:t> = </a:t>
            </a:r>
            <a:r>
              <a:rPr lang="es-ES" altLang="ja-JP" sz="1800" dirty="0">
                <a:ea typeface="Geneva" pitchFamily="1" charset="-128"/>
              </a:rPr>
              <a:t>6	</a:t>
            </a:r>
            <a:endParaRPr lang="es-ES" sz="1800" dirty="0"/>
          </a:p>
          <a:p>
            <a:pPr algn="l">
              <a:spcBef>
                <a:spcPct val="20000"/>
              </a:spcBef>
              <a:tabLst>
                <a:tab pos="2667000" algn="ctr"/>
                <a:tab pos="4306888" algn="ctr"/>
                <a:tab pos="5916613" algn="ctr"/>
              </a:tabLst>
            </a:pPr>
            <a:r>
              <a:rPr lang="es-ES" sz="1800" dirty="0"/>
              <a:t> </a:t>
            </a:r>
            <a:r>
              <a:rPr lang="es-ES" sz="1800" dirty="0" err="1"/>
              <a:t>t</a:t>
            </a:r>
            <a:r>
              <a:rPr lang="es-ES" sz="1800" b="1" baseline="-25000" dirty="0" err="1"/>
              <a:t>RP</a:t>
            </a:r>
            <a:r>
              <a:rPr lang="es-ES" sz="1800" dirty="0"/>
              <a:t> = </a:t>
            </a:r>
            <a:r>
              <a:rPr lang="es-ES" altLang="ja-JP" sz="1800" dirty="0">
                <a:ea typeface="Geneva" pitchFamily="1" charset="-128"/>
              </a:rPr>
              <a:t>2</a:t>
            </a:r>
          </a:p>
          <a:p>
            <a:pPr algn="l">
              <a:spcBef>
                <a:spcPct val="20000"/>
              </a:spcBef>
              <a:tabLst>
                <a:tab pos="2667000" algn="ctr"/>
                <a:tab pos="4306888" algn="ctr"/>
                <a:tab pos="5916613" algn="ctr"/>
              </a:tabLst>
            </a:pPr>
            <a:r>
              <a:rPr lang="es-ES" altLang="ja-JP" sz="1800" dirty="0">
                <a:ea typeface="Geneva" pitchFamily="1" charset="-128"/>
              </a:rPr>
              <a:t> CL = 2	</a:t>
            </a:r>
            <a:endParaRPr lang="es-ES" sz="1800" dirty="0">
              <a:ea typeface="Geneva" pitchFamily="1" charset="-128"/>
            </a:endParaRPr>
          </a:p>
        </p:txBody>
      </p:sp>
      <p:sp>
        <p:nvSpPr>
          <p:cNvPr id="100" name="99 CuadroTexto"/>
          <p:cNvSpPr txBox="1"/>
          <p:nvPr/>
        </p:nvSpPr>
        <p:spPr>
          <a:xfrm>
            <a:off x="2256130" y="5779018"/>
            <a:ext cx="4392488" cy="618631"/>
          </a:xfrm>
          <a:prstGeom prst="rect">
            <a:avLst/>
          </a:prstGeom>
          <a:noFill/>
        </p:spPr>
        <p:txBody>
          <a:bodyPr wrap="square" rtlCol="0">
            <a:spAutoFit/>
          </a:bodyPr>
          <a:lstStyle/>
          <a:p>
            <a:pPr>
              <a:lnSpc>
                <a:spcPct val="85000"/>
              </a:lnSpc>
            </a:pPr>
            <a:r>
              <a:rPr lang="es-ES" sz="1800" b="1" dirty="0">
                <a:solidFill>
                  <a:srgbClr val="FF0000"/>
                </a:solidFill>
              </a:rPr>
              <a:t>R=4 ciclos posterior a orden READ</a:t>
            </a:r>
          </a:p>
          <a:p>
            <a:pPr>
              <a:lnSpc>
                <a:spcPct val="85000"/>
              </a:lnSpc>
            </a:pPr>
            <a:r>
              <a:rPr lang="es-ES" sz="1800" b="1" dirty="0">
                <a:solidFill>
                  <a:srgbClr val="FF0000"/>
                </a:solidFill>
              </a:rPr>
              <a:t>PRECHARGE automática</a:t>
            </a:r>
          </a:p>
        </p:txBody>
      </p:sp>
      <p:sp>
        <p:nvSpPr>
          <p:cNvPr id="101" name="Line 88"/>
          <p:cNvSpPr>
            <a:spLocks noChangeShapeType="1"/>
          </p:cNvSpPr>
          <p:nvPr/>
        </p:nvSpPr>
        <p:spPr bwMode="auto">
          <a:xfrm>
            <a:off x="3059832" y="3197079"/>
            <a:ext cx="2376000" cy="0"/>
          </a:xfrm>
          <a:prstGeom prst="line">
            <a:avLst/>
          </a:prstGeom>
          <a:noFill/>
          <a:ln w="76200">
            <a:solidFill>
              <a:srgbClr val="FF3300"/>
            </a:solidFill>
            <a:round/>
            <a:headEnd type="triangle" w="med" len="med"/>
            <a:tailEnd type="triangle" w="med" len="med"/>
          </a:ln>
        </p:spPr>
        <p:txBody>
          <a:bodyPr wrap="none" lIns="0" tIns="0" rIns="0" bIns="0" anchor="ctr"/>
          <a:lstStyle/>
          <a:p>
            <a:endParaRPr lang="es-ES"/>
          </a:p>
        </p:txBody>
      </p:sp>
      <p:sp>
        <p:nvSpPr>
          <p:cNvPr id="105" name="104 Rectángulo"/>
          <p:cNvSpPr/>
          <p:nvPr/>
        </p:nvSpPr>
        <p:spPr bwMode="auto">
          <a:xfrm>
            <a:off x="5147866" y="2549007"/>
            <a:ext cx="576064" cy="576064"/>
          </a:xfrm>
          <a:prstGeom prst="rect">
            <a:avLst/>
          </a:prstGeom>
          <a:solidFill>
            <a:schemeClr val="bg1"/>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06" name="105 Grupo"/>
          <p:cNvGrpSpPr/>
          <p:nvPr/>
        </p:nvGrpSpPr>
        <p:grpSpPr>
          <a:xfrm>
            <a:off x="5147866" y="2693023"/>
            <a:ext cx="576262" cy="304800"/>
            <a:chOff x="1043608" y="6093296"/>
            <a:chExt cx="576262" cy="304800"/>
          </a:xfrm>
        </p:grpSpPr>
        <p:sp>
          <p:nvSpPr>
            <p:cNvPr id="103" name="Freeform 32"/>
            <p:cNvSpPr>
              <a:spLocks/>
            </p:cNvSpPr>
            <p:nvPr/>
          </p:nvSpPr>
          <p:spPr bwMode="blackWhite">
            <a:xfrm>
              <a:off x="1043608" y="6093296"/>
              <a:ext cx="576262" cy="287338"/>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0000"/>
            </a:solidFill>
            <a:ln w="9525">
              <a:solidFill>
                <a:schemeClr val="tx1"/>
              </a:solidFill>
              <a:round/>
              <a:headEnd/>
              <a:tailEnd/>
            </a:ln>
          </p:spPr>
          <p:txBody>
            <a:bodyPr lIns="0" tIns="0" rIns="0" bIns="0" anchor="ctr"/>
            <a:lstStyle/>
            <a:p>
              <a:endParaRPr lang="es-ES"/>
            </a:p>
          </p:txBody>
        </p:sp>
        <p:sp>
          <p:nvSpPr>
            <p:cNvPr id="104" name="Text Box 31"/>
            <p:cNvSpPr txBox="1">
              <a:spLocks noChangeArrowheads="1"/>
            </p:cNvSpPr>
            <p:nvPr/>
          </p:nvSpPr>
          <p:spPr bwMode="blackWhite">
            <a:xfrm>
              <a:off x="1043608" y="6093296"/>
              <a:ext cx="576262" cy="304800"/>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PRE</a:t>
              </a:r>
            </a:p>
          </p:txBody>
        </p:sp>
      </p:grpSp>
      <p:sp>
        <p:nvSpPr>
          <p:cNvPr id="107" name="Rectangle 3">
            <a:extLst>
              <a:ext uri="{FF2B5EF4-FFF2-40B4-BE49-F238E27FC236}">
                <a16:creationId xmlns:a16="http://schemas.microsoft.com/office/drawing/2014/main" id="{148A5E48-5822-4542-A280-CF57C2AD03CD}"/>
              </a:ext>
            </a:extLst>
          </p:cNvPr>
          <p:cNvSpPr txBox="1">
            <a:spLocks noChangeArrowheads="1"/>
          </p:cNvSpPr>
          <p:nvPr/>
        </p:nvSpPr>
        <p:spPr>
          <a:xfrm>
            <a:off x="593456" y="843685"/>
            <a:ext cx="8182004" cy="485760"/>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marL="82550" indent="0">
              <a:buFont typeface="Wingdings 2" pitchFamily="18" charset="2"/>
              <a:buNone/>
            </a:pPr>
            <a:r>
              <a:rPr lang="es-ES" u="sng" dirty="0">
                <a:solidFill>
                  <a:srgbClr val="FF0000"/>
                </a:solidFill>
              </a:rPr>
              <a:t>RESUMEN</a:t>
            </a:r>
            <a:endParaRPr lang="es-ES" dirty="0">
              <a:cs typeface="Arial" charset="0"/>
            </a:endParaRPr>
          </a:p>
        </p:txBody>
      </p:sp>
      <p:sp>
        <p:nvSpPr>
          <p:cNvPr id="26" name="2 Marcador de número de diapositiva">
            <a:extLst>
              <a:ext uri="{FF2B5EF4-FFF2-40B4-BE49-F238E27FC236}">
                <a16:creationId xmlns:a16="http://schemas.microsoft.com/office/drawing/2014/main" id="{EB4E7B0D-9987-F247-41E3-2D4EE545B7BA}"/>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85</a:t>
            </a:fld>
            <a:endParaRPr lang="en-US" dirty="0"/>
          </a:p>
        </p:txBody>
      </p:sp>
    </p:spTree>
    <p:extLst>
      <p:ext uri="{BB962C8B-B14F-4D97-AF65-F5344CB8AC3E}">
        <p14:creationId xmlns:p14="http://schemas.microsoft.com/office/powerpoint/2010/main" val="3859594743"/>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06"/>
                                        </p:tgtEl>
                                        <p:attrNameLst>
                                          <p:attrName>style.visibility</p:attrName>
                                        </p:attrNameLst>
                                      </p:cBhvr>
                                      <p:to>
                                        <p:strVal val="visible"/>
                                      </p:to>
                                    </p:set>
                                    <p:animEffect transition="in" filter="fade">
                                      <p:cBhvr>
                                        <p:cTn id="9" dur="1000"/>
                                        <p:tgtEl>
                                          <p:spTgt spid="106"/>
                                        </p:tgtEl>
                                      </p:cBhvr>
                                    </p:animEffect>
                                  </p:childTnLst>
                                </p:cTn>
                              </p:par>
                              <p:par>
                                <p:cTn id="10" presetID="26" presetClass="emph" presetSubtype="0" repeatCount="indefinite" fill="hold" nodeType="withEffect">
                                  <p:stCondLst>
                                    <p:cond delay="0"/>
                                  </p:stCondLst>
                                  <p:endCondLst>
                                    <p:cond evt="onNext" delay="0">
                                      <p:tgtEl>
                                        <p:sldTgt/>
                                      </p:tgtEl>
                                    </p:cond>
                                  </p:endCondLst>
                                  <p:childTnLst>
                                    <p:animEffect transition="out" filter="fade">
                                      <p:cBhvr>
                                        <p:cTn id="11" dur="500" tmFilter="0, 0; .2, .5; .8, .5; 1, 0"/>
                                        <p:tgtEl>
                                          <p:spTgt spid="106"/>
                                        </p:tgtEl>
                                      </p:cBhvr>
                                    </p:animEffect>
                                    <p:animScale>
                                      <p:cBhvr>
                                        <p:cTn id="12" dur="250" autoRev="1" fill="hold"/>
                                        <p:tgtEl>
                                          <p:spTgt spid="106"/>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06"/>
                                        </p:tgtEl>
                                      </p:cBhvr>
                                    </p:animEffect>
                                    <p:set>
                                      <p:cBhvr>
                                        <p:cTn id="17" dur="1" fill="hold">
                                          <p:stCondLst>
                                            <p:cond delay="499"/>
                                          </p:stCondLst>
                                        </p:cTn>
                                        <p:tgtEl>
                                          <p:spTgt spid="106"/>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2000"/>
                                        <p:tgtEl>
                                          <p:spTgt spid="105"/>
                                        </p:tgtEl>
                                      </p:cBhvr>
                                    </p:animEffect>
                                    <p:set>
                                      <p:cBhvr>
                                        <p:cTn id="20" dur="1" fill="hold">
                                          <p:stCondLst>
                                            <p:cond delay="1999"/>
                                          </p:stCondLst>
                                        </p:cTn>
                                        <p:tgtEl>
                                          <p:spTgt spid="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5" grpId="1"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13 Rectángulo"/>
          <p:cNvSpPr/>
          <p:nvPr/>
        </p:nvSpPr>
        <p:spPr bwMode="auto">
          <a:xfrm>
            <a:off x="5000628" y="4286256"/>
            <a:ext cx="1357322" cy="2286016"/>
          </a:xfrm>
          <a:prstGeom prst="rect">
            <a:avLst/>
          </a:prstGeom>
          <a:solidFill>
            <a:schemeClr val="tx2">
              <a:lumMod val="20000"/>
              <a:lumOff val="8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p:cNvSpPr/>
          <p:nvPr/>
        </p:nvSpPr>
        <p:spPr bwMode="auto">
          <a:xfrm>
            <a:off x="1214414" y="4991112"/>
            <a:ext cx="561980" cy="1438284"/>
          </a:xfrm>
          <a:prstGeom prst="rect">
            <a:avLst/>
          </a:prstGeom>
          <a:solidFill>
            <a:schemeClr val="tx2">
              <a:lumMod val="20000"/>
              <a:lumOff val="8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659" name="Rectangle 2"/>
          <p:cNvSpPr>
            <a:spLocks noGrp="1" noChangeArrowheads="1"/>
          </p:cNvSpPr>
          <p:nvPr>
            <p:ph type="title"/>
          </p:nvPr>
        </p:nvSpPr>
        <p:spPr/>
        <p:txBody>
          <a:bodyPr/>
          <a:lstStyle/>
          <a:p>
            <a:r>
              <a:rPr lang="es-ES" dirty="0"/>
              <a:t>Cronogramas de lectura y escritura</a:t>
            </a:r>
          </a:p>
        </p:txBody>
      </p:sp>
      <p:sp>
        <p:nvSpPr>
          <p:cNvPr id="70660" name="Rectangle 3"/>
          <p:cNvSpPr>
            <a:spLocks noGrp="1" noChangeArrowheads="1"/>
          </p:cNvSpPr>
          <p:nvPr>
            <p:ph type="body" idx="1"/>
          </p:nvPr>
        </p:nvSpPr>
        <p:spPr>
          <a:xfrm flipH="1">
            <a:off x="573088" y="915986"/>
            <a:ext cx="8472486" cy="3082925"/>
          </a:xfrm>
        </p:spPr>
        <p:txBody>
          <a:bodyPr/>
          <a:lstStyle/>
          <a:p>
            <a:r>
              <a:rPr lang="es-ES" altLang="ja-JP" dirty="0"/>
              <a:t>Expresión de los parámetros temporales en ciclos de reloj</a:t>
            </a:r>
            <a:endParaRPr lang="es-ES" altLang="ja-JP" dirty="0">
              <a:ea typeface="Geneva" pitchFamily="1" charset="-128"/>
            </a:endParaRPr>
          </a:p>
          <a:p>
            <a:pPr lvl="1"/>
            <a:r>
              <a:rPr lang="es-ES" dirty="0"/>
              <a:t>Además el chip SDRAM tiene una frecuencia máxima (o un periodo de reloj mínimo) de funcionamiento. </a:t>
            </a:r>
          </a:p>
          <a:p>
            <a:pPr lvl="2"/>
            <a:r>
              <a:rPr lang="es-ES" dirty="0"/>
              <a:t>El usuario puede ubicar esta memoria en un sistema a esta frecuencia u otra inferior</a:t>
            </a:r>
          </a:p>
          <a:p>
            <a:pPr lvl="1"/>
            <a:r>
              <a:rPr lang="es-ES" dirty="0">
                <a:ea typeface="Geneva" pitchFamily="1" charset="-128"/>
              </a:rPr>
              <a:t>Por ejemplo:  el fabricante nos proporciona una tabla donde nos indica la frecuencia máxima a la que ésta puede operar:</a:t>
            </a:r>
          </a:p>
          <a:p>
            <a:pPr lvl="2"/>
            <a:r>
              <a:rPr lang="es-ES" dirty="0">
                <a:ea typeface="Geneva" pitchFamily="1" charset="-128"/>
              </a:rPr>
              <a:t>La memoria puede operar a frecuencias inferiores a la mínima, pero nunca a frecuencias superiores a la máxima</a:t>
            </a:r>
          </a:p>
        </p:txBody>
      </p:sp>
      <p:sp>
        <p:nvSpPr>
          <p:cNvPr id="70661" name="Rectangle 5"/>
          <p:cNvSpPr>
            <a:spLocks noChangeArrowheads="1"/>
          </p:cNvSpPr>
          <p:nvPr/>
        </p:nvSpPr>
        <p:spPr bwMode="auto">
          <a:xfrm>
            <a:off x="1339451" y="4408643"/>
            <a:ext cx="6859587" cy="1914370"/>
          </a:xfrm>
          <a:prstGeom prst="rect">
            <a:avLst/>
          </a:prstGeom>
          <a:noFill/>
          <a:ln w="19050">
            <a:noFill/>
            <a:miter lim="800000"/>
            <a:headEnd/>
            <a:tailEnd/>
          </a:ln>
        </p:spPr>
        <p:txBody>
          <a:bodyPr lIns="0" tIns="0" rIns="0" bIns="0" anchor="ctr">
            <a:spAutoFit/>
          </a:bodyPr>
          <a:lstStyle/>
          <a:p>
            <a:pPr algn="l">
              <a:spcBef>
                <a:spcPct val="20000"/>
              </a:spcBef>
              <a:tabLst>
                <a:tab pos="2667000" algn="ctr"/>
                <a:tab pos="4306888" algn="ctr"/>
                <a:tab pos="5916613" algn="ctr"/>
              </a:tabLst>
            </a:pPr>
            <a:r>
              <a:rPr lang="es-ES" dirty="0"/>
              <a:t>	</a:t>
            </a:r>
            <a:r>
              <a:rPr lang="es-ES" sz="1600" b="1" dirty="0"/>
              <a:t>50 MHz	100 MHz	166 MHz</a:t>
            </a:r>
            <a:br>
              <a:rPr lang="es-ES" sz="1600" b="1" dirty="0"/>
            </a:br>
            <a:r>
              <a:rPr lang="es-ES" sz="1600" b="1" dirty="0"/>
              <a:t>	(</a:t>
            </a:r>
            <a:r>
              <a:rPr lang="es-ES" sz="1600" b="1" dirty="0" err="1"/>
              <a:t>t</a:t>
            </a:r>
            <a:r>
              <a:rPr lang="es-ES" sz="1600" b="1" baseline="-25000" dirty="0" err="1"/>
              <a:t>CK</a:t>
            </a:r>
            <a:r>
              <a:rPr lang="es-ES" sz="1600" b="1" dirty="0"/>
              <a:t> = 20 </a:t>
            </a:r>
            <a:r>
              <a:rPr lang="es-ES" sz="1600" b="1" dirty="0" err="1"/>
              <a:t>ns</a:t>
            </a:r>
            <a:r>
              <a:rPr lang="es-ES" sz="1600" b="1" dirty="0"/>
              <a:t>)	 (</a:t>
            </a:r>
            <a:r>
              <a:rPr lang="es-ES" sz="1600" b="1" dirty="0" err="1"/>
              <a:t>t</a:t>
            </a:r>
            <a:r>
              <a:rPr lang="es-ES" sz="1600" b="1" baseline="-25000" dirty="0" err="1"/>
              <a:t>CK</a:t>
            </a:r>
            <a:r>
              <a:rPr lang="es-ES" sz="1600" b="1" dirty="0"/>
              <a:t> = 10 </a:t>
            </a:r>
            <a:r>
              <a:rPr lang="es-ES" sz="1600" b="1" dirty="0" err="1"/>
              <a:t>ns</a:t>
            </a:r>
            <a:r>
              <a:rPr lang="es-ES" sz="1600" b="1" dirty="0"/>
              <a:t>) 	 (</a:t>
            </a:r>
            <a:r>
              <a:rPr lang="es-ES" sz="1600" b="1" dirty="0" err="1"/>
              <a:t>t</a:t>
            </a:r>
            <a:r>
              <a:rPr lang="es-ES" sz="1600" b="1" baseline="-25000" dirty="0" err="1"/>
              <a:t>CK</a:t>
            </a:r>
            <a:r>
              <a:rPr lang="es-ES" sz="1600" b="1" dirty="0"/>
              <a:t> = 6 </a:t>
            </a:r>
            <a:r>
              <a:rPr lang="es-ES" sz="1600" b="1" dirty="0" err="1"/>
              <a:t>ns</a:t>
            </a:r>
            <a:r>
              <a:rPr lang="es-ES" sz="1600" b="1" dirty="0"/>
              <a:t>) </a:t>
            </a:r>
          </a:p>
          <a:p>
            <a:pPr algn="l">
              <a:spcBef>
                <a:spcPct val="20000"/>
              </a:spcBef>
              <a:tabLst>
                <a:tab pos="2667000" algn="ctr"/>
                <a:tab pos="4306888" algn="ctr"/>
                <a:tab pos="5916613" algn="ctr"/>
              </a:tabLst>
            </a:pPr>
            <a:r>
              <a:rPr lang="es-ES" sz="1800" dirty="0" err="1"/>
              <a:t>t</a:t>
            </a:r>
            <a:r>
              <a:rPr lang="es-ES" sz="1800" b="1" baseline="-25000" dirty="0" err="1"/>
              <a:t>RCD</a:t>
            </a:r>
            <a:r>
              <a:rPr lang="es-ES" sz="1800" dirty="0"/>
              <a:t> = </a:t>
            </a:r>
            <a:r>
              <a:rPr lang="es-ES" altLang="ja-JP" sz="1800" dirty="0">
                <a:ea typeface="Geneva" pitchFamily="1" charset="-128"/>
              </a:rPr>
              <a:t>18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RAS</a:t>
            </a:r>
            <a:r>
              <a:rPr lang="es-ES" sz="1800" dirty="0"/>
              <a:t> = </a:t>
            </a:r>
            <a:r>
              <a:rPr lang="es-ES" altLang="ja-JP" sz="1800" dirty="0">
                <a:ea typeface="Geneva" pitchFamily="1" charset="-128"/>
              </a:rPr>
              <a:t>42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RC</a:t>
            </a:r>
            <a:r>
              <a:rPr lang="es-ES" sz="1800" dirty="0"/>
              <a:t> = </a:t>
            </a:r>
            <a:r>
              <a:rPr lang="es-ES" altLang="ja-JP" sz="1800" dirty="0">
                <a:ea typeface="Geneva" pitchFamily="1" charset="-128"/>
              </a:rPr>
              <a:t>60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RP</a:t>
            </a:r>
            <a:r>
              <a:rPr lang="es-ES" sz="1800" dirty="0"/>
              <a:t> = </a:t>
            </a:r>
            <a:r>
              <a:rPr lang="es-ES" altLang="ja-JP" sz="1800" dirty="0">
                <a:ea typeface="Geneva" pitchFamily="1" charset="-128"/>
              </a:rPr>
              <a:t>18 </a:t>
            </a:r>
            <a:r>
              <a:rPr lang="es-ES" altLang="ja-JP" sz="1800" dirty="0" err="1">
                <a:ea typeface="Geneva" pitchFamily="1" charset="-128"/>
              </a:rPr>
              <a:t>ns</a:t>
            </a:r>
            <a:r>
              <a:rPr lang="es-ES" altLang="ja-JP" sz="1800" dirty="0">
                <a:ea typeface="Geneva" pitchFamily="1" charset="-128"/>
              </a:rPr>
              <a:t>	</a:t>
            </a:r>
            <a:endParaRPr lang="es-ES" sz="1800" dirty="0">
              <a:ea typeface="Geneva" pitchFamily="1" charset="-128"/>
            </a:endParaRPr>
          </a:p>
        </p:txBody>
      </p:sp>
      <p:grpSp>
        <p:nvGrpSpPr>
          <p:cNvPr id="2" name="Group 10"/>
          <p:cNvGrpSpPr>
            <a:grpSpLocks/>
          </p:cNvGrpSpPr>
          <p:nvPr/>
        </p:nvGrpSpPr>
        <p:grpSpPr bwMode="auto">
          <a:xfrm>
            <a:off x="3298508" y="5051743"/>
            <a:ext cx="4679950" cy="1454150"/>
            <a:chOff x="2245" y="2968"/>
            <a:chExt cx="2948" cy="916"/>
          </a:xfrm>
        </p:grpSpPr>
        <p:sp>
          <p:nvSpPr>
            <p:cNvPr id="70664" name="Line 6"/>
            <p:cNvSpPr>
              <a:spLocks noChangeShapeType="1"/>
            </p:cNvSpPr>
            <p:nvPr/>
          </p:nvSpPr>
          <p:spPr bwMode="auto">
            <a:xfrm>
              <a:off x="2245" y="2968"/>
              <a:ext cx="2948" cy="0"/>
            </a:xfrm>
            <a:prstGeom prst="line">
              <a:avLst/>
            </a:prstGeom>
            <a:noFill/>
            <a:ln w="19050">
              <a:solidFill>
                <a:schemeClr val="tx1"/>
              </a:solidFill>
              <a:round/>
              <a:headEnd/>
              <a:tailEnd/>
            </a:ln>
          </p:spPr>
          <p:txBody>
            <a:bodyPr wrap="none" lIns="0" tIns="0" rIns="0" bIns="0" anchor="ctr"/>
            <a:lstStyle/>
            <a:p>
              <a:endParaRPr lang="es-ES"/>
            </a:p>
          </p:txBody>
        </p:sp>
        <p:sp>
          <p:nvSpPr>
            <p:cNvPr id="70665" name="Line 7"/>
            <p:cNvSpPr>
              <a:spLocks noChangeShapeType="1"/>
            </p:cNvSpPr>
            <p:nvPr/>
          </p:nvSpPr>
          <p:spPr bwMode="auto">
            <a:xfrm>
              <a:off x="2245" y="3884"/>
              <a:ext cx="2948" cy="0"/>
            </a:xfrm>
            <a:prstGeom prst="line">
              <a:avLst/>
            </a:prstGeom>
            <a:noFill/>
            <a:ln w="6350">
              <a:solidFill>
                <a:schemeClr val="tx1"/>
              </a:solidFill>
              <a:round/>
              <a:headEnd/>
              <a:tailEnd/>
            </a:ln>
          </p:spPr>
          <p:txBody>
            <a:bodyPr wrap="none" lIns="0" tIns="0" rIns="0" bIns="0" anchor="ctr"/>
            <a:lstStyle/>
            <a:p>
              <a:endParaRPr lang="es-ES"/>
            </a:p>
          </p:txBody>
        </p:sp>
      </p:grpSp>
      <p:sp>
        <p:nvSpPr>
          <p:cNvPr id="9" name="Rectangle 5"/>
          <p:cNvSpPr>
            <a:spLocks noChangeArrowheads="1"/>
          </p:cNvSpPr>
          <p:nvPr/>
        </p:nvSpPr>
        <p:spPr bwMode="auto">
          <a:xfrm>
            <a:off x="3857620"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1</a:t>
            </a:r>
          </a:p>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  1	</a:t>
            </a:r>
            <a:endParaRPr lang="es-ES" sz="1800" dirty="0">
              <a:ea typeface="Geneva" pitchFamily="1" charset="-128"/>
            </a:endParaRPr>
          </a:p>
        </p:txBody>
      </p:sp>
      <p:sp>
        <p:nvSpPr>
          <p:cNvPr id="11" name="Rectangle 5"/>
          <p:cNvSpPr>
            <a:spLocks noChangeArrowheads="1"/>
          </p:cNvSpPr>
          <p:nvPr/>
        </p:nvSpPr>
        <p:spPr bwMode="auto">
          <a:xfrm>
            <a:off x="5500694"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2</a:t>
            </a:r>
          </a:p>
          <a:p>
            <a:pPr marL="342900" indent="-342900">
              <a:spcBef>
                <a:spcPct val="20000"/>
              </a:spcBef>
              <a:tabLst>
                <a:tab pos="2667000" algn="ctr"/>
                <a:tab pos="4306888" algn="ctr"/>
                <a:tab pos="5916613" algn="ctr"/>
              </a:tabLst>
            </a:pPr>
            <a:r>
              <a:rPr lang="es-ES" altLang="ja-JP" sz="1800" dirty="0">
                <a:ea typeface="Geneva" pitchFamily="1" charset="-128"/>
              </a:rPr>
              <a:t>5</a:t>
            </a:r>
          </a:p>
          <a:p>
            <a:pPr marL="342900" indent="-342900">
              <a:spcBef>
                <a:spcPct val="20000"/>
              </a:spcBef>
              <a:tabLst>
                <a:tab pos="2667000" algn="ctr"/>
                <a:tab pos="4306888" algn="ctr"/>
                <a:tab pos="5916613" algn="ctr"/>
              </a:tabLst>
            </a:pPr>
            <a:r>
              <a:rPr lang="es-ES" altLang="ja-JP" sz="1800" dirty="0">
                <a:ea typeface="Geneva" pitchFamily="1" charset="-128"/>
              </a:rPr>
              <a:t>6</a:t>
            </a:r>
          </a:p>
          <a:p>
            <a:pPr marL="342900" indent="-342900">
              <a:spcBef>
                <a:spcPct val="20000"/>
              </a:spcBef>
              <a:tabLst>
                <a:tab pos="2667000" algn="ctr"/>
                <a:tab pos="4306888" algn="ctr"/>
                <a:tab pos="5916613" algn="ctr"/>
              </a:tabLst>
            </a:pPr>
            <a:r>
              <a:rPr lang="es-ES" altLang="ja-JP" sz="1800" dirty="0">
                <a:ea typeface="Geneva" pitchFamily="1" charset="-128"/>
              </a:rPr>
              <a:t>  2	</a:t>
            </a:r>
            <a:endParaRPr lang="es-ES" sz="1800" dirty="0">
              <a:ea typeface="Geneva" pitchFamily="1" charset="-128"/>
            </a:endParaRPr>
          </a:p>
        </p:txBody>
      </p:sp>
      <p:sp>
        <p:nvSpPr>
          <p:cNvPr id="12" name="Rectangle 5"/>
          <p:cNvSpPr>
            <a:spLocks noChangeArrowheads="1"/>
          </p:cNvSpPr>
          <p:nvPr/>
        </p:nvSpPr>
        <p:spPr bwMode="auto">
          <a:xfrm>
            <a:off x="7143768"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7</a:t>
            </a:r>
          </a:p>
          <a:p>
            <a:pPr marL="342900" indent="-342900">
              <a:spcBef>
                <a:spcPct val="20000"/>
              </a:spcBef>
              <a:tabLst>
                <a:tab pos="2667000" algn="ctr"/>
                <a:tab pos="4306888" algn="ctr"/>
                <a:tab pos="5916613" algn="ctr"/>
              </a:tabLst>
            </a:pPr>
            <a:r>
              <a:rPr lang="es-ES" altLang="ja-JP" sz="1800" dirty="0">
                <a:ea typeface="Geneva" pitchFamily="1" charset="-128"/>
              </a:rPr>
              <a:t>10</a:t>
            </a:r>
          </a:p>
          <a:p>
            <a:pPr marL="342900" indent="-342900">
              <a:spcBef>
                <a:spcPct val="20000"/>
              </a:spcBef>
              <a:tabLst>
                <a:tab pos="2667000" algn="ctr"/>
                <a:tab pos="4306888" algn="ctr"/>
                <a:tab pos="5916613" algn="ctr"/>
              </a:tabLst>
            </a:pPr>
            <a:r>
              <a:rPr lang="es-ES" altLang="ja-JP" sz="1800" dirty="0">
                <a:ea typeface="Geneva" pitchFamily="1" charset="-128"/>
              </a:rPr>
              <a:t>  3	</a:t>
            </a:r>
            <a:endParaRPr lang="es-ES" sz="1800" dirty="0">
              <a:ea typeface="Geneva" pitchFamily="1" charset="-128"/>
            </a:endParaRPr>
          </a:p>
        </p:txBody>
      </p:sp>
      <p:sp>
        <p:nvSpPr>
          <p:cNvPr id="3" name="2 Marcador de número de diapositiva">
            <a:extLst>
              <a:ext uri="{FF2B5EF4-FFF2-40B4-BE49-F238E27FC236}">
                <a16:creationId xmlns:a16="http://schemas.microsoft.com/office/drawing/2014/main" id="{583F999F-E145-C796-F227-475A9AAC70C1}"/>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86</a:t>
            </a:fld>
            <a:endParaRPr lang="en-US" dirty="0"/>
          </a:p>
        </p:txBody>
      </p:sp>
    </p:spTree>
    <p:extLst>
      <p:ext uri="{BB962C8B-B14F-4D97-AF65-F5344CB8AC3E}">
        <p14:creationId xmlns:p14="http://schemas.microsoft.com/office/powerpoint/2010/main" val="4115720024"/>
      </p:ext>
    </p:extLst>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13 Rectángulo"/>
          <p:cNvSpPr/>
          <p:nvPr/>
        </p:nvSpPr>
        <p:spPr bwMode="auto">
          <a:xfrm>
            <a:off x="5000628" y="4286256"/>
            <a:ext cx="1357322" cy="2286016"/>
          </a:xfrm>
          <a:prstGeom prst="rect">
            <a:avLst/>
          </a:prstGeom>
          <a:solidFill>
            <a:schemeClr val="tx2">
              <a:lumMod val="20000"/>
              <a:lumOff val="8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p:cNvSpPr/>
          <p:nvPr/>
        </p:nvSpPr>
        <p:spPr bwMode="auto">
          <a:xfrm>
            <a:off x="1214414" y="4991112"/>
            <a:ext cx="561980" cy="1438284"/>
          </a:xfrm>
          <a:prstGeom prst="rect">
            <a:avLst/>
          </a:prstGeom>
          <a:solidFill>
            <a:schemeClr val="tx2">
              <a:lumMod val="20000"/>
              <a:lumOff val="8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659" name="Rectangle 2"/>
          <p:cNvSpPr>
            <a:spLocks noGrp="1" noChangeArrowheads="1"/>
          </p:cNvSpPr>
          <p:nvPr>
            <p:ph type="title"/>
          </p:nvPr>
        </p:nvSpPr>
        <p:spPr/>
        <p:txBody>
          <a:bodyPr/>
          <a:lstStyle/>
          <a:p>
            <a:r>
              <a:rPr lang="es-ES" dirty="0"/>
              <a:t>Cronogramas de lectura y escritura</a:t>
            </a:r>
          </a:p>
        </p:txBody>
      </p:sp>
      <p:sp>
        <p:nvSpPr>
          <p:cNvPr id="70660" name="Rectangle 3"/>
          <p:cNvSpPr>
            <a:spLocks noGrp="1" noChangeArrowheads="1"/>
          </p:cNvSpPr>
          <p:nvPr>
            <p:ph type="body" idx="1"/>
          </p:nvPr>
        </p:nvSpPr>
        <p:spPr>
          <a:xfrm flipH="1">
            <a:off x="573088" y="915986"/>
            <a:ext cx="8472486" cy="3082925"/>
          </a:xfrm>
        </p:spPr>
        <p:txBody>
          <a:bodyPr/>
          <a:lstStyle/>
          <a:p>
            <a:r>
              <a:rPr lang="es-ES" altLang="ja-JP" dirty="0"/>
              <a:t>Expresión de los parámetros temporales en ciclos de reloj</a:t>
            </a:r>
            <a:endParaRPr lang="es-ES" altLang="ja-JP" dirty="0">
              <a:ea typeface="Geneva" pitchFamily="1" charset="-128"/>
            </a:endParaRPr>
          </a:p>
          <a:p>
            <a:pPr lvl="1"/>
            <a:r>
              <a:rPr lang="es-ES" dirty="0"/>
              <a:t>Además el chip SDRAM tiene una frecuencia máxima (o un periodo de reloj mínimo) de funcionamiento. </a:t>
            </a:r>
          </a:p>
          <a:p>
            <a:pPr lvl="2"/>
            <a:r>
              <a:rPr lang="es-ES" dirty="0"/>
              <a:t>El usuario puede ubicar esta memoria en un sistema a esta frecuencia u otra inferior</a:t>
            </a:r>
          </a:p>
          <a:p>
            <a:pPr lvl="1"/>
            <a:r>
              <a:rPr lang="es-ES" dirty="0">
                <a:ea typeface="Geneva" pitchFamily="1" charset="-128"/>
              </a:rPr>
              <a:t>Por ejemplo:  el fabricante nos proporciona una tabla donde nos indica la frecuencia máxima a la que ésta puede operar:</a:t>
            </a:r>
          </a:p>
          <a:p>
            <a:pPr lvl="2"/>
            <a:r>
              <a:rPr lang="es-ES" dirty="0">
                <a:ea typeface="Geneva" pitchFamily="1" charset="-128"/>
              </a:rPr>
              <a:t>La memoria puede operar a frecuencias inferiores a la mínima, pero nunca a frecuencias superiores a la máxima</a:t>
            </a:r>
          </a:p>
        </p:txBody>
      </p:sp>
      <p:sp>
        <p:nvSpPr>
          <p:cNvPr id="70661" name="Rectangle 5"/>
          <p:cNvSpPr>
            <a:spLocks noChangeArrowheads="1"/>
          </p:cNvSpPr>
          <p:nvPr/>
        </p:nvSpPr>
        <p:spPr bwMode="auto">
          <a:xfrm>
            <a:off x="1339451" y="4408643"/>
            <a:ext cx="6859587" cy="1914370"/>
          </a:xfrm>
          <a:prstGeom prst="rect">
            <a:avLst/>
          </a:prstGeom>
          <a:noFill/>
          <a:ln w="19050">
            <a:noFill/>
            <a:miter lim="800000"/>
            <a:headEnd/>
            <a:tailEnd/>
          </a:ln>
        </p:spPr>
        <p:txBody>
          <a:bodyPr lIns="0" tIns="0" rIns="0" bIns="0" anchor="ctr">
            <a:spAutoFit/>
          </a:bodyPr>
          <a:lstStyle/>
          <a:p>
            <a:pPr algn="l">
              <a:spcBef>
                <a:spcPct val="20000"/>
              </a:spcBef>
              <a:tabLst>
                <a:tab pos="2667000" algn="ctr"/>
                <a:tab pos="4306888" algn="ctr"/>
                <a:tab pos="5916613" algn="ctr"/>
              </a:tabLst>
            </a:pPr>
            <a:r>
              <a:rPr lang="es-ES" dirty="0"/>
              <a:t>	</a:t>
            </a:r>
            <a:r>
              <a:rPr lang="es-ES" sz="1600" b="1" dirty="0"/>
              <a:t>50 MHz	100 MHz	166 MHz</a:t>
            </a:r>
            <a:br>
              <a:rPr lang="es-ES" sz="1600" b="1" dirty="0"/>
            </a:br>
            <a:r>
              <a:rPr lang="es-ES" sz="1600" b="1" dirty="0"/>
              <a:t>	(</a:t>
            </a:r>
            <a:r>
              <a:rPr lang="es-ES" sz="1600" b="1" dirty="0" err="1"/>
              <a:t>t</a:t>
            </a:r>
            <a:r>
              <a:rPr lang="es-ES" sz="1600" b="1" baseline="-25000" dirty="0" err="1"/>
              <a:t>CK</a:t>
            </a:r>
            <a:r>
              <a:rPr lang="es-ES" sz="1600" b="1" dirty="0"/>
              <a:t> = 20 </a:t>
            </a:r>
            <a:r>
              <a:rPr lang="es-ES" sz="1600" b="1" dirty="0" err="1"/>
              <a:t>ns</a:t>
            </a:r>
            <a:r>
              <a:rPr lang="es-ES" sz="1600" b="1" dirty="0"/>
              <a:t>)	 (</a:t>
            </a:r>
            <a:r>
              <a:rPr lang="es-ES" sz="1600" b="1" dirty="0" err="1"/>
              <a:t>t</a:t>
            </a:r>
            <a:r>
              <a:rPr lang="es-ES" sz="1600" b="1" baseline="-25000" dirty="0" err="1"/>
              <a:t>CK</a:t>
            </a:r>
            <a:r>
              <a:rPr lang="es-ES" sz="1600" b="1" dirty="0"/>
              <a:t> = 10 </a:t>
            </a:r>
            <a:r>
              <a:rPr lang="es-ES" sz="1600" b="1" dirty="0" err="1"/>
              <a:t>ns</a:t>
            </a:r>
            <a:r>
              <a:rPr lang="es-ES" sz="1600" b="1" dirty="0"/>
              <a:t>) 	 (</a:t>
            </a:r>
            <a:r>
              <a:rPr lang="es-ES" sz="1600" b="1" dirty="0" err="1"/>
              <a:t>t</a:t>
            </a:r>
            <a:r>
              <a:rPr lang="es-ES" sz="1600" b="1" baseline="-25000" dirty="0" err="1"/>
              <a:t>CK</a:t>
            </a:r>
            <a:r>
              <a:rPr lang="es-ES" sz="1600" b="1" dirty="0"/>
              <a:t> = 6 </a:t>
            </a:r>
            <a:r>
              <a:rPr lang="es-ES" sz="1600" b="1" dirty="0" err="1"/>
              <a:t>ns</a:t>
            </a:r>
            <a:r>
              <a:rPr lang="es-ES" sz="1600" b="1" dirty="0"/>
              <a:t>) </a:t>
            </a:r>
          </a:p>
          <a:p>
            <a:pPr algn="l">
              <a:spcBef>
                <a:spcPct val="20000"/>
              </a:spcBef>
              <a:tabLst>
                <a:tab pos="2667000" algn="ctr"/>
                <a:tab pos="4306888" algn="ctr"/>
                <a:tab pos="5916613" algn="ctr"/>
              </a:tabLst>
            </a:pPr>
            <a:r>
              <a:rPr lang="es-ES" sz="1800" dirty="0" err="1"/>
              <a:t>t</a:t>
            </a:r>
            <a:r>
              <a:rPr lang="es-ES" sz="1800" b="1" baseline="-25000" dirty="0" err="1"/>
              <a:t>RCD</a:t>
            </a:r>
            <a:r>
              <a:rPr lang="es-ES" sz="1800" dirty="0"/>
              <a:t> = </a:t>
            </a:r>
            <a:r>
              <a:rPr lang="es-ES" altLang="ja-JP" sz="1800" dirty="0">
                <a:ea typeface="Geneva" pitchFamily="1" charset="-128"/>
              </a:rPr>
              <a:t>18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RAS</a:t>
            </a:r>
            <a:r>
              <a:rPr lang="es-ES" sz="1800" dirty="0"/>
              <a:t> = </a:t>
            </a:r>
            <a:r>
              <a:rPr lang="es-ES" altLang="ja-JP" sz="1800" dirty="0">
                <a:ea typeface="Geneva" pitchFamily="1" charset="-128"/>
              </a:rPr>
              <a:t>42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RC</a:t>
            </a:r>
            <a:r>
              <a:rPr lang="es-ES" sz="1800" dirty="0"/>
              <a:t> = </a:t>
            </a:r>
            <a:r>
              <a:rPr lang="es-ES" altLang="ja-JP" sz="1800" dirty="0">
                <a:ea typeface="Geneva" pitchFamily="1" charset="-128"/>
              </a:rPr>
              <a:t>60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RP</a:t>
            </a:r>
            <a:r>
              <a:rPr lang="es-ES" sz="1800" dirty="0"/>
              <a:t> = </a:t>
            </a:r>
            <a:r>
              <a:rPr lang="es-ES" altLang="ja-JP" sz="1800" dirty="0">
                <a:ea typeface="Geneva" pitchFamily="1" charset="-128"/>
              </a:rPr>
              <a:t>18 </a:t>
            </a:r>
            <a:r>
              <a:rPr lang="es-ES" altLang="ja-JP" sz="1800" dirty="0" err="1">
                <a:ea typeface="Geneva" pitchFamily="1" charset="-128"/>
              </a:rPr>
              <a:t>ns</a:t>
            </a:r>
            <a:r>
              <a:rPr lang="es-ES" altLang="ja-JP" sz="1800" dirty="0">
                <a:ea typeface="Geneva" pitchFamily="1" charset="-128"/>
              </a:rPr>
              <a:t>	</a:t>
            </a:r>
            <a:endParaRPr lang="es-ES" sz="1800" dirty="0">
              <a:ea typeface="Geneva" pitchFamily="1" charset="-128"/>
            </a:endParaRPr>
          </a:p>
        </p:txBody>
      </p:sp>
      <p:grpSp>
        <p:nvGrpSpPr>
          <p:cNvPr id="2" name="Group 10"/>
          <p:cNvGrpSpPr>
            <a:grpSpLocks/>
          </p:cNvGrpSpPr>
          <p:nvPr/>
        </p:nvGrpSpPr>
        <p:grpSpPr bwMode="auto">
          <a:xfrm>
            <a:off x="3298508" y="5051743"/>
            <a:ext cx="4679950" cy="1454150"/>
            <a:chOff x="2245" y="2968"/>
            <a:chExt cx="2948" cy="916"/>
          </a:xfrm>
        </p:grpSpPr>
        <p:sp>
          <p:nvSpPr>
            <p:cNvPr id="70664" name="Line 6"/>
            <p:cNvSpPr>
              <a:spLocks noChangeShapeType="1"/>
            </p:cNvSpPr>
            <p:nvPr/>
          </p:nvSpPr>
          <p:spPr bwMode="auto">
            <a:xfrm>
              <a:off x="2245" y="2968"/>
              <a:ext cx="2948" cy="0"/>
            </a:xfrm>
            <a:prstGeom prst="line">
              <a:avLst/>
            </a:prstGeom>
            <a:noFill/>
            <a:ln w="19050">
              <a:solidFill>
                <a:schemeClr val="tx1"/>
              </a:solidFill>
              <a:round/>
              <a:headEnd/>
              <a:tailEnd/>
            </a:ln>
          </p:spPr>
          <p:txBody>
            <a:bodyPr wrap="none" lIns="0" tIns="0" rIns="0" bIns="0" anchor="ctr"/>
            <a:lstStyle/>
            <a:p>
              <a:endParaRPr lang="es-ES"/>
            </a:p>
          </p:txBody>
        </p:sp>
        <p:sp>
          <p:nvSpPr>
            <p:cNvPr id="70665" name="Line 7"/>
            <p:cNvSpPr>
              <a:spLocks noChangeShapeType="1"/>
            </p:cNvSpPr>
            <p:nvPr/>
          </p:nvSpPr>
          <p:spPr bwMode="auto">
            <a:xfrm>
              <a:off x="2245" y="3884"/>
              <a:ext cx="2948" cy="0"/>
            </a:xfrm>
            <a:prstGeom prst="line">
              <a:avLst/>
            </a:prstGeom>
            <a:noFill/>
            <a:ln w="6350">
              <a:solidFill>
                <a:schemeClr val="tx1"/>
              </a:solidFill>
              <a:round/>
              <a:headEnd/>
              <a:tailEnd/>
            </a:ln>
          </p:spPr>
          <p:txBody>
            <a:bodyPr wrap="none" lIns="0" tIns="0" rIns="0" bIns="0" anchor="ctr"/>
            <a:lstStyle/>
            <a:p>
              <a:endParaRPr lang="es-ES"/>
            </a:p>
          </p:txBody>
        </p:sp>
      </p:grpSp>
      <p:sp>
        <p:nvSpPr>
          <p:cNvPr id="9" name="Rectangle 5"/>
          <p:cNvSpPr>
            <a:spLocks noChangeArrowheads="1"/>
          </p:cNvSpPr>
          <p:nvPr/>
        </p:nvSpPr>
        <p:spPr bwMode="auto">
          <a:xfrm>
            <a:off x="3857620"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1</a:t>
            </a:r>
          </a:p>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  1	</a:t>
            </a:r>
            <a:endParaRPr lang="es-ES" sz="1800" dirty="0">
              <a:ea typeface="Geneva" pitchFamily="1" charset="-128"/>
            </a:endParaRPr>
          </a:p>
        </p:txBody>
      </p:sp>
      <p:sp>
        <p:nvSpPr>
          <p:cNvPr id="11" name="Rectangle 5"/>
          <p:cNvSpPr>
            <a:spLocks noChangeArrowheads="1"/>
          </p:cNvSpPr>
          <p:nvPr/>
        </p:nvSpPr>
        <p:spPr bwMode="auto">
          <a:xfrm>
            <a:off x="5500694"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2</a:t>
            </a:r>
          </a:p>
          <a:p>
            <a:pPr marL="342900" indent="-342900">
              <a:spcBef>
                <a:spcPct val="20000"/>
              </a:spcBef>
              <a:tabLst>
                <a:tab pos="2667000" algn="ctr"/>
                <a:tab pos="4306888" algn="ctr"/>
                <a:tab pos="5916613" algn="ctr"/>
              </a:tabLst>
            </a:pPr>
            <a:r>
              <a:rPr lang="es-ES" altLang="ja-JP" sz="1800" dirty="0">
                <a:ea typeface="Geneva" pitchFamily="1" charset="-128"/>
              </a:rPr>
              <a:t>5</a:t>
            </a:r>
          </a:p>
          <a:p>
            <a:pPr marL="342900" indent="-342900">
              <a:spcBef>
                <a:spcPct val="20000"/>
              </a:spcBef>
              <a:tabLst>
                <a:tab pos="2667000" algn="ctr"/>
                <a:tab pos="4306888" algn="ctr"/>
                <a:tab pos="5916613" algn="ctr"/>
              </a:tabLst>
            </a:pPr>
            <a:r>
              <a:rPr lang="es-ES" altLang="ja-JP" sz="1800" dirty="0">
                <a:ea typeface="Geneva" pitchFamily="1" charset="-128"/>
              </a:rPr>
              <a:t>6</a:t>
            </a:r>
          </a:p>
          <a:p>
            <a:pPr marL="342900" indent="-342900">
              <a:spcBef>
                <a:spcPct val="20000"/>
              </a:spcBef>
              <a:tabLst>
                <a:tab pos="2667000" algn="ctr"/>
                <a:tab pos="4306888" algn="ctr"/>
                <a:tab pos="5916613" algn="ctr"/>
              </a:tabLst>
            </a:pPr>
            <a:r>
              <a:rPr lang="es-ES" altLang="ja-JP" sz="1800" dirty="0">
                <a:ea typeface="Geneva" pitchFamily="1" charset="-128"/>
              </a:rPr>
              <a:t>  2	</a:t>
            </a:r>
            <a:endParaRPr lang="es-ES" sz="1800" dirty="0">
              <a:ea typeface="Geneva" pitchFamily="1" charset="-128"/>
            </a:endParaRPr>
          </a:p>
        </p:txBody>
      </p:sp>
      <p:sp>
        <p:nvSpPr>
          <p:cNvPr id="12" name="Rectangle 5"/>
          <p:cNvSpPr>
            <a:spLocks noChangeArrowheads="1"/>
          </p:cNvSpPr>
          <p:nvPr/>
        </p:nvSpPr>
        <p:spPr bwMode="auto">
          <a:xfrm>
            <a:off x="7143768"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7</a:t>
            </a:r>
          </a:p>
          <a:p>
            <a:pPr marL="342900" indent="-342900">
              <a:spcBef>
                <a:spcPct val="20000"/>
              </a:spcBef>
              <a:tabLst>
                <a:tab pos="2667000" algn="ctr"/>
                <a:tab pos="4306888" algn="ctr"/>
                <a:tab pos="5916613" algn="ctr"/>
              </a:tabLst>
            </a:pPr>
            <a:r>
              <a:rPr lang="es-ES" altLang="ja-JP" sz="1800" dirty="0">
                <a:ea typeface="Geneva" pitchFamily="1" charset="-128"/>
              </a:rPr>
              <a:t>10</a:t>
            </a:r>
          </a:p>
          <a:p>
            <a:pPr marL="342900" indent="-342900">
              <a:spcBef>
                <a:spcPct val="20000"/>
              </a:spcBef>
              <a:tabLst>
                <a:tab pos="2667000" algn="ctr"/>
                <a:tab pos="4306888" algn="ctr"/>
                <a:tab pos="5916613" algn="ctr"/>
              </a:tabLst>
            </a:pPr>
            <a:r>
              <a:rPr lang="es-ES" altLang="ja-JP" sz="1800" dirty="0">
                <a:ea typeface="Geneva" pitchFamily="1" charset="-128"/>
              </a:rPr>
              <a:t>  3	</a:t>
            </a:r>
            <a:endParaRPr lang="es-ES" sz="1800" dirty="0">
              <a:ea typeface="Geneva" pitchFamily="1" charset="-128"/>
            </a:endParaRPr>
          </a:p>
        </p:txBody>
      </p:sp>
      <p:sp>
        <p:nvSpPr>
          <p:cNvPr id="3" name="2 Llamada ovalada"/>
          <p:cNvSpPr/>
          <p:nvPr/>
        </p:nvSpPr>
        <p:spPr bwMode="auto">
          <a:xfrm>
            <a:off x="2138117" y="2946052"/>
            <a:ext cx="2501500" cy="1548959"/>
          </a:xfrm>
          <a:prstGeom prst="wedgeEllipseCallout">
            <a:avLst>
              <a:gd name="adj1" fmla="val 48441"/>
              <a:gd name="adj2" fmla="val 61572"/>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Si  f = 80 MHz </a:t>
            </a:r>
          </a:p>
        </p:txBody>
      </p:sp>
      <p:sp>
        <p:nvSpPr>
          <p:cNvPr id="4" name="3 Llamada de nube"/>
          <p:cNvSpPr/>
          <p:nvPr/>
        </p:nvSpPr>
        <p:spPr bwMode="auto">
          <a:xfrm>
            <a:off x="4996823" y="2623656"/>
            <a:ext cx="3888432" cy="1527694"/>
          </a:xfrm>
          <a:prstGeom prst="cloudCallou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Temporización de 100 MHz es la oportuna</a:t>
            </a:r>
          </a:p>
        </p:txBody>
      </p:sp>
      <p:sp>
        <p:nvSpPr>
          <p:cNvPr id="5" name="2 Marcador de número de diapositiva">
            <a:extLst>
              <a:ext uri="{FF2B5EF4-FFF2-40B4-BE49-F238E27FC236}">
                <a16:creationId xmlns:a16="http://schemas.microsoft.com/office/drawing/2014/main" id="{804260FB-9FE4-D1C8-2701-92EEDA69DF8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87</a:t>
            </a:fld>
            <a:endParaRPr lang="en-US" dirty="0"/>
          </a:p>
        </p:txBody>
      </p:sp>
    </p:spTree>
    <p:extLst>
      <p:ext uri="{BB962C8B-B14F-4D97-AF65-F5344CB8AC3E}">
        <p14:creationId xmlns:p14="http://schemas.microsoft.com/office/powerpoint/2010/main" val="1200003209"/>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13 Rectángulo"/>
          <p:cNvSpPr/>
          <p:nvPr/>
        </p:nvSpPr>
        <p:spPr bwMode="auto">
          <a:xfrm>
            <a:off x="5000628" y="4286256"/>
            <a:ext cx="1357322" cy="2286016"/>
          </a:xfrm>
          <a:prstGeom prst="rect">
            <a:avLst/>
          </a:prstGeom>
          <a:solidFill>
            <a:schemeClr val="tx2">
              <a:lumMod val="20000"/>
              <a:lumOff val="8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p:cNvSpPr/>
          <p:nvPr/>
        </p:nvSpPr>
        <p:spPr bwMode="auto">
          <a:xfrm>
            <a:off x="1214414" y="4991112"/>
            <a:ext cx="561980" cy="1438284"/>
          </a:xfrm>
          <a:prstGeom prst="rect">
            <a:avLst/>
          </a:prstGeom>
          <a:solidFill>
            <a:schemeClr val="tx2">
              <a:lumMod val="20000"/>
              <a:lumOff val="8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659" name="Rectangle 2"/>
          <p:cNvSpPr>
            <a:spLocks noGrp="1" noChangeArrowheads="1"/>
          </p:cNvSpPr>
          <p:nvPr>
            <p:ph type="title"/>
          </p:nvPr>
        </p:nvSpPr>
        <p:spPr/>
        <p:txBody>
          <a:bodyPr/>
          <a:lstStyle/>
          <a:p>
            <a:r>
              <a:rPr lang="es-ES" dirty="0"/>
              <a:t>Cronogramas de lectura y escritura</a:t>
            </a:r>
          </a:p>
        </p:txBody>
      </p:sp>
      <p:sp>
        <p:nvSpPr>
          <p:cNvPr id="70660" name="Rectangle 3"/>
          <p:cNvSpPr>
            <a:spLocks noGrp="1" noChangeArrowheads="1"/>
          </p:cNvSpPr>
          <p:nvPr>
            <p:ph type="body" idx="1"/>
          </p:nvPr>
        </p:nvSpPr>
        <p:spPr>
          <a:xfrm flipH="1">
            <a:off x="573088" y="915986"/>
            <a:ext cx="8472486" cy="3082925"/>
          </a:xfrm>
        </p:spPr>
        <p:txBody>
          <a:bodyPr/>
          <a:lstStyle/>
          <a:p>
            <a:r>
              <a:rPr lang="es-ES" altLang="ja-JP" dirty="0"/>
              <a:t>Expresión de los parámetros temporales en ciclos de reloj</a:t>
            </a:r>
            <a:endParaRPr lang="es-ES" altLang="ja-JP" dirty="0">
              <a:ea typeface="Geneva" pitchFamily="1" charset="-128"/>
            </a:endParaRPr>
          </a:p>
          <a:p>
            <a:pPr lvl="1"/>
            <a:r>
              <a:rPr lang="es-ES" dirty="0"/>
              <a:t>Además el chip SDRAM tiene una frecuencia máxima (o un periodo de reloj mínimo) de funcionamiento. </a:t>
            </a:r>
          </a:p>
          <a:p>
            <a:pPr lvl="2"/>
            <a:r>
              <a:rPr lang="es-ES" dirty="0"/>
              <a:t>El usuario puede ubicar esta memoria en un sistema con esta frecuencia u otra inferior</a:t>
            </a:r>
          </a:p>
          <a:p>
            <a:pPr lvl="1"/>
            <a:r>
              <a:rPr lang="es-ES" dirty="0">
                <a:ea typeface="Geneva" pitchFamily="1" charset="-128"/>
              </a:rPr>
              <a:t>Por ejemplo:  el fabricante nos proporciona una tabla donde nos indica la frecuencia máxima a la que ésta puede operar:</a:t>
            </a:r>
          </a:p>
          <a:p>
            <a:pPr lvl="2"/>
            <a:r>
              <a:rPr lang="es-ES" dirty="0">
                <a:ea typeface="Geneva" pitchFamily="1" charset="-128"/>
              </a:rPr>
              <a:t>La memoria puede operar a frecuencias inferiores a la mínima, pero nunca a frecuencias superiores a la máxima</a:t>
            </a:r>
          </a:p>
        </p:txBody>
      </p:sp>
      <p:sp>
        <p:nvSpPr>
          <p:cNvPr id="70661" name="Rectangle 5"/>
          <p:cNvSpPr>
            <a:spLocks noChangeArrowheads="1"/>
          </p:cNvSpPr>
          <p:nvPr/>
        </p:nvSpPr>
        <p:spPr bwMode="auto">
          <a:xfrm>
            <a:off x="1339451" y="4408643"/>
            <a:ext cx="6859587" cy="1914370"/>
          </a:xfrm>
          <a:prstGeom prst="rect">
            <a:avLst/>
          </a:prstGeom>
          <a:noFill/>
          <a:ln w="19050">
            <a:noFill/>
            <a:miter lim="800000"/>
            <a:headEnd/>
            <a:tailEnd/>
          </a:ln>
        </p:spPr>
        <p:txBody>
          <a:bodyPr lIns="0" tIns="0" rIns="0" bIns="0" anchor="ctr">
            <a:spAutoFit/>
          </a:bodyPr>
          <a:lstStyle/>
          <a:p>
            <a:pPr algn="l">
              <a:spcBef>
                <a:spcPct val="20000"/>
              </a:spcBef>
              <a:tabLst>
                <a:tab pos="2667000" algn="ctr"/>
                <a:tab pos="4306888" algn="ctr"/>
                <a:tab pos="5916613" algn="ctr"/>
              </a:tabLst>
            </a:pPr>
            <a:r>
              <a:rPr lang="es-ES" dirty="0"/>
              <a:t>	</a:t>
            </a:r>
            <a:r>
              <a:rPr lang="es-ES" sz="1600" b="1" dirty="0"/>
              <a:t>50 MHz	100 MHz	166 MHz</a:t>
            </a:r>
            <a:br>
              <a:rPr lang="es-ES" sz="1600" b="1" dirty="0"/>
            </a:br>
            <a:r>
              <a:rPr lang="es-ES" sz="1600" b="1" dirty="0"/>
              <a:t>	(</a:t>
            </a:r>
            <a:r>
              <a:rPr lang="es-ES" sz="1600" b="1" dirty="0" err="1"/>
              <a:t>t</a:t>
            </a:r>
            <a:r>
              <a:rPr lang="es-ES" sz="1600" b="1" baseline="-25000" dirty="0" err="1"/>
              <a:t>CK</a:t>
            </a:r>
            <a:r>
              <a:rPr lang="es-ES" sz="1600" b="1" dirty="0"/>
              <a:t> = 20 </a:t>
            </a:r>
            <a:r>
              <a:rPr lang="es-ES" sz="1600" b="1" dirty="0" err="1"/>
              <a:t>ns</a:t>
            </a:r>
            <a:r>
              <a:rPr lang="es-ES" sz="1600" b="1" dirty="0"/>
              <a:t>)	 (</a:t>
            </a:r>
            <a:r>
              <a:rPr lang="es-ES" sz="1600" b="1" dirty="0" err="1"/>
              <a:t>t</a:t>
            </a:r>
            <a:r>
              <a:rPr lang="es-ES" sz="1600" b="1" baseline="-25000" dirty="0" err="1"/>
              <a:t>CK</a:t>
            </a:r>
            <a:r>
              <a:rPr lang="es-ES" sz="1600" b="1" dirty="0"/>
              <a:t> = 10 </a:t>
            </a:r>
            <a:r>
              <a:rPr lang="es-ES" sz="1600" b="1" dirty="0" err="1"/>
              <a:t>ns</a:t>
            </a:r>
            <a:r>
              <a:rPr lang="es-ES" sz="1600" b="1" dirty="0"/>
              <a:t>) 	 (</a:t>
            </a:r>
            <a:r>
              <a:rPr lang="es-ES" sz="1600" b="1" dirty="0" err="1"/>
              <a:t>t</a:t>
            </a:r>
            <a:r>
              <a:rPr lang="es-ES" sz="1600" b="1" baseline="-25000" dirty="0" err="1"/>
              <a:t>CK</a:t>
            </a:r>
            <a:r>
              <a:rPr lang="es-ES" sz="1600" b="1" dirty="0"/>
              <a:t> = 6 </a:t>
            </a:r>
            <a:r>
              <a:rPr lang="es-ES" sz="1600" b="1" dirty="0" err="1"/>
              <a:t>ns</a:t>
            </a:r>
            <a:r>
              <a:rPr lang="es-ES" sz="1600" b="1" dirty="0"/>
              <a:t>) </a:t>
            </a:r>
          </a:p>
          <a:p>
            <a:pPr algn="l">
              <a:spcBef>
                <a:spcPct val="20000"/>
              </a:spcBef>
              <a:tabLst>
                <a:tab pos="2667000" algn="ctr"/>
                <a:tab pos="4306888" algn="ctr"/>
                <a:tab pos="5916613" algn="ctr"/>
              </a:tabLst>
            </a:pPr>
            <a:r>
              <a:rPr lang="es-ES" sz="1800" dirty="0" err="1"/>
              <a:t>t</a:t>
            </a:r>
            <a:r>
              <a:rPr lang="es-ES" sz="1800" b="1" baseline="-25000" dirty="0" err="1"/>
              <a:t>RCD</a:t>
            </a:r>
            <a:r>
              <a:rPr lang="es-ES" sz="1800" dirty="0"/>
              <a:t> = </a:t>
            </a:r>
            <a:r>
              <a:rPr lang="es-ES" altLang="ja-JP" sz="1800" dirty="0">
                <a:ea typeface="Geneva" pitchFamily="1" charset="-128"/>
              </a:rPr>
              <a:t>18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RAS</a:t>
            </a:r>
            <a:r>
              <a:rPr lang="es-ES" sz="1800" dirty="0"/>
              <a:t> = </a:t>
            </a:r>
            <a:r>
              <a:rPr lang="es-ES" altLang="ja-JP" sz="1800" dirty="0">
                <a:ea typeface="Geneva" pitchFamily="1" charset="-128"/>
              </a:rPr>
              <a:t>42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RC</a:t>
            </a:r>
            <a:r>
              <a:rPr lang="es-ES" sz="1800" dirty="0"/>
              <a:t> = </a:t>
            </a:r>
            <a:r>
              <a:rPr lang="es-ES" altLang="ja-JP" sz="1800" dirty="0">
                <a:ea typeface="Geneva" pitchFamily="1" charset="-128"/>
              </a:rPr>
              <a:t>60 </a:t>
            </a:r>
            <a:r>
              <a:rPr lang="es-ES" altLang="ja-JP" sz="1800" dirty="0" err="1">
                <a:ea typeface="Geneva" pitchFamily="1" charset="-128"/>
              </a:rPr>
              <a:t>ns</a:t>
            </a:r>
            <a:r>
              <a:rPr lang="es-ES" altLang="ja-JP" sz="1800" dirty="0">
                <a:ea typeface="Geneva" pitchFamily="1" charset="-128"/>
              </a:rPr>
              <a:t>	</a:t>
            </a:r>
            <a:endParaRPr lang="es-ES" sz="1800" dirty="0"/>
          </a:p>
          <a:p>
            <a:pPr algn="l">
              <a:spcBef>
                <a:spcPct val="20000"/>
              </a:spcBef>
              <a:tabLst>
                <a:tab pos="2667000" algn="ctr"/>
                <a:tab pos="4306888" algn="ctr"/>
                <a:tab pos="5916613" algn="ctr"/>
              </a:tabLst>
            </a:pPr>
            <a:r>
              <a:rPr lang="es-ES" sz="1800" dirty="0" err="1"/>
              <a:t>t</a:t>
            </a:r>
            <a:r>
              <a:rPr lang="es-ES" sz="1800" b="1" baseline="-25000" dirty="0" err="1"/>
              <a:t>RP</a:t>
            </a:r>
            <a:r>
              <a:rPr lang="es-ES" sz="1800" dirty="0"/>
              <a:t> = </a:t>
            </a:r>
            <a:r>
              <a:rPr lang="es-ES" altLang="ja-JP" sz="1800" dirty="0">
                <a:ea typeface="Geneva" pitchFamily="1" charset="-128"/>
              </a:rPr>
              <a:t>18 </a:t>
            </a:r>
            <a:r>
              <a:rPr lang="es-ES" altLang="ja-JP" sz="1800" dirty="0" err="1">
                <a:ea typeface="Geneva" pitchFamily="1" charset="-128"/>
              </a:rPr>
              <a:t>ns</a:t>
            </a:r>
            <a:r>
              <a:rPr lang="es-ES" altLang="ja-JP" sz="1800" dirty="0">
                <a:ea typeface="Geneva" pitchFamily="1" charset="-128"/>
              </a:rPr>
              <a:t>	</a:t>
            </a:r>
            <a:endParaRPr lang="es-ES" sz="1800" dirty="0">
              <a:ea typeface="Geneva" pitchFamily="1" charset="-128"/>
            </a:endParaRPr>
          </a:p>
        </p:txBody>
      </p:sp>
      <p:grpSp>
        <p:nvGrpSpPr>
          <p:cNvPr id="2" name="Group 10"/>
          <p:cNvGrpSpPr>
            <a:grpSpLocks/>
          </p:cNvGrpSpPr>
          <p:nvPr/>
        </p:nvGrpSpPr>
        <p:grpSpPr bwMode="auto">
          <a:xfrm>
            <a:off x="3298508" y="5051743"/>
            <a:ext cx="4679950" cy="1454150"/>
            <a:chOff x="2245" y="2968"/>
            <a:chExt cx="2948" cy="916"/>
          </a:xfrm>
        </p:grpSpPr>
        <p:sp>
          <p:nvSpPr>
            <p:cNvPr id="70664" name="Line 6"/>
            <p:cNvSpPr>
              <a:spLocks noChangeShapeType="1"/>
            </p:cNvSpPr>
            <p:nvPr/>
          </p:nvSpPr>
          <p:spPr bwMode="auto">
            <a:xfrm>
              <a:off x="2245" y="2968"/>
              <a:ext cx="2948" cy="0"/>
            </a:xfrm>
            <a:prstGeom prst="line">
              <a:avLst/>
            </a:prstGeom>
            <a:noFill/>
            <a:ln w="19050">
              <a:solidFill>
                <a:schemeClr val="tx1"/>
              </a:solidFill>
              <a:round/>
              <a:headEnd/>
              <a:tailEnd/>
            </a:ln>
          </p:spPr>
          <p:txBody>
            <a:bodyPr wrap="none" lIns="0" tIns="0" rIns="0" bIns="0" anchor="ctr"/>
            <a:lstStyle/>
            <a:p>
              <a:endParaRPr lang="es-ES"/>
            </a:p>
          </p:txBody>
        </p:sp>
        <p:sp>
          <p:nvSpPr>
            <p:cNvPr id="70665" name="Line 7"/>
            <p:cNvSpPr>
              <a:spLocks noChangeShapeType="1"/>
            </p:cNvSpPr>
            <p:nvPr/>
          </p:nvSpPr>
          <p:spPr bwMode="auto">
            <a:xfrm>
              <a:off x="2245" y="3884"/>
              <a:ext cx="2948" cy="0"/>
            </a:xfrm>
            <a:prstGeom prst="line">
              <a:avLst/>
            </a:prstGeom>
            <a:noFill/>
            <a:ln w="6350">
              <a:solidFill>
                <a:schemeClr val="tx1"/>
              </a:solidFill>
              <a:round/>
              <a:headEnd/>
              <a:tailEnd/>
            </a:ln>
          </p:spPr>
          <p:txBody>
            <a:bodyPr wrap="none" lIns="0" tIns="0" rIns="0" bIns="0" anchor="ctr"/>
            <a:lstStyle/>
            <a:p>
              <a:endParaRPr lang="es-ES"/>
            </a:p>
          </p:txBody>
        </p:sp>
      </p:grpSp>
      <p:sp>
        <p:nvSpPr>
          <p:cNvPr id="9" name="Rectangle 5"/>
          <p:cNvSpPr>
            <a:spLocks noChangeArrowheads="1"/>
          </p:cNvSpPr>
          <p:nvPr/>
        </p:nvSpPr>
        <p:spPr bwMode="auto">
          <a:xfrm>
            <a:off x="3857620"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1</a:t>
            </a:r>
          </a:p>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  1	</a:t>
            </a:r>
            <a:endParaRPr lang="es-ES" sz="1800" dirty="0">
              <a:ea typeface="Geneva" pitchFamily="1" charset="-128"/>
            </a:endParaRPr>
          </a:p>
        </p:txBody>
      </p:sp>
      <p:sp>
        <p:nvSpPr>
          <p:cNvPr id="11" name="Rectangle 5"/>
          <p:cNvSpPr>
            <a:spLocks noChangeArrowheads="1"/>
          </p:cNvSpPr>
          <p:nvPr/>
        </p:nvSpPr>
        <p:spPr bwMode="auto">
          <a:xfrm>
            <a:off x="5500694"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2</a:t>
            </a:r>
          </a:p>
          <a:p>
            <a:pPr marL="342900" indent="-342900">
              <a:spcBef>
                <a:spcPct val="20000"/>
              </a:spcBef>
              <a:tabLst>
                <a:tab pos="2667000" algn="ctr"/>
                <a:tab pos="4306888" algn="ctr"/>
                <a:tab pos="5916613" algn="ctr"/>
              </a:tabLst>
            </a:pPr>
            <a:r>
              <a:rPr lang="es-ES" altLang="ja-JP" sz="1800" dirty="0">
                <a:ea typeface="Geneva" pitchFamily="1" charset="-128"/>
              </a:rPr>
              <a:t>5</a:t>
            </a:r>
          </a:p>
          <a:p>
            <a:pPr marL="342900" indent="-342900">
              <a:spcBef>
                <a:spcPct val="20000"/>
              </a:spcBef>
              <a:tabLst>
                <a:tab pos="2667000" algn="ctr"/>
                <a:tab pos="4306888" algn="ctr"/>
                <a:tab pos="5916613" algn="ctr"/>
              </a:tabLst>
            </a:pPr>
            <a:r>
              <a:rPr lang="es-ES" altLang="ja-JP" sz="1800" dirty="0">
                <a:ea typeface="Geneva" pitchFamily="1" charset="-128"/>
              </a:rPr>
              <a:t>6</a:t>
            </a:r>
          </a:p>
          <a:p>
            <a:pPr marL="342900" indent="-342900">
              <a:spcBef>
                <a:spcPct val="20000"/>
              </a:spcBef>
              <a:tabLst>
                <a:tab pos="2667000" algn="ctr"/>
                <a:tab pos="4306888" algn="ctr"/>
                <a:tab pos="5916613" algn="ctr"/>
              </a:tabLst>
            </a:pPr>
            <a:r>
              <a:rPr lang="es-ES" altLang="ja-JP" sz="1800" dirty="0">
                <a:ea typeface="Geneva" pitchFamily="1" charset="-128"/>
              </a:rPr>
              <a:t>  2	</a:t>
            </a:r>
            <a:endParaRPr lang="es-ES" sz="1800" dirty="0">
              <a:ea typeface="Geneva" pitchFamily="1" charset="-128"/>
            </a:endParaRPr>
          </a:p>
        </p:txBody>
      </p:sp>
      <p:sp>
        <p:nvSpPr>
          <p:cNvPr id="12" name="Rectangle 5"/>
          <p:cNvSpPr>
            <a:spLocks noChangeArrowheads="1"/>
          </p:cNvSpPr>
          <p:nvPr/>
        </p:nvSpPr>
        <p:spPr bwMode="auto">
          <a:xfrm>
            <a:off x="7143768" y="5072074"/>
            <a:ext cx="428596" cy="1274195"/>
          </a:xfrm>
          <a:prstGeom prst="rect">
            <a:avLst/>
          </a:prstGeom>
          <a:noFill/>
          <a:ln w="19050">
            <a:noFill/>
            <a:miter lim="800000"/>
            <a:headEnd/>
            <a:tailEnd/>
          </a:ln>
        </p:spPr>
        <p:txBody>
          <a:bodyPr wrap="square" lIns="0" tIns="0" rIns="0" bIns="0" anchor="ctr">
            <a:spAutoFit/>
          </a:bodyPr>
          <a:lstStyle/>
          <a:p>
            <a:pPr marL="342900" indent="-342900">
              <a:spcBef>
                <a:spcPct val="20000"/>
              </a:spcBef>
              <a:tabLst>
                <a:tab pos="2667000" algn="ctr"/>
                <a:tab pos="4306888" algn="ctr"/>
                <a:tab pos="5916613" algn="ctr"/>
              </a:tabLst>
            </a:pPr>
            <a:r>
              <a:rPr lang="es-ES" altLang="ja-JP" sz="1800" dirty="0">
                <a:ea typeface="Geneva" pitchFamily="1" charset="-128"/>
              </a:rPr>
              <a:t>3</a:t>
            </a:r>
          </a:p>
          <a:p>
            <a:pPr marL="342900" indent="-342900">
              <a:spcBef>
                <a:spcPct val="20000"/>
              </a:spcBef>
              <a:tabLst>
                <a:tab pos="2667000" algn="ctr"/>
                <a:tab pos="4306888" algn="ctr"/>
                <a:tab pos="5916613" algn="ctr"/>
              </a:tabLst>
            </a:pPr>
            <a:r>
              <a:rPr lang="es-ES" altLang="ja-JP" sz="1800" dirty="0">
                <a:ea typeface="Geneva" pitchFamily="1" charset="-128"/>
              </a:rPr>
              <a:t>7</a:t>
            </a:r>
          </a:p>
          <a:p>
            <a:pPr marL="342900" indent="-342900">
              <a:spcBef>
                <a:spcPct val="20000"/>
              </a:spcBef>
              <a:tabLst>
                <a:tab pos="2667000" algn="ctr"/>
                <a:tab pos="4306888" algn="ctr"/>
                <a:tab pos="5916613" algn="ctr"/>
              </a:tabLst>
            </a:pPr>
            <a:r>
              <a:rPr lang="es-ES" altLang="ja-JP" sz="1800" dirty="0">
                <a:ea typeface="Geneva" pitchFamily="1" charset="-128"/>
              </a:rPr>
              <a:t>10</a:t>
            </a:r>
          </a:p>
          <a:p>
            <a:pPr marL="342900" indent="-342900">
              <a:spcBef>
                <a:spcPct val="20000"/>
              </a:spcBef>
              <a:tabLst>
                <a:tab pos="2667000" algn="ctr"/>
                <a:tab pos="4306888" algn="ctr"/>
                <a:tab pos="5916613" algn="ctr"/>
              </a:tabLst>
            </a:pPr>
            <a:r>
              <a:rPr lang="es-ES" altLang="ja-JP" sz="1800" dirty="0">
                <a:ea typeface="Geneva" pitchFamily="1" charset="-128"/>
              </a:rPr>
              <a:t>  3	</a:t>
            </a:r>
            <a:endParaRPr lang="es-ES" sz="1800" dirty="0">
              <a:ea typeface="Geneva" pitchFamily="1" charset="-128"/>
            </a:endParaRPr>
          </a:p>
        </p:txBody>
      </p:sp>
      <p:sp>
        <p:nvSpPr>
          <p:cNvPr id="16" name="3 Llamada de nube">
            <a:extLst>
              <a:ext uri="{FF2B5EF4-FFF2-40B4-BE49-F238E27FC236}">
                <a16:creationId xmlns:a16="http://schemas.microsoft.com/office/drawing/2014/main" id="{77F26FE2-7C1D-4F37-BAE0-325E7A534A9E}"/>
              </a:ext>
            </a:extLst>
          </p:cNvPr>
          <p:cNvSpPr/>
          <p:nvPr/>
        </p:nvSpPr>
        <p:spPr bwMode="auto">
          <a:xfrm>
            <a:off x="4286216" y="1889325"/>
            <a:ext cx="4649455" cy="2075381"/>
          </a:xfrm>
          <a:prstGeom prst="cloudCallout">
            <a:avLst>
              <a:gd name="adj1" fmla="val 36195"/>
              <a:gd name="adj2" fmla="val 70992"/>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Si la frecuencia es 200 MHz mayor del máximo, no puedo usarla</a:t>
            </a:r>
          </a:p>
        </p:txBody>
      </p:sp>
      <p:sp>
        <p:nvSpPr>
          <p:cNvPr id="3" name="2 Marcador de número de diapositiva">
            <a:extLst>
              <a:ext uri="{FF2B5EF4-FFF2-40B4-BE49-F238E27FC236}">
                <a16:creationId xmlns:a16="http://schemas.microsoft.com/office/drawing/2014/main" id="{1EA918FF-AE48-530F-3A1B-7246C00CF531}"/>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88</a:t>
            </a:fld>
            <a:endParaRPr lang="en-US" dirty="0"/>
          </a:p>
        </p:txBody>
      </p:sp>
    </p:spTree>
    <p:extLst>
      <p:ext uri="{BB962C8B-B14F-4D97-AF65-F5344CB8AC3E}">
        <p14:creationId xmlns:p14="http://schemas.microsoft.com/office/powerpoint/2010/main" val="1778743027"/>
      </p:ext>
    </p:extLst>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es-ES" dirty="0"/>
              <a:t>Cronogramas de lectura y escritura</a:t>
            </a:r>
          </a:p>
        </p:txBody>
      </p:sp>
      <p:sp>
        <p:nvSpPr>
          <p:cNvPr id="72708" name="Rectangle 3"/>
          <p:cNvSpPr>
            <a:spLocks noGrp="1" noChangeArrowheads="1"/>
          </p:cNvSpPr>
          <p:nvPr>
            <p:ph type="body" idx="1"/>
          </p:nvPr>
        </p:nvSpPr>
        <p:spPr>
          <a:xfrm>
            <a:off x="533400" y="908720"/>
            <a:ext cx="8110566" cy="2374900"/>
          </a:xfrm>
        </p:spPr>
        <p:txBody>
          <a:bodyPr/>
          <a:lstStyle/>
          <a:p>
            <a:r>
              <a:rPr lang="es-ES" altLang="ja-JP" dirty="0"/>
              <a:t>Expresión de la </a:t>
            </a:r>
            <a:r>
              <a:rPr lang="es-ES" dirty="0"/>
              <a:t>latencia de CAS </a:t>
            </a:r>
            <a:r>
              <a:rPr lang="es-ES" altLang="ja-JP" dirty="0"/>
              <a:t>en ciclos de reloj</a:t>
            </a:r>
            <a:endParaRPr lang="es-ES" dirty="0"/>
          </a:p>
          <a:p>
            <a:pPr lvl="1">
              <a:lnSpc>
                <a:spcPct val="100000"/>
              </a:lnSpc>
            </a:pPr>
            <a:r>
              <a:rPr lang="es-ES" dirty="0"/>
              <a:t>La latencia de CAS (</a:t>
            </a:r>
            <a:r>
              <a:rPr lang="es-ES" dirty="0">
                <a:latin typeface="Arial Narrow" pitchFamily="34" charset="0"/>
              </a:rPr>
              <a:t>CL</a:t>
            </a:r>
            <a:r>
              <a:rPr lang="es-ES" dirty="0"/>
              <a:t>) es un valor que se programa en el registro de modo del chip durante la inicialización de la memoria</a:t>
            </a:r>
          </a:p>
          <a:p>
            <a:pPr lvl="1">
              <a:lnSpc>
                <a:spcPct val="100000"/>
              </a:lnSpc>
            </a:pPr>
            <a:r>
              <a:rPr lang="es-ES" dirty="0"/>
              <a:t>Para una frecuencia dada, el chip tiene un CL mínimo</a:t>
            </a:r>
          </a:p>
          <a:p>
            <a:pPr lvl="2">
              <a:lnSpc>
                <a:spcPct val="100000"/>
              </a:lnSpc>
            </a:pPr>
            <a:r>
              <a:rPr lang="es-ES" dirty="0"/>
              <a:t>o al revés: para usar un valor CL dado, el chip tiene una frecuencia máxima (o un periodo mínimo)</a:t>
            </a:r>
          </a:p>
          <a:p>
            <a:endParaRPr lang="es-ES" dirty="0"/>
          </a:p>
          <a:p>
            <a:r>
              <a:rPr lang="es-ES" dirty="0"/>
              <a:t>Restricciones temporales de un chip ejemplo</a:t>
            </a:r>
          </a:p>
        </p:txBody>
      </p:sp>
      <p:pic>
        <p:nvPicPr>
          <p:cNvPr id="72709" name="Picture 4" descr="AC INFO"/>
          <p:cNvPicPr>
            <a:picLocks noChangeAspect="1" noChangeArrowheads="1"/>
          </p:cNvPicPr>
          <p:nvPr/>
        </p:nvPicPr>
        <p:blipFill>
          <a:blip r:embed="rId3" cstate="print"/>
          <a:srcRect t="10660" b="5896"/>
          <a:stretch>
            <a:fillRect/>
          </a:stretch>
        </p:blipFill>
        <p:spPr bwMode="auto">
          <a:xfrm>
            <a:off x="714348" y="3357562"/>
            <a:ext cx="8001000" cy="2808287"/>
          </a:xfrm>
          <a:prstGeom prst="rect">
            <a:avLst/>
          </a:prstGeom>
          <a:noFill/>
          <a:ln w="9525">
            <a:noFill/>
            <a:miter lim="800000"/>
            <a:headEnd/>
            <a:tailEnd/>
          </a:ln>
        </p:spPr>
      </p:pic>
      <p:sp>
        <p:nvSpPr>
          <p:cNvPr id="6" name="5 Rectángulo"/>
          <p:cNvSpPr/>
          <p:nvPr/>
        </p:nvSpPr>
        <p:spPr bwMode="auto">
          <a:xfrm rot="5400000">
            <a:off x="6536545" y="1821645"/>
            <a:ext cx="357190" cy="4429156"/>
          </a:xfrm>
          <a:prstGeom prst="rect">
            <a:avLst/>
          </a:prstGeom>
          <a:solidFill>
            <a:schemeClr val="tx2">
              <a:lumMod val="20000"/>
              <a:lumOff val="80000"/>
              <a:alpha val="40000"/>
            </a:schemeClr>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Llamada de nube"/>
          <p:cNvSpPr/>
          <p:nvPr/>
        </p:nvSpPr>
        <p:spPr bwMode="auto">
          <a:xfrm>
            <a:off x="1691679" y="908720"/>
            <a:ext cx="4649455" cy="2075381"/>
          </a:xfrm>
          <a:prstGeom prst="cloudCallout">
            <a:avLst>
              <a:gd name="adj1" fmla="val 36195"/>
              <a:gd name="adj2" fmla="val 70992"/>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FF0000"/>
                </a:solidFill>
              </a:rPr>
              <a:t>Normalmente el tiempo CL es programable</a:t>
            </a:r>
          </a:p>
        </p:txBody>
      </p:sp>
      <p:sp>
        <p:nvSpPr>
          <p:cNvPr id="2" name="2 Marcador de número de diapositiva">
            <a:extLst>
              <a:ext uri="{FF2B5EF4-FFF2-40B4-BE49-F238E27FC236}">
                <a16:creationId xmlns:a16="http://schemas.microsoft.com/office/drawing/2014/main" id="{23187D5F-E533-2B79-A6AE-D4E24174A59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89</a:t>
            </a:fld>
            <a:endParaRPr lang="en-US" dirty="0"/>
          </a:p>
        </p:txBody>
      </p:sp>
    </p:spTree>
    <p:extLst>
      <p:ext uri="{BB962C8B-B14F-4D97-AF65-F5344CB8AC3E}">
        <p14:creationId xmlns:p14="http://schemas.microsoft.com/office/powerpoint/2010/main" val="785583758"/>
      </p:ext>
    </p:extLst>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827584" y="241847"/>
            <a:ext cx="3167732" cy="864096"/>
          </a:xfrm>
        </p:spPr>
        <p:txBody>
          <a:bodyPr/>
          <a:lstStyle/>
          <a:p>
            <a:r>
              <a:rPr lang="es-ES" dirty="0" err="1"/>
              <a:t>SiSoftware</a:t>
            </a:r>
            <a:r>
              <a:rPr lang="es-ES" dirty="0"/>
              <a:t> Sandra</a:t>
            </a:r>
          </a:p>
        </p:txBody>
      </p:sp>
      <p:pic>
        <p:nvPicPr>
          <p:cNvPr id="59396" name="Picture 3"/>
          <p:cNvPicPr>
            <a:picLocks noChangeAspect="1" noChangeArrowheads="1"/>
          </p:cNvPicPr>
          <p:nvPr/>
        </p:nvPicPr>
        <p:blipFill>
          <a:blip r:embed="rId3" cstate="print"/>
          <a:srcRect/>
          <a:stretch>
            <a:fillRect/>
          </a:stretch>
        </p:blipFill>
        <p:spPr bwMode="auto">
          <a:xfrm>
            <a:off x="727075" y="1125538"/>
            <a:ext cx="4997450" cy="5399087"/>
          </a:xfrm>
          <a:prstGeom prst="rect">
            <a:avLst/>
          </a:prstGeom>
          <a:noFill/>
          <a:ln w="38100">
            <a:solidFill>
              <a:schemeClr val="bg2"/>
            </a:solidFill>
            <a:miter lim="800000"/>
            <a:headEnd/>
            <a:tailEnd/>
          </a:ln>
        </p:spPr>
      </p:pic>
      <p:sp>
        <p:nvSpPr>
          <p:cNvPr id="59397" name="Rectangle 4"/>
          <p:cNvSpPr>
            <a:spLocks noChangeArrowheads="1"/>
          </p:cNvSpPr>
          <p:nvPr/>
        </p:nvSpPr>
        <p:spPr bwMode="auto">
          <a:xfrm>
            <a:off x="533400" y="2060575"/>
            <a:ext cx="4759325" cy="1800225"/>
          </a:xfrm>
          <a:prstGeom prst="rect">
            <a:avLst/>
          </a:prstGeom>
          <a:noFill/>
          <a:ln w="38100">
            <a:solidFill>
              <a:srgbClr val="CC3300"/>
            </a:solidFill>
            <a:prstDash val="sysDot"/>
            <a:miter lim="800000"/>
            <a:headEnd/>
            <a:tailEnd/>
          </a:ln>
        </p:spPr>
        <p:txBody>
          <a:bodyPr anchor="ctr">
            <a:spAutoFit/>
          </a:bodyPr>
          <a:lstStyle/>
          <a:p>
            <a:endParaRPr lang="es-ES"/>
          </a:p>
        </p:txBody>
      </p:sp>
      <p:sp>
        <p:nvSpPr>
          <p:cNvPr id="59398" name="Rectangle 5"/>
          <p:cNvSpPr>
            <a:spLocks noChangeArrowheads="1"/>
          </p:cNvSpPr>
          <p:nvPr/>
        </p:nvSpPr>
        <p:spPr bwMode="auto">
          <a:xfrm>
            <a:off x="533400" y="3946525"/>
            <a:ext cx="4759325" cy="1930400"/>
          </a:xfrm>
          <a:prstGeom prst="rect">
            <a:avLst/>
          </a:prstGeom>
          <a:noFill/>
          <a:ln w="38100">
            <a:solidFill>
              <a:srgbClr val="CC9900"/>
            </a:solidFill>
            <a:prstDash val="sysDot"/>
            <a:miter lim="800000"/>
            <a:headEnd/>
            <a:tailEnd/>
          </a:ln>
        </p:spPr>
        <p:txBody>
          <a:bodyPr anchor="ctr">
            <a:spAutoFit/>
          </a:bodyPr>
          <a:lstStyle/>
          <a:p>
            <a:endParaRPr lang="es-ES"/>
          </a:p>
        </p:txBody>
      </p:sp>
      <p:sp>
        <p:nvSpPr>
          <p:cNvPr id="59399" name="Text Box 6"/>
          <p:cNvSpPr txBox="1">
            <a:spLocks noChangeArrowheads="1"/>
          </p:cNvSpPr>
          <p:nvPr/>
        </p:nvSpPr>
        <p:spPr bwMode="auto">
          <a:xfrm>
            <a:off x="6303963" y="2781300"/>
            <a:ext cx="1835150" cy="396875"/>
          </a:xfrm>
          <a:prstGeom prst="rect">
            <a:avLst/>
          </a:prstGeom>
          <a:noFill/>
          <a:ln w="12700">
            <a:noFill/>
            <a:miter lim="800000"/>
            <a:headEnd/>
            <a:tailEnd/>
          </a:ln>
        </p:spPr>
        <p:txBody>
          <a:bodyPr wrap="none">
            <a:spAutoFit/>
          </a:bodyPr>
          <a:lstStyle/>
          <a:p>
            <a:r>
              <a:rPr lang="es-ES"/>
              <a:t>Primer módulo</a:t>
            </a:r>
          </a:p>
        </p:txBody>
      </p:sp>
      <p:sp>
        <p:nvSpPr>
          <p:cNvPr id="59400" name="Text Box 7"/>
          <p:cNvSpPr txBox="1">
            <a:spLocks noChangeArrowheads="1"/>
          </p:cNvSpPr>
          <p:nvPr/>
        </p:nvSpPr>
        <p:spPr bwMode="auto">
          <a:xfrm>
            <a:off x="6291263" y="5408613"/>
            <a:ext cx="2105025" cy="396875"/>
          </a:xfrm>
          <a:prstGeom prst="rect">
            <a:avLst/>
          </a:prstGeom>
          <a:noFill/>
          <a:ln w="12700">
            <a:noFill/>
            <a:miter lim="800000"/>
            <a:headEnd/>
            <a:tailEnd/>
          </a:ln>
        </p:spPr>
        <p:txBody>
          <a:bodyPr wrap="none">
            <a:spAutoFit/>
          </a:bodyPr>
          <a:lstStyle/>
          <a:p>
            <a:r>
              <a:rPr lang="es-ES"/>
              <a:t>Segundo módulo</a:t>
            </a:r>
          </a:p>
        </p:txBody>
      </p:sp>
      <p:sp>
        <p:nvSpPr>
          <p:cNvPr id="59401" name="Line 8"/>
          <p:cNvSpPr>
            <a:spLocks noChangeShapeType="1"/>
          </p:cNvSpPr>
          <p:nvPr/>
        </p:nvSpPr>
        <p:spPr bwMode="auto">
          <a:xfrm flipH="1">
            <a:off x="5292725" y="2997200"/>
            <a:ext cx="1008063" cy="0"/>
          </a:xfrm>
          <a:prstGeom prst="line">
            <a:avLst/>
          </a:prstGeom>
          <a:noFill/>
          <a:ln w="38100">
            <a:solidFill>
              <a:schemeClr val="hlink"/>
            </a:solidFill>
            <a:round/>
            <a:headEnd/>
            <a:tailEnd type="arrow" w="med" len="med"/>
          </a:ln>
        </p:spPr>
        <p:txBody>
          <a:bodyPr anchor="ctr">
            <a:spAutoFit/>
          </a:bodyPr>
          <a:lstStyle/>
          <a:p>
            <a:endParaRPr lang="es-ES"/>
          </a:p>
        </p:txBody>
      </p:sp>
      <p:sp>
        <p:nvSpPr>
          <p:cNvPr id="59402" name="Line 9"/>
          <p:cNvSpPr>
            <a:spLocks noChangeShapeType="1"/>
          </p:cNvSpPr>
          <p:nvPr/>
        </p:nvSpPr>
        <p:spPr bwMode="auto">
          <a:xfrm flipH="1">
            <a:off x="5292725" y="5626100"/>
            <a:ext cx="1008063" cy="0"/>
          </a:xfrm>
          <a:prstGeom prst="line">
            <a:avLst/>
          </a:prstGeom>
          <a:noFill/>
          <a:ln w="38100">
            <a:solidFill>
              <a:schemeClr val="hlink"/>
            </a:solidFill>
            <a:round/>
            <a:headEnd/>
            <a:tailEnd type="arrow" w="med" len="med"/>
          </a:ln>
        </p:spPr>
        <p:txBody>
          <a:bodyPr anchor="ctr">
            <a:spAutoFit/>
          </a:bodyPr>
          <a:lstStyle/>
          <a:p>
            <a:endParaRPr lang="es-ES"/>
          </a:p>
        </p:txBody>
      </p:sp>
      <p:sp>
        <p:nvSpPr>
          <p:cNvPr id="59403" name="Rectangle 10"/>
          <p:cNvSpPr>
            <a:spLocks noChangeArrowheads="1"/>
          </p:cNvSpPr>
          <p:nvPr/>
        </p:nvSpPr>
        <p:spPr bwMode="auto">
          <a:xfrm>
            <a:off x="6293039" y="3826431"/>
            <a:ext cx="2587247" cy="738664"/>
          </a:xfrm>
          <a:prstGeom prst="rect">
            <a:avLst/>
          </a:prstGeom>
          <a:noFill/>
          <a:ln w="19050">
            <a:noFill/>
            <a:miter lim="800000"/>
            <a:headEnd/>
            <a:tailEnd/>
          </a:ln>
        </p:spPr>
        <p:txBody>
          <a:bodyPr wrap="none" lIns="0" tIns="0" rIns="0" bIns="0" anchor="ctr">
            <a:spAutoFit/>
          </a:bodyPr>
          <a:lstStyle/>
          <a:p>
            <a:r>
              <a:rPr lang="es-ES" sz="2400" dirty="0" err="1">
                <a:solidFill>
                  <a:srgbClr val="FF0000"/>
                </a:solidFill>
              </a:rPr>
              <a:t>t</a:t>
            </a:r>
            <a:r>
              <a:rPr lang="es-ES" sz="2400" b="1" baseline="-25000" dirty="0" err="1">
                <a:solidFill>
                  <a:srgbClr val="FF0000"/>
                </a:solidFill>
              </a:rPr>
              <a:t>CL</a:t>
            </a:r>
            <a:r>
              <a:rPr lang="es-ES" sz="2400" dirty="0">
                <a:solidFill>
                  <a:srgbClr val="FF0000"/>
                </a:solidFill>
              </a:rPr>
              <a:t> - </a:t>
            </a:r>
            <a:r>
              <a:rPr lang="es-ES" sz="2400" dirty="0" err="1">
                <a:solidFill>
                  <a:srgbClr val="FF0000"/>
                </a:solidFill>
              </a:rPr>
              <a:t>t</a:t>
            </a:r>
            <a:r>
              <a:rPr lang="es-ES" sz="2400" b="1" baseline="-25000" dirty="0" err="1">
                <a:solidFill>
                  <a:srgbClr val="FF0000"/>
                </a:solidFill>
              </a:rPr>
              <a:t>RCD</a:t>
            </a:r>
            <a:r>
              <a:rPr lang="es-ES" sz="2400" dirty="0">
                <a:solidFill>
                  <a:srgbClr val="FF0000"/>
                </a:solidFill>
              </a:rPr>
              <a:t> - </a:t>
            </a:r>
            <a:r>
              <a:rPr lang="es-ES" sz="2400" dirty="0" err="1">
                <a:solidFill>
                  <a:srgbClr val="FF0000"/>
                </a:solidFill>
              </a:rPr>
              <a:t>t</a:t>
            </a:r>
            <a:r>
              <a:rPr lang="es-ES" sz="2400" b="1" baseline="-25000" dirty="0" err="1">
                <a:solidFill>
                  <a:srgbClr val="FF0000"/>
                </a:solidFill>
              </a:rPr>
              <a:t>RP</a:t>
            </a:r>
            <a:r>
              <a:rPr lang="es-ES" sz="2400" dirty="0">
                <a:solidFill>
                  <a:srgbClr val="FF0000"/>
                </a:solidFill>
              </a:rPr>
              <a:t> - </a:t>
            </a:r>
            <a:r>
              <a:rPr lang="es-ES" sz="2400" dirty="0" err="1">
                <a:solidFill>
                  <a:srgbClr val="FF0000"/>
                </a:solidFill>
              </a:rPr>
              <a:t>t</a:t>
            </a:r>
            <a:r>
              <a:rPr lang="es-ES" sz="2400" b="1" baseline="-25000" dirty="0" err="1">
                <a:solidFill>
                  <a:srgbClr val="FF0000"/>
                </a:solidFill>
              </a:rPr>
              <a:t>RAS</a:t>
            </a:r>
            <a:endParaRPr lang="es-ES" sz="2400" b="1" baseline="-25000" dirty="0">
              <a:solidFill>
                <a:srgbClr val="FF0000"/>
              </a:solidFill>
            </a:endParaRPr>
          </a:p>
          <a:p>
            <a:r>
              <a:rPr lang="es-ES" dirty="0">
                <a:solidFill>
                  <a:srgbClr val="FF0000"/>
                </a:solidFill>
              </a:rPr>
              <a:t>según la frecuen</a:t>
            </a:r>
            <a:r>
              <a:rPr lang="es-ES" altLang="ja-JP" dirty="0">
                <a:solidFill>
                  <a:srgbClr val="FF0000"/>
                </a:solidFill>
                <a:ea typeface="Geneva" pitchFamily="1" charset="-128"/>
              </a:rPr>
              <a:t>cia</a:t>
            </a:r>
            <a:endParaRPr lang="es-ES_tradnl" sz="2400" b="1" baseline="-25000" dirty="0">
              <a:solidFill>
                <a:srgbClr val="FF0000"/>
              </a:solidFill>
            </a:endParaRPr>
          </a:p>
        </p:txBody>
      </p:sp>
      <p:sp>
        <p:nvSpPr>
          <p:cNvPr id="59404" name="Freeform 11"/>
          <p:cNvSpPr>
            <a:spLocks/>
          </p:cNvSpPr>
          <p:nvPr/>
        </p:nvSpPr>
        <p:spPr bwMode="auto">
          <a:xfrm>
            <a:off x="3657600" y="3541713"/>
            <a:ext cx="2625725" cy="784225"/>
          </a:xfrm>
          <a:custGeom>
            <a:avLst/>
            <a:gdLst>
              <a:gd name="T0" fmla="*/ 2147483647 w 1264"/>
              <a:gd name="T1" fmla="*/ 2147483647 h 494"/>
              <a:gd name="T2" fmla="*/ 0 w 1264"/>
              <a:gd name="T3" fmla="*/ 2147483647 h 494"/>
              <a:gd name="T4" fmla="*/ 0 60000 65536"/>
              <a:gd name="T5" fmla="*/ 0 60000 65536"/>
              <a:gd name="T6" fmla="*/ 0 w 1264"/>
              <a:gd name="T7" fmla="*/ 0 h 494"/>
              <a:gd name="T8" fmla="*/ 1264 w 1264"/>
              <a:gd name="T9" fmla="*/ 494 h 494"/>
            </a:gdLst>
            <a:ahLst/>
            <a:cxnLst>
              <a:cxn ang="T4">
                <a:pos x="T0" y="T1"/>
              </a:cxn>
              <a:cxn ang="T5">
                <a:pos x="T2" y="T3"/>
              </a:cxn>
            </a:cxnLst>
            <a:rect l="T6" t="T7" r="T8" b="T9"/>
            <a:pathLst>
              <a:path w="1264" h="494">
                <a:moveTo>
                  <a:pt x="1264" y="494"/>
                </a:moveTo>
                <a:cubicBezTo>
                  <a:pt x="652" y="0"/>
                  <a:pt x="0" y="25"/>
                  <a:pt x="0" y="25"/>
                </a:cubicBezTo>
              </a:path>
            </a:pathLst>
          </a:custGeom>
          <a:noFill/>
          <a:ln w="38100">
            <a:solidFill>
              <a:schemeClr val="tx2"/>
            </a:solidFill>
            <a:round/>
            <a:headEnd/>
            <a:tailEnd type="arrow" w="med" len="med"/>
          </a:ln>
        </p:spPr>
        <p:txBody>
          <a:bodyPr wrap="none" lIns="0" tIns="0" rIns="0" bIns="0" anchor="ctr"/>
          <a:lstStyle/>
          <a:p>
            <a:endParaRPr lang="es-ES"/>
          </a:p>
        </p:txBody>
      </p:sp>
      <p:sp>
        <p:nvSpPr>
          <p:cNvPr id="59405" name="Freeform 12"/>
          <p:cNvSpPr>
            <a:spLocks/>
          </p:cNvSpPr>
          <p:nvPr/>
        </p:nvSpPr>
        <p:spPr bwMode="auto">
          <a:xfrm>
            <a:off x="3810000" y="4495800"/>
            <a:ext cx="2492375" cy="1066800"/>
          </a:xfrm>
          <a:custGeom>
            <a:avLst/>
            <a:gdLst>
              <a:gd name="T0" fmla="*/ 2147483647 w 1185"/>
              <a:gd name="T1" fmla="*/ 0 h 768"/>
              <a:gd name="T2" fmla="*/ 0 w 1185"/>
              <a:gd name="T3" fmla="*/ 2147483647 h 768"/>
              <a:gd name="T4" fmla="*/ 0 60000 65536"/>
              <a:gd name="T5" fmla="*/ 0 60000 65536"/>
              <a:gd name="T6" fmla="*/ 0 w 1185"/>
              <a:gd name="T7" fmla="*/ 0 h 768"/>
              <a:gd name="T8" fmla="*/ 1185 w 1185"/>
              <a:gd name="T9" fmla="*/ 768 h 768"/>
            </a:gdLst>
            <a:ahLst/>
            <a:cxnLst>
              <a:cxn ang="T4">
                <a:pos x="T0" y="T1"/>
              </a:cxn>
              <a:cxn ang="T5">
                <a:pos x="T2" y="T3"/>
              </a:cxn>
            </a:cxnLst>
            <a:rect l="T6" t="T7" r="T8" b="T9"/>
            <a:pathLst>
              <a:path w="1185" h="768">
                <a:moveTo>
                  <a:pt x="1185" y="0"/>
                </a:moveTo>
                <a:cubicBezTo>
                  <a:pt x="674" y="707"/>
                  <a:pt x="0" y="768"/>
                  <a:pt x="0" y="768"/>
                </a:cubicBezTo>
              </a:path>
            </a:pathLst>
          </a:custGeom>
          <a:noFill/>
          <a:ln w="38100">
            <a:solidFill>
              <a:schemeClr val="tx2"/>
            </a:solidFill>
            <a:round/>
            <a:headEnd/>
            <a:tailEnd type="arrow" w="med" len="med"/>
          </a:ln>
        </p:spPr>
        <p:txBody>
          <a:bodyPr wrap="none" lIns="0" tIns="0" rIns="0" bIns="0" anchor="ctr"/>
          <a:lstStyle/>
          <a:p>
            <a:endParaRPr lang="es-ES"/>
          </a:p>
        </p:txBody>
      </p:sp>
      <p:sp>
        <p:nvSpPr>
          <p:cNvPr id="2" name="2 Marcador de número de diapositiva">
            <a:extLst>
              <a:ext uri="{FF2B5EF4-FFF2-40B4-BE49-F238E27FC236}">
                <a16:creationId xmlns:a16="http://schemas.microsoft.com/office/drawing/2014/main" id="{CDE4D6C2-4493-0A19-E5DD-0AB0280A5866}"/>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90</a:t>
            </a:fld>
            <a:endParaRPr lang="en-US" dirty="0"/>
          </a:p>
        </p:txBody>
      </p:sp>
    </p:spTree>
    <p:extLst>
      <p:ext uri="{BB962C8B-B14F-4D97-AF65-F5344CB8AC3E}">
        <p14:creationId xmlns:p14="http://schemas.microsoft.com/office/powerpoint/2010/main" val="42363413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49BF8-BC54-F953-79F1-783BBD4EC5B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D741AD-8C9B-C42F-4E03-98F064E5B0D0}"/>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DF8FF7DA-0943-BD56-A3B6-9CEC7398D16C}"/>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t>Organización</a:t>
            </a:r>
          </a:p>
          <a:p>
            <a:pPr marL="977900" lvl="2" indent="-457200">
              <a:lnSpc>
                <a:spcPct val="90000"/>
              </a:lnSpc>
              <a:buFont typeface="+mj-lt"/>
              <a:buAutoNum type="romanUcPeriod"/>
            </a:pPr>
            <a:r>
              <a:rPr lang="es-ES" dirty="0"/>
              <a:t>Direccionamiento</a:t>
            </a:r>
          </a:p>
          <a:p>
            <a:pPr marL="977900" lvl="2" indent="-457200">
              <a:lnSpc>
                <a:spcPct val="90000"/>
              </a:lnSpc>
              <a:buFont typeface="+mj-lt"/>
              <a:buAutoNum type="romanUcPeriod"/>
            </a:pPr>
            <a:r>
              <a:rPr lang="es-ES" dirty="0">
                <a:solidFill>
                  <a:srgbClr val="FF0000"/>
                </a:solidFill>
              </a:rPr>
              <a:t>Temporización</a:t>
            </a:r>
          </a:p>
          <a:p>
            <a:pPr marL="1189038" lvl="3" indent="-457200">
              <a:lnSpc>
                <a:spcPct val="90000"/>
              </a:lnSpc>
              <a:buFont typeface="Arial" panose="020B0604020202020204" pitchFamily="34" charset="0"/>
              <a:buChar char="•"/>
            </a:pPr>
            <a:r>
              <a:rPr lang="es-ES" dirty="0"/>
              <a:t>Cronogramas</a:t>
            </a:r>
          </a:p>
          <a:p>
            <a:pPr marL="1189038" lvl="3" indent="-457200">
              <a:lnSpc>
                <a:spcPct val="90000"/>
              </a:lnSpc>
              <a:buFont typeface="Arial" panose="020B0604020202020204" pitchFamily="34" charset="0"/>
              <a:buChar char="•"/>
            </a:pPr>
            <a:r>
              <a:rPr lang="es-ES" dirty="0">
                <a:solidFill>
                  <a:srgbClr val="FF0000"/>
                </a:solidFill>
              </a:rPr>
              <a:t>Prestaciones</a:t>
            </a:r>
          </a:p>
          <a:p>
            <a:pPr marL="977900" lvl="2" indent="-457200">
              <a:lnSpc>
                <a:spcPct val="90000"/>
              </a:lnSpc>
              <a:buFont typeface="+mj-lt"/>
              <a:buAutoNum type="romanUcPeriod"/>
            </a:pPr>
            <a:r>
              <a:rPr lang="es-ES" dirty="0"/>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210B7086-7DCC-E41C-6C32-980EA09C3BC4}"/>
              </a:ext>
            </a:extLst>
          </p:cNvPr>
          <p:cNvSpPr>
            <a:spLocks noGrp="1"/>
          </p:cNvSpPr>
          <p:nvPr>
            <p:ph type="sldNum" sz="quarter" idx="12"/>
          </p:nvPr>
        </p:nvSpPr>
        <p:spPr/>
        <p:txBody>
          <a:bodyPr/>
          <a:lstStyle/>
          <a:p>
            <a:pPr>
              <a:defRPr/>
            </a:pPr>
            <a:fld id="{50B7A251-C820-4EFF-8270-C7613E20881F}" type="slidenum">
              <a:rPr lang="en-US" smtClean="0"/>
              <a:pPr>
                <a:defRPr/>
              </a:pPr>
              <a:t>91</a:t>
            </a:fld>
            <a:endParaRPr lang="en-US" dirty="0"/>
          </a:p>
        </p:txBody>
      </p:sp>
      <p:sp>
        <p:nvSpPr>
          <p:cNvPr id="6" name="Rectángulo 5">
            <a:extLst>
              <a:ext uri="{FF2B5EF4-FFF2-40B4-BE49-F238E27FC236}">
                <a16:creationId xmlns:a16="http://schemas.microsoft.com/office/drawing/2014/main" id="{109F467C-2561-8677-BD72-913E873A418E}"/>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Tree>
    <p:extLst>
      <p:ext uri="{BB962C8B-B14F-4D97-AF65-F5344CB8AC3E}">
        <p14:creationId xmlns:p14="http://schemas.microsoft.com/office/powerpoint/2010/main" val="6759034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628650" y="260648"/>
            <a:ext cx="8515350" cy="609600"/>
          </a:xfrm>
        </p:spPr>
        <p:txBody>
          <a:bodyPr/>
          <a:lstStyle/>
          <a:p>
            <a:r>
              <a:rPr lang="es-ES" dirty="0"/>
              <a:t>Prestaciones</a:t>
            </a:r>
          </a:p>
        </p:txBody>
      </p:sp>
      <p:sp>
        <p:nvSpPr>
          <p:cNvPr id="2054" name="Rectangle 3"/>
          <p:cNvSpPr>
            <a:spLocks noGrp="1" noChangeArrowheads="1"/>
          </p:cNvSpPr>
          <p:nvPr>
            <p:ph type="body" idx="1"/>
          </p:nvPr>
        </p:nvSpPr>
        <p:spPr>
          <a:xfrm>
            <a:off x="533400" y="981075"/>
            <a:ext cx="8305800" cy="3240013"/>
          </a:xfrm>
        </p:spPr>
        <p:txBody>
          <a:bodyPr/>
          <a:lstStyle/>
          <a:p>
            <a:pPr>
              <a:lnSpc>
                <a:spcPct val="100000"/>
              </a:lnSpc>
            </a:pPr>
            <a:r>
              <a:rPr lang="es-ES" dirty="0"/>
              <a:t>Ancho de banda (</a:t>
            </a:r>
            <a:r>
              <a:rPr lang="es-ES" i="1" dirty="0" err="1"/>
              <a:t>Bandwidth</a:t>
            </a:r>
            <a:r>
              <a:rPr lang="es-ES" i="1" dirty="0"/>
              <a:t>)</a:t>
            </a:r>
          </a:p>
          <a:p>
            <a:pPr lvl="1">
              <a:lnSpc>
                <a:spcPct val="100000"/>
              </a:lnSpc>
            </a:pPr>
            <a:r>
              <a:rPr lang="es-ES" dirty="0"/>
              <a:t>Genéricamente: cantidad de información transferida por unidad de tiempo</a:t>
            </a:r>
          </a:p>
          <a:p>
            <a:pPr lvl="1">
              <a:lnSpc>
                <a:spcPct val="100000"/>
              </a:lnSpc>
            </a:pPr>
            <a:endParaRPr lang="es-ES" dirty="0"/>
          </a:p>
          <a:p>
            <a:pPr lvl="1">
              <a:lnSpc>
                <a:spcPct val="100000"/>
              </a:lnSpc>
              <a:buFontTx/>
              <a:buNone/>
            </a:pPr>
            <a:endParaRPr lang="es-ES" dirty="0"/>
          </a:p>
          <a:p>
            <a:pPr lvl="1">
              <a:lnSpc>
                <a:spcPct val="100000"/>
              </a:lnSpc>
            </a:pPr>
            <a:r>
              <a:rPr lang="es-ES" dirty="0"/>
              <a:t>Medida en bytes por unidad de tiempo: MB/s, GB/s (</a:t>
            </a:r>
            <a:r>
              <a:rPr lang="es-ES" dirty="0" err="1"/>
              <a:t>MBps</a:t>
            </a:r>
            <a:r>
              <a:rPr lang="es-ES" dirty="0"/>
              <a:t>, </a:t>
            </a:r>
            <a:r>
              <a:rPr lang="es-ES" dirty="0" err="1"/>
              <a:t>GBps</a:t>
            </a:r>
            <a:r>
              <a:rPr lang="es-ES" dirty="0"/>
              <a:t>), Mb/s, </a:t>
            </a:r>
            <a:r>
              <a:rPr lang="es-ES" dirty="0" err="1"/>
              <a:t>Gb</a:t>
            </a:r>
            <a:r>
              <a:rPr lang="es-ES" dirty="0"/>
              <a:t>/s (Mbps, </a:t>
            </a:r>
            <a:r>
              <a:rPr lang="es-ES" dirty="0" err="1"/>
              <a:t>Gbps</a:t>
            </a:r>
            <a:r>
              <a:rPr lang="es-ES" dirty="0"/>
              <a:t>)</a:t>
            </a:r>
          </a:p>
          <a:p>
            <a:pPr lvl="2">
              <a:lnSpc>
                <a:spcPct val="100000"/>
              </a:lnSpc>
            </a:pPr>
            <a:r>
              <a:rPr lang="es-ES" dirty="0"/>
              <a:t>Los prefijos siempre son del tipo 10</a:t>
            </a:r>
            <a:r>
              <a:rPr lang="es-ES" b="1" baseline="30000" dirty="0"/>
              <a:t>n</a:t>
            </a:r>
          </a:p>
          <a:p>
            <a:pPr lvl="1">
              <a:lnSpc>
                <a:spcPct val="100000"/>
              </a:lnSpc>
            </a:pPr>
            <a:endParaRPr lang="es-ES" dirty="0"/>
          </a:p>
        </p:txBody>
      </p:sp>
      <mc:AlternateContent xmlns:mc="http://schemas.openxmlformats.org/markup-compatibility/2006" xmlns:a14="http://schemas.microsoft.com/office/drawing/2010/main">
        <mc:Choice Requires="a14">
          <p:sp>
            <p:nvSpPr>
              <p:cNvPr id="2050" name="Object 18"/>
              <p:cNvSpPr txBox="1"/>
              <p:nvPr/>
            </p:nvSpPr>
            <p:spPr bwMode="auto">
              <a:xfrm>
                <a:off x="3343275" y="1989138"/>
                <a:ext cx="2760663" cy="695325"/>
              </a:xfrm>
              <a:prstGeom prst="rect">
                <a:avLst/>
              </a:prstGeom>
              <a:solidFill>
                <a:srgbClr val="FFF1CE"/>
              </a:solidFill>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s-ES" i="1">
                          <a:solidFill>
                            <a:srgbClr val="000000"/>
                          </a:solidFill>
                          <a:latin typeface="Cambria Math" panose="02040503050406030204" pitchFamily="18" charset="0"/>
                        </a:rPr>
                        <m:t>𝐵</m:t>
                      </m:r>
                      <m:r>
                        <a:rPr lang="es-ES" i="1">
                          <a:solidFill>
                            <a:srgbClr val="000000"/>
                          </a:solidFill>
                          <a:latin typeface="Cambria Math" panose="02040503050406030204" pitchFamily="18" charset="0"/>
                        </a:rPr>
                        <m:t>=</m:t>
                      </m:r>
                      <m:f>
                        <m:fPr>
                          <m:ctrlPr>
                            <a:rPr lang="es-ES" i="1">
                              <a:solidFill>
                                <a:srgbClr val="000000"/>
                              </a:solidFill>
                              <a:latin typeface="Cambria Math" panose="02040503050406030204" pitchFamily="18" charset="0"/>
                            </a:rPr>
                          </m:ctrlPr>
                        </m:fPr>
                        <m:num>
                          <m:r>
                            <m:rPr>
                              <m:nor/>
                            </m:rPr>
                            <a:rPr lang="es-ES" i="0">
                              <a:solidFill>
                                <a:srgbClr val="000000"/>
                              </a:solidFill>
                              <a:latin typeface="Cambria Math" panose="02040503050406030204" pitchFamily="18" charset="0"/>
                            </a:rPr>
                            <m:t>bits</m:t>
                          </m:r>
                          <m:r>
                            <m:rPr>
                              <m:nor/>
                            </m:rPr>
                            <a:rPr lang="es-ES" i="0">
                              <a:solidFill>
                                <a:srgbClr val="000000"/>
                              </a:solidFill>
                              <a:latin typeface="Cambria Math" panose="02040503050406030204" pitchFamily="18" charset="0"/>
                            </a:rPr>
                            <m:t>/</m:t>
                          </m:r>
                          <m:r>
                            <m:rPr>
                              <m:nor/>
                            </m:rPr>
                            <a:rPr lang="es-ES" i="0">
                              <a:solidFill>
                                <a:srgbClr val="000000"/>
                              </a:solidFill>
                              <a:latin typeface="Cambria Math" panose="02040503050406030204" pitchFamily="18" charset="0"/>
                            </a:rPr>
                            <m:t>bytes</m:t>
                          </m:r>
                          <m:r>
                            <m:rPr>
                              <m:nor/>
                            </m:rPr>
                            <a:rPr lang="es-ES" i="0">
                              <a:solidFill>
                                <a:srgbClr val="000000"/>
                              </a:solidFill>
                              <a:latin typeface="Cambria Math" panose="02040503050406030204" pitchFamily="18" charset="0"/>
                            </a:rPr>
                            <m:t> </m:t>
                          </m:r>
                          <m:r>
                            <m:rPr>
                              <m:nor/>
                            </m:rPr>
                            <a:rPr lang="es-ES" i="0">
                              <a:solidFill>
                                <a:srgbClr val="000000"/>
                              </a:solidFill>
                              <a:latin typeface="Cambria Math" panose="02040503050406030204" pitchFamily="18" charset="0"/>
                            </a:rPr>
                            <m:t>transferidos</m:t>
                          </m:r>
                        </m:num>
                        <m:den>
                          <m:r>
                            <m:rPr>
                              <m:nor/>
                            </m:rPr>
                            <a:rPr lang="es-ES" i="0">
                              <a:solidFill>
                                <a:srgbClr val="000000"/>
                              </a:solidFill>
                              <a:latin typeface="Cambria Math" panose="02040503050406030204" pitchFamily="18" charset="0"/>
                            </a:rPr>
                            <m:t>tiempo</m:t>
                          </m:r>
                        </m:den>
                      </m:f>
                    </m:oMath>
                  </m:oMathPara>
                </a14:m>
                <a:endParaRPr lang="es-ES"/>
              </a:p>
            </p:txBody>
          </p:sp>
        </mc:Choice>
        <mc:Fallback xmlns="">
          <p:sp>
            <p:nvSpPr>
              <p:cNvPr id="2050" name="Object 18"/>
              <p:cNvSpPr txBox="1">
                <a:spLocks noRot="1" noChangeAspect="1" noMove="1" noResize="1" noEditPoints="1" noAdjustHandles="1" noChangeArrowheads="1" noChangeShapeType="1" noTextEdit="1"/>
              </p:cNvSpPr>
              <p:nvPr/>
            </p:nvSpPr>
            <p:spPr bwMode="auto">
              <a:xfrm>
                <a:off x="3343275" y="1989138"/>
                <a:ext cx="2760663" cy="695325"/>
              </a:xfrm>
              <a:prstGeom prst="rect">
                <a:avLst/>
              </a:prstGeom>
              <a:blipFill>
                <a:blip r:embed="rId4"/>
                <a:stretch>
                  <a:fillRect/>
                </a:stretch>
              </a:blipFill>
            </p:spPr>
            <p:txBody>
              <a:bodyPr/>
              <a:lstStyle/>
              <a:p>
                <a:r>
                  <a:rPr lang="es-ES">
                    <a:noFill/>
                  </a:rPr>
                  <a:t> </a:t>
                </a:r>
              </a:p>
            </p:txBody>
          </p:sp>
        </mc:Fallback>
      </mc:AlternateContent>
      <p:sp>
        <p:nvSpPr>
          <p:cNvPr id="8" name="Rectangle 3">
            <a:extLst>
              <a:ext uri="{FF2B5EF4-FFF2-40B4-BE49-F238E27FC236}">
                <a16:creationId xmlns:a16="http://schemas.microsoft.com/office/drawing/2014/main" id="{94CED720-22E3-465D-ABC2-FE95279DF8A7}"/>
              </a:ext>
            </a:extLst>
          </p:cNvPr>
          <p:cNvSpPr txBox="1">
            <a:spLocks noChangeArrowheads="1"/>
          </p:cNvSpPr>
          <p:nvPr/>
        </p:nvSpPr>
        <p:spPr>
          <a:xfrm>
            <a:off x="529224" y="3373356"/>
            <a:ext cx="8305800" cy="2071867"/>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lvl="1">
              <a:lnSpc>
                <a:spcPct val="100000"/>
              </a:lnSpc>
              <a:buFontTx/>
              <a:buNone/>
            </a:pPr>
            <a:endParaRPr lang="es-ES" dirty="0"/>
          </a:p>
          <a:p>
            <a:pPr lvl="1">
              <a:lnSpc>
                <a:spcPct val="100000"/>
              </a:lnSpc>
              <a:spcBef>
                <a:spcPts val="1200"/>
              </a:spcBef>
            </a:pPr>
            <a:r>
              <a:rPr lang="es-ES" dirty="0"/>
              <a:t>El ancho de banda también suele asociarse al término de </a:t>
            </a:r>
            <a:r>
              <a:rPr lang="es-ES" i="1" dirty="0"/>
              <a:t>productividad del sistema de memoria</a:t>
            </a:r>
          </a:p>
          <a:p>
            <a:pPr lvl="1">
              <a:lnSpc>
                <a:spcPct val="100000"/>
              </a:lnSpc>
              <a:spcBef>
                <a:spcPts val="1200"/>
              </a:spcBef>
            </a:pPr>
            <a:endParaRPr lang="es-ES" i="1" dirty="0"/>
          </a:p>
          <a:p>
            <a:pPr lvl="1">
              <a:lnSpc>
                <a:spcPct val="100000"/>
              </a:lnSpc>
            </a:pPr>
            <a:endParaRPr lang="es-ES" dirty="0"/>
          </a:p>
          <a:p>
            <a:pPr lvl="1">
              <a:lnSpc>
                <a:spcPct val="100000"/>
              </a:lnSpc>
            </a:pPr>
            <a:endParaRPr lang="es-ES" dirty="0"/>
          </a:p>
        </p:txBody>
      </p:sp>
      <p:sp>
        <p:nvSpPr>
          <p:cNvPr id="2" name="2 Marcador de número de diapositiva">
            <a:extLst>
              <a:ext uri="{FF2B5EF4-FFF2-40B4-BE49-F238E27FC236}">
                <a16:creationId xmlns:a16="http://schemas.microsoft.com/office/drawing/2014/main" id="{41DE6BFA-4756-7DC1-677B-6C87D91F1C69}"/>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92</a:t>
            </a:fld>
            <a:endParaRPr lang="en-US" dirty="0"/>
          </a:p>
        </p:txBody>
      </p:sp>
    </p:spTree>
    <p:extLst>
      <p:ext uri="{BB962C8B-B14F-4D97-AF65-F5344CB8AC3E}">
        <p14:creationId xmlns:p14="http://schemas.microsoft.com/office/powerpoint/2010/main" val="26870254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755575" y="228600"/>
            <a:ext cx="8137599" cy="609600"/>
          </a:xfrm>
        </p:spPr>
        <p:txBody>
          <a:bodyPr/>
          <a:lstStyle/>
          <a:p>
            <a:r>
              <a:rPr lang="es-ES" dirty="0"/>
              <a:t>Prestaciones</a:t>
            </a:r>
          </a:p>
        </p:txBody>
      </p:sp>
      <p:sp>
        <p:nvSpPr>
          <p:cNvPr id="2054" name="Rectangle 3"/>
          <p:cNvSpPr>
            <a:spLocks noGrp="1" noChangeArrowheads="1"/>
          </p:cNvSpPr>
          <p:nvPr>
            <p:ph type="body" idx="1"/>
          </p:nvPr>
        </p:nvSpPr>
        <p:spPr>
          <a:xfrm>
            <a:off x="533400" y="981075"/>
            <a:ext cx="8305800" cy="1655837"/>
          </a:xfrm>
        </p:spPr>
        <p:txBody>
          <a:bodyPr/>
          <a:lstStyle/>
          <a:p>
            <a:pPr>
              <a:lnSpc>
                <a:spcPct val="100000"/>
              </a:lnSpc>
            </a:pPr>
            <a:r>
              <a:rPr lang="es-ES" dirty="0"/>
              <a:t>Ancho de banda (</a:t>
            </a:r>
            <a:r>
              <a:rPr lang="es-ES" i="1" dirty="0" err="1"/>
              <a:t>Bandwidth</a:t>
            </a:r>
            <a:r>
              <a:rPr lang="es-ES" i="1" dirty="0"/>
              <a:t>)</a:t>
            </a:r>
          </a:p>
          <a:p>
            <a:pPr lvl="1">
              <a:lnSpc>
                <a:spcPct val="100000"/>
              </a:lnSpc>
            </a:pPr>
            <a:r>
              <a:rPr lang="es-ES" dirty="0"/>
              <a:t>Otra forma alternativa de interpretar el ancho de banda</a:t>
            </a:r>
          </a:p>
          <a:p>
            <a:pPr lvl="1">
              <a:lnSpc>
                <a:spcPct val="100000"/>
              </a:lnSpc>
              <a:buNone/>
            </a:pPr>
            <a:endParaRPr lang="es-ES" dirty="0"/>
          </a:p>
          <a:p>
            <a:pPr lvl="1">
              <a:lnSpc>
                <a:spcPct val="100000"/>
              </a:lnSpc>
            </a:pPr>
            <a:endParaRPr lang="es-ES" dirty="0"/>
          </a:p>
          <a:p>
            <a:pPr lvl="1">
              <a:lnSpc>
                <a:spcPct val="100000"/>
              </a:lnSpc>
              <a:buFontTx/>
              <a:buNone/>
            </a:pPr>
            <a:endParaRPr lang="es-ES" dirty="0"/>
          </a:p>
          <a:p>
            <a:pPr lvl="1">
              <a:lnSpc>
                <a:spcPct val="100000"/>
              </a:lnSpc>
            </a:pPr>
            <a:endParaRPr lang="es-ES" dirty="0"/>
          </a:p>
          <a:p>
            <a:pPr lvl="1">
              <a:lnSpc>
                <a:spcPct val="100000"/>
              </a:lnSpc>
            </a:pPr>
            <a:endParaRPr lang="es-ES" dirty="0"/>
          </a:p>
          <a:p>
            <a:pPr lvl="1">
              <a:lnSpc>
                <a:spcPct val="100000"/>
              </a:lnSpc>
            </a:pPr>
            <a:endParaRPr lang="es-ES" dirty="0"/>
          </a:p>
          <a:p>
            <a:pPr lvl="1">
              <a:lnSpc>
                <a:spcPct val="100000"/>
              </a:lnSpc>
            </a:pPr>
            <a:endParaRPr lang="es-ES" dirty="0"/>
          </a:p>
          <a:p>
            <a:pPr lvl="1">
              <a:lnSpc>
                <a:spcPct val="100000"/>
              </a:lnSpc>
            </a:pPr>
            <a:endParaRPr lang="es-ES" dirty="0"/>
          </a:p>
        </p:txBody>
      </p:sp>
      <p:graphicFrame>
        <p:nvGraphicFramePr>
          <p:cNvPr id="2050" name="Object 18"/>
          <p:cNvGraphicFramePr>
            <a:graphicFrameLocks noChangeAspect="1"/>
          </p:cNvGraphicFramePr>
          <p:nvPr/>
        </p:nvGraphicFramePr>
        <p:xfrm>
          <a:off x="1373188" y="2168525"/>
          <a:ext cx="6702425" cy="336550"/>
        </p:xfrm>
        <a:graphic>
          <a:graphicData uri="http://schemas.openxmlformats.org/presentationml/2006/ole">
            <mc:AlternateContent xmlns:mc="http://schemas.openxmlformats.org/markup-compatibility/2006">
              <mc:Choice xmlns:v="urn:schemas-microsoft-com:vml" Requires="v">
                <p:oleObj name="Ecuación" r:id="rId3" imgW="4038600" imgH="203200" progId="Equation.3">
                  <p:embed/>
                </p:oleObj>
              </mc:Choice>
              <mc:Fallback>
                <p:oleObj name="Ecuación" r:id="rId3" imgW="4038600" imgH="203200" progId="Equation.3">
                  <p:embed/>
                  <p:pic>
                    <p:nvPicPr>
                      <p:cNvPr id="205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188" y="2168525"/>
                        <a:ext cx="6702425" cy="336550"/>
                      </a:xfrm>
                      <a:prstGeom prst="rect">
                        <a:avLst/>
                      </a:prstGeom>
                      <a:solidFill>
                        <a:srgbClr val="FFF1CE"/>
                      </a:solidFill>
                    </p:spPr>
                  </p:pic>
                </p:oleObj>
              </mc:Fallback>
            </mc:AlternateContent>
          </a:graphicData>
        </a:graphic>
      </p:graphicFrame>
      <p:sp>
        <p:nvSpPr>
          <p:cNvPr id="7" name="Rectangle 3">
            <a:extLst>
              <a:ext uri="{FF2B5EF4-FFF2-40B4-BE49-F238E27FC236}">
                <a16:creationId xmlns:a16="http://schemas.microsoft.com/office/drawing/2014/main" id="{FE39D02E-E565-4E4A-9992-51C109BA3A89}"/>
              </a:ext>
            </a:extLst>
          </p:cNvPr>
          <p:cNvSpPr txBox="1">
            <a:spLocks noChangeArrowheads="1"/>
          </p:cNvSpPr>
          <p:nvPr/>
        </p:nvSpPr>
        <p:spPr>
          <a:xfrm>
            <a:off x="549275" y="2336800"/>
            <a:ext cx="8305800" cy="1884289"/>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lvl="1">
              <a:lnSpc>
                <a:spcPct val="100000"/>
              </a:lnSpc>
              <a:buFontTx/>
              <a:buNone/>
            </a:pPr>
            <a:endParaRPr lang="es-ES" dirty="0"/>
          </a:p>
          <a:p>
            <a:pPr lvl="1">
              <a:lnSpc>
                <a:spcPct val="100000"/>
              </a:lnSpc>
            </a:pPr>
            <a:r>
              <a:rPr lang="es-ES" dirty="0"/>
              <a:t>Los bytes transferidos en un ciclo corresponden al tamaño del bus de datos de la memoria</a:t>
            </a:r>
          </a:p>
          <a:p>
            <a:pPr lvl="1">
              <a:lnSpc>
                <a:spcPct val="100000"/>
              </a:lnSpc>
            </a:pPr>
            <a:r>
              <a:rPr lang="es-ES" dirty="0"/>
              <a:t>La frecuencia de transmisión corresponde al inverso del tiempo de ciclo de la memoria</a:t>
            </a:r>
          </a:p>
          <a:p>
            <a:pPr lvl="1">
              <a:lnSpc>
                <a:spcPct val="100000"/>
              </a:lnSpc>
            </a:pPr>
            <a:endParaRPr lang="es-ES" dirty="0"/>
          </a:p>
          <a:p>
            <a:pPr lvl="1">
              <a:lnSpc>
                <a:spcPct val="100000"/>
              </a:lnSpc>
            </a:pPr>
            <a:endParaRPr lang="es-ES" dirty="0"/>
          </a:p>
        </p:txBody>
      </p:sp>
      <mc:AlternateContent xmlns:mc="http://schemas.openxmlformats.org/markup-compatibility/2006" xmlns:a14="http://schemas.microsoft.com/office/drawing/2010/main">
        <mc:Choice Requires="a14">
          <p:sp>
            <p:nvSpPr>
              <p:cNvPr id="8" name="Object 27">
                <a:extLst>
                  <a:ext uri="{FF2B5EF4-FFF2-40B4-BE49-F238E27FC236}">
                    <a16:creationId xmlns:a16="http://schemas.microsoft.com/office/drawing/2014/main" id="{2C02D254-3A0D-4C2B-AF36-9A4E23ADB2F2}"/>
                  </a:ext>
                </a:extLst>
              </p:cNvPr>
              <p:cNvSpPr txBox="1"/>
              <p:nvPr/>
            </p:nvSpPr>
            <p:spPr bwMode="auto">
              <a:xfrm>
                <a:off x="1531938" y="4221163"/>
                <a:ext cx="6308725" cy="936029"/>
              </a:xfrm>
              <a:prstGeom prst="rect">
                <a:avLst/>
              </a:prstGeom>
              <a:solidFill>
                <a:srgbClr val="FFF1CE"/>
              </a:solidFill>
            </p:spPr>
            <p:txBody>
              <a:bodyPr>
                <a:normAutofit/>
              </a:bodyPr>
              <a:lstStyle/>
              <a:p>
                <a:pPr/>
                <a14:m>
                  <m:oMathPara xmlns:m="http://schemas.openxmlformats.org/officeDocument/2006/math">
                    <m:oMathParaPr>
                      <m:jc m:val="centerGroup"/>
                    </m:oMathParaPr>
                    <m:oMath xmlns:m="http://schemas.openxmlformats.org/officeDocument/2006/math">
                      <m:r>
                        <a:rPr lang="es-ES" i="1">
                          <a:solidFill>
                            <a:srgbClr val="000000"/>
                          </a:solidFill>
                          <a:latin typeface="Cambria Math" panose="02040503050406030204" pitchFamily="18" charset="0"/>
                        </a:rPr>
                        <m:t>𝐵</m:t>
                      </m:r>
                      <m:r>
                        <a:rPr lang="es-ES" i="1">
                          <a:solidFill>
                            <a:srgbClr val="000000"/>
                          </a:solidFill>
                          <a:latin typeface="Cambria Math" panose="02040503050406030204" pitchFamily="18" charset="0"/>
                        </a:rPr>
                        <m:t>=</m:t>
                      </m:r>
                      <m:r>
                        <m:rPr>
                          <m:nor/>
                        </m:rPr>
                        <a:rPr lang="es-ES" i="0">
                          <a:solidFill>
                            <a:srgbClr val="000000"/>
                          </a:solidFill>
                          <a:latin typeface="Cambria Math" panose="02040503050406030204" pitchFamily="18" charset="0"/>
                        </a:rPr>
                        <m:t>Tama</m:t>
                      </m:r>
                      <m:r>
                        <m:rPr>
                          <m:nor/>
                        </m:rPr>
                        <a:rPr lang="es-ES" i="0">
                          <a:solidFill>
                            <a:srgbClr val="000000"/>
                          </a:solidFill>
                          <a:latin typeface="Cambria Math" panose="02040503050406030204" pitchFamily="18" charset="0"/>
                        </a:rPr>
                        <m:t>ñ</m:t>
                      </m:r>
                      <m:r>
                        <m:rPr>
                          <m:nor/>
                        </m:rPr>
                        <a:rPr lang="es-ES" i="0">
                          <a:solidFill>
                            <a:srgbClr val="000000"/>
                          </a:solidFill>
                          <a:latin typeface="Cambria Math" panose="02040503050406030204" pitchFamily="18" charset="0"/>
                        </a:rPr>
                        <m:t>o</m:t>
                      </m:r>
                      <m:r>
                        <m:rPr>
                          <m:nor/>
                        </m:rPr>
                        <a:rPr lang="es-ES" i="0">
                          <a:solidFill>
                            <a:srgbClr val="000000"/>
                          </a:solidFill>
                          <a:latin typeface="Cambria Math" panose="02040503050406030204" pitchFamily="18" charset="0"/>
                        </a:rPr>
                        <m:t>_</m:t>
                      </m:r>
                      <m:r>
                        <m:rPr>
                          <m:nor/>
                        </m:rPr>
                        <a:rPr lang="es-ES" i="0">
                          <a:solidFill>
                            <a:srgbClr val="000000"/>
                          </a:solidFill>
                          <a:latin typeface="Cambria Math" panose="02040503050406030204" pitchFamily="18" charset="0"/>
                        </a:rPr>
                        <m:t>bus</m:t>
                      </m:r>
                      <m:r>
                        <m:rPr>
                          <m:nor/>
                        </m:rPr>
                        <a:rPr lang="es-ES" i="0">
                          <a:solidFill>
                            <a:srgbClr val="000000"/>
                          </a:solidFill>
                          <a:latin typeface="Cambria Math" panose="02040503050406030204" pitchFamily="18" charset="0"/>
                        </a:rPr>
                        <m:t>_</m:t>
                      </m:r>
                      <m:r>
                        <m:rPr>
                          <m:nor/>
                        </m:rPr>
                        <a:rPr lang="es-ES" i="0">
                          <a:solidFill>
                            <a:srgbClr val="000000"/>
                          </a:solidFill>
                          <a:latin typeface="Cambria Math" panose="02040503050406030204" pitchFamily="18" charset="0"/>
                        </a:rPr>
                        <m:t>datos</m:t>
                      </m:r>
                      <m:r>
                        <a:rPr lang="es-ES" i="1">
                          <a:solidFill>
                            <a:srgbClr val="000000"/>
                          </a:solidFill>
                          <a:latin typeface="Cambria Math" panose="02040503050406030204" pitchFamily="18" charset="0"/>
                        </a:rPr>
                        <m:t>×</m:t>
                      </m:r>
                      <m:d>
                        <m:dPr>
                          <m:ctrlPr>
                            <a:rPr lang="es-ES" i="1">
                              <a:solidFill>
                                <a:srgbClr val="000000"/>
                              </a:solidFill>
                              <a:latin typeface="Cambria Math" panose="02040503050406030204" pitchFamily="18" charset="0"/>
                            </a:rPr>
                          </m:ctrlPr>
                        </m:dPr>
                        <m:e>
                          <m:f>
                            <m:fPr>
                              <m:ctrlPr>
                                <a:rPr lang="es-ES" i="1">
                                  <a:solidFill>
                                    <a:srgbClr val="000000"/>
                                  </a:solidFill>
                                  <a:latin typeface="Cambria Math" panose="02040503050406030204" pitchFamily="18" charset="0"/>
                                </a:rPr>
                              </m:ctrlPr>
                            </m:fPr>
                            <m:num>
                              <m:r>
                                <a:rPr lang="es-ES" i="1">
                                  <a:solidFill>
                                    <a:srgbClr val="000000"/>
                                  </a:solidFill>
                                  <a:latin typeface="Cambria Math" panose="02040503050406030204" pitchFamily="18" charset="0"/>
                                </a:rPr>
                                <m:t>1</m:t>
                              </m:r>
                            </m:num>
                            <m:den>
                              <m:sSub>
                                <m:sSubPr>
                                  <m:ctrlPr>
                                    <a:rPr lang="es-ES" i="1">
                                      <a:solidFill>
                                        <a:srgbClr val="000000"/>
                                      </a:solidFill>
                                      <a:latin typeface="Cambria Math" panose="02040503050406030204" pitchFamily="18" charset="0"/>
                                    </a:rPr>
                                  </m:ctrlPr>
                                </m:sSubPr>
                                <m:e>
                                  <m:r>
                                    <a:rPr lang="es-ES" i="1">
                                      <a:solidFill>
                                        <a:srgbClr val="000000"/>
                                      </a:solidFill>
                                      <a:latin typeface="Cambria Math" panose="02040503050406030204" pitchFamily="18" charset="0"/>
                                    </a:rPr>
                                    <m:t>𝑇</m:t>
                                  </m:r>
                                </m:e>
                                <m:sub>
                                  <m:r>
                                    <a:rPr lang="es-ES" i="1">
                                      <a:solidFill>
                                        <a:srgbClr val="000000"/>
                                      </a:solidFill>
                                      <a:latin typeface="Cambria Math" panose="02040503050406030204" pitchFamily="18" charset="0"/>
                                    </a:rPr>
                                    <m:t>𝑐𝑖𝑐𝑙𝑜</m:t>
                                  </m:r>
                                </m:sub>
                              </m:sSub>
                            </m:den>
                          </m:f>
                        </m:e>
                      </m:d>
                    </m:oMath>
                  </m:oMathPara>
                </a14:m>
                <a:endParaRPr lang="es-ES" dirty="0"/>
              </a:p>
            </p:txBody>
          </p:sp>
        </mc:Choice>
        <mc:Fallback xmlns="">
          <p:sp>
            <p:nvSpPr>
              <p:cNvPr id="8" name="Object 27">
                <a:extLst>
                  <a:ext uri="{FF2B5EF4-FFF2-40B4-BE49-F238E27FC236}">
                    <a16:creationId xmlns:a16="http://schemas.microsoft.com/office/drawing/2014/main" id="{2C02D254-3A0D-4C2B-AF36-9A4E23ADB2F2}"/>
                  </a:ext>
                </a:extLst>
              </p:cNvPr>
              <p:cNvSpPr txBox="1">
                <a:spLocks noRot="1" noChangeAspect="1" noMove="1" noResize="1" noEditPoints="1" noAdjustHandles="1" noChangeArrowheads="1" noChangeShapeType="1" noTextEdit="1"/>
              </p:cNvSpPr>
              <p:nvPr/>
            </p:nvSpPr>
            <p:spPr bwMode="auto">
              <a:xfrm>
                <a:off x="1531938" y="4221163"/>
                <a:ext cx="6308725" cy="936029"/>
              </a:xfrm>
              <a:prstGeom prst="rect">
                <a:avLst/>
              </a:prstGeom>
              <a:blipFill>
                <a:blip r:embed="rId6"/>
                <a:stretch>
                  <a:fillRect/>
                </a:stretch>
              </a:blipFill>
            </p:spPr>
            <p:txBody>
              <a:bodyPr/>
              <a:lstStyle/>
              <a:p>
                <a:r>
                  <a:rPr lang="es-ES">
                    <a:noFill/>
                  </a:rPr>
                  <a:t> </a:t>
                </a:r>
              </a:p>
            </p:txBody>
          </p:sp>
        </mc:Fallback>
      </mc:AlternateContent>
      <p:sp>
        <p:nvSpPr>
          <p:cNvPr id="2" name="2 Marcador de número de diapositiva">
            <a:extLst>
              <a:ext uri="{FF2B5EF4-FFF2-40B4-BE49-F238E27FC236}">
                <a16:creationId xmlns:a16="http://schemas.microsoft.com/office/drawing/2014/main" id="{F9CEBC9F-A22A-1AAA-EB19-633FC7E3D6B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93</a:t>
            </a:fld>
            <a:endParaRPr lang="en-US" dirty="0"/>
          </a:p>
        </p:txBody>
      </p:sp>
    </p:spTree>
    <p:extLst>
      <p:ext uri="{BB962C8B-B14F-4D97-AF65-F5344CB8AC3E}">
        <p14:creationId xmlns:p14="http://schemas.microsoft.com/office/powerpoint/2010/main" val="15592753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658155" y="228600"/>
            <a:ext cx="8235019" cy="609600"/>
          </a:xfrm>
        </p:spPr>
        <p:txBody>
          <a:bodyPr/>
          <a:lstStyle/>
          <a:p>
            <a:r>
              <a:rPr lang="es-ES" dirty="0"/>
              <a:t>Prestaciones</a:t>
            </a:r>
          </a:p>
        </p:txBody>
      </p:sp>
      <p:graphicFrame>
        <p:nvGraphicFramePr>
          <p:cNvPr id="8" name="Object 27">
            <a:extLst>
              <a:ext uri="{FF2B5EF4-FFF2-40B4-BE49-F238E27FC236}">
                <a16:creationId xmlns:a16="http://schemas.microsoft.com/office/drawing/2014/main" id="{D26292F1-618D-4D9F-8AF4-A9CAA40635F4}"/>
              </a:ext>
            </a:extLst>
          </p:cNvPr>
          <p:cNvGraphicFramePr>
            <a:graphicFrameLocks noChangeAspect="1"/>
          </p:cNvGraphicFramePr>
          <p:nvPr/>
        </p:nvGraphicFramePr>
        <p:xfrm>
          <a:off x="1439863" y="4437112"/>
          <a:ext cx="6308725" cy="1216025"/>
        </p:xfrm>
        <a:graphic>
          <a:graphicData uri="http://schemas.openxmlformats.org/presentationml/2006/ole">
            <mc:AlternateContent xmlns:mc="http://schemas.openxmlformats.org/markup-compatibility/2006">
              <mc:Choice xmlns:v="urn:schemas-microsoft-com:vml" Requires="v">
                <p:oleObj name="Ecuación" r:id="rId3" imgW="3810000" imgH="736600" progId="Equation.3">
                  <p:embed/>
                </p:oleObj>
              </mc:Choice>
              <mc:Fallback>
                <p:oleObj name="Ecuación" r:id="rId3" imgW="3810000" imgH="736600" progId="Equation.3">
                  <p:embed/>
                  <p:pic>
                    <p:nvPicPr>
                      <p:cNvPr id="8" name="Object 27">
                        <a:extLst>
                          <a:ext uri="{FF2B5EF4-FFF2-40B4-BE49-F238E27FC236}">
                            <a16:creationId xmlns:a16="http://schemas.microsoft.com/office/drawing/2014/main" id="{D26292F1-618D-4D9F-8AF4-A9CAA40635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9863" y="4437112"/>
                        <a:ext cx="6308725" cy="1216025"/>
                      </a:xfrm>
                      <a:prstGeom prst="rect">
                        <a:avLst/>
                      </a:prstGeom>
                      <a:solidFill>
                        <a:srgbClr val="FFF1CE"/>
                      </a:solidFill>
                    </p:spPr>
                  </p:pic>
                </p:oleObj>
              </mc:Fallback>
            </mc:AlternateContent>
          </a:graphicData>
        </a:graphic>
      </p:graphicFrame>
      <p:graphicFrame>
        <p:nvGraphicFramePr>
          <p:cNvPr id="11" name="Object 27">
            <a:extLst>
              <a:ext uri="{FF2B5EF4-FFF2-40B4-BE49-F238E27FC236}">
                <a16:creationId xmlns:a16="http://schemas.microsoft.com/office/drawing/2014/main" id="{80B0DDD8-9973-4B35-A59D-27381E6E261E}"/>
              </a:ext>
            </a:extLst>
          </p:cNvPr>
          <p:cNvGraphicFramePr>
            <a:graphicFrameLocks noChangeAspect="1"/>
          </p:cNvGraphicFramePr>
          <p:nvPr/>
        </p:nvGraphicFramePr>
        <p:xfrm>
          <a:off x="2034381" y="2647106"/>
          <a:ext cx="5151437" cy="712787"/>
        </p:xfrm>
        <a:graphic>
          <a:graphicData uri="http://schemas.openxmlformats.org/presentationml/2006/ole">
            <mc:AlternateContent xmlns:mc="http://schemas.openxmlformats.org/markup-compatibility/2006">
              <mc:Choice xmlns:v="urn:schemas-microsoft-com:vml" Requires="v">
                <p:oleObj name="Ecuación" r:id="rId5" imgW="3111500" imgH="431800" progId="Equation.3">
                  <p:embed/>
                </p:oleObj>
              </mc:Choice>
              <mc:Fallback>
                <p:oleObj name="Ecuación" r:id="rId5" imgW="3111500" imgH="431800" progId="Equation.3">
                  <p:embed/>
                  <p:pic>
                    <p:nvPicPr>
                      <p:cNvPr id="11" name="Object 27">
                        <a:extLst>
                          <a:ext uri="{FF2B5EF4-FFF2-40B4-BE49-F238E27FC236}">
                            <a16:creationId xmlns:a16="http://schemas.microsoft.com/office/drawing/2014/main" id="{80B0DDD8-9973-4B35-A59D-27381E6E26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4381" y="2647106"/>
                        <a:ext cx="5151437" cy="712787"/>
                      </a:xfrm>
                      <a:prstGeom prst="rect">
                        <a:avLst/>
                      </a:prstGeom>
                      <a:solidFill>
                        <a:srgbClr val="FFF1CE"/>
                      </a:solidFill>
                    </p:spPr>
                  </p:pic>
                </p:oleObj>
              </mc:Fallback>
            </mc:AlternateContent>
          </a:graphicData>
        </a:graphic>
      </p:graphicFrame>
      <p:sp>
        <p:nvSpPr>
          <p:cNvPr id="12" name="Rectangle 3">
            <a:extLst>
              <a:ext uri="{FF2B5EF4-FFF2-40B4-BE49-F238E27FC236}">
                <a16:creationId xmlns:a16="http://schemas.microsoft.com/office/drawing/2014/main" id="{8DD187CE-E3FD-4E01-8F13-6FD1B58B16E5}"/>
              </a:ext>
            </a:extLst>
          </p:cNvPr>
          <p:cNvSpPr txBox="1">
            <a:spLocks noChangeArrowheads="1"/>
          </p:cNvSpPr>
          <p:nvPr/>
        </p:nvSpPr>
        <p:spPr>
          <a:xfrm>
            <a:off x="587375" y="1196099"/>
            <a:ext cx="8305800" cy="1943869"/>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lvl="1">
              <a:lnSpc>
                <a:spcPct val="100000"/>
              </a:lnSpc>
            </a:pPr>
            <a:r>
              <a:rPr lang="es-ES" dirty="0"/>
              <a:t>El ejemplo con acceso a palabra</a:t>
            </a:r>
          </a:p>
          <a:p>
            <a:pPr lvl="2">
              <a:lnSpc>
                <a:spcPct val="100000"/>
              </a:lnSpc>
            </a:pPr>
            <a:r>
              <a:rPr lang="es-ES" sz="1800" dirty="0"/>
              <a:t>Tiempo de ciclo: 20 </a:t>
            </a:r>
            <a:r>
              <a:rPr lang="es-ES" sz="1800" dirty="0" err="1"/>
              <a:t>ns</a:t>
            </a:r>
            <a:endParaRPr lang="es-ES" sz="1800" dirty="0"/>
          </a:p>
          <a:p>
            <a:pPr lvl="2">
              <a:lnSpc>
                <a:spcPct val="100000"/>
              </a:lnSpc>
            </a:pPr>
            <a:r>
              <a:rPr lang="es-ES" sz="1800" dirty="0"/>
              <a:t>En cada acceso se transmite una palabra de 32 bits</a:t>
            </a:r>
          </a:p>
          <a:p>
            <a:pPr lvl="1">
              <a:lnSpc>
                <a:spcPct val="100000"/>
              </a:lnSpc>
            </a:pPr>
            <a:endParaRPr lang="es-ES" dirty="0"/>
          </a:p>
        </p:txBody>
      </p:sp>
      <p:sp>
        <p:nvSpPr>
          <p:cNvPr id="14" name="Rectangle 3">
            <a:extLst>
              <a:ext uri="{FF2B5EF4-FFF2-40B4-BE49-F238E27FC236}">
                <a16:creationId xmlns:a16="http://schemas.microsoft.com/office/drawing/2014/main" id="{68CF1909-DC7A-4B31-A630-2541295A5E1C}"/>
              </a:ext>
            </a:extLst>
          </p:cNvPr>
          <p:cNvSpPr txBox="1">
            <a:spLocks noChangeArrowheads="1"/>
          </p:cNvSpPr>
          <p:nvPr/>
        </p:nvSpPr>
        <p:spPr>
          <a:xfrm>
            <a:off x="658156" y="3671590"/>
            <a:ext cx="7557230" cy="453824"/>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lvl="1">
              <a:lnSpc>
                <a:spcPct val="100000"/>
              </a:lnSpc>
            </a:pPr>
            <a:r>
              <a:rPr lang="es-ES" dirty="0"/>
              <a:t>También puede solucionarse :</a:t>
            </a:r>
            <a:endParaRPr lang="es-ES" sz="1800" dirty="0"/>
          </a:p>
          <a:p>
            <a:pPr lvl="1">
              <a:lnSpc>
                <a:spcPct val="100000"/>
              </a:lnSpc>
            </a:pPr>
            <a:endParaRPr lang="es-ES" dirty="0"/>
          </a:p>
        </p:txBody>
      </p:sp>
      <p:sp>
        <p:nvSpPr>
          <p:cNvPr id="2" name="2 Marcador de número de diapositiva">
            <a:extLst>
              <a:ext uri="{FF2B5EF4-FFF2-40B4-BE49-F238E27FC236}">
                <a16:creationId xmlns:a16="http://schemas.microsoft.com/office/drawing/2014/main" id="{22E22C79-FBB2-59DA-8EE5-723ABE9A783A}"/>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94</a:t>
            </a:fld>
            <a:endParaRPr lang="en-US" dirty="0"/>
          </a:p>
        </p:txBody>
      </p:sp>
    </p:spTree>
    <p:extLst>
      <p:ext uri="{BB962C8B-B14F-4D97-AF65-F5344CB8AC3E}">
        <p14:creationId xmlns:p14="http://schemas.microsoft.com/office/powerpoint/2010/main" val="8748594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r>
              <a:rPr lang="es-ES" dirty="0"/>
              <a:t>Prestaciones</a:t>
            </a:r>
          </a:p>
        </p:txBody>
      </p:sp>
      <p:sp>
        <p:nvSpPr>
          <p:cNvPr id="3077" name="Rectangle 3"/>
          <p:cNvSpPr>
            <a:spLocks noGrp="1" noChangeArrowheads="1"/>
          </p:cNvSpPr>
          <p:nvPr>
            <p:ph type="body" idx="1"/>
          </p:nvPr>
        </p:nvSpPr>
        <p:spPr>
          <a:xfrm>
            <a:off x="533400" y="981075"/>
            <a:ext cx="8305800" cy="1871663"/>
          </a:xfrm>
        </p:spPr>
        <p:txBody>
          <a:bodyPr/>
          <a:lstStyle/>
          <a:p>
            <a:pPr>
              <a:lnSpc>
                <a:spcPct val="100000"/>
              </a:lnSpc>
            </a:pPr>
            <a:r>
              <a:rPr lang="es-ES" dirty="0"/>
              <a:t>Ancho de banda en el acceso a un bloque</a:t>
            </a:r>
          </a:p>
          <a:p>
            <a:pPr lvl="1">
              <a:lnSpc>
                <a:spcPct val="100000"/>
              </a:lnSpc>
            </a:pPr>
            <a:r>
              <a:rPr lang="es-ES" dirty="0"/>
              <a:t>El tiempo de acceso sería </a:t>
            </a:r>
            <a:r>
              <a:rPr lang="es-ES" i="1" dirty="0" err="1"/>
              <a:t>t</a:t>
            </a:r>
            <a:r>
              <a:rPr lang="es-ES" b="1" i="1" baseline="-25000" dirty="0" err="1"/>
              <a:t>L</a:t>
            </a:r>
            <a:r>
              <a:rPr lang="es-ES" dirty="0"/>
              <a:t>  y cada palabra P bytes.</a:t>
            </a:r>
          </a:p>
          <a:p>
            <a:pPr lvl="1">
              <a:lnSpc>
                <a:spcPct val="100000"/>
              </a:lnSpc>
            </a:pPr>
            <a:r>
              <a:rPr lang="es-ES" dirty="0"/>
              <a:t>El resto de palabras del bloque se transfieren a intervalos de </a:t>
            </a:r>
            <a:r>
              <a:rPr lang="es-ES" i="1" dirty="0" err="1"/>
              <a:t>t</a:t>
            </a:r>
            <a:r>
              <a:rPr lang="es-ES" b="1" i="1" baseline="-25000" dirty="0" err="1"/>
              <a:t>B</a:t>
            </a:r>
            <a:endParaRPr lang="es-ES" b="1" i="1" baseline="-25000" dirty="0"/>
          </a:p>
          <a:p>
            <a:pPr lvl="1">
              <a:lnSpc>
                <a:spcPct val="100000"/>
              </a:lnSpc>
            </a:pPr>
            <a:r>
              <a:rPr lang="es-ES" dirty="0"/>
              <a:t>El ancho de banda se mide a partir de la primera palabra (*)</a:t>
            </a:r>
          </a:p>
        </p:txBody>
      </p:sp>
      <p:grpSp>
        <p:nvGrpSpPr>
          <p:cNvPr id="2" name="Group 27"/>
          <p:cNvGrpSpPr>
            <a:grpSpLocks/>
          </p:cNvGrpSpPr>
          <p:nvPr/>
        </p:nvGrpSpPr>
        <p:grpSpPr bwMode="auto">
          <a:xfrm>
            <a:off x="1042988" y="3357564"/>
            <a:ext cx="6805613" cy="2098676"/>
            <a:chOff x="657" y="2244"/>
            <a:chExt cx="4287" cy="1322"/>
          </a:xfrm>
        </p:grpSpPr>
        <p:sp>
          <p:nvSpPr>
            <p:cNvPr id="3079" name="Line 4"/>
            <p:cNvSpPr>
              <a:spLocks noChangeShapeType="1"/>
            </p:cNvSpPr>
            <p:nvPr/>
          </p:nvSpPr>
          <p:spPr bwMode="auto">
            <a:xfrm>
              <a:off x="1111" y="2920"/>
              <a:ext cx="3175" cy="0"/>
            </a:xfrm>
            <a:prstGeom prst="line">
              <a:avLst/>
            </a:prstGeom>
            <a:noFill/>
            <a:ln w="19050">
              <a:solidFill>
                <a:schemeClr val="tx1"/>
              </a:solidFill>
              <a:round/>
              <a:headEnd/>
              <a:tailEnd type="arrow" w="med" len="med"/>
            </a:ln>
          </p:spPr>
          <p:txBody>
            <a:bodyPr lIns="0" tIns="0" rIns="0" bIns="0" anchor="ctr"/>
            <a:lstStyle/>
            <a:p>
              <a:endParaRPr lang="es-ES"/>
            </a:p>
          </p:txBody>
        </p:sp>
        <p:sp>
          <p:nvSpPr>
            <p:cNvPr id="3080" name="Text Box 5"/>
            <p:cNvSpPr txBox="1">
              <a:spLocks noChangeArrowheads="1"/>
            </p:cNvSpPr>
            <p:nvPr/>
          </p:nvSpPr>
          <p:spPr bwMode="auto">
            <a:xfrm>
              <a:off x="4464" y="2784"/>
              <a:ext cx="480" cy="192"/>
            </a:xfrm>
            <a:prstGeom prst="rect">
              <a:avLst/>
            </a:prstGeom>
            <a:noFill/>
            <a:ln w="19050">
              <a:noFill/>
              <a:miter lim="800000"/>
              <a:headEnd/>
              <a:tailEnd/>
            </a:ln>
          </p:spPr>
          <p:txBody>
            <a:bodyPr wrap="none" lIns="0" tIns="0" rIns="0" bIns="0">
              <a:spAutoFit/>
            </a:bodyPr>
            <a:lstStyle/>
            <a:p>
              <a:r>
                <a:rPr lang="es-ES"/>
                <a:t>tiempo</a:t>
              </a:r>
            </a:p>
          </p:txBody>
        </p:sp>
        <p:sp>
          <p:nvSpPr>
            <p:cNvPr id="3081" name="Line 6"/>
            <p:cNvSpPr>
              <a:spLocks noChangeShapeType="1"/>
            </p:cNvSpPr>
            <p:nvPr/>
          </p:nvSpPr>
          <p:spPr bwMode="auto">
            <a:xfrm>
              <a:off x="1020" y="2607"/>
              <a:ext cx="454" cy="272"/>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3082" name="Text Box 7"/>
            <p:cNvSpPr txBox="1">
              <a:spLocks noChangeArrowheads="1"/>
            </p:cNvSpPr>
            <p:nvPr/>
          </p:nvSpPr>
          <p:spPr bwMode="auto">
            <a:xfrm>
              <a:off x="657" y="2244"/>
              <a:ext cx="792" cy="349"/>
            </a:xfrm>
            <a:prstGeom prst="rect">
              <a:avLst/>
            </a:prstGeom>
            <a:noFill/>
            <a:ln w="19050">
              <a:noFill/>
              <a:miter lim="800000"/>
              <a:headEnd/>
              <a:tailEnd/>
            </a:ln>
          </p:spPr>
          <p:txBody>
            <a:bodyPr wrap="none" lIns="0" tIns="0" rIns="0" bIns="0">
              <a:spAutoFit/>
            </a:bodyPr>
            <a:lstStyle/>
            <a:p>
              <a:r>
                <a:rPr lang="es-ES" sz="1800" dirty="0"/>
                <a:t>Comienza</a:t>
              </a:r>
              <a:br>
                <a:rPr lang="es-ES" sz="1800" dirty="0"/>
              </a:br>
              <a:r>
                <a:rPr lang="es-ES" sz="1800" dirty="0"/>
                <a:t>la operación</a:t>
              </a:r>
            </a:p>
          </p:txBody>
        </p:sp>
        <p:sp>
          <p:nvSpPr>
            <p:cNvPr id="3083" name="Line 8"/>
            <p:cNvSpPr>
              <a:spLocks noChangeShapeType="1"/>
            </p:cNvSpPr>
            <p:nvPr/>
          </p:nvSpPr>
          <p:spPr bwMode="auto">
            <a:xfrm>
              <a:off x="1519" y="2931"/>
              <a:ext cx="817" cy="0"/>
            </a:xfrm>
            <a:prstGeom prst="line">
              <a:avLst/>
            </a:prstGeom>
            <a:noFill/>
            <a:ln w="38100">
              <a:solidFill>
                <a:srgbClr val="66FF33"/>
              </a:solidFill>
              <a:round/>
              <a:headEnd type="diamond" w="med" len="med"/>
              <a:tailEnd type="diamond" w="med" len="med"/>
            </a:ln>
          </p:spPr>
          <p:txBody>
            <a:bodyPr lIns="0" tIns="0" rIns="0" bIns="0" anchor="ctr"/>
            <a:lstStyle/>
            <a:p>
              <a:endParaRPr lang="es-ES"/>
            </a:p>
          </p:txBody>
        </p:sp>
        <p:sp>
          <p:nvSpPr>
            <p:cNvPr id="3084" name="Rectangle 9"/>
            <p:cNvSpPr>
              <a:spLocks noChangeArrowheads="1"/>
            </p:cNvSpPr>
            <p:nvPr/>
          </p:nvSpPr>
          <p:spPr bwMode="auto">
            <a:xfrm>
              <a:off x="1836" y="2966"/>
              <a:ext cx="110" cy="194"/>
            </a:xfrm>
            <a:prstGeom prst="rect">
              <a:avLst/>
            </a:prstGeom>
            <a:noFill/>
            <a:ln w="19050">
              <a:noFill/>
              <a:miter lim="800000"/>
              <a:headEnd/>
              <a:tailEnd/>
            </a:ln>
          </p:spPr>
          <p:txBody>
            <a:bodyPr wrap="none" lIns="0" tIns="0" rIns="0" bIns="0">
              <a:spAutoFit/>
            </a:bodyPr>
            <a:lstStyle/>
            <a:p>
              <a:r>
                <a:rPr lang="es-ES" i="1"/>
                <a:t>t</a:t>
              </a:r>
              <a:r>
                <a:rPr lang="es-ES" b="1" i="1" baseline="-25000"/>
                <a:t>L</a:t>
              </a:r>
            </a:p>
          </p:txBody>
        </p:sp>
        <p:sp>
          <p:nvSpPr>
            <p:cNvPr id="3085" name="Line 10"/>
            <p:cNvSpPr>
              <a:spLocks noChangeShapeType="1"/>
            </p:cNvSpPr>
            <p:nvPr/>
          </p:nvSpPr>
          <p:spPr bwMode="auto">
            <a:xfrm>
              <a:off x="2336" y="2931"/>
              <a:ext cx="0" cy="272"/>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3086" name="Text Box 11"/>
            <p:cNvSpPr txBox="1">
              <a:spLocks noChangeArrowheads="1"/>
            </p:cNvSpPr>
            <p:nvPr/>
          </p:nvSpPr>
          <p:spPr bwMode="auto">
            <a:xfrm>
              <a:off x="1946" y="3193"/>
              <a:ext cx="707" cy="155"/>
            </a:xfrm>
            <a:prstGeom prst="rect">
              <a:avLst/>
            </a:prstGeom>
            <a:noFill/>
            <a:ln w="19050">
              <a:noFill/>
              <a:miter lim="800000"/>
              <a:headEnd/>
              <a:tailEnd/>
            </a:ln>
          </p:spPr>
          <p:txBody>
            <a:bodyPr wrap="square" lIns="0" tIns="0" rIns="0" bIns="0">
              <a:spAutoFit/>
            </a:bodyPr>
            <a:lstStyle/>
            <a:p>
              <a:r>
                <a:rPr lang="es-ES" sz="1600" dirty="0"/>
                <a:t>palabra 1</a:t>
              </a:r>
            </a:p>
          </p:txBody>
        </p:sp>
        <p:sp>
          <p:nvSpPr>
            <p:cNvPr id="3087" name="Line 12"/>
            <p:cNvSpPr>
              <a:spLocks noChangeShapeType="1"/>
            </p:cNvSpPr>
            <p:nvPr/>
          </p:nvSpPr>
          <p:spPr bwMode="auto">
            <a:xfrm>
              <a:off x="2336" y="2931"/>
              <a:ext cx="408" cy="0"/>
            </a:xfrm>
            <a:prstGeom prst="line">
              <a:avLst/>
            </a:prstGeom>
            <a:noFill/>
            <a:ln w="38100">
              <a:solidFill>
                <a:srgbClr val="66FF33"/>
              </a:solidFill>
              <a:round/>
              <a:headEnd type="diamond" w="med" len="med"/>
              <a:tailEnd type="diamond" w="med" len="med"/>
            </a:ln>
          </p:spPr>
          <p:txBody>
            <a:bodyPr lIns="0" tIns="0" rIns="0" bIns="0" anchor="ctr"/>
            <a:lstStyle/>
            <a:p>
              <a:endParaRPr lang="es-ES"/>
            </a:p>
          </p:txBody>
        </p:sp>
        <p:sp>
          <p:nvSpPr>
            <p:cNvPr id="3088" name="Line 13"/>
            <p:cNvSpPr>
              <a:spLocks noChangeShapeType="1"/>
            </p:cNvSpPr>
            <p:nvPr/>
          </p:nvSpPr>
          <p:spPr bwMode="auto">
            <a:xfrm>
              <a:off x="2744" y="2931"/>
              <a:ext cx="0" cy="635"/>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3090" name="Line 15"/>
            <p:cNvSpPr>
              <a:spLocks noChangeShapeType="1"/>
            </p:cNvSpPr>
            <p:nvPr/>
          </p:nvSpPr>
          <p:spPr bwMode="auto">
            <a:xfrm>
              <a:off x="3152" y="2931"/>
              <a:ext cx="0" cy="272"/>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3092" name="Line 17"/>
            <p:cNvSpPr>
              <a:spLocks noChangeShapeType="1"/>
            </p:cNvSpPr>
            <p:nvPr/>
          </p:nvSpPr>
          <p:spPr bwMode="auto">
            <a:xfrm>
              <a:off x="3151" y="2931"/>
              <a:ext cx="409" cy="0"/>
            </a:xfrm>
            <a:prstGeom prst="line">
              <a:avLst/>
            </a:prstGeom>
            <a:noFill/>
            <a:ln w="38100">
              <a:solidFill>
                <a:srgbClr val="66FF33"/>
              </a:solidFill>
              <a:round/>
              <a:headEnd type="diamond" w="med" len="med"/>
              <a:tailEnd type="diamond" w="med" len="med"/>
            </a:ln>
          </p:spPr>
          <p:txBody>
            <a:bodyPr lIns="0" tIns="0" rIns="0" bIns="0" anchor="ctr"/>
            <a:lstStyle/>
            <a:p>
              <a:endParaRPr lang="es-ES"/>
            </a:p>
          </p:txBody>
        </p:sp>
        <p:sp>
          <p:nvSpPr>
            <p:cNvPr id="3093" name="Line 18"/>
            <p:cNvSpPr>
              <a:spLocks noChangeShapeType="1"/>
            </p:cNvSpPr>
            <p:nvPr/>
          </p:nvSpPr>
          <p:spPr bwMode="auto">
            <a:xfrm>
              <a:off x="3560" y="2931"/>
              <a:ext cx="0" cy="635"/>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3095" name="Line 20"/>
            <p:cNvSpPr>
              <a:spLocks noChangeShapeType="1"/>
            </p:cNvSpPr>
            <p:nvPr/>
          </p:nvSpPr>
          <p:spPr bwMode="auto">
            <a:xfrm>
              <a:off x="2744" y="2931"/>
              <a:ext cx="408" cy="0"/>
            </a:xfrm>
            <a:prstGeom prst="line">
              <a:avLst/>
            </a:prstGeom>
            <a:noFill/>
            <a:ln w="38100">
              <a:solidFill>
                <a:srgbClr val="66FF33"/>
              </a:solidFill>
              <a:round/>
              <a:headEnd type="diamond" w="med" len="med"/>
              <a:tailEnd type="diamond" w="med" len="med"/>
            </a:ln>
          </p:spPr>
          <p:txBody>
            <a:bodyPr lIns="0" tIns="0" rIns="0" bIns="0" anchor="ctr"/>
            <a:lstStyle/>
            <a:p>
              <a:endParaRPr lang="es-ES"/>
            </a:p>
          </p:txBody>
        </p:sp>
        <p:sp>
          <p:nvSpPr>
            <p:cNvPr id="3096" name="Rectangle 21"/>
            <p:cNvSpPr>
              <a:spLocks noChangeArrowheads="1"/>
            </p:cNvSpPr>
            <p:nvPr/>
          </p:nvSpPr>
          <p:spPr bwMode="auto">
            <a:xfrm>
              <a:off x="2465" y="2976"/>
              <a:ext cx="122" cy="194"/>
            </a:xfrm>
            <a:prstGeom prst="rect">
              <a:avLst/>
            </a:prstGeom>
            <a:noFill/>
            <a:ln w="19050">
              <a:noFill/>
              <a:miter lim="800000"/>
              <a:headEnd/>
              <a:tailEnd/>
            </a:ln>
          </p:spPr>
          <p:txBody>
            <a:bodyPr wrap="none" lIns="0" tIns="0" rIns="0" bIns="0">
              <a:spAutoFit/>
            </a:bodyPr>
            <a:lstStyle/>
            <a:p>
              <a:r>
                <a:rPr lang="es-ES" i="1"/>
                <a:t>t</a:t>
              </a:r>
              <a:r>
                <a:rPr lang="es-ES" b="1" i="1" baseline="-25000"/>
                <a:t>B</a:t>
              </a:r>
            </a:p>
          </p:txBody>
        </p:sp>
        <p:sp>
          <p:nvSpPr>
            <p:cNvPr id="3097" name="Rectangle 22"/>
            <p:cNvSpPr>
              <a:spLocks noChangeArrowheads="1"/>
            </p:cNvSpPr>
            <p:nvPr/>
          </p:nvSpPr>
          <p:spPr bwMode="auto">
            <a:xfrm>
              <a:off x="2878" y="2976"/>
              <a:ext cx="122" cy="194"/>
            </a:xfrm>
            <a:prstGeom prst="rect">
              <a:avLst/>
            </a:prstGeom>
            <a:noFill/>
            <a:ln w="19050">
              <a:noFill/>
              <a:miter lim="800000"/>
              <a:headEnd/>
              <a:tailEnd/>
            </a:ln>
          </p:spPr>
          <p:txBody>
            <a:bodyPr wrap="none" lIns="0" tIns="0" rIns="0" bIns="0">
              <a:spAutoFit/>
            </a:bodyPr>
            <a:lstStyle/>
            <a:p>
              <a:r>
                <a:rPr lang="es-ES" i="1"/>
                <a:t>t</a:t>
              </a:r>
              <a:r>
                <a:rPr lang="es-ES" b="1" i="1" baseline="-25000"/>
                <a:t>B</a:t>
              </a:r>
            </a:p>
          </p:txBody>
        </p:sp>
        <p:sp>
          <p:nvSpPr>
            <p:cNvPr id="3098" name="Rectangle 23"/>
            <p:cNvSpPr>
              <a:spLocks noChangeArrowheads="1"/>
            </p:cNvSpPr>
            <p:nvPr/>
          </p:nvSpPr>
          <p:spPr bwMode="auto">
            <a:xfrm>
              <a:off x="3286" y="2976"/>
              <a:ext cx="122" cy="194"/>
            </a:xfrm>
            <a:prstGeom prst="rect">
              <a:avLst/>
            </a:prstGeom>
            <a:noFill/>
            <a:ln w="19050">
              <a:noFill/>
              <a:miter lim="800000"/>
              <a:headEnd/>
              <a:tailEnd/>
            </a:ln>
          </p:spPr>
          <p:txBody>
            <a:bodyPr wrap="none" lIns="0" tIns="0" rIns="0" bIns="0">
              <a:spAutoFit/>
            </a:bodyPr>
            <a:lstStyle/>
            <a:p>
              <a:r>
                <a:rPr lang="es-ES" i="1"/>
                <a:t>t</a:t>
              </a:r>
              <a:r>
                <a:rPr lang="es-ES" b="1" i="1" baseline="-25000"/>
                <a:t>B</a:t>
              </a:r>
            </a:p>
          </p:txBody>
        </p:sp>
        <p:sp>
          <p:nvSpPr>
            <p:cNvPr id="3099" name="Line 24"/>
            <p:cNvSpPr>
              <a:spLocks noChangeShapeType="1"/>
            </p:cNvSpPr>
            <p:nvPr/>
          </p:nvSpPr>
          <p:spPr bwMode="auto">
            <a:xfrm flipH="1">
              <a:off x="3560" y="2697"/>
              <a:ext cx="499" cy="143"/>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3100" name="Text Box 25"/>
            <p:cNvSpPr txBox="1">
              <a:spLocks noChangeArrowheads="1"/>
            </p:cNvSpPr>
            <p:nvPr/>
          </p:nvSpPr>
          <p:spPr bwMode="auto">
            <a:xfrm>
              <a:off x="3787" y="2334"/>
              <a:ext cx="549" cy="349"/>
            </a:xfrm>
            <a:prstGeom prst="rect">
              <a:avLst/>
            </a:prstGeom>
            <a:noFill/>
            <a:ln w="19050">
              <a:noFill/>
              <a:miter lim="800000"/>
              <a:headEnd/>
              <a:tailEnd/>
            </a:ln>
          </p:spPr>
          <p:txBody>
            <a:bodyPr wrap="none" lIns="0" tIns="0" rIns="0" bIns="0">
              <a:spAutoFit/>
            </a:bodyPr>
            <a:lstStyle/>
            <a:p>
              <a:r>
                <a:rPr lang="es-ES" sz="1800" dirty="0"/>
                <a:t>Final del</a:t>
              </a:r>
              <a:br>
                <a:rPr lang="es-ES" sz="1800" dirty="0"/>
              </a:br>
              <a:r>
                <a:rPr lang="es-ES" sz="1800" dirty="0"/>
                <a:t>bloque</a:t>
              </a:r>
            </a:p>
          </p:txBody>
        </p:sp>
      </p:grpSp>
      <p:graphicFrame>
        <p:nvGraphicFramePr>
          <p:cNvPr id="3074" name="Object 26"/>
          <p:cNvGraphicFramePr>
            <a:graphicFrameLocks noChangeAspect="1"/>
          </p:cNvGraphicFramePr>
          <p:nvPr/>
        </p:nvGraphicFramePr>
        <p:xfrm>
          <a:off x="3346450" y="2914650"/>
          <a:ext cx="1581150" cy="715963"/>
        </p:xfrm>
        <a:graphic>
          <a:graphicData uri="http://schemas.openxmlformats.org/presentationml/2006/ole">
            <mc:AlternateContent xmlns:mc="http://schemas.openxmlformats.org/markup-compatibility/2006">
              <mc:Choice xmlns:v="urn:schemas-microsoft-com:vml" Requires="v">
                <p:oleObj name="Ecuación" r:id="rId3" imgW="952087" imgH="431613" progId="Equation.3">
                  <p:embed/>
                </p:oleObj>
              </mc:Choice>
              <mc:Fallback>
                <p:oleObj name="Ecuación" r:id="rId3" imgW="952087" imgH="431613" progId="Equation.3">
                  <p:embed/>
                  <p:pic>
                    <p:nvPicPr>
                      <p:cNvPr id="3074"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6450" y="2914650"/>
                        <a:ext cx="1581150" cy="715963"/>
                      </a:xfrm>
                      <a:prstGeom prst="rect">
                        <a:avLst/>
                      </a:prstGeom>
                      <a:solidFill>
                        <a:srgbClr val="CCFFCC"/>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9" name="28 CuadroTexto"/>
          <p:cNvSpPr txBox="1"/>
          <p:nvPr/>
        </p:nvSpPr>
        <p:spPr>
          <a:xfrm>
            <a:off x="851815" y="5870503"/>
            <a:ext cx="7821372" cy="929485"/>
          </a:xfrm>
          <a:prstGeom prst="rect">
            <a:avLst/>
          </a:prstGeom>
          <a:noFill/>
        </p:spPr>
        <p:txBody>
          <a:bodyPr wrap="none" rtlCol="0">
            <a:spAutoFit/>
          </a:bodyPr>
          <a:lstStyle/>
          <a:p>
            <a:pPr algn="l"/>
            <a:r>
              <a:rPr lang="es-ES" sz="1600" dirty="0">
                <a:solidFill>
                  <a:srgbClr val="FF0000"/>
                </a:solidFill>
              </a:rPr>
              <a:t>(*) Se asume que es posible concatenar  el acceso a sucesivos bloques </a:t>
            </a:r>
          </a:p>
          <a:p>
            <a:pPr algn="l"/>
            <a:r>
              <a:rPr lang="es-ES" sz="1600" dirty="0">
                <a:solidFill>
                  <a:srgbClr val="FF0000"/>
                </a:solidFill>
              </a:rPr>
              <a:t>     solapando el final del bloque actual con el tiempo de acceso del bloque siguiente</a:t>
            </a:r>
          </a:p>
          <a:p>
            <a:pPr algn="l"/>
            <a:endParaRPr lang="es-ES" sz="1600" dirty="0">
              <a:solidFill>
                <a:srgbClr val="FF0000"/>
              </a:solidFill>
            </a:endParaRPr>
          </a:p>
        </p:txBody>
      </p:sp>
      <p:sp>
        <p:nvSpPr>
          <p:cNvPr id="30" name="Text Box 11"/>
          <p:cNvSpPr txBox="1">
            <a:spLocks noChangeArrowheads="1"/>
          </p:cNvSpPr>
          <p:nvPr/>
        </p:nvSpPr>
        <p:spPr bwMode="auto">
          <a:xfrm>
            <a:off x="3794919" y="5470319"/>
            <a:ext cx="1122363" cy="246063"/>
          </a:xfrm>
          <a:prstGeom prst="rect">
            <a:avLst/>
          </a:prstGeom>
          <a:noFill/>
          <a:ln w="19050">
            <a:noFill/>
            <a:miter lim="800000"/>
            <a:headEnd/>
            <a:tailEnd/>
          </a:ln>
        </p:spPr>
        <p:txBody>
          <a:bodyPr wrap="square" lIns="0" tIns="0" rIns="0" bIns="0">
            <a:spAutoFit/>
          </a:bodyPr>
          <a:lstStyle/>
          <a:p>
            <a:r>
              <a:rPr lang="es-ES" sz="1600" dirty="0"/>
              <a:t>palabra 2</a:t>
            </a:r>
          </a:p>
        </p:txBody>
      </p:sp>
      <p:sp>
        <p:nvSpPr>
          <p:cNvPr id="31" name="Text Box 11"/>
          <p:cNvSpPr txBox="1">
            <a:spLocks noChangeArrowheads="1"/>
          </p:cNvSpPr>
          <p:nvPr/>
        </p:nvSpPr>
        <p:spPr bwMode="auto">
          <a:xfrm>
            <a:off x="4442619" y="4922839"/>
            <a:ext cx="1122363" cy="246063"/>
          </a:xfrm>
          <a:prstGeom prst="rect">
            <a:avLst/>
          </a:prstGeom>
          <a:noFill/>
          <a:ln w="19050">
            <a:noFill/>
            <a:miter lim="800000"/>
            <a:headEnd/>
            <a:tailEnd/>
          </a:ln>
        </p:spPr>
        <p:txBody>
          <a:bodyPr wrap="square" lIns="0" tIns="0" rIns="0" bIns="0">
            <a:spAutoFit/>
          </a:bodyPr>
          <a:lstStyle/>
          <a:p>
            <a:r>
              <a:rPr lang="es-ES" sz="1600" dirty="0"/>
              <a:t>palabra 3</a:t>
            </a:r>
          </a:p>
        </p:txBody>
      </p:sp>
      <p:sp>
        <p:nvSpPr>
          <p:cNvPr id="32" name="Text Box 11"/>
          <p:cNvSpPr txBox="1">
            <a:spLocks noChangeArrowheads="1"/>
          </p:cNvSpPr>
          <p:nvPr/>
        </p:nvSpPr>
        <p:spPr bwMode="auto">
          <a:xfrm>
            <a:off x="5090319" y="5462142"/>
            <a:ext cx="1122363" cy="246063"/>
          </a:xfrm>
          <a:prstGeom prst="rect">
            <a:avLst/>
          </a:prstGeom>
          <a:noFill/>
          <a:ln w="19050">
            <a:noFill/>
            <a:miter lim="800000"/>
            <a:headEnd/>
            <a:tailEnd/>
          </a:ln>
        </p:spPr>
        <p:txBody>
          <a:bodyPr wrap="square" lIns="0" tIns="0" rIns="0" bIns="0">
            <a:spAutoFit/>
          </a:bodyPr>
          <a:lstStyle/>
          <a:p>
            <a:r>
              <a:rPr lang="es-ES" sz="1600" dirty="0"/>
              <a:t>palabra 4</a:t>
            </a:r>
          </a:p>
        </p:txBody>
      </p:sp>
      <p:sp>
        <p:nvSpPr>
          <p:cNvPr id="3" name="2 Marcador de número de diapositiva">
            <a:extLst>
              <a:ext uri="{FF2B5EF4-FFF2-40B4-BE49-F238E27FC236}">
                <a16:creationId xmlns:a16="http://schemas.microsoft.com/office/drawing/2014/main" id="{751012F4-C9F2-A226-17EE-D501E1A2850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95</a:t>
            </a:fld>
            <a:endParaRPr lang="en-US" dirty="0"/>
          </a:p>
        </p:txBody>
      </p:sp>
    </p:spTree>
    <p:extLst>
      <p:ext uri="{BB962C8B-B14F-4D97-AF65-F5344CB8AC3E}">
        <p14:creationId xmlns:p14="http://schemas.microsoft.com/office/powerpoint/2010/main" val="103718640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Cálculo del ancho de banda</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96</a:t>
            </a:fld>
            <a:endParaRPr lang="en-US" dirty="0"/>
          </a:p>
        </p:txBody>
      </p:sp>
      <p:grpSp>
        <p:nvGrpSpPr>
          <p:cNvPr id="6" name="Group 84"/>
          <p:cNvGrpSpPr>
            <a:grpSpLocks/>
          </p:cNvGrpSpPr>
          <p:nvPr/>
        </p:nvGrpSpPr>
        <p:grpSpPr bwMode="auto">
          <a:xfrm>
            <a:off x="4355167" y="3485626"/>
            <a:ext cx="354264" cy="213033"/>
            <a:chOff x="3408" y="2304"/>
            <a:chExt cx="384" cy="181"/>
          </a:xfrm>
        </p:grpSpPr>
        <p:sp>
          <p:nvSpPr>
            <p:cNvPr id="12" name="Freeform 77"/>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3" name="Text Box 78"/>
            <p:cNvSpPr txBox="1">
              <a:spLocks noChangeArrowheads="1"/>
            </p:cNvSpPr>
            <p:nvPr/>
          </p:nvSpPr>
          <p:spPr bwMode="blackWhite">
            <a:xfrm>
              <a:off x="3408"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grpSp>
        <p:nvGrpSpPr>
          <p:cNvPr id="7" name="Group 83"/>
          <p:cNvGrpSpPr>
            <a:grpSpLocks/>
          </p:cNvGrpSpPr>
          <p:nvPr/>
        </p:nvGrpSpPr>
        <p:grpSpPr bwMode="auto">
          <a:xfrm>
            <a:off x="4788344" y="3485625"/>
            <a:ext cx="354264" cy="213033"/>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60" name="Freeform 24"/>
          <p:cNvSpPr>
            <a:spLocks/>
          </p:cNvSpPr>
          <p:nvPr/>
        </p:nvSpPr>
        <p:spPr bwMode="blackWhite">
          <a:xfrm>
            <a:off x="4306151" y="2171773"/>
            <a:ext cx="428160" cy="216016"/>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sp>
        <p:nvSpPr>
          <p:cNvPr id="42" name="Line 11"/>
          <p:cNvSpPr>
            <a:spLocks noChangeShapeType="1"/>
          </p:cNvSpPr>
          <p:nvPr/>
        </p:nvSpPr>
        <p:spPr bwMode="auto">
          <a:xfrm>
            <a:off x="1706200" y="4357973"/>
            <a:ext cx="2572837"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4" name="Rectangle 10"/>
          <p:cNvSpPr>
            <a:spLocks noChangeArrowheads="1"/>
          </p:cNvSpPr>
          <p:nvPr/>
        </p:nvSpPr>
        <p:spPr bwMode="auto">
          <a:xfrm>
            <a:off x="1968452" y="3851387"/>
            <a:ext cx="501739"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RAS</a:t>
            </a:r>
            <a:endParaRPr lang="es-ES_tradnl" sz="2400" b="1" baseline="-25000" dirty="0"/>
          </a:p>
        </p:txBody>
      </p:sp>
      <p:sp>
        <p:nvSpPr>
          <p:cNvPr id="52" name="Rectangle 10"/>
          <p:cNvSpPr>
            <a:spLocks noChangeArrowheads="1"/>
          </p:cNvSpPr>
          <p:nvPr/>
        </p:nvSpPr>
        <p:spPr bwMode="auto">
          <a:xfrm>
            <a:off x="4842719" y="2531869"/>
            <a:ext cx="307777"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RP</a:t>
            </a:r>
            <a:endParaRPr lang="es-ES_tradnl" baseline="-25000" dirty="0"/>
          </a:p>
        </p:txBody>
      </p:sp>
      <p:sp>
        <p:nvSpPr>
          <p:cNvPr id="53" name="Line 11"/>
          <p:cNvSpPr>
            <a:spLocks noChangeShapeType="1"/>
          </p:cNvSpPr>
          <p:nvPr/>
        </p:nvSpPr>
        <p:spPr bwMode="auto">
          <a:xfrm flipV="1">
            <a:off x="4348537" y="2970178"/>
            <a:ext cx="850428" cy="4283"/>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54" name="Line 11"/>
          <p:cNvSpPr>
            <a:spLocks noChangeShapeType="1"/>
          </p:cNvSpPr>
          <p:nvPr/>
        </p:nvSpPr>
        <p:spPr bwMode="auto">
          <a:xfrm>
            <a:off x="1668143" y="1916832"/>
            <a:ext cx="3480864" cy="3114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55" name="Rectangle 10"/>
          <p:cNvSpPr>
            <a:spLocks noChangeArrowheads="1"/>
          </p:cNvSpPr>
          <p:nvPr/>
        </p:nvSpPr>
        <p:spPr bwMode="auto">
          <a:xfrm>
            <a:off x="5073325" y="1251745"/>
            <a:ext cx="365485" cy="307777"/>
          </a:xfrm>
          <a:prstGeom prst="rect">
            <a:avLst/>
          </a:prstGeom>
          <a:noFill/>
          <a:ln w="19050">
            <a:noFill/>
            <a:miter lim="800000"/>
            <a:headEnd/>
            <a:tailEnd/>
          </a:ln>
        </p:spPr>
        <p:txBody>
          <a:bodyPr wrap="none" lIns="0" tIns="0" rIns="0" bIns="0" anchor="ctr">
            <a:spAutoFit/>
          </a:bodyPr>
          <a:lstStyle/>
          <a:p>
            <a:r>
              <a:rPr lang="es-ES" dirty="0" err="1"/>
              <a:t>t</a:t>
            </a:r>
            <a:r>
              <a:rPr lang="es-ES" sz="2400" b="1" baseline="-25000" dirty="0" err="1"/>
              <a:t>RC</a:t>
            </a:r>
            <a:endParaRPr lang="es-ES_tradnl" sz="2400" b="1" baseline="-25000" dirty="0"/>
          </a:p>
        </p:txBody>
      </p:sp>
      <p:sp>
        <p:nvSpPr>
          <p:cNvPr id="63" name="Text Box 125"/>
          <p:cNvSpPr txBox="1">
            <a:spLocks noChangeArrowheads="1"/>
          </p:cNvSpPr>
          <p:nvPr/>
        </p:nvSpPr>
        <p:spPr bwMode="auto">
          <a:xfrm>
            <a:off x="1403648" y="1380505"/>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304800" y="4725144"/>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dirty="0">
                <a:latin typeface="+mn-lt"/>
                <a:ea typeface="+mn-ea"/>
              </a:rPr>
              <a:t>El tiempo de acceso:  T</a:t>
            </a:r>
            <a:r>
              <a:rPr lang="es-ES" baseline="-25000" dirty="0">
                <a:latin typeface="+mn-lt"/>
                <a:ea typeface="+mn-ea"/>
              </a:rPr>
              <a:t>L</a:t>
            </a:r>
            <a:r>
              <a:rPr lang="es-ES" dirty="0">
                <a:latin typeface="+mn-lt"/>
                <a:ea typeface="+mn-ea"/>
              </a:rPr>
              <a:t> =T</a:t>
            </a:r>
            <a:r>
              <a:rPr lang="es-ES" baseline="-25000" dirty="0">
                <a:latin typeface="+mn-lt"/>
                <a:ea typeface="+mn-ea"/>
              </a:rPr>
              <a:t>RCD</a:t>
            </a:r>
            <a:r>
              <a:rPr lang="es-ES" dirty="0">
                <a:latin typeface="+mn-lt"/>
                <a:ea typeface="+mn-ea"/>
              </a:rPr>
              <a:t>+T</a:t>
            </a:r>
            <a:r>
              <a:rPr lang="es-ES" baseline="-25000" dirty="0">
                <a:latin typeface="+mn-lt"/>
                <a:ea typeface="+mn-ea"/>
              </a:rPr>
              <a:t>CL</a:t>
            </a:r>
            <a:endParaRPr lang="es-ES" dirty="0">
              <a:latin typeface="+mn-lt"/>
              <a:ea typeface="+mn-ea"/>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kumimoji="0" lang="es-ES" altLang="ja-JP" sz="2000" b="0" u="none" strike="noStrike" kern="1200" cap="none" spc="0" normalizeH="0" baseline="0" noProof="0" dirty="0">
                <a:ln>
                  <a:noFill/>
                </a:ln>
                <a:solidFill>
                  <a:schemeClr val="tx1"/>
                </a:solidFill>
                <a:effectLst/>
                <a:uLnTx/>
                <a:uFillTx/>
                <a:latin typeface="+mn-lt"/>
                <a:ea typeface="+mn-ea"/>
                <a:cs typeface="+mn-cs"/>
              </a:rPr>
              <a:t>El</a:t>
            </a:r>
            <a:r>
              <a:rPr kumimoji="0" lang="es-ES" altLang="ja-JP" sz="2000" b="0" u="none" strike="noStrike" kern="1200" cap="none" spc="0" normalizeH="0" noProof="0" dirty="0">
                <a:ln>
                  <a:noFill/>
                </a:ln>
                <a:solidFill>
                  <a:schemeClr val="tx1"/>
                </a:solidFill>
                <a:effectLst/>
                <a:uLnTx/>
                <a:uFillTx/>
                <a:latin typeface="+mn-lt"/>
                <a:ea typeface="+mn-ea"/>
                <a:cs typeface="+mn-cs"/>
              </a:rPr>
              <a:t> ancho de banda (AB):  </a:t>
            </a:r>
          </a:p>
          <a:p>
            <a:pPr marL="1276350" lvl="2" indent="-236538" algn="l">
              <a:lnSpc>
                <a:spcPts val="3000"/>
              </a:lnSpc>
              <a:spcBef>
                <a:spcPts val="550"/>
              </a:spcBef>
              <a:buClr>
                <a:srgbClr val="C58D01"/>
              </a:buClr>
              <a:buSzPct val="85000"/>
              <a:buFont typeface="Wingdings" pitchFamily="2" charset="2"/>
              <a:buChar char="ü"/>
              <a:defRPr/>
            </a:pPr>
            <a:r>
              <a:rPr lang="es-ES" altLang="ja-JP" dirty="0">
                <a:latin typeface="+mn-lt"/>
                <a:ea typeface="+mn-ea"/>
              </a:rPr>
              <a:t>T</a:t>
            </a:r>
            <a:r>
              <a:rPr lang="es-ES" altLang="ja-JP" baseline="-25000" dirty="0">
                <a:latin typeface="+mn-lt"/>
                <a:ea typeface="+mn-ea"/>
              </a:rPr>
              <a:t>B</a:t>
            </a:r>
            <a:r>
              <a:rPr lang="es-ES" altLang="ja-JP" dirty="0">
                <a:latin typeface="+mn-lt"/>
                <a:ea typeface="+mn-ea"/>
              </a:rPr>
              <a:t> = </a:t>
            </a:r>
            <a:r>
              <a:rPr lang="es-ES" altLang="ja-JP" dirty="0" err="1">
                <a:latin typeface="+mn-lt"/>
                <a:ea typeface="+mn-ea"/>
              </a:rPr>
              <a:t>Tciclo</a:t>
            </a:r>
            <a:r>
              <a:rPr lang="es-ES" altLang="ja-JP" dirty="0">
                <a:latin typeface="+mn-lt"/>
                <a:ea typeface="+mn-ea"/>
              </a:rPr>
              <a:t> del CLK</a:t>
            </a:r>
          </a:p>
          <a:p>
            <a:pPr marL="1276350" lvl="2" indent="-236538" algn="l">
              <a:lnSpc>
                <a:spcPts val="3000"/>
              </a:lnSpc>
              <a:spcBef>
                <a:spcPts val="550"/>
              </a:spcBef>
              <a:buClr>
                <a:srgbClr val="C58D01"/>
              </a:buClr>
              <a:buSzPct val="85000"/>
              <a:buFont typeface="Wingdings" pitchFamily="2" charset="2"/>
              <a:buChar char="ü"/>
              <a:defRPr/>
            </a:pPr>
            <a:r>
              <a:rPr kumimoji="0" lang="es-ES" altLang="ja-JP" b="0" u="none" strike="noStrike" kern="1200" cap="none" spc="0" normalizeH="0" baseline="0" noProof="0" dirty="0">
                <a:ln>
                  <a:noFill/>
                </a:ln>
                <a:solidFill>
                  <a:schemeClr val="tx1"/>
                </a:solidFill>
                <a:effectLst/>
                <a:uLnTx/>
                <a:uFillTx/>
                <a:latin typeface="+mn-lt"/>
                <a:ea typeface="+mn-ea"/>
                <a:cs typeface="+mn-cs"/>
              </a:rPr>
              <a:t>AB</a:t>
            </a:r>
            <a:r>
              <a:rPr kumimoji="0" lang="es-ES" altLang="ja-JP" b="0" u="none" strike="noStrike" kern="1200" cap="none" spc="0" normalizeH="0" noProof="0" dirty="0">
                <a:ln>
                  <a:noFill/>
                </a:ln>
                <a:solidFill>
                  <a:schemeClr val="tx1"/>
                </a:solidFill>
                <a:effectLst/>
                <a:uLnTx/>
                <a:uFillTx/>
                <a:latin typeface="+mn-lt"/>
                <a:ea typeface="+mn-ea"/>
                <a:cs typeface="+mn-cs"/>
              </a:rPr>
              <a:t> = P  / T</a:t>
            </a:r>
            <a:r>
              <a:rPr kumimoji="0" lang="es-ES" altLang="ja-JP" b="0" u="none" strike="noStrike" kern="1200" cap="none" spc="0" normalizeH="0" baseline="-25000" noProof="0" dirty="0">
                <a:ln>
                  <a:noFill/>
                </a:ln>
                <a:solidFill>
                  <a:schemeClr val="tx1"/>
                </a:solidFill>
                <a:effectLst/>
                <a:uLnTx/>
                <a:uFillTx/>
                <a:latin typeface="+mn-lt"/>
                <a:ea typeface="+mn-ea"/>
                <a:cs typeface="+mn-cs"/>
              </a:rPr>
              <a:t>B  </a:t>
            </a:r>
            <a:r>
              <a:rPr kumimoji="0" lang="es-ES" altLang="ja-JP" b="0" u="none" strike="noStrike" kern="1200" cap="none" spc="0" normalizeH="0" noProof="0" dirty="0">
                <a:ln>
                  <a:noFill/>
                </a:ln>
                <a:solidFill>
                  <a:schemeClr val="tx1"/>
                </a:solidFill>
                <a:effectLst/>
                <a:uLnTx/>
                <a:uFillTx/>
                <a:latin typeface="+mn-lt"/>
                <a:ea typeface="+mn-ea"/>
                <a:cs typeface="+mn-cs"/>
              </a:rPr>
              <a:t> B/s</a:t>
            </a:r>
            <a:endParaRPr kumimoji="0" lang="es-ES" altLang="ja-JP" b="0" u="none" strike="noStrike" kern="1200" cap="none" spc="0" normalizeH="0" baseline="0" noProof="0" dirty="0">
              <a:ln>
                <a:noFill/>
              </a:ln>
              <a:solidFill>
                <a:schemeClr val="tx1"/>
              </a:solidFill>
              <a:effectLst/>
              <a:uLnTx/>
              <a:uFillTx/>
              <a:latin typeface="+mn-lt"/>
              <a:ea typeface="ＭＳ Ｐゴシック" charset="-128"/>
              <a:cs typeface="+mn-cs"/>
            </a:endParaRPr>
          </a:p>
        </p:txBody>
      </p:sp>
      <p:sp>
        <p:nvSpPr>
          <p:cNvPr id="73" name="Rectangle 3">
            <a:extLst>
              <a:ext uri="{FF2B5EF4-FFF2-40B4-BE49-F238E27FC236}">
                <a16:creationId xmlns:a16="http://schemas.microsoft.com/office/drawing/2014/main" id="{5B46C39A-F44B-4D34-AA29-D5B5CF0A5F94}"/>
              </a:ext>
            </a:extLst>
          </p:cNvPr>
          <p:cNvSpPr txBox="1">
            <a:spLocks noChangeArrowheads="1"/>
          </p:cNvSpPr>
          <p:nvPr/>
        </p:nvSpPr>
        <p:spPr>
          <a:xfrm>
            <a:off x="120364" y="864482"/>
            <a:ext cx="8412076"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Acceso a bloque (lectura) de 4 palabras de P bytes</a:t>
            </a:r>
          </a:p>
        </p:txBody>
      </p:sp>
      <p:cxnSp>
        <p:nvCxnSpPr>
          <p:cNvPr id="20" name="Conector recto 19">
            <a:extLst>
              <a:ext uri="{FF2B5EF4-FFF2-40B4-BE49-F238E27FC236}">
                <a16:creationId xmlns:a16="http://schemas.microsoft.com/office/drawing/2014/main" id="{546C9ED2-DA6B-46BD-B9E3-9BCD3AA47A26}"/>
              </a:ext>
            </a:extLst>
          </p:cNvPr>
          <p:cNvCxnSpPr>
            <a:cxnSpLocks/>
            <a:stCxn id="63" idx="2"/>
          </p:cNvCxnSpPr>
          <p:nvPr/>
        </p:nvCxnSpPr>
        <p:spPr bwMode="auto">
          <a:xfrm>
            <a:off x="1668144" y="1688282"/>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1700808"/>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1668649"/>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1648433"/>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1660959"/>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1628800"/>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1648433"/>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720847" y="1660959"/>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149007" y="1628800"/>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585700" y="1637189"/>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769868" y="2121335"/>
            <a:ext cx="796693" cy="246221"/>
          </a:xfrm>
          <a:prstGeom prst="rect">
            <a:avLst/>
          </a:prstGeom>
          <a:noFill/>
          <a:ln w="19050">
            <a:noFill/>
            <a:miter lim="800000"/>
            <a:headEnd/>
            <a:tailEnd/>
          </a:ln>
        </p:spPr>
        <p:txBody>
          <a:bodyPr wrap="none" lIns="0" tIns="0" rIns="0" bIns="0" anchor="ctr">
            <a:spAutoFit/>
          </a:bodyPr>
          <a:lstStyle/>
          <a:p>
            <a:pPr algn="r"/>
            <a:r>
              <a:rPr lang="es-ES_tradnl" sz="1600"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970736" y="3476311"/>
            <a:ext cx="546625" cy="246221"/>
          </a:xfrm>
          <a:prstGeom prst="rect">
            <a:avLst/>
          </a:prstGeom>
          <a:noFill/>
          <a:ln w="19050">
            <a:noFill/>
            <a:miter lim="800000"/>
            <a:headEnd/>
            <a:tailEnd/>
          </a:ln>
        </p:spPr>
        <p:txBody>
          <a:bodyPr wrap="none" lIns="0" tIns="0" rIns="0" bIns="0" anchor="ctr">
            <a:spAutoFit/>
          </a:bodyPr>
          <a:lstStyle/>
          <a:p>
            <a:pPr algn="r"/>
            <a:r>
              <a:rPr lang="es-ES_tradnl" sz="1600"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19190" y="2928220"/>
            <a:ext cx="1139736" cy="246221"/>
          </a:xfrm>
          <a:prstGeom prst="rect">
            <a:avLst/>
          </a:prstGeom>
          <a:noFill/>
          <a:ln w="19050">
            <a:noFill/>
            <a:miter lim="800000"/>
            <a:headEnd/>
            <a:tailEnd/>
          </a:ln>
        </p:spPr>
        <p:txBody>
          <a:bodyPr wrap="none" lIns="0" tIns="0" rIns="0" bIns="0" anchor="ctr">
            <a:spAutoFit/>
          </a:bodyPr>
          <a:lstStyle/>
          <a:p>
            <a:pPr algn="r"/>
            <a:r>
              <a:rPr lang="es-ES_tradnl" sz="1600" b="1" dirty="0">
                <a:solidFill>
                  <a:schemeClr val="accent1"/>
                </a:solidFill>
              </a:rPr>
              <a:t>direcciones</a:t>
            </a:r>
          </a:p>
        </p:txBody>
      </p:sp>
      <p:grpSp>
        <p:nvGrpSpPr>
          <p:cNvPr id="95" name="Grupo 94">
            <a:extLst>
              <a:ext uri="{FF2B5EF4-FFF2-40B4-BE49-F238E27FC236}">
                <a16:creationId xmlns:a16="http://schemas.microsoft.com/office/drawing/2014/main" id="{9D6422DF-8C95-44AE-B935-65B6C8C0CD8D}"/>
              </a:ext>
            </a:extLst>
          </p:cNvPr>
          <p:cNvGrpSpPr/>
          <p:nvPr/>
        </p:nvGrpSpPr>
        <p:grpSpPr>
          <a:xfrm>
            <a:off x="1703610" y="1439987"/>
            <a:ext cx="5334440" cy="1735947"/>
            <a:chOff x="1703610" y="1439987"/>
            <a:chExt cx="5334440" cy="1735947"/>
          </a:xfrm>
        </p:grpSpPr>
        <p:grpSp>
          <p:nvGrpSpPr>
            <p:cNvPr id="35" name="Grupo 34">
              <a:extLst>
                <a:ext uri="{FF2B5EF4-FFF2-40B4-BE49-F238E27FC236}">
                  <a16:creationId xmlns:a16="http://schemas.microsoft.com/office/drawing/2014/main" id="{49295E6A-EFB6-45EF-9E46-78C3C134C72C}"/>
                </a:ext>
              </a:extLst>
            </p:cNvPr>
            <p:cNvGrpSpPr/>
            <p:nvPr/>
          </p:nvGrpSpPr>
          <p:grpSpPr>
            <a:xfrm>
              <a:off x="1703610" y="1439987"/>
              <a:ext cx="5334440" cy="935813"/>
              <a:chOff x="1703610" y="1439987"/>
              <a:chExt cx="5334440" cy="935813"/>
            </a:xfrm>
          </p:grpSpPr>
          <p:sp>
            <p:nvSpPr>
              <p:cNvPr id="57" name="Freeform 24"/>
              <p:cNvSpPr>
                <a:spLocks/>
              </p:cNvSpPr>
              <p:nvPr/>
            </p:nvSpPr>
            <p:spPr bwMode="blackWhite">
              <a:xfrm>
                <a:off x="1703610" y="2136868"/>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sp>
            <p:nvSpPr>
              <p:cNvPr id="34" name="CuadroTexto 33">
                <a:extLst>
                  <a:ext uri="{FF2B5EF4-FFF2-40B4-BE49-F238E27FC236}">
                    <a16:creationId xmlns:a16="http://schemas.microsoft.com/office/drawing/2014/main" id="{651C2402-5FA5-47E6-B0CE-A2ECD0168F78}"/>
                  </a:ext>
                </a:extLst>
              </p:cNvPr>
              <p:cNvSpPr txBox="1"/>
              <p:nvPr/>
            </p:nvSpPr>
            <p:spPr>
              <a:xfrm>
                <a:off x="6853320" y="1439987"/>
                <a:ext cx="184730" cy="307777"/>
              </a:xfrm>
              <a:prstGeom prst="rect">
                <a:avLst/>
              </a:prstGeom>
              <a:noFill/>
            </p:spPr>
            <p:txBody>
              <a:bodyPr wrap="none" rtlCol="0">
                <a:spAutoFit/>
              </a:bodyPr>
              <a:lstStyle/>
              <a:p>
                <a:endParaRPr lang="es-ES" sz="1400" dirty="0">
                  <a:solidFill>
                    <a:schemeClr val="accent1">
                      <a:lumMod val="75000"/>
                    </a:schemeClr>
                  </a:solidFill>
                </a:endParaRPr>
              </a:p>
            </p:txBody>
          </p:sp>
        </p:gr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2962901"/>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grpSp>
      <p:grpSp>
        <p:nvGrpSpPr>
          <p:cNvPr id="37" name="Grupo 36">
            <a:extLst>
              <a:ext uri="{FF2B5EF4-FFF2-40B4-BE49-F238E27FC236}">
                <a16:creationId xmlns:a16="http://schemas.microsoft.com/office/drawing/2014/main" id="{5C85F64C-985E-4D15-8366-E020FD0FEFAB}"/>
              </a:ext>
            </a:extLst>
          </p:cNvPr>
          <p:cNvGrpSpPr/>
          <p:nvPr/>
        </p:nvGrpSpPr>
        <p:grpSpPr>
          <a:xfrm>
            <a:off x="1742835" y="2153474"/>
            <a:ext cx="1233962" cy="700951"/>
            <a:chOff x="1742835" y="2159433"/>
            <a:chExt cx="1233962" cy="700951"/>
          </a:xfrm>
        </p:grpSpPr>
        <p:sp>
          <p:nvSpPr>
            <p:cNvPr id="59" name="Freeform 24"/>
            <p:cNvSpPr>
              <a:spLocks/>
            </p:cNvSpPr>
            <p:nvPr/>
          </p:nvSpPr>
          <p:spPr bwMode="blackWhite">
            <a:xfrm>
              <a:off x="2593220" y="2159433"/>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910303" y="2552607"/>
              <a:ext cx="455254"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RCD</a:t>
              </a:r>
              <a:endParaRPr lang="es-ES_tradnl" baseline="-25000" dirty="0"/>
            </a:p>
          </p:txBody>
        </p:sp>
        <p:sp>
          <p:nvSpPr>
            <p:cNvPr id="39" name="Line 11"/>
            <p:cNvSpPr>
              <a:spLocks noChangeShapeType="1"/>
            </p:cNvSpPr>
            <p:nvPr/>
          </p:nvSpPr>
          <p:spPr bwMode="auto">
            <a:xfrm>
              <a:off x="1742835" y="2492896"/>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gr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122" y="2975831"/>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grpSp>
        <p:nvGrpSpPr>
          <p:cNvPr id="4" name="Group 82"/>
          <p:cNvGrpSpPr>
            <a:grpSpLocks/>
          </p:cNvGrpSpPr>
          <p:nvPr/>
        </p:nvGrpSpPr>
        <p:grpSpPr bwMode="auto">
          <a:xfrm>
            <a:off x="3499006" y="3496512"/>
            <a:ext cx="354264" cy="213033"/>
            <a:chOff x="2640" y="2304"/>
            <a:chExt cx="384" cy="181"/>
          </a:xfrm>
        </p:grpSpPr>
        <p:sp>
          <p:nvSpPr>
            <p:cNvPr id="16" name="Freeform 71"/>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7" name="Text Box 72"/>
            <p:cNvSpPr txBox="1">
              <a:spLocks noChangeArrowheads="1"/>
            </p:cNvSpPr>
            <p:nvPr/>
          </p:nvSpPr>
          <p:spPr bwMode="blackWhite">
            <a:xfrm>
              <a:off x="2640"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sp>
        <p:nvSpPr>
          <p:cNvPr id="45" name="Line 11"/>
          <p:cNvSpPr>
            <a:spLocks noChangeShapeType="1"/>
          </p:cNvSpPr>
          <p:nvPr/>
        </p:nvSpPr>
        <p:spPr bwMode="auto">
          <a:xfrm>
            <a:off x="2615872" y="2492896"/>
            <a:ext cx="843507" cy="7134"/>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7" name="Rectangle 10"/>
          <p:cNvSpPr>
            <a:spLocks noChangeArrowheads="1"/>
          </p:cNvSpPr>
          <p:nvPr/>
        </p:nvSpPr>
        <p:spPr bwMode="auto">
          <a:xfrm>
            <a:off x="2790680" y="2595930"/>
            <a:ext cx="288541"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grpSp>
        <p:nvGrpSpPr>
          <p:cNvPr id="5" name="Group 85"/>
          <p:cNvGrpSpPr>
            <a:grpSpLocks/>
          </p:cNvGrpSpPr>
          <p:nvPr/>
        </p:nvGrpSpPr>
        <p:grpSpPr bwMode="auto">
          <a:xfrm>
            <a:off x="3924774" y="3494301"/>
            <a:ext cx="354264" cy="213033"/>
            <a:chOff x="3024" y="2304"/>
            <a:chExt cx="384" cy="181"/>
          </a:xfrm>
        </p:grpSpPr>
        <p:sp>
          <p:nvSpPr>
            <p:cNvPr id="14" name="Freeform 74"/>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5" name="Text Box 75"/>
            <p:cNvSpPr txBox="1">
              <a:spLocks noChangeArrowheads="1"/>
            </p:cNvSpPr>
            <p:nvPr/>
          </p:nvSpPr>
          <p:spPr bwMode="blackWhite">
            <a:xfrm>
              <a:off x="3024"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spTree>
    <p:extLst>
      <p:ext uri="{BB962C8B-B14F-4D97-AF65-F5344CB8AC3E}">
        <p14:creationId xmlns:p14="http://schemas.microsoft.com/office/powerpoint/2010/main" val="3142216943"/>
      </p:ext>
    </p:extLst>
  </p:cSld>
  <p:clrMapOvr>
    <a:masterClrMapping/>
  </p:clrMapOvr>
  <p:transition spd="med">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890B-4294-1F96-636C-7DD5B66492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269F8D-9F06-76D5-E5AF-E6AE658BA23E}"/>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34FE7584-43C9-99B8-2F02-26715F9E17D2}"/>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solidFill>
                  <a:srgbClr val="FF0000"/>
                </a:solidFill>
              </a:rPr>
              <a:t>3 - Memorias RAM</a:t>
            </a:r>
          </a:p>
          <a:p>
            <a:pPr lvl="1"/>
            <a:r>
              <a:rPr lang="es-ES" dirty="0"/>
              <a:t>Estáticas</a:t>
            </a:r>
          </a:p>
          <a:p>
            <a:pPr lvl="1"/>
            <a:r>
              <a:rPr lang="es-ES" dirty="0">
                <a:solidFill>
                  <a:srgbClr val="FF0000"/>
                </a:solidFill>
              </a:rPr>
              <a:t>Dinámicas</a:t>
            </a:r>
          </a:p>
          <a:p>
            <a:pPr marL="977900" lvl="2" indent="-457200">
              <a:lnSpc>
                <a:spcPct val="90000"/>
              </a:lnSpc>
              <a:buFont typeface="+mj-lt"/>
              <a:buAutoNum type="romanUcPeriod"/>
            </a:pPr>
            <a:r>
              <a:rPr lang="es-ES" dirty="0"/>
              <a:t>Organización</a:t>
            </a:r>
          </a:p>
          <a:p>
            <a:pPr marL="977900" lvl="2" indent="-457200">
              <a:lnSpc>
                <a:spcPct val="90000"/>
              </a:lnSpc>
              <a:buFont typeface="+mj-lt"/>
              <a:buAutoNum type="romanUcPeriod"/>
            </a:pPr>
            <a:r>
              <a:rPr lang="es-ES" dirty="0"/>
              <a:t>Direccionamiento</a:t>
            </a:r>
          </a:p>
          <a:p>
            <a:pPr marL="977900" lvl="2" indent="-457200">
              <a:lnSpc>
                <a:spcPct val="90000"/>
              </a:lnSpc>
              <a:buFont typeface="+mj-lt"/>
              <a:buAutoNum type="romanUcPeriod"/>
            </a:pPr>
            <a:r>
              <a:rPr lang="es-ES" dirty="0"/>
              <a:t>Temporización</a:t>
            </a:r>
          </a:p>
          <a:p>
            <a:pPr marL="977900" lvl="2" indent="-457200">
              <a:lnSpc>
                <a:spcPct val="90000"/>
              </a:lnSpc>
              <a:buFont typeface="+mj-lt"/>
              <a:buAutoNum type="romanUcPeriod"/>
            </a:pPr>
            <a:r>
              <a:rPr lang="es-ES" dirty="0">
                <a:solidFill>
                  <a:srgbClr val="FF0000"/>
                </a:solidFill>
              </a:rPr>
              <a:t>Tendencias tecnológicas</a:t>
            </a:r>
          </a:p>
          <a:p>
            <a:pPr marL="82550" indent="0">
              <a:buNone/>
            </a:pPr>
            <a:r>
              <a:rPr lang="es-ES" dirty="0"/>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78A14593-459D-7556-A4A4-E209182ABE7D}"/>
              </a:ext>
            </a:extLst>
          </p:cNvPr>
          <p:cNvSpPr>
            <a:spLocks noGrp="1"/>
          </p:cNvSpPr>
          <p:nvPr>
            <p:ph type="sldNum" sz="quarter" idx="12"/>
          </p:nvPr>
        </p:nvSpPr>
        <p:spPr/>
        <p:txBody>
          <a:bodyPr/>
          <a:lstStyle/>
          <a:p>
            <a:pPr>
              <a:defRPr/>
            </a:pPr>
            <a:fld id="{50B7A251-C820-4EFF-8270-C7613E20881F}" type="slidenum">
              <a:rPr lang="en-US" smtClean="0"/>
              <a:pPr>
                <a:defRPr/>
              </a:pPr>
              <a:t>97</a:t>
            </a:fld>
            <a:endParaRPr lang="en-US" dirty="0"/>
          </a:p>
        </p:txBody>
      </p:sp>
      <p:sp>
        <p:nvSpPr>
          <p:cNvPr id="6" name="Rectángulo 5">
            <a:extLst>
              <a:ext uri="{FF2B5EF4-FFF2-40B4-BE49-F238E27FC236}">
                <a16:creationId xmlns:a16="http://schemas.microsoft.com/office/drawing/2014/main" id="{1D239E37-7723-7756-EDBC-473E01B09B3E}"/>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Tree>
    <p:extLst>
      <p:ext uri="{BB962C8B-B14F-4D97-AF65-F5344CB8AC3E}">
        <p14:creationId xmlns:p14="http://schemas.microsoft.com/office/powerpoint/2010/main" val="39980357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es-ES" dirty="0"/>
              <a:t>Tendencias tecnológicas</a:t>
            </a:r>
          </a:p>
        </p:txBody>
      </p:sp>
      <p:sp>
        <p:nvSpPr>
          <p:cNvPr id="65540" name="Rectangle 3"/>
          <p:cNvSpPr>
            <a:spLocks noGrp="1" noChangeArrowheads="1"/>
          </p:cNvSpPr>
          <p:nvPr>
            <p:ph type="body" idx="1"/>
          </p:nvPr>
        </p:nvSpPr>
        <p:spPr/>
        <p:txBody>
          <a:bodyPr/>
          <a:lstStyle/>
          <a:p>
            <a:r>
              <a:rPr lang="es-ES" dirty="0"/>
              <a:t>Tecnologías</a:t>
            </a:r>
          </a:p>
          <a:p>
            <a:pPr lvl="1"/>
            <a:r>
              <a:rPr lang="es-ES" dirty="0"/>
              <a:t>Memorias</a:t>
            </a:r>
            <a:r>
              <a:rPr lang="es-ES" altLang="ja-JP" dirty="0">
                <a:ea typeface="Geneva" pitchFamily="1" charset="-128"/>
              </a:rPr>
              <a:t> SDRAM </a:t>
            </a:r>
            <a:r>
              <a:rPr lang="es-ES" dirty="0"/>
              <a:t>(</a:t>
            </a:r>
            <a:r>
              <a:rPr lang="es-ES" dirty="0" err="1"/>
              <a:t>Synchronous</a:t>
            </a:r>
            <a:r>
              <a:rPr lang="es-ES" dirty="0"/>
              <a:t> DRAM)</a:t>
            </a:r>
            <a:r>
              <a:rPr lang="es-ES" altLang="ja-JP" dirty="0">
                <a:ea typeface="Geneva" pitchFamily="1" charset="-128"/>
              </a:rPr>
              <a:t>: los</a:t>
            </a:r>
            <a:r>
              <a:rPr lang="es-ES" dirty="0"/>
              <a:t> chips tienen una interf</a:t>
            </a:r>
            <a:r>
              <a:rPr lang="es-ES" altLang="ja-JP" dirty="0">
                <a:ea typeface="Geneva" pitchFamily="1" charset="-128"/>
              </a:rPr>
              <a:t>az síncrona regulada por una señal de reloj de frecuencia característica: 100, 133, 200, etc. MHz</a:t>
            </a:r>
          </a:p>
          <a:p>
            <a:pPr lvl="1"/>
            <a:r>
              <a:rPr lang="es-ES" dirty="0"/>
              <a:t>Estándares de interés, </a:t>
            </a:r>
            <a:r>
              <a:rPr lang="es-ES_tradnl" dirty="0"/>
              <a:t>mantenidos por JEDEC </a:t>
            </a:r>
            <a:r>
              <a:rPr lang="es-ES_tradnl" i="1" dirty="0"/>
              <a:t>(</a:t>
            </a:r>
            <a:r>
              <a:rPr lang="es-ES" i="1" dirty="0" err="1"/>
              <a:t>Joint</a:t>
            </a:r>
            <a:r>
              <a:rPr lang="es-ES" i="1" dirty="0"/>
              <a:t> </a:t>
            </a:r>
            <a:r>
              <a:rPr lang="es-ES" i="1" dirty="0" err="1"/>
              <a:t>Electron</a:t>
            </a:r>
            <a:r>
              <a:rPr lang="es-ES" i="1" dirty="0"/>
              <a:t> </a:t>
            </a:r>
            <a:r>
              <a:rPr lang="es-ES" i="1" dirty="0" err="1"/>
              <a:t>Device</a:t>
            </a:r>
            <a:r>
              <a:rPr lang="es-ES" i="1" dirty="0"/>
              <a:t> </a:t>
            </a:r>
            <a:r>
              <a:rPr lang="es-ES" i="1" dirty="0" err="1"/>
              <a:t>Engineering</a:t>
            </a:r>
            <a:r>
              <a:rPr lang="es-ES" i="1" dirty="0"/>
              <a:t> Council</a:t>
            </a:r>
            <a:r>
              <a:rPr lang="es-ES_tradnl" i="1" dirty="0"/>
              <a:t>)</a:t>
            </a:r>
            <a:r>
              <a:rPr lang="es-ES" dirty="0"/>
              <a:t>:</a:t>
            </a:r>
          </a:p>
          <a:p>
            <a:pPr marL="1162050" lvl="2"/>
            <a:r>
              <a:rPr lang="es-ES" dirty="0"/>
              <a:t>SDRAM, la m</a:t>
            </a:r>
            <a:r>
              <a:rPr lang="es-ES" altLang="ja-JP" dirty="0">
                <a:ea typeface="Geneva" pitchFamily="1" charset="-128"/>
              </a:rPr>
              <a:t>ás</a:t>
            </a:r>
            <a:r>
              <a:rPr lang="es-ES" dirty="0"/>
              <a:t> antigua, de la cual derivan las tecnologías posteriores</a:t>
            </a:r>
          </a:p>
          <a:p>
            <a:pPr marL="1162050" lvl="2"/>
            <a:r>
              <a:rPr lang="es-ES" dirty="0"/>
              <a:t>DDR-SDRAM (</a:t>
            </a:r>
            <a:r>
              <a:rPr lang="es-ES" dirty="0" err="1"/>
              <a:t>Double</a:t>
            </a:r>
            <a:r>
              <a:rPr lang="es-ES" dirty="0"/>
              <a:t> Data </a:t>
            </a:r>
            <a:r>
              <a:rPr lang="es-ES" dirty="0" err="1"/>
              <a:t>Rate</a:t>
            </a:r>
            <a:r>
              <a:rPr lang="es-ES" dirty="0"/>
              <a:t> SDRAM), en versiones sucesivas: DDR, DDR2 y DDR3</a:t>
            </a:r>
          </a:p>
          <a:p>
            <a:pPr lvl="1"/>
            <a:r>
              <a:rPr lang="es-ES" dirty="0"/>
              <a:t>Las tecnologías DDR, DDR2 y DDR3 multiplican por 2, 4 y 8, respectivamente, el ancho de banda de la SDRAM</a:t>
            </a:r>
          </a:p>
        </p:txBody>
      </p:sp>
      <p:sp>
        <p:nvSpPr>
          <p:cNvPr id="2" name="2 Marcador de número de diapositiva">
            <a:extLst>
              <a:ext uri="{FF2B5EF4-FFF2-40B4-BE49-F238E27FC236}">
                <a16:creationId xmlns:a16="http://schemas.microsoft.com/office/drawing/2014/main" id="{8B45AECF-AE9E-950E-251F-595C181A1C29}"/>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98</a:t>
            </a:fld>
            <a:endParaRPr lang="en-US" dirty="0"/>
          </a:p>
        </p:txBody>
      </p:sp>
    </p:spTree>
    <p:extLst>
      <p:ext uri="{BB962C8B-B14F-4D97-AF65-F5344CB8AC3E}">
        <p14:creationId xmlns:p14="http://schemas.microsoft.com/office/powerpoint/2010/main" val="26873382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Memorias SDRAM de doble velocidad (DDR)</a:t>
            </a:r>
            <a:endParaRPr lang="es-ES_tradnl" dirty="0"/>
          </a:p>
        </p:txBody>
      </p:sp>
      <p:sp>
        <p:nvSpPr>
          <p:cNvPr id="5" name="Marcador de número de diapositiva 4"/>
          <p:cNvSpPr>
            <a:spLocks noGrp="1"/>
          </p:cNvSpPr>
          <p:nvPr>
            <p:ph type="sldNum" sz="quarter" idx="12"/>
          </p:nvPr>
        </p:nvSpPr>
        <p:spPr/>
        <p:txBody>
          <a:bodyPr/>
          <a:lstStyle/>
          <a:p>
            <a:fld id="{0CFEC368-1D7A-4F81-ABF6-AE0E36BAF64C}" type="slidenum">
              <a:rPr lang="en-US" smtClean="0"/>
              <a:pPr/>
              <a:t>99</a:t>
            </a:fld>
            <a:endParaRPr lang="en-US"/>
          </a:p>
        </p:txBody>
      </p:sp>
      <p:sp>
        <p:nvSpPr>
          <p:cNvPr id="6" name="CuadroTexto 5"/>
          <p:cNvSpPr txBox="1"/>
          <p:nvPr/>
        </p:nvSpPr>
        <p:spPr>
          <a:xfrm>
            <a:off x="70002" y="38285"/>
            <a:ext cx="1937550" cy="276999"/>
          </a:xfrm>
          <a:prstGeom prst="rect">
            <a:avLst/>
          </a:prstGeom>
          <a:noFill/>
        </p:spPr>
        <p:txBody>
          <a:bodyPr wrap="none" rtlCol="0">
            <a:spAutoFit/>
          </a:bodyPr>
          <a:lstStyle/>
          <a:p>
            <a:r>
              <a:rPr lang="en-GB" sz="1200" dirty="0">
                <a:solidFill>
                  <a:srgbClr val="FFFFFF"/>
                </a:solidFill>
              </a:rPr>
              <a:t>4: Dynamic RAM memory</a:t>
            </a:r>
          </a:p>
        </p:txBody>
      </p:sp>
      <p:sp>
        <p:nvSpPr>
          <p:cNvPr id="9" name="CuadroTexto 8"/>
          <p:cNvSpPr txBox="1"/>
          <p:nvPr/>
        </p:nvSpPr>
        <p:spPr>
          <a:xfrm>
            <a:off x="746673" y="1095127"/>
            <a:ext cx="7993733" cy="1909871"/>
          </a:xfrm>
          <a:prstGeom prst="rect">
            <a:avLst/>
          </a:prstGeom>
        </p:spPr>
        <p:txBody>
          <a:bodyPr vert="horz" lIns="91440" tIns="45720" rIns="91440" bIns="45720" rtlCol="0">
            <a:noAutofit/>
          </a:bodyPr>
          <a:lstStyle>
            <a:lvl1pPr marL="182880" indent="-182880">
              <a:spcBef>
                <a:spcPct val="20000"/>
              </a:spcBef>
              <a:buClr>
                <a:schemeClr val="accent1"/>
              </a:buClr>
              <a:buSzPct val="85000"/>
              <a:buFont typeface="Arial" pitchFamily="34" charset="0"/>
              <a:buChar char="•"/>
              <a:defRPr sz="2400"/>
            </a:lvl1pPr>
            <a:lvl2pPr indent="-182880">
              <a:spcBef>
                <a:spcPct val="20000"/>
              </a:spcBef>
              <a:buClr>
                <a:schemeClr val="accent1"/>
              </a:buClr>
              <a:buSzPct val="85000"/>
              <a:buFont typeface="Arial" pitchFamily="34" charset="0"/>
              <a:buChar char="•"/>
              <a:defRPr sz="2000"/>
            </a:lvl2pPr>
            <a:lvl3pPr marL="731520" indent="-182880">
              <a:spcBef>
                <a:spcPct val="20000"/>
              </a:spcBef>
              <a:buClr>
                <a:schemeClr val="accent1"/>
              </a:buClr>
              <a:buSzPct val="90000"/>
              <a:buFont typeface="Arial" pitchFamily="34" charset="0"/>
              <a:buChar char="•"/>
            </a:lvl3pPr>
            <a:lvl4pPr marL="1005840" indent="-182880">
              <a:spcBef>
                <a:spcPct val="20000"/>
              </a:spcBef>
              <a:buClr>
                <a:schemeClr val="accent1"/>
              </a:buClr>
              <a:buFont typeface="Arial" pitchFamily="34" charset="0"/>
              <a:buChar char="•"/>
              <a:defRPr sz="1600"/>
            </a:lvl4pPr>
            <a:lvl5pPr marL="1188720" indent="-137160">
              <a:spcBef>
                <a:spcPct val="20000"/>
              </a:spcBef>
              <a:buClr>
                <a:schemeClr val="accent1"/>
              </a:buClr>
              <a:buSzPct val="100000"/>
              <a:buFont typeface="Arial" pitchFamily="34" charset="0"/>
              <a:buChar char="•"/>
              <a:defRPr sz="1400" baseline="0"/>
            </a:lvl5pPr>
            <a:lvl6pPr marL="1371600" indent="-182880">
              <a:spcBef>
                <a:spcPct val="20000"/>
              </a:spcBef>
              <a:buClr>
                <a:schemeClr val="accent1"/>
              </a:buClr>
              <a:buFont typeface="Arial" pitchFamily="34" charset="0"/>
              <a:buChar char="•"/>
              <a:defRPr sz="1300"/>
            </a:lvl6pPr>
            <a:lvl7pPr marL="1554480" indent="-182880">
              <a:spcBef>
                <a:spcPct val="20000"/>
              </a:spcBef>
              <a:buClr>
                <a:schemeClr val="accent1"/>
              </a:buClr>
              <a:buFont typeface="Arial" pitchFamily="34" charset="0"/>
              <a:buChar char="•"/>
              <a:defRPr sz="1300"/>
            </a:lvl7pPr>
            <a:lvl8pPr marL="1737360" indent="-182880">
              <a:spcBef>
                <a:spcPct val="20000"/>
              </a:spcBef>
              <a:buClr>
                <a:schemeClr val="accent1"/>
              </a:buClr>
              <a:buFont typeface="Arial" pitchFamily="34" charset="0"/>
              <a:buChar char="•"/>
              <a:defRPr sz="1300"/>
            </a:lvl8pPr>
            <a:lvl9pPr marL="1920240" indent="-182880">
              <a:spcBef>
                <a:spcPct val="20000"/>
              </a:spcBef>
              <a:buClr>
                <a:schemeClr val="accent1"/>
              </a:buClr>
              <a:buFont typeface="Arial" pitchFamily="34" charset="0"/>
              <a:buChar char="•"/>
              <a:defRPr sz="1300"/>
            </a:lvl9pPr>
          </a:lstStyle>
          <a:p>
            <a:pPr algn="l"/>
            <a:r>
              <a:rPr lang="en-GB" sz="2000" dirty="0"/>
              <a:t>La </a:t>
            </a:r>
            <a:r>
              <a:rPr lang="en-GB" sz="2000" dirty="0" err="1"/>
              <a:t>memoria</a:t>
            </a:r>
            <a:r>
              <a:rPr lang="en-GB" sz="2000" dirty="0"/>
              <a:t> DDR-SDRAM: </a:t>
            </a:r>
            <a:r>
              <a:rPr lang="en-GB" sz="2000" dirty="0" err="1"/>
              <a:t>emite</a:t>
            </a:r>
            <a:r>
              <a:rPr lang="en-GB" sz="2000" dirty="0"/>
              <a:t> 2 palabras por </a:t>
            </a:r>
            <a:r>
              <a:rPr lang="en-GB" sz="2000" dirty="0" err="1"/>
              <a:t>ciclo</a:t>
            </a:r>
            <a:r>
              <a:rPr lang="en-GB" sz="2000" dirty="0"/>
              <a:t> de bus</a:t>
            </a:r>
          </a:p>
          <a:p>
            <a:pPr algn="l"/>
            <a:r>
              <a:rPr lang="en-GB" sz="2000" dirty="0" err="1"/>
              <a:t>Esto</a:t>
            </a:r>
            <a:r>
              <a:rPr lang="en-GB" sz="2000" dirty="0"/>
              <a:t> es </a:t>
            </a:r>
            <a:r>
              <a:rPr lang="en-GB" sz="2000" dirty="0" err="1"/>
              <a:t>posible</a:t>
            </a:r>
            <a:r>
              <a:rPr lang="en-GB" sz="2000" dirty="0"/>
              <a:t> </a:t>
            </a:r>
            <a:r>
              <a:rPr lang="en-GB" sz="2000" dirty="0" err="1"/>
              <a:t>debido</a:t>
            </a:r>
            <a:r>
              <a:rPr lang="en-GB" sz="2000" dirty="0"/>
              <a:t> a la </a:t>
            </a:r>
            <a:r>
              <a:rPr lang="en-GB" sz="2000" dirty="0" err="1"/>
              <a:t>organización</a:t>
            </a:r>
            <a:r>
              <a:rPr lang="en-GB" sz="2000" dirty="0"/>
              <a:t> </a:t>
            </a:r>
            <a:r>
              <a:rPr lang="en-GB" sz="2000" dirty="0" err="1"/>
              <a:t>interna</a:t>
            </a:r>
            <a:r>
              <a:rPr lang="en-GB" sz="2000" dirty="0"/>
              <a:t>: 	</a:t>
            </a:r>
          </a:p>
          <a:p>
            <a:pPr lvl="1" algn="l"/>
            <a:r>
              <a:rPr lang="en-GB" dirty="0" err="1"/>
              <a:t>Hacen</a:t>
            </a:r>
            <a:r>
              <a:rPr lang="en-GB" dirty="0"/>
              <a:t> una </a:t>
            </a:r>
            <a:r>
              <a:rPr lang="en-GB" dirty="0" err="1"/>
              <a:t>prebúsqueda</a:t>
            </a:r>
            <a:r>
              <a:rPr lang="en-GB" dirty="0"/>
              <a:t> de 2 palabras, a </a:t>
            </a:r>
            <a:r>
              <a:rPr lang="en-GB" dirty="0" err="1"/>
              <a:t>frecuencia</a:t>
            </a:r>
            <a:r>
              <a:rPr lang="en-GB" dirty="0"/>
              <a:t> f</a:t>
            </a:r>
          </a:p>
          <a:p>
            <a:pPr lvl="1" algn="l"/>
            <a:r>
              <a:rPr lang="en-GB" dirty="0" err="1"/>
              <a:t>Emiten</a:t>
            </a:r>
            <a:r>
              <a:rPr lang="en-GB" dirty="0"/>
              <a:t> por el bus de </a:t>
            </a:r>
            <a:r>
              <a:rPr lang="en-GB" dirty="0" err="1"/>
              <a:t>datos</a:t>
            </a:r>
            <a:r>
              <a:rPr lang="en-GB" dirty="0"/>
              <a:t> una palabra </a:t>
            </a:r>
            <a:r>
              <a:rPr lang="en-GB" dirty="0" err="1"/>
              <a:t>en</a:t>
            </a:r>
            <a:r>
              <a:rPr lang="en-GB" dirty="0"/>
              <a:t> la </a:t>
            </a:r>
            <a:r>
              <a:rPr lang="en-GB" dirty="0" err="1"/>
              <a:t>fase</a:t>
            </a:r>
            <a:r>
              <a:rPr lang="en-GB" dirty="0"/>
              <a:t> </a:t>
            </a:r>
            <a:r>
              <a:rPr lang="en-GB" dirty="0" err="1"/>
              <a:t>alta</a:t>
            </a:r>
            <a:r>
              <a:rPr lang="en-GB" dirty="0"/>
              <a:t> y </a:t>
            </a:r>
            <a:r>
              <a:rPr lang="en-GB" dirty="0" err="1"/>
              <a:t>otra</a:t>
            </a:r>
            <a:r>
              <a:rPr lang="en-GB" dirty="0"/>
              <a:t> </a:t>
            </a:r>
            <a:r>
              <a:rPr lang="en-GB" dirty="0" err="1"/>
              <a:t>en</a:t>
            </a:r>
            <a:r>
              <a:rPr lang="en-GB" dirty="0"/>
              <a:t> la </a:t>
            </a:r>
            <a:r>
              <a:rPr lang="en-GB" dirty="0" err="1"/>
              <a:t>fase</a:t>
            </a:r>
            <a:r>
              <a:rPr lang="en-GB" dirty="0"/>
              <a:t> </a:t>
            </a:r>
            <a:r>
              <a:rPr lang="en-GB" dirty="0" err="1"/>
              <a:t>baja</a:t>
            </a:r>
            <a:r>
              <a:rPr lang="en-GB" dirty="0"/>
              <a:t>, es </a:t>
            </a:r>
            <a:r>
              <a:rPr lang="en-GB" dirty="0" err="1"/>
              <a:t>decir</a:t>
            </a:r>
            <a:r>
              <a:rPr lang="en-GB" dirty="0"/>
              <a:t> la </a:t>
            </a:r>
            <a:r>
              <a:rPr lang="en-GB" dirty="0" err="1"/>
              <a:t>transferencia</a:t>
            </a:r>
            <a:r>
              <a:rPr lang="en-GB" dirty="0"/>
              <a:t> </a:t>
            </a:r>
            <a:r>
              <a:rPr lang="en-GB" dirty="0" err="1"/>
              <a:t>sería</a:t>
            </a:r>
            <a:r>
              <a:rPr lang="en-GB" dirty="0"/>
              <a:t> a </a:t>
            </a:r>
            <a:r>
              <a:rPr lang="en-GB" dirty="0" err="1"/>
              <a:t>doble</a:t>
            </a:r>
            <a:r>
              <a:rPr lang="en-GB" dirty="0"/>
              <a:t> </a:t>
            </a:r>
            <a:r>
              <a:rPr lang="en-GB" dirty="0" err="1"/>
              <a:t>frecuencia</a:t>
            </a:r>
            <a:endParaRPr lang="en-GB" dirty="0"/>
          </a:p>
        </p:txBody>
      </p:sp>
      <p:grpSp>
        <p:nvGrpSpPr>
          <p:cNvPr id="53" name="Agrupar 52"/>
          <p:cNvGrpSpPr/>
          <p:nvPr/>
        </p:nvGrpSpPr>
        <p:grpSpPr>
          <a:xfrm>
            <a:off x="444801" y="3255717"/>
            <a:ext cx="8399160" cy="2981595"/>
            <a:chOff x="121332" y="2300489"/>
            <a:chExt cx="8399160" cy="2981595"/>
          </a:xfrm>
        </p:grpSpPr>
        <p:sp>
          <p:nvSpPr>
            <p:cNvPr id="7" name="Rectángulo 6"/>
            <p:cNvSpPr/>
            <p:nvPr/>
          </p:nvSpPr>
          <p:spPr>
            <a:xfrm>
              <a:off x="2800406" y="2300489"/>
              <a:ext cx="937088" cy="956423"/>
            </a:xfrm>
            <a:prstGeom prst="rect">
              <a:avLst/>
            </a:prstGeom>
            <a:solidFill>
              <a:schemeClr val="accent1">
                <a:lumMod val="60000"/>
                <a:lumOff val="40000"/>
              </a:schemeClr>
            </a:solidFill>
            <a:ln w="28575" cmpd="sng">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err="1">
                  <a:solidFill>
                    <a:srgbClr val="292934"/>
                  </a:solidFill>
                </a:rPr>
                <a:t>Registro</a:t>
              </a:r>
              <a:endParaRPr lang="en-GB" sz="1400" dirty="0">
                <a:solidFill>
                  <a:srgbClr val="292934"/>
                </a:solidFill>
              </a:endParaRPr>
            </a:p>
            <a:p>
              <a:r>
                <a:rPr lang="en-GB" sz="1400" dirty="0">
                  <a:solidFill>
                    <a:srgbClr val="292934"/>
                  </a:solidFill>
                </a:rPr>
                <a:t>n-bits</a:t>
              </a:r>
            </a:p>
          </p:txBody>
        </p:sp>
        <p:sp>
          <p:nvSpPr>
            <p:cNvPr id="8" name="Rectángulo 7"/>
            <p:cNvSpPr/>
            <p:nvPr/>
          </p:nvSpPr>
          <p:spPr>
            <a:xfrm>
              <a:off x="2800406" y="3295835"/>
              <a:ext cx="937088" cy="957600"/>
            </a:xfrm>
            <a:prstGeom prst="rect">
              <a:avLst/>
            </a:prstGeom>
            <a:solidFill>
              <a:schemeClr val="accent1">
                <a:lumMod val="60000"/>
                <a:lumOff val="40000"/>
              </a:schemeClr>
            </a:solidFill>
            <a:ln w="28575" cmpd="sng">
              <a:solidFill>
                <a:srgbClr val="AD8F67"/>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400" dirty="0" err="1">
                  <a:solidFill>
                    <a:srgbClr val="292934"/>
                  </a:solidFill>
                </a:rPr>
                <a:t>Registro</a:t>
              </a:r>
              <a:endParaRPr lang="en-GB" sz="1400" dirty="0">
                <a:solidFill>
                  <a:srgbClr val="292934"/>
                </a:solidFill>
              </a:endParaRPr>
            </a:p>
            <a:p>
              <a:r>
                <a:rPr lang="en-GB" sz="1400" dirty="0">
                  <a:solidFill>
                    <a:srgbClr val="292934"/>
                  </a:solidFill>
                </a:rPr>
                <a:t>n-bits</a:t>
              </a:r>
            </a:p>
          </p:txBody>
        </p:sp>
        <p:cxnSp>
          <p:nvCxnSpPr>
            <p:cNvPr id="11" name="Conector angular 10"/>
            <p:cNvCxnSpPr>
              <a:stCxn id="7" idx="1"/>
              <a:endCxn id="8" idx="1"/>
            </p:cNvCxnSpPr>
            <p:nvPr/>
          </p:nvCxnSpPr>
          <p:spPr>
            <a:xfrm rot="10800000" flipV="1">
              <a:off x="2800406" y="2778701"/>
              <a:ext cx="12700" cy="995934"/>
            </a:xfrm>
            <a:prstGeom prst="bentConnector3">
              <a:avLst>
                <a:gd name="adj1" fmla="val 4441339"/>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p:cNvCxnSpPr/>
            <p:nvPr/>
          </p:nvCxnSpPr>
          <p:spPr>
            <a:xfrm>
              <a:off x="1377724" y="3279619"/>
              <a:ext cx="874566" cy="0"/>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15" name="CuadroTexto 14"/>
            <p:cNvSpPr txBox="1"/>
            <p:nvPr/>
          </p:nvSpPr>
          <p:spPr>
            <a:xfrm>
              <a:off x="1669839" y="2875599"/>
              <a:ext cx="441422" cy="369332"/>
            </a:xfrm>
            <a:prstGeom prst="rect">
              <a:avLst/>
            </a:prstGeom>
            <a:noFill/>
          </p:spPr>
          <p:txBody>
            <a:bodyPr wrap="none" rtlCol="0">
              <a:spAutoFit/>
            </a:bodyPr>
            <a:lstStyle/>
            <a:p>
              <a:pPr algn="ctr"/>
              <a:r>
                <a:rPr lang="es-ES_tradnl" dirty="0"/>
                <a:t>2n</a:t>
              </a:r>
            </a:p>
          </p:txBody>
        </p:sp>
        <p:sp>
          <p:nvSpPr>
            <p:cNvPr id="16" name="CuadroTexto 15"/>
            <p:cNvSpPr txBox="1"/>
            <p:nvPr/>
          </p:nvSpPr>
          <p:spPr>
            <a:xfrm>
              <a:off x="241559" y="2807230"/>
              <a:ext cx="1488179" cy="1015663"/>
            </a:xfrm>
            <a:prstGeom prst="rect">
              <a:avLst/>
            </a:prstGeom>
            <a:noFill/>
          </p:spPr>
          <p:txBody>
            <a:bodyPr wrap="square" rtlCol="0">
              <a:spAutoFit/>
            </a:bodyPr>
            <a:lstStyle/>
            <a:p>
              <a:pPr algn="ctr"/>
              <a:r>
                <a:rPr lang="en-GB" sz="1800" dirty="0"/>
                <a:t>Bits de </a:t>
              </a:r>
              <a:r>
                <a:rPr lang="en-GB" sz="1800" dirty="0" err="1"/>
                <a:t>datos</a:t>
              </a:r>
              <a:endParaRPr lang="en-GB" sz="1800" dirty="0"/>
            </a:p>
            <a:p>
              <a:pPr algn="ctr"/>
              <a:r>
                <a:rPr lang="en-GB" sz="1800" dirty="0"/>
                <a:t>DRAM</a:t>
              </a:r>
            </a:p>
          </p:txBody>
        </p:sp>
        <p:cxnSp>
          <p:nvCxnSpPr>
            <p:cNvPr id="18" name="Conector recto 17"/>
            <p:cNvCxnSpPr/>
            <p:nvPr/>
          </p:nvCxnSpPr>
          <p:spPr>
            <a:xfrm flipV="1">
              <a:off x="1713190" y="3187882"/>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4" name="CuadroTexto 23"/>
            <p:cNvSpPr txBox="1"/>
            <p:nvPr/>
          </p:nvSpPr>
          <p:spPr>
            <a:xfrm>
              <a:off x="2385414" y="2371652"/>
              <a:ext cx="313044" cy="369332"/>
            </a:xfrm>
            <a:prstGeom prst="rect">
              <a:avLst/>
            </a:prstGeom>
            <a:noFill/>
          </p:spPr>
          <p:txBody>
            <a:bodyPr wrap="none" rtlCol="0">
              <a:spAutoFit/>
            </a:bodyPr>
            <a:lstStyle/>
            <a:p>
              <a:pPr algn="ctr"/>
              <a:r>
                <a:rPr lang="es-ES_tradnl" dirty="0"/>
                <a:t>n</a:t>
              </a:r>
            </a:p>
          </p:txBody>
        </p:sp>
        <p:cxnSp>
          <p:nvCxnSpPr>
            <p:cNvPr id="25" name="Conector recto 24"/>
            <p:cNvCxnSpPr/>
            <p:nvPr/>
          </p:nvCxnSpPr>
          <p:spPr>
            <a:xfrm flipV="1">
              <a:off x="2440103" y="2695917"/>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6" name="CuadroTexto 25"/>
            <p:cNvSpPr txBox="1"/>
            <p:nvPr/>
          </p:nvSpPr>
          <p:spPr>
            <a:xfrm>
              <a:off x="2385414" y="3387500"/>
              <a:ext cx="313044" cy="369332"/>
            </a:xfrm>
            <a:prstGeom prst="rect">
              <a:avLst/>
            </a:prstGeom>
            <a:noFill/>
          </p:spPr>
          <p:txBody>
            <a:bodyPr wrap="none" rtlCol="0">
              <a:spAutoFit/>
            </a:bodyPr>
            <a:lstStyle/>
            <a:p>
              <a:pPr algn="ctr"/>
              <a:r>
                <a:rPr lang="es-ES_tradnl" dirty="0"/>
                <a:t>n</a:t>
              </a:r>
            </a:p>
          </p:txBody>
        </p:sp>
        <p:cxnSp>
          <p:nvCxnSpPr>
            <p:cNvPr id="27" name="Conector recto 26"/>
            <p:cNvCxnSpPr/>
            <p:nvPr/>
          </p:nvCxnSpPr>
          <p:spPr>
            <a:xfrm flipV="1">
              <a:off x="2440103" y="3687801"/>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8" name="Rectángulo 27"/>
            <p:cNvSpPr/>
            <p:nvPr/>
          </p:nvSpPr>
          <p:spPr>
            <a:xfrm>
              <a:off x="4600453" y="2300489"/>
              <a:ext cx="1054271" cy="1925686"/>
            </a:xfrm>
            <a:prstGeom prst="rect">
              <a:avLst/>
            </a:prstGeom>
            <a:solidFill>
              <a:schemeClr val="accent1">
                <a:lumMod val="60000"/>
                <a:lumOff val="40000"/>
              </a:schemeClr>
            </a:solidFill>
            <a:ln w="28575" cmpd="sng">
              <a:solidFill>
                <a:srgbClr val="AD8F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solidFill>
                    <a:srgbClr val="292934"/>
                  </a:solidFill>
                </a:rPr>
                <a:t>MUX</a:t>
              </a:r>
            </a:p>
          </p:txBody>
        </p:sp>
        <p:cxnSp>
          <p:nvCxnSpPr>
            <p:cNvPr id="30" name="Conector angular 29"/>
            <p:cNvCxnSpPr>
              <a:stCxn id="7" idx="3"/>
            </p:cNvCxnSpPr>
            <p:nvPr/>
          </p:nvCxnSpPr>
          <p:spPr>
            <a:xfrm>
              <a:off x="3737494" y="2778701"/>
              <a:ext cx="862959" cy="180000"/>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2" name="Conector angular 31"/>
            <p:cNvCxnSpPr/>
            <p:nvPr/>
          </p:nvCxnSpPr>
          <p:spPr>
            <a:xfrm flipV="1">
              <a:off x="3737494" y="3592396"/>
              <a:ext cx="862959" cy="180000"/>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6" name="Conector angular 35"/>
            <p:cNvCxnSpPr>
              <a:endCxn id="8" idx="2"/>
            </p:cNvCxnSpPr>
            <p:nvPr/>
          </p:nvCxnSpPr>
          <p:spPr>
            <a:xfrm flipV="1">
              <a:off x="1669839" y="4253435"/>
              <a:ext cx="1599111" cy="26525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43" name="CuadroTexto 42"/>
            <p:cNvSpPr txBox="1"/>
            <p:nvPr/>
          </p:nvSpPr>
          <p:spPr>
            <a:xfrm>
              <a:off x="121332" y="4580353"/>
              <a:ext cx="2172390" cy="701731"/>
            </a:xfrm>
            <a:prstGeom prst="rect">
              <a:avLst/>
            </a:prstGeom>
            <a:noFill/>
          </p:spPr>
          <p:txBody>
            <a:bodyPr wrap="none" rtlCol="0">
              <a:spAutoFit/>
            </a:bodyPr>
            <a:lstStyle/>
            <a:p>
              <a:pPr algn="ctr"/>
              <a:r>
                <a:rPr lang="en-GB" sz="1800" dirty="0" err="1"/>
                <a:t>Lectura</a:t>
              </a:r>
              <a:r>
                <a:rPr lang="en-GB" sz="1800" dirty="0"/>
                <a:t> a </a:t>
              </a:r>
              <a:r>
                <a:rPr lang="en-GB" sz="1800" i="1" dirty="0">
                  <a:solidFill>
                    <a:schemeClr val="tx2"/>
                  </a:solidFill>
                </a:rPr>
                <a:t>f</a:t>
              </a:r>
              <a:r>
                <a:rPr lang="en-GB" sz="1800" dirty="0">
                  <a:solidFill>
                    <a:schemeClr val="tx2"/>
                  </a:solidFill>
                </a:rPr>
                <a:t> </a:t>
              </a:r>
              <a:r>
                <a:rPr lang="en-GB" sz="1800" dirty="0"/>
                <a:t>MHz</a:t>
              </a:r>
            </a:p>
            <a:p>
              <a:pPr algn="ctr"/>
              <a:r>
                <a:rPr lang="en-GB" sz="1800" dirty="0"/>
                <a:t>(</a:t>
              </a:r>
              <a:r>
                <a:rPr lang="en-GB" sz="1800" dirty="0" err="1"/>
                <a:t>frecuencia</a:t>
              </a:r>
              <a:r>
                <a:rPr lang="en-GB" sz="1800" dirty="0"/>
                <a:t> </a:t>
              </a:r>
              <a:r>
                <a:rPr lang="en-GB" sz="1800" dirty="0" err="1"/>
                <a:t>interna</a:t>
              </a:r>
              <a:r>
                <a:rPr lang="en-GB" sz="1800" dirty="0"/>
                <a:t>)</a:t>
              </a:r>
            </a:p>
          </p:txBody>
        </p:sp>
        <p:cxnSp>
          <p:nvCxnSpPr>
            <p:cNvPr id="45" name="Conector recto de flecha 44"/>
            <p:cNvCxnSpPr>
              <a:stCxn id="28" idx="3"/>
              <a:endCxn id="46" idx="1"/>
            </p:cNvCxnSpPr>
            <p:nvPr/>
          </p:nvCxnSpPr>
          <p:spPr>
            <a:xfrm>
              <a:off x="5654724" y="3263332"/>
              <a:ext cx="834838" cy="13336"/>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46" name="CuadroTexto 45"/>
            <p:cNvSpPr txBox="1"/>
            <p:nvPr/>
          </p:nvSpPr>
          <p:spPr>
            <a:xfrm>
              <a:off x="6489562" y="3076613"/>
              <a:ext cx="1952779" cy="400110"/>
            </a:xfrm>
            <a:prstGeom prst="rect">
              <a:avLst/>
            </a:prstGeom>
            <a:noFill/>
          </p:spPr>
          <p:txBody>
            <a:bodyPr wrap="none" rtlCol="0">
              <a:spAutoFit/>
            </a:bodyPr>
            <a:lstStyle/>
            <a:p>
              <a:r>
                <a:rPr lang="en-GB" dirty="0" err="1"/>
                <a:t>Datos</a:t>
              </a:r>
              <a:r>
                <a:rPr lang="en-GB" dirty="0"/>
                <a:t> de </a:t>
              </a:r>
              <a:r>
                <a:rPr lang="en-GB" dirty="0" err="1"/>
                <a:t>salida</a:t>
              </a:r>
              <a:endParaRPr lang="en-GB" dirty="0"/>
            </a:p>
          </p:txBody>
        </p:sp>
        <p:cxnSp>
          <p:nvCxnSpPr>
            <p:cNvPr id="48" name="Conector angular 47"/>
            <p:cNvCxnSpPr>
              <a:endCxn id="28" idx="2"/>
            </p:cNvCxnSpPr>
            <p:nvPr/>
          </p:nvCxnSpPr>
          <p:spPr>
            <a:xfrm rot="10800000">
              <a:off x="5127589" y="4226175"/>
              <a:ext cx="1389722" cy="29251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52" name="CuadroTexto 51"/>
            <p:cNvSpPr txBox="1"/>
            <p:nvPr/>
          </p:nvSpPr>
          <p:spPr>
            <a:xfrm>
              <a:off x="5946326" y="3870061"/>
              <a:ext cx="2574166" cy="701731"/>
            </a:xfrm>
            <a:prstGeom prst="rect">
              <a:avLst/>
            </a:prstGeom>
            <a:noFill/>
          </p:spPr>
          <p:txBody>
            <a:bodyPr wrap="none" rtlCol="0">
              <a:spAutoFit/>
            </a:bodyPr>
            <a:lstStyle/>
            <a:p>
              <a:pPr algn="ctr"/>
              <a:r>
                <a:rPr lang="en-GB" sz="1800" dirty="0" err="1"/>
                <a:t>Transferencia</a:t>
              </a:r>
              <a:r>
                <a:rPr lang="en-GB" sz="1800" dirty="0"/>
                <a:t> a </a:t>
              </a:r>
              <a:r>
                <a:rPr lang="en-GB" sz="1800" i="1" dirty="0">
                  <a:solidFill>
                    <a:srgbClr val="D2533C"/>
                  </a:solidFill>
                </a:rPr>
                <a:t>2f</a:t>
              </a:r>
              <a:r>
                <a:rPr lang="en-GB" sz="1800" dirty="0">
                  <a:solidFill>
                    <a:srgbClr val="D2533C"/>
                  </a:solidFill>
                </a:rPr>
                <a:t> </a:t>
              </a:r>
              <a:r>
                <a:rPr lang="en-GB" sz="1800" dirty="0"/>
                <a:t>MHz</a:t>
              </a:r>
            </a:p>
            <a:p>
              <a:pPr algn="ctr"/>
              <a:r>
                <a:rPr lang="en-GB" sz="1800" dirty="0"/>
                <a:t>(</a:t>
              </a:r>
              <a:r>
                <a:rPr lang="en-GB" sz="1800" dirty="0" err="1"/>
                <a:t>frecuencia</a:t>
              </a:r>
              <a:r>
                <a:rPr lang="en-GB" sz="1800" dirty="0"/>
                <a:t> externa)</a:t>
              </a:r>
            </a:p>
          </p:txBody>
        </p:sp>
      </p:grpSp>
      <p:sp>
        <p:nvSpPr>
          <p:cNvPr id="88" name="CuadroTexto 87"/>
          <p:cNvSpPr txBox="1"/>
          <p:nvPr/>
        </p:nvSpPr>
        <p:spPr>
          <a:xfrm>
            <a:off x="6300893" y="3810689"/>
            <a:ext cx="313044" cy="369332"/>
          </a:xfrm>
          <a:prstGeom prst="rect">
            <a:avLst/>
          </a:prstGeom>
          <a:noFill/>
        </p:spPr>
        <p:txBody>
          <a:bodyPr wrap="none" rtlCol="0">
            <a:spAutoFit/>
          </a:bodyPr>
          <a:lstStyle/>
          <a:p>
            <a:pPr algn="ctr"/>
            <a:r>
              <a:rPr lang="es-ES_tradnl" dirty="0"/>
              <a:t>n</a:t>
            </a:r>
          </a:p>
        </p:txBody>
      </p:sp>
      <p:cxnSp>
        <p:nvCxnSpPr>
          <p:cNvPr id="89" name="Conector recto 88"/>
          <p:cNvCxnSpPr/>
          <p:nvPr/>
        </p:nvCxnSpPr>
        <p:spPr>
          <a:xfrm flipV="1">
            <a:off x="6355582" y="4134954"/>
            <a:ext cx="203666" cy="16786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3019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Memorias SDRAM de doble velocidad (DDR)</a:t>
            </a:r>
            <a:endParaRPr lang="es-ES_tradnl" dirty="0"/>
          </a:p>
        </p:txBody>
      </p:sp>
      <p:sp>
        <p:nvSpPr>
          <p:cNvPr id="5" name="Marcador de número de diapositiva 4"/>
          <p:cNvSpPr>
            <a:spLocks noGrp="1"/>
          </p:cNvSpPr>
          <p:nvPr>
            <p:ph type="sldNum" sz="quarter" idx="12"/>
          </p:nvPr>
        </p:nvSpPr>
        <p:spPr/>
        <p:txBody>
          <a:bodyPr/>
          <a:lstStyle/>
          <a:p>
            <a:fld id="{0CFEC368-1D7A-4F81-ABF6-AE0E36BAF64C}" type="slidenum">
              <a:rPr lang="en-US" smtClean="0"/>
              <a:pPr/>
              <a:t>100</a:t>
            </a:fld>
            <a:endParaRPr lang="en-US"/>
          </a:p>
        </p:txBody>
      </p:sp>
      <p:sp>
        <p:nvSpPr>
          <p:cNvPr id="6" name="CuadroTexto 5"/>
          <p:cNvSpPr txBox="1"/>
          <p:nvPr/>
        </p:nvSpPr>
        <p:spPr>
          <a:xfrm>
            <a:off x="70002" y="38285"/>
            <a:ext cx="1937550" cy="276999"/>
          </a:xfrm>
          <a:prstGeom prst="rect">
            <a:avLst/>
          </a:prstGeom>
          <a:noFill/>
        </p:spPr>
        <p:txBody>
          <a:bodyPr wrap="none" rtlCol="0">
            <a:spAutoFit/>
          </a:bodyPr>
          <a:lstStyle/>
          <a:p>
            <a:r>
              <a:rPr lang="en-GB" sz="1200" dirty="0">
                <a:solidFill>
                  <a:srgbClr val="FFFFFF"/>
                </a:solidFill>
              </a:rPr>
              <a:t>4: Dynamic RAM memory</a:t>
            </a:r>
          </a:p>
        </p:txBody>
      </p:sp>
      <p:grpSp>
        <p:nvGrpSpPr>
          <p:cNvPr id="53" name="Agrupar 52"/>
          <p:cNvGrpSpPr/>
          <p:nvPr/>
        </p:nvGrpSpPr>
        <p:grpSpPr>
          <a:xfrm>
            <a:off x="444801" y="3255717"/>
            <a:ext cx="8399160" cy="2981595"/>
            <a:chOff x="121332" y="2300489"/>
            <a:chExt cx="8399160" cy="2981595"/>
          </a:xfrm>
        </p:grpSpPr>
        <p:sp>
          <p:nvSpPr>
            <p:cNvPr id="7" name="Rectángulo 6"/>
            <p:cNvSpPr/>
            <p:nvPr/>
          </p:nvSpPr>
          <p:spPr>
            <a:xfrm>
              <a:off x="2800406" y="2300489"/>
              <a:ext cx="937088" cy="956423"/>
            </a:xfrm>
            <a:prstGeom prst="rect">
              <a:avLst/>
            </a:prstGeom>
            <a:solidFill>
              <a:schemeClr val="accent1">
                <a:lumMod val="60000"/>
                <a:lumOff val="40000"/>
              </a:schemeClr>
            </a:solidFill>
            <a:ln w="28575" cmpd="sng">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err="1">
                  <a:solidFill>
                    <a:srgbClr val="292934"/>
                  </a:solidFill>
                </a:rPr>
                <a:t>Registro</a:t>
              </a:r>
              <a:endParaRPr lang="en-GB" sz="1400" dirty="0">
                <a:solidFill>
                  <a:srgbClr val="292934"/>
                </a:solidFill>
              </a:endParaRPr>
            </a:p>
            <a:p>
              <a:r>
                <a:rPr lang="en-GB" sz="1400" dirty="0">
                  <a:solidFill>
                    <a:srgbClr val="292934"/>
                  </a:solidFill>
                </a:rPr>
                <a:t>n-bits</a:t>
              </a:r>
            </a:p>
          </p:txBody>
        </p:sp>
        <p:sp>
          <p:nvSpPr>
            <p:cNvPr id="8" name="Rectángulo 7"/>
            <p:cNvSpPr/>
            <p:nvPr/>
          </p:nvSpPr>
          <p:spPr>
            <a:xfrm>
              <a:off x="2800406" y="3295835"/>
              <a:ext cx="937088" cy="957600"/>
            </a:xfrm>
            <a:prstGeom prst="rect">
              <a:avLst/>
            </a:prstGeom>
            <a:solidFill>
              <a:schemeClr val="accent1">
                <a:lumMod val="60000"/>
                <a:lumOff val="40000"/>
              </a:schemeClr>
            </a:solidFill>
            <a:ln w="28575" cmpd="sng">
              <a:solidFill>
                <a:srgbClr val="AD8F67"/>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400" dirty="0" err="1">
                  <a:solidFill>
                    <a:srgbClr val="292934"/>
                  </a:solidFill>
                </a:rPr>
                <a:t>Registro</a:t>
              </a:r>
              <a:endParaRPr lang="en-GB" sz="1400" dirty="0">
                <a:solidFill>
                  <a:srgbClr val="292934"/>
                </a:solidFill>
              </a:endParaRPr>
            </a:p>
            <a:p>
              <a:r>
                <a:rPr lang="en-GB" sz="1400" dirty="0">
                  <a:solidFill>
                    <a:srgbClr val="292934"/>
                  </a:solidFill>
                </a:rPr>
                <a:t>n-bits</a:t>
              </a:r>
            </a:p>
          </p:txBody>
        </p:sp>
        <p:cxnSp>
          <p:nvCxnSpPr>
            <p:cNvPr id="11" name="Conector angular 10"/>
            <p:cNvCxnSpPr>
              <a:stCxn id="7" idx="1"/>
              <a:endCxn id="8" idx="1"/>
            </p:cNvCxnSpPr>
            <p:nvPr/>
          </p:nvCxnSpPr>
          <p:spPr>
            <a:xfrm rot="10800000" flipV="1">
              <a:off x="2800406" y="2778701"/>
              <a:ext cx="12700" cy="995934"/>
            </a:xfrm>
            <a:prstGeom prst="bentConnector3">
              <a:avLst>
                <a:gd name="adj1" fmla="val 4441339"/>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p:cNvCxnSpPr/>
            <p:nvPr/>
          </p:nvCxnSpPr>
          <p:spPr>
            <a:xfrm>
              <a:off x="1377724" y="3279619"/>
              <a:ext cx="874566" cy="0"/>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15" name="CuadroTexto 14"/>
            <p:cNvSpPr txBox="1"/>
            <p:nvPr/>
          </p:nvSpPr>
          <p:spPr>
            <a:xfrm>
              <a:off x="1669839" y="2875599"/>
              <a:ext cx="441422" cy="369332"/>
            </a:xfrm>
            <a:prstGeom prst="rect">
              <a:avLst/>
            </a:prstGeom>
            <a:noFill/>
          </p:spPr>
          <p:txBody>
            <a:bodyPr wrap="none" rtlCol="0">
              <a:spAutoFit/>
            </a:bodyPr>
            <a:lstStyle/>
            <a:p>
              <a:pPr algn="ctr"/>
              <a:r>
                <a:rPr lang="es-ES_tradnl" dirty="0"/>
                <a:t>2n</a:t>
              </a:r>
            </a:p>
          </p:txBody>
        </p:sp>
        <p:sp>
          <p:nvSpPr>
            <p:cNvPr id="16" name="CuadroTexto 15"/>
            <p:cNvSpPr txBox="1"/>
            <p:nvPr/>
          </p:nvSpPr>
          <p:spPr>
            <a:xfrm>
              <a:off x="241559" y="2807230"/>
              <a:ext cx="1488179" cy="1015663"/>
            </a:xfrm>
            <a:prstGeom prst="rect">
              <a:avLst/>
            </a:prstGeom>
            <a:noFill/>
          </p:spPr>
          <p:txBody>
            <a:bodyPr wrap="square" rtlCol="0">
              <a:spAutoFit/>
            </a:bodyPr>
            <a:lstStyle/>
            <a:p>
              <a:pPr algn="ctr"/>
              <a:r>
                <a:rPr lang="en-GB" sz="1800" dirty="0"/>
                <a:t>Bits de </a:t>
              </a:r>
              <a:r>
                <a:rPr lang="en-GB" sz="1800" dirty="0" err="1"/>
                <a:t>datos</a:t>
              </a:r>
              <a:endParaRPr lang="en-GB" sz="1800" dirty="0"/>
            </a:p>
            <a:p>
              <a:pPr algn="ctr"/>
              <a:r>
                <a:rPr lang="en-GB" sz="1800" dirty="0"/>
                <a:t>DRAM</a:t>
              </a:r>
            </a:p>
          </p:txBody>
        </p:sp>
        <p:cxnSp>
          <p:nvCxnSpPr>
            <p:cNvPr id="18" name="Conector recto 17"/>
            <p:cNvCxnSpPr/>
            <p:nvPr/>
          </p:nvCxnSpPr>
          <p:spPr>
            <a:xfrm flipV="1">
              <a:off x="1713190" y="3187882"/>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4" name="CuadroTexto 23"/>
            <p:cNvSpPr txBox="1"/>
            <p:nvPr/>
          </p:nvSpPr>
          <p:spPr>
            <a:xfrm>
              <a:off x="2385414" y="2371652"/>
              <a:ext cx="313044" cy="369332"/>
            </a:xfrm>
            <a:prstGeom prst="rect">
              <a:avLst/>
            </a:prstGeom>
            <a:noFill/>
          </p:spPr>
          <p:txBody>
            <a:bodyPr wrap="none" rtlCol="0">
              <a:spAutoFit/>
            </a:bodyPr>
            <a:lstStyle/>
            <a:p>
              <a:pPr algn="ctr"/>
              <a:r>
                <a:rPr lang="es-ES_tradnl" dirty="0"/>
                <a:t>n</a:t>
              </a:r>
            </a:p>
          </p:txBody>
        </p:sp>
        <p:cxnSp>
          <p:nvCxnSpPr>
            <p:cNvPr id="25" name="Conector recto 24"/>
            <p:cNvCxnSpPr/>
            <p:nvPr/>
          </p:nvCxnSpPr>
          <p:spPr>
            <a:xfrm flipV="1">
              <a:off x="2440103" y="2695917"/>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6" name="CuadroTexto 25"/>
            <p:cNvSpPr txBox="1"/>
            <p:nvPr/>
          </p:nvSpPr>
          <p:spPr>
            <a:xfrm>
              <a:off x="2385414" y="3387500"/>
              <a:ext cx="313044" cy="369332"/>
            </a:xfrm>
            <a:prstGeom prst="rect">
              <a:avLst/>
            </a:prstGeom>
            <a:noFill/>
          </p:spPr>
          <p:txBody>
            <a:bodyPr wrap="none" rtlCol="0">
              <a:spAutoFit/>
            </a:bodyPr>
            <a:lstStyle/>
            <a:p>
              <a:pPr algn="ctr"/>
              <a:r>
                <a:rPr lang="es-ES_tradnl" dirty="0"/>
                <a:t>n</a:t>
              </a:r>
            </a:p>
          </p:txBody>
        </p:sp>
        <p:cxnSp>
          <p:nvCxnSpPr>
            <p:cNvPr id="27" name="Conector recto 26"/>
            <p:cNvCxnSpPr/>
            <p:nvPr/>
          </p:nvCxnSpPr>
          <p:spPr>
            <a:xfrm flipV="1">
              <a:off x="2440103" y="3687801"/>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8" name="Rectángulo 27"/>
            <p:cNvSpPr/>
            <p:nvPr/>
          </p:nvSpPr>
          <p:spPr>
            <a:xfrm>
              <a:off x="4600453" y="2300489"/>
              <a:ext cx="1054271" cy="1925686"/>
            </a:xfrm>
            <a:prstGeom prst="rect">
              <a:avLst/>
            </a:prstGeom>
            <a:solidFill>
              <a:schemeClr val="accent1">
                <a:lumMod val="60000"/>
                <a:lumOff val="40000"/>
              </a:schemeClr>
            </a:solidFill>
            <a:ln w="28575" cmpd="sng">
              <a:solidFill>
                <a:srgbClr val="AD8F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solidFill>
                    <a:srgbClr val="292934"/>
                  </a:solidFill>
                </a:rPr>
                <a:t>MUX</a:t>
              </a:r>
            </a:p>
          </p:txBody>
        </p:sp>
        <p:cxnSp>
          <p:nvCxnSpPr>
            <p:cNvPr id="30" name="Conector angular 29"/>
            <p:cNvCxnSpPr>
              <a:stCxn id="7" idx="3"/>
            </p:cNvCxnSpPr>
            <p:nvPr/>
          </p:nvCxnSpPr>
          <p:spPr>
            <a:xfrm>
              <a:off x="3737494" y="2778701"/>
              <a:ext cx="862959" cy="180000"/>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2" name="Conector angular 31"/>
            <p:cNvCxnSpPr/>
            <p:nvPr/>
          </p:nvCxnSpPr>
          <p:spPr>
            <a:xfrm flipV="1">
              <a:off x="3737494" y="3592396"/>
              <a:ext cx="862959" cy="180000"/>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6" name="Conector angular 35"/>
            <p:cNvCxnSpPr>
              <a:endCxn id="8" idx="2"/>
            </p:cNvCxnSpPr>
            <p:nvPr/>
          </p:nvCxnSpPr>
          <p:spPr>
            <a:xfrm flipV="1">
              <a:off x="1669839" y="4253435"/>
              <a:ext cx="1599111" cy="26525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43" name="CuadroTexto 42"/>
            <p:cNvSpPr txBox="1"/>
            <p:nvPr/>
          </p:nvSpPr>
          <p:spPr>
            <a:xfrm>
              <a:off x="121332" y="4580353"/>
              <a:ext cx="2172390" cy="701731"/>
            </a:xfrm>
            <a:prstGeom prst="rect">
              <a:avLst/>
            </a:prstGeom>
            <a:noFill/>
          </p:spPr>
          <p:txBody>
            <a:bodyPr wrap="none" rtlCol="0">
              <a:spAutoFit/>
            </a:bodyPr>
            <a:lstStyle/>
            <a:p>
              <a:pPr algn="ctr"/>
              <a:r>
                <a:rPr lang="en-GB" sz="1800" dirty="0" err="1"/>
                <a:t>Lectura</a:t>
              </a:r>
              <a:r>
                <a:rPr lang="en-GB" sz="1800" dirty="0"/>
                <a:t> a </a:t>
              </a:r>
              <a:r>
                <a:rPr lang="en-GB" sz="1800" i="1" dirty="0">
                  <a:solidFill>
                    <a:schemeClr val="tx2"/>
                  </a:solidFill>
                </a:rPr>
                <a:t>f</a:t>
              </a:r>
              <a:r>
                <a:rPr lang="en-GB" sz="1800" dirty="0">
                  <a:solidFill>
                    <a:schemeClr val="tx2"/>
                  </a:solidFill>
                </a:rPr>
                <a:t> </a:t>
              </a:r>
              <a:r>
                <a:rPr lang="en-GB" sz="1800" dirty="0"/>
                <a:t>MHz</a:t>
              </a:r>
            </a:p>
            <a:p>
              <a:pPr algn="ctr"/>
              <a:r>
                <a:rPr lang="en-GB" sz="1800" dirty="0"/>
                <a:t>(</a:t>
              </a:r>
              <a:r>
                <a:rPr lang="en-GB" sz="1800" dirty="0" err="1"/>
                <a:t>frecuencia</a:t>
              </a:r>
              <a:r>
                <a:rPr lang="en-GB" sz="1800" dirty="0"/>
                <a:t> </a:t>
              </a:r>
              <a:r>
                <a:rPr lang="en-GB" sz="1800" dirty="0" err="1"/>
                <a:t>interna</a:t>
              </a:r>
              <a:r>
                <a:rPr lang="en-GB" sz="1800" dirty="0"/>
                <a:t>)</a:t>
              </a:r>
            </a:p>
          </p:txBody>
        </p:sp>
        <p:cxnSp>
          <p:nvCxnSpPr>
            <p:cNvPr id="45" name="Conector recto de flecha 44"/>
            <p:cNvCxnSpPr>
              <a:stCxn id="28" idx="3"/>
              <a:endCxn id="46" idx="1"/>
            </p:cNvCxnSpPr>
            <p:nvPr/>
          </p:nvCxnSpPr>
          <p:spPr>
            <a:xfrm>
              <a:off x="5654724" y="3263332"/>
              <a:ext cx="834838" cy="13336"/>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46" name="CuadroTexto 45"/>
            <p:cNvSpPr txBox="1"/>
            <p:nvPr/>
          </p:nvSpPr>
          <p:spPr>
            <a:xfrm>
              <a:off x="6489562" y="3076613"/>
              <a:ext cx="1952779" cy="400110"/>
            </a:xfrm>
            <a:prstGeom prst="rect">
              <a:avLst/>
            </a:prstGeom>
            <a:noFill/>
          </p:spPr>
          <p:txBody>
            <a:bodyPr wrap="none" rtlCol="0">
              <a:spAutoFit/>
            </a:bodyPr>
            <a:lstStyle/>
            <a:p>
              <a:r>
                <a:rPr lang="en-GB" dirty="0" err="1"/>
                <a:t>Datos</a:t>
              </a:r>
              <a:r>
                <a:rPr lang="en-GB" dirty="0"/>
                <a:t> de </a:t>
              </a:r>
              <a:r>
                <a:rPr lang="en-GB" dirty="0" err="1"/>
                <a:t>salida</a:t>
              </a:r>
              <a:endParaRPr lang="en-GB" dirty="0"/>
            </a:p>
          </p:txBody>
        </p:sp>
        <p:cxnSp>
          <p:nvCxnSpPr>
            <p:cNvPr id="48" name="Conector angular 47"/>
            <p:cNvCxnSpPr>
              <a:endCxn id="28" idx="2"/>
            </p:cNvCxnSpPr>
            <p:nvPr/>
          </p:nvCxnSpPr>
          <p:spPr>
            <a:xfrm rot="10800000">
              <a:off x="5127589" y="4226175"/>
              <a:ext cx="1389722" cy="29251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52" name="CuadroTexto 51"/>
            <p:cNvSpPr txBox="1"/>
            <p:nvPr/>
          </p:nvSpPr>
          <p:spPr>
            <a:xfrm>
              <a:off x="5946326" y="3870061"/>
              <a:ext cx="2574166" cy="701731"/>
            </a:xfrm>
            <a:prstGeom prst="rect">
              <a:avLst/>
            </a:prstGeom>
            <a:noFill/>
          </p:spPr>
          <p:txBody>
            <a:bodyPr wrap="none" rtlCol="0">
              <a:spAutoFit/>
            </a:bodyPr>
            <a:lstStyle/>
            <a:p>
              <a:pPr algn="ctr"/>
              <a:r>
                <a:rPr lang="en-GB" sz="1800" dirty="0" err="1"/>
                <a:t>Transferencia</a:t>
              </a:r>
              <a:r>
                <a:rPr lang="en-GB" sz="1800" dirty="0"/>
                <a:t> a </a:t>
              </a:r>
              <a:r>
                <a:rPr lang="en-GB" sz="1800" i="1" dirty="0">
                  <a:solidFill>
                    <a:srgbClr val="D2533C"/>
                  </a:solidFill>
                </a:rPr>
                <a:t>2f</a:t>
              </a:r>
              <a:r>
                <a:rPr lang="en-GB" sz="1800" dirty="0">
                  <a:solidFill>
                    <a:srgbClr val="D2533C"/>
                  </a:solidFill>
                </a:rPr>
                <a:t> </a:t>
              </a:r>
              <a:r>
                <a:rPr lang="en-GB" sz="1800" dirty="0"/>
                <a:t>MHz</a:t>
              </a:r>
            </a:p>
            <a:p>
              <a:pPr algn="ctr"/>
              <a:r>
                <a:rPr lang="en-GB" sz="1800" dirty="0"/>
                <a:t>(</a:t>
              </a:r>
              <a:r>
                <a:rPr lang="en-GB" sz="1800" dirty="0" err="1"/>
                <a:t>frecuencia</a:t>
              </a:r>
              <a:r>
                <a:rPr lang="en-GB" sz="1800" dirty="0"/>
                <a:t> externa)</a:t>
              </a:r>
            </a:p>
          </p:txBody>
        </p:sp>
      </p:grpSp>
      <p:sp>
        <p:nvSpPr>
          <p:cNvPr id="88" name="CuadroTexto 87"/>
          <p:cNvSpPr txBox="1"/>
          <p:nvPr/>
        </p:nvSpPr>
        <p:spPr>
          <a:xfrm>
            <a:off x="6300893" y="3810689"/>
            <a:ext cx="313044" cy="369332"/>
          </a:xfrm>
          <a:prstGeom prst="rect">
            <a:avLst/>
          </a:prstGeom>
          <a:noFill/>
        </p:spPr>
        <p:txBody>
          <a:bodyPr wrap="none" rtlCol="0">
            <a:spAutoFit/>
          </a:bodyPr>
          <a:lstStyle/>
          <a:p>
            <a:pPr algn="ctr"/>
            <a:r>
              <a:rPr lang="es-ES_tradnl" dirty="0"/>
              <a:t>n</a:t>
            </a:r>
          </a:p>
        </p:txBody>
      </p:sp>
      <p:cxnSp>
        <p:nvCxnSpPr>
          <p:cNvPr id="89" name="Conector recto 88"/>
          <p:cNvCxnSpPr/>
          <p:nvPr/>
        </p:nvCxnSpPr>
        <p:spPr>
          <a:xfrm flipV="1">
            <a:off x="6355582" y="4134954"/>
            <a:ext cx="203666" cy="167862"/>
          </a:xfrm>
          <a:prstGeom prst="line">
            <a:avLst/>
          </a:prstGeom>
        </p:spPr>
        <p:style>
          <a:lnRef idx="2">
            <a:schemeClr val="accent1"/>
          </a:lnRef>
          <a:fillRef idx="0">
            <a:schemeClr val="accent1"/>
          </a:fillRef>
          <a:effectRef idx="1">
            <a:schemeClr val="accent1"/>
          </a:effectRef>
          <a:fontRef idx="minor">
            <a:schemeClr val="tx1"/>
          </a:fontRef>
        </p:style>
      </p:cxnSp>
      <p:grpSp>
        <p:nvGrpSpPr>
          <p:cNvPr id="19" name="Grupo 18">
            <a:extLst>
              <a:ext uri="{FF2B5EF4-FFF2-40B4-BE49-F238E27FC236}">
                <a16:creationId xmlns:a16="http://schemas.microsoft.com/office/drawing/2014/main" id="{F7C5A53F-DCD3-4BCB-A08C-18D29E522796}"/>
              </a:ext>
            </a:extLst>
          </p:cNvPr>
          <p:cNvGrpSpPr/>
          <p:nvPr/>
        </p:nvGrpSpPr>
        <p:grpSpPr>
          <a:xfrm>
            <a:off x="1187624" y="971550"/>
            <a:ext cx="5746678" cy="657250"/>
            <a:chOff x="1187624" y="971550"/>
            <a:chExt cx="5746678" cy="657250"/>
          </a:xfrm>
        </p:grpSpPr>
        <p:cxnSp>
          <p:nvCxnSpPr>
            <p:cNvPr id="4" name="Conector recto 3">
              <a:extLst>
                <a:ext uri="{FF2B5EF4-FFF2-40B4-BE49-F238E27FC236}">
                  <a16:creationId xmlns:a16="http://schemas.microsoft.com/office/drawing/2014/main" id="{60F58804-C4C7-41E4-A345-7EBF1EC4C5BF}"/>
                </a:ext>
              </a:extLst>
            </p:cNvPr>
            <p:cNvCxnSpPr>
              <a:cxnSpLocks/>
            </p:cNvCxnSpPr>
            <p:nvPr/>
          </p:nvCxnSpPr>
          <p:spPr bwMode="auto">
            <a:xfrm flipV="1">
              <a:off x="1187624" y="981075"/>
              <a:ext cx="0" cy="647725"/>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13" name="Conector recto 12">
              <a:extLst>
                <a:ext uri="{FF2B5EF4-FFF2-40B4-BE49-F238E27FC236}">
                  <a16:creationId xmlns:a16="http://schemas.microsoft.com/office/drawing/2014/main" id="{D49FFD63-92A6-4736-BF84-877E2BFB1005}"/>
                </a:ext>
              </a:extLst>
            </p:cNvPr>
            <p:cNvCxnSpPr>
              <a:cxnSpLocks/>
            </p:cNvCxnSpPr>
            <p:nvPr/>
          </p:nvCxnSpPr>
          <p:spPr bwMode="auto">
            <a:xfrm>
              <a:off x="1187624" y="981075"/>
              <a:ext cx="2873339"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35" name="Conector recto 34">
              <a:extLst>
                <a:ext uri="{FF2B5EF4-FFF2-40B4-BE49-F238E27FC236}">
                  <a16:creationId xmlns:a16="http://schemas.microsoft.com/office/drawing/2014/main" id="{13288238-19CF-4435-B86E-B204CBF9EA48}"/>
                </a:ext>
              </a:extLst>
            </p:cNvPr>
            <p:cNvCxnSpPr>
              <a:cxnSpLocks/>
            </p:cNvCxnSpPr>
            <p:nvPr/>
          </p:nvCxnSpPr>
          <p:spPr bwMode="auto">
            <a:xfrm flipV="1">
              <a:off x="4060963" y="981075"/>
              <a:ext cx="0" cy="647725"/>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37" name="Conector recto 36">
              <a:extLst>
                <a:ext uri="{FF2B5EF4-FFF2-40B4-BE49-F238E27FC236}">
                  <a16:creationId xmlns:a16="http://schemas.microsoft.com/office/drawing/2014/main" id="{6C7D0A6A-1995-4D5C-8CE7-5C6580BD997C}"/>
                </a:ext>
              </a:extLst>
            </p:cNvPr>
            <p:cNvCxnSpPr>
              <a:cxnSpLocks/>
            </p:cNvCxnSpPr>
            <p:nvPr/>
          </p:nvCxnSpPr>
          <p:spPr bwMode="auto">
            <a:xfrm>
              <a:off x="4060963" y="1619275"/>
              <a:ext cx="2873339"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38" name="Conector recto 37">
              <a:extLst>
                <a:ext uri="{FF2B5EF4-FFF2-40B4-BE49-F238E27FC236}">
                  <a16:creationId xmlns:a16="http://schemas.microsoft.com/office/drawing/2014/main" id="{514DFFE6-79BC-4B29-B4DA-E8A8EA8B0323}"/>
                </a:ext>
              </a:extLst>
            </p:cNvPr>
            <p:cNvCxnSpPr>
              <a:cxnSpLocks/>
            </p:cNvCxnSpPr>
            <p:nvPr/>
          </p:nvCxnSpPr>
          <p:spPr bwMode="auto">
            <a:xfrm flipV="1">
              <a:off x="6933206" y="971550"/>
              <a:ext cx="0" cy="647725"/>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grpSp>
      <p:sp>
        <p:nvSpPr>
          <p:cNvPr id="20" name="Rectángulo 19">
            <a:extLst>
              <a:ext uri="{FF2B5EF4-FFF2-40B4-BE49-F238E27FC236}">
                <a16:creationId xmlns:a16="http://schemas.microsoft.com/office/drawing/2014/main" id="{1B531528-5AC0-45DF-BD65-60FD0CA8F59A}"/>
              </a:ext>
            </a:extLst>
          </p:cNvPr>
          <p:cNvSpPr/>
          <p:nvPr/>
        </p:nvSpPr>
        <p:spPr bwMode="auto">
          <a:xfrm>
            <a:off x="1187624" y="1844824"/>
            <a:ext cx="865582" cy="280569"/>
          </a:xfrm>
          <a:prstGeom prst="rect">
            <a:avLst/>
          </a:prstGeom>
          <a:solidFill>
            <a:schemeClr val="accent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Rectángulo 48">
            <a:extLst>
              <a:ext uri="{FF2B5EF4-FFF2-40B4-BE49-F238E27FC236}">
                <a16:creationId xmlns:a16="http://schemas.microsoft.com/office/drawing/2014/main" id="{DB490039-28EE-4BD5-A22E-9ED53DBD0F4C}"/>
              </a:ext>
            </a:extLst>
          </p:cNvPr>
          <p:cNvSpPr/>
          <p:nvPr/>
        </p:nvSpPr>
        <p:spPr bwMode="auto">
          <a:xfrm>
            <a:off x="3983782" y="1814475"/>
            <a:ext cx="865582" cy="280569"/>
          </a:xfrm>
          <a:prstGeom prst="rect">
            <a:avLst/>
          </a:prstGeom>
          <a:solidFill>
            <a:schemeClr val="accent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BFA29F7B-5FA6-4B73-8A74-A5738D54F803}"/>
              </a:ext>
            </a:extLst>
          </p:cNvPr>
          <p:cNvSpPr txBox="1"/>
          <p:nvPr/>
        </p:nvSpPr>
        <p:spPr>
          <a:xfrm>
            <a:off x="1120977" y="2242392"/>
            <a:ext cx="950901" cy="307777"/>
          </a:xfrm>
          <a:prstGeom prst="rect">
            <a:avLst/>
          </a:prstGeom>
          <a:noFill/>
        </p:spPr>
        <p:txBody>
          <a:bodyPr wrap="none" rtlCol="0">
            <a:spAutoFit/>
          </a:bodyPr>
          <a:lstStyle/>
          <a:p>
            <a:r>
              <a:rPr lang="es-ES" sz="1400" dirty="0">
                <a:solidFill>
                  <a:schemeClr val="accent1">
                    <a:lumMod val="75000"/>
                  </a:schemeClr>
                </a:solidFill>
              </a:rPr>
              <a:t>Palabra 1</a:t>
            </a:r>
          </a:p>
        </p:txBody>
      </p:sp>
      <p:sp>
        <p:nvSpPr>
          <p:cNvPr id="50" name="CuadroTexto 49">
            <a:extLst>
              <a:ext uri="{FF2B5EF4-FFF2-40B4-BE49-F238E27FC236}">
                <a16:creationId xmlns:a16="http://schemas.microsoft.com/office/drawing/2014/main" id="{B2AE06A1-8605-4F01-8470-6FD222B8DB4E}"/>
              </a:ext>
            </a:extLst>
          </p:cNvPr>
          <p:cNvSpPr txBox="1"/>
          <p:nvPr/>
        </p:nvSpPr>
        <p:spPr>
          <a:xfrm>
            <a:off x="3898463" y="2198680"/>
            <a:ext cx="950901" cy="307777"/>
          </a:xfrm>
          <a:prstGeom prst="rect">
            <a:avLst/>
          </a:prstGeom>
          <a:noFill/>
        </p:spPr>
        <p:txBody>
          <a:bodyPr wrap="none" rtlCol="0">
            <a:spAutoFit/>
          </a:bodyPr>
          <a:lstStyle/>
          <a:p>
            <a:r>
              <a:rPr lang="es-ES" sz="1400" dirty="0">
                <a:solidFill>
                  <a:schemeClr val="accent1">
                    <a:lumMod val="75000"/>
                  </a:schemeClr>
                </a:solidFill>
              </a:rPr>
              <a:t>Palabra 2</a:t>
            </a:r>
          </a:p>
        </p:txBody>
      </p:sp>
      <p:sp>
        <p:nvSpPr>
          <p:cNvPr id="22" name="CuadroTexto 21">
            <a:extLst>
              <a:ext uri="{FF2B5EF4-FFF2-40B4-BE49-F238E27FC236}">
                <a16:creationId xmlns:a16="http://schemas.microsoft.com/office/drawing/2014/main" id="{BB61986C-ACCE-4634-8153-3FC1E7E81958}"/>
              </a:ext>
            </a:extLst>
          </p:cNvPr>
          <p:cNvSpPr txBox="1"/>
          <p:nvPr/>
        </p:nvSpPr>
        <p:spPr>
          <a:xfrm flipH="1">
            <a:off x="6907031" y="1321023"/>
            <a:ext cx="865581" cy="307777"/>
          </a:xfrm>
          <a:prstGeom prst="rect">
            <a:avLst/>
          </a:prstGeom>
          <a:noFill/>
        </p:spPr>
        <p:txBody>
          <a:bodyPr wrap="square" rtlCol="0">
            <a:spAutoFit/>
          </a:bodyPr>
          <a:lstStyle/>
          <a:p>
            <a:r>
              <a:rPr lang="es-ES" sz="1400" dirty="0">
                <a:solidFill>
                  <a:schemeClr val="accent1">
                    <a:lumMod val="75000"/>
                  </a:schemeClr>
                </a:solidFill>
              </a:rPr>
              <a:t>Fe</a:t>
            </a:r>
          </a:p>
        </p:txBody>
      </p:sp>
    </p:spTree>
    <p:extLst>
      <p:ext uri="{BB962C8B-B14F-4D97-AF65-F5344CB8AC3E}">
        <p14:creationId xmlns:p14="http://schemas.microsoft.com/office/powerpoint/2010/main" val="3770637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r>
              <a:rPr lang="es-ES" dirty="0"/>
              <a:t>Memorias SDRAM de doble velocidad (DDR)</a:t>
            </a:r>
          </a:p>
        </p:txBody>
      </p:sp>
      <p:sp>
        <p:nvSpPr>
          <p:cNvPr id="80900" name="Rectangle 3"/>
          <p:cNvSpPr>
            <a:spLocks noGrp="1" noChangeArrowheads="1"/>
          </p:cNvSpPr>
          <p:nvPr>
            <p:ph type="body" idx="1"/>
          </p:nvPr>
        </p:nvSpPr>
        <p:spPr>
          <a:xfrm>
            <a:off x="228600" y="908720"/>
            <a:ext cx="8447856" cy="1545927"/>
          </a:xfrm>
        </p:spPr>
        <p:txBody>
          <a:bodyPr/>
          <a:lstStyle/>
          <a:p>
            <a:pPr>
              <a:lnSpc>
                <a:spcPct val="100000"/>
              </a:lnSpc>
            </a:pPr>
            <a:r>
              <a:rPr lang="es-ES" dirty="0"/>
              <a:t>Cronograma de lectura: Memorias SDRAM DDR</a:t>
            </a:r>
            <a:endParaRPr lang="es-ES" altLang="ja-JP" dirty="0">
              <a:ea typeface="Geneva" pitchFamily="1" charset="-128"/>
            </a:endParaRPr>
          </a:p>
          <a:p>
            <a:pPr lvl="1">
              <a:lnSpc>
                <a:spcPct val="100000"/>
              </a:lnSpc>
            </a:pPr>
            <a:r>
              <a:rPr lang="es-ES" altLang="ja-JP" dirty="0">
                <a:ea typeface="Geneva" pitchFamily="1" charset="-128"/>
              </a:rPr>
              <a:t>La velocidad de transmisión es el doble de la frecuencia del reloj</a:t>
            </a:r>
          </a:p>
          <a:p>
            <a:pPr lvl="2">
              <a:lnSpc>
                <a:spcPct val="100000"/>
              </a:lnSpc>
            </a:pPr>
            <a:r>
              <a:rPr lang="es-ES" altLang="ja-JP" dirty="0">
                <a:ea typeface="Geneva" pitchFamily="1" charset="-128"/>
              </a:rPr>
              <a:t>Se duplica la tasa efectiva de transferencia de datos, transmitiendo </a:t>
            </a:r>
            <a:r>
              <a:rPr lang="es-ES" altLang="ja-JP" dirty="0">
                <a:solidFill>
                  <a:srgbClr val="FF0000"/>
                </a:solidFill>
                <a:ea typeface="Geneva" pitchFamily="1" charset="-128"/>
              </a:rPr>
              <a:t>dos palabras</a:t>
            </a:r>
            <a:r>
              <a:rPr lang="es-ES" altLang="ja-JP" dirty="0">
                <a:ea typeface="Geneva" pitchFamily="1" charset="-128"/>
              </a:rPr>
              <a:t> </a:t>
            </a:r>
            <a:r>
              <a:rPr lang="es-ES" altLang="ja-JP" dirty="0">
                <a:solidFill>
                  <a:srgbClr val="FF0000"/>
                </a:solidFill>
                <a:ea typeface="Geneva" pitchFamily="1" charset="-128"/>
              </a:rPr>
              <a:t>por ciclo </a:t>
            </a:r>
            <a:r>
              <a:rPr lang="es-ES" altLang="ja-JP" dirty="0">
                <a:ea typeface="Geneva" pitchFamily="1" charset="-128"/>
              </a:rPr>
              <a:t>de reloj: una en flanco de bajada y otra en flanco de subida de CLK</a:t>
            </a:r>
          </a:p>
          <a:p>
            <a:pPr lvl="2">
              <a:lnSpc>
                <a:spcPct val="100000"/>
              </a:lnSpc>
            </a:pPr>
            <a:endParaRPr lang="es-ES" dirty="0"/>
          </a:p>
        </p:txBody>
      </p:sp>
      <p:grpSp>
        <p:nvGrpSpPr>
          <p:cNvPr id="92" name="91 Grupo"/>
          <p:cNvGrpSpPr/>
          <p:nvPr/>
        </p:nvGrpSpPr>
        <p:grpSpPr>
          <a:xfrm>
            <a:off x="1453356" y="3799403"/>
            <a:ext cx="6237287" cy="2052391"/>
            <a:chOff x="1430338" y="4437112"/>
            <a:chExt cx="6237287" cy="2052391"/>
          </a:xfrm>
        </p:grpSpPr>
        <p:grpSp>
          <p:nvGrpSpPr>
            <p:cNvPr id="3" name="Group 42"/>
            <p:cNvGrpSpPr>
              <a:grpSpLocks/>
            </p:cNvGrpSpPr>
            <p:nvPr/>
          </p:nvGrpSpPr>
          <p:grpSpPr bwMode="auto">
            <a:xfrm>
              <a:off x="2867025" y="4437112"/>
              <a:ext cx="4267200" cy="1853952"/>
              <a:chOff x="1440" y="1392"/>
              <a:chExt cx="2688" cy="1440"/>
            </a:xfrm>
          </p:grpSpPr>
          <p:sp>
            <p:nvSpPr>
              <p:cNvPr id="80980" name="Line 43"/>
              <p:cNvSpPr>
                <a:spLocks noChangeShapeType="1"/>
              </p:cNvSpPr>
              <p:nvPr/>
            </p:nvSpPr>
            <p:spPr bwMode="auto">
              <a:xfrm>
                <a:off x="1440"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1" name="Line 44"/>
              <p:cNvSpPr>
                <a:spLocks noChangeShapeType="1"/>
              </p:cNvSpPr>
              <p:nvPr/>
            </p:nvSpPr>
            <p:spPr bwMode="auto">
              <a:xfrm>
                <a:off x="1824"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2" name="Line 45"/>
              <p:cNvSpPr>
                <a:spLocks noChangeShapeType="1"/>
              </p:cNvSpPr>
              <p:nvPr/>
            </p:nvSpPr>
            <p:spPr bwMode="auto">
              <a:xfrm>
                <a:off x="2208"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3" name="Line 46"/>
              <p:cNvSpPr>
                <a:spLocks noChangeShapeType="1"/>
              </p:cNvSpPr>
              <p:nvPr/>
            </p:nvSpPr>
            <p:spPr bwMode="auto">
              <a:xfrm>
                <a:off x="2592"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4" name="Line 47"/>
              <p:cNvSpPr>
                <a:spLocks noChangeShapeType="1"/>
              </p:cNvSpPr>
              <p:nvPr/>
            </p:nvSpPr>
            <p:spPr bwMode="auto">
              <a:xfrm>
                <a:off x="2976"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5" name="Line 48"/>
              <p:cNvSpPr>
                <a:spLocks noChangeShapeType="1"/>
              </p:cNvSpPr>
              <p:nvPr/>
            </p:nvSpPr>
            <p:spPr bwMode="auto">
              <a:xfrm>
                <a:off x="3360"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6" name="Line 49"/>
              <p:cNvSpPr>
                <a:spLocks noChangeShapeType="1"/>
              </p:cNvSpPr>
              <p:nvPr/>
            </p:nvSpPr>
            <p:spPr bwMode="auto">
              <a:xfrm>
                <a:off x="3744" y="1392"/>
                <a:ext cx="0" cy="1440"/>
              </a:xfrm>
              <a:prstGeom prst="line">
                <a:avLst/>
              </a:prstGeom>
              <a:noFill/>
              <a:ln w="9525">
                <a:solidFill>
                  <a:schemeClr val="tx1"/>
                </a:solidFill>
                <a:round/>
                <a:headEnd/>
                <a:tailEnd/>
              </a:ln>
            </p:spPr>
            <p:txBody>
              <a:bodyPr wrap="none" lIns="0" tIns="0" rIns="0" bIns="0" anchor="ctr"/>
              <a:lstStyle/>
              <a:p>
                <a:endParaRPr lang="es-ES"/>
              </a:p>
            </p:txBody>
          </p:sp>
          <p:sp>
            <p:nvSpPr>
              <p:cNvPr id="80987" name="Line 50"/>
              <p:cNvSpPr>
                <a:spLocks noChangeShapeType="1"/>
              </p:cNvSpPr>
              <p:nvPr/>
            </p:nvSpPr>
            <p:spPr bwMode="auto">
              <a:xfrm>
                <a:off x="4128" y="1392"/>
                <a:ext cx="0" cy="1440"/>
              </a:xfrm>
              <a:prstGeom prst="line">
                <a:avLst/>
              </a:prstGeom>
              <a:noFill/>
              <a:ln w="9525">
                <a:solidFill>
                  <a:schemeClr val="tx1"/>
                </a:solidFill>
                <a:round/>
                <a:headEnd/>
                <a:tailEnd/>
              </a:ln>
            </p:spPr>
            <p:txBody>
              <a:bodyPr wrap="none" lIns="0" tIns="0" rIns="0" bIns="0" anchor="ctr"/>
              <a:lstStyle/>
              <a:p>
                <a:endParaRPr lang="es-ES"/>
              </a:p>
            </p:txBody>
          </p:sp>
        </p:grpSp>
        <p:grpSp>
          <p:nvGrpSpPr>
            <p:cNvPr id="4" name="Group 51"/>
            <p:cNvGrpSpPr>
              <a:grpSpLocks/>
            </p:cNvGrpSpPr>
            <p:nvPr/>
          </p:nvGrpSpPr>
          <p:grpSpPr bwMode="auto">
            <a:xfrm>
              <a:off x="2562225" y="4995665"/>
              <a:ext cx="609600" cy="304800"/>
              <a:chOff x="576" y="2016"/>
              <a:chExt cx="384" cy="192"/>
            </a:xfrm>
          </p:grpSpPr>
          <p:sp>
            <p:nvSpPr>
              <p:cNvPr id="80978" name="Freeform 52"/>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79" name="Text Box 53"/>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ACT</a:t>
                </a:r>
              </a:p>
            </p:txBody>
          </p:sp>
        </p:grpSp>
        <p:grpSp>
          <p:nvGrpSpPr>
            <p:cNvPr id="5" name="Group 54"/>
            <p:cNvGrpSpPr>
              <a:grpSpLocks/>
            </p:cNvGrpSpPr>
            <p:nvPr/>
          </p:nvGrpSpPr>
          <p:grpSpPr bwMode="auto">
            <a:xfrm>
              <a:off x="3171825" y="4995665"/>
              <a:ext cx="609600" cy="304800"/>
              <a:chOff x="960" y="2016"/>
              <a:chExt cx="384" cy="192"/>
            </a:xfrm>
          </p:grpSpPr>
          <p:sp>
            <p:nvSpPr>
              <p:cNvPr id="80976" name="Freeform 55"/>
              <p:cNvSpPr>
                <a:spLocks/>
              </p:cNvSpPr>
              <p:nvPr/>
            </p:nvSpPr>
            <p:spPr bwMode="blackWhite">
              <a:xfrm>
                <a:off x="96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77" name="Text Box 56"/>
              <p:cNvSpPr txBox="1">
                <a:spLocks noChangeArrowheads="1"/>
              </p:cNvSpPr>
              <p:nvPr/>
            </p:nvSpPr>
            <p:spPr bwMode="blackWhite">
              <a:xfrm>
                <a:off x="960"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6" name="Group 57"/>
            <p:cNvGrpSpPr>
              <a:grpSpLocks/>
            </p:cNvGrpSpPr>
            <p:nvPr/>
          </p:nvGrpSpPr>
          <p:grpSpPr bwMode="auto">
            <a:xfrm>
              <a:off x="3781425" y="4995665"/>
              <a:ext cx="609600" cy="304800"/>
              <a:chOff x="1344" y="2016"/>
              <a:chExt cx="384" cy="192"/>
            </a:xfrm>
          </p:grpSpPr>
          <p:sp>
            <p:nvSpPr>
              <p:cNvPr id="80974" name="Freeform 58"/>
              <p:cNvSpPr>
                <a:spLocks/>
              </p:cNvSpPr>
              <p:nvPr/>
            </p:nvSpPr>
            <p:spPr bwMode="blackWhite">
              <a:xfrm>
                <a:off x="134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75" name="Text Box 59"/>
              <p:cNvSpPr txBox="1">
                <a:spLocks noChangeArrowheads="1"/>
              </p:cNvSpPr>
              <p:nvPr/>
            </p:nvSpPr>
            <p:spPr bwMode="blackWhite">
              <a:xfrm>
                <a:off x="1344"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7" name="Group 60"/>
            <p:cNvGrpSpPr>
              <a:grpSpLocks/>
            </p:cNvGrpSpPr>
            <p:nvPr/>
          </p:nvGrpSpPr>
          <p:grpSpPr bwMode="auto">
            <a:xfrm>
              <a:off x="4391025" y="4995665"/>
              <a:ext cx="609600" cy="304800"/>
              <a:chOff x="1728" y="2016"/>
              <a:chExt cx="384" cy="192"/>
            </a:xfrm>
          </p:grpSpPr>
          <p:sp>
            <p:nvSpPr>
              <p:cNvPr id="80972" name="Freeform 61"/>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73" name="Text Box 62"/>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RD</a:t>
                </a:r>
              </a:p>
            </p:txBody>
          </p:sp>
        </p:grpSp>
        <p:grpSp>
          <p:nvGrpSpPr>
            <p:cNvPr id="8" name="Group 63"/>
            <p:cNvGrpSpPr>
              <a:grpSpLocks/>
            </p:cNvGrpSpPr>
            <p:nvPr/>
          </p:nvGrpSpPr>
          <p:grpSpPr bwMode="auto">
            <a:xfrm>
              <a:off x="5000625" y="4995665"/>
              <a:ext cx="609600" cy="304800"/>
              <a:chOff x="2112" y="2016"/>
              <a:chExt cx="384" cy="192"/>
            </a:xfrm>
          </p:grpSpPr>
          <p:sp>
            <p:nvSpPr>
              <p:cNvPr id="80970" name="Freeform 64"/>
              <p:cNvSpPr>
                <a:spLocks/>
              </p:cNvSpPr>
              <p:nvPr/>
            </p:nvSpPr>
            <p:spPr bwMode="blackWhite">
              <a:xfrm>
                <a:off x="2112"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71" name="Text Box 65"/>
              <p:cNvSpPr txBox="1">
                <a:spLocks noChangeArrowheads="1"/>
              </p:cNvSpPr>
              <p:nvPr/>
            </p:nvSpPr>
            <p:spPr bwMode="blackWhite">
              <a:xfrm>
                <a:off x="2112"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9" name="Group 66"/>
            <p:cNvGrpSpPr>
              <a:grpSpLocks/>
            </p:cNvGrpSpPr>
            <p:nvPr/>
          </p:nvGrpSpPr>
          <p:grpSpPr bwMode="auto">
            <a:xfrm>
              <a:off x="5610225" y="4995665"/>
              <a:ext cx="609600" cy="304800"/>
              <a:chOff x="2496" y="2016"/>
              <a:chExt cx="384" cy="192"/>
            </a:xfrm>
          </p:grpSpPr>
          <p:sp>
            <p:nvSpPr>
              <p:cNvPr id="80968" name="Freeform 67"/>
              <p:cNvSpPr>
                <a:spLocks/>
              </p:cNvSpPr>
              <p:nvPr/>
            </p:nvSpPr>
            <p:spPr bwMode="blackWhite">
              <a:xfrm>
                <a:off x="249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69" name="Text Box 68"/>
              <p:cNvSpPr txBox="1">
                <a:spLocks noChangeArrowheads="1"/>
              </p:cNvSpPr>
              <p:nvPr/>
            </p:nvSpPr>
            <p:spPr bwMode="blackWhite">
              <a:xfrm>
                <a:off x="2496"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10" name="Group 69"/>
            <p:cNvGrpSpPr>
              <a:grpSpLocks/>
            </p:cNvGrpSpPr>
            <p:nvPr/>
          </p:nvGrpSpPr>
          <p:grpSpPr bwMode="auto">
            <a:xfrm>
              <a:off x="6219825" y="4995665"/>
              <a:ext cx="609600" cy="304800"/>
              <a:chOff x="2880" y="2016"/>
              <a:chExt cx="384" cy="192"/>
            </a:xfrm>
          </p:grpSpPr>
          <p:sp>
            <p:nvSpPr>
              <p:cNvPr id="80966" name="Freeform 70"/>
              <p:cNvSpPr>
                <a:spLocks/>
              </p:cNvSpPr>
              <p:nvPr/>
            </p:nvSpPr>
            <p:spPr bwMode="blackWhite">
              <a:xfrm>
                <a:off x="288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67" name="Text Box 71"/>
              <p:cNvSpPr txBox="1">
                <a:spLocks noChangeArrowheads="1"/>
              </p:cNvSpPr>
              <p:nvPr/>
            </p:nvSpPr>
            <p:spPr bwMode="blackWhite">
              <a:xfrm>
                <a:off x="2880"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11" name="Group 72"/>
            <p:cNvGrpSpPr>
              <a:grpSpLocks/>
            </p:cNvGrpSpPr>
            <p:nvPr/>
          </p:nvGrpSpPr>
          <p:grpSpPr bwMode="auto">
            <a:xfrm>
              <a:off x="6829425" y="4995665"/>
              <a:ext cx="609600" cy="304800"/>
              <a:chOff x="3264" y="2016"/>
              <a:chExt cx="384" cy="192"/>
            </a:xfrm>
          </p:grpSpPr>
          <p:sp>
            <p:nvSpPr>
              <p:cNvPr id="80964" name="Freeform 73"/>
              <p:cNvSpPr>
                <a:spLocks/>
              </p:cNvSpPr>
              <p:nvPr/>
            </p:nvSpPr>
            <p:spPr bwMode="blackWhite">
              <a:xfrm>
                <a:off x="326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65" name="Text Box 74"/>
              <p:cNvSpPr txBox="1">
                <a:spLocks noChangeArrowheads="1"/>
              </p:cNvSpPr>
              <p:nvPr/>
            </p:nvSpPr>
            <p:spPr bwMode="blackWhite">
              <a:xfrm>
                <a:off x="3264"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12" name="Group 75"/>
            <p:cNvGrpSpPr>
              <a:grpSpLocks/>
            </p:cNvGrpSpPr>
            <p:nvPr/>
          </p:nvGrpSpPr>
          <p:grpSpPr bwMode="auto">
            <a:xfrm>
              <a:off x="2790825" y="4522514"/>
              <a:ext cx="4876800" cy="228600"/>
              <a:chOff x="1392" y="1728"/>
              <a:chExt cx="3072" cy="144"/>
            </a:xfrm>
          </p:grpSpPr>
          <p:sp>
            <p:nvSpPr>
              <p:cNvPr id="80962" name="Freeform 76"/>
              <p:cNvSpPr>
                <a:spLocks/>
              </p:cNvSpPr>
              <p:nvPr/>
            </p:nvSpPr>
            <p:spPr bwMode="auto">
              <a:xfrm>
                <a:off x="1392"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80963" name="Freeform 77"/>
              <p:cNvSpPr>
                <a:spLocks/>
              </p:cNvSpPr>
              <p:nvPr/>
            </p:nvSpPr>
            <p:spPr bwMode="auto">
              <a:xfrm>
                <a:off x="2928"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grpSp>
        <p:sp>
          <p:nvSpPr>
            <p:cNvPr id="80913" name="Line 79"/>
            <p:cNvSpPr>
              <a:spLocks noChangeShapeType="1"/>
            </p:cNvSpPr>
            <p:nvPr/>
          </p:nvSpPr>
          <p:spPr bwMode="auto">
            <a:xfrm>
              <a:off x="4710113" y="6062465"/>
              <a:ext cx="1370012" cy="0"/>
            </a:xfrm>
            <a:prstGeom prst="line">
              <a:avLst/>
            </a:prstGeom>
            <a:noFill/>
            <a:ln w="38100">
              <a:solidFill>
                <a:schemeClr val="accent6">
                  <a:lumMod val="40000"/>
                  <a:lumOff val="60000"/>
                </a:schemeClr>
              </a:solidFill>
              <a:round/>
              <a:headEnd type="triangle" w="med" len="med"/>
              <a:tailEnd type="triangle" w="med" len="med"/>
            </a:ln>
          </p:spPr>
          <p:txBody>
            <a:bodyPr wrap="none" lIns="0" tIns="0" rIns="0" bIns="0" anchor="ctr"/>
            <a:lstStyle/>
            <a:p>
              <a:endParaRPr lang="es-ES"/>
            </a:p>
          </p:txBody>
        </p:sp>
        <p:sp>
          <p:nvSpPr>
            <p:cNvPr id="80914" name="Text Box 80"/>
            <p:cNvSpPr txBox="1">
              <a:spLocks noChangeArrowheads="1"/>
            </p:cNvSpPr>
            <p:nvPr/>
          </p:nvSpPr>
          <p:spPr bwMode="auto">
            <a:xfrm>
              <a:off x="5013325" y="6243440"/>
              <a:ext cx="774700" cy="246063"/>
            </a:xfrm>
            <a:prstGeom prst="rect">
              <a:avLst/>
            </a:prstGeom>
            <a:noFill/>
            <a:ln w="19050">
              <a:noFill/>
              <a:miter lim="800000"/>
              <a:headEnd/>
              <a:tailEnd/>
            </a:ln>
          </p:spPr>
          <p:txBody>
            <a:bodyPr wrap="none" lIns="0" tIns="0" rIns="0" bIns="0" anchor="ctr">
              <a:spAutoFit/>
            </a:bodyPr>
            <a:lstStyle/>
            <a:p>
              <a:r>
                <a:rPr lang="es-ES_tradnl" sz="1600" dirty="0"/>
                <a:t>CL = 2.5</a:t>
              </a:r>
            </a:p>
          </p:txBody>
        </p:sp>
        <p:grpSp>
          <p:nvGrpSpPr>
            <p:cNvPr id="13" name="Group 81"/>
            <p:cNvGrpSpPr>
              <a:grpSpLocks/>
            </p:cNvGrpSpPr>
            <p:nvPr/>
          </p:nvGrpSpPr>
          <p:grpSpPr bwMode="auto">
            <a:xfrm>
              <a:off x="2562225" y="5452865"/>
              <a:ext cx="609600" cy="304800"/>
              <a:chOff x="576" y="2016"/>
              <a:chExt cx="384" cy="192"/>
            </a:xfrm>
          </p:grpSpPr>
          <p:sp>
            <p:nvSpPr>
              <p:cNvPr id="80960" name="Freeform 82"/>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61" name="Text Box 83"/>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fil</a:t>
                </a:r>
              </a:p>
            </p:txBody>
          </p:sp>
        </p:grpSp>
        <p:grpSp>
          <p:nvGrpSpPr>
            <p:cNvPr id="14" name="Group 84"/>
            <p:cNvGrpSpPr>
              <a:grpSpLocks/>
            </p:cNvGrpSpPr>
            <p:nvPr/>
          </p:nvGrpSpPr>
          <p:grpSpPr bwMode="auto">
            <a:xfrm>
              <a:off x="4391025" y="5452865"/>
              <a:ext cx="609600" cy="304800"/>
              <a:chOff x="1728" y="2016"/>
              <a:chExt cx="384" cy="192"/>
            </a:xfrm>
          </p:grpSpPr>
          <p:sp>
            <p:nvSpPr>
              <p:cNvPr id="80958" name="Freeform 85"/>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59" name="Text Box 86"/>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dirty="0">
                    <a:solidFill>
                      <a:schemeClr val="bg1"/>
                    </a:solidFill>
                    <a:latin typeface="Arial Narrow" pitchFamily="34" charset="0"/>
                  </a:rPr>
                  <a:t>col</a:t>
                </a:r>
                <a:endParaRPr lang="es-ES" b="1" dirty="0">
                  <a:solidFill>
                    <a:schemeClr val="bg1"/>
                  </a:solidFill>
                  <a:latin typeface="Arial Narrow" pitchFamily="34" charset="0"/>
                </a:endParaRPr>
              </a:p>
            </p:txBody>
          </p:sp>
        </p:grpSp>
        <p:grpSp>
          <p:nvGrpSpPr>
            <p:cNvPr id="15" name="Group 87"/>
            <p:cNvGrpSpPr>
              <a:grpSpLocks/>
            </p:cNvGrpSpPr>
            <p:nvPr/>
          </p:nvGrpSpPr>
          <p:grpSpPr bwMode="auto">
            <a:xfrm>
              <a:off x="3171825" y="5452865"/>
              <a:ext cx="609600" cy="304800"/>
              <a:chOff x="576" y="2016"/>
              <a:chExt cx="384" cy="192"/>
            </a:xfrm>
          </p:grpSpPr>
          <p:sp>
            <p:nvSpPr>
              <p:cNvPr id="80956" name="Freeform 88"/>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57" name="Text Box 89"/>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16" name="Group 90"/>
            <p:cNvGrpSpPr>
              <a:grpSpLocks/>
            </p:cNvGrpSpPr>
            <p:nvPr/>
          </p:nvGrpSpPr>
          <p:grpSpPr bwMode="auto">
            <a:xfrm>
              <a:off x="3781425" y="5452865"/>
              <a:ext cx="609600" cy="304800"/>
              <a:chOff x="576" y="2016"/>
              <a:chExt cx="384" cy="192"/>
            </a:xfrm>
          </p:grpSpPr>
          <p:sp>
            <p:nvSpPr>
              <p:cNvPr id="80954" name="Freeform 91"/>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55" name="Text Box 92"/>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17" name="Group 93"/>
            <p:cNvGrpSpPr>
              <a:grpSpLocks/>
            </p:cNvGrpSpPr>
            <p:nvPr/>
          </p:nvGrpSpPr>
          <p:grpSpPr bwMode="auto">
            <a:xfrm>
              <a:off x="5000625" y="5452865"/>
              <a:ext cx="609600" cy="304800"/>
              <a:chOff x="576" y="2016"/>
              <a:chExt cx="384" cy="192"/>
            </a:xfrm>
          </p:grpSpPr>
          <p:sp>
            <p:nvSpPr>
              <p:cNvPr id="80952" name="Freeform 94"/>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53" name="Text Box 95"/>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18" name="Group 96"/>
            <p:cNvGrpSpPr>
              <a:grpSpLocks/>
            </p:cNvGrpSpPr>
            <p:nvPr/>
          </p:nvGrpSpPr>
          <p:grpSpPr bwMode="auto">
            <a:xfrm>
              <a:off x="5610225" y="5452865"/>
              <a:ext cx="609600" cy="304800"/>
              <a:chOff x="576" y="2016"/>
              <a:chExt cx="384" cy="192"/>
            </a:xfrm>
          </p:grpSpPr>
          <p:sp>
            <p:nvSpPr>
              <p:cNvPr id="80950" name="Freeform 97"/>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51" name="Text Box 9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19" name="Group 99"/>
            <p:cNvGrpSpPr>
              <a:grpSpLocks/>
            </p:cNvGrpSpPr>
            <p:nvPr/>
          </p:nvGrpSpPr>
          <p:grpSpPr bwMode="auto">
            <a:xfrm>
              <a:off x="6219825" y="5452865"/>
              <a:ext cx="609600" cy="304800"/>
              <a:chOff x="576" y="2016"/>
              <a:chExt cx="384" cy="192"/>
            </a:xfrm>
          </p:grpSpPr>
          <p:sp>
            <p:nvSpPr>
              <p:cNvPr id="80948" name="Freeform 100"/>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49" name="Text Box 101"/>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20" name="Group 102"/>
            <p:cNvGrpSpPr>
              <a:grpSpLocks/>
            </p:cNvGrpSpPr>
            <p:nvPr/>
          </p:nvGrpSpPr>
          <p:grpSpPr bwMode="auto">
            <a:xfrm>
              <a:off x="6829425" y="5452865"/>
              <a:ext cx="609600" cy="304800"/>
              <a:chOff x="576" y="2016"/>
              <a:chExt cx="384" cy="192"/>
            </a:xfrm>
          </p:grpSpPr>
          <p:sp>
            <p:nvSpPr>
              <p:cNvPr id="80946" name="Freeform 103"/>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80947" name="Text Box 104"/>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sp>
          <p:nvSpPr>
            <p:cNvPr id="80923" name="Text Box 105"/>
            <p:cNvSpPr txBox="1">
              <a:spLocks noChangeArrowheads="1"/>
            </p:cNvSpPr>
            <p:nvPr/>
          </p:nvSpPr>
          <p:spPr bwMode="auto">
            <a:xfrm>
              <a:off x="2068513" y="4551089"/>
              <a:ext cx="396875" cy="246063"/>
            </a:xfrm>
            <a:prstGeom prst="rect">
              <a:avLst/>
            </a:prstGeom>
            <a:noFill/>
            <a:ln w="19050">
              <a:noFill/>
              <a:miter lim="800000"/>
              <a:headEnd/>
              <a:tailEnd/>
            </a:ln>
          </p:spPr>
          <p:txBody>
            <a:bodyPr wrap="none" lIns="0" tIns="0" rIns="0" bIns="0" anchor="ctr">
              <a:spAutoFit/>
            </a:bodyPr>
            <a:lstStyle/>
            <a:p>
              <a:pPr algn="r"/>
              <a:r>
                <a:rPr lang="es-ES_tradnl" sz="1600" dirty="0"/>
                <a:t>CLK</a:t>
              </a:r>
            </a:p>
          </p:txBody>
        </p:sp>
        <p:sp>
          <p:nvSpPr>
            <p:cNvPr id="80924" name="Text Box 106"/>
            <p:cNvSpPr txBox="1">
              <a:spLocks noChangeArrowheads="1"/>
            </p:cNvSpPr>
            <p:nvPr/>
          </p:nvSpPr>
          <p:spPr bwMode="auto">
            <a:xfrm>
              <a:off x="1722438" y="5024240"/>
              <a:ext cx="741362" cy="246063"/>
            </a:xfrm>
            <a:prstGeom prst="rect">
              <a:avLst/>
            </a:prstGeom>
            <a:noFill/>
            <a:ln w="19050">
              <a:noFill/>
              <a:miter lim="800000"/>
              <a:headEnd/>
              <a:tailEnd/>
            </a:ln>
          </p:spPr>
          <p:txBody>
            <a:bodyPr wrap="none" lIns="0" tIns="0" rIns="0" bIns="0" anchor="ctr">
              <a:spAutoFit/>
            </a:bodyPr>
            <a:lstStyle/>
            <a:p>
              <a:pPr algn="r"/>
              <a:r>
                <a:rPr lang="es-ES_tradnl" sz="1600" dirty="0"/>
                <a:t>órdenes</a:t>
              </a:r>
            </a:p>
          </p:txBody>
        </p:sp>
        <p:sp>
          <p:nvSpPr>
            <p:cNvPr id="80925" name="Text Box 107"/>
            <p:cNvSpPr txBox="1">
              <a:spLocks noChangeArrowheads="1"/>
            </p:cNvSpPr>
            <p:nvPr/>
          </p:nvSpPr>
          <p:spPr bwMode="auto">
            <a:xfrm>
              <a:off x="1430338" y="5481440"/>
              <a:ext cx="1035050" cy="246063"/>
            </a:xfrm>
            <a:prstGeom prst="rect">
              <a:avLst/>
            </a:prstGeom>
            <a:noFill/>
            <a:ln w="19050">
              <a:noFill/>
              <a:miter lim="800000"/>
              <a:headEnd/>
              <a:tailEnd/>
            </a:ln>
          </p:spPr>
          <p:txBody>
            <a:bodyPr wrap="none" lIns="0" tIns="0" rIns="0" bIns="0" anchor="ctr">
              <a:spAutoFit/>
            </a:bodyPr>
            <a:lstStyle/>
            <a:p>
              <a:pPr algn="r"/>
              <a:r>
                <a:rPr lang="es-ES_tradnl" sz="1600" dirty="0"/>
                <a:t>direcciones</a:t>
              </a:r>
            </a:p>
          </p:txBody>
        </p:sp>
        <p:sp>
          <p:nvSpPr>
            <p:cNvPr id="80926" name="Text Box 108"/>
            <p:cNvSpPr txBox="1">
              <a:spLocks noChangeArrowheads="1"/>
            </p:cNvSpPr>
            <p:nvPr/>
          </p:nvSpPr>
          <p:spPr bwMode="auto">
            <a:xfrm>
              <a:off x="1944688" y="5938640"/>
              <a:ext cx="501650" cy="246063"/>
            </a:xfrm>
            <a:prstGeom prst="rect">
              <a:avLst/>
            </a:prstGeom>
            <a:noFill/>
            <a:ln w="19050">
              <a:noFill/>
              <a:miter lim="800000"/>
              <a:headEnd/>
              <a:tailEnd/>
            </a:ln>
          </p:spPr>
          <p:txBody>
            <a:bodyPr wrap="none" lIns="0" tIns="0" rIns="0" bIns="0" anchor="ctr">
              <a:spAutoFit/>
            </a:bodyPr>
            <a:lstStyle/>
            <a:p>
              <a:pPr algn="r"/>
              <a:r>
                <a:rPr lang="es-ES_tradnl" sz="1600" dirty="0"/>
                <a:t>datos</a:t>
              </a:r>
            </a:p>
          </p:txBody>
        </p:sp>
        <p:sp>
          <p:nvSpPr>
            <p:cNvPr id="80929" name="Line 113"/>
            <p:cNvSpPr>
              <a:spLocks noChangeShapeType="1"/>
            </p:cNvSpPr>
            <p:nvPr/>
          </p:nvSpPr>
          <p:spPr bwMode="auto">
            <a:xfrm>
              <a:off x="6219825" y="4538465"/>
              <a:ext cx="0" cy="1752600"/>
            </a:xfrm>
            <a:prstGeom prst="line">
              <a:avLst/>
            </a:prstGeom>
            <a:noFill/>
            <a:ln w="9525">
              <a:solidFill>
                <a:schemeClr val="tx1"/>
              </a:solidFill>
              <a:prstDash val="dash"/>
              <a:round/>
              <a:headEnd/>
              <a:tailEnd/>
            </a:ln>
          </p:spPr>
          <p:txBody>
            <a:bodyPr wrap="none" lIns="0" tIns="0" rIns="0" bIns="0" anchor="ctr"/>
            <a:lstStyle/>
            <a:p>
              <a:endParaRPr lang="es-ES"/>
            </a:p>
          </p:txBody>
        </p:sp>
        <p:sp>
          <p:nvSpPr>
            <p:cNvPr id="80930" name="Line 114"/>
            <p:cNvSpPr>
              <a:spLocks noChangeShapeType="1"/>
            </p:cNvSpPr>
            <p:nvPr/>
          </p:nvSpPr>
          <p:spPr bwMode="auto">
            <a:xfrm>
              <a:off x="6829425" y="4538465"/>
              <a:ext cx="0" cy="1752600"/>
            </a:xfrm>
            <a:prstGeom prst="line">
              <a:avLst/>
            </a:prstGeom>
            <a:noFill/>
            <a:ln w="9525">
              <a:solidFill>
                <a:schemeClr val="tx1"/>
              </a:solidFill>
              <a:prstDash val="dash"/>
              <a:round/>
              <a:headEnd/>
              <a:tailEnd/>
            </a:ln>
          </p:spPr>
          <p:txBody>
            <a:bodyPr wrap="none" lIns="0" tIns="0" rIns="0" bIns="0" anchor="ctr"/>
            <a:lstStyle/>
            <a:p>
              <a:endParaRPr lang="es-ES"/>
            </a:p>
          </p:txBody>
        </p:sp>
        <p:sp>
          <p:nvSpPr>
            <p:cNvPr id="80931" name="Line 115"/>
            <p:cNvSpPr>
              <a:spLocks noChangeShapeType="1"/>
            </p:cNvSpPr>
            <p:nvPr/>
          </p:nvSpPr>
          <p:spPr bwMode="auto">
            <a:xfrm>
              <a:off x="7439025" y="4538465"/>
              <a:ext cx="0" cy="1752600"/>
            </a:xfrm>
            <a:prstGeom prst="line">
              <a:avLst/>
            </a:prstGeom>
            <a:noFill/>
            <a:ln w="9525">
              <a:solidFill>
                <a:schemeClr val="tx1"/>
              </a:solidFill>
              <a:prstDash val="dash"/>
              <a:round/>
              <a:headEnd/>
              <a:tailEnd/>
            </a:ln>
          </p:spPr>
          <p:txBody>
            <a:bodyPr wrap="none" lIns="0" tIns="0" rIns="0" bIns="0" anchor="ctr"/>
            <a:lstStyle/>
            <a:p>
              <a:endParaRPr lang="es-ES"/>
            </a:p>
          </p:txBody>
        </p:sp>
        <p:grpSp>
          <p:nvGrpSpPr>
            <p:cNvPr id="22" name="Group 116"/>
            <p:cNvGrpSpPr>
              <a:grpSpLocks/>
            </p:cNvGrpSpPr>
            <p:nvPr/>
          </p:nvGrpSpPr>
          <p:grpSpPr bwMode="auto">
            <a:xfrm>
              <a:off x="6143625" y="5910065"/>
              <a:ext cx="317500" cy="304800"/>
              <a:chOff x="2640" y="2304"/>
              <a:chExt cx="384" cy="192"/>
            </a:xfrm>
          </p:grpSpPr>
          <p:sp>
            <p:nvSpPr>
              <p:cNvPr id="80942" name="Freeform 117"/>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80943" name="Text Box 118"/>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P0</a:t>
                </a:r>
              </a:p>
            </p:txBody>
          </p:sp>
        </p:grpSp>
        <p:grpSp>
          <p:nvGrpSpPr>
            <p:cNvPr id="23" name="Group 119"/>
            <p:cNvGrpSpPr>
              <a:grpSpLocks/>
            </p:cNvGrpSpPr>
            <p:nvPr/>
          </p:nvGrpSpPr>
          <p:grpSpPr bwMode="auto">
            <a:xfrm>
              <a:off x="6448425" y="5910065"/>
              <a:ext cx="304800" cy="304800"/>
              <a:chOff x="3024" y="2304"/>
              <a:chExt cx="384" cy="192"/>
            </a:xfrm>
          </p:grpSpPr>
          <p:sp>
            <p:nvSpPr>
              <p:cNvPr id="80940" name="Freeform 120"/>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80941" name="Text Box 121"/>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24" name="Group 122"/>
            <p:cNvGrpSpPr>
              <a:grpSpLocks/>
            </p:cNvGrpSpPr>
            <p:nvPr/>
          </p:nvGrpSpPr>
          <p:grpSpPr bwMode="auto">
            <a:xfrm>
              <a:off x="6754813" y="5910065"/>
              <a:ext cx="301625" cy="304800"/>
              <a:chOff x="3408" y="2304"/>
              <a:chExt cx="384" cy="192"/>
            </a:xfrm>
          </p:grpSpPr>
          <p:sp>
            <p:nvSpPr>
              <p:cNvPr id="80938" name="Freeform 123"/>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80939" name="Text Box 124"/>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25" name="Group 125"/>
            <p:cNvGrpSpPr>
              <a:grpSpLocks/>
            </p:cNvGrpSpPr>
            <p:nvPr/>
          </p:nvGrpSpPr>
          <p:grpSpPr bwMode="auto">
            <a:xfrm>
              <a:off x="7056438" y="5910065"/>
              <a:ext cx="306387" cy="304800"/>
              <a:chOff x="3792" y="2304"/>
              <a:chExt cx="384" cy="192"/>
            </a:xfrm>
          </p:grpSpPr>
          <p:sp>
            <p:nvSpPr>
              <p:cNvPr id="80936" name="Freeform 126"/>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80937" name="Text Box 127"/>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P3</a:t>
                </a:r>
              </a:p>
            </p:txBody>
          </p:sp>
        </p:grpSp>
      </p:grpSp>
      <p:grpSp>
        <p:nvGrpSpPr>
          <p:cNvPr id="93" name="92 Grupo"/>
          <p:cNvGrpSpPr/>
          <p:nvPr/>
        </p:nvGrpSpPr>
        <p:grpSpPr>
          <a:xfrm>
            <a:off x="5964901" y="3361234"/>
            <a:ext cx="2783563" cy="931862"/>
            <a:chOff x="5795963" y="1773238"/>
            <a:chExt cx="2783563" cy="931862"/>
          </a:xfrm>
        </p:grpSpPr>
        <p:sp>
          <p:nvSpPr>
            <p:cNvPr id="94" name="Freeform 135"/>
            <p:cNvSpPr>
              <a:spLocks/>
            </p:cNvSpPr>
            <p:nvPr/>
          </p:nvSpPr>
          <p:spPr bwMode="auto">
            <a:xfrm>
              <a:off x="5795963" y="1773238"/>
              <a:ext cx="1616075" cy="931862"/>
            </a:xfrm>
            <a:custGeom>
              <a:avLst/>
              <a:gdLst>
                <a:gd name="T0" fmla="*/ 0 w 590"/>
                <a:gd name="T1" fmla="*/ 2147483647 h 305"/>
                <a:gd name="T2" fmla="*/ 2147483647 w 590"/>
                <a:gd name="T3" fmla="*/ 2147483647 h 305"/>
                <a:gd name="T4" fmla="*/ 0 60000 65536"/>
                <a:gd name="T5" fmla="*/ 0 60000 65536"/>
                <a:gd name="T6" fmla="*/ 0 w 590"/>
                <a:gd name="T7" fmla="*/ 0 h 305"/>
                <a:gd name="T8" fmla="*/ 590 w 590"/>
                <a:gd name="T9" fmla="*/ 305 h 305"/>
              </a:gdLst>
              <a:ahLst/>
              <a:cxnLst>
                <a:cxn ang="T4">
                  <a:pos x="T0" y="T1"/>
                </a:cxn>
                <a:cxn ang="T5">
                  <a:pos x="T2" y="T3"/>
                </a:cxn>
              </a:cxnLst>
              <a:rect l="T6" t="T7" r="T8" b="T9"/>
              <a:pathLst>
                <a:path w="590" h="305">
                  <a:moveTo>
                    <a:pt x="0" y="305"/>
                  </a:moveTo>
                  <a:cubicBezTo>
                    <a:pt x="283" y="0"/>
                    <a:pt x="590" y="123"/>
                    <a:pt x="590" y="123"/>
                  </a:cubicBezTo>
                </a:path>
              </a:pathLst>
            </a:custGeom>
            <a:noFill/>
            <a:ln w="19050">
              <a:solidFill>
                <a:schemeClr val="hlink"/>
              </a:solidFill>
              <a:prstDash val="sysDot"/>
              <a:round/>
              <a:headEnd type="triangle" w="med" len="med"/>
              <a:tailEnd/>
            </a:ln>
          </p:spPr>
          <p:txBody>
            <a:bodyPr lIns="0" tIns="0" rIns="0" bIns="0" anchor="ctr"/>
            <a:lstStyle/>
            <a:p>
              <a:endParaRPr lang="es-ES"/>
            </a:p>
          </p:txBody>
        </p:sp>
        <p:sp>
          <p:nvSpPr>
            <p:cNvPr id="95" name="Text Box 143"/>
            <p:cNvSpPr txBox="1">
              <a:spLocks noChangeArrowheads="1"/>
            </p:cNvSpPr>
            <p:nvPr/>
          </p:nvSpPr>
          <p:spPr bwMode="auto">
            <a:xfrm>
              <a:off x="7524750" y="1844675"/>
              <a:ext cx="1054776" cy="366254"/>
            </a:xfrm>
            <a:prstGeom prst="rect">
              <a:avLst/>
            </a:prstGeom>
            <a:noFill/>
            <a:ln w="19050">
              <a:noFill/>
              <a:miter lim="800000"/>
              <a:headEnd/>
              <a:tailEnd/>
            </a:ln>
          </p:spPr>
          <p:txBody>
            <a:bodyPr wrap="none" lIns="0" tIns="0" rIns="0" bIns="0">
              <a:spAutoFit/>
            </a:bodyPr>
            <a:lstStyle/>
            <a:p>
              <a:pPr algn="l">
                <a:lnSpc>
                  <a:spcPct val="85000"/>
                </a:lnSpc>
              </a:pPr>
              <a:r>
                <a:rPr lang="es-ES" sz="1400" dirty="0"/>
                <a:t>Punto óptimo</a:t>
              </a:r>
              <a:br>
                <a:rPr lang="es-ES" sz="1400" dirty="0"/>
              </a:br>
              <a:r>
                <a:rPr lang="es-ES" sz="1400" dirty="0"/>
                <a:t>de precarga</a:t>
              </a:r>
            </a:p>
          </p:txBody>
        </p:sp>
      </p:grpSp>
      <p:sp>
        <p:nvSpPr>
          <p:cNvPr id="90" name="89 Rectángulo"/>
          <p:cNvSpPr/>
          <p:nvPr/>
        </p:nvSpPr>
        <p:spPr bwMode="auto">
          <a:xfrm>
            <a:off x="5651922" y="4221088"/>
            <a:ext cx="576064" cy="576064"/>
          </a:xfrm>
          <a:prstGeom prst="rect">
            <a:avLst/>
          </a:prstGeom>
          <a:solidFill>
            <a:schemeClr val="bg1"/>
          </a:solidFill>
          <a:ln w="19050">
            <a:no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91" name="90 Grupo"/>
          <p:cNvGrpSpPr/>
          <p:nvPr/>
        </p:nvGrpSpPr>
        <p:grpSpPr>
          <a:xfrm>
            <a:off x="5651922" y="4365104"/>
            <a:ext cx="576262" cy="304800"/>
            <a:chOff x="1043608" y="6093296"/>
            <a:chExt cx="576262" cy="304800"/>
          </a:xfrm>
        </p:grpSpPr>
        <p:sp>
          <p:nvSpPr>
            <p:cNvPr id="96" name="Freeform 32"/>
            <p:cNvSpPr>
              <a:spLocks/>
            </p:cNvSpPr>
            <p:nvPr/>
          </p:nvSpPr>
          <p:spPr bwMode="blackWhite">
            <a:xfrm>
              <a:off x="1043608" y="6093296"/>
              <a:ext cx="576262" cy="287338"/>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0000"/>
            </a:solidFill>
            <a:ln w="9525">
              <a:solidFill>
                <a:schemeClr val="tx1"/>
              </a:solidFill>
              <a:round/>
              <a:headEnd/>
              <a:tailEnd/>
            </a:ln>
          </p:spPr>
          <p:txBody>
            <a:bodyPr lIns="0" tIns="0" rIns="0" bIns="0" anchor="ctr"/>
            <a:lstStyle/>
            <a:p>
              <a:endParaRPr lang="es-ES"/>
            </a:p>
          </p:txBody>
        </p:sp>
        <p:sp>
          <p:nvSpPr>
            <p:cNvPr id="97" name="Text Box 31"/>
            <p:cNvSpPr txBox="1">
              <a:spLocks noChangeArrowheads="1"/>
            </p:cNvSpPr>
            <p:nvPr/>
          </p:nvSpPr>
          <p:spPr bwMode="blackWhite">
            <a:xfrm>
              <a:off x="1043608" y="6093296"/>
              <a:ext cx="576262" cy="304800"/>
            </a:xfrm>
            <a:prstGeom prst="rect">
              <a:avLst/>
            </a:prstGeom>
            <a:noFill/>
            <a:ln w="19050">
              <a:noFill/>
              <a:miter lim="800000"/>
              <a:headEnd/>
              <a:tailEnd/>
            </a:ln>
          </p:spPr>
          <p:txBody>
            <a:bodyPr lIns="0" tIns="0" rIns="0" bIns="0">
              <a:spAutoFit/>
            </a:bodyPr>
            <a:lstStyle/>
            <a:p>
              <a:r>
                <a:rPr lang="es-ES" b="1" dirty="0">
                  <a:solidFill>
                    <a:schemeClr val="bg1"/>
                  </a:solidFill>
                  <a:latin typeface="Arial Narrow" pitchFamily="34" charset="0"/>
                </a:rPr>
                <a:t>PRE</a:t>
              </a:r>
            </a:p>
          </p:txBody>
        </p:sp>
      </p:grpSp>
      <p:sp>
        <p:nvSpPr>
          <p:cNvPr id="2" name="1 Botón de acción: Inicio">
            <a:hlinkClick r:id="rId3" action="ppaction://hlinksldjump" highlightClick="1"/>
          </p:cNvPr>
          <p:cNvSpPr/>
          <p:nvPr/>
        </p:nvSpPr>
        <p:spPr bwMode="auto">
          <a:xfrm>
            <a:off x="8028384" y="6021288"/>
            <a:ext cx="288032" cy="216024"/>
          </a:xfrm>
          <a:prstGeom prst="actionButtonHom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8" name="Rectangle 3">
            <a:extLst>
              <a:ext uri="{FF2B5EF4-FFF2-40B4-BE49-F238E27FC236}">
                <a16:creationId xmlns:a16="http://schemas.microsoft.com/office/drawing/2014/main" id="{ED19C6A5-E2F5-4114-8B0D-6E681380C810}"/>
              </a:ext>
            </a:extLst>
          </p:cNvPr>
          <p:cNvSpPr txBox="1">
            <a:spLocks noChangeArrowheads="1"/>
          </p:cNvSpPr>
          <p:nvPr/>
        </p:nvSpPr>
        <p:spPr>
          <a:xfrm>
            <a:off x="234387" y="2532708"/>
            <a:ext cx="8447856" cy="449746"/>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lvl="2">
              <a:lnSpc>
                <a:spcPct val="100000"/>
              </a:lnSpc>
            </a:pPr>
            <a:r>
              <a:rPr lang="es-ES" altLang="ja-JP" sz="1800" dirty="0">
                <a:solidFill>
                  <a:srgbClr val="FF0000"/>
                </a:solidFill>
                <a:ea typeface="Geneva" pitchFamily="1" charset="-128"/>
              </a:rPr>
              <a:t>La latencia de CAS es un múltiplo de 0.5 ciclos</a:t>
            </a:r>
          </a:p>
          <a:p>
            <a:pPr marL="657225" lvl="2" indent="0">
              <a:lnSpc>
                <a:spcPct val="100000"/>
              </a:lnSpc>
              <a:buFont typeface="Wingdings 2" pitchFamily="18" charset="2"/>
              <a:buNone/>
            </a:pPr>
            <a:endParaRPr lang="es-ES" sz="1800" dirty="0"/>
          </a:p>
        </p:txBody>
      </p:sp>
      <p:sp>
        <p:nvSpPr>
          <p:cNvPr id="99" name="Rectangle 3">
            <a:extLst>
              <a:ext uri="{FF2B5EF4-FFF2-40B4-BE49-F238E27FC236}">
                <a16:creationId xmlns:a16="http://schemas.microsoft.com/office/drawing/2014/main" id="{9C90F69A-FF20-415E-8D42-EC5887AE6DE5}"/>
              </a:ext>
            </a:extLst>
          </p:cNvPr>
          <p:cNvSpPr txBox="1">
            <a:spLocks noChangeArrowheads="1"/>
          </p:cNvSpPr>
          <p:nvPr/>
        </p:nvSpPr>
        <p:spPr>
          <a:xfrm>
            <a:off x="228600" y="3022516"/>
            <a:ext cx="8447856" cy="1032719"/>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lvl="2">
              <a:lnSpc>
                <a:spcPct val="100000"/>
              </a:lnSpc>
            </a:pPr>
            <a:r>
              <a:rPr lang="es-ES" altLang="ja-JP" sz="1800" dirty="0">
                <a:ea typeface="Geneva" pitchFamily="1" charset="-128"/>
              </a:rPr>
              <a:t>El tiempo óptimo de PRECHARGE será R/2 ciclos de reloj tras las órdenes READ o WRITE (Si R es la cantidad de palabras del bloque)</a:t>
            </a:r>
          </a:p>
          <a:p>
            <a:pPr lvl="2">
              <a:lnSpc>
                <a:spcPct val="100000"/>
              </a:lnSpc>
            </a:pPr>
            <a:endParaRPr lang="es-ES" sz="1800" dirty="0"/>
          </a:p>
        </p:txBody>
      </p:sp>
      <p:sp>
        <p:nvSpPr>
          <p:cNvPr id="21" name="2 Marcador de número de diapositiva">
            <a:extLst>
              <a:ext uri="{FF2B5EF4-FFF2-40B4-BE49-F238E27FC236}">
                <a16:creationId xmlns:a16="http://schemas.microsoft.com/office/drawing/2014/main" id="{FFF19D13-F075-6C97-FF00-DF71BADB0D8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101</a:t>
            </a:fld>
            <a:endParaRPr lang="en-US" dirty="0"/>
          </a:p>
        </p:txBody>
      </p:sp>
    </p:spTree>
    <p:extLst>
      <p:ext uri="{BB962C8B-B14F-4D97-AF65-F5344CB8AC3E}">
        <p14:creationId xmlns:p14="http://schemas.microsoft.com/office/powerpoint/2010/main" val="1767774937"/>
      </p:ext>
    </p:extLst>
  </p:cSld>
  <p:clrMapOvr>
    <a:masterClrMapping/>
  </p:clrMapOvr>
  <p:transition spd="med">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8250120" cy="864096"/>
          </a:xfrm>
        </p:spPr>
        <p:txBody>
          <a:bodyPr/>
          <a:lstStyle/>
          <a:p>
            <a:r>
              <a:rPr lang="es-ES" dirty="0"/>
              <a:t>Temporización memorias DDR-SDRAM</a:t>
            </a:r>
          </a:p>
        </p:txBody>
      </p:sp>
      <p:sp>
        <p:nvSpPr>
          <p:cNvPr id="3" name="2 Marcador de número de diapositiva"/>
          <p:cNvSpPr>
            <a:spLocks noGrp="1"/>
          </p:cNvSpPr>
          <p:nvPr>
            <p:ph type="sldNum" sz="quarter" idx="12"/>
          </p:nvPr>
        </p:nvSpPr>
        <p:spPr/>
        <p:txBody>
          <a:bodyPr/>
          <a:lstStyle/>
          <a:p>
            <a:pPr>
              <a:defRPr/>
            </a:pPr>
            <a:fld id="{51035083-A155-4028-8A67-2E61E721E30B}" type="slidenum">
              <a:rPr lang="en-US" smtClean="0"/>
              <a:pPr>
                <a:defRPr/>
              </a:pPr>
              <a:t>102</a:t>
            </a:fld>
            <a:endParaRPr lang="en-US" dirty="0"/>
          </a:p>
        </p:txBody>
      </p:sp>
      <p:grpSp>
        <p:nvGrpSpPr>
          <p:cNvPr id="7" name="Group 83"/>
          <p:cNvGrpSpPr>
            <a:grpSpLocks/>
          </p:cNvGrpSpPr>
          <p:nvPr/>
        </p:nvGrpSpPr>
        <p:grpSpPr bwMode="auto">
          <a:xfrm>
            <a:off x="4318348" y="3533883"/>
            <a:ext cx="198946" cy="164510"/>
            <a:chOff x="3792" y="2304"/>
            <a:chExt cx="384" cy="181"/>
          </a:xfrm>
        </p:grpSpPr>
        <p:sp>
          <p:nvSpPr>
            <p:cNvPr id="10" name="Freeform 80"/>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11" name="Text Box 81"/>
            <p:cNvSpPr txBox="1">
              <a:spLocks noChangeArrowheads="1"/>
            </p:cNvSpPr>
            <p:nvPr/>
          </p:nvSpPr>
          <p:spPr bwMode="blackWhite">
            <a:xfrm>
              <a:off x="3792" y="2304"/>
              <a:ext cx="384" cy="97"/>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P3</a:t>
              </a:r>
            </a:p>
          </p:txBody>
        </p:sp>
      </p:grpSp>
      <p:sp>
        <p:nvSpPr>
          <p:cNvPr id="63" name="Text Box 125"/>
          <p:cNvSpPr txBox="1">
            <a:spLocks noChangeArrowheads="1"/>
          </p:cNvSpPr>
          <p:nvPr/>
        </p:nvSpPr>
        <p:spPr bwMode="auto">
          <a:xfrm>
            <a:off x="1403648" y="1380505"/>
            <a:ext cx="52899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tx2">
                    <a:lumMod val="60000"/>
                    <a:lumOff val="40000"/>
                  </a:schemeClr>
                </a:solidFill>
              </a:rPr>
              <a:t>CLK</a:t>
            </a:r>
          </a:p>
        </p:txBody>
      </p:sp>
      <p:sp>
        <p:nvSpPr>
          <p:cNvPr id="64" name="Rectangle 3"/>
          <p:cNvSpPr txBox="1">
            <a:spLocks noChangeArrowheads="1"/>
          </p:cNvSpPr>
          <p:nvPr/>
        </p:nvSpPr>
        <p:spPr>
          <a:xfrm>
            <a:off x="323285" y="4419465"/>
            <a:ext cx="8227640" cy="1872208"/>
          </a:xfrm>
          <a:prstGeom prst="rect">
            <a:avLst/>
          </a:prstGeom>
        </p:spPr>
        <p:txBody>
          <a:bodyPr/>
          <a:lstStyle/>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dirty="0">
                <a:latin typeface="+mn-lt"/>
                <a:ea typeface="+mn-ea"/>
              </a:rPr>
              <a:t>Queremos leer la palabra P0, que se encuentra en la dirección </a:t>
            </a:r>
            <a:r>
              <a:rPr lang="es-ES" dirty="0" err="1">
                <a:latin typeface="+mn-lt"/>
                <a:ea typeface="+mn-ea"/>
              </a:rPr>
              <a:t>fila+col</a:t>
            </a:r>
            <a:endParaRPr lang="es-ES" dirty="0">
              <a:latin typeface="+mn-lt"/>
              <a:ea typeface="+mn-ea"/>
            </a:endParaRPr>
          </a:p>
          <a:p>
            <a:pPr marL="819150" marR="0" lvl="1" indent="-236538" algn="l" defTabSz="914400" rtl="0" eaLnBrk="0" fontAlgn="base" latinLnBrk="0" hangingPunct="0">
              <a:lnSpc>
                <a:spcPts val="3000"/>
              </a:lnSpc>
              <a:spcBef>
                <a:spcPts val="550"/>
              </a:spcBef>
              <a:spcAft>
                <a:spcPct val="0"/>
              </a:spcAft>
              <a:buClr>
                <a:srgbClr val="C58D01"/>
              </a:buClr>
              <a:buSzPct val="85000"/>
              <a:buFont typeface="Wingdings" pitchFamily="2" charset="2"/>
              <a:buChar char="ü"/>
              <a:tabLst/>
              <a:defRPr/>
            </a:pPr>
            <a:r>
              <a:rPr lang="es-ES" altLang="ja-JP" dirty="0">
                <a:latin typeface="+mn-lt"/>
                <a:ea typeface="+mn-ea"/>
              </a:rPr>
              <a:t>El bloque al que pertenece dicha palabra consta de cuatro palabras: P0, P1, P2 y P3</a:t>
            </a:r>
            <a:endParaRPr kumimoji="0" lang="es-ES" altLang="ja-JP" sz="2000" b="0" u="none" strike="noStrike" kern="1200" cap="none" spc="0" normalizeH="0" baseline="0" noProof="0" dirty="0">
              <a:ln>
                <a:noFill/>
              </a:ln>
              <a:solidFill>
                <a:schemeClr val="tx1"/>
              </a:solidFill>
              <a:effectLst/>
              <a:uLnTx/>
              <a:uFillTx/>
              <a:latin typeface="+mn-lt"/>
              <a:ea typeface="ＭＳ Ｐゴシック" charset="-128"/>
              <a:cs typeface="+mn-cs"/>
            </a:endParaRPr>
          </a:p>
        </p:txBody>
      </p:sp>
      <p:sp>
        <p:nvSpPr>
          <p:cNvPr id="73" name="Rectangle 3">
            <a:extLst>
              <a:ext uri="{FF2B5EF4-FFF2-40B4-BE49-F238E27FC236}">
                <a16:creationId xmlns:a16="http://schemas.microsoft.com/office/drawing/2014/main" id="{5B46C39A-F44B-4D34-AA29-D5B5CF0A5F94}"/>
              </a:ext>
            </a:extLst>
          </p:cNvPr>
          <p:cNvSpPr txBox="1">
            <a:spLocks noChangeArrowheads="1"/>
          </p:cNvSpPr>
          <p:nvPr/>
        </p:nvSpPr>
        <p:spPr>
          <a:xfrm>
            <a:off x="1233" y="735278"/>
            <a:ext cx="7992216" cy="575717"/>
          </a:xfrm>
          <a:prstGeom prst="rect">
            <a:avLst/>
          </a:prstGeom>
        </p:spPr>
        <p:txBody>
          <a:bodyPr/>
          <a:lstStyle/>
          <a:p>
            <a:pPr marL="822325" lvl="1" indent="-282575" algn="l">
              <a:spcBef>
                <a:spcPts val="600"/>
              </a:spcBef>
              <a:buClr>
                <a:schemeClr val="accent2">
                  <a:lumMod val="75000"/>
                </a:schemeClr>
              </a:buClr>
              <a:buSzPct val="80000"/>
              <a:buFont typeface="Wingdings 2" pitchFamily="18" charset="2"/>
              <a:buChar char=""/>
            </a:pPr>
            <a:r>
              <a:rPr kumimoji="0" lang="es-ES" sz="2400" b="1" i="0" u="none" strike="noStrike" kern="1200" cap="none" spc="0" normalizeH="0" baseline="0" noProof="0" dirty="0">
                <a:ln>
                  <a:noFill/>
                </a:ln>
                <a:solidFill>
                  <a:schemeClr val="tx1"/>
                </a:solidFill>
                <a:effectLst/>
                <a:uLnTx/>
                <a:uFillTx/>
                <a:latin typeface="+mn-lt"/>
                <a:ea typeface="+mn-ea"/>
                <a:cs typeface="+mn-cs"/>
              </a:rPr>
              <a:t>Acceso a bloque (lectura): 2 palabras/ciclo</a:t>
            </a:r>
          </a:p>
        </p:txBody>
      </p:sp>
      <p:cxnSp>
        <p:nvCxnSpPr>
          <p:cNvPr id="20" name="Conector recto 19">
            <a:extLst>
              <a:ext uri="{FF2B5EF4-FFF2-40B4-BE49-F238E27FC236}">
                <a16:creationId xmlns:a16="http://schemas.microsoft.com/office/drawing/2014/main" id="{546C9ED2-DA6B-46BD-B9E3-9BCD3AA47A26}"/>
              </a:ext>
            </a:extLst>
          </p:cNvPr>
          <p:cNvCxnSpPr>
            <a:cxnSpLocks/>
            <a:stCxn id="63" idx="2"/>
          </p:cNvCxnSpPr>
          <p:nvPr/>
        </p:nvCxnSpPr>
        <p:spPr bwMode="auto">
          <a:xfrm>
            <a:off x="1668144" y="1688282"/>
            <a:ext cx="42069"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4" name="Conector recto 73">
            <a:extLst>
              <a:ext uri="{FF2B5EF4-FFF2-40B4-BE49-F238E27FC236}">
                <a16:creationId xmlns:a16="http://schemas.microsoft.com/office/drawing/2014/main" id="{7F90A9BD-1E38-45EF-A33B-9CEBD125427E}"/>
              </a:ext>
            </a:extLst>
          </p:cNvPr>
          <p:cNvCxnSpPr>
            <a:cxnSpLocks/>
          </p:cNvCxnSpPr>
          <p:nvPr/>
        </p:nvCxnSpPr>
        <p:spPr bwMode="auto">
          <a:xfrm>
            <a:off x="2124671" y="1700808"/>
            <a:ext cx="4904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5" name="Conector recto 74">
            <a:extLst>
              <a:ext uri="{FF2B5EF4-FFF2-40B4-BE49-F238E27FC236}">
                <a16:creationId xmlns:a16="http://schemas.microsoft.com/office/drawing/2014/main" id="{44594F16-95A3-4FF5-9EA0-2F6C44F9008B}"/>
              </a:ext>
            </a:extLst>
          </p:cNvPr>
          <p:cNvCxnSpPr>
            <a:cxnSpLocks/>
          </p:cNvCxnSpPr>
          <p:nvPr/>
        </p:nvCxnSpPr>
        <p:spPr bwMode="auto">
          <a:xfrm>
            <a:off x="2552831" y="1668649"/>
            <a:ext cx="47676"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6" name="Conector recto 75">
            <a:extLst>
              <a:ext uri="{FF2B5EF4-FFF2-40B4-BE49-F238E27FC236}">
                <a16:creationId xmlns:a16="http://schemas.microsoft.com/office/drawing/2014/main" id="{F24F93BA-73CC-4794-AFB3-D6C2BFE4D539}"/>
              </a:ext>
            </a:extLst>
          </p:cNvPr>
          <p:cNvCxnSpPr>
            <a:cxnSpLocks/>
          </p:cNvCxnSpPr>
          <p:nvPr/>
        </p:nvCxnSpPr>
        <p:spPr bwMode="auto">
          <a:xfrm>
            <a:off x="2968176" y="1648433"/>
            <a:ext cx="61782"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7" name="Conector recto 76">
            <a:extLst>
              <a:ext uri="{FF2B5EF4-FFF2-40B4-BE49-F238E27FC236}">
                <a16:creationId xmlns:a16="http://schemas.microsoft.com/office/drawing/2014/main" id="{CD6263ED-C83B-44B9-A766-9FECD0200863}"/>
              </a:ext>
            </a:extLst>
          </p:cNvPr>
          <p:cNvCxnSpPr>
            <a:cxnSpLocks/>
          </p:cNvCxnSpPr>
          <p:nvPr/>
        </p:nvCxnSpPr>
        <p:spPr bwMode="auto">
          <a:xfrm>
            <a:off x="3424703" y="1660959"/>
            <a:ext cx="68350" cy="226499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8" name="Conector recto 77">
            <a:extLst>
              <a:ext uri="{FF2B5EF4-FFF2-40B4-BE49-F238E27FC236}">
                <a16:creationId xmlns:a16="http://schemas.microsoft.com/office/drawing/2014/main" id="{EA5FD6E1-E60D-43B9-B90B-6A2528FA4388}"/>
              </a:ext>
            </a:extLst>
          </p:cNvPr>
          <p:cNvCxnSpPr>
            <a:cxnSpLocks/>
          </p:cNvCxnSpPr>
          <p:nvPr/>
        </p:nvCxnSpPr>
        <p:spPr bwMode="auto">
          <a:xfrm>
            <a:off x="3852863" y="1628800"/>
            <a:ext cx="34935" cy="2276933"/>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79" name="Conector recto 78">
            <a:extLst>
              <a:ext uri="{FF2B5EF4-FFF2-40B4-BE49-F238E27FC236}">
                <a16:creationId xmlns:a16="http://schemas.microsoft.com/office/drawing/2014/main" id="{61649DDB-55F2-4EA6-B54F-9248FC1D279A}"/>
              </a:ext>
            </a:extLst>
          </p:cNvPr>
          <p:cNvCxnSpPr>
            <a:cxnSpLocks/>
          </p:cNvCxnSpPr>
          <p:nvPr/>
        </p:nvCxnSpPr>
        <p:spPr bwMode="auto">
          <a:xfrm>
            <a:off x="4264320" y="1648433"/>
            <a:ext cx="49421"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0" name="Conector recto 79">
            <a:extLst>
              <a:ext uri="{FF2B5EF4-FFF2-40B4-BE49-F238E27FC236}">
                <a16:creationId xmlns:a16="http://schemas.microsoft.com/office/drawing/2014/main" id="{E0A43B67-6C63-4E9B-BDEE-49F34DC40C4B}"/>
              </a:ext>
            </a:extLst>
          </p:cNvPr>
          <p:cNvCxnSpPr>
            <a:cxnSpLocks/>
          </p:cNvCxnSpPr>
          <p:nvPr/>
        </p:nvCxnSpPr>
        <p:spPr bwMode="auto">
          <a:xfrm>
            <a:off x="4720847" y="1660959"/>
            <a:ext cx="51870" cy="225730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1" name="Conector recto 80">
            <a:extLst>
              <a:ext uri="{FF2B5EF4-FFF2-40B4-BE49-F238E27FC236}">
                <a16:creationId xmlns:a16="http://schemas.microsoft.com/office/drawing/2014/main" id="{E17EF508-ED24-45B7-A145-38EFF387B558}"/>
              </a:ext>
            </a:extLst>
          </p:cNvPr>
          <p:cNvCxnSpPr>
            <a:cxnSpLocks/>
          </p:cNvCxnSpPr>
          <p:nvPr/>
        </p:nvCxnSpPr>
        <p:spPr bwMode="auto">
          <a:xfrm>
            <a:off x="5149007" y="1628800"/>
            <a:ext cx="58171" cy="2316782"/>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cxnSp>
        <p:nvCxnSpPr>
          <p:cNvPr id="82" name="Conector recto 81">
            <a:extLst>
              <a:ext uri="{FF2B5EF4-FFF2-40B4-BE49-F238E27FC236}">
                <a16:creationId xmlns:a16="http://schemas.microsoft.com/office/drawing/2014/main" id="{F659D4A2-75B4-4A05-A158-3D26EEB14074}"/>
              </a:ext>
            </a:extLst>
          </p:cNvPr>
          <p:cNvCxnSpPr>
            <a:cxnSpLocks/>
          </p:cNvCxnSpPr>
          <p:nvPr/>
        </p:nvCxnSpPr>
        <p:spPr bwMode="auto">
          <a:xfrm>
            <a:off x="5585700" y="1637189"/>
            <a:ext cx="58171" cy="2380401"/>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85" name="Text Box 123">
            <a:extLst>
              <a:ext uri="{FF2B5EF4-FFF2-40B4-BE49-F238E27FC236}">
                <a16:creationId xmlns:a16="http://schemas.microsoft.com/office/drawing/2014/main" id="{01A1559F-598E-443B-958E-D12FBBA75AF8}"/>
              </a:ext>
            </a:extLst>
          </p:cNvPr>
          <p:cNvSpPr txBox="1">
            <a:spLocks noChangeArrowheads="1"/>
          </p:cNvSpPr>
          <p:nvPr/>
        </p:nvSpPr>
        <p:spPr bwMode="auto">
          <a:xfrm>
            <a:off x="567890" y="2090557"/>
            <a:ext cx="998671"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bg2">
                    <a:lumMod val="25000"/>
                  </a:schemeClr>
                </a:solidFill>
              </a:rPr>
              <a:t>órdenes</a:t>
            </a:r>
          </a:p>
        </p:txBody>
      </p:sp>
      <p:sp>
        <p:nvSpPr>
          <p:cNvPr id="86" name="Text Box 125">
            <a:extLst>
              <a:ext uri="{FF2B5EF4-FFF2-40B4-BE49-F238E27FC236}">
                <a16:creationId xmlns:a16="http://schemas.microsoft.com/office/drawing/2014/main" id="{C32AB14D-3C75-411C-B30E-E664FCEC606D}"/>
              </a:ext>
            </a:extLst>
          </p:cNvPr>
          <p:cNvSpPr txBox="1">
            <a:spLocks noChangeArrowheads="1"/>
          </p:cNvSpPr>
          <p:nvPr/>
        </p:nvSpPr>
        <p:spPr bwMode="auto">
          <a:xfrm>
            <a:off x="832878" y="3445533"/>
            <a:ext cx="684483" cy="307777"/>
          </a:xfrm>
          <a:prstGeom prst="rect">
            <a:avLst/>
          </a:prstGeom>
          <a:noFill/>
          <a:ln w="19050">
            <a:noFill/>
            <a:miter lim="800000"/>
            <a:headEnd/>
            <a:tailEnd/>
          </a:ln>
        </p:spPr>
        <p:txBody>
          <a:bodyPr wrap="none" lIns="0" tIns="0" rIns="0" bIns="0" anchor="ctr">
            <a:spAutoFit/>
          </a:bodyPr>
          <a:lstStyle/>
          <a:p>
            <a:pPr algn="r"/>
            <a:r>
              <a:rPr lang="es-ES_tradnl" b="1" dirty="0">
                <a:solidFill>
                  <a:srgbClr val="00B050"/>
                </a:solidFill>
              </a:rPr>
              <a:t>datos</a:t>
            </a:r>
          </a:p>
        </p:txBody>
      </p:sp>
      <p:sp>
        <p:nvSpPr>
          <p:cNvPr id="87" name="Text Box 125">
            <a:extLst>
              <a:ext uri="{FF2B5EF4-FFF2-40B4-BE49-F238E27FC236}">
                <a16:creationId xmlns:a16="http://schemas.microsoft.com/office/drawing/2014/main" id="{A5854C0B-90AB-4017-9898-A542D5B28A83}"/>
              </a:ext>
            </a:extLst>
          </p:cNvPr>
          <p:cNvSpPr txBox="1">
            <a:spLocks noChangeArrowheads="1"/>
          </p:cNvSpPr>
          <p:nvPr/>
        </p:nvSpPr>
        <p:spPr bwMode="auto">
          <a:xfrm>
            <a:off x="33856" y="2897442"/>
            <a:ext cx="1425070" cy="307777"/>
          </a:xfrm>
          <a:prstGeom prst="rect">
            <a:avLst/>
          </a:prstGeom>
          <a:noFill/>
          <a:ln w="19050">
            <a:noFill/>
            <a:miter lim="800000"/>
            <a:headEnd/>
            <a:tailEnd/>
          </a:ln>
        </p:spPr>
        <p:txBody>
          <a:bodyPr wrap="none" lIns="0" tIns="0" rIns="0" bIns="0" anchor="ctr">
            <a:spAutoFit/>
          </a:bodyPr>
          <a:lstStyle/>
          <a:p>
            <a:pPr algn="r"/>
            <a:r>
              <a:rPr lang="es-ES_tradnl" b="1" dirty="0">
                <a:solidFill>
                  <a:schemeClr val="accent1"/>
                </a:solidFill>
              </a:rPr>
              <a:t>direcciones</a:t>
            </a:r>
          </a:p>
        </p:txBody>
      </p:sp>
      <p:sp>
        <p:nvSpPr>
          <p:cNvPr id="34" name="CuadroTexto 33">
            <a:extLst>
              <a:ext uri="{FF2B5EF4-FFF2-40B4-BE49-F238E27FC236}">
                <a16:creationId xmlns:a16="http://schemas.microsoft.com/office/drawing/2014/main" id="{651C2402-5FA5-47E6-B0CE-A2ECD0168F78}"/>
              </a:ext>
            </a:extLst>
          </p:cNvPr>
          <p:cNvSpPr txBox="1"/>
          <p:nvPr/>
        </p:nvSpPr>
        <p:spPr>
          <a:xfrm>
            <a:off x="6853320" y="1439987"/>
            <a:ext cx="184730" cy="307777"/>
          </a:xfrm>
          <a:prstGeom prst="rect">
            <a:avLst/>
          </a:prstGeom>
          <a:noFill/>
        </p:spPr>
        <p:txBody>
          <a:bodyPr wrap="none" rtlCol="0">
            <a:spAutoFit/>
          </a:bodyPr>
          <a:lstStyle/>
          <a:p>
            <a:endParaRPr lang="es-ES" sz="1400" dirty="0">
              <a:solidFill>
                <a:schemeClr val="accent1">
                  <a:lumMod val="75000"/>
                </a:schemeClr>
              </a:solidFill>
            </a:endParaRPr>
          </a:p>
        </p:txBody>
      </p:sp>
      <p:grpSp>
        <p:nvGrpSpPr>
          <p:cNvPr id="37" name="Grupo 36">
            <a:extLst>
              <a:ext uri="{FF2B5EF4-FFF2-40B4-BE49-F238E27FC236}">
                <a16:creationId xmlns:a16="http://schemas.microsoft.com/office/drawing/2014/main" id="{5C85F64C-985E-4D15-8366-E020FD0FEFAB}"/>
              </a:ext>
            </a:extLst>
          </p:cNvPr>
          <p:cNvGrpSpPr/>
          <p:nvPr/>
        </p:nvGrpSpPr>
        <p:grpSpPr>
          <a:xfrm>
            <a:off x="1742835" y="2137490"/>
            <a:ext cx="6814046" cy="716935"/>
            <a:chOff x="1742835" y="2143449"/>
            <a:chExt cx="6814046" cy="716935"/>
          </a:xfrm>
        </p:grpSpPr>
        <p:sp>
          <p:nvSpPr>
            <p:cNvPr id="59" name="Freeform 24"/>
            <p:cNvSpPr>
              <a:spLocks/>
            </p:cNvSpPr>
            <p:nvPr/>
          </p:nvSpPr>
          <p:spPr bwMode="blackWhite">
            <a:xfrm>
              <a:off x="2593220" y="2159433"/>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RD</a:t>
              </a:r>
            </a:p>
          </p:txBody>
        </p:sp>
        <p:sp>
          <p:nvSpPr>
            <p:cNvPr id="38" name="Rectangle 10"/>
            <p:cNvSpPr>
              <a:spLocks noChangeArrowheads="1"/>
            </p:cNvSpPr>
            <p:nvPr/>
          </p:nvSpPr>
          <p:spPr bwMode="auto">
            <a:xfrm>
              <a:off x="1910303" y="2552607"/>
              <a:ext cx="455254"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RCD</a:t>
              </a:r>
              <a:endParaRPr lang="es-ES_tradnl" baseline="-25000" dirty="0"/>
            </a:p>
          </p:txBody>
        </p:sp>
        <p:sp>
          <p:nvSpPr>
            <p:cNvPr id="39" name="Line 11"/>
            <p:cNvSpPr>
              <a:spLocks noChangeShapeType="1"/>
            </p:cNvSpPr>
            <p:nvPr/>
          </p:nvSpPr>
          <p:spPr bwMode="auto">
            <a:xfrm>
              <a:off x="1742835" y="2492896"/>
              <a:ext cx="865531" cy="7131"/>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solidFill>
                  <a:schemeClr val="bg1"/>
                </a:solidFill>
              </a:endParaRPr>
            </a:p>
          </p:txBody>
        </p:sp>
        <p:sp>
          <p:nvSpPr>
            <p:cNvPr id="36" name="CuadroTexto 35">
              <a:extLst>
                <a:ext uri="{FF2B5EF4-FFF2-40B4-BE49-F238E27FC236}">
                  <a16:creationId xmlns:a16="http://schemas.microsoft.com/office/drawing/2014/main" id="{129FD82E-681F-4E4F-93D8-FBA7EA659FA0}"/>
                </a:ext>
              </a:extLst>
            </p:cNvPr>
            <p:cNvSpPr txBox="1"/>
            <p:nvPr/>
          </p:nvSpPr>
          <p:spPr>
            <a:xfrm>
              <a:off x="6242281" y="2143449"/>
              <a:ext cx="2314600" cy="566309"/>
            </a:xfrm>
            <a:prstGeom prst="rect">
              <a:avLst/>
            </a:prstGeom>
            <a:noFill/>
          </p:spPr>
          <p:txBody>
            <a:bodyPr wrap="square" rtlCol="0">
              <a:spAutoFit/>
            </a:bodyPr>
            <a:lstStyle/>
            <a:p>
              <a:pPr algn="l"/>
              <a:r>
                <a:rPr lang="es-ES" sz="1400" dirty="0">
                  <a:solidFill>
                    <a:schemeClr val="accent1">
                      <a:lumMod val="75000"/>
                    </a:schemeClr>
                  </a:solidFill>
                </a:rPr>
                <a:t>(2) Dar orden lectura:</a:t>
              </a:r>
            </a:p>
            <a:p>
              <a:pPr algn="l"/>
              <a:r>
                <a:rPr lang="es-ES" sz="1400" dirty="0">
                  <a:solidFill>
                    <a:schemeClr val="accent1">
                      <a:lumMod val="75000"/>
                    </a:schemeClr>
                  </a:solidFill>
                </a:rPr>
                <a:t>      (esperar TRCD)</a:t>
              </a:r>
            </a:p>
          </p:txBody>
        </p:sp>
      </p:grpSp>
      <p:grpSp>
        <p:nvGrpSpPr>
          <p:cNvPr id="91" name="Group 82">
            <a:extLst>
              <a:ext uri="{FF2B5EF4-FFF2-40B4-BE49-F238E27FC236}">
                <a16:creationId xmlns:a16="http://schemas.microsoft.com/office/drawing/2014/main" id="{05E8172F-6570-42D8-B32F-DC1816127693}"/>
              </a:ext>
            </a:extLst>
          </p:cNvPr>
          <p:cNvGrpSpPr>
            <a:grpSpLocks/>
          </p:cNvGrpSpPr>
          <p:nvPr/>
        </p:nvGrpSpPr>
        <p:grpSpPr bwMode="auto">
          <a:xfrm>
            <a:off x="2598122" y="2975831"/>
            <a:ext cx="354264" cy="213033"/>
            <a:chOff x="2640" y="2304"/>
            <a:chExt cx="384" cy="181"/>
          </a:xfrm>
        </p:grpSpPr>
        <p:sp>
          <p:nvSpPr>
            <p:cNvPr id="92" name="Freeform 71">
              <a:extLst>
                <a:ext uri="{FF2B5EF4-FFF2-40B4-BE49-F238E27FC236}">
                  <a16:creationId xmlns:a16="http://schemas.microsoft.com/office/drawing/2014/main" id="{E092217F-6A6F-41D1-8290-E72665DF10A0}"/>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3" name="Text Box 72">
              <a:extLst>
                <a:ext uri="{FF2B5EF4-FFF2-40B4-BE49-F238E27FC236}">
                  <a16:creationId xmlns:a16="http://schemas.microsoft.com/office/drawing/2014/main" id="{3445356E-0135-4E79-A84C-2F5416C1D0F1}"/>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Col</a:t>
              </a:r>
            </a:p>
          </p:txBody>
        </p:sp>
      </p:grpSp>
      <p:sp>
        <p:nvSpPr>
          <p:cNvPr id="45" name="Line 11"/>
          <p:cNvSpPr>
            <a:spLocks noChangeShapeType="1"/>
          </p:cNvSpPr>
          <p:nvPr/>
        </p:nvSpPr>
        <p:spPr bwMode="auto">
          <a:xfrm>
            <a:off x="2615872" y="2492895"/>
            <a:ext cx="1050038" cy="11667"/>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47" name="Rectangle 10"/>
          <p:cNvSpPr>
            <a:spLocks noChangeArrowheads="1"/>
          </p:cNvSpPr>
          <p:nvPr/>
        </p:nvSpPr>
        <p:spPr bwMode="auto">
          <a:xfrm>
            <a:off x="2683348" y="2610560"/>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sp>
        <p:nvSpPr>
          <p:cNvPr id="84" name="CuadroTexto 83">
            <a:extLst>
              <a:ext uri="{FF2B5EF4-FFF2-40B4-BE49-F238E27FC236}">
                <a16:creationId xmlns:a16="http://schemas.microsoft.com/office/drawing/2014/main" id="{CC02E050-A760-41A5-96FF-EA80B44CE29E}"/>
              </a:ext>
            </a:extLst>
          </p:cNvPr>
          <p:cNvSpPr txBox="1"/>
          <p:nvPr/>
        </p:nvSpPr>
        <p:spPr>
          <a:xfrm>
            <a:off x="6236325" y="2936135"/>
            <a:ext cx="2314600" cy="738664"/>
          </a:xfrm>
          <a:prstGeom prst="rect">
            <a:avLst/>
          </a:prstGeom>
          <a:noFill/>
        </p:spPr>
        <p:txBody>
          <a:bodyPr wrap="square" rtlCol="0">
            <a:spAutoFit/>
          </a:bodyPr>
          <a:lstStyle/>
          <a:p>
            <a:r>
              <a:rPr lang="es-ES" sz="1400" dirty="0">
                <a:solidFill>
                  <a:schemeClr val="accent1">
                    <a:lumMod val="75000"/>
                  </a:schemeClr>
                </a:solidFill>
              </a:rPr>
              <a:t>(3) Tras CL ciclos aparece la primera palabra del bloque: </a:t>
            </a:r>
            <a:r>
              <a:rPr lang="es-ES" sz="1400" dirty="0">
                <a:solidFill>
                  <a:srgbClr val="FF0000"/>
                </a:solidFill>
              </a:rPr>
              <a:t>es múltiplo de 0,5</a:t>
            </a:r>
          </a:p>
        </p:txBody>
      </p:sp>
      <p:sp>
        <p:nvSpPr>
          <p:cNvPr id="98" name="CuadroTexto 97">
            <a:extLst>
              <a:ext uri="{FF2B5EF4-FFF2-40B4-BE49-F238E27FC236}">
                <a16:creationId xmlns:a16="http://schemas.microsoft.com/office/drawing/2014/main" id="{FC1605C0-50D9-450B-9799-978603046C20}"/>
              </a:ext>
            </a:extLst>
          </p:cNvPr>
          <p:cNvSpPr txBox="1"/>
          <p:nvPr/>
        </p:nvSpPr>
        <p:spPr>
          <a:xfrm>
            <a:off x="6269935" y="3698658"/>
            <a:ext cx="2496613" cy="738664"/>
          </a:xfrm>
          <a:prstGeom prst="rect">
            <a:avLst/>
          </a:prstGeom>
          <a:noFill/>
        </p:spPr>
        <p:txBody>
          <a:bodyPr wrap="square" rtlCol="0">
            <a:spAutoFit/>
          </a:bodyPr>
          <a:lstStyle/>
          <a:p>
            <a:pPr algn="l"/>
            <a:r>
              <a:rPr lang="es-ES" sz="1400" dirty="0">
                <a:solidFill>
                  <a:schemeClr val="accent1">
                    <a:lumMod val="75000"/>
                  </a:schemeClr>
                </a:solidFill>
              </a:rPr>
              <a:t>(4) A cada ciclo de reloj aparece cada una de las palabras del bloque</a:t>
            </a:r>
          </a:p>
        </p:txBody>
      </p:sp>
      <p:grpSp>
        <p:nvGrpSpPr>
          <p:cNvPr id="107" name="Grupo 106">
            <a:extLst>
              <a:ext uri="{FF2B5EF4-FFF2-40B4-BE49-F238E27FC236}">
                <a16:creationId xmlns:a16="http://schemas.microsoft.com/office/drawing/2014/main" id="{A791D4C9-6418-478D-AF51-93E06C4A4150}"/>
              </a:ext>
            </a:extLst>
          </p:cNvPr>
          <p:cNvGrpSpPr/>
          <p:nvPr/>
        </p:nvGrpSpPr>
        <p:grpSpPr>
          <a:xfrm>
            <a:off x="1703610" y="1681085"/>
            <a:ext cx="6560906" cy="1494849"/>
            <a:chOff x="1703610" y="1681085"/>
            <a:chExt cx="6560906" cy="1494849"/>
          </a:xfrm>
        </p:grpSpPr>
        <p:sp>
          <p:nvSpPr>
            <p:cNvPr id="57" name="Freeform 24"/>
            <p:cNvSpPr>
              <a:spLocks/>
            </p:cNvSpPr>
            <p:nvPr/>
          </p:nvSpPr>
          <p:spPr bwMode="blackWhite">
            <a:xfrm>
              <a:off x="1703610" y="2136868"/>
              <a:ext cx="434636" cy="238932"/>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ACT</a:t>
              </a:r>
            </a:p>
          </p:txBody>
        </p:sp>
        <p:grpSp>
          <p:nvGrpSpPr>
            <p:cNvPr id="88" name="Group 82">
              <a:extLst>
                <a:ext uri="{FF2B5EF4-FFF2-40B4-BE49-F238E27FC236}">
                  <a16:creationId xmlns:a16="http://schemas.microsoft.com/office/drawing/2014/main" id="{338AB3B0-D5D8-4E45-98B2-F9DF4EDD9836}"/>
                </a:ext>
              </a:extLst>
            </p:cNvPr>
            <p:cNvGrpSpPr>
              <a:grpSpLocks/>
            </p:cNvGrpSpPr>
            <p:nvPr/>
          </p:nvGrpSpPr>
          <p:grpSpPr bwMode="auto">
            <a:xfrm>
              <a:off x="1737435" y="2962901"/>
              <a:ext cx="354264" cy="213033"/>
              <a:chOff x="2640" y="2304"/>
              <a:chExt cx="384" cy="181"/>
            </a:xfrm>
          </p:grpSpPr>
          <p:sp>
            <p:nvSpPr>
              <p:cNvPr id="89" name="Freeform 71">
                <a:extLst>
                  <a:ext uri="{FF2B5EF4-FFF2-40B4-BE49-F238E27FC236}">
                    <a16:creationId xmlns:a16="http://schemas.microsoft.com/office/drawing/2014/main" id="{F253CEF3-DA36-4FA0-BB70-9266730E1A5E}"/>
                  </a:ext>
                </a:extLst>
              </p:cNvPr>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accent1">
                  <a:lumMod val="20000"/>
                  <a:lumOff val="80000"/>
                </a:schemeClr>
              </a:solidFill>
              <a:ln w="9525">
                <a:solidFill>
                  <a:schemeClr val="tx1"/>
                </a:solidFill>
                <a:round/>
                <a:headEnd/>
                <a:tailEnd/>
              </a:ln>
            </p:spPr>
            <p:txBody>
              <a:bodyPr lIns="0" tIns="0" rIns="0" bIns="0" anchor="ctr"/>
              <a:lstStyle/>
              <a:p>
                <a:endParaRPr lang="es-ES" sz="1000"/>
              </a:p>
            </p:txBody>
          </p:sp>
          <p:sp>
            <p:nvSpPr>
              <p:cNvPr id="90" name="Text Box 72">
                <a:extLst>
                  <a:ext uri="{FF2B5EF4-FFF2-40B4-BE49-F238E27FC236}">
                    <a16:creationId xmlns:a16="http://schemas.microsoft.com/office/drawing/2014/main" id="{8BA001F1-BCC7-4971-8475-EB20D824F4A9}"/>
                  </a:ext>
                </a:extLst>
              </p:cNvPr>
              <p:cNvSpPr txBox="1">
                <a:spLocks noChangeArrowheads="1"/>
              </p:cNvSpPr>
              <p:nvPr/>
            </p:nvSpPr>
            <p:spPr bwMode="blackWhite">
              <a:xfrm>
                <a:off x="2640" y="2304"/>
                <a:ext cx="384" cy="131"/>
              </a:xfrm>
              <a:prstGeom prst="rect">
                <a:avLst/>
              </a:prstGeom>
              <a:noFill/>
              <a:ln w="19050">
                <a:noFill/>
                <a:miter lim="800000"/>
                <a:headEnd/>
                <a:tailEnd/>
              </a:ln>
            </p:spPr>
            <p:txBody>
              <a:bodyPr lIns="0" tIns="0" rIns="0" bIns="0">
                <a:spAutoFit/>
              </a:bodyPr>
              <a:lstStyle/>
              <a:p>
                <a:r>
                  <a:rPr lang="es-ES" sz="1000" b="1" dirty="0">
                    <a:latin typeface="Arial Narrow" pitchFamily="34" charset="0"/>
                  </a:rPr>
                  <a:t>Fila</a:t>
                </a:r>
              </a:p>
            </p:txBody>
          </p:sp>
        </p:grpSp>
        <p:sp>
          <p:nvSpPr>
            <p:cNvPr id="106" name="CuadroTexto 105">
              <a:extLst>
                <a:ext uri="{FF2B5EF4-FFF2-40B4-BE49-F238E27FC236}">
                  <a16:creationId xmlns:a16="http://schemas.microsoft.com/office/drawing/2014/main" id="{AEA0CAE1-F8E8-4298-8435-3D120BF13CA0}"/>
                </a:ext>
              </a:extLst>
            </p:cNvPr>
            <p:cNvSpPr txBox="1"/>
            <p:nvPr/>
          </p:nvSpPr>
          <p:spPr>
            <a:xfrm>
              <a:off x="6269935" y="1681085"/>
              <a:ext cx="1994581" cy="307777"/>
            </a:xfrm>
            <a:prstGeom prst="rect">
              <a:avLst/>
            </a:prstGeom>
            <a:noFill/>
          </p:spPr>
          <p:txBody>
            <a:bodyPr wrap="square" rtlCol="0">
              <a:spAutoFit/>
            </a:bodyPr>
            <a:lstStyle/>
            <a:p>
              <a:pPr algn="l"/>
              <a:r>
                <a:rPr lang="es-ES" sz="1400" dirty="0">
                  <a:solidFill>
                    <a:schemeClr val="accent1">
                      <a:lumMod val="75000"/>
                    </a:schemeClr>
                  </a:solidFill>
                </a:rPr>
                <a:t>(1) Activar la fila</a:t>
              </a:r>
            </a:p>
          </p:txBody>
        </p:sp>
      </p:grpSp>
      <p:sp>
        <p:nvSpPr>
          <p:cNvPr id="8" name="CuadroTexto 7">
            <a:extLst>
              <a:ext uri="{FF2B5EF4-FFF2-40B4-BE49-F238E27FC236}">
                <a16:creationId xmlns:a16="http://schemas.microsoft.com/office/drawing/2014/main" id="{8774ADD5-F1A6-4FFB-8C20-16A53BCCD200}"/>
              </a:ext>
            </a:extLst>
          </p:cNvPr>
          <p:cNvSpPr txBox="1"/>
          <p:nvPr/>
        </p:nvSpPr>
        <p:spPr>
          <a:xfrm>
            <a:off x="2742947" y="5329292"/>
            <a:ext cx="5801848" cy="1341906"/>
          </a:xfrm>
          <a:prstGeom prst="rect">
            <a:avLst/>
          </a:prstGeom>
          <a:noFill/>
        </p:spPr>
        <p:txBody>
          <a:bodyPr wrap="square" rtlCol="0">
            <a:spAutoFit/>
          </a:bodyPr>
          <a:lstStyle/>
          <a:p>
            <a:r>
              <a:rPr lang="es-ES" sz="1400" dirty="0">
                <a:solidFill>
                  <a:schemeClr val="accent1">
                    <a:lumMod val="75000"/>
                  </a:schemeClr>
                </a:solidFill>
              </a:rPr>
              <a:t>Dirección = Bloque +  Desplazamiento  =  Fila  +  Columna</a:t>
            </a:r>
          </a:p>
          <a:p>
            <a:pPr algn="l"/>
            <a:r>
              <a:rPr lang="es-ES" sz="1400" dirty="0">
                <a:solidFill>
                  <a:schemeClr val="accent1">
                    <a:lumMod val="75000"/>
                  </a:schemeClr>
                </a:solidFill>
              </a:rPr>
              <a:t>                     P0 =  Bloque + 0  =   Fila +  Col</a:t>
            </a:r>
          </a:p>
          <a:p>
            <a:pPr algn="l"/>
            <a:r>
              <a:rPr lang="es-ES" sz="1400" dirty="0">
                <a:solidFill>
                  <a:schemeClr val="accent1">
                    <a:lumMod val="75000"/>
                  </a:schemeClr>
                </a:solidFill>
              </a:rPr>
              <a:t>                     P1 =  Bloque + 1   =  Fila + (Col+1)</a:t>
            </a:r>
          </a:p>
          <a:p>
            <a:pPr algn="l"/>
            <a:r>
              <a:rPr lang="es-ES" sz="1400" dirty="0">
                <a:solidFill>
                  <a:schemeClr val="accent1">
                    <a:lumMod val="75000"/>
                  </a:schemeClr>
                </a:solidFill>
              </a:rPr>
              <a:t>                     P2  = Bloque + 2   =  Fila + (Col+2)</a:t>
            </a:r>
          </a:p>
          <a:p>
            <a:pPr algn="l"/>
            <a:r>
              <a:rPr lang="es-ES" sz="1400" dirty="0">
                <a:solidFill>
                  <a:schemeClr val="accent1">
                    <a:lumMod val="75000"/>
                  </a:schemeClr>
                </a:solidFill>
              </a:rPr>
              <a:t>                     P3  =  Bloque +3  =  Fila + (Col+3)</a:t>
            </a:r>
          </a:p>
        </p:txBody>
      </p:sp>
      <p:sp>
        <p:nvSpPr>
          <p:cNvPr id="55" name="Line 11">
            <a:extLst>
              <a:ext uri="{FF2B5EF4-FFF2-40B4-BE49-F238E27FC236}">
                <a16:creationId xmlns:a16="http://schemas.microsoft.com/office/drawing/2014/main" id="{A615C447-BCDE-47F0-A8B6-C9EEF1A38A08}"/>
              </a:ext>
            </a:extLst>
          </p:cNvPr>
          <p:cNvSpPr>
            <a:spLocks noChangeShapeType="1"/>
          </p:cNvSpPr>
          <p:nvPr/>
        </p:nvSpPr>
        <p:spPr bwMode="auto">
          <a:xfrm>
            <a:off x="3477103" y="3339631"/>
            <a:ext cx="1050038" cy="11667"/>
          </a:xfrm>
          <a:prstGeom prst="line">
            <a:avLst/>
          </a:prstGeom>
          <a:noFill/>
          <a:ln w="57150">
            <a:solidFill>
              <a:schemeClr val="accent6">
                <a:lumMod val="60000"/>
                <a:lumOff val="40000"/>
              </a:schemeClr>
            </a:solidFill>
            <a:round/>
            <a:headEnd type="triangle" w="med" len="med"/>
            <a:tailEnd type="triangle" w="med" len="med"/>
          </a:ln>
        </p:spPr>
        <p:txBody>
          <a:bodyPr wrap="none" lIns="0" tIns="0" rIns="0" bIns="0" anchor="ctr"/>
          <a:lstStyle/>
          <a:p>
            <a:endParaRPr lang="es-ES"/>
          </a:p>
        </p:txBody>
      </p:sp>
      <p:sp>
        <p:nvSpPr>
          <p:cNvPr id="56" name="Rectangle 10">
            <a:extLst>
              <a:ext uri="{FF2B5EF4-FFF2-40B4-BE49-F238E27FC236}">
                <a16:creationId xmlns:a16="http://schemas.microsoft.com/office/drawing/2014/main" id="{053920BB-84AB-452F-A351-BBD58098EC81}"/>
              </a:ext>
            </a:extLst>
          </p:cNvPr>
          <p:cNvSpPr>
            <a:spLocks noChangeArrowheads="1"/>
          </p:cNvSpPr>
          <p:nvPr/>
        </p:nvSpPr>
        <p:spPr bwMode="auto">
          <a:xfrm>
            <a:off x="4033746" y="2822371"/>
            <a:ext cx="288542" cy="307777"/>
          </a:xfrm>
          <a:prstGeom prst="rect">
            <a:avLst/>
          </a:prstGeom>
          <a:noFill/>
          <a:ln w="19050">
            <a:noFill/>
            <a:miter lim="800000"/>
            <a:headEnd/>
            <a:tailEnd/>
          </a:ln>
        </p:spPr>
        <p:txBody>
          <a:bodyPr wrap="none" lIns="0" tIns="0" rIns="0" bIns="0" anchor="ctr">
            <a:spAutoFit/>
          </a:bodyPr>
          <a:lstStyle/>
          <a:p>
            <a:r>
              <a:rPr lang="es-ES" dirty="0" err="1"/>
              <a:t>t</a:t>
            </a:r>
            <a:r>
              <a:rPr lang="es-ES" baseline="-25000" dirty="0" err="1"/>
              <a:t>CL</a:t>
            </a:r>
            <a:endParaRPr lang="es-ES_tradnl" sz="2400" b="1" baseline="-25000" dirty="0"/>
          </a:p>
        </p:txBody>
      </p:sp>
      <p:sp>
        <p:nvSpPr>
          <p:cNvPr id="58" name="Freeform 24">
            <a:extLst>
              <a:ext uri="{FF2B5EF4-FFF2-40B4-BE49-F238E27FC236}">
                <a16:creationId xmlns:a16="http://schemas.microsoft.com/office/drawing/2014/main" id="{D52044E0-403A-4AB7-A9AA-9D93E89F55AE}"/>
              </a:ext>
            </a:extLst>
          </p:cNvPr>
          <p:cNvSpPr>
            <a:spLocks/>
          </p:cNvSpPr>
          <p:nvPr/>
        </p:nvSpPr>
        <p:spPr bwMode="blackWhite">
          <a:xfrm>
            <a:off x="3453000" y="2170335"/>
            <a:ext cx="383577" cy="216023"/>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chemeClr val="bg2">
              <a:lumMod val="25000"/>
            </a:schemeClr>
          </a:solidFill>
          <a:ln w="9525">
            <a:solidFill>
              <a:schemeClr val="tx1"/>
            </a:solidFill>
            <a:round/>
            <a:headEnd/>
            <a:tailEnd/>
          </a:ln>
        </p:spPr>
        <p:txBody>
          <a:bodyPr lIns="0" tIns="0" rIns="0" bIns="0" anchor="ctr"/>
          <a:lstStyle/>
          <a:p>
            <a:r>
              <a:rPr lang="es-ES" sz="1000" b="1" dirty="0">
                <a:solidFill>
                  <a:schemeClr val="bg1"/>
                </a:solidFill>
              </a:rPr>
              <a:t>PRE</a:t>
            </a:r>
          </a:p>
        </p:txBody>
      </p:sp>
      <p:grpSp>
        <p:nvGrpSpPr>
          <p:cNvPr id="60" name="Group 83">
            <a:extLst>
              <a:ext uri="{FF2B5EF4-FFF2-40B4-BE49-F238E27FC236}">
                <a16:creationId xmlns:a16="http://schemas.microsoft.com/office/drawing/2014/main" id="{6DDCBC60-79AF-4192-AA30-9D6ACC895AB3}"/>
              </a:ext>
            </a:extLst>
          </p:cNvPr>
          <p:cNvGrpSpPr>
            <a:grpSpLocks/>
          </p:cNvGrpSpPr>
          <p:nvPr/>
        </p:nvGrpSpPr>
        <p:grpSpPr bwMode="auto">
          <a:xfrm>
            <a:off x="3672629" y="3524776"/>
            <a:ext cx="198946" cy="164510"/>
            <a:chOff x="3792" y="2304"/>
            <a:chExt cx="384" cy="181"/>
          </a:xfrm>
        </p:grpSpPr>
        <p:sp>
          <p:nvSpPr>
            <p:cNvPr id="61" name="Freeform 80">
              <a:extLst>
                <a:ext uri="{FF2B5EF4-FFF2-40B4-BE49-F238E27FC236}">
                  <a16:creationId xmlns:a16="http://schemas.microsoft.com/office/drawing/2014/main" id="{05968FFF-9CED-4AEF-BB11-91E5FCA6BCC8}"/>
                </a:ext>
              </a:extLst>
            </p:cNvPr>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62" name="Text Box 81">
              <a:extLst>
                <a:ext uri="{FF2B5EF4-FFF2-40B4-BE49-F238E27FC236}">
                  <a16:creationId xmlns:a16="http://schemas.microsoft.com/office/drawing/2014/main" id="{E6CEAC7A-F9B4-45BB-8BB0-F7072C89581A}"/>
                </a:ext>
              </a:extLst>
            </p:cNvPr>
            <p:cNvSpPr txBox="1">
              <a:spLocks noChangeArrowheads="1"/>
            </p:cNvSpPr>
            <p:nvPr/>
          </p:nvSpPr>
          <p:spPr bwMode="blackWhite">
            <a:xfrm>
              <a:off x="3792" y="2304"/>
              <a:ext cx="384" cy="169"/>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P0</a:t>
              </a:r>
            </a:p>
          </p:txBody>
        </p:sp>
      </p:grpSp>
      <p:grpSp>
        <p:nvGrpSpPr>
          <p:cNvPr id="65" name="Group 83">
            <a:extLst>
              <a:ext uri="{FF2B5EF4-FFF2-40B4-BE49-F238E27FC236}">
                <a16:creationId xmlns:a16="http://schemas.microsoft.com/office/drawing/2014/main" id="{93ECECE5-ADC6-4403-9536-D3CA2DF50C6D}"/>
              </a:ext>
            </a:extLst>
          </p:cNvPr>
          <p:cNvGrpSpPr>
            <a:grpSpLocks/>
          </p:cNvGrpSpPr>
          <p:nvPr/>
        </p:nvGrpSpPr>
        <p:grpSpPr bwMode="auto">
          <a:xfrm>
            <a:off x="3891297" y="3527975"/>
            <a:ext cx="198946" cy="164510"/>
            <a:chOff x="3792" y="2304"/>
            <a:chExt cx="384" cy="181"/>
          </a:xfrm>
        </p:grpSpPr>
        <p:sp>
          <p:nvSpPr>
            <p:cNvPr id="66" name="Freeform 80">
              <a:extLst>
                <a:ext uri="{FF2B5EF4-FFF2-40B4-BE49-F238E27FC236}">
                  <a16:creationId xmlns:a16="http://schemas.microsoft.com/office/drawing/2014/main" id="{09C1190A-A3E4-4AA3-B0BE-F5438BADD141}"/>
                </a:ext>
              </a:extLst>
            </p:cNvPr>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67" name="Text Box 81">
              <a:extLst>
                <a:ext uri="{FF2B5EF4-FFF2-40B4-BE49-F238E27FC236}">
                  <a16:creationId xmlns:a16="http://schemas.microsoft.com/office/drawing/2014/main" id="{40702B37-BD4A-4705-9566-7DB7A12332FE}"/>
                </a:ext>
              </a:extLst>
            </p:cNvPr>
            <p:cNvSpPr txBox="1">
              <a:spLocks noChangeArrowheads="1"/>
            </p:cNvSpPr>
            <p:nvPr/>
          </p:nvSpPr>
          <p:spPr bwMode="blackWhite">
            <a:xfrm>
              <a:off x="3792" y="2304"/>
              <a:ext cx="384" cy="169"/>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P1</a:t>
              </a:r>
            </a:p>
          </p:txBody>
        </p:sp>
      </p:grpSp>
      <p:grpSp>
        <p:nvGrpSpPr>
          <p:cNvPr id="68" name="Group 83">
            <a:extLst>
              <a:ext uri="{FF2B5EF4-FFF2-40B4-BE49-F238E27FC236}">
                <a16:creationId xmlns:a16="http://schemas.microsoft.com/office/drawing/2014/main" id="{541E6F46-F553-472A-AC4A-FCB8DBFE8E51}"/>
              </a:ext>
            </a:extLst>
          </p:cNvPr>
          <p:cNvGrpSpPr>
            <a:grpSpLocks/>
          </p:cNvGrpSpPr>
          <p:nvPr/>
        </p:nvGrpSpPr>
        <p:grpSpPr bwMode="auto">
          <a:xfrm>
            <a:off x="4104268" y="3528661"/>
            <a:ext cx="198946" cy="164510"/>
            <a:chOff x="3792" y="2304"/>
            <a:chExt cx="384" cy="181"/>
          </a:xfrm>
        </p:grpSpPr>
        <p:sp>
          <p:nvSpPr>
            <p:cNvPr id="69" name="Freeform 80">
              <a:extLst>
                <a:ext uri="{FF2B5EF4-FFF2-40B4-BE49-F238E27FC236}">
                  <a16:creationId xmlns:a16="http://schemas.microsoft.com/office/drawing/2014/main" id="{289FF615-F573-4A2D-8965-15A9C134AC6E}"/>
                </a:ext>
              </a:extLst>
            </p:cNvPr>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sz="1000"/>
            </a:p>
          </p:txBody>
        </p:sp>
        <p:sp>
          <p:nvSpPr>
            <p:cNvPr id="70" name="Text Box 81">
              <a:extLst>
                <a:ext uri="{FF2B5EF4-FFF2-40B4-BE49-F238E27FC236}">
                  <a16:creationId xmlns:a16="http://schemas.microsoft.com/office/drawing/2014/main" id="{A3E580EA-0EA5-409B-86C3-527D3ABA5FAF}"/>
                </a:ext>
              </a:extLst>
            </p:cNvPr>
            <p:cNvSpPr txBox="1">
              <a:spLocks noChangeArrowheads="1"/>
            </p:cNvSpPr>
            <p:nvPr/>
          </p:nvSpPr>
          <p:spPr bwMode="blackWhite">
            <a:xfrm>
              <a:off x="3792" y="2304"/>
              <a:ext cx="384" cy="169"/>
            </a:xfrm>
            <a:prstGeom prst="rect">
              <a:avLst/>
            </a:prstGeom>
            <a:noFill/>
            <a:ln w="19050">
              <a:noFill/>
              <a:miter lim="800000"/>
              <a:headEnd/>
              <a:tailEnd/>
            </a:ln>
          </p:spPr>
          <p:txBody>
            <a:bodyPr lIns="0" tIns="0" rIns="0" bIns="0">
              <a:spAutoFit/>
            </a:bodyPr>
            <a:lstStyle/>
            <a:p>
              <a:r>
                <a:rPr lang="es-ES" sz="1000" b="1" dirty="0">
                  <a:latin typeface="Arial Narrow" pitchFamily="34" charset="0"/>
                </a:rPr>
                <a:t>P2</a:t>
              </a:r>
            </a:p>
          </p:txBody>
        </p:sp>
      </p:grpSp>
    </p:spTree>
    <p:extLst>
      <p:ext uri="{BB962C8B-B14F-4D97-AF65-F5344CB8AC3E}">
        <p14:creationId xmlns:p14="http://schemas.microsoft.com/office/powerpoint/2010/main" val="2756764773"/>
      </p:ext>
    </p:extLst>
  </p:cSld>
  <p:clrMapOvr>
    <a:masterClrMapping/>
  </p:clrMapOvr>
  <p:transition spd="med">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err="1"/>
              <a:t>Nomenclatura</a:t>
            </a:r>
            <a:r>
              <a:rPr lang="en-GB" dirty="0"/>
              <a:t> </a:t>
            </a:r>
            <a:r>
              <a:rPr lang="en-GB" dirty="0" err="1"/>
              <a:t>estándar</a:t>
            </a:r>
            <a:r>
              <a:rPr lang="en-GB" dirty="0"/>
              <a:t> SDRAM</a:t>
            </a:r>
          </a:p>
        </p:txBody>
      </p:sp>
      <p:sp>
        <p:nvSpPr>
          <p:cNvPr id="3" name="Marcador de contenido 2"/>
          <p:cNvSpPr>
            <a:spLocks noGrp="1"/>
          </p:cNvSpPr>
          <p:nvPr>
            <p:ph idx="1"/>
          </p:nvPr>
        </p:nvSpPr>
        <p:spPr>
          <a:xfrm>
            <a:off x="467544" y="1052736"/>
            <a:ext cx="8480139" cy="5025655"/>
          </a:xfrm>
        </p:spPr>
        <p:txBody>
          <a:bodyPr>
            <a:noAutofit/>
          </a:bodyPr>
          <a:lstStyle/>
          <a:p>
            <a:r>
              <a:rPr lang="en-GB" sz="1800" dirty="0" err="1"/>
              <a:t>Según</a:t>
            </a:r>
            <a:r>
              <a:rPr lang="en-GB" sz="1800" dirty="0"/>
              <a:t> el </a:t>
            </a:r>
            <a:r>
              <a:rPr lang="en-GB" sz="1800" dirty="0" err="1"/>
              <a:t>estándar</a:t>
            </a:r>
            <a:r>
              <a:rPr lang="en-GB" sz="1800" dirty="0"/>
              <a:t> JEDEC </a:t>
            </a:r>
            <a:r>
              <a:rPr lang="en-GB" sz="1800" dirty="0" err="1"/>
              <a:t>los</a:t>
            </a:r>
            <a:r>
              <a:rPr lang="en-GB" sz="1800" dirty="0"/>
              <a:t> chips de SDRAM </a:t>
            </a:r>
            <a:r>
              <a:rPr lang="en-GB" sz="1800" dirty="0" err="1"/>
              <a:t>incluyen</a:t>
            </a:r>
            <a:r>
              <a:rPr lang="en-GB" sz="1800" dirty="0"/>
              <a:t> el ancho de </a:t>
            </a:r>
            <a:r>
              <a:rPr lang="en-GB" sz="1800" dirty="0" err="1"/>
              <a:t>banda</a:t>
            </a:r>
            <a:r>
              <a:rPr lang="en-GB" sz="1800" dirty="0"/>
              <a:t> de </a:t>
            </a:r>
            <a:r>
              <a:rPr lang="en-GB" sz="1800" dirty="0" err="1"/>
              <a:t>transmisión</a:t>
            </a:r>
            <a:r>
              <a:rPr lang="en-GB" sz="1800" dirty="0"/>
              <a:t> </a:t>
            </a:r>
            <a:r>
              <a:rPr lang="en-GB" sz="1800" dirty="0" err="1"/>
              <a:t>en</a:t>
            </a:r>
            <a:r>
              <a:rPr lang="en-GB" sz="1800" dirty="0"/>
              <a:t> </a:t>
            </a:r>
            <a:r>
              <a:rPr lang="en-GB" sz="1800" dirty="0" err="1"/>
              <a:t>su</a:t>
            </a:r>
            <a:r>
              <a:rPr lang="en-GB" sz="1800" dirty="0"/>
              <a:t> </a:t>
            </a:r>
            <a:r>
              <a:rPr lang="en-GB" sz="1800" dirty="0" err="1"/>
              <a:t>nombre</a:t>
            </a:r>
            <a:r>
              <a:rPr lang="en-GB" sz="1800" dirty="0"/>
              <a:t>.</a:t>
            </a:r>
          </a:p>
          <a:p>
            <a:pPr lvl="1"/>
            <a:r>
              <a:rPr lang="en-GB" dirty="0"/>
              <a:t>SDRAM ( No DDR SDRAM):   (una palabra/</a:t>
            </a:r>
            <a:r>
              <a:rPr lang="en-GB" dirty="0" err="1"/>
              <a:t>ciclo</a:t>
            </a:r>
            <a:r>
              <a:rPr lang="en-GB" dirty="0"/>
              <a:t>)</a:t>
            </a:r>
          </a:p>
          <a:p>
            <a:pPr marL="657225" lvl="2" indent="0">
              <a:buNone/>
            </a:pPr>
            <a:r>
              <a:rPr lang="en-GB" b="1" dirty="0"/>
              <a:t>                          PC - </a:t>
            </a:r>
            <a:r>
              <a:rPr lang="en-GB" b="1" dirty="0">
                <a:solidFill>
                  <a:schemeClr val="tx2"/>
                </a:solidFill>
              </a:rPr>
              <a:t>F</a:t>
            </a:r>
          </a:p>
          <a:p>
            <a:pPr lvl="2"/>
            <a:r>
              <a:rPr lang="en-GB" dirty="0" err="1"/>
              <a:t>Donde</a:t>
            </a:r>
            <a:r>
              <a:rPr lang="en-GB" dirty="0"/>
              <a:t> F es la </a:t>
            </a:r>
            <a:r>
              <a:rPr lang="en-GB" dirty="0" err="1"/>
              <a:t>frecuencia</a:t>
            </a:r>
            <a:r>
              <a:rPr lang="en-GB" dirty="0"/>
              <a:t> de </a:t>
            </a:r>
            <a:r>
              <a:rPr lang="en-GB" dirty="0" err="1"/>
              <a:t>reloj</a:t>
            </a:r>
            <a:r>
              <a:rPr lang="en-GB" dirty="0"/>
              <a:t> del chip.  El ancho de </a:t>
            </a:r>
            <a:r>
              <a:rPr lang="en-GB" dirty="0" err="1"/>
              <a:t>banda</a:t>
            </a:r>
            <a:r>
              <a:rPr lang="en-GB" dirty="0"/>
              <a:t> se </a:t>
            </a:r>
            <a:r>
              <a:rPr lang="en-GB" dirty="0" err="1"/>
              <a:t>calcula</a:t>
            </a:r>
            <a:r>
              <a:rPr lang="en-GB" dirty="0"/>
              <a:t> al </a:t>
            </a:r>
            <a:r>
              <a:rPr lang="en-GB" dirty="0" err="1"/>
              <a:t>multiplicarse</a:t>
            </a:r>
            <a:r>
              <a:rPr lang="en-GB" dirty="0"/>
              <a:t> por el </a:t>
            </a:r>
            <a:r>
              <a:rPr lang="en-GB" dirty="0" err="1"/>
              <a:t>número</a:t>
            </a:r>
            <a:r>
              <a:rPr lang="en-GB" dirty="0"/>
              <a:t> de pines de </a:t>
            </a:r>
            <a:r>
              <a:rPr lang="en-GB" dirty="0" err="1"/>
              <a:t>datos</a:t>
            </a:r>
            <a:r>
              <a:rPr lang="en-GB" dirty="0"/>
              <a:t> del chip</a:t>
            </a:r>
          </a:p>
          <a:p>
            <a:pPr lvl="1"/>
            <a:r>
              <a:rPr lang="en-GB" dirty="0"/>
              <a:t>DDR-SDRAM:   (dos palabras/</a:t>
            </a:r>
            <a:r>
              <a:rPr lang="en-GB" dirty="0" err="1"/>
              <a:t>ciclo</a:t>
            </a:r>
            <a:r>
              <a:rPr lang="en-GB" dirty="0"/>
              <a:t>)</a:t>
            </a:r>
          </a:p>
          <a:p>
            <a:pPr marL="403225" lvl="1" indent="0">
              <a:buNone/>
            </a:pPr>
            <a:r>
              <a:rPr lang="en-GB" b="1" dirty="0"/>
              <a:t>                       DDR</a:t>
            </a:r>
            <a:r>
              <a:rPr lang="en-GB" b="1" dirty="0">
                <a:solidFill>
                  <a:schemeClr val="tx2"/>
                </a:solidFill>
              </a:rPr>
              <a:t>X-  Y      </a:t>
            </a:r>
            <a:r>
              <a:rPr lang="en-GB" b="1" dirty="0"/>
              <a:t>PC</a:t>
            </a:r>
            <a:r>
              <a:rPr lang="en-GB" b="1" dirty="0">
                <a:solidFill>
                  <a:schemeClr val="tx2"/>
                </a:solidFill>
              </a:rPr>
              <a:t>X- </a:t>
            </a:r>
            <a:r>
              <a:rPr lang="en-GB" b="1" dirty="0" err="1">
                <a:solidFill>
                  <a:schemeClr val="tx2"/>
                </a:solidFill>
              </a:rPr>
              <a:t>ABanda</a:t>
            </a:r>
            <a:endParaRPr lang="en-GB" b="1" dirty="0">
              <a:solidFill>
                <a:schemeClr val="tx2"/>
              </a:solidFill>
            </a:endParaRPr>
          </a:p>
          <a:p>
            <a:pPr lvl="2"/>
            <a:r>
              <a:rPr lang="en-GB" dirty="0"/>
              <a:t>X </a:t>
            </a:r>
            <a:r>
              <a:rPr lang="en-GB" dirty="0" err="1"/>
              <a:t>puede</a:t>
            </a:r>
            <a:r>
              <a:rPr lang="en-GB" dirty="0"/>
              <a:t> ser "", "2", "3" o "4"  para DDR, DDR2, DDR3 y DDR4</a:t>
            </a:r>
          </a:p>
          <a:p>
            <a:pPr lvl="2"/>
            <a:r>
              <a:rPr lang="en-GB" dirty="0"/>
              <a:t>Si la </a:t>
            </a:r>
            <a:r>
              <a:rPr lang="en-GB" dirty="0" err="1"/>
              <a:t>frecuencia</a:t>
            </a:r>
            <a:r>
              <a:rPr lang="en-GB" dirty="0"/>
              <a:t> externa de </a:t>
            </a:r>
            <a:r>
              <a:rPr lang="en-GB" dirty="0" err="1"/>
              <a:t>envío</a:t>
            </a:r>
            <a:r>
              <a:rPr lang="en-GB" dirty="0"/>
              <a:t> es </a:t>
            </a:r>
            <a:r>
              <a:rPr lang="en-GB" b="1" dirty="0">
                <a:solidFill>
                  <a:schemeClr val="tx2"/>
                </a:solidFill>
              </a:rPr>
              <a:t>F</a:t>
            </a:r>
            <a:r>
              <a:rPr lang="en-GB" dirty="0"/>
              <a:t> MHz,  </a:t>
            </a:r>
            <a:r>
              <a:rPr lang="en-GB" b="1" dirty="0">
                <a:solidFill>
                  <a:schemeClr val="tx2"/>
                </a:solidFill>
              </a:rPr>
              <a:t>Y</a:t>
            </a:r>
            <a:r>
              <a:rPr lang="en-GB" dirty="0">
                <a:solidFill>
                  <a:schemeClr val="tx2"/>
                </a:solidFill>
              </a:rPr>
              <a:t> </a:t>
            </a:r>
            <a:r>
              <a:rPr lang="en-GB" dirty="0"/>
              <a:t>= </a:t>
            </a:r>
            <a:r>
              <a:rPr lang="en-GB" dirty="0">
                <a:solidFill>
                  <a:schemeClr val="tx2"/>
                </a:solidFill>
              </a:rPr>
              <a:t>2F</a:t>
            </a:r>
            <a:r>
              <a:rPr lang="en-GB" dirty="0"/>
              <a:t> MT/s (Mega </a:t>
            </a:r>
            <a:r>
              <a:rPr lang="en-GB" dirty="0" err="1"/>
              <a:t>Transferencias</a:t>
            </a:r>
            <a:r>
              <a:rPr lang="en-GB" dirty="0"/>
              <a:t> por Segundo) </a:t>
            </a:r>
          </a:p>
          <a:p>
            <a:pPr lvl="2"/>
            <a:r>
              <a:rPr lang="en-GB" b="1" dirty="0">
                <a:solidFill>
                  <a:schemeClr val="tx2"/>
                </a:solidFill>
              </a:rPr>
              <a:t>Abanda</a:t>
            </a:r>
            <a:r>
              <a:rPr lang="en-GB" dirty="0"/>
              <a:t> =</a:t>
            </a:r>
            <a:r>
              <a:rPr lang="en-GB" b="1" dirty="0">
                <a:solidFill>
                  <a:schemeClr val="tx2"/>
                </a:solidFill>
              </a:rPr>
              <a:t> Y </a:t>
            </a:r>
            <a:r>
              <a:rPr lang="en-GB" dirty="0"/>
              <a:t>* Bytes/palabra  (MB/s)</a:t>
            </a:r>
          </a:p>
        </p:txBody>
      </p:sp>
      <p:sp>
        <p:nvSpPr>
          <p:cNvPr id="5" name="Marcador de número de diapositiva 4"/>
          <p:cNvSpPr>
            <a:spLocks noGrp="1"/>
          </p:cNvSpPr>
          <p:nvPr>
            <p:ph type="sldNum" sz="quarter" idx="12"/>
          </p:nvPr>
        </p:nvSpPr>
        <p:spPr/>
        <p:txBody>
          <a:bodyPr/>
          <a:lstStyle/>
          <a:p>
            <a:fld id="{0CFEC368-1D7A-4F81-ABF6-AE0E36BAF64C}" type="slidenum">
              <a:rPr lang="en-US" smtClean="0"/>
              <a:pPr/>
              <a:t>103</a:t>
            </a:fld>
            <a:endParaRPr lang="en-US"/>
          </a:p>
        </p:txBody>
      </p:sp>
      <p:sp>
        <p:nvSpPr>
          <p:cNvPr id="4" name="Rectángulo 3">
            <a:extLst>
              <a:ext uri="{FF2B5EF4-FFF2-40B4-BE49-F238E27FC236}">
                <a16:creationId xmlns:a16="http://schemas.microsoft.com/office/drawing/2014/main" id="{D5FA6E4E-FA66-4F86-94A7-474500FDE3D2}"/>
              </a:ext>
            </a:extLst>
          </p:cNvPr>
          <p:cNvSpPr/>
          <p:nvPr/>
        </p:nvSpPr>
        <p:spPr bwMode="auto">
          <a:xfrm>
            <a:off x="2195736" y="2348880"/>
            <a:ext cx="2592288" cy="360040"/>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FC273553-D7DF-42AB-88C2-702705E2CD29}"/>
              </a:ext>
            </a:extLst>
          </p:cNvPr>
          <p:cNvSpPr/>
          <p:nvPr/>
        </p:nvSpPr>
        <p:spPr bwMode="auto">
          <a:xfrm>
            <a:off x="2115325" y="4033615"/>
            <a:ext cx="4112860" cy="360040"/>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2887800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Memorias SDRAM de doble velocidad (DDR)</a:t>
            </a:r>
            <a:endParaRPr lang="es-ES_tradnl" dirty="0"/>
          </a:p>
        </p:txBody>
      </p:sp>
      <p:sp>
        <p:nvSpPr>
          <p:cNvPr id="3" name="Marcador de contenido 2"/>
          <p:cNvSpPr>
            <a:spLocks noGrp="1"/>
          </p:cNvSpPr>
          <p:nvPr>
            <p:ph idx="1"/>
          </p:nvPr>
        </p:nvSpPr>
        <p:spPr>
          <a:xfrm>
            <a:off x="704850" y="4587289"/>
            <a:ext cx="8229600" cy="1673085"/>
          </a:xfrm>
        </p:spPr>
        <p:txBody>
          <a:bodyPr>
            <a:normAutofit/>
          </a:bodyPr>
          <a:lstStyle/>
          <a:p>
            <a:r>
              <a:rPr lang="en-GB" sz="2900" dirty="0"/>
              <a:t>DDR4 </a:t>
            </a:r>
            <a:r>
              <a:rPr lang="en-GB" sz="2900" dirty="0" err="1"/>
              <a:t>utiliza</a:t>
            </a:r>
            <a:r>
              <a:rPr lang="en-GB" sz="2900" dirty="0"/>
              <a:t> </a:t>
            </a:r>
            <a:r>
              <a:rPr lang="en-GB" sz="2900" dirty="0" err="1"/>
              <a:t>prebúsqueda</a:t>
            </a:r>
            <a:r>
              <a:rPr lang="en-GB" sz="2900" dirty="0"/>
              <a:t> de </a:t>
            </a:r>
            <a:r>
              <a:rPr lang="en-GB" sz="2900" i="1" dirty="0"/>
              <a:t>8n</a:t>
            </a:r>
            <a:r>
              <a:rPr lang="en-GB" sz="2900" dirty="0"/>
              <a:t>, reduce al </a:t>
            </a:r>
            <a:r>
              <a:rPr lang="en-GB" sz="2900" dirty="0" err="1"/>
              <a:t>consumo</a:t>
            </a:r>
            <a:r>
              <a:rPr lang="en-GB" sz="2900" dirty="0"/>
              <a:t> e </a:t>
            </a:r>
            <a:r>
              <a:rPr lang="en-GB" sz="2900" dirty="0" err="1"/>
              <a:t>incrementa</a:t>
            </a:r>
            <a:r>
              <a:rPr lang="en-GB" sz="2900" dirty="0"/>
              <a:t> la </a:t>
            </a:r>
            <a:r>
              <a:rPr lang="en-GB" sz="2900" dirty="0" err="1"/>
              <a:t>tasa</a:t>
            </a:r>
            <a:r>
              <a:rPr lang="en-GB" sz="2900" dirty="0"/>
              <a:t> de </a:t>
            </a:r>
            <a:r>
              <a:rPr lang="en-GB" sz="2900" dirty="0" err="1"/>
              <a:t>transferencia</a:t>
            </a:r>
            <a:r>
              <a:rPr lang="en-GB" sz="2900" dirty="0"/>
              <a:t> </a:t>
            </a:r>
            <a:r>
              <a:rPr lang="en-GB" sz="2900" dirty="0" err="1"/>
              <a:t>agrupando</a:t>
            </a:r>
            <a:r>
              <a:rPr lang="en-GB" sz="2900" dirty="0"/>
              <a:t> </a:t>
            </a:r>
            <a:r>
              <a:rPr lang="en-GB" sz="2900" dirty="0" err="1"/>
              <a:t>diferentes</a:t>
            </a:r>
            <a:r>
              <a:rPr lang="en-GB" sz="2900" dirty="0"/>
              <a:t> </a:t>
            </a:r>
            <a:r>
              <a:rPr lang="en-GB" sz="2900" dirty="0" err="1"/>
              <a:t>bancos</a:t>
            </a:r>
            <a:r>
              <a:rPr lang="en-GB" sz="2900" dirty="0"/>
              <a:t>. </a:t>
            </a:r>
            <a:endParaRPr lang="es-ES_tradnl" dirty="0"/>
          </a:p>
        </p:txBody>
      </p:sp>
      <p:sp>
        <p:nvSpPr>
          <p:cNvPr id="5" name="Marcador de número de diapositiva 4"/>
          <p:cNvSpPr>
            <a:spLocks noGrp="1"/>
          </p:cNvSpPr>
          <p:nvPr>
            <p:ph type="sldNum" sz="quarter" idx="12"/>
          </p:nvPr>
        </p:nvSpPr>
        <p:spPr/>
        <p:txBody>
          <a:bodyPr/>
          <a:lstStyle/>
          <a:p>
            <a:fld id="{0CFEC368-1D7A-4F81-ABF6-AE0E36BAF64C}" type="slidenum">
              <a:rPr lang="en-US" smtClean="0"/>
              <a:pPr/>
              <a:t>104</a:t>
            </a:fld>
            <a:endParaRPr lang="en-US"/>
          </a:p>
        </p:txBody>
      </p:sp>
      <p:sp>
        <p:nvSpPr>
          <p:cNvPr id="6" name="CuadroTexto 5"/>
          <p:cNvSpPr txBox="1"/>
          <p:nvPr/>
        </p:nvSpPr>
        <p:spPr>
          <a:xfrm>
            <a:off x="70002" y="38285"/>
            <a:ext cx="1937550" cy="276999"/>
          </a:xfrm>
          <a:prstGeom prst="rect">
            <a:avLst/>
          </a:prstGeom>
          <a:noFill/>
        </p:spPr>
        <p:txBody>
          <a:bodyPr wrap="none" rtlCol="0">
            <a:spAutoFit/>
          </a:bodyPr>
          <a:lstStyle/>
          <a:p>
            <a:r>
              <a:rPr lang="en-GB" sz="1200" dirty="0">
                <a:solidFill>
                  <a:srgbClr val="FFFFFF"/>
                </a:solidFill>
              </a:rPr>
              <a:t>4: Dynamic RAM memory</a:t>
            </a:r>
          </a:p>
        </p:txBody>
      </p:sp>
      <p:grpSp>
        <p:nvGrpSpPr>
          <p:cNvPr id="53" name="Agrupar 52"/>
          <p:cNvGrpSpPr/>
          <p:nvPr/>
        </p:nvGrpSpPr>
        <p:grpSpPr>
          <a:xfrm>
            <a:off x="1581249" y="2555367"/>
            <a:ext cx="5820693" cy="1785312"/>
            <a:chOff x="241560" y="2300489"/>
            <a:chExt cx="8148959" cy="3005162"/>
          </a:xfrm>
        </p:grpSpPr>
        <p:sp>
          <p:nvSpPr>
            <p:cNvPr id="7" name="Rectángulo 6"/>
            <p:cNvSpPr/>
            <p:nvPr/>
          </p:nvSpPr>
          <p:spPr>
            <a:xfrm>
              <a:off x="2800406" y="2300489"/>
              <a:ext cx="937088" cy="956423"/>
            </a:xfrm>
            <a:prstGeom prst="rect">
              <a:avLst/>
            </a:prstGeom>
            <a:solidFill>
              <a:schemeClr val="accent1">
                <a:lumMod val="60000"/>
                <a:lumOff val="40000"/>
              </a:schemeClr>
            </a:solidFill>
            <a:ln w="28575" cmpd="sng">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dirty="0" err="1">
                  <a:solidFill>
                    <a:srgbClr val="292934"/>
                  </a:solidFill>
                </a:rPr>
                <a:t>Registro</a:t>
              </a:r>
              <a:endParaRPr lang="en-GB" sz="1000" dirty="0">
                <a:solidFill>
                  <a:srgbClr val="292934"/>
                </a:solidFill>
              </a:endParaRPr>
            </a:p>
            <a:p>
              <a:r>
                <a:rPr lang="en-GB" sz="1000" dirty="0">
                  <a:solidFill>
                    <a:srgbClr val="292934"/>
                  </a:solidFill>
                </a:rPr>
                <a:t>n-bits</a:t>
              </a:r>
            </a:p>
          </p:txBody>
        </p:sp>
        <p:sp>
          <p:nvSpPr>
            <p:cNvPr id="8" name="Rectángulo 7"/>
            <p:cNvSpPr/>
            <p:nvPr/>
          </p:nvSpPr>
          <p:spPr>
            <a:xfrm>
              <a:off x="2800406" y="3295835"/>
              <a:ext cx="937088" cy="957600"/>
            </a:xfrm>
            <a:prstGeom prst="rect">
              <a:avLst/>
            </a:prstGeom>
            <a:solidFill>
              <a:schemeClr val="accent1">
                <a:lumMod val="60000"/>
                <a:lumOff val="40000"/>
              </a:schemeClr>
            </a:solidFill>
            <a:ln w="28575" cmpd="sng">
              <a:solidFill>
                <a:srgbClr val="AD8F67"/>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000" dirty="0" err="1">
                  <a:solidFill>
                    <a:srgbClr val="292934"/>
                  </a:solidFill>
                </a:rPr>
                <a:t>Registro</a:t>
              </a:r>
              <a:endParaRPr lang="en-GB" sz="1000" dirty="0">
                <a:solidFill>
                  <a:srgbClr val="292934"/>
                </a:solidFill>
              </a:endParaRPr>
            </a:p>
            <a:p>
              <a:r>
                <a:rPr lang="en-GB" sz="1000" dirty="0">
                  <a:solidFill>
                    <a:srgbClr val="292934"/>
                  </a:solidFill>
                </a:rPr>
                <a:t>n-bits</a:t>
              </a:r>
            </a:p>
          </p:txBody>
        </p:sp>
        <p:cxnSp>
          <p:nvCxnSpPr>
            <p:cNvPr id="11" name="Conector angular 10"/>
            <p:cNvCxnSpPr>
              <a:stCxn id="7" idx="1"/>
              <a:endCxn id="8" idx="1"/>
            </p:cNvCxnSpPr>
            <p:nvPr/>
          </p:nvCxnSpPr>
          <p:spPr>
            <a:xfrm rot="10800000" flipV="1">
              <a:off x="2800406" y="2778701"/>
              <a:ext cx="12700" cy="995934"/>
            </a:xfrm>
            <a:prstGeom prst="bentConnector3">
              <a:avLst>
                <a:gd name="adj1" fmla="val 4441339"/>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p:cNvCxnSpPr/>
            <p:nvPr/>
          </p:nvCxnSpPr>
          <p:spPr>
            <a:xfrm>
              <a:off x="1377724" y="3279619"/>
              <a:ext cx="874566" cy="0"/>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15" name="CuadroTexto 14"/>
            <p:cNvSpPr txBox="1"/>
            <p:nvPr/>
          </p:nvSpPr>
          <p:spPr>
            <a:xfrm>
              <a:off x="1662540" y="2875598"/>
              <a:ext cx="456021" cy="414456"/>
            </a:xfrm>
            <a:prstGeom prst="rect">
              <a:avLst/>
            </a:prstGeom>
            <a:noFill/>
          </p:spPr>
          <p:txBody>
            <a:bodyPr wrap="none" rtlCol="0">
              <a:spAutoFit/>
            </a:bodyPr>
            <a:lstStyle/>
            <a:p>
              <a:pPr algn="ctr"/>
              <a:r>
                <a:rPr lang="es-ES_tradnl" sz="1000" dirty="0"/>
                <a:t>2n</a:t>
              </a:r>
            </a:p>
          </p:txBody>
        </p:sp>
        <p:sp>
          <p:nvSpPr>
            <p:cNvPr id="16" name="CuadroTexto 15"/>
            <p:cNvSpPr txBox="1"/>
            <p:nvPr/>
          </p:nvSpPr>
          <p:spPr>
            <a:xfrm>
              <a:off x="241560" y="2807231"/>
              <a:ext cx="1488179" cy="725299"/>
            </a:xfrm>
            <a:prstGeom prst="rect">
              <a:avLst/>
            </a:prstGeom>
            <a:noFill/>
          </p:spPr>
          <p:txBody>
            <a:bodyPr wrap="square" rtlCol="0">
              <a:spAutoFit/>
            </a:bodyPr>
            <a:lstStyle/>
            <a:p>
              <a:pPr algn="ctr"/>
              <a:r>
                <a:rPr lang="en-GB" sz="1000" dirty="0"/>
                <a:t>Bits de </a:t>
              </a:r>
              <a:r>
                <a:rPr lang="en-GB" sz="1000" dirty="0" err="1"/>
                <a:t>datos</a:t>
              </a:r>
              <a:endParaRPr lang="en-GB" sz="1000" dirty="0"/>
            </a:p>
            <a:p>
              <a:pPr algn="ctr"/>
              <a:r>
                <a:rPr lang="en-GB" sz="1000" dirty="0"/>
                <a:t>DRAM</a:t>
              </a:r>
            </a:p>
          </p:txBody>
        </p:sp>
        <p:cxnSp>
          <p:nvCxnSpPr>
            <p:cNvPr id="18" name="Conector recto 17"/>
            <p:cNvCxnSpPr/>
            <p:nvPr/>
          </p:nvCxnSpPr>
          <p:spPr>
            <a:xfrm flipV="1">
              <a:off x="1713190" y="3187882"/>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4" name="CuadroTexto 23"/>
            <p:cNvSpPr txBox="1"/>
            <p:nvPr/>
          </p:nvSpPr>
          <p:spPr>
            <a:xfrm>
              <a:off x="2363296" y="2371653"/>
              <a:ext cx="357278" cy="414456"/>
            </a:xfrm>
            <a:prstGeom prst="rect">
              <a:avLst/>
            </a:prstGeom>
            <a:noFill/>
          </p:spPr>
          <p:txBody>
            <a:bodyPr wrap="none" rtlCol="0">
              <a:spAutoFit/>
            </a:bodyPr>
            <a:lstStyle/>
            <a:p>
              <a:pPr algn="ctr"/>
              <a:r>
                <a:rPr lang="es-ES_tradnl" sz="1000" dirty="0"/>
                <a:t>n</a:t>
              </a:r>
            </a:p>
          </p:txBody>
        </p:sp>
        <p:cxnSp>
          <p:nvCxnSpPr>
            <p:cNvPr id="25" name="Conector recto 24"/>
            <p:cNvCxnSpPr/>
            <p:nvPr/>
          </p:nvCxnSpPr>
          <p:spPr>
            <a:xfrm flipV="1">
              <a:off x="2440103" y="2695917"/>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6" name="CuadroTexto 25"/>
            <p:cNvSpPr txBox="1"/>
            <p:nvPr/>
          </p:nvSpPr>
          <p:spPr>
            <a:xfrm>
              <a:off x="2363296" y="3387499"/>
              <a:ext cx="357278" cy="414456"/>
            </a:xfrm>
            <a:prstGeom prst="rect">
              <a:avLst/>
            </a:prstGeom>
            <a:noFill/>
          </p:spPr>
          <p:txBody>
            <a:bodyPr wrap="none" rtlCol="0">
              <a:spAutoFit/>
            </a:bodyPr>
            <a:lstStyle/>
            <a:p>
              <a:pPr algn="ctr"/>
              <a:r>
                <a:rPr lang="es-ES_tradnl" sz="1000" dirty="0"/>
                <a:t>n</a:t>
              </a:r>
            </a:p>
          </p:txBody>
        </p:sp>
        <p:cxnSp>
          <p:nvCxnSpPr>
            <p:cNvPr id="27" name="Conector recto 26"/>
            <p:cNvCxnSpPr/>
            <p:nvPr/>
          </p:nvCxnSpPr>
          <p:spPr>
            <a:xfrm flipV="1">
              <a:off x="2440103" y="3687801"/>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28" name="Rectángulo 27"/>
            <p:cNvSpPr/>
            <p:nvPr/>
          </p:nvSpPr>
          <p:spPr>
            <a:xfrm>
              <a:off x="4600453" y="2300489"/>
              <a:ext cx="1054271" cy="1925686"/>
            </a:xfrm>
            <a:prstGeom prst="rect">
              <a:avLst/>
            </a:prstGeom>
            <a:solidFill>
              <a:schemeClr val="accent1">
                <a:lumMod val="60000"/>
                <a:lumOff val="40000"/>
              </a:schemeClr>
            </a:solidFill>
            <a:ln w="28575" cmpd="sng">
              <a:solidFill>
                <a:srgbClr val="AD8F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000" dirty="0">
                  <a:solidFill>
                    <a:srgbClr val="292934"/>
                  </a:solidFill>
                </a:rPr>
                <a:t>MUX</a:t>
              </a:r>
            </a:p>
          </p:txBody>
        </p:sp>
        <p:cxnSp>
          <p:nvCxnSpPr>
            <p:cNvPr id="30" name="Conector angular 29"/>
            <p:cNvCxnSpPr>
              <a:stCxn id="7" idx="3"/>
            </p:cNvCxnSpPr>
            <p:nvPr/>
          </p:nvCxnSpPr>
          <p:spPr>
            <a:xfrm>
              <a:off x="3737494" y="2778701"/>
              <a:ext cx="862959" cy="180000"/>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2" name="Conector angular 31"/>
            <p:cNvCxnSpPr/>
            <p:nvPr/>
          </p:nvCxnSpPr>
          <p:spPr>
            <a:xfrm flipV="1">
              <a:off x="3737494" y="3592396"/>
              <a:ext cx="862959" cy="180000"/>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6" name="Conector angular 35"/>
            <p:cNvCxnSpPr>
              <a:endCxn id="8" idx="2"/>
            </p:cNvCxnSpPr>
            <p:nvPr/>
          </p:nvCxnSpPr>
          <p:spPr>
            <a:xfrm flipV="1">
              <a:off x="1669839" y="4253435"/>
              <a:ext cx="1599111" cy="26525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43" name="CuadroTexto 42"/>
            <p:cNvSpPr txBox="1"/>
            <p:nvPr/>
          </p:nvSpPr>
          <p:spPr>
            <a:xfrm>
              <a:off x="308499" y="4580352"/>
              <a:ext cx="1798054" cy="725299"/>
            </a:xfrm>
            <a:prstGeom prst="rect">
              <a:avLst/>
            </a:prstGeom>
            <a:noFill/>
          </p:spPr>
          <p:txBody>
            <a:bodyPr wrap="none" rtlCol="0">
              <a:spAutoFit/>
            </a:bodyPr>
            <a:lstStyle/>
            <a:p>
              <a:pPr algn="ctr"/>
              <a:r>
                <a:rPr lang="en-GB" sz="1000" dirty="0" err="1"/>
                <a:t>Lectura</a:t>
              </a:r>
              <a:r>
                <a:rPr lang="en-GB" sz="1000" dirty="0"/>
                <a:t> a </a:t>
              </a:r>
              <a:r>
                <a:rPr lang="en-GB" sz="1000" i="1" dirty="0">
                  <a:solidFill>
                    <a:schemeClr val="tx2"/>
                  </a:solidFill>
                </a:rPr>
                <a:t>f</a:t>
              </a:r>
              <a:r>
                <a:rPr lang="en-GB" sz="1000" dirty="0">
                  <a:solidFill>
                    <a:schemeClr val="tx2"/>
                  </a:solidFill>
                </a:rPr>
                <a:t> </a:t>
              </a:r>
              <a:r>
                <a:rPr lang="en-GB" sz="1000" dirty="0"/>
                <a:t>MHz</a:t>
              </a:r>
            </a:p>
            <a:p>
              <a:pPr algn="ctr"/>
              <a:r>
                <a:rPr lang="en-GB" sz="1000" dirty="0"/>
                <a:t>(</a:t>
              </a:r>
              <a:r>
                <a:rPr lang="en-GB" sz="1000" dirty="0" err="1"/>
                <a:t>frecuencia</a:t>
              </a:r>
              <a:r>
                <a:rPr lang="en-GB" sz="1000" dirty="0"/>
                <a:t> </a:t>
              </a:r>
              <a:r>
                <a:rPr lang="en-GB" sz="1000" dirty="0" err="1"/>
                <a:t>interna</a:t>
              </a:r>
              <a:r>
                <a:rPr lang="en-GB" sz="1000" dirty="0"/>
                <a:t>)</a:t>
              </a:r>
            </a:p>
          </p:txBody>
        </p:sp>
        <p:cxnSp>
          <p:nvCxnSpPr>
            <p:cNvPr id="45" name="Conector recto de flecha 44"/>
            <p:cNvCxnSpPr>
              <a:stCxn id="28" idx="3"/>
              <a:endCxn id="46" idx="1"/>
            </p:cNvCxnSpPr>
            <p:nvPr/>
          </p:nvCxnSpPr>
          <p:spPr>
            <a:xfrm>
              <a:off x="5654725" y="3263333"/>
              <a:ext cx="1067049" cy="20509"/>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46" name="CuadroTexto 45"/>
            <p:cNvSpPr txBox="1"/>
            <p:nvPr/>
          </p:nvSpPr>
          <p:spPr>
            <a:xfrm>
              <a:off x="6721774" y="3076613"/>
              <a:ext cx="1488355" cy="414456"/>
            </a:xfrm>
            <a:prstGeom prst="rect">
              <a:avLst/>
            </a:prstGeom>
            <a:noFill/>
          </p:spPr>
          <p:txBody>
            <a:bodyPr wrap="none" rtlCol="0">
              <a:spAutoFit/>
            </a:bodyPr>
            <a:lstStyle/>
            <a:p>
              <a:r>
                <a:rPr lang="en-GB" sz="1000" dirty="0" err="1"/>
                <a:t>Datos</a:t>
              </a:r>
              <a:r>
                <a:rPr lang="en-GB" sz="1000" dirty="0"/>
                <a:t> de </a:t>
              </a:r>
              <a:r>
                <a:rPr lang="en-GB" sz="1000" dirty="0" err="1"/>
                <a:t>salida</a:t>
              </a:r>
              <a:endParaRPr lang="en-GB" sz="1000" dirty="0"/>
            </a:p>
          </p:txBody>
        </p:sp>
        <p:cxnSp>
          <p:nvCxnSpPr>
            <p:cNvPr id="48" name="Conector angular 47"/>
            <p:cNvCxnSpPr>
              <a:endCxn id="28" idx="2"/>
            </p:cNvCxnSpPr>
            <p:nvPr/>
          </p:nvCxnSpPr>
          <p:spPr>
            <a:xfrm rot="10800000">
              <a:off x="5127589" y="4226175"/>
              <a:ext cx="1389722" cy="29251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52" name="CuadroTexto 51"/>
            <p:cNvSpPr txBox="1"/>
            <p:nvPr/>
          </p:nvSpPr>
          <p:spPr>
            <a:xfrm>
              <a:off x="6076298" y="3870061"/>
              <a:ext cx="2314221" cy="725299"/>
            </a:xfrm>
            <a:prstGeom prst="rect">
              <a:avLst/>
            </a:prstGeom>
            <a:noFill/>
          </p:spPr>
          <p:txBody>
            <a:bodyPr wrap="none" rtlCol="0">
              <a:spAutoFit/>
            </a:bodyPr>
            <a:lstStyle/>
            <a:p>
              <a:pPr algn="ctr"/>
              <a:r>
                <a:rPr lang="en-GB" sz="1000" dirty="0" err="1"/>
                <a:t>Transferencia</a:t>
              </a:r>
              <a:r>
                <a:rPr lang="en-GB" sz="1000" dirty="0"/>
                <a:t> a </a:t>
              </a:r>
              <a:r>
                <a:rPr lang="en-GB" sz="1000" i="1" dirty="0">
                  <a:solidFill>
                    <a:srgbClr val="D2533C"/>
                  </a:solidFill>
                </a:rPr>
                <a:t>4f/8f</a:t>
              </a:r>
              <a:r>
                <a:rPr lang="en-GB" sz="1000" dirty="0">
                  <a:solidFill>
                    <a:srgbClr val="D2533C"/>
                  </a:solidFill>
                </a:rPr>
                <a:t> </a:t>
              </a:r>
              <a:r>
                <a:rPr lang="en-GB" sz="1000" dirty="0"/>
                <a:t>MHz</a:t>
              </a:r>
            </a:p>
            <a:p>
              <a:pPr algn="ctr"/>
              <a:r>
                <a:rPr lang="en-GB" sz="1000" dirty="0"/>
                <a:t>(</a:t>
              </a:r>
              <a:r>
                <a:rPr lang="en-GB" sz="1000" dirty="0" err="1"/>
                <a:t>frecuencia</a:t>
              </a:r>
              <a:r>
                <a:rPr lang="en-GB" sz="1000" dirty="0"/>
                <a:t> externa 2f/4f)</a:t>
              </a:r>
            </a:p>
          </p:txBody>
        </p:sp>
      </p:grpSp>
      <p:sp>
        <p:nvSpPr>
          <p:cNvPr id="88" name="CuadroTexto 87"/>
          <p:cNvSpPr txBox="1"/>
          <p:nvPr/>
        </p:nvSpPr>
        <p:spPr>
          <a:xfrm>
            <a:off x="5819457" y="2808852"/>
            <a:ext cx="223603" cy="246221"/>
          </a:xfrm>
          <a:prstGeom prst="rect">
            <a:avLst/>
          </a:prstGeom>
          <a:noFill/>
        </p:spPr>
        <p:txBody>
          <a:bodyPr wrap="square" rtlCol="0">
            <a:spAutoFit/>
          </a:bodyPr>
          <a:lstStyle/>
          <a:p>
            <a:pPr algn="ctr"/>
            <a:r>
              <a:rPr lang="es-ES_tradnl" sz="1000" dirty="0"/>
              <a:t>n</a:t>
            </a:r>
          </a:p>
        </p:txBody>
      </p:sp>
      <p:cxnSp>
        <p:nvCxnSpPr>
          <p:cNvPr id="89" name="Conector recto 88"/>
          <p:cNvCxnSpPr>
            <a:cxnSpLocks/>
          </p:cNvCxnSpPr>
          <p:nvPr/>
        </p:nvCxnSpPr>
        <p:spPr>
          <a:xfrm flipV="1">
            <a:off x="5775690" y="3028613"/>
            <a:ext cx="203666" cy="167862"/>
          </a:xfrm>
          <a:prstGeom prst="line">
            <a:avLst/>
          </a:prstGeom>
        </p:spPr>
        <p:style>
          <a:lnRef idx="2">
            <a:schemeClr val="accent1"/>
          </a:lnRef>
          <a:fillRef idx="0">
            <a:schemeClr val="accent1"/>
          </a:fillRef>
          <a:effectRef idx="1">
            <a:schemeClr val="accent1"/>
          </a:effectRef>
          <a:fontRef idx="minor">
            <a:schemeClr val="tx1"/>
          </a:fontRef>
        </p:style>
      </p:cxnSp>
      <p:sp>
        <p:nvSpPr>
          <p:cNvPr id="31" name="Marcador de contenido 2">
            <a:extLst>
              <a:ext uri="{FF2B5EF4-FFF2-40B4-BE49-F238E27FC236}">
                <a16:creationId xmlns:a16="http://schemas.microsoft.com/office/drawing/2014/main" id="{58AAE27F-8247-4D6D-92ED-85DF127FDEB1}"/>
              </a:ext>
            </a:extLst>
          </p:cNvPr>
          <p:cNvSpPr txBox="1">
            <a:spLocks/>
          </p:cNvSpPr>
          <p:nvPr/>
        </p:nvSpPr>
        <p:spPr>
          <a:xfrm>
            <a:off x="579948" y="1061039"/>
            <a:ext cx="8229600" cy="1673085"/>
          </a:xfrm>
          <a:prstGeom prst="rect">
            <a:avLst/>
          </a:prstGeom>
        </p:spPr>
        <p:txBody>
          <a:bodyPr>
            <a:norm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n-GB" sz="2900" dirty="0"/>
              <a:t>DDR2 y DDR3 </a:t>
            </a:r>
            <a:r>
              <a:rPr lang="en-GB" sz="2900" dirty="0" err="1"/>
              <a:t>hacen</a:t>
            </a:r>
            <a:r>
              <a:rPr lang="en-GB" sz="2900" dirty="0"/>
              <a:t> </a:t>
            </a:r>
            <a:r>
              <a:rPr lang="en-GB" sz="2900" dirty="0" err="1"/>
              <a:t>prebúsqueda</a:t>
            </a:r>
            <a:r>
              <a:rPr lang="en-GB" sz="2900" dirty="0"/>
              <a:t> de </a:t>
            </a:r>
            <a:r>
              <a:rPr lang="en-GB" sz="2900" i="1" dirty="0"/>
              <a:t>4n</a:t>
            </a:r>
            <a:r>
              <a:rPr lang="en-GB" sz="2900" dirty="0"/>
              <a:t> y </a:t>
            </a:r>
            <a:r>
              <a:rPr lang="en-GB" sz="2900" i="1" dirty="0"/>
              <a:t>8n</a:t>
            </a:r>
            <a:r>
              <a:rPr lang="en-GB" sz="2900" dirty="0"/>
              <a:t> bits para acceder a </a:t>
            </a:r>
            <a:r>
              <a:rPr lang="en-GB" sz="2900" dirty="0" err="1"/>
              <a:t>grandes</a:t>
            </a:r>
            <a:r>
              <a:rPr lang="en-GB" sz="2900" dirty="0"/>
              <a:t> </a:t>
            </a:r>
            <a:r>
              <a:rPr lang="en-GB" sz="2900" dirty="0" err="1"/>
              <a:t>ráfagas</a:t>
            </a:r>
            <a:r>
              <a:rPr lang="en-GB" sz="2900" dirty="0"/>
              <a:t> de </a:t>
            </a:r>
            <a:r>
              <a:rPr lang="en-GB" sz="2900" dirty="0" err="1"/>
              <a:t>datos</a:t>
            </a:r>
            <a:r>
              <a:rPr lang="en-GB" sz="2900" dirty="0"/>
              <a:t> a </a:t>
            </a:r>
            <a:r>
              <a:rPr lang="en-GB" sz="2900" dirty="0" err="1"/>
              <a:t>alta</a:t>
            </a:r>
            <a:r>
              <a:rPr lang="en-GB" sz="2900" dirty="0"/>
              <a:t> </a:t>
            </a:r>
            <a:r>
              <a:rPr lang="en-GB" sz="2900" dirty="0" err="1"/>
              <a:t>frecuencia</a:t>
            </a:r>
            <a:endParaRPr lang="en-GB" sz="2900" dirty="0"/>
          </a:p>
          <a:p>
            <a:endParaRPr lang="es-ES_tradnl" dirty="0"/>
          </a:p>
        </p:txBody>
      </p:sp>
      <p:sp>
        <p:nvSpPr>
          <p:cNvPr id="10" name="Elipse 9">
            <a:extLst>
              <a:ext uri="{FF2B5EF4-FFF2-40B4-BE49-F238E27FC236}">
                <a16:creationId xmlns:a16="http://schemas.microsoft.com/office/drawing/2014/main" id="{6AC7926B-DA95-48C1-B149-978DA8AAE99A}"/>
              </a:ext>
            </a:extLst>
          </p:cNvPr>
          <p:cNvSpPr/>
          <p:nvPr/>
        </p:nvSpPr>
        <p:spPr bwMode="auto">
          <a:xfrm>
            <a:off x="2548198" y="2256640"/>
            <a:ext cx="2023802" cy="2035429"/>
          </a:xfrm>
          <a:prstGeom prst="ellips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Marcador de contenido 2">
            <a:extLst>
              <a:ext uri="{FF2B5EF4-FFF2-40B4-BE49-F238E27FC236}">
                <a16:creationId xmlns:a16="http://schemas.microsoft.com/office/drawing/2014/main" id="{B15127B2-1986-41E0-9E44-47A2187F7555}"/>
              </a:ext>
            </a:extLst>
          </p:cNvPr>
          <p:cNvSpPr txBox="1">
            <a:spLocks/>
          </p:cNvSpPr>
          <p:nvPr/>
        </p:nvSpPr>
        <p:spPr>
          <a:xfrm>
            <a:off x="704850" y="5887278"/>
            <a:ext cx="8229600" cy="1673085"/>
          </a:xfrm>
          <a:prstGeom prst="rect">
            <a:avLst/>
          </a:prstGeom>
        </p:spPr>
        <p:txBody>
          <a:bodyPr>
            <a:norm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r>
              <a:rPr lang="en-GB" sz="2900" dirty="0" err="1"/>
              <a:t>En</a:t>
            </a:r>
            <a:r>
              <a:rPr lang="en-GB" sz="2900" dirty="0"/>
              <a:t> </a:t>
            </a:r>
            <a:r>
              <a:rPr lang="en-GB" sz="2900" dirty="0" err="1"/>
              <a:t>todas</a:t>
            </a:r>
            <a:r>
              <a:rPr lang="en-GB" sz="2900" dirty="0"/>
              <a:t> el </a:t>
            </a:r>
            <a:r>
              <a:rPr lang="en-GB" sz="2900" dirty="0" err="1"/>
              <a:t>envío</a:t>
            </a:r>
            <a:r>
              <a:rPr lang="en-GB" sz="2900" dirty="0"/>
              <a:t> es de dos palabras/</a:t>
            </a:r>
            <a:r>
              <a:rPr lang="en-GB" sz="2900" dirty="0" err="1"/>
              <a:t>ciclo</a:t>
            </a:r>
            <a:r>
              <a:rPr lang="en-GB" sz="2900" dirty="0"/>
              <a:t> </a:t>
            </a:r>
            <a:endParaRPr lang="es-ES_tradnl" dirty="0"/>
          </a:p>
        </p:txBody>
      </p:sp>
      <p:sp>
        <p:nvSpPr>
          <p:cNvPr id="4" name="CuadroTexto 3">
            <a:extLst>
              <a:ext uri="{FF2B5EF4-FFF2-40B4-BE49-F238E27FC236}">
                <a16:creationId xmlns:a16="http://schemas.microsoft.com/office/drawing/2014/main" id="{1087B372-D30A-4326-97CF-B368CCA59948}"/>
              </a:ext>
            </a:extLst>
          </p:cNvPr>
          <p:cNvSpPr txBox="1"/>
          <p:nvPr/>
        </p:nvSpPr>
        <p:spPr>
          <a:xfrm>
            <a:off x="3074508" y="2982753"/>
            <a:ext cx="277467" cy="215444"/>
          </a:xfrm>
          <a:prstGeom prst="rect">
            <a:avLst/>
          </a:prstGeom>
          <a:noFill/>
        </p:spPr>
        <p:txBody>
          <a:bodyPr wrap="square" rtlCol="0">
            <a:spAutoFit/>
          </a:bodyPr>
          <a:lstStyle/>
          <a:p>
            <a:r>
              <a:rPr lang="es-ES" sz="800" dirty="0">
                <a:solidFill>
                  <a:schemeClr val="accent1">
                    <a:lumMod val="75000"/>
                  </a:schemeClr>
                </a:solidFill>
              </a:rPr>
              <a:t>…</a:t>
            </a:r>
          </a:p>
        </p:txBody>
      </p:sp>
      <p:sp>
        <p:nvSpPr>
          <p:cNvPr id="9" name="CuadroTexto 8">
            <a:extLst>
              <a:ext uri="{FF2B5EF4-FFF2-40B4-BE49-F238E27FC236}">
                <a16:creationId xmlns:a16="http://schemas.microsoft.com/office/drawing/2014/main" id="{036AC27D-2F20-4CCD-995C-049A4FE84E32}"/>
              </a:ext>
            </a:extLst>
          </p:cNvPr>
          <p:cNvSpPr txBox="1"/>
          <p:nvPr/>
        </p:nvSpPr>
        <p:spPr>
          <a:xfrm>
            <a:off x="2364673" y="2763185"/>
            <a:ext cx="631904" cy="307777"/>
          </a:xfrm>
          <a:prstGeom prst="rect">
            <a:avLst/>
          </a:prstGeom>
          <a:solidFill>
            <a:schemeClr val="bg1"/>
          </a:solidFill>
        </p:spPr>
        <p:txBody>
          <a:bodyPr wrap="none" rtlCol="0">
            <a:spAutoFit/>
          </a:bodyPr>
          <a:lstStyle/>
          <a:p>
            <a:r>
              <a:rPr lang="es-ES" sz="1400" dirty="0">
                <a:solidFill>
                  <a:schemeClr val="accent1">
                    <a:lumMod val="75000"/>
                  </a:schemeClr>
                </a:solidFill>
              </a:rPr>
              <a:t>4n/8n</a:t>
            </a:r>
          </a:p>
        </p:txBody>
      </p:sp>
    </p:spTree>
    <p:extLst>
      <p:ext uri="{BB962C8B-B14F-4D97-AF65-F5344CB8AC3E}">
        <p14:creationId xmlns:p14="http://schemas.microsoft.com/office/powerpoint/2010/main" val="7443603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es-ES" dirty="0"/>
              <a:t>Aumento de prestaciones en las SDRAM</a:t>
            </a:r>
          </a:p>
        </p:txBody>
      </p:sp>
      <p:sp>
        <p:nvSpPr>
          <p:cNvPr id="76804" name="Rectangle 3"/>
          <p:cNvSpPr>
            <a:spLocks noGrp="1" noChangeArrowheads="1"/>
          </p:cNvSpPr>
          <p:nvPr>
            <p:ph type="body" idx="1"/>
          </p:nvPr>
        </p:nvSpPr>
        <p:spPr>
          <a:xfrm>
            <a:off x="152400" y="1066800"/>
            <a:ext cx="8686800" cy="1524000"/>
          </a:xfrm>
        </p:spPr>
        <p:txBody>
          <a:bodyPr/>
          <a:lstStyle/>
          <a:p>
            <a:r>
              <a:rPr lang="es-ES" dirty="0"/>
              <a:t>Solapamiento de lectura entre bancos</a:t>
            </a:r>
          </a:p>
          <a:p>
            <a:pPr lvl="1">
              <a:lnSpc>
                <a:spcPct val="100000"/>
              </a:lnSpc>
              <a:spcBef>
                <a:spcPts val="0"/>
              </a:spcBef>
            </a:pPr>
            <a:r>
              <a:rPr lang="es-ES" dirty="0"/>
              <a:t>Se pueden dar órdenes a bancos independientes solapándolas parcialmente (</a:t>
            </a:r>
            <a:r>
              <a:rPr lang="es-ES" i="1" dirty="0" err="1"/>
              <a:t>pipelining</a:t>
            </a:r>
            <a:r>
              <a:rPr lang="es-ES" dirty="0"/>
              <a:t>). </a:t>
            </a:r>
          </a:p>
          <a:p>
            <a:pPr lvl="1">
              <a:lnSpc>
                <a:spcPct val="100000"/>
              </a:lnSpc>
              <a:spcBef>
                <a:spcPts val="0"/>
              </a:spcBef>
            </a:pPr>
            <a:r>
              <a:rPr lang="es-ES" dirty="0"/>
              <a:t>Los datos se obtienen en el mismo orden con qu</a:t>
            </a:r>
            <a:r>
              <a:rPr lang="es-ES" altLang="ja-JP" dirty="0">
                <a:ea typeface="Geneva" pitchFamily="1" charset="-128"/>
              </a:rPr>
              <a:t>e</a:t>
            </a:r>
            <a:r>
              <a:rPr lang="es-ES" dirty="0"/>
              <a:t> se solicitan, </a:t>
            </a:r>
            <a:r>
              <a:rPr lang="es-ES" altLang="ja-JP" dirty="0">
                <a:ea typeface="Geneva" pitchFamily="1" charset="-128"/>
              </a:rPr>
              <a:t>con una latencia constante</a:t>
            </a:r>
            <a:endParaRPr lang="es-ES" dirty="0"/>
          </a:p>
        </p:txBody>
      </p:sp>
      <p:sp>
        <p:nvSpPr>
          <p:cNvPr id="76840" name="Text Box 140"/>
          <p:cNvSpPr txBox="1">
            <a:spLocks noChangeArrowheads="1"/>
          </p:cNvSpPr>
          <p:nvPr/>
        </p:nvSpPr>
        <p:spPr bwMode="auto">
          <a:xfrm>
            <a:off x="247371" y="4573433"/>
            <a:ext cx="849592" cy="246221"/>
          </a:xfrm>
          <a:prstGeom prst="rect">
            <a:avLst/>
          </a:prstGeom>
          <a:noFill/>
          <a:ln w="19050">
            <a:noFill/>
            <a:miter lim="800000"/>
            <a:headEnd/>
            <a:tailEnd/>
          </a:ln>
        </p:spPr>
        <p:txBody>
          <a:bodyPr wrap="none" lIns="0" tIns="0" rIns="0" bIns="0" anchor="ctr">
            <a:spAutoFit/>
          </a:bodyPr>
          <a:lstStyle/>
          <a:p>
            <a:pPr algn="r"/>
            <a:r>
              <a:rPr lang="es-ES_tradnl" sz="1600" dirty="0">
                <a:latin typeface="Arial Narrow" pitchFamily="34" charset="0"/>
              </a:rPr>
              <a:t>direcciones</a:t>
            </a:r>
          </a:p>
        </p:txBody>
      </p:sp>
      <p:sp>
        <p:nvSpPr>
          <p:cNvPr id="76865" name="Text Box 194"/>
          <p:cNvSpPr txBox="1">
            <a:spLocks noChangeArrowheads="1"/>
          </p:cNvSpPr>
          <p:nvPr/>
        </p:nvSpPr>
        <p:spPr bwMode="auto">
          <a:xfrm>
            <a:off x="4088165" y="6180693"/>
            <a:ext cx="1732846" cy="246221"/>
          </a:xfrm>
          <a:prstGeom prst="rect">
            <a:avLst/>
          </a:prstGeom>
          <a:noFill/>
          <a:ln w="19050">
            <a:noFill/>
            <a:miter lim="800000"/>
            <a:headEnd/>
            <a:tailEnd/>
          </a:ln>
        </p:spPr>
        <p:txBody>
          <a:bodyPr wrap="none" lIns="0" tIns="0" rIns="0" bIns="0" anchor="ctr">
            <a:spAutoFit/>
          </a:bodyPr>
          <a:lstStyle/>
          <a:p>
            <a:r>
              <a:rPr lang="es-ES_tradnl" sz="1600" dirty="0"/>
              <a:t>lectura del banco 0</a:t>
            </a:r>
          </a:p>
        </p:txBody>
      </p:sp>
      <p:sp>
        <p:nvSpPr>
          <p:cNvPr id="76866" name="Text Box 195"/>
          <p:cNvSpPr txBox="1">
            <a:spLocks noChangeArrowheads="1"/>
          </p:cNvSpPr>
          <p:nvPr/>
        </p:nvSpPr>
        <p:spPr bwMode="auto">
          <a:xfrm>
            <a:off x="6481320" y="6180693"/>
            <a:ext cx="1732846" cy="246221"/>
          </a:xfrm>
          <a:prstGeom prst="rect">
            <a:avLst/>
          </a:prstGeom>
          <a:noFill/>
          <a:ln w="19050">
            <a:noFill/>
            <a:miter lim="800000"/>
            <a:headEnd/>
            <a:tailEnd/>
          </a:ln>
        </p:spPr>
        <p:txBody>
          <a:bodyPr wrap="none" lIns="0" tIns="0" rIns="0" bIns="0" anchor="ctr">
            <a:spAutoFit/>
          </a:bodyPr>
          <a:lstStyle/>
          <a:p>
            <a:r>
              <a:rPr lang="es-ES_tradnl" sz="1600" dirty="0"/>
              <a:t>lectura del banco 1</a:t>
            </a:r>
          </a:p>
        </p:txBody>
      </p:sp>
      <p:grpSp>
        <p:nvGrpSpPr>
          <p:cNvPr id="32" name="31 Grupo"/>
          <p:cNvGrpSpPr/>
          <p:nvPr/>
        </p:nvGrpSpPr>
        <p:grpSpPr>
          <a:xfrm>
            <a:off x="489440" y="3023374"/>
            <a:ext cx="8619635" cy="3120970"/>
            <a:chOff x="489440" y="3023374"/>
            <a:chExt cx="8619635" cy="3120970"/>
          </a:xfrm>
        </p:grpSpPr>
        <p:grpSp>
          <p:nvGrpSpPr>
            <p:cNvPr id="2" name="Group 187"/>
            <p:cNvGrpSpPr>
              <a:grpSpLocks/>
            </p:cNvGrpSpPr>
            <p:nvPr/>
          </p:nvGrpSpPr>
          <p:grpSpPr bwMode="auto">
            <a:xfrm>
              <a:off x="1482725" y="3553544"/>
              <a:ext cx="7315200" cy="2362200"/>
              <a:chOff x="812" y="1680"/>
              <a:chExt cx="4608" cy="864"/>
            </a:xfrm>
          </p:grpSpPr>
          <p:sp>
            <p:nvSpPr>
              <p:cNvPr id="76963" name="Line 86"/>
              <p:cNvSpPr>
                <a:spLocks noChangeShapeType="1"/>
              </p:cNvSpPr>
              <p:nvPr/>
            </p:nvSpPr>
            <p:spPr bwMode="auto">
              <a:xfrm>
                <a:off x="4652"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64" name="Line 87"/>
              <p:cNvSpPr>
                <a:spLocks noChangeShapeType="1"/>
              </p:cNvSpPr>
              <p:nvPr/>
            </p:nvSpPr>
            <p:spPr bwMode="auto">
              <a:xfrm>
                <a:off x="5036"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65" name="Line 88"/>
              <p:cNvSpPr>
                <a:spLocks noChangeShapeType="1"/>
              </p:cNvSpPr>
              <p:nvPr/>
            </p:nvSpPr>
            <p:spPr bwMode="auto">
              <a:xfrm>
                <a:off x="5420"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66" name="Line 5"/>
              <p:cNvSpPr>
                <a:spLocks noChangeShapeType="1"/>
              </p:cNvSpPr>
              <p:nvPr/>
            </p:nvSpPr>
            <p:spPr bwMode="auto">
              <a:xfrm>
                <a:off x="812"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67" name="Line 6"/>
              <p:cNvSpPr>
                <a:spLocks noChangeShapeType="1"/>
              </p:cNvSpPr>
              <p:nvPr/>
            </p:nvSpPr>
            <p:spPr bwMode="auto">
              <a:xfrm>
                <a:off x="1196"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68" name="Line 7"/>
              <p:cNvSpPr>
                <a:spLocks noChangeShapeType="1"/>
              </p:cNvSpPr>
              <p:nvPr/>
            </p:nvSpPr>
            <p:spPr bwMode="auto">
              <a:xfrm>
                <a:off x="1580"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69" name="Line 8"/>
              <p:cNvSpPr>
                <a:spLocks noChangeShapeType="1"/>
              </p:cNvSpPr>
              <p:nvPr/>
            </p:nvSpPr>
            <p:spPr bwMode="auto">
              <a:xfrm>
                <a:off x="1964"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70" name="Line 9"/>
              <p:cNvSpPr>
                <a:spLocks noChangeShapeType="1"/>
              </p:cNvSpPr>
              <p:nvPr/>
            </p:nvSpPr>
            <p:spPr bwMode="auto">
              <a:xfrm>
                <a:off x="2348"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71" name="Line 10"/>
              <p:cNvSpPr>
                <a:spLocks noChangeShapeType="1"/>
              </p:cNvSpPr>
              <p:nvPr/>
            </p:nvSpPr>
            <p:spPr bwMode="auto">
              <a:xfrm>
                <a:off x="2732"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72" name="Line 11"/>
              <p:cNvSpPr>
                <a:spLocks noChangeShapeType="1"/>
              </p:cNvSpPr>
              <p:nvPr/>
            </p:nvSpPr>
            <p:spPr bwMode="auto">
              <a:xfrm>
                <a:off x="3116"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73" name="Line 12"/>
              <p:cNvSpPr>
                <a:spLocks noChangeShapeType="1"/>
              </p:cNvSpPr>
              <p:nvPr/>
            </p:nvSpPr>
            <p:spPr bwMode="auto">
              <a:xfrm>
                <a:off x="3500"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74" name="Line 13"/>
              <p:cNvSpPr>
                <a:spLocks noChangeShapeType="1"/>
              </p:cNvSpPr>
              <p:nvPr/>
            </p:nvSpPr>
            <p:spPr bwMode="auto">
              <a:xfrm>
                <a:off x="3884" y="1680"/>
                <a:ext cx="0" cy="864"/>
              </a:xfrm>
              <a:prstGeom prst="line">
                <a:avLst/>
              </a:prstGeom>
              <a:noFill/>
              <a:ln w="9525">
                <a:solidFill>
                  <a:schemeClr val="tx1"/>
                </a:solidFill>
                <a:round/>
                <a:headEnd/>
                <a:tailEnd/>
              </a:ln>
            </p:spPr>
            <p:txBody>
              <a:bodyPr wrap="none" lIns="0" tIns="0" rIns="0" bIns="0" anchor="ctr"/>
              <a:lstStyle/>
              <a:p>
                <a:endParaRPr lang="es-ES"/>
              </a:p>
            </p:txBody>
          </p:sp>
          <p:sp>
            <p:nvSpPr>
              <p:cNvPr id="76975" name="Line 14"/>
              <p:cNvSpPr>
                <a:spLocks noChangeShapeType="1"/>
              </p:cNvSpPr>
              <p:nvPr/>
            </p:nvSpPr>
            <p:spPr bwMode="auto">
              <a:xfrm>
                <a:off x="4268" y="1680"/>
                <a:ext cx="0" cy="864"/>
              </a:xfrm>
              <a:prstGeom prst="line">
                <a:avLst/>
              </a:prstGeom>
              <a:noFill/>
              <a:ln w="9525">
                <a:solidFill>
                  <a:schemeClr val="tx1"/>
                </a:solidFill>
                <a:round/>
                <a:headEnd/>
                <a:tailEnd/>
              </a:ln>
            </p:spPr>
            <p:txBody>
              <a:bodyPr wrap="none" lIns="0" tIns="0" rIns="0" bIns="0" anchor="ctr"/>
              <a:lstStyle/>
              <a:p>
                <a:endParaRPr lang="es-ES"/>
              </a:p>
            </p:txBody>
          </p:sp>
        </p:grpSp>
        <p:grpSp>
          <p:nvGrpSpPr>
            <p:cNvPr id="3" name="Group 15"/>
            <p:cNvGrpSpPr>
              <a:grpSpLocks/>
            </p:cNvGrpSpPr>
            <p:nvPr/>
          </p:nvGrpSpPr>
          <p:grpSpPr bwMode="auto">
            <a:xfrm>
              <a:off x="1177925" y="4086944"/>
              <a:ext cx="609600" cy="304800"/>
              <a:chOff x="576" y="2016"/>
              <a:chExt cx="384" cy="192"/>
            </a:xfrm>
          </p:grpSpPr>
          <p:sp>
            <p:nvSpPr>
              <p:cNvPr id="76961" name="Freeform 16"/>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62" name="Text Box 17"/>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ACT</a:t>
                </a:r>
              </a:p>
            </p:txBody>
          </p:sp>
        </p:grpSp>
        <p:grpSp>
          <p:nvGrpSpPr>
            <p:cNvPr id="4" name="Group 18"/>
            <p:cNvGrpSpPr>
              <a:grpSpLocks/>
            </p:cNvGrpSpPr>
            <p:nvPr/>
          </p:nvGrpSpPr>
          <p:grpSpPr bwMode="auto">
            <a:xfrm>
              <a:off x="1787525" y="4086944"/>
              <a:ext cx="609600" cy="304800"/>
              <a:chOff x="960" y="2016"/>
              <a:chExt cx="384" cy="192"/>
            </a:xfrm>
          </p:grpSpPr>
          <p:sp>
            <p:nvSpPr>
              <p:cNvPr id="76959" name="Freeform 19"/>
              <p:cNvSpPr>
                <a:spLocks/>
              </p:cNvSpPr>
              <p:nvPr/>
            </p:nvSpPr>
            <p:spPr bwMode="blackWhite">
              <a:xfrm>
                <a:off x="96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60" name="Text Box 20"/>
              <p:cNvSpPr txBox="1">
                <a:spLocks noChangeArrowheads="1"/>
              </p:cNvSpPr>
              <p:nvPr/>
            </p:nvSpPr>
            <p:spPr bwMode="blackWhite">
              <a:xfrm>
                <a:off x="960"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5" name="Group 24"/>
            <p:cNvGrpSpPr>
              <a:grpSpLocks/>
            </p:cNvGrpSpPr>
            <p:nvPr/>
          </p:nvGrpSpPr>
          <p:grpSpPr bwMode="auto">
            <a:xfrm>
              <a:off x="2403475" y="4086944"/>
              <a:ext cx="609600" cy="304800"/>
              <a:chOff x="1728" y="2016"/>
              <a:chExt cx="384" cy="192"/>
            </a:xfrm>
          </p:grpSpPr>
          <p:sp>
            <p:nvSpPr>
              <p:cNvPr id="76957" name="Freeform 25"/>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58" name="Text Box 26"/>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RD</a:t>
                </a:r>
              </a:p>
            </p:txBody>
          </p:sp>
        </p:grpSp>
        <p:grpSp>
          <p:nvGrpSpPr>
            <p:cNvPr id="6" name="Group 30"/>
            <p:cNvGrpSpPr>
              <a:grpSpLocks/>
            </p:cNvGrpSpPr>
            <p:nvPr/>
          </p:nvGrpSpPr>
          <p:grpSpPr bwMode="auto">
            <a:xfrm>
              <a:off x="4225925" y="4086944"/>
              <a:ext cx="609600" cy="304800"/>
              <a:chOff x="2496" y="2016"/>
              <a:chExt cx="384" cy="192"/>
            </a:xfrm>
          </p:grpSpPr>
          <p:sp>
            <p:nvSpPr>
              <p:cNvPr id="76955" name="Freeform 31"/>
              <p:cNvSpPr>
                <a:spLocks/>
              </p:cNvSpPr>
              <p:nvPr/>
            </p:nvSpPr>
            <p:spPr bwMode="blackWhite">
              <a:xfrm>
                <a:off x="249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56" name="Text Box 32"/>
              <p:cNvSpPr txBox="1">
                <a:spLocks noChangeArrowheads="1"/>
              </p:cNvSpPr>
              <p:nvPr/>
            </p:nvSpPr>
            <p:spPr bwMode="blackWhite">
              <a:xfrm>
                <a:off x="2496"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7" name="Group 39"/>
            <p:cNvGrpSpPr>
              <a:grpSpLocks/>
            </p:cNvGrpSpPr>
            <p:nvPr/>
          </p:nvGrpSpPr>
          <p:grpSpPr bwMode="auto">
            <a:xfrm>
              <a:off x="6054725" y="4086944"/>
              <a:ext cx="609600" cy="304800"/>
              <a:chOff x="3648" y="2016"/>
              <a:chExt cx="384" cy="192"/>
            </a:xfrm>
          </p:grpSpPr>
          <p:sp>
            <p:nvSpPr>
              <p:cNvPr id="76953" name="Freeform 40"/>
              <p:cNvSpPr>
                <a:spLocks/>
              </p:cNvSpPr>
              <p:nvPr/>
            </p:nvSpPr>
            <p:spPr bwMode="blackWhite">
              <a:xfrm>
                <a:off x="364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54" name="Text Box 41"/>
              <p:cNvSpPr txBox="1">
                <a:spLocks noChangeArrowheads="1"/>
              </p:cNvSpPr>
              <p:nvPr/>
            </p:nvSpPr>
            <p:spPr bwMode="blackWhite">
              <a:xfrm>
                <a:off x="3648"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8" name="Group 42"/>
            <p:cNvGrpSpPr>
              <a:grpSpLocks/>
            </p:cNvGrpSpPr>
            <p:nvPr/>
          </p:nvGrpSpPr>
          <p:grpSpPr bwMode="auto">
            <a:xfrm>
              <a:off x="6664325" y="4086944"/>
              <a:ext cx="609600" cy="304800"/>
              <a:chOff x="4032" y="2016"/>
              <a:chExt cx="384" cy="192"/>
            </a:xfrm>
          </p:grpSpPr>
          <p:sp>
            <p:nvSpPr>
              <p:cNvPr id="76951" name="Freeform 43"/>
              <p:cNvSpPr>
                <a:spLocks/>
              </p:cNvSpPr>
              <p:nvPr/>
            </p:nvSpPr>
            <p:spPr bwMode="blackWhite">
              <a:xfrm>
                <a:off x="4032"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52" name="Text Box 44"/>
              <p:cNvSpPr txBox="1">
                <a:spLocks noChangeArrowheads="1"/>
              </p:cNvSpPr>
              <p:nvPr/>
            </p:nvSpPr>
            <p:spPr bwMode="blackWhite">
              <a:xfrm>
                <a:off x="4032"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sp>
          <p:nvSpPr>
            <p:cNvPr id="76812" name="Rectangle 45"/>
            <p:cNvSpPr>
              <a:spLocks noChangeArrowheads="1"/>
            </p:cNvSpPr>
            <p:nvPr/>
          </p:nvSpPr>
          <p:spPr bwMode="auto">
            <a:xfrm>
              <a:off x="6700838" y="4085357"/>
              <a:ext cx="0" cy="304800"/>
            </a:xfrm>
            <a:prstGeom prst="rect">
              <a:avLst/>
            </a:prstGeom>
            <a:noFill/>
            <a:ln w="19050">
              <a:noFill/>
              <a:miter lim="800000"/>
              <a:headEnd/>
              <a:tailEnd/>
            </a:ln>
          </p:spPr>
          <p:txBody>
            <a:bodyPr wrap="none" lIns="0" tIns="0" rIns="0" bIns="0" anchor="ctr">
              <a:spAutoFit/>
            </a:bodyPr>
            <a:lstStyle/>
            <a:p>
              <a:endParaRPr lang="es-ES_tradnl"/>
            </a:p>
          </p:txBody>
        </p:sp>
        <p:grpSp>
          <p:nvGrpSpPr>
            <p:cNvPr id="9" name="Group 46"/>
            <p:cNvGrpSpPr>
              <a:grpSpLocks/>
            </p:cNvGrpSpPr>
            <p:nvPr/>
          </p:nvGrpSpPr>
          <p:grpSpPr bwMode="auto">
            <a:xfrm>
              <a:off x="3698875" y="5458544"/>
              <a:ext cx="609600" cy="304800"/>
              <a:chOff x="2640" y="2304"/>
              <a:chExt cx="384" cy="192"/>
            </a:xfrm>
          </p:grpSpPr>
          <p:sp>
            <p:nvSpPr>
              <p:cNvPr id="76949" name="Freeform 47"/>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6950" name="Text Box 48"/>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P0</a:t>
                </a:r>
              </a:p>
            </p:txBody>
          </p:sp>
        </p:grpSp>
        <p:grpSp>
          <p:nvGrpSpPr>
            <p:cNvPr id="10" name="Group 49"/>
            <p:cNvGrpSpPr>
              <a:grpSpLocks/>
            </p:cNvGrpSpPr>
            <p:nvPr/>
          </p:nvGrpSpPr>
          <p:grpSpPr bwMode="auto">
            <a:xfrm>
              <a:off x="4311650" y="5458544"/>
              <a:ext cx="609600" cy="304800"/>
              <a:chOff x="3024" y="2304"/>
              <a:chExt cx="384" cy="192"/>
            </a:xfrm>
          </p:grpSpPr>
          <p:sp>
            <p:nvSpPr>
              <p:cNvPr id="76947" name="Freeform 50"/>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6948" name="Text Box 51"/>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P1</a:t>
                </a:r>
              </a:p>
            </p:txBody>
          </p:sp>
        </p:grpSp>
        <p:grpSp>
          <p:nvGrpSpPr>
            <p:cNvPr id="11" name="Group 52"/>
            <p:cNvGrpSpPr>
              <a:grpSpLocks/>
            </p:cNvGrpSpPr>
            <p:nvPr/>
          </p:nvGrpSpPr>
          <p:grpSpPr bwMode="auto">
            <a:xfrm>
              <a:off x="4921250" y="5458544"/>
              <a:ext cx="609600" cy="304800"/>
              <a:chOff x="3408" y="2304"/>
              <a:chExt cx="384" cy="192"/>
            </a:xfrm>
          </p:grpSpPr>
          <p:sp>
            <p:nvSpPr>
              <p:cNvPr id="76945" name="Freeform 53"/>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6946" name="Text Box 54"/>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P2</a:t>
                </a:r>
              </a:p>
            </p:txBody>
          </p:sp>
        </p:grpSp>
        <p:grpSp>
          <p:nvGrpSpPr>
            <p:cNvPr id="12" name="Group 55"/>
            <p:cNvGrpSpPr>
              <a:grpSpLocks/>
            </p:cNvGrpSpPr>
            <p:nvPr/>
          </p:nvGrpSpPr>
          <p:grpSpPr bwMode="auto">
            <a:xfrm>
              <a:off x="5530850" y="5458544"/>
              <a:ext cx="609600" cy="304800"/>
              <a:chOff x="3792" y="2304"/>
              <a:chExt cx="384" cy="192"/>
            </a:xfrm>
          </p:grpSpPr>
          <p:sp>
            <p:nvSpPr>
              <p:cNvPr id="76943" name="Freeform 56"/>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99FF66"/>
              </a:solidFill>
              <a:ln w="9525">
                <a:solidFill>
                  <a:schemeClr val="tx1"/>
                </a:solidFill>
                <a:round/>
                <a:headEnd/>
                <a:tailEnd/>
              </a:ln>
            </p:spPr>
            <p:txBody>
              <a:bodyPr lIns="0" tIns="0" rIns="0" bIns="0" anchor="ctr"/>
              <a:lstStyle/>
              <a:p>
                <a:endParaRPr lang="es-ES"/>
              </a:p>
            </p:txBody>
          </p:sp>
          <p:sp>
            <p:nvSpPr>
              <p:cNvPr id="76944" name="Text Box 57"/>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grpSp>
          <p:nvGrpSpPr>
            <p:cNvPr id="13" name="Group 66"/>
            <p:cNvGrpSpPr>
              <a:grpSpLocks/>
            </p:cNvGrpSpPr>
            <p:nvPr/>
          </p:nvGrpSpPr>
          <p:grpSpPr bwMode="auto">
            <a:xfrm>
              <a:off x="3619500" y="4086944"/>
              <a:ext cx="609600" cy="304800"/>
              <a:chOff x="576" y="2016"/>
              <a:chExt cx="384" cy="192"/>
            </a:xfrm>
          </p:grpSpPr>
          <p:sp>
            <p:nvSpPr>
              <p:cNvPr id="76941" name="Freeform 67"/>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42" name="Text Box 6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ACT</a:t>
                </a:r>
              </a:p>
            </p:txBody>
          </p:sp>
        </p:grpSp>
        <p:sp>
          <p:nvSpPr>
            <p:cNvPr id="76818" name="Freeform 70"/>
            <p:cNvSpPr>
              <a:spLocks/>
            </p:cNvSpPr>
            <p:nvPr/>
          </p:nvSpPr>
          <p:spPr bwMode="blackWhite">
            <a:xfrm>
              <a:off x="4851400" y="4086944"/>
              <a:ext cx="609600" cy="287338"/>
            </a:xfrm>
            <a:custGeom>
              <a:avLst/>
              <a:gdLst>
                <a:gd name="T0" fmla="*/ 0 w 453"/>
                <a:gd name="T1" fmla="*/ 2147483647 h 181"/>
                <a:gd name="T2" fmla="*/ 2147483647 w 453"/>
                <a:gd name="T3" fmla="*/ 0 h 181"/>
                <a:gd name="T4" fmla="*/ 2147483647 w 453"/>
                <a:gd name="T5" fmla="*/ 0 h 181"/>
                <a:gd name="T6" fmla="*/ 2147483647 w 453"/>
                <a:gd name="T7" fmla="*/ 2147483647 h 181"/>
                <a:gd name="T8" fmla="*/ 2147483647 w 453"/>
                <a:gd name="T9" fmla="*/ 2147483647 h 181"/>
                <a:gd name="T10" fmla="*/ 2147483647 w 453"/>
                <a:gd name="T11" fmla="*/ 2147483647 h 181"/>
                <a:gd name="T12" fmla="*/ 0 w 453"/>
                <a:gd name="T13" fmla="*/ 2147483647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19" name="Text Box 71"/>
            <p:cNvSpPr txBox="1">
              <a:spLocks noChangeArrowheads="1"/>
            </p:cNvSpPr>
            <p:nvPr/>
          </p:nvSpPr>
          <p:spPr bwMode="blackWhite">
            <a:xfrm>
              <a:off x="4851400" y="4086944"/>
              <a:ext cx="609600" cy="304800"/>
            </a:xfrm>
            <a:prstGeom prst="rect">
              <a:avLst/>
            </a:prstGeom>
            <a:noFill/>
            <a:ln w="19050">
              <a:noFill/>
              <a:miter lim="800000"/>
              <a:headEnd/>
              <a:tailEnd/>
            </a:ln>
          </p:spPr>
          <p:txBody>
            <a:bodyPr lIns="0" tIns="0" rIns="0" bIns="0">
              <a:spAutoFit/>
            </a:bodyPr>
            <a:lstStyle/>
            <a:p>
              <a:r>
                <a:rPr lang="es-ES" b="1">
                  <a:latin typeface="Arial Narrow" pitchFamily="34" charset="0"/>
                </a:rPr>
                <a:t>RD</a:t>
              </a:r>
            </a:p>
          </p:txBody>
        </p:sp>
        <p:grpSp>
          <p:nvGrpSpPr>
            <p:cNvPr id="14" name="Group 72"/>
            <p:cNvGrpSpPr>
              <a:grpSpLocks/>
            </p:cNvGrpSpPr>
            <p:nvPr/>
          </p:nvGrpSpPr>
          <p:grpSpPr bwMode="auto">
            <a:xfrm>
              <a:off x="6140450" y="5458544"/>
              <a:ext cx="609600" cy="304800"/>
              <a:chOff x="2640" y="2304"/>
              <a:chExt cx="384" cy="192"/>
            </a:xfrm>
          </p:grpSpPr>
          <p:sp>
            <p:nvSpPr>
              <p:cNvPr id="76939" name="Freeform 73"/>
              <p:cNvSpPr>
                <a:spLocks/>
              </p:cNvSpPr>
              <p:nvPr/>
            </p:nvSpPr>
            <p:spPr bwMode="blackWhite">
              <a:xfrm>
                <a:off x="2640"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76940" name="Text Box 74"/>
              <p:cNvSpPr txBox="1">
                <a:spLocks noChangeArrowheads="1"/>
              </p:cNvSpPr>
              <p:nvPr/>
            </p:nvSpPr>
            <p:spPr bwMode="blackWhite">
              <a:xfrm>
                <a:off x="2640"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P0</a:t>
                </a:r>
              </a:p>
            </p:txBody>
          </p:sp>
        </p:grpSp>
        <p:grpSp>
          <p:nvGrpSpPr>
            <p:cNvPr id="15" name="Group 75"/>
            <p:cNvGrpSpPr>
              <a:grpSpLocks/>
            </p:cNvGrpSpPr>
            <p:nvPr/>
          </p:nvGrpSpPr>
          <p:grpSpPr bwMode="auto">
            <a:xfrm>
              <a:off x="6753225" y="5458544"/>
              <a:ext cx="609600" cy="304800"/>
              <a:chOff x="3024" y="2304"/>
              <a:chExt cx="384" cy="192"/>
            </a:xfrm>
          </p:grpSpPr>
          <p:sp>
            <p:nvSpPr>
              <p:cNvPr id="76937" name="Freeform 76"/>
              <p:cNvSpPr>
                <a:spLocks/>
              </p:cNvSpPr>
              <p:nvPr/>
            </p:nvSpPr>
            <p:spPr bwMode="blackWhite">
              <a:xfrm>
                <a:off x="3024"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76938" name="Text Box 77"/>
              <p:cNvSpPr txBox="1">
                <a:spLocks noChangeArrowheads="1"/>
              </p:cNvSpPr>
              <p:nvPr/>
            </p:nvSpPr>
            <p:spPr bwMode="blackWhite">
              <a:xfrm>
                <a:off x="3024"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P1</a:t>
                </a:r>
              </a:p>
            </p:txBody>
          </p:sp>
        </p:grpSp>
        <p:grpSp>
          <p:nvGrpSpPr>
            <p:cNvPr id="16" name="Group 78"/>
            <p:cNvGrpSpPr>
              <a:grpSpLocks/>
            </p:cNvGrpSpPr>
            <p:nvPr/>
          </p:nvGrpSpPr>
          <p:grpSpPr bwMode="auto">
            <a:xfrm>
              <a:off x="7362825" y="5458544"/>
              <a:ext cx="609600" cy="304800"/>
              <a:chOff x="3408" y="2304"/>
              <a:chExt cx="384" cy="192"/>
            </a:xfrm>
          </p:grpSpPr>
          <p:sp>
            <p:nvSpPr>
              <p:cNvPr id="76935" name="Freeform 79"/>
              <p:cNvSpPr>
                <a:spLocks/>
              </p:cNvSpPr>
              <p:nvPr/>
            </p:nvSpPr>
            <p:spPr bwMode="blackWhite">
              <a:xfrm>
                <a:off x="3408"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76936" name="Text Box 80"/>
              <p:cNvSpPr txBox="1">
                <a:spLocks noChangeArrowheads="1"/>
              </p:cNvSpPr>
              <p:nvPr/>
            </p:nvSpPr>
            <p:spPr bwMode="blackWhite">
              <a:xfrm>
                <a:off x="3408" y="2304"/>
                <a:ext cx="384" cy="192"/>
              </a:xfrm>
              <a:prstGeom prst="rect">
                <a:avLst/>
              </a:prstGeom>
              <a:noFill/>
              <a:ln w="19050">
                <a:noFill/>
                <a:miter lim="800000"/>
                <a:headEnd/>
                <a:tailEnd/>
              </a:ln>
            </p:spPr>
            <p:txBody>
              <a:bodyPr lIns="0" tIns="0" rIns="0" bIns="0">
                <a:spAutoFit/>
              </a:bodyPr>
              <a:lstStyle/>
              <a:p>
                <a:r>
                  <a:rPr lang="es-ES" b="1" dirty="0">
                    <a:latin typeface="Arial Narrow" pitchFamily="34" charset="0"/>
                  </a:rPr>
                  <a:t>P2</a:t>
                </a:r>
              </a:p>
            </p:txBody>
          </p:sp>
        </p:grpSp>
        <p:grpSp>
          <p:nvGrpSpPr>
            <p:cNvPr id="17" name="Group 81"/>
            <p:cNvGrpSpPr>
              <a:grpSpLocks/>
            </p:cNvGrpSpPr>
            <p:nvPr/>
          </p:nvGrpSpPr>
          <p:grpSpPr bwMode="auto">
            <a:xfrm>
              <a:off x="7972425" y="5458544"/>
              <a:ext cx="609600" cy="304800"/>
              <a:chOff x="3792" y="2304"/>
              <a:chExt cx="384" cy="192"/>
            </a:xfrm>
          </p:grpSpPr>
          <p:sp>
            <p:nvSpPr>
              <p:cNvPr id="76933" name="Freeform 82"/>
              <p:cNvSpPr>
                <a:spLocks/>
              </p:cNvSpPr>
              <p:nvPr/>
            </p:nvSpPr>
            <p:spPr bwMode="blackWhite">
              <a:xfrm>
                <a:off x="3792" y="2304"/>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FFC000"/>
              </a:solidFill>
              <a:ln w="9525">
                <a:solidFill>
                  <a:schemeClr val="tx1"/>
                </a:solidFill>
                <a:round/>
                <a:headEnd/>
                <a:tailEnd/>
              </a:ln>
            </p:spPr>
            <p:txBody>
              <a:bodyPr lIns="0" tIns="0" rIns="0" bIns="0" anchor="ctr"/>
              <a:lstStyle/>
              <a:p>
                <a:endParaRPr lang="es-ES"/>
              </a:p>
            </p:txBody>
          </p:sp>
          <p:sp>
            <p:nvSpPr>
              <p:cNvPr id="76934" name="Text Box 83"/>
              <p:cNvSpPr txBox="1">
                <a:spLocks noChangeArrowheads="1"/>
              </p:cNvSpPr>
              <p:nvPr/>
            </p:nvSpPr>
            <p:spPr bwMode="blackWhite">
              <a:xfrm>
                <a:off x="3792" y="2304"/>
                <a:ext cx="384" cy="192"/>
              </a:xfrm>
              <a:prstGeom prst="rect">
                <a:avLst/>
              </a:prstGeom>
              <a:noFill/>
              <a:ln w="19050">
                <a:noFill/>
                <a:miter lim="800000"/>
                <a:headEnd/>
                <a:tailEnd/>
              </a:ln>
            </p:spPr>
            <p:txBody>
              <a:bodyPr lIns="0" tIns="0" rIns="0" bIns="0">
                <a:spAutoFit/>
              </a:bodyPr>
              <a:lstStyle/>
              <a:p>
                <a:r>
                  <a:rPr lang="es-ES" b="1">
                    <a:latin typeface="Arial Narrow" pitchFamily="34" charset="0"/>
                  </a:rPr>
                  <a:t>P3</a:t>
                </a:r>
              </a:p>
            </p:txBody>
          </p:sp>
        </p:grpSp>
        <p:grpSp>
          <p:nvGrpSpPr>
            <p:cNvPr id="18" name="Group 142"/>
            <p:cNvGrpSpPr>
              <a:grpSpLocks/>
            </p:cNvGrpSpPr>
            <p:nvPr/>
          </p:nvGrpSpPr>
          <p:grpSpPr bwMode="auto">
            <a:xfrm>
              <a:off x="1406525" y="3629744"/>
              <a:ext cx="7315200" cy="228600"/>
              <a:chOff x="480" y="1728"/>
              <a:chExt cx="4608" cy="144"/>
            </a:xfrm>
          </p:grpSpPr>
          <p:sp>
            <p:nvSpPr>
              <p:cNvPr id="76930" name="Freeform 59"/>
              <p:cNvSpPr>
                <a:spLocks/>
              </p:cNvSpPr>
              <p:nvPr/>
            </p:nvSpPr>
            <p:spPr bwMode="auto">
              <a:xfrm>
                <a:off x="480"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76931" name="Freeform 60"/>
              <p:cNvSpPr>
                <a:spLocks/>
              </p:cNvSpPr>
              <p:nvPr/>
            </p:nvSpPr>
            <p:spPr bwMode="auto">
              <a:xfrm>
                <a:off x="2016"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sp>
            <p:nvSpPr>
              <p:cNvPr id="76932" name="Freeform 84"/>
              <p:cNvSpPr>
                <a:spLocks/>
              </p:cNvSpPr>
              <p:nvPr/>
            </p:nvSpPr>
            <p:spPr bwMode="auto">
              <a:xfrm>
                <a:off x="3552" y="1728"/>
                <a:ext cx="1536" cy="144"/>
              </a:xfrm>
              <a:custGeom>
                <a:avLst/>
                <a:gdLst>
                  <a:gd name="T0" fmla="*/ 0 w 1536"/>
                  <a:gd name="T1" fmla="*/ 144 h 144"/>
                  <a:gd name="T2" fmla="*/ 96 w 1536"/>
                  <a:gd name="T3" fmla="*/ 0 h 144"/>
                  <a:gd name="T4" fmla="*/ 192 w 1536"/>
                  <a:gd name="T5" fmla="*/ 0 h 144"/>
                  <a:gd name="T6" fmla="*/ 288 w 1536"/>
                  <a:gd name="T7" fmla="*/ 144 h 144"/>
                  <a:gd name="T8" fmla="*/ 384 w 1536"/>
                  <a:gd name="T9" fmla="*/ 144 h 144"/>
                  <a:gd name="T10" fmla="*/ 480 w 1536"/>
                  <a:gd name="T11" fmla="*/ 0 h 144"/>
                  <a:gd name="T12" fmla="*/ 576 w 1536"/>
                  <a:gd name="T13" fmla="*/ 0 h 144"/>
                  <a:gd name="T14" fmla="*/ 672 w 1536"/>
                  <a:gd name="T15" fmla="*/ 144 h 144"/>
                  <a:gd name="T16" fmla="*/ 768 w 1536"/>
                  <a:gd name="T17" fmla="*/ 144 h 144"/>
                  <a:gd name="T18" fmla="*/ 864 w 1536"/>
                  <a:gd name="T19" fmla="*/ 0 h 144"/>
                  <a:gd name="T20" fmla="*/ 960 w 1536"/>
                  <a:gd name="T21" fmla="*/ 0 h 144"/>
                  <a:gd name="T22" fmla="*/ 1056 w 1536"/>
                  <a:gd name="T23" fmla="*/ 144 h 144"/>
                  <a:gd name="T24" fmla="*/ 1152 w 1536"/>
                  <a:gd name="T25" fmla="*/ 144 h 144"/>
                  <a:gd name="T26" fmla="*/ 1248 w 1536"/>
                  <a:gd name="T27" fmla="*/ 0 h 144"/>
                  <a:gd name="T28" fmla="*/ 1344 w 1536"/>
                  <a:gd name="T29" fmla="*/ 0 h 144"/>
                  <a:gd name="T30" fmla="*/ 1440 w 1536"/>
                  <a:gd name="T31" fmla="*/ 144 h 144"/>
                  <a:gd name="T32" fmla="*/ 1536 w 1536"/>
                  <a:gd name="T33" fmla="*/ 14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36"/>
                  <a:gd name="T52" fmla="*/ 0 h 144"/>
                  <a:gd name="T53" fmla="*/ 1536 w 1536"/>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36" h="144">
                    <a:moveTo>
                      <a:pt x="0" y="144"/>
                    </a:moveTo>
                    <a:lnTo>
                      <a:pt x="96" y="0"/>
                    </a:lnTo>
                    <a:lnTo>
                      <a:pt x="192" y="0"/>
                    </a:lnTo>
                    <a:lnTo>
                      <a:pt x="288" y="144"/>
                    </a:lnTo>
                    <a:lnTo>
                      <a:pt x="384" y="144"/>
                    </a:lnTo>
                    <a:lnTo>
                      <a:pt x="480" y="0"/>
                    </a:lnTo>
                    <a:lnTo>
                      <a:pt x="576" y="0"/>
                    </a:lnTo>
                    <a:lnTo>
                      <a:pt x="672" y="144"/>
                    </a:lnTo>
                    <a:lnTo>
                      <a:pt x="768" y="144"/>
                    </a:lnTo>
                    <a:lnTo>
                      <a:pt x="864" y="0"/>
                    </a:lnTo>
                    <a:lnTo>
                      <a:pt x="960" y="0"/>
                    </a:lnTo>
                    <a:lnTo>
                      <a:pt x="1056" y="144"/>
                    </a:lnTo>
                    <a:lnTo>
                      <a:pt x="1152" y="144"/>
                    </a:lnTo>
                    <a:lnTo>
                      <a:pt x="1248" y="0"/>
                    </a:lnTo>
                    <a:lnTo>
                      <a:pt x="1344" y="0"/>
                    </a:lnTo>
                    <a:lnTo>
                      <a:pt x="1440" y="144"/>
                    </a:lnTo>
                    <a:lnTo>
                      <a:pt x="1536" y="144"/>
                    </a:lnTo>
                  </a:path>
                </a:pathLst>
              </a:custGeom>
              <a:noFill/>
              <a:ln w="12700">
                <a:solidFill>
                  <a:schemeClr val="tx1"/>
                </a:solidFill>
                <a:round/>
                <a:headEnd/>
                <a:tailEnd/>
              </a:ln>
            </p:spPr>
            <p:txBody>
              <a:bodyPr wrap="none" lIns="0" tIns="0" rIns="0" bIns="0" anchor="ctr"/>
              <a:lstStyle/>
              <a:p>
                <a:endParaRPr lang="es-ES"/>
              </a:p>
            </p:txBody>
          </p:sp>
        </p:grpSp>
        <p:grpSp>
          <p:nvGrpSpPr>
            <p:cNvPr id="19" name="Group 90"/>
            <p:cNvGrpSpPr>
              <a:grpSpLocks/>
            </p:cNvGrpSpPr>
            <p:nvPr/>
          </p:nvGrpSpPr>
          <p:grpSpPr bwMode="auto">
            <a:xfrm>
              <a:off x="7273925" y="4086944"/>
              <a:ext cx="609600" cy="304800"/>
              <a:chOff x="3648" y="2016"/>
              <a:chExt cx="384" cy="192"/>
            </a:xfrm>
          </p:grpSpPr>
          <p:sp>
            <p:nvSpPr>
              <p:cNvPr id="76928" name="Freeform 91"/>
              <p:cNvSpPr>
                <a:spLocks/>
              </p:cNvSpPr>
              <p:nvPr/>
            </p:nvSpPr>
            <p:spPr bwMode="blackWhite">
              <a:xfrm>
                <a:off x="364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29" name="Text Box 92"/>
              <p:cNvSpPr txBox="1">
                <a:spLocks noChangeArrowheads="1"/>
              </p:cNvSpPr>
              <p:nvPr/>
            </p:nvSpPr>
            <p:spPr bwMode="blackWhite">
              <a:xfrm>
                <a:off x="3648"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0" name="Group 93"/>
            <p:cNvGrpSpPr>
              <a:grpSpLocks/>
            </p:cNvGrpSpPr>
            <p:nvPr/>
          </p:nvGrpSpPr>
          <p:grpSpPr bwMode="auto">
            <a:xfrm>
              <a:off x="7883525" y="4086944"/>
              <a:ext cx="609600" cy="304800"/>
              <a:chOff x="4032" y="2016"/>
              <a:chExt cx="384" cy="192"/>
            </a:xfrm>
          </p:grpSpPr>
          <p:sp>
            <p:nvSpPr>
              <p:cNvPr id="76926" name="Freeform 94"/>
              <p:cNvSpPr>
                <a:spLocks/>
              </p:cNvSpPr>
              <p:nvPr/>
            </p:nvSpPr>
            <p:spPr bwMode="blackWhite">
              <a:xfrm>
                <a:off x="4032"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27" name="Text Box 95"/>
              <p:cNvSpPr txBox="1">
                <a:spLocks noChangeArrowheads="1"/>
              </p:cNvSpPr>
              <p:nvPr/>
            </p:nvSpPr>
            <p:spPr bwMode="blackWhite">
              <a:xfrm>
                <a:off x="4032"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21" name="Group 96"/>
            <p:cNvGrpSpPr>
              <a:grpSpLocks/>
            </p:cNvGrpSpPr>
            <p:nvPr/>
          </p:nvGrpSpPr>
          <p:grpSpPr bwMode="auto">
            <a:xfrm>
              <a:off x="8493125" y="4086944"/>
              <a:ext cx="609600" cy="304800"/>
              <a:chOff x="3648" y="2016"/>
              <a:chExt cx="384" cy="192"/>
            </a:xfrm>
          </p:grpSpPr>
          <p:sp>
            <p:nvSpPr>
              <p:cNvPr id="76924" name="Freeform 97"/>
              <p:cNvSpPr>
                <a:spLocks/>
              </p:cNvSpPr>
              <p:nvPr/>
            </p:nvSpPr>
            <p:spPr bwMode="blackWhite">
              <a:xfrm>
                <a:off x="364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25" name="Text Box 98"/>
              <p:cNvSpPr txBox="1">
                <a:spLocks noChangeArrowheads="1"/>
              </p:cNvSpPr>
              <p:nvPr/>
            </p:nvSpPr>
            <p:spPr bwMode="blackWhite">
              <a:xfrm>
                <a:off x="3648"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sp>
          <p:nvSpPr>
            <p:cNvPr id="76828" name="AutoShape 106"/>
            <p:cNvSpPr>
              <a:spLocks/>
            </p:cNvSpPr>
            <p:nvPr/>
          </p:nvSpPr>
          <p:spPr bwMode="auto">
            <a:xfrm rot="-5400000">
              <a:off x="4840288" y="4847356"/>
              <a:ext cx="228600" cy="2365375"/>
            </a:xfrm>
            <a:prstGeom prst="leftBrace">
              <a:avLst>
                <a:gd name="adj1" fmla="val 86227"/>
                <a:gd name="adj2" fmla="val 50000"/>
              </a:avLst>
            </a:prstGeom>
            <a:noFill/>
            <a:ln w="9525">
              <a:solidFill>
                <a:schemeClr val="tx1"/>
              </a:solidFill>
              <a:round/>
              <a:headEnd/>
              <a:tailEnd/>
            </a:ln>
          </p:spPr>
          <p:txBody>
            <a:bodyPr wrap="none" lIns="0" tIns="0" rIns="0" bIns="0" anchor="ctr"/>
            <a:lstStyle/>
            <a:p>
              <a:endParaRPr lang="es-ES"/>
            </a:p>
          </p:txBody>
        </p:sp>
        <p:sp>
          <p:nvSpPr>
            <p:cNvPr id="76829" name="AutoShape 107"/>
            <p:cNvSpPr>
              <a:spLocks/>
            </p:cNvSpPr>
            <p:nvPr/>
          </p:nvSpPr>
          <p:spPr bwMode="auto">
            <a:xfrm rot="-5400000">
              <a:off x="7202488" y="4923556"/>
              <a:ext cx="228600" cy="2212975"/>
            </a:xfrm>
            <a:prstGeom prst="leftBrace">
              <a:avLst>
                <a:gd name="adj1" fmla="val 80671"/>
                <a:gd name="adj2" fmla="val 50000"/>
              </a:avLst>
            </a:prstGeom>
            <a:noFill/>
            <a:ln w="9525">
              <a:solidFill>
                <a:schemeClr val="tx1"/>
              </a:solidFill>
              <a:round/>
              <a:headEnd/>
              <a:tailEnd/>
            </a:ln>
          </p:spPr>
          <p:txBody>
            <a:bodyPr wrap="none" lIns="0" tIns="0" rIns="0" bIns="0" anchor="ctr"/>
            <a:lstStyle/>
            <a:p>
              <a:endParaRPr lang="es-ES"/>
            </a:p>
          </p:txBody>
        </p:sp>
        <p:grpSp>
          <p:nvGrpSpPr>
            <p:cNvPr id="22" name="Group 108"/>
            <p:cNvGrpSpPr>
              <a:grpSpLocks/>
            </p:cNvGrpSpPr>
            <p:nvPr/>
          </p:nvGrpSpPr>
          <p:grpSpPr bwMode="auto">
            <a:xfrm>
              <a:off x="1184275" y="4544144"/>
              <a:ext cx="609600" cy="304800"/>
              <a:chOff x="576" y="2016"/>
              <a:chExt cx="384" cy="192"/>
            </a:xfrm>
          </p:grpSpPr>
          <p:sp>
            <p:nvSpPr>
              <p:cNvPr id="76922" name="Freeform 109"/>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23" name="Text Box 110"/>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fil</a:t>
                </a:r>
              </a:p>
            </p:txBody>
          </p:sp>
        </p:grpSp>
        <p:grpSp>
          <p:nvGrpSpPr>
            <p:cNvPr id="23" name="Group 111"/>
            <p:cNvGrpSpPr>
              <a:grpSpLocks/>
            </p:cNvGrpSpPr>
            <p:nvPr/>
          </p:nvGrpSpPr>
          <p:grpSpPr bwMode="auto">
            <a:xfrm>
              <a:off x="2409825" y="4544144"/>
              <a:ext cx="609600" cy="304800"/>
              <a:chOff x="1728" y="2016"/>
              <a:chExt cx="384" cy="192"/>
            </a:xfrm>
          </p:grpSpPr>
          <p:sp>
            <p:nvSpPr>
              <p:cNvPr id="76920" name="Freeform 112"/>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21" name="Text Box 113"/>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col</a:t>
                </a:r>
                <a:endParaRPr lang="es-ES" b="1">
                  <a:latin typeface="Arial Narrow" pitchFamily="34" charset="0"/>
                </a:endParaRPr>
              </a:p>
            </p:txBody>
          </p:sp>
        </p:grpSp>
        <p:grpSp>
          <p:nvGrpSpPr>
            <p:cNvPr id="24" name="Group 114"/>
            <p:cNvGrpSpPr>
              <a:grpSpLocks/>
            </p:cNvGrpSpPr>
            <p:nvPr/>
          </p:nvGrpSpPr>
          <p:grpSpPr bwMode="auto">
            <a:xfrm>
              <a:off x="1793875" y="4544144"/>
              <a:ext cx="609600" cy="304800"/>
              <a:chOff x="576" y="2016"/>
              <a:chExt cx="384" cy="192"/>
            </a:xfrm>
          </p:grpSpPr>
          <p:sp>
            <p:nvSpPr>
              <p:cNvPr id="76918" name="Freeform 115"/>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19" name="Text Box 116"/>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25" name="Group 120"/>
            <p:cNvGrpSpPr>
              <a:grpSpLocks/>
            </p:cNvGrpSpPr>
            <p:nvPr/>
          </p:nvGrpSpPr>
          <p:grpSpPr bwMode="auto">
            <a:xfrm>
              <a:off x="4232275" y="4544144"/>
              <a:ext cx="609600" cy="304800"/>
              <a:chOff x="576" y="2016"/>
              <a:chExt cx="384" cy="192"/>
            </a:xfrm>
          </p:grpSpPr>
          <p:sp>
            <p:nvSpPr>
              <p:cNvPr id="76916" name="Freeform 121"/>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17" name="Text Box 122"/>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26" name="Group 126"/>
            <p:cNvGrpSpPr>
              <a:grpSpLocks/>
            </p:cNvGrpSpPr>
            <p:nvPr/>
          </p:nvGrpSpPr>
          <p:grpSpPr bwMode="auto">
            <a:xfrm>
              <a:off x="6061075" y="4544144"/>
              <a:ext cx="609600" cy="304800"/>
              <a:chOff x="576" y="2016"/>
              <a:chExt cx="384" cy="192"/>
            </a:xfrm>
          </p:grpSpPr>
          <p:sp>
            <p:nvSpPr>
              <p:cNvPr id="76914" name="Freeform 127"/>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15" name="Text Box 12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27" name="Group 129"/>
            <p:cNvGrpSpPr>
              <a:grpSpLocks/>
            </p:cNvGrpSpPr>
            <p:nvPr/>
          </p:nvGrpSpPr>
          <p:grpSpPr bwMode="auto">
            <a:xfrm>
              <a:off x="6670675" y="4544144"/>
              <a:ext cx="609600" cy="304800"/>
              <a:chOff x="576" y="2016"/>
              <a:chExt cx="384" cy="192"/>
            </a:xfrm>
          </p:grpSpPr>
          <p:sp>
            <p:nvSpPr>
              <p:cNvPr id="76912" name="Freeform 130"/>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13" name="Text Box 131"/>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28" name="Group 132"/>
            <p:cNvGrpSpPr>
              <a:grpSpLocks/>
            </p:cNvGrpSpPr>
            <p:nvPr/>
          </p:nvGrpSpPr>
          <p:grpSpPr bwMode="auto">
            <a:xfrm>
              <a:off x="7280275" y="4544144"/>
              <a:ext cx="609600" cy="304800"/>
              <a:chOff x="576" y="2016"/>
              <a:chExt cx="384" cy="192"/>
            </a:xfrm>
          </p:grpSpPr>
          <p:sp>
            <p:nvSpPr>
              <p:cNvPr id="76910" name="Freeform 133"/>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11" name="Text Box 134"/>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29" name="Group 135"/>
            <p:cNvGrpSpPr>
              <a:grpSpLocks/>
            </p:cNvGrpSpPr>
            <p:nvPr/>
          </p:nvGrpSpPr>
          <p:grpSpPr bwMode="auto">
            <a:xfrm>
              <a:off x="7889875" y="4544144"/>
              <a:ext cx="609600" cy="304800"/>
              <a:chOff x="576" y="2016"/>
              <a:chExt cx="384" cy="192"/>
            </a:xfrm>
          </p:grpSpPr>
          <p:sp>
            <p:nvSpPr>
              <p:cNvPr id="76908" name="Freeform 136"/>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09" name="Text Box 137"/>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sp>
          <p:nvSpPr>
            <p:cNvPr id="76838" name="Text Box 138"/>
            <p:cNvSpPr txBox="1">
              <a:spLocks noChangeArrowheads="1"/>
            </p:cNvSpPr>
            <p:nvPr/>
          </p:nvSpPr>
          <p:spPr bwMode="auto">
            <a:xfrm>
              <a:off x="651334" y="3659033"/>
              <a:ext cx="397545" cy="246221"/>
            </a:xfrm>
            <a:prstGeom prst="rect">
              <a:avLst/>
            </a:prstGeom>
            <a:noFill/>
            <a:ln w="19050">
              <a:noFill/>
              <a:miter lim="800000"/>
              <a:headEnd/>
              <a:tailEnd/>
            </a:ln>
          </p:spPr>
          <p:txBody>
            <a:bodyPr wrap="none" lIns="0" tIns="0" rIns="0" bIns="0" anchor="ctr">
              <a:spAutoFit/>
            </a:bodyPr>
            <a:lstStyle/>
            <a:p>
              <a:r>
                <a:rPr lang="es-ES_tradnl" sz="1600" dirty="0"/>
                <a:t>CLK</a:t>
              </a:r>
            </a:p>
          </p:txBody>
        </p:sp>
        <p:sp>
          <p:nvSpPr>
            <p:cNvPr id="76839" name="Text Box 139"/>
            <p:cNvSpPr txBox="1">
              <a:spLocks noChangeArrowheads="1"/>
            </p:cNvSpPr>
            <p:nvPr/>
          </p:nvSpPr>
          <p:spPr bwMode="auto">
            <a:xfrm>
              <a:off x="489440" y="4116233"/>
              <a:ext cx="605935" cy="246221"/>
            </a:xfrm>
            <a:prstGeom prst="rect">
              <a:avLst/>
            </a:prstGeom>
            <a:noFill/>
            <a:ln w="19050">
              <a:noFill/>
              <a:miter lim="800000"/>
              <a:headEnd/>
              <a:tailEnd/>
            </a:ln>
          </p:spPr>
          <p:txBody>
            <a:bodyPr wrap="none" lIns="0" tIns="0" rIns="0" bIns="0" anchor="ctr">
              <a:spAutoFit/>
            </a:bodyPr>
            <a:lstStyle/>
            <a:p>
              <a:pPr algn="r"/>
              <a:r>
                <a:rPr lang="es-ES_tradnl" sz="1600" dirty="0">
                  <a:latin typeface="Arial Narrow" pitchFamily="34" charset="0"/>
                </a:rPr>
                <a:t>órdenes</a:t>
              </a:r>
            </a:p>
          </p:txBody>
        </p:sp>
        <p:sp>
          <p:nvSpPr>
            <p:cNvPr id="76841" name="Text Box 141"/>
            <p:cNvSpPr txBox="1">
              <a:spLocks noChangeArrowheads="1"/>
            </p:cNvSpPr>
            <p:nvPr/>
          </p:nvSpPr>
          <p:spPr bwMode="auto">
            <a:xfrm>
              <a:off x="640108" y="5030633"/>
              <a:ext cx="456855" cy="246221"/>
            </a:xfrm>
            <a:prstGeom prst="rect">
              <a:avLst/>
            </a:prstGeom>
            <a:noFill/>
            <a:ln w="19050">
              <a:noFill/>
              <a:miter lim="800000"/>
              <a:headEnd/>
              <a:tailEnd/>
            </a:ln>
          </p:spPr>
          <p:txBody>
            <a:bodyPr wrap="none" lIns="0" tIns="0" rIns="0" bIns="0" anchor="ctr">
              <a:spAutoFit/>
            </a:bodyPr>
            <a:lstStyle/>
            <a:p>
              <a:pPr algn="r"/>
              <a:r>
                <a:rPr lang="es-ES_tradnl" sz="1600" dirty="0">
                  <a:latin typeface="Arial Narrow" pitchFamily="34" charset="0"/>
                </a:rPr>
                <a:t>banco</a:t>
              </a:r>
            </a:p>
          </p:txBody>
        </p:sp>
        <p:grpSp>
          <p:nvGrpSpPr>
            <p:cNvPr id="30" name="Group 143"/>
            <p:cNvGrpSpPr>
              <a:grpSpLocks/>
            </p:cNvGrpSpPr>
            <p:nvPr/>
          </p:nvGrpSpPr>
          <p:grpSpPr bwMode="auto">
            <a:xfrm>
              <a:off x="3622675" y="4544144"/>
              <a:ext cx="609600" cy="304800"/>
              <a:chOff x="576" y="2016"/>
              <a:chExt cx="384" cy="192"/>
            </a:xfrm>
          </p:grpSpPr>
          <p:sp>
            <p:nvSpPr>
              <p:cNvPr id="76906" name="Freeform 144"/>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07" name="Text Box 145"/>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fil</a:t>
                </a:r>
              </a:p>
            </p:txBody>
          </p:sp>
        </p:grpSp>
        <p:grpSp>
          <p:nvGrpSpPr>
            <p:cNvPr id="31" name="Group 146"/>
            <p:cNvGrpSpPr>
              <a:grpSpLocks/>
            </p:cNvGrpSpPr>
            <p:nvPr/>
          </p:nvGrpSpPr>
          <p:grpSpPr bwMode="auto">
            <a:xfrm>
              <a:off x="4848225" y="4544144"/>
              <a:ext cx="609600" cy="304800"/>
              <a:chOff x="1728" y="2016"/>
              <a:chExt cx="384" cy="192"/>
            </a:xfrm>
          </p:grpSpPr>
          <p:sp>
            <p:nvSpPr>
              <p:cNvPr id="76904" name="Freeform 147"/>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05" name="Text Box 148"/>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col</a:t>
                </a:r>
                <a:endParaRPr lang="es-ES" b="1">
                  <a:latin typeface="Arial Narrow" pitchFamily="34" charset="0"/>
                </a:endParaRPr>
              </a:p>
            </p:txBody>
          </p:sp>
        </p:grpSp>
        <p:sp>
          <p:nvSpPr>
            <p:cNvPr id="76844" name="Text Box 149"/>
            <p:cNvSpPr txBox="1">
              <a:spLocks noChangeArrowheads="1"/>
            </p:cNvSpPr>
            <p:nvPr/>
          </p:nvSpPr>
          <p:spPr bwMode="auto">
            <a:xfrm>
              <a:off x="686594" y="5487833"/>
              <a:ext cx="410369" cy="246221"/>
            </a:xfrm>
            <a:prstGeom prst="rect">
              <a:avLst/>
            </a:prstGeom>
            <a:noFill/>
            <a:ln w="19050">
              <a:noFill/>
              <a:miter lim="800000"/>
              <a:headEnd/>
              <a:tailEnd/>
            </a:ln>
          </p:spPr>
          <p:txBody>
            <a:bodyPr wrap="none" lIns="0" tIns="0" rIns="0" bIns="0" anchor="ctr">
              <a:spAutoFit/>
            </a:bodyPr>
            <a:lstStyle/>
            <a:p>
              <a:pPr algn="r"/>
              <a:r>
                <a:rPr lang="es-ES_tradnl" sz="1600" dirty="0">
                  <a:latin typeface="Arial Narrow" pitchFamily="34" charset="0"/>
                </a:rPr>
                <a:t>datos</a:t>
              </a:r>
            </a:p>
          </p:txBody>
        </p:sp>
        <p:grpSp>
          <p:nvGrpSpPr>
            <p:cNvPr id="76832" name="Group 150"/>
            <p:cNvGrpSpPr>
              <a:grpSpLocks/>
            </p:cNvGrpSpPr>
            <p:nvPr/>
          </p:nvGrpSpPr>
          <p:grpSpPr bwMode="auto">
            <a:xfrm>
              <a:off x="1184275" y="5001344"/>
              <a:ext cx="609600" cy="304800"/>
              <a:chOff x="576" y="2016"/>
              <a:chExt cx="384" cy="192"/>
            </a:xfrm>
          </p:grpSpPr>
          <p:sp>
            <p:nvSpPr>
              <p:cNvPr id="76902" name="Freeform 151"/>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03" name="Text Box 152"/>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0</a:t>
                </a:r>
              </a:p>
            </p:txBody>
          </p:sp>
        </p:grpSp>
        <p:grpSp>
          <p:nvGrpSpPr>
            <p:cNvPr id="76833" name="Group 153"/>
            <p:cNvGrpSpPr>
              <a:grpSpLocks/>
            </p:cNvGrpSpPr>
            <p:nvPr/>
          </p:nvGrpSpPr>
          <p:grpSpPr bwMode="auto">
            <a:xfrm>
              <a:off x="2409825" y="5001344"/>
              <a:ext cx="609600" cy="304800"/>
              <a:chOff x="1728" y="2016"/>
              <a:chExt cx="384" cy="192"/>
            </a:xfrm>
          </p:grpSpPr>
          <p:sp>
            <p:nvSpPr>
              <p:cNvPr id="76900" name="Freeform 154"/>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901" name="Text Box 155"/>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0</a:t>
                </a:r>
                <a:endParaRPr lang="es-ES" b="1">
                  <a:latin typeface="Arial Narrow" pitchFamily="34" charset="0"/>
                </a:endParaRPr>
              </a:p>
            </p:txBody>
          </p:sp>
        </p:grpSp>
        <p:grpSp>
          <p:nvGrpSpPr>
            <p:cNvPr id="76834" name="Group 156"/>
            <p:cNvGrpSpPr>
              <a:grpSpLocks/>
            </p:cNvGrpSpPr>
            <p:nvPr/>
          </p:nvGrpSpPr>
          <p:grpSpPr bwMode="auto">
            <a:xfrm>
              <a:off x="1793875" y="5001344"/>
              <a:ext cx="609600" cy="304800"/>
              <a:chOff x="576" y="2016"/>
              <a:chExt cx="384" cy="192"/>
            </a:xfrm>
          </p:grpSpPr>
          <p:sp>
            <p:nvSpPr>
              <p:cNvPr id="76898" name="Freeform 157"/>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99" name="Text Box 158"/>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35" name="Group 162"/>
            <p:cNvGrpSpPr>
              <a:grpSpLocks/>
            </p:cNvGrpSpPr>
            <p:nvPr/>
          </p:nvGrpSpPr>
          <p:grpSpPr bwMode="auto">
            <a:xfrm>
              <a:off x="4232275" y="5001344"/>
              <a:ext cx="609600" cy="304800"/>
              <a:chOff x="576" y="2016"/>
              <a:chExt cx="384" cy="192"/>
            </a:xfrm>
          </p:grpSpPr>
          <p:sp>
            <p:nvSpPr>
              <p:cNvPr id="76896" name="Freeform 163"/>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97" name="Text Box 164"/>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36" name="Group 21"/>
            <p:cNvGrpSpPr>
              <a:grpSpLocks/>
            </p:cNvGrpSpPr>
            <p:nvPr/>
          </p:nvGrpSpPr>
          <p:grpSpPr bwMode="auto">
            <a:xfrm>
              <a:off x="3006725" y="4086944"/>
              <a:ext cx="609600" cy="304800"/>
              <a:chOff x="1344" y="2016"/>
              <a:chExt cx="384" cy="192"/>
            </a:xfrm>
          </p:grpSpPr>
          <p:sp>
            <p:nvSpPr>
              <p:cNvPr id="76894" name="Freeform 22"/>
              <p:cNvSpPr>
                <a:spLocks/>
              </p:cNvSpPr>
              <p:nvPr/>
            </p:nvSpPr>
            <p:spPr bwMode="blackWhite">
              <a:xfrm>
                <a:off x="1344"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95" name="Text Box 23"/>
              <p:cNvSpPr txBox="1">
                <a:spLocks noChangeArrowheads="1"/>
              </p:cNvSpPr>
              <p:nvPr/>
            </p:nvSpPr>
            <p:spPr bwMode="blackWhite">
              <a:xfrm>
                <a:off x="1344"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76837" name="Group 33"/>
            <p:cNvGrpSpPr>
              <a:grpSpLocks/>
            </p:cNvGrpSpPr>
            <p:nvPr/>
          </p:nvGrpSpPr>
          <p:grpSpPr bwMode="auto">
            <a:xfrm>
              <a:off x="5445125" y="4086944"/>
              <a:ext cx="609600" cy="304800"/>
              <a:chOff x="2880" y="2016"/>
              <a:chExt cx="384" cy="192"/>
            </a:xfrm>
          </p:grpSpPr>
          <p:sp>
            <p:nvSpPr>
              <p:cNvPr id="76892" name="Freeform 34"/>
              <p:cNvSpPr>
                <a:spLocks/>
              </p:cNvSpPr>
              <p:nvPr/>
            </p:nvSpPr>
            <p:spPr bwMode="blackWhite">
              <a:xfrm>
                <a:off x="2880"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93" name="Text Box 35"/>
              <p:cNvSpPr txBox="1">
                <a:spLocks noChangeArrowheads="1"/>
              </p:cNvSpPr>
              <p:nvPr/>
            </p:nvSpPr>
            <p:spPr bwMode="blackWhite">
              <a:xfrm>
                <a:off x="2880" y="2016"/>
                <a:ext cx="384" cy="192"/>
              </a:xfrm>
              <a:prstGeom prst="rect">
                <a:avLst/>
              </a:prstGeom>
              <a:noFill/>
              <a:ln w="19050">
                <a:noFill/>
                <a:miter lim="800000"/>
                <a:headEnd/>
                <a:tailEnd/>
              </a:ln>
            </p:spPr>
            <p:txBody>
              <a:bodyPr lIns="0" tIns="0" rIns="0" bIns="0">
                <a:spAutoFit/>
              </a:bodyPr>
              <a:lstStyle/>
              <a:p>
                <a:r>
                  <a:rPr lang="es-ES">
                    <a:solidFill>
                      <a:srgbClr val="FFFFFF"/>
                    </a:solidFill>
                    <a:latin typeface="Arial Narrow" pitchFamily="34" charset="0"/>
                  </a:rPr>
                  <a:t>NOP</a:t>
                </a:r>
              </a:p>
            </p:txBody>
          </p:sp>
        </p:grpSp>
        <p:grpSp>
          <p:nvGrpSpPr>
            <p:cNvPr id="76842" name="Group 117"/>
            <p:cNvGrpSpPr>
              <a:grpSpLocks/>
            </p:cNvGrpSpPr>
            <p:nvPr/>
          </p:nvGrpSpPr>
          <p:grpSpPr bwMode="auto">
            <a:xfrm>
              <a:off x="3013075" y="4544144"/>
              <a:ext cx="609600" cy="304800"/>
              <a:chOff x="576" y="2016"/>
              <a:chExt cx="384" cy="192"/>
            </a:xfrm>
          </p:grpSpPr>
          <p:sp>
            <p:nvSpPr>
              <p:cNvPr id="76890" name="Freeform 118"/>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91" name="Text Box 119"/>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43" name="Group 123"/>
            <p:cNvGrpSpPr>
              <a:grpSpLocks/>
            </p:cNvGrpSpPr>
            <p:nvPr/>
          </p:nvGrpSpPr>
          <p:grpSpPr bwMode="auto">
            <a:xfrm>
              <a:off x="5451475" y="4544144"/>
              <a:ext cx="609600" cy="304800"/>
              <a:chOff x="576" y="2016"/>
              <a:chExt cx="384" cy="192"/>
            </a:xfrm>
          </p:grpSpPr>
          <p:sp>
            <p:nvSpPr>
              <p:cNvPr id="76888" name="Freeform 124"/>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89" name="Text Box 125"/>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sp>
          <p:nvSpPr>
            <p:cNvPr id="76853" name="Freeform 160"/>
            <p:cNvSpPr>
              <a:spLocks/>
            </p:cNvSpPr>
            <p:nvPr/>
          </p:nvSpPr>
          <p:spPr bwMode="blackWhite">
            <a:xfrm>
              <a:off x="3013075" y="5001344"/>
              <a:ext cx="609600" cy="287338"/>
            </a:xfrm>
            <a:custGeom>
              <a:avLst/>
              <a:gdLst>
                <a:gd name="T0" fmla="*/ 0 w 453"/>
                <a:gd name="T1" fmla="*/ 2147483647 h 181"/>
                <a:gd name="T2" fmla="*/ 2147483647 w 453"/>
                <a:gd name="T3" fmla="*/ 0 h 181"/>
                <a:gd name="T4" fmla="*/ 2147483647 w 453"/>
                <a:gd name="T5" fmla="*/ 0 h 181"/>
                <a:gd name="T6" fmla="*/ 2147483647 w 453"/>
                <a:gd name="T7" fmla="*/ 2147483647 h 181"/>
                <a:gd name="T8" fmla="*/ 2147483647 w 453"/>
                <a:gd name="T9" fmla="*/ 2147483647 h 181"/>
                <a:gd name="T10" fmla="*/ 2147483647 w 453"/>
                <a:gd name="T11" fmla="*/ 2147483647 h 181"/>
                <a:gd name="T12" fmla="*/ 0 w 453"/>
                <a:gd name="T13" fmla="*/ 2147483647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54" name="Text Box 161"/>
            <p:cNvSpPr txBox="1">
              <a:spLocks noChangeArrowheads="1"/>
            </p:cNvSpPr>
            <p:nvPr/>
          </p:nvSpPr>
          <p:spPr bwMode="blackWhite">
            <a:xfrm>
              <a:off x="3013075" y="5001344"/>
              <a:ext cx="609600" cy="304800"/>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sp>
          <p:nvSpPr>
            <p:cNvPr id="76855" name="Freeform 166"/>
            <p:cNvSpPr>
              <a:spLocks/>
            </p:cNvSpPr>
            <p:nvPr/>
          </p:nvSpPr>
          <p:spPr bwMode="blackWhite">
            <a:xfrm>
              <a:off x="5451475" y="5001344"/>
              <a:ext cx="609600" cy="287338"/>
            </a:xfrm>
            <a:custGeom>
              <a:avLst/>
              <a:gdLst>
                <a:gd name="T0" fmla="*/ 0 w 453"/>
                <a:gd name="T1" fmla="*/ 2147483647 h 181"/>
                <a:gd name="T2" fmla="*/ 2147483647 w 453"/>
                <a:gd name="T3" fmla="*/ 0 h 181"/>
                <a:gd name="T4" fmla="*/ 2147483647 w 453"/>
                <a:gd name="T5" fmla="*/ 0 h 181"/>
                <a:gd name="T6" fmla="*/ 2147483647 w 453"/>
                <a:gd name="T7" fmla="*/ 2147483647 h 181"/>
                <a:gd name="T8" fmla="*/ 2147483647 w 453"/>
                <a:gd name="T9" fmla="*/ 2147483647 h 181"/>
                <a:gd name="T10" fmla="*/ 2147483647 w 453"/>
                <a:gd name="T11" fmla="*/ 2147483647 h 181"/>
                <a:gd name="T12" fmla="*/ 0 w 453"/>
                <a:gd name="T13" fmla="*/ 2147483647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56" name="Text Box 167"/>
            <p:cNvSpPr txBox="1">
              <a:spLocks noChangeArrowheads="1"/>
            </p:cNvSpPr>
            <p:nvPr/>
          </p:nvSpPr>
          <p:spPr bwMode="blackWhite">
            <a:xfrm>
              <a:off x="5451475" y="5001344"/>
              <a:ext cx="609600" cy="304800"/>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nvGrpSpPr>
            <p:cNvPr id="76845" name="Group 168"/>
            <p:cNvGrpSpPr>
              <a:grpSpLocks/>
            </p:cNvGrpSpPr>
            <p:nvPr/>
          </p:nvGrpSpPr>
          <p:grpSpPr bwMode="auto">
            <a:xfrm>
              <a:off x="6061075" y="5001344"/>
              <a:ext cx="609600" cy="304800"/>
              <a:chOff x="576" y="2016"/>
              <a:chExt cx="384" cy="192"/>
            </a:xfrm>
          </p:grpSpPr>
          <p:sp>
            <p:nvSpPr>
              <p:cNvPr id="76886" name="Freeform 169"/>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87" name="Text Box 170"/>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46" name="Group 171"/>
            <p:cNvGrpSpPr>
              <a:grpSpLocks/>
            </p:cNvGrpSpPr>
            <p:nvPr/>
          </p:nvGrpSpPr>
          <p:grpSpPr bwMode="auto">
            <a:xfrm>
              <a:off x="6670675" y="5001344"/>
              <a:ext cx="609600" cy="304800"/>
              <a:chOff x="576" y="2016"/>
              <a:chExt cx="384" cy="192"/>
            </a:xfrm>
          </p:grpSpPr>
          <p:sp>
            <p:nvSpPr>
              <p:cNvPr id="76884" name="Freeform 172"/>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85" name="Text Box 173"/>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47" name="Group 174"/>
            <p:cNvGrpSpPr>
              <a:grpSpLocks/>
            </p:cNvGrpSpPr>
            <p:nvPr/>
          </p:nvGrpSpPr>
          <p:grpSpPr bwMode="auto">
            <a:xfrm>
              <a:off x="7280275" y="5001344"/>
              <a:ext cx="609600" cy="304800"/>
              <a:chOff x="576" y="2016"/>
              <a:chExt cx="384" cy="192"/>
            </a:xfrm>
          </p:grpSpPr>
          <p:sp>
            <p:nvSpPr>
              <p:cNvPr id="76882" name="Freeform 175"/>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83" name="Text Box 176"/>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48" name="Group 177"/>
            <p:cNvGrpSpPr>
              <a:grpSpLocks/>
            </p:cNvGrpSpPr>
            <p:nvPr/>
          </p:nvGrpSpPr>
          <p:grpSpPr bwMode="auto">
            <a:xfrm>
              <a:off x="7889875" y="5001344"/>
              <a:ext cx="609600" cy="304800"/>
              <a:chOff x="576" y="2016"/>
              <a:chExt cx="384" cy="192"/>
            </a:xfrm>
          </p:grpSpPr>
          <p:sp>
            <p:nvSpPr>
              <p:cNvPr id="76880" name="Freeform 178"/>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81" name="Text Box 179"/>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49" name="Group 180"/>
            <p:cNvGrpSpPr>
              <a:grpSpLocks/>
            </p:cNvGrpSpPr>
            <p:nvPr/>
          </p:nvGrpSpPr>
          <p:grpSpPr bwMode="auto">
            <a:xfrm>
              <a:off x="3622675" y="5001344"/>
              <a:ext cx="609600" cy="304800"/>
              <a:chOff x="576" y="2016"/>
              <a:chExt cx="384" cy="192"/>
            </a:xfrm>
          </p:grpSpPr>
          <p:sp>
            <p:nvSpPr>
              <p:cNvPr id="76878" name="Freeform 181"/>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79" name="Text Box 182"/>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1</a:t>
                </a:r>
              </a:p>
            </p:txBody>
          </p:sp>
        </p:grpSp>
        <p:grpSp>
          <p:nvGrpSpPr>
            <p:cNvPr id="76850" name="Group 183"/>
            <p:cNvGrpSpPr>
              <a:grpSpLocks/>
            </p:cNvGrpSpPr>
            <p:nvPr/>
          </p:nvGrpSpPr>
          <p:grpSpPr bwMode="auto">
            <a:xfrm>
              <a:off x="4848225" y="5001344"/>
              <a:ext cx="609600" cy="304800"/>
              <a:chOff x="1728" y="2016"/>
              <a:chExt cx="384" cy="192"/>
            </a:xfrm>
          </p:grpSpPr>
          <p:sp>
            <p:nvSpPr>
              <p:cNvPr id="76876" name="Freeform 184"/>
              <p:cNvSpPr>
                <a:spLocks/>
              </p:cNvSpPr>
              <p:nvPr/>
            </p:nvSpPr>
            <p:spPr bwMode="blackWhite">
              <a:xfrm>
                <a:off x="1728"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77" name="Text Box 185"/>
              <p:cNvSpPr txBox="1">
                <a:spLocks noChangeArrowheads="1"/>
              </p:cNvSpPr>
              <p:nvPr/>
            </p:nvSpPr>
            <p:spPr bwMode="blackWhite">
              <a:xfrm>
                <a:off x="1728" y="2016"/>
                <a:ext cx="384" cy="192"/>
              </a:xfrm>
              <a:prstGeom prst="rect">
                <a:avLst/>
              </a:prstGeom>
              <a:noFill/>
              <a:ln w="19050">
                <a:noFill/>
                <a:miter lim="800000"/>
                <a:headEnd/>
                <a:tailEnd/>
              </a:ln>
            </p:spPr>
            <p:txBody>
              <a:bodyPr lIns="0" tIns="0" rIns="0" bIns="0">
                <a:spAutoFit/>
              </a:bodyPr>
              <a:lstStyle/>
              <a:p>
                <a:r>
                  <a:rPr lang="es-ES">
                    <a:latin typeface="Arial Narrow" pitchFamily="34" charset="0"/>
                  </a:rPr>
                  <a:t>1</a:t>
                </a:r>
                <a:endParaRPr lang="es-ES" b="1">
                  <a:latin typeface="Arial Narrow" pitchFamily="34" charset="0"/>
                </a:endParaRPr>
              </a:p>
            </p:txBody>
          </p:sp>
        </p:grpSp>
        <p:grpSp>
          <p:nvGrpSpPr>
            <p:cNvPr id="76851" name="Group 188"/>
            <p:cNvGrpSpPr>
              <a:grpSpLocks/>
            </p:cNvGrpSpPr>
            <p:nvPr/>
          </p:nvGrpSpPr>
          <p:grpSpPr bwMode="auto">
            <a:xfrm>
              <a:off x="8499475" y="4544144"/>
              <a:ext cx="609600" cy="304800"/>
              <a:chOff x="576" y="2016"/>
              <a:chExt cx="384" cy="192"/>
            </a:xfrm>
          </p:grpSpPr>
          <p:sp>
            <p:nvSpPr>
              <p:cNvPr id="76874" name="Freeform 189"/>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75" name="Text Box 190"/>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grpSp>
          <p:nvGrpSpPr>
            <p:cNvPr id="76852" name="Group 191"/>
            <p:cNvGrpSpPr>
              <a:grpSpLocks/>
            </p:cNvGrpSpPr>
            <p:nvPr/>
          </p:nvGrpSpPr>
          <p:grpSpPr bwMode="auto">
            <a:xfrm>
              <a:off x="8499475" y="5001344"/>
              <a:ext cx="609600" cy="304800"/>
              <a:chOff x="576" y="2016"/>
              <a:chExt cx="384" cy="192"/>
            </a:xfrm>
          </p:grpSpPr>
          <p:sp>
            <p:nvSpPr>
              <p:cNvPr id="76872" name="Freeform 192"/>
              <p:cNvSpPr>
                <a:spLocks/>
              </p:cNvSpPr>
              <p:nvPr/>
            </p:nvSpPr>
            <p:spPr bwMode="blackWhite">
              <a:xfrm>
                <a:off x="576" y="2016"/>
                <a:ext cx="384" cy="181"/>
              </a:xfrm>
              <a:custGeom>
                <a:avLst/>
                <a:gdLst>
                  <a:gd name="T0" fmla="*/ 0 w 453"/>
                  <a:gd name="T1" fmla="*/ 90 h 181"/>
                  <a:gd name="T2" fmla="*/ 29 w 453"/>
                  <a:gd name="T3" fmla="*/ 0 h 181"/>
                  <a:gd name="T4" fmla="*/ 114 w 453"/>
                  <a:gd name="T5" fmla="*/ 0 h 181"/>
                  <a:gd name="T6" fmla="*/ 142 w 453"/>
                  <a:gd name="T7" fmla="*/ 90 h 181"/>
                  <a:gd name="T8" fmla="*/ 114 w 453"/>
                  <a:gd name="T9" fmla="*/ 181 h 181"/>
                  <a:gd name="T10" fmla="*/ 29 w 453"/>
                  <a:gd name="T11" fmla="*/ 181 h 181"/>
                  <a:gd name="T12" fmla="*/ 0 w 453"/>
                  <a:gd name="T13" fmla="*/ 90 h 181"/>
                  <a:gd name="T14" fmla="*/ 0 60000 65536"/>
                  <a:gd name="T15" fmla="*/ 0 60000 65536"/>
                  <a:gd name="T16" fmla="*/ 0 60000 65536"/>
                  <a:gd name="T17" fmla="*/ 0 60000 65536"/>
                  <a:gd name="T18" fmla="*/ 0 60000 65536"/>
                  <a:gd name="T19" fmla="*/ 0 60000 65536"/>
                  <a:gd name="T20" fmla="*/ 0 60000 65536"/>
                  <a:gd name="T21" fmla="*/ 0 w 453"/>
                  <a:gd name="T22" fmla="*/ 0 h 181"/>
                  <a:gd name="T23" fmla="*/ 453 w 453"/>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3" h="181">
                    <a:moveTo>
                      <a:pt x="0" y="90"/>
                    </a:moveTo>
                    <a:lnTo>
                      <a:pt x="91" y="0"/>
                    </a:lnTo>
                    <a:lnTo>
                      <a:pt x="363" y="0"/>
                    </a:lnTo>
                    <a:lnTo>
                      <a:pt x="453" y="90"/>
                    </a:lnTo>
                    <a:lnTo>
                      <a:pt x="363" y="181"/>
                    </a:lnTo>
                    <a:lnTo>
                      <a:pt x="91" y="181"/>
                    </a:lnTo>
                    <a:lnTo>
                      <a:pt x="0" y="90"/>
                    </a:lnTo>
                    <a:close/>
                  </a:path>
                </a:pathLst>
              </a:custGeom>
              <a:solidFill>
                <a:srgbClr val="0066FF"/>
              </a:solidFill>
              <a:ln w="9525">
                <a:solidFill>
                  <a:schemeClr val="tx1"/>
                </a:solidFill>
                <a:round/>
                <a:headEnd/>
                <a:tailEnd/>
              </a:ln>
            </p:spPr>
            <p:txBody>
              <a:bodyPr lIns="0" tIns="0" rIns="0" bIns="0" anchor="ctr"/>
              <a:lstStyle/>
              <a:p>
                <a:endParaRPr lang="es-ES"/>
              </a:p>
            </p:txBody>
          </p:sp>
          <p:sp>
            <p:nvSpPr>
              <p:cNvPr id="76873" name="Text Box 193"/>
              <p:cNvSpPr txBox="1">
                <a:spLocks noChangeArrowheads="1"/>
              </p:cNvSpPr>
              <p:nvPr/>
            </p:nvSpPr>
            <p:spPr bwMode="blackWhite">
              <a:xfrm>
                <a:off x="576" y="2016"/>
                <a:ext cx="384" cy="192"/>
              </a:xfrm>
              <a:prstGeom prst="rect">
                <a:avLst/>
              </a:prstGeom>
              <a:noFill/>
              <a:ln w="19050">
                <a:noFill/>
                <a:miter lim="800000"/>
                <a:headEnd/>
                <a:tailEnd/>
              </a:ln>
            </p:spPr>
            <p:txBody>
              <a:bodyPr lIns="0" tIns="0" rIns="0" bIns="0">
                <a:spAutoFit/>
              </a:bodyPr>
              <a:lstStyle/>
              <a:p>
                <a:endParaRPr lang="es-ES">
                  <a:latin typeface="Arial Narrow" pitchFamily="34" charset="0"/>
                </a:endParaRPr>
              </a:p>
            </p:txBody>
          </p:sp>
        </p:grpSp>
        <p:sp>
          <p:nvSpPr>
            <p:cNvPr id="76867" name="AutoShape 196"/>
            <p:cNvSpPr>
              <a:spLocks/>
            </p:cNvSpPr>
            <p:nvPr/>
          </p:nvSpPr>
          <p:spPr bwMode="auto">
            <a:xfrm rot="5400000" flipV="1">
              <a:off x="2056607" y="2578025"/>
              <a:ext cx="228600" cy="1722437"/>
            </a:xfrm>
            <a:prstGeom prst="leftBrace">
              <a:avLst>
                <a:gd name="adj1" fmla="val 62789"/>
                <a:gd name="adj2" fmla="val 50000"/>
              </a:avLst>
            </a:prstGeom>
            <a:noFill/>
            <a:ln w="9525">
              <a:solidFill>
                <a:schemeClr val="tx1"/>
              </a:solidFill>
              <a:round/>
              <a:headEnd/>
              <a:tailEnd/>
            </a:ln>
          </p:spPr>
          <p:txBody>
            <a:bodyPr wrap="none" lIns="0" tIns="0" rIns="0" bIns="0" anchor="ctr"/>
            <a:lstStyle/>
            <a:p>
              <a:endParaRPr lang="es-ES"/>
            </a:p>
          </p:txBody>
        </p:sp>
        <p:sp>
          <p:nvSpPr>
            <p:cNvPr id="76868" name="Text Box 198"/>
            <p:cNvSpPr txBox="1">
              <a:spLocks noChangeArrowheads="1"/>
            </p:cNvSpPr>
            <p:nvPr/>
          </p:nvSpPr>
          <p:spPr bwMode="auto">
            <a:xfrm>
              <a:off x="1044575" y="3023374"/>
              <a:ext cx="2232025" cy="246221"/>
            </a:xfrm>
            <a:prstGeom prst="rect">
              <a:avLst/>
            </a:prstGeom>
            <a:noFill/>
            <a:ln w="19050">
              <a:noFill/>
              <a:miter lim="800000"/>
              <a:headEnd/>
              <a:tailEnd/>
            </a:ln>
          </p:spPr>
          <p:txBody>
            <a:bodyPr lIns="0" tIns="0" rIns="0" bIns="0" anchor="ctr">
              <a:spAutoFit/>
            </a:bodyPr>
            <a:lstStyle/>
            <a:p>
              <a:r>
                <a:rPr lang="es-ES_tradnl" sz="1600" dirty="0"/>
                <a:t>órdenes al banco 0</a:t>
              </a:r>
            </a:p>
          </p:txBody>
        </p:sp>
        <p:sp>
          <p:nvSpPr>
            <p:cNvPr id="76869" name="Text Box 199"/>
            <p:cNvSpPr txBox="1">
              <a:spLocks noChangeArrowheads="1"/>
            </p:cNvSpPr>
            <p:nvPr/>
          </p:nvSpPr>
          <p:spPr bwMode="auto">
            <a:xfrm>
              <a:off x="3492500" y="3023374"/>
              <a:ext cx="2232025" cy="246221"/>
            </a:xfrm>
            <a:prstGeom prst="rect">
              <a:avLst/>
            </a:prstGeom>
            <a:noFill/>
            <a:ln w="19050">
              <a:noFill/>
              <a:miter lim="800000"/>
              <a:headEnd/>
              <a:tailEnd/>
            </a:ln>
          </p:spPr>
          <p:txBody>
            <a:bodyPr lIns="0" tIns="0" rIns="0" bIns="0" anchor="ctr">
              <a:spAutoFit/>
            </a:bodyPr>
            <a:lstStyle/>
            <a:p>
              <a:r>
                <a:rPr lang="es-ES_tradnl" sz="1600" dirty="0"/>
                <a:t>órdenes al banco 1</a:t>
              </a:r>
            </a:p>
          </p:txBody>
        </p:sp>
        <p:sp>
          <p:nvSpPr>
            <p:cNvPr id="76870" name="AutoShape 203"/>
            <p:cNvSpPr>
              <a:spLocks/>
            </p:cNvSpPr>
            <p:nvPr/>
          </p:nvSpPr>
          <p:spPr bwMode="auto">
            <a:xfrm rot="5400000" flipV="1">
              <a:off x="4495007" y="2578025"/>
              <a:ext cx="228600" cy="1722437"/>
            </a:xfrm>
            <a:prstGeom prst="leftBrace">
              <a:avLst>
                <a:gd name="adj1" fmla="val 62789"/>
                <a:gd name="adj2" fmla="val 50000"/>
              </a:avLst>
            </a:prstGeom>
            <a:noFill/>
            <a:ln w="9525">
              <a:solidFill>
                <a:schemeClr val="tx1"/>
              </a:solidFill>
              <a:round/>
              <a:headEnd/>
              <a:tailEnd/>
            </a:ln>
          </p:spPr>
          <p:txBody>
            <a:bodyPr wrap="none" lIns="0" tIns="0" rIns="0" bIns="0" anchor="ctr"/>
            <a:lstStyle/>
            <a:p>
              <a:endParaRPr lang="es-ES"/>
            </a:p>
          </p:txBody>
        </p:sp>
      </p:grpSp>
      <p:sp>
        <p:nvSpPr>
          <p:cNvPr id="33" name="2 Marcador de número de diapositiva">
            <a:extLst>
              <a:ext uri="{FF2B5EF4-FFF2-40B4-BE49-F238E27FC236}">
                <a16:creationId xmlns:a16="http://schemas.microsoft.com/office/drawing/2014/main" id="{ED7A792A-FDE1-CAE9-0868-D3973098100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105</a:t>
            </a:fld>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GB" dirty="0" err="1"/>
              <a:t>Nomenclatura</a:t>
            </a:r>
            <a:r>
              <a:rPr lang="en-GB" dirty="0"/>
              <a:t> </a:t>
            </a:r>
            <a:r>
              <a:rPr lang="en-GB" dirty="0" err="1"/>
              <a:t>estándar</a:t>
            </a:r>
            <a:r>
              <a:rPr lang="en-GB" dirty="0"/>
              <a:t> SDRAM</a:t>
            </a:r>
            <a:endParaRPr lang="en-US" dirty="0"/>
          </a:p>
        </p:txBody>
      </p:sp>
      <p:sp>
        <p:nvSpPr>
          <p:cNvPr id="3" name="2 Marcador de contenido"/>
          <p:cNvSpPr>
            <a:spLocks noGrp="1"/>
          </p:cNvSpPr>
          <p:nvPr>
            <p:ph idx="1"/>
          </p:nvPr>
        </p:nvSpPr>
        <p:spPr>
          <a:xfrm>
            <a:off x="684213" y="1125538"/>
            <a:ext cx="8250237" cy="2159446"/>
          </a:xfrm>
        </p:spPr>
        <p:txBody>
          <a:bodyPr/>
          <a:lstStyle/>
          <a:p>
            <a:pPr marL="403225" lvl="1" indent="0">
              <a:buNone/>
            </a:pPr>
            <a:endParaRPr lang="en-GB" dirty="0"/>
          </a:p>
          <a:p>
            <a:r>
              <a:rPr lang="en-GB" dirty="0" err="1"/>
              <a:t>Ejemplos</a:t>
            </a:r>
            <a:r>
              <a:rPr lang="en-GB" dirty="0"/>
              <a:t>:</a:t>
            </a:r>
          </a:p>
          <a:p>
            <a:pPr lvl="2"/>
            <a:r>
              <a:rPr lang="en-GB" sz="2000" dirty="0"/>
              <a:t>Micron's MT46V32M8-5B  es  </a:t>
            </a:r>
            <a:r>
              <a:rPr lang="en-GB" sz="2000" dirty="0">
                <a:solidFill>
                  <a:schemeClr val="tx2"/>
                </a:solidFill>
              </a:rPr>
              <a:t>32M×8b DDR-400  PC-400</a:t>
            </a:r>
          </a:p>
          <a:p>
            <a:pPr lvl="3"/>
            <a:r>
              <a:rPr lang="en-GB" dirty="0" err="1"/>
              <a:t>Prebúsqueda</a:t>
            </a:r>
            <a:r>
              <a:rPr lang="en-GB" dirty="0"/>
              <a:t> de 2 palabras</a:t>
            </a:r>
          </a:p>
          <a:p>
            <a:pPr lvl="3"/>
            <a:r>
              <a:rPr lang="en-GB" dirty="0"/>
              <a:t>A 200 MHz de </a:t>
            </a:r>
            <a:r>
              <a:rPr lang="en-GB" dirty="0" err="1"/>
              <a:t>frecuencia</a:t>
            </a:r>
            <a:r>
              <a:rPr lang="en-GB" dirty="0"/>
              <a:t> </a:t>
            </a:r>
            <a:r>
              <a:rPr lang="en-GB" dirty="0" err="1"/>
              <a:t>interna</a:t>
            </a:r>
            <a:r>
              <a:rPr lang="en-GB" dirty="0"/>
              <a:t> de </a:t>
            </a:r>
            <a:r>
              <a:rPr lang="en-GB" dirty="0" err="1"/>
              <a:t>reloj</a:t>
            </a:r>
            <a:r>
              <a:rPr lang="en-GB" dirty="0"/>
              <a:t> </a:t>
            </a:r>
            <a:r>
              <a:rPr lang="en-GB" dirty="0" err="1"/>
              <a:t>puede</a:t>
            </a:r>
            <a:r>
              <a:rPr lang="en-GB" dirty="0"/>
              <a:t> </a:t>
            </a:r>
            <a:r>
              <a:rPr lang="en-GB" dirty="0" err="1"/>
              <a:t>alcanzar</a:t>
            </a:r>
            <a:r>
              <a:rPr lang="en-GB" dirty="0"/>
              <a:t> 2x200= 400 </a:t>
            </a:r>
            <a:r>
              <a:rPr lang="en-GB" dirty="0" err="1"/>
              <a:t>MTps</a:t>
            </a:r>
            <a:endParaRPr lang="en-GB" dirty="0"/>
          </a:p>
          <a:p>
            <a:pPr lvl="3"/>
            <a:r>
              <a:rPr lang="en-GB" dirty="0"/>
              <a:t>Ancho de </a:t>
            </a:r>
            <a:r>
              <a:rPr lang="en-GB" dirty="0" err="1"/>
              <a:t>banda</a:t>
            </a:r>
            <a:r>
              <a:rPr lang="en-GB" dirty="0"/>
              <a:t> para 8 bits: 400 MT/s × 1 B/palabra = 400 </a:t>
            </a:r>
            <a:r>
              <a:rPr lang="en-GB" dirty="0" err="1"/>
              <a:t>MBps</a:t>
            </a:r>
            <a:endParaRPr lang="en-GB" dirty="0"/>
          </a:p>
          <a:p>
            <a:pPr lvl="2"/>
            <a:endParaRPr lang="en-GB" sz="2000" dirty="0"/>
          </a:p>
          <a:p>
            <a:pPr marL="82550" indent="0">
              <a:buNone/>
            </a:pPr>
            <a:endParaRPr lang="en-US" sz="3200" dirty="0"/>
          </a:p>
        </p:txBody>
      </p:sp>
      <p:sp>
        <p:nvSpPr>
          <p:cNvPr id="4" name="3 Marcador de número de diapositiva"/>
          <p:cNvSpPr>
            <a:spLocks noGrp="1"/>
          </p:cNvSpPr>
          <p:nvPr>
            <p:ph type="sldNum" sz="quarter" idx="12"/>
          </p:nvPr>
        </p:nvSpPr>
        <p:spPr/>
        <p:txBody>
          <a:bodyPr/>
          <a:lstStyle/>
          <a:p>
            <a:pPr>
              <a:defRPr/>
            </a:pPr>
            <a:fld id="{50B7A251-C820-4EFF-8270-C7613E20881F}" type="slidenum">
              <a:rPr lang="en-US" smtClean="0"/>
              <a:pPr>
                <a:defRPr/>
              </a:pPr>
              <a:t>106</a:t>
            </a:fld>
            <a:endParaRPr lang="en-US" dirty="0"/>
          </a:p>
        </p:txBody>
      </p:sp>
      <p:sp>
        <p:nvSpPr>
          <p:cNvPr id="5" name="Rectángulo 4">
            <a:extLst>
              <a:ext uri="{FF2B5EF4-FFF2-40B4-BE49-F238E27FC236}">
                <a16:creationId xmlns:a16="http://schemas.microsoft.com/office/drawing/2014/main" id="{8F003778-7D8A-4405-9DC0-5DBAE5E95EC0}"/>
              </a:ext>
            </a:extLst>
          </p:cNvPr>
          <p:cNvSpPr/>
          <p:nvPr/>
        </p:nvSpPr>
        <p:spPr>
          <a:xfrm>
            <a:off x="2555776" y="1125538"/>
            <a:ext cx="3442481" cy="400110"/>
          </a:xfrm>
          <a:prstGeom prst="rect">
            <a:avLst/>
          </a:prstGeom>
        </p:spPr>
        <p:txBody>
          <a:bodyPr wrap="none">
            <a:spAutoFit/>
          </a:bodyPr>
          <a:lstStyle/>
          <a:p>
            <a:r>
              <a:rPr lang="en-GB" b="1" dirty="0"/>
              <a:t> DDR</a:t>
            </a:r>
            <a:r>
              <a:rPr lang="en-GB" b="1" dirty="0">
                <a:solidFill>
                  <a:schemeClr val="tx2"/>
                </a:solidFill>
              </a:rPr>
              <a:t>X-  Y      </a:t>
            </a:r>
            <a:r>
              <a:rPr lang="en-GB" b="1" dirty="0"/>
              <a:t>PC</a:t>
            </a:r>
            <a:r>
              <a:rPr lang="en-GB" b="1" dirty="0">
                <a:solidFill>
                  <a:schemeClr val="tx2"/>
                </a:solidFill>
              </a:rPr>
              <a:t>X- </a:t>
            </a:r>
            <a:r>
              <a:rPr lang="en-GB" b="1" dirty="0" err="1">
                <a:solidFill>
                  <a:schemeClr val="tx2"/>
                </a:solidFill>
              </a:rPr>
              <a:t>ABanda</a:t>
            </a:r>
            <a:endParaRPr lang="es-ES" dirty="0"/>
          </a:p>
        </p:txBody>
      </p:sp>
      <p:sp>
        <p:nvSpPr>
          <p:cNvPr id="6" name="Rectángulo 5">
            <a:extLst>
              <a:ext uri="{FF2B5EF4-FFF2-40B4-BE49-F238E27FC236}">
                <a16:creationId xmlns:a16="http://schemas.microsoft.com/office/drawing/2014/main" id="{6D8E72FA-CA7F-4698-A8F0-1F5B00CA2C10}"/>
              </a:ext>
            </a:extLst>
          </p:cNvPr>
          <p:cNvSpPr/>
          <p:nvPr/>
        </p:nvSpPr>
        <p:spPr bwMode="auto">
          <a:xfrm>
            <a:off x="2339752" y="1125538"/>
            <a:ext cx="4112860" cy="360040"/>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A37367DC-9351-41EE-B5C2-1401D1C94662}"/>
              </a:ext>
            </a:extLst>
          </p:cNvPr>
          <p:cNvSpPr/>
          <p:nvPr/>
        </p:nvSpPr>
        <p:spPr>
          <a:xfrm>
            <a:off x="6803564" y="1125538"/>
            <a:ext cx="1656223" cy="400110"/>
          </a:xfrm>
          <a:prstGeom prst="rect">
            <a:avLst/>
          </a:prstGeom>
        </p:spPr>
        <p:txBody>
          <a:bodyPr wrap="none">
            <a:spAutoFit/>
          </a:bodyPr>
          <a:lstStyle/>
          <a:p>
            <a:r>
              <a:rPr lang="en-GB" b="1" dirty="0">
                <a:solidFill>
                  <a:schemeClr val="tx2"/>
                </a:solidFill>
              </a:rPr>
              <a:t>Y</a:t>
            </a:r>
            <a:r>
              <a:rPr lang="en-GB" dirty="0">
                <a:solidFill>
                  <a:schemeClr val="tx2"/>
                </a:solidFill>
              </a:rPr>
              <a:t> </a:t>
            </a:r>
            <a:r>
              <a:rPr lang="en-GB" dirty="0"/>
              <a:t>= </a:t>
            </a:r>
            <a:r>
              <a:rPr lang="en-GB" dirty="0">
                <a:solidFill>
                  <a:schemeClr val="tx2"/>
                </a:solidFill>
              </a:rPr>
              <a:t>2F</a:t>
            </a:r>
            <a:r>
              <a:rPr lang="en-GB" dirty="0"/>
              <a:t> MT/s </a:t>
            </a:r>
            <a:endParaRPr lang="es-ES" dirty="0"/>
          </a:p>
        </p:txBody>
      </p:sp>
      <p:sp>
        <p:nvSpPr>
          <p:cNvPr id="8" name="2 Marcador de contenido">
            <a:extLst>
              <a:ext uri="{FF2B5EF4-FFF2-40B4-BE49-F238E27FC236}">
                <a16:creationId xmlns:a16="http://schemas.microsoft.com/office/drawing/2014/main" id="{152F47EF-1644-4937-8D4D-71E953605EE4}"/>
              </a:ext>
            </a:extLst>
          </p:cNvPr>
          <p:cNvSpPr txBox="1">
            <a:spLocks/>
          </p:cNvSpPr>
          <p:nvPr/>
        </p:nvSpPr>
        <p:spPr>
          <a:xfrm>
            <a:off x="151897" y="3439842"/>
            <a:ext cx="8250237" cy="2159446"/>
          </a:xfrm>
          <a:prstGeom prst="rect">
            <a:avLst/>
          </a:prstGeom>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marL="403225" lvl="1" indent="0">
              <a:buFont typeface="Wingdings" pitchFamily="2" charset="2"/>
              <a:buNone/>
            </a:pPr>
            <a:endParaRPr lang="en-GB" dirty="0"/>
          </a:p>
          <a:p>
            <a:pPr lvl="2"/>
            <a:r>
              <a:rPr lang="en-GB" sz="2000" dirty="0"/>
              <a:t>Micron's MT41K64M16-125  es </a:t>
            </a:r>
            <a:r>
              <a:rPr lang="en-GB" sz="2000" dirty="0">
                <a:solidFill>
                  <a:schemeClr val="tx2"/>
                </a:solidFill>
              </a:rPr>
              <a:t>64M×16b DDR3-1600  PC3-3200</a:t>
            </a:r>
          </a:p>
          <a:p>
            <a:pPr lvl="3"/>
            <a:r>
              <a:rPr lang="en-GB" dirty="0" err="1"/>
              <a:t>Prebúsqueda</a:t>
            </a:r>
            <a:r>
              <a:rPr lang="en-GB" dirty="0"/>
              <a:t> de 8 palabras</a:t>
            </a:r>
          </a:p>
          <a:p>
            <a:pPr lvl="3"/>
            <a:r>
              <a:rPr lang="en-GB" dirty="0"/>
              <a:t>A 200 MHz de </a:t>
            </a:r>
            <a:r>
              <a:rPr lang="en-GB" dirty="0" err="1"/>
              <a:t>frecuencia</a:t>
            </a:r>
            <a:r>
              <a:rPr lang="en-GB" dirty="0"/>
              <a:t> </a:t>
            </a:r>
            <a:r>
              <a:rPr lang="en-GB" dirty="0" err="1"/>
              <a:t>interna</a:t>
            </a:r>
            <a:r>
              <a:rPr lang="en-GB" dirty="0"/>
              <a:t> de </a:t>
            </a:r>
            <a:r>
              <a:rPr lang="en-GB" dirty="0" err="1"/>
              <a:t>reloj</a:t>
            </a:r>
            <a:r>
              <a:rPr lang="en-GB" dirty="0"/>
              <a:t> </a:t>
            </a:r>
            <a:r>
              <a:rPr lang="en-GB" dirty="0" err="1"/>
              <a:t>puede</a:t>
            </a:r>
            <a:r>
              <a:rPr lang="en-GB" dirty="0"/>
              <a:t> </a:t>
            </a:r>
            <a:r>
              <a:rPr lang="en-GB" dirty="0" err="1"/>
              <a:t>alcanzar</a:t>
            </a:r>
            <a:r>
              <a:rPr lang="en-GB" dirty="0"/>
              <a:t> 8x200 =1600 </a:t>
            </a:r>
            <a:r>
              <a:rPr lang="en-GB" dirty="0" err="1"/>
              <a:t>MTps</a:t>
            </a:r>
            <a:r>
              <a:rPr lang="en-GB" dirty="0"/>
              <a:t> (la </a:t>
            </a:r>
            <a:r>
              <a:rPr lang="en-GB" dirty="0" err="1"/>
              <a:t>frecuencia</a:t>
            </a:r>
            <a:r>
              <a:rPr lang="en-GB" dirty="0"/>
              <a:t> externa </a:t>
            </a:r>
            <a:r>
              <a:rPr lang="en-GB" dirty="0" err="1"/>
              <a:t>sería</a:t>
            </a:r>
            <a:r>
              <a:rPr lang="en-GB" dirty="0"/>
              <a:t> 800 MHz) </a:t>
            </a:r>
          </a:p>
          <a:p>
            <a:pPr lvl="3"/>
            <a:r>
              <a:rPr lang="en-GB" dirty="0"/>
              <a:t>Ancho de </a:t>
            </a:r>
            <a:r>
              <a:rPr lang="en-GB" dirty="0" err="1"/>
              <a:t>banda</a:t>
            </a:r>
            <a:r>
              <a:rPr lang="en-GB" dirty="0"/>
              <a:t> = 1600 MT/s × 2 B/palabra = 3200 </a:t>
            </a:r>
            <a:r>
              <a:rPr lang="en-GB" dirty="0" err="1"/>
              <a:t>MBps</a:t>
            </a:r>
            <a:endParaRPr lang="en-GB" dirty="0"/>
          </a:p>
          <a:p>
            <a:pPr marL="82550" indent="0">
              <a:buFont typeface="Wingdings 2" pitchFamily="18" charset="2"/>
              <a:buNone/>
            </a:pPr>
            <a:endParaRPr lang="en-US" sz="3200" dirty="0"/>
          </a:p>
        </p:txBody>
      </p:sp>
    </p:spTree>
    <p:extLst>
      <p:ext uri="{BB962C8B-B14F-4D97-AF65-F5344CB8AC3E}">
        <p14:creationId xmlns:p14="http://schemas.microsoft.com/office/powerpoint/2010/main" val="373299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err="1"/>
              <a:t>Nomenclatura</a:t>
            </a:r>
            <a:r>
              <a:rPr lang="en-GB" dirty="0"/>
              <a:t> </a:t>
            </a:r>
            <a:r>
              <a:rPr lang="en-GB" dirty="0" err="1"/>
              <a:t>estándar</a:t>
            </a:r>
            <a:r>
              <a:rPr lang="en-GB" dirty="0"/>
              <a:t> SDRAM</a:t>
            </a:r>
          </a:p>
        </p:txBody>
      </p:sp>
      <p:sp>
        <p:nvSpPr>
          <p:cNvPr id="3" name="Marcador de contenido 2"/>
          <p:cNvSpPr>
            <a:spLocks noGrp="1"/>
          </p:cNvSpPr>
          <p:nvPr>
            <p:ph idx="1"/>
          </p:nvPr>
        </p:nvSpPr>
        <p:spPr>
          <a:xfrm>
            <a:off x="457199" y="1600201"/>
            <a:ext cx="8480139" cy="556498"/>
          </a:xfrm>
        </p:spPr>
        <p:txBody>
          <a:bodyPr>
            <a:normAutofit/>
          </a:bodyPr>
          <a:lstStyle/>
          <a:p>
            <a:r>
              <a:rPr lang="en-GB" dirty="0" err="1"/>
              <a:t>Ejemplos</a:t>
            </a:r>
            <a:r>
              <a:rPr lang="en-GB" dirty="0"/>
              <a:t> de chips </a:t>
            </a:r>
          </a:p>
          <a:p>
            <a:pPr marL="0" indent="0">
              <a:buNone/>
            </a:pPr>
            <a:endParaRPr lang="en-GB" dirty="0"/>
          </a:p>
        </p:txBody>
      </p:sp>
      <p:sp>
        <p:nvSpPr>
          <p:cNvPr id="5" name="Marcador de número de diapositiva 4"/>
          <p:cNvSpPr>
            <a:spLocks noGrp="1"/>
          </p:cNvSpPr>
          <p:nvPr>
            <p:ph type="sldNum" sz="quarter" idx="12"/>
          </p:nvPr>
        </p:nvSpPr>
        <p:spPr/>
        <p:txBody>
          <a:bodyPr/>
          <a:lstStyle/>
          <a:p>
            <a:fld id="{0CFEC368-1D7A-4F81-ABF6-AE0E36BAF64C}" type="slidenum">
              <a:rPr lang="en-US" smtClean="0"/>
              <a:pPr/>
              <a:t>107</a:t>
            </a:fld>
            <a:endParaRPr lang="en-US"/>
          </a:p>
        </p:txBody>
      </p:sp>
      <p:sp>
        <p:nvSpPr>
          <p:cNvPr id="6" name="CuadroTexto 5"/>
          <p:cNvSpPr txBox="1"/>
          <p:nvPr/>
        </p:nvSpPr>
        <p:spPr>
          <a:xfrm>
            <a:off x="70002" y="38285"/>
            <a:ext cx="1937550" cy="276999"/>
          </a:xfrm>
          <a:prstGeom prst="rect">
            <a:avLst/>
          </a:prstGeom>
          <a:noFill/>
        </p:spPr>
        <p:txBody>
          <a:bodyPr wrap="none" rtlCol="0">
            <a:spAutoFit/>
          </a:bodyPr>
          <a:lstStyle/>
          <a:p>
            <a:r>
              <a:rPr lang="en-GB" sz="1200" dirty="0">
                <a:solidFill>
                  <a:srgbClr val="FFFFFF"/>
                </a:solidFill>
              </a:rPr>
              <a:t>4: Dynamic RAM memory</a:t>
            </a:r>
          </a:p>
        </p:txBody>
      </p:sp>
      <p:graphicFrame>
        <p:nvGraphicFramePr>
          <p:cNvPr id="8" name="Tabla 7"/>
          <p:cNvGraphicFramePr>
            <a:graphicFrameLocks noGrp="1"/>
          </p:cNvGraphicFramePr>
          <p:nvPr>
            <p:extLst>
              <p:ext uri="{D42A27DB-BD31-4B8C-83A1-F6EECF244321}">
                <p14:modId xmlns:p14="http://schemas.microsoft.com/office/powerpoint/2010/main" val="1325392842"/>
              </p:ext>
            </p:extLst>
          </p:nvPr>
        </p:nvGraphicFramePr>
        <p:xfrm>
          <a:off x="1259632" y="2276872"/>
          <a:ext cx="6955487" cy="3042920"/>
        </p:xfrm>
        <a:graphic>
          <a:graphicData uri="http://schemas.openxmlformats.org/drawingml/2006/table">
            <a:tbl>
              <a:tblPr firstRow="1" bandRow="1">
                <a:tableStyleId>{5C22544A-7EE6-4342-B048-85BDC9FD1C3A}</a:tableStyleId>
              </a:tblPr>
              <a:tblGrid>
                <a:gridCol w="983203">
                  <a:extLst>
                    <a:ext uri="{9D8B030D-6E8A-4147-A177-3AD203B41FA5}">
                      <a16:colId xmlns:a16="http://schemas.microsoft.com/office/drawing/2014/main" val="20000"/>
                    </a:ext>
                  </a:extLst>
                </a:gridCol>
                <a:gridCol w="1021824">
                  <a:extLst>
                    <a:ext uri="{9D8B030D-6E8A-4147-A177-3AD203B41FA5}">
                      <a16:colId xmlns:a16="http://schemas.microsoft.com/office/drawing/2014/main" val="20001"/>
                    </a:ext>
                  </a:extLst>
                </a:gridCol>
                <a:gridCol w="1376556">
                  <a:extLst>
                    <a:ext uri="{9D8B030D-6E8A-4147-A177-3AD203B41FA5}">
                      <a16:colId xmlns:a16="http://schemas.microsoft.com/office/drawing/2014/main" val="20002"/>
                    </a:ext>
                  </a:extLst>
                </a:gridCol>
                <a:gridCol w="1276096">
                  <a:extLst>
                    <a:ext uri="{9D8B030D-6E8A-4147-A177-3AD203B41FA5}">
                      <a16:colId xmlns:a16="http://schemas.microsoft.com/office/drawing/2014/main" val="20003"/>
                    </a:ext>
                  </a:extLst>
                </a:gridCol>
                <a:gridCol w="1276096">
                  <a:extLst>
                    <a:ext uri="{9D8B030D-6E8A-4147-A177-3AD203B41FA5}">
                      <a16:colId xmlns:a16="http://schemas.microsoft.com/office/drawing/2014/main" val="20004"/>
                    </a:ext>
                  </a:extLst>
                </a:gridCol>
                <a:gridCol w="1021712">
                  <a:extLst>
                    <a:ext uri="{9D8B030D-6E8A-4147-A177-3AD203B41FA5}">
                      <a16:colId xmlns:a16="http://schemas.microsoft.com/office/drawing/2014/main" val="20005"/>
                    </a:ext>
                  </a:extLst>
                </a:gridCol>
              </a:tblGrid>
              <a:tr h="370840">
                <a:tc>
                  <a:txBody>
                    <a:bodyPr/>
                    <a:lstStyle/>
                    <a:p>
                      <a:pPr algn="ctr"/>
                      <a:r>
                        <a:rPr lang="en-GB" sz="1400" dirty="0" err="1"/>
                        <a:t>Nombre</a:t>
                      </a:r>
                      <a:endParaRPr lang="en-GB" sz="1400" dirty="0"/>
                    </a:p>
                  </a:txBody>
                  <a:tcPr/>
                </a:tc>
                <a:tc>
                  <a:txBody>
                    <a:bodyPr/>
                    <a:lstStyle/>
                    <a:p>
                      <a:pPr algn="ctr"/>
                      <a:r>
                        <a:rPr lang="en-GB" dirty="0" err="1"/>
                        <a:t>Frec</a:t>
                      </a:r>
                      <a:r>
                        <a:rPr lang="en-GB" dirty="0"/>
                        <a:t>.</a:t>
                      </a:r>
                    </a:p>
                    <a:p>
                      <a:pPr algn="ctr"/>
                      <a:r>
                        <a:rPr lang="en-GB" dirty="0" err="1"/>
                        <a:t>interna</a:t>
                      </a:r>
                      <a:endParaRPr lang="en-GB" dirty="0"/>
                    </a:p>
                    <a:p>
                      <a:pPr algn="ctr"/>
                      <a:r>
                        <a:rPr lang="en-GB" dirty="0"/>
                        <a:t>(MHz)</a:t>
                      </a:r>
                    </a:p>
                  </a:txBody>
                  <a:tcPr/>
                </a:tc>
                <a:tc>
                  <a:txBody>
                    <a:bodyPr/>
                    <a:lstStyle/>
                    <a:p>
                      <a:pPr algn="ctr"/>
                      <a:r>
                        <a:rPr lang="en-GB" dirty="0" err="1"/>
                        <a:t>Prebús-queda</a:t>
                      </a:r>
                      <a:endParaRPr lang="en-GB" dirty="0"/>
                    </a:p>
                    <a:p>
                      <a:pPr algn="ctr"/>
                      <a:r>
                        <a:rPr lang="en-GB" dirty="0"/>
                        <a:t>(</a:t>
                      </a:r>
                      <a:r>
                        <a:rPr lang="en-GB" dirty="0" err="1"/>
                        <a:t>ráfaga</a:t>
                      </a:r>
                      <a:r>
                        <a:rPr lang="en-GB" dirty="0"/>
                        <a:t>)</a:t>
                      </a:r>
                    </a:p>
                  </a:txBody>
                  <a:tcPr/>
                </a:tc>
                <a:tc>
                  <a:txBody>
                    <a:bodyPr/>
                    <a:lstStyle/>
                    <a:p>
                      <a:pPr algn="ctr"/>
                      <a:r>
                        <a:rPr lang="en-GB" dirty="0" err="1"/>
                        <a:t>Frec</a:t>
                      </a:r>
                      <a:r>
                        <a:rPr lang="en-GB" dirty="0"/>
                        <a:t>.</a:t>
                      </a:r>
                    </a:p>
                    <a:p>
                      <a:pPr algn="ctr"/>
                      <a:r>
                        <a:rPr lang="en-GB" dirty="0"/>
                        <a:t>externa</a:t>
                      </a:r>
                    </a:p>
                    <a:p>
                      <a:pPr algn="ctr"/>
                      <a:r>
                        <a:rPr lang="en-GB" dirty="0"/>
                        <a:t>(MHz)</a:t>
                      </a:r>
                    </a:p>
                  </a:txBody>
                  <a:tcPr/>
                </a:tc>
                <a:tc>
                  <a:txBody>
                    <a:bodyPr/>
                    <a:lstStyle/>
                    <a:p>
                      <a:pPr algn="ctr"/>
                      <a:r>
                        <a:rPr lang="en-GB" dirty="0" err="1"/>
                        <a:t>Tasa</a:t>
                      </a:r>
                      <a:endParaRPr lang="en-GB" dirty="0"/>
                    </a:p>
                    <a:p>
                      <a:pPr algn="ctr"/>
                      <a:r>
                        <a:rPr lang="en-GB" dirty="0" err="1"/>
                        <a:t>Transfe-rencia</a:t>
                      </a:r>
                      <a:endParaRPr lang="en-GB" dirty="0"/>
                    </a:p>
                    <a:p>
                      <a:pPr algn="ctr"/>
                      <a:r>
                        <a:rPr lang="en-GB" dirty="0"/>
                        <a:t>(MT/s)</a:t>
                      </a:r>
                    </a:p>
                  </a:txBody>
                  <a:tcPr/>
                </a:tc>
                <a:tc>
                  <a:txBody>
                    <a:bodyPr/>
                    <a:lstStyle/>
                    <a:p>
                      <a:pPr algn="ctr"/>
                      <a:r>
                        <a:rPr lang="en-GB" dirty="0" err="1"/>
                        <a:t>Voltaje</a:t>
                      </a:r>
                      <a:endParaRPr lang="en-GB" dirty="0"/>
                    </a:p>
                    <a:p>
                      <a:pPr algn="ctr"/>
                      <a:r>
                        <a:rPr lang="en-GB" dirty="0"/>
                        <a:t>(V)</a:t>
                      </a:r>
                    </a:p>
                  </a:txBody>
                  <a:tcPr/>
                </a:tc>
                <a:extLst>
                  <a:ext uri="{0D108BD9-81ED-4DB2-BD59-A6C34878D82A}">
                    <a16:rowId xmlns:a16="http://schemas.microsoft.com/office/drawing/2014/main" val="10000"/>
                  </a:ext>
                </a:extLst>
              </a:tr>
              <a:tr h="370840">
                <a:tc>
                  <a:txBody>
                    <a:bodyPr/>
                    <a:lstStyle/>
                    <a:p>
                      <a:r>
                        <a:rPr lang="en-GB" dirty="0"/>
                        <a:t>SDR</a:t>
                      </a:r>
                    </a:p>
                  </a:txBody>
                  <a:tcPr/>
                </a:tc>
                <a:tc>
                  <a:txBody>
                    <a:bodyPr/>
                    <a:lstStyle/>
                    <a:p>
                      <a:pPr algn="ctr"/>
                      <a:r>
                        <a:rPr lang="en-GB" dirty="0"/>
                        <a:t>66-133</a:t>
                      </a:r>
                    </a:p>
                  </a:txBody>
                  <a:tcPr/>
                </a:tc>
                <a:tc>
                  <a:txBody>
                    <a:bodyPr/>
                    <a:lstStyle/>
                    <a:p>
                      <a:pPr algn="ctr"/>
                      <a:r>
                        <a:rPr lang="en-GB" i="1" dirty="0"/>
                        <a:t>1n</a:t>
                      </a:r>
                    </a:p>
                  </a:txBody>
                  <a:tcPr/>
                </a:tc>
                <a:tc>
                  <a:txBody>
                    <a:bodyPr/>
                    <a:lstStyle/>
                    <a:p>
                      <a:pPr algn="ctr"/>
                      <a:r>
                        <a:rPr lang="en-GB" dirty="0"/>
                        <a:t>66-133</a:t>
                      </a:r>
                    </a:p>
                  </a:txBody>
                  <a:tcPr/>
                </a:tc>
                <a:tc>
                  <a:txBody>
                    <a:bodyPr/>
                    <a:lstStyle/>
                    <a:p>
                      <a:pPr algn="ctr"/>
                      <a:r>
                        <a:rPr lang="en-GB" dirty="0"/>
                        <a:t>66-133</a:t>
                      </a:r>
                    </a:p>
                  </a:txBody>
                  <a:tcPr/>
                </a:tc>
                <a:tc>
                  <a:txBody>
                    <a:bodyPr/>
                    <a:lstStyle/>
                    <a:p>
                      <a:pPr algn="ctr"/>
                      <a:r>
                        <a:rPr lang="en-GB" dirty="0"/>
                        <a:t>3.3</a:t>
                      </a:r>
                    </a:p>
                  </a:txBody>
                  <a:tcPr/>
                </a:tc>
                <a:extLst>
                  <a:ext uri="{0D108BD9-81ED-4DB2-BD59-A6C34878D82A}">
                    <a16:rowId xmlns:a16="http://schemas.microsoft.com/office/drawing/2014/main" val="10001"/>
                  </a:ext>
                </a:extLst>
              </a:tr>
              <a:tr h="370840">
                <a:tc>
                  <a:txBody>
                    <a:bodyPr/>
                    <a:lstStyle/>
                    <a:p>
                      <a:r>
                        <a:rPr lang="en-GB" dirty="0"/>
                        <a:t>DDR</a:t>
                      </a:r>
                    </a:p>
                  </a:txBody>
                  <a:tcPr/>
                </a:tc>
                <a:tc>
                  <a:txBody>
                    <a:bodyPr/>
                    <a:lstStyle/>
                    <a:p>
                      <a:pPr algn="ctr"/>
                      <a:r>
                        <a:rPr lang="en-GB" dirty="0"/>
                        <a:t>100-200</a:t>
                      </a:r>
                    </a:p>
                  </a:txBody>
                  <a:tcPr/>
                </a:tc>
                <a:tc>
                  <a:txBody>
                    <a:bodyPr/>
                    <a:lstStyle/>
                    <a:p>
                      <a:pPr algn="ctr"/>
                      <a:r>
                        <a:rPr lang="en-GB" dirty="0"/>
                        <a:t>2n</a:t>
                      </a:r>
                    </a:p>
                  </a:txBody>
                  <a:tcPr/>
                </a:tc>
                <a:tc>
                  <a:txBody>
                    <a:bodyPr/>
                    <a:lstStyle/>
                    <a:p>
                      <a:pPr algn="ctr"/>
                      <a:r>
                        <a:rPr lang="en-GB" dirty="0"/>
                        <a:t>100-200</a:t>
                      </a:r>
                    </a:p>
                  </a:txBody>
                  <a:tcPr/>
                </a:tc>
                <a:tc>
                  <a:txBody>
                    <a:bodyPr/>
                    <a:lstStyle/>
                    <a:p>
                      <a:pPr algn="ctr"/>
                      <a:r>
                        <a:rPr lang="en-GB" dirty="0"/>
                        <a:t>200-400</a:t>
                      </a:r>
                    </a:p>
                  </a:txBody>
                  <a:tcPr/>
                </a:tc>
                <a:tc>
                  <a:txBody>
                    <a:bodyPr/>
                    <a:lstStyle/>
                    <a:p>
                      <a:pPr algn="ctr"/>
                      <a:r>
                        <a:rPr lang="en-GB" dirty="0"/>
                        <a:t>2.5-2.6</a:t>
                      </a:r>
                    </a:p>
                  </a:txBody>
                  <a:tcPr/>
                </a:tc>
                <a:extLst>
                  <a:ext uri="{0D108BD9-81ED-4DB2-BD59-A6C34878D82A}">
                    <a16:rowId xmlns:a16="http://schemas.microsoft.com/office/drawing/2014/main" val="10002"/>
                  </a:ext>
                </a:extLst>
              </a:tr>
              <a:tr h="370840">
                <a:tc>
                  <a:txBody>
                    <a:bodyPr/>
                    <a:lstStyle/>
                    <a:p>
                      <a:r>
                        <a:rPr lang="en-GB" dirty="0"/>
                        <a:t>DDR2</a:t>
                      </a:r>
                    </a:p>
                  </a:txBody>
                  <a:tcPr/>
                </a:tc>
                <a:tc>
                  <a:txBody>
                    <a:bodyPr/>
                    <a:lstStyle/>
                    <a:p>
                      <a:pPr algn="ctr"/>
                      <a:r>
                        <a:rPr lang="en-GB" dirty="0"/>
                        <a:t>100-267</a:t>
                      </a:r>
                    </a:p>
                  </a:txBody>
                  <a:tcPr/>
                </a:tc>
                <a:tc>
                  <a:txBody>
                    <a:bodyPr/>
                    <a:lstStyle/>
                    <a:p>
                      <a:pPr algn="ctr"/>
                      <a:r>
                        <a:rPr lang="en-GB" dirty="0"/>
                        <a:t>4n</a:t>
                      </a:r>
                    </a:p>
                  </a:txBody>
                  <a:tcPr/>
                </a:tc>
                <a:tc>
                  <a:txBody>
                    <a:bodyPr/>
                    <a:lstStyle/>
                    <a:p>
                      <a:pPr algn="ctr"/>
                      <a:r>
                        <a:rPr lang="en-GB" dirty="0"/>
                        <a:t>200-533</a:t>
                      </a:r>
                    </a:p>
                  </a:txBody>
                  <a:tcPr/>
                </a:tc>
                <a:tc>
                  <a:txBody>
                    <a:bodyPr/>
                    <a:lstStyle/>
                    <a:p>
                      <a:pPr algn="ctr"/>
                      <a:r>
                        <a:rPr lang="en-GB" dirty="0"/>
                        <a:t>400-1067</a:t>
                      </a:r>
                    </a:p>
                  </a:txBody>
                  <a:tcPr/>
                </a:tc>
                <a:tc>
                  <a:txBody>
                    <a:bodyPr/>
                    <a:lstStyle/>
                    <a:p>
                      <a:pPr algn="ctr"/>
                      <a:r>
                        <a:rPr lang="en-GB" dirty="0"/>
                        <a:t>1.8</a:t>
                      </a:r>
                    </a:p>
                  </a:txBody>
                  <a:tcPr/>
                </a:tc>
                <a:extLst>
                  <a:ext uri="{0D108BD9-81ED-4DB2-BD59-A6C34878D82A}">
                    <a16:rowId xmlns:a16="http://schemas.microsoft.com/office/drawing/2014/main" val="10003"/>
                  </a:ext>
                </a:extLst>
              </a:tr>
              <a:tr h="370840">
                <a:tc>
                  <a:txBody>
                    <a:bodyPr/>
                    <a:lstStyle/>
                    <a:p>
                      <a:r>
                        <a:rPr lang="en-GB" dirty="0"/>
                        <a:t>DDR3</a:t>
                      </a:r>
                    </a:p>
                  </a:txBody>
                  <a:tcPr/>
                </a:tc>
                <a:tc>
                  <a:txBody>
                    <a:bodyPr/>
                    <a:lstStyle/>
                    <a:p>
                      <a:pPr algn="ctr"/>
                      <a:r>
                        <a:rPr lang="en-GB" dirty="0"/>
                        <a:t>100-267</a:t>
                      </a:r>
                    </a:p>
                  </a:txBody>
                  <a:tcPr/>
                </a:tc>
                <a:tc>
                  <a:txBody>
                    <a:bodyPr/>
                    <a:lstStyle/>
                    <a:p>
                      <a:pPr algn="ctr"/>
                      <a:r>
                        <a:rPr lang="en-GB" dirty="0"/>
                        <a:t>8n</a:t>
                      </a:r>
                    </a:p>
                  </a:txBody>
                  <a:tcPr/>
                </a:tc>
                <a:tc>
                  <a:txBody>
                    <a:bodyPr/>
                    <a:lstStyle/>
                    <a:p>
                      <a:pPr algn="ctr"/>
                      <a:r>
                        <a:rPr lang="en-GB" dirty="0"/>
                        <a:t>400-1066</a:t>
                      </a:r>
                    </a:p>
                  </a:txBody>
                  <a:tcPr/>
                </a:tc>
                <a:tc>
                  <a:txBody>
                    <a:bodyPr/>
                    <a:lstStyle/>
                    <a:p>
                      <a:pPr algn="ctr"/>
                      <a:r>
                        <a:rPr lang="en-GB" dirty="0"/>
                        <a:t>800-2133</a:t>
                      </a:r>
                    </a:p>
                  </a:txBody>
                  <a:tcPr/>
                </a:tc>
                <a:tc>
                  <a:txBody>
                    <a:bodyPr/>
                    <a:lstStyle/>
                    <a:p>
                      <a:pPr algn="ctr"/>
                      <a:r>
                        <a:rPr lang="en-GB" dirty="0"/>
                        <a:t>1.35-1.5</a:t>
                      </a:r>
                    </a:p>
                  </a:txBody>
                  <a:tcPr/>
                </a:tc>
                <a:extLst>
                  <a:ext uri="{0D108BD9-81ED-4DB2-BD59-A6C34878D82A}">
                    <a16:rowId xmlns:a16="http://schemas.microsoft.com/office/drawing/2014/main" val="10004"/>
                  </a:ext>
                </a:extLst>
              </a:tr>
              <a:tr h="370840">
                <a:tc>
                  <a:txBody>
                    <a:bodyPr/>
                    <a:lstStyle/>
                    <a:p>
                      <a:r>
                        <a:rPr lang="en-GB" dirty="0">
                          <a:solidFill>
                            <a:schemeClr val="accent1">
                              <a:lumMod val="50000"/>
                            </a:schemeClr>
                          </a:solidFill>
                        </a:rPr>
                        <a:t>DDR4**</a:t>
                      </a:r>
                    </a:p>
                  </a:txBody>
                  <a:tcPr/>
                </a:tc>
                <a:tc>
                  <a:txBody>
                    <a:bodyPr/>
                    <a:lstStyle/>
                    <a:p>
                      <a:pPr algn="ctr"/>
                      <a:r>
                        <a:rPr lang="en-GB" dirty="0">
                          <a:solidFill>
                            <a:schemeClr val="accent1">
                              <a:lumMod val="50000"/>
                            </a:schemeClr>
                          </a:solidFill>
                        </a:rPr>
                        <a:t>133-267</a:t>
                      </a:r>
                    </a:p>
                  </a:txBody>
                  <a:tcPr/>
                </a:tc>
                <a:tc>
                  <a:txBody>
                    <a:bodyPr/>
                    <a:lstStyle/>
                    <a:p>
                      <a:pPr algn="ctr"/>
                      <a:r>
                        <a:rPr lang="en-GB" dirty="0">
                          <a:solidFill>
                            <a:schemeClr val="accent1">
                              <a:lumMod val="50000"/>
                            </a:schemeClr>
                          </a:solidFill>
                        </a:rPr>
                        <a:t>8n</a:t>
                      </a:r>
                    </a:p>
                  </a:txBody>
                  <a:tcPr/>
                </a:tc>
                <a:tc>
                  <a:txBody>
                    <a:bodyPr/>
                    <a:lstStyle/>
                    <a:p>
                      <a:pPr algn="ctr"/>
                      <a:r>
                        <a:rPr lang="en-GB" dirty="0">
                          <a:solidFill>
                            <a:schemeClr val="accent1">
                              <a:lumMod val="50000"/>
                            </a:schemeClr>
                          </a:solidFill>
                        </a:rPr>
                        <a:t>1066-2133</a:t>
                      </a:r>
                    </a:p>
                  </a:txBody>
                  <a:tcPr/>
                </a:tc>
                <a:tc>
                  <a:txBody>
                    <a:bodyPr/>
                    <a:lstStyle/>
                    <a:p>
                      <a:pPr algn="ctr"/>
                      <a:r>
                        <a:rPr lang="en-GB" dirty="0">
                          <a:solidFill>
                            <a:schemeClr val="accent1">
                              <a:lumMod val="50000"/>
                            </a:schemeClr>
                          </a:solidFill>
                        </a:rPr>
                        <a:t>2133-4267</a:t>
                      </a:r>
                    </a:p>
                  </a:txBody>
                  <a:tcPr/>
                </a:tc>
                <a:tc>
                  <a:txBody>
                    <a:bodyPr/>
                    <a:lstStyle/>
                    <a:p>
                      <a:pPr algn="ctr"/>
                      <a:r>
                        <a:rPr lang="en-GB" dirty="0">
                          <a:solidFill>
                            <a:schemeClr val="accent1">
                              <a:lumMod val="50000"/>
                            </a:schemeClr>
                          </a:solidFill>
                        </a:rPr>
                        <a:t>1.05-1.2</a:t>
                      </a:r>
                    </a:p>
                  </a:txBody>
                  <a:tcPr/>
                </a:tc>
                <a:extLst>
                  <a:ext uri="{0D108BD9-81ED-4DB2-BD59-A6C34878D82A}">
                    <a16:rowId xmlns:a16="http://schemas.microsoft.com/office/drawing/2014/main" val="10005"/>
                  </a:ext>
                </a:extLst>
              </a:tr>
            </a:tbl>
          </a:graphicData>
        </a:graphic>
      </p:graphicFrame>
      <p:sp>
        <p:nvSpPr>
          <p:cNvPr id="9" name="CuadroTexto 8"/>
          <p:cNvSpPr txBox="1"/>
          <p:nvPr/>
        </p:nvSpPr>
        <p:spPr>
          <a:xfrm>
            <a:off x="901176" y="5643358"/>
            <a:ext cx="7159844" cy="960263"/>
          </a:xfrm>
          <a:prstGeom prst="rect">
            <a:avLst/>
          </a:prstGeom>
          <a:noFill/>
        </p:spPr>
        <p:txBody>
          <a:bodyPr wrap="none" rtlCol="0">
            <a:spAutoFit/>
          </a:bodyPr>
          <a:lstStyle/>
          <a:p>
            <a:r>
              <a:rPr lang="en-GB" sz="1800" dirty="0"/>
              <a:t>(*) </a:t>
            </a:r>
            <a:r>
              <a:rPr lang="en-GB" sz="1800" dirty="0" err="1"/>
              <a:t>Pueden</a:t>
            </a:r>
            <a:r>
              <a:rPr lang="en-GB" sz="1800" dirty="0"/>
              <a:t> </a:t>
            </a:r>
            <a:r>
              <a:rPr lang="en-GB" sz="1800" dirty="0" err="1"/>
              <a:t>encontrarse</a:t>
            </a:r>
            <a:r>
              <a:rPr lang="en-GB" sz="1800" dirty="0"/>
              <a:t> chips con </a:t>
            </a:r>
            <a:r>
              <a:rPr lang="en-GB" sz="1800" dirty="0" err="1"/>
              <a:t>otras</a:t>
            </a:r>
            <a:r>
              <a:rPr lang="en-GB" sz="1800" dirty="0"/>
              <a:t> </a:t>
            </a:r>
            <a:r>
              <a:rPr lang="en-GB" sz="1800" dirty="0" err="1"/>
              <a:t>especificaciones</a:t>
            </a:r>
            <a:r>
              <a:rPr lang="en-GB" sz="1800" dirty="0"/>
              <a:t> y </a:t>
            </a:r>
            <a:r>
              <a:rPr lang="en-GB" sz="1800" dirty="0" err="1"/>
              <a:t>límites</a:t>
            </a:r>
            <a:endParaRPr lang="en-GB" sz="1800" dirty="0"/>
          </a:p>
          <a:p>
            <a:r>
              <a:rPr lang="en-GB" sz="1800" dirty="0"/>
              <a:t>(**)Hasta Nov. de 2015 solo se </a:t>
            </a:r>
            <a:r>
              <a:rPr lang="en-GB" sz="1800" dirty="0" err="1"/>
              <a:t>están</a:t>
            </a:r>
            <a:r>
              <a:rPr lang="en-GB" sz="1800" dirty="0"/>
              <a:t> </a:t>
            </a:r>
            <a:r>
              <a:rPr lang="en-GB" sz="1800" dirty="0" err="1"/>
              <a:t>fabricando</a:t>
            </a:r>
            <a:r>
              <a:rPr lang="en-GB" sz="1800" dirty="0"/>
              <a:t> DDR4-2400 @1.2V</a:t>
            </a:r>
          </a:p>
          <a:p>
            <a:r>
              <a:rPr lang="en-GB" sz="1400" dirty="0"/>
              <a:t>    (</a:t>
            </a:r>
            <a:r>
              <a:rPr lang="en-GB" sz="1400" dirty="0" err="1"/>
              <a:t>fuente</a:t>
            </a:r>
            <a:r>
              <a:rPr lang="en-GB" sz="1400" dirty="0"/>
              <a:t>: Micron DDR4 SDRAM Part </a:t>
            </a:r>
            <a:r>
              <a:rPr lang="en-GB" sz="1400" dirty="0" err="1"/>
              <a:t>Catalog</a:t>
            </a:r>
            <a:r>
              <a:rPr lang="en-GB" sz="1400" dirty="0"/>
              <a:t>)</a:t>
            </a:r>
          </a:p>
        </p:txBody>
      </p:sp>
    </p:spTree>
    <p:extLst>
      <p:ext uri="{BB962C8B-B14F-4D97-AF65-F5344CB8AC3E}">
        <p14:creationId xmlns:p14="http://schemas.microsoft.com/office/powerpoint/2010/main" val="34137103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2E5E-3269-9EF8-EEE5-9D526B96A7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3FB316-D3BF-2C8F-51F3-6F222809D23D}"/>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F877271E-C0A6-491A-4C72-572E88857095}"/>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t>3 - Memorias RAM</a:t>
            </a:r>
          </a:p>
          <a:p>
            <a:pPr marL="82550" indent="0">
              <a:buNone/>
            </a:pPr>
            <a:r>
              <a:rPr lang="es-ES" dirty="0">
                <a:solidFill>
                  <a:srgbClr val="FF0000"/>
                </a:solidFill>
              </a:rPr>
              <a:t>4 - Módulos de memoria</a:t>
            </a:r>
          </a:p>
          <a:p>
            <a:pPr marL="82550" indent="0">
              <a:buNone/>
            </a:pPr>
            <a:r>
              <a:rPr lang="es-ES" dirty="0"/>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606651DF-1F7F-070E-7FD3-A400419A5272}"/>
              </a:ext>
            </a:extLst>
          </p:cNvPr>
          <p:cNvSpPr>
            <a:spLocks noGrp="1"/>
          </p:cNvSpPr>
          <p:nvPr>
            <p:ph type="sldNum" sz="quarter" idx="12"/>
          </p:nvPr>
        </p:nvSpPr>
        <p:spPr/>
        <p:txBody>
          <a:bodyPr/>
          <a:lstStyle/>
          <a:p>
            <a:pPr>
              <a:defRPr/>
            </a:pPr>
            <a:fld id="{50B7A251-C820-4EFF-8270-C7613E20881F}" type="slidenum">
              <a:rPr lang="en-US" smtClean="0"/>
              <a:pPr>
                <a:defRPr/>
              </a:pPr>
              <a:t>108</a:t>
            </a:fld>
            <a:endParaRPr lang="en-US" dirty="0"/>
          </a:p>
        </p:txBody>
      </p:sp>
      <p:sp>
        <p:nvSpPr>
          <p:cNvPr id="6" name="Rectángulo 5">
            <a:extLst>
              <a:ext uri="{FF2B5EF4-FFF2-40B4-BE49-F238E27FC236}">
                <a16:creationId xmlns:a16="http://schemas.microsoft.com/office/drawing/2014/main" id="{3B57CB7E-5FAD-7AE8-E0EC-D712A0A88D35}"/>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
        <p:nvSpPr>
          <p:cNvPr id="5" name="Rectángulo 4">
            <a:extLst>
              <a:ext uri="{FF2B5EF4-FFF2-40B4-BE49-F238E27FC236}">
                <a16:creationId xmlns:a16="http://schemas.microsoft.com/office/drawing/2014/main" id="{B8E91895-6A44-756F-D7FD-143AA4580619}"/>
              </a:ext>
            </a:extLst>
          </p:cNvPr>
          <p:cNvSpPr/>
          <p:nvPr/>
        </p:nvSpPr>
        <p:spPr>
          <a:xfrm>
            <a:off x="471407" y="5323429"/>
            <a:ext cx="8201185" cy="634020"/>
          </a:xfrm>
          <a:prstGeom prst="rect">
            <a:avLst/>
          </a:prstGeom>
        </p:spPr>
        <p:txBody>
          <a:bodyPr wrap="square">
            <a:spAutoFit/>
          </a:bodyPr>
          <a:lstStyle/>
          <a:p>
            <a:pPr algn="l"/>
            <a:r>
              <a:rPr lang="es-ES" sz="1600" dirty="0">
                <a:solidFill>
                  <a:schemeClr val="accent1">
                    <a:lumMod val="75000"/>
                  </a:schemeClr>
                </a:solidFill>
              </a:rPr>
              <a:t>Vídeo de ayuda:</a:t>
            </a:r>
          </a:p>
          <a:p>
            <a:pPr marL="742950" lvl="1" indent="-285750" algn="l">
              <a:buFont typeface="Arial" panose="020B0604020202020204" pitchFamily="34" charset="0"/>
              <a:buChar char="•"/>
            </a:pPr>
            <a:r>
              <a:rPr lang="es-ES" sz="1600" dirty="0">
                <a:solidFill>
                  <a:schemeClr val="accent1">
                    <a:lumMod val="75000"/>
                  </a:schemeClr>
                </a:solidFill>
              </a:rPr>
              <a:t>Vídeo 7. “Diseño de módulos de memoria”</a:t>
            </a:r>
          </a:p>
        </p:txBody>
      </p:sp>
    </p:spTree>
    <p:extLst>
      <p:ext uri="{BB962C8B-B14F-4D97-AF65-F5344CB8AC3E}">
        <p14:creationId xmlns:p14="http://schemas.microsoft.com/office/powerpoint/2010/main" val="23941127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0E79678-5838-4222-ACB8-37FFF6F38465}"/>
              </a:ext>
            </a:extLst>
          </p:cNvPr>
          <p:cNvPicPr>
            <a:picLocks noChangeAspect="1"/>
          </p:cNvPicPr>
          <p:nvPr/>
        </p:nvPicPr>
        <p:blipFill>
          <a:blip r:embed="rId3"/>
          <a:stretch>
            <a:fillRect/>
          </a:stretch>
        </p:blipFill>
        <p:spPr>
          <a:xfrm>
            <a:off x="617964" y="2779447"/>
            <a:ext cx="8150585" cy="3513184"/>
          </a:xfrm>
          <a:prstGeom prst="rect">
            <a:avLst/>
          </a:prstGeom>
        </p:spPr>
      </p:pic>
      <p:sp>
        <p:nvSpPr>
          <p:cNvPr id="38916" name="Rectangle 2"/>
          <p:cNvSpPr>
            <a:spLocks noGrp="1" noChangeArrowheads="1"/>
          </p:cNvSpPr>
          <p:nvPr>
            <p:ph type="title"/>
          </p:nvPr>
        </p:nvSpPr>
        <p:spPr/>
        <p:txBody>
          <a:bodyPr/>
          <a:lstStyle/>
          <a:p>
            <a:r>
              <a:rPr lang="es-ES" dirty="0"/>
              <a:t>Conceptos básicos</a:t>
            </a:r>
          </a:p>
        </p:txBody>
      </p:sp>
      <p:sp>
        <p:nvSpPr>
          <p:cNvPr id="10" name="CuadroTexto 9">
            <a:extLst>
              <a:ext uri="{FF2B5EF4-FFF2-40B4-BE49-F238E27FC236}">
                <a16:creationId xmlns:a16="http://schemas.microsoft.com/office/drawing/2014/main" id="{CAF35387-5392-47A8-B7D0-C0649EB48465}"/>
              </a:ext>
            </a:extLst>
          </p:cNvPr>
          <p:cNvSpPr txBox="1"/>
          <p:nvPr/>
        </p:nvSpPr>
        <p:spPr>
          <a:xfrm>
            <a:off x="8215744" y="3158922"/>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17964" y="922132"/>
            <a:ext cx="8138864" cy="1684311"/>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400" dirty="0"/>
              <a:t>El controlador de memoria intercepta las líneas de direccionamiento que salen del procesador, y las emite adecuadamente para seleccionar el banco,  fila y columna de los chips DRAM con los que se implementa internamente la memoria principal, QUE SE ORGANIZAN EN MODULOS</a:t>
            </a:r>
          </a:p>
          <a:p>
            <a:pPr>
              <a:lnSpc>
                <a:spcPct val="100000"/>
              </a:lnSpc>
              <a:spcBef>
                <a:spcPts val="0"/>
              </a:spcBef>
            </a:pPr>
            <a:r>
              <a:rPr lang="es-ES" sz="1400" dirty="0"/>
              <a:t>La suma de la capacidad de todos los módulos será como máximo de 2</a:t>
            </a:r>
            <a:r>
              <a:rPr lang="es-ES" sz="1400" baseline="30000" dirty="0"/>
              <a:t>x</a:t>
            </a:r>
            <a:r>
              <a:rPr lang="es-ES" sz="1400" dirty="0"/>
              <a:t> Bytes</a:t>
            </a:r>
          </a:p>
          <a:p>
            <a:pPr>
              <a:lnSpc>
                <a:spcPct val="100000"/>
              </a:lnSpc>
              <a:spcBef>
                <a:spcPts val="0"/>
              </a:spcBef>
            </a:pPr>
            <a:r>
              <a:rPr lang="es-ES" sz="1400" dirty="0"/>
              <a:t>Solo se activa, línea </a:t>
            </a:r>
            <a:r>
              <a:rPr lang="es-ES" sz="1400" dirty="0" err="1"/>
              <a:t>Csi</a:t>
            </a:r>
            <a:r>
              <a:rPr lang="es-ES" sz="1400" dirty="0"/>
              <a:t>, el módulo donde se encuentra la dirección emitida.  Se verá en el apartado siguiente como se reparten las direcciones del procesador (mapa de memoria).</a:t>
            </a:r>
          </a:p>
          <a:p>
            <a:pPr>
              <a:lnSpc>
                <a:spcPct val="100000"/>
              </a:lnSpc>
              <a:spcBef>
                <a:spcPts val="0"/>
              </a:spcBef>
            </a:pPr>
            <a:endParaRPr lang="es-ES" sz="1400" dirty="0"/>
          </a:p>
        </p:txBody>
      </p:sp>
      <p:sp>
        <p:nvSpPr>
          <p:cNvPr id="68" name="CuadroTexto 67">
            <a:extLst>
              <a:ext uri="{FF2B5EF4-FFF2-40B4-BE49-F238E27FC236}">
                <a16:creationId xmlns:a16="http://schemas.microsoft.com/office/drawing/2014/main" id="{A0C37C0A-20D5-4A19-A59D-D4AEAE0DEDC4}"/>
              </a:ext>
            </a:extLst>
          </p:cNvPr>
          <p:cNvSpPr txBox="1"/>
          <p:nvPr/>
        </p:nvSpPr>
        <p:spPr>
          <a:xfrm>
            <a:off x="7729576" y="2678141"/>
            <a:ext cx="1414424" cy="307777"/>
          </a:xfrm>
          <a:prstGeom prst="rect">
            <a:avLst/>
          </a:prstGeom>
          <a:noFill/>
        </p:spPr>
        <p:txBody>
          <a:bodyPr wrap="square" rtlCol="0">
            <a:spAutoFit/>
          </a:bodyPr>
          <a:lstStyle/>
          <a:p>
            <a:r>
              <a:rPr lang="es-ES" sz="1400" dirty="0">
                <a:solidFill>
                  <a:schemeClr val="accent1">
                    <a:lumMod val="75000"/>
                  </a:schemeClr>
                </a:solidFill>
              </a:rPr>
              <a:t>MP</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5768975" y="3129313"/>
            <a:ext cx="2987853" cy="2409888"/>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783BEC40-8B22-4E37-B64F-D4D6BD4674F1}"/>
              </a:ext>
            </a:extLst>
          </p:cNvPr>
          <p:cNvSpPr txBox="1"/>
          <p:nvPr/>
        </p:nvSpPr>
        <p:spPr>
          <a:xfrm>
            <a:off x="845016" y="2699455"/>
            <a:ext cx="3006903" cy="523220"/>
          </a:xfrm>
          <a:prstGeom prst="rect">
            <a:avLst/>
          </a:prstGeom>
          <a:noFill/>
        </p:spPr>
        <p:txBody>
          <a:bodyPr wrap="square" rtlCol="0">
            <a:spAutoFit/>
          </a:bodyPr>
          <a:lstStyle/>
          <a:p>
            <a:r>
              <a:rPr lang="es-ES" sz="1400" dirty="0">
                <a:solidFill>
                  <a:schemeClr val="accent1">
                    <a:lumMod val="75000"/>
                  </a:schemeClr>
                </a:solidFill>
              </a:rPr>
              <a:t>Ejemplo con dos módulos de memoria: 2</a:t>
            </a:r>
            <a:r>
              <a:rPr lang="es-ES" sz="1400" baseline="30000" dirty="0">
                <a:solidFill>
                  <a:schemeClr val="accent1">
                    <a:lumMod val="75000"/>
                  </a:schemeClr>
                </a:solidFill>
              </a:rPr>
              <a:t>x1</a:t>
            </a:r>
            <a:r>
              <a:rPr lang="es-ES" sz="1400" dirty="0">
                <a:solidFill>
                  <a:schemeClr val="accent1">
                    <a:lumMod val="75000"/>
                  </a:schemeClr>
                </a:solidFill>
              </a:rPr>
              <a:t> B + 2</a:t>
            </a:r>
            <a:r>
              <a:rPr lang="es-ES" sz="1400" baseline="30000" dirty="0">
                <a:solidFill>
                  <a:schemeClr val="accent1">
                    <a:lumMod val="75000"/>
                  </a:schemeClr>
                </a:solidFill>
              </a:rPr>
              <a:t>x2</a:t>
            </a:r>
            <a:r>
              <a:rPr lang="es-ES" sz="1400" dirty="0">
                <a:solidFill>
                  <a:schemeClr val="accent1">
                    <a:lumMod val="75000"/>
                  </a:schemeClr>
                </a:solidFill>
              </a:rPr>
              <a:t> B </a:t>
            </a:r>
            <a:r>
              <a:rPr lang="es-ES" sz="1400" dirty="0">
                <a:solidFill>
                  <a:schemeClr val="accent1">
                    <a:lumMod val="75000"/>
                  </a:schemeClr>
                </a:solidFill>
                <a:sym typeface="Symbol" panose="05050102010706020507" pitchFamily="18" charset="2"/>
              </a:rPr>
              <a:t> 2</a:t>
            </a:r>
            <a:r>
              <a:rPr lang="es-ES" sz="1400" baseline="30000" dirty="0">
                <a:solidFill>
                  <a:schemeClr val="accent1">
                    <a:lumMod val="75000"/>
                  </a:schemeClr>
                </a:solidFill>
                <a:sym typeface="Symbol" panose="05050102010706020507" pitchFamily="18" charset="2"/>
              </a:rPr>
              <a:t>x</a:t>
            </a:r>
            <a:r>
              <a:rPr lang="es-ES" sz="1400" dirty="0">
                <a:solidFill>
                  <a:schemeClr val="accent1">
                    <a:lumMod val="75000"/>
                  </a:schemeClr>
                </a:solidFill>
                <a:sym typeface="Symbol" panose="05050102010706020507" pitchFamily="18" charset="2"/>
              </a:rPr>
              <a:t> B</a:t>
            </a:r>
            <a:endParaRPr lang="es-ES" sz="1400" dirty="0">
              <a:solidFill>
                <a:schemeClr val="accent1">
                  <a:lumMod val="75000"/>
                </a:schemeClr>
              </a:solidFill>
            </a:endParaRPr>
          </a:p>
        </p:txBody>
      </p:sp>
      <p:sp>
        <p:nvSpPr>
          <p:cNvPr id="14" name="CuadroTexto 13">
            <a:extLst>
              <a:ext uri="{FF2B5EF4-FFF2-40B4-BE49-F238E27FC236}">
                <a16:creationId xmlns:a16="http://schemas.microsoft.com/office/drawing/2014/main" id="{0753CDA0-FFE3-4337-BC0C-761DB3B93F7E}"/>
              </a:ext>
            </a:extLst>
          </p:cNvPr>
          <p:cNvSpPr txBox="1"/>
          <p:nvPr/>
        </p:nvSpPr>
        <p:spPr>
          <a:xfrm>
            <a:off x="8176220" y="5013176"/>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x2</a:t>
            </a:r>
            <a:r>
              <a:rPr lang="es-ES" sz="1400" dirty="0">
                <a:solidFill>
                  <a:schemeClr val="accent1">
                    <a:lumMod val="75000"/>
                  </a:schemeClr>
                </a:solidFill>
              </a:rPr>
              <a:t> B</a:t>
            </a:r>
          </a:p>
        </p:txBody>
      </p:sp>
      <p:sp>
        <p:nvSpPr>
          <p:cNvPr id="2" name="Botón de acción: ir hacia delante o siguiente 1">
            <a:hlinkClick r:id="rId4" action="ppaction://hlinksldjump" highlightClick="1"/>
            <a:extLst>
              <a:ext uri="{FF2B5EF4-FFF2-40B4-BE49-F238E27FC236}">
                <a16:creationId xmlns:a16="http://schemas.microsoft.com/office/drawing/2014/main" id="{F5971394-F223-4EF7-8D1A-D1E289DAA111}"/>
              </a:ext>
            </a:extLst>
          </p:cNvPr>
          <p:cNvSpPr/>
          <p:nvPr/>
        </p:nvSpPr>
        <p:spPr bwMode="auto">
          <a:xfrm>
            <a:off x="8176220" y="4653136"/>
            <a:ext cx="140196" cy="216645"/>
          </a:xfrm>
          <a:prstGeom prst="actionButtonForwardNex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Marcador de número de diapositiva">
            <a:extLst>
              <a:ext uri="{FF2B5EF4-FFF2-40B4-BE49-F238E27FC236}">
                <a16:creationId xmlns:a16="http://schemas.microsoft.com/office/drawing/2014/main" id="{7F7EADC9-C980-D158-B3D3-1BB291ECCD89}"/>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109</a:t>
            </a:fld>
            <a:endParaRPr lang="en-US" dirty="0"/>
          </a:p>
        </p:txBody>
      </p:sp>
    </p:spTree>
    <p:extLst>
      <p:ext uri="{BB962C8B-B14F-4D97-AF65-F5344CB8AC3E}">
        <p14:creationId xmlns:p14="http://schemas.microsoft.com/office/powerpoint/2010/main" val="24152817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3 Rectángulo redondeado"/>
          <p:cNvSpPr/>
          <p:nvPr/>
        </p:nvSpPr>
        <p:spPr bwMode="auto">
          <a:xfrm>
            <a:off x="5148065" y="980728"/>
            <a:ext cx="3909156" cy="5760640"/>
          </a:xfrm>
          <a:prstGeom prst="roundRect">
            <a:avLst/>
          </a:prstGeom>
          <a:solidFill>
            <a:schemeClr val="accent5">
              <a:lumMod val="20000"/>
              <a:lumOff val="80000"/>
            </a:schemeClr>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564" name="Rectangle 3"/>
          <p:cNvSpPr>
            <a:spLocks noGrp="1" noChangeArrowheads="1"/>
          </p:cNvSpPr>
          <p:nvPr>
            <p:ph type="body" idx="1"/>
          </p:nvPr>
        </p:nvSpPr>
        <p:spPr>
          <a:xfrm>
            <a:off x="228600" y="1219200"/>
            <a:ext cx="4876800" cy="5334000"/>
          </a:xfrm>
        </p:spPr>
        <p:txBody>
          <a:bodyPr/>
          <a:lstStyle/>
          <a:p>
            <a:pPr>
              <a:lnSpc>
                <a:spcPct val="100000"/>
              </a:lnSpc>
            </a:pPr>
            <a:r>
              <a:rPr lang="es-ES" dirty="0"/>
              <a:t>Interf</a:t>
            </a:r>
            <a:r>
              <a:rPr lang="es-ES" altLang="ja-JP" dirty="0">
                <a:ea typeface="Geneva" pitchFamily="1" charset="-128"/>
              </a:rPr>
              <a:t>az del chip</a:t>
            </a:r>
          </a:p>
          <a:p>
            <a:pPr marL="819150" lvl="1">
              <a:lnSpc>
                <a:spcPct val="100000"/>
              </a:lnSpc>
            </a:pPr>
            <a:r>
              <a:rPr lang="es-ES" dirty="0"/>
              <a:t>Órdenes: son combinaciones de tres señales (</a:t>
            </a:r>
            <a:r>
              <a:rPr lang="es-ES" spc="-20" dirty="0"/>
              <a:t>RAS*, CAS* y WE*</a:t>
            </a:r>
            <a:r>
              <a:rPr lang="es-ES" dirty="0"/>
              <a:t>)</a:t>
            </a:r>
          </a:p>
          <a:p>
            <a:pPr marL="819150" lvl="1">
              <a:lnSpc>
                <a:spcPct val="100000"/>
              </a:lnSpc>
            </a:pPr>
            <a:r>
              <a:rPr lang="es-ES" dirty="0"/>
              <a:t>Banco: Selecci</a:t>
            </a:r>
            <a:r>
              <a:rPr lang="es-ES" dirty="0">
                <a:ea typeface="Geneva" pitchFamily="1" charset="-128"/>
              </a:rPr>
              <a:t>ona uno de los bancos internos de la SDRAM</a:t>
            </a:r>
            <a:endParaRPr lang="es-ES" dirty="0"/>
          </a:p>
          <a:p>
            <a:pPr marL="819150" lvl="1">
              <a:lnSpc>
                <a:spcPct val="100000"/>
              </a:lnSpc>
            </a:pPr>
            <a:r>
              <a:rPr lang="es-ES" dirty="0"/>
              <a:t>Dirección: según el orden, aprovechan para especificar una fila o una columna. El número de bits de la fila suele determinar el número de líneas</a:t>
            </a:r>
          </a:p>
          <a:p>
            <a:pPr marL="819150" lvl="1">
              <a:lnSpc>
                <a:spcPct val="100000"/>
              </a:lnSpc>
            </a:pPr>
            <a:r>
              <a:rPr lang="es-ES" dirty="0"/>
              <a:t>Datos: tantas líneas como el ancho de palabra</a:t>
            </a:r>
          </a:p>
          <a:p>
            <a:pPr marL="819150" lvl="1">
              <a:lnSpc>
                <a:spcPct val="100000"/>
              </a:lnSpc>
            </a:pPr>
            <a:r>
              <a:rPr lang="es-ES" dirty="0"/>
              <a:t>M</a:t>
            </a:r>
            <a:r>
              <a:rPr lang="es-ES" altLang="ja-JP" dirty="0">
                <a:ea typeface="Geneva" pitchFamily="1" charset="-128"/>
              </a:rPr>
              <a:t>áscara de datos: útil para seleccionar octetos dentro de la palabra</a:t>
            </a:r>
            <a:endParaRPr lang="es-ES" dirty="0"/>
          </a:p>
        </p:txBody>
      </p:sp>
      <p:sp>
        <p:nvSpPr>
          <p:cNvPr id="66565" name="Rectangle 4"/>
          <p:cNvSpPr>
            <a:spLocks noChangeArrowheads="1"/>
          </p:cNvSpPr>
          <p:nvPr/>
        </p:nvSpPr>
        <p:spPr bwMode="auto">
          <a:xfrm>
            <a:off x="7054850" y="1196975"/>
            <a:ext cx="914400" cy="5356225"/>
          </a:xfrm>
          <a:prstGeom prst="rect">
            <a:avLst/>
          </a:prstGeom>
          <a:solidFill>
            <a:schemeClr val="bg2">
              <a:lumMod val="90000"/>
            </a:schemeClr>
          </a:solidFill>
          <a:ln w="28575">
            <a:solidFill>
              <a:schemeClr val="tx1"/>
            </a:solidFill>
            <a:miter lim="800000"/>
            <a:headEnd/>
            <a:tailEnd/>
          </a:ln>
        </p:spPr>
        <p:txBody>
          <a:bodyPr anchor="ctr">
            <a:spAutoFit/>
          </a:bodyPr>
          <a:lstStyle/>
          <a:p>
            <a:endParaRPr lang="es-ES"/>
          </a:p>
        </p:txBody>
      </p:sp>
      <p:sp>
        <p:nvSpPr>
          <p:cNvPr id="66566" name="Line 5"/>
          <p:cNvSpPr>
            <a:spLocks noChangeShapeType="1"/>
          </p:cNvSpPr>
          <p:nvPr/>
        </p:nvSpPr>
        <p:spPr bwMode="auto">
          <a:xfrm>
            <a:off x="6445250" y="18478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67" name="Text Box 6"/>
          <p:cNvSpPr txBox="1">
            <a:spLocks noChangeArrowheads="1"/>
          </p:cNvSpPr>
          <p:nvPr/>
        </p:nvSpPr>
        <p:spPr bwMode="auto">
          <a:xfrm>
            <a:off x="7131050" y="1284288"/>
            <a:ext cx="493713" cy="304800"/>
          </a:xfrm>
          <a:prstGeom prst="rect">
            <a:avLst/>
          </a:prstGeom>
          <a:noFill/>
          <a:ln w="12700">
            <a:noFill/>
            <a:miter lim="800000"/>
            <a:headEnd/>
            <a:tailEnd/>
          </a:ln>
        </p:spPr>
        <p:txBody>
          <a:bodyPr wrap="none" lIns="0" tIns="0" rIns="0" bIns="0" anchor="ctr">
            <a:spAutoFit/>
          </a:bodyPr>
          <a:lstStyle/>
          <a:p>
            <a:r>
              <a:rPr lang="es-ES_tradnl"/>
              <a:t>CLK</a:t>
            </a:r>
          </a:p>
        </p:txBody>
      </p:sp>
      <p:sp>
        <p:nvSpPr>
          <p:cNvPr id="66568" name="Text Box 7"/>
          <p:cNvSpPr txBox="1">
            <a:spLocks noChangeArrowheads="1"/>
          </p:cNvSpPr>
          <p:nvPr/>
        </p:nvSpPr>
        <p:spPr bwMode="auto">
          <a:xfrm>
            <a:off x="7127875" y="1649413"/>
            <a:ext cx="841375" cy="396875"/>
          </a:xfrm>
          <a:prstGeom prst="rect">
            <a:avLst/>
          </a:prstGeom>
          <a:noFill/>
          <a:ln w="19050">
            <a:noFill/>
            <a:miter lim="800000"/>
            <a:headEnd/>
            <a:tailEnd/>
          </a:ln>
        </p:spPr>
        <p:txBody>
          <a:bodyPr lIns="0" tIns="0" rIns="0" bIns="0" anchor="ctr"/>
          <a:lstStyle/>
          <a:p>
            <a:pPr algn="l"/>
            <a:r>
              <a:rPr lang="es-ES_tradnl" dirty="0"/>
              <a:t>CS*</a:t>
            </a:r>
          </a:p>
        </p:txBody>
      </p:sp>
      <p:sp>
        <p:nvSpPr>
          <p:cNvPr id="66569" name="Line 8"/>
          <p:cNvSpPr>
            <a:spLocks noChangeShapeType="1"/>
          </p:cNvSpPr>
          <p:nvPr/>
        </p:nvSpPr>
        <p:spPr bwMode="auto">
          <a:xfrm>
            <a:off x="6445250" y="1436688"/>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0" name="Text Box 9"/>
          <p:cNvSpPr txBox="1">
            <a:spLocks noChangeArrowheads="1"/>
          </p:cNvSpPr>
          <p:nvPr/>
        </p:nvSpPr>
        <p:spPr bwMode="auto">
          <a:xfrm>
            <a:off x="5724128" y="1196752"/>
            <a:ext cx="720080" cy="396875"/>
          </a:xfrm>
          <a:prstGeom prst="rect">
            <a:avLst/>
          </a:prstGeom>
          <a:noFill/>
          <a:ln w="19050">
            <a:noFill/>
            <a:miter lim="800000"/>
            <a:headEnd/>
            <a:tailEnd/>
          </a:ln>
        </p:spPr>
        <p:txBody>
          <a:bodyPr lIns="0" tIns="0" rIns="0" bIns="0" anchor="ctr"/>
          <a:lstStyle/>
          <a:p>
            <a:pPr algn="l"/>
            <a:r>
              <a:rPr lang="es-ES_tradnl" sz="1600" dirty="0"/>
              <a:t>Reloj</a:t>
            </a:r>
          </a:p>
        </p:txBody>
      </p:sp>
      <p:sp>
        <p:nvSpPr>
          <p:cNvPr id="66571" name="Text Box 10"/>
          <p:cNvSpPr txBox="1">
            <a:spLocks noChangeArrowheads="1"/>
          </p:cNvSpPr>
          <p:nvPr/>
        </p:nvSpPr>
        <p:spPr bwMode="auto">
          <a:xfrm>
            <a:off x="5302576" y="2556589"/>
            <a:ext cx="787074" cy="246221"/>
          </a:xfrm>
          <a:prstGeom prst="rect">
            <a:avLst/>
          </a:prstGeom>
          <a:noFill/>
          <a:ln w="19050">
            <a:noFill/>
            <a:miter lim="800000"/>
            <a:headEnd/>
            <a:tailEnd/>
          </a:ln>
        </p:spPr>
        <p:txBody>
          <a:bodyPr wrap="none" lIns="0" tIns="0" rIns="0" bIns="0" anchor="ctr">
            <a:spAutoFit/>
          </a:bodyPr>
          <a:lstStyle/>
          <a:p>
            <a:pPr algn="r"/>
            <a:r>
              <a:rPr lang="es-ES_tradnl" sz="1600" dirty="0"/>
              <a:t>Órdenes</a:t>
            </a:r>
          </a:p>
        </p:txBody>
      </p:sp>
      <p:sp>
        <p:nvSpPr>
          <p:cNvPr id="66572" name="Text Box 11"/>
          <p:cNvSpPr txBox="1">
            <a:spLocks noChangeArrowheads="1"/>
          </p:cNvSpPr>
          <p:nvPr/>
        </p:nvSpPr>
        <p:spPr bwMode="auto">
          <a:xfrm>
            <a:off x="5439758" y="434174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dirección</a:t>
            </a:r>
          </a:p>
        </p:txBody>
      </p:sp>
      <p:sp>
        <p:nvSpPr>
          <p:cNvPr id="66573" name="Line 13"/>
          <p:cNvSpPr>
            <a:spLocks noChangeShapeType="1"/>
          </p:cNvSpPr>
          <p:nvPr/>
        </p:nvSpPr>
        <p:spPr bwMode="auto">
          <a:xfrm>
            <a:off x="6445250" y="2420938"/>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4" name="Text Box 14"/>
          <p:cNvSpPr txBox="1">
            <a:spLocks noChangeArrowheads="1"/>
          </p:cNvSpPr>
          <p:nvPr/>
        </p:nvSpPr>
        <p:spPr bwMode="auto">
          <a:xfrm>
            <a:off x="7127875" y="2206625"/>
            <a:ext cx="841375" cy="396875"/>
          </a:xfrm>
          <a:prstGeom prst="rect">
            <a:avLst/>
          </a:prstGeom>
          <a:noFill/>
          <a:ln w="19050">
            <a:noFill/>
            <a:miter lim="800000"/>
            <a:headEnd/>
            <a:tailEnd/>
          </a:ln>
        </p:spPr>
        <p:txBody>
          <a:bodyPr lIns="0" tIns="0" rIns="0" bIns="0" anchor="ctr"/>
          <a:lstStyle/>
          <a:p>
            <a:pPr algn="l"/>
            <a:r>
              <a:rPr lang="es-ES_tradnl" dirty="0"/>
              <a:t>RAS*</a:t>
            </a:r>
          </a:p>
        </p:txBody>
      </p:sp>
      <p:sp>
        <p:nvSpPr>
          <p:cNvPr id="66575" name="Line 15"/>
          <p:cNvSpPr>
            <a:spLocks noChangeShapeType="1"/>
          </p:cNvSpPr>
          <p:nvPr/>
        </p:nvSpPr>
        <p:spPr bwMode="auto">
          <a:xfrm>
            <a:off x="6445250" y="45529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6" name="Text Box 16"/>
          <p:cNvSpPr txBox="1">
            <a:spLocks noChangeArrowheads="1"/>
          </p:cNvSpPr>
          <p:nvPr/>
        </p:nvSpPr>
        <p:spPr bwMode="auto">
          <a:xfrm>
            <a:off x="7127875" y="4354513"/>
            <a:ext cx="307975" cy="396875"/>
          </a:xfrm>
          <a:prstGeom prst="rect">
            <a:avLst/>
          </a:prstGeom>
          <a:noFill/>
          <a:ln w="19050">
            <a:noFill/>
            <a:miter lim="800000"/>
            <a:headEnd/>
            <a:tailEnd/>
          </a:ln>
        </p:spPr>
        <p:txBody>
          <a:bodyPr lIns="0" tIns="0" rIns="0" bIns="0" anchor="ctr"/>
          <a:lstStyle/>
          <a:p>
            <a:pPr algn="l"/>
            <a:r>
              <a:rPr lang="es-ES_tradnl"/>
              <a:t>A</a:t>
            </a:r>
            <a:r>
              <a:rPr lang="es-ES_tradnl" b="1" baseline="-25000"/>
              <a:t>i</a:t>
            </a:r>
            <a:endParaRPr lang="es-ES_tradnl"/>
          </a:p>
        </p:txBody>
      </p:sp>
      <p:sp>
        <p:nvSpPr>
          <p:cNvPr id="66577" name="Line 17"/>
          <p:cNvSpPr>
            <a:spLocks noChangeShapeType="1"/>
          </p:cNvSpPr>
          <p:nvPr/>
        </p:nvSpPr>
        <p:spPr bwMode="auto">
          <a:xfrm>
            <a:off x="6445250" y="2708275"/>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78" name="Text Box 18"/>
          <p:cNvSpPr txBox="1">
            <a:spLocks noChangeArrowheads="1"/>
          </p:cNvSpPr>
          <p:nvPr/>
        </p:nvSpPr>
        <p:spPr bwMode="auto">
          <a:xfrm>
            <a:off x="7127875" y="2511425"/>
            <a:ext cx="841375" cy="396875"/>
          </a:xfrm>
          <a:prstGeom prst="rect">
            <a:avLst/>
          </a:prstGeom>
          <a:noFill/>
          <a:ln w="19050">
            <a:noFill/>
            <a:miter lim="800000"/>
            <a:headEnd/>
            <a:tailEnd/>
          </a:ln>
        </p:spPr>
        <p:txBody>
          <a:bodyPr lIns="0" tIns="0" rIns="0" bIns="0" anchor="ctr"/>
          <a:lstStyle/>
          <a:p>
            <a:pPr algn="l"/>
            <a:r>
              <a:rPr lang="es-ES_tradnl" dirty="0"/>
              <a:t>CAS*</a:t>
            </a:r>
          </a:p>
        </p:txBody>
      </p:sp>
      <p:sp>
        <p:nvSpPr>
          <p:cNvPr id="66579" name="Line 19"/>
          <p:cNvSpPr>
            <a:spLocks noChangeShapeType="1"/>
          </p:cNvSpPr>
          <p:nvPr/>
        </p:nvSpPr>
        <p:spPr bwMode="auto">
          <a:xfrm>
            <a:off x="6445250" y="356235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80" name="Text Box 20"/>
          <p:cNvSpPr txBox="1">
            <a:spLocks noChangeArrowheads="1"/>
          </p:cNvSpPr>
          <p:nvPr/>
        </p:nvSpPr>
        <p:spPr bwMode="auto">
          <a:xfrm>
            <a:off x="7127875" y="2816225"/>
            <a:ext cx="841375" cy="396875"/>
          </a:xfrm>
          <a:prstGeom prst="rect">
            <a:avLst/>
          </a:prstGeom>
          <a:noFill/>
          <a:ln w="19050">
            <a:noFill/>
            <a:miter lim="800000"/>
            <a:headEnd/>
            <a:tailEnd/>
          </a:ln>
        </p:spPr>
        <p:txBody>
          <a:bodyPr lIns="0" tIns="0" rIns="0" bIns="0" anchor="ctr"/>
          <a:lstStyle/>
          <a:p>
            <a:pPr algn="l"/>
            <a:r>
              <a:rPr lang="es-ES_tradnl" dirty="0"/>
              <a:t>WE*</a:t>
            </a:r>
          </a:p>
        </p:txBody>
      </p:sp>
      <p:sp>
        <p:nvSpPr>
          <p:cNvPr id="66581" name="AutoShape 22"/>
          <p:cNvSpPr>
            <a:spLocks/>
          </p:cNvSpPr>
          <p:nvPr/>
        </p:nvSpPr>
        <p:spPr bwMode="auto">
          <a:xfrm>
            <a:off x="6197600" y="2298700"/>
            <a:ext cx="174625" cy="838200"/>
          </a:xfrm>
          <a:prstGeom prst="leftBrace">
            <a:avLst>
              <a:gd name="adj1" fmla="val 40000"/>
              <a:gd name="adj2" fmla="val 50000"/>
            </a:avLst>
          </a:prstGeom>
          <a:noFill/>
          <a:ln w="12700">
            <a:solidFill>
              <a:schemeClr val="tx1"/>
            </a:solidFill>
            <a:round/>
            <a:headEnd/>
            <a:tailEnd/>
          </a:ln>
        </p:spPr>
        <p:txBody>
          <a:bodyPr wrap="none" lIns="0" tIns="0" rIns="0" bIns="0" anchor="ctr"/>
          <a:lstStyle/>
          <a:p>
            <a:endParaRPr lang="es-ES"/>
          </a:p>
        </p:txBody>
      </p:sp>
      <p:grpSp>
        <p:nvGrpSpPr>
          <p:cNvPr id="2" name="Group 25"/>
          <p:cNvGrpSpPr>
            <a:grpSpLocks/>
          </p:cNvGrpSpPr>
          <p:nvPr/>
        </p:nvGrpSpPr>
        <p:grpSpPr bwMode="auto">
          <a:xfrm>
            <a:off x="7969250" y="4078288"/>
            <a:ext cx="490538" cy="863600"/>
            <a:chOff x="2208" y="2928"/>
            <a:chExt cx="720" cy="768"/>
          </a:xfrm>
        </p:grpSpPr>
        <p:sp>
          <p:nvSpPr>
            <p:cNvPr id="66608" name="Freeform 23"/>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p>
          </p:txBody>
        </p:sp>
        <p:sp>
          <p:nvSpPr>
            <p:cNvPr id="66609" name="Freeform 24"/>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a:tailEnd type="triangle" w="med" len="med"/>
            </a:ln>
          </p:spPr>
          <p:txBody>
            <a:bodyPr wrap="none" lIns="0" tIns="0" rIns="0" bIns="0" anchor="ctr"/>
            <a:lstStyle/>
            <a:p>
              <a:endParaRPr lang="es-ES"/>
            </a:p>
          </p:txBody>
        </p:sp>
      </p:grpSp>
      <p:sp>
        <p:nvSpPr>
          <p:cNvPr id="66583" name="Text Box 26"/>
          <p:cNvSpPr txBox="1">
            <a:spLocks noChangeArrowheads="1"/>
          </p:cNvSpPr>
          <p:nvPr/>
        </p:nvSpPr>
        <p:spPr bwMode="auto">
          <a:xfrm>
            <a:off x="5439758" y="5897562"/>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entrada</a:t>
            </a:r>
            <a:br>
              <a:rPr lang="es-ES_tradnl" sz="1600" dirty="0"/>
            </a:br>
            <a:r>
              <a:rPr lang="es-ES_tradnl" sz="1600" dirty="0"/>
              <a:t>salida</a:t>
            </a:r>
            <a:br>
              <a:rPr lang="es-ES_tradnl" sz="1600" dirty="0"/>
            </a:br>
            <a:r>
              <a:rPr lang="es-ES_tradnl" sz="1600" dirty="0"/>
              <a:t>de datos</a:t>
            </a:r>
          </a:p>
        </p:txBody>
      </p:sp>
      <p:sp>
        <p:nvSpPr>
          <p:cNvPr id="66584" name="Line 27"/>
          <p:cNvSpPr>
            <a:spLocks noChangeShapeType="1"/>
          </p:cNvSpPr>
          <p:nvPr/>
        </p:nvSpPr>
        <p:spPr bwMode="auto">
          <a:xfrm>
            <a:off x="6445250" y="6096000"/>
            <a:ext cx="609600" cy="0"/>
          </a:xfrm>
          <a:prstGeom prst="line">
            <a:avLst/>
          </a:prstGeom>
          <a:noFill/>
          <a:ln w="19050">
            <a:solidFill>
              <a:schemeClr val="tx1"/>
            </a:solidFill>
            <a:round/>
            <a:headEnd type="triangle" w="med" len="med"/>
            <a:tailEnd type="triangle" w="med" len="med"/>
          </a:ln>
        </p:spPr>
        <p:txBody>
          <a:bodyPr anchor="ctr">
            <a:spAutoFit/>
          </a:bodyPr>
          <a:lstStyle/>
          <a:p>
            <a:endParaRPr lang="es-ES"/>
          </a:p>
        </p:txBody>
      </p:sp>
      <p:sp>
        <p:nvSpPr>
          <p:cNvPr id="66585" name="Text Box 28"/>
          <p:cNvSpPr txBox="1">
            <a:spLocks noChangeArrowheads="1"/>
          </p:cNvSpPr>
          <p:nvPr/>
        </p:nvSpPr>
        <p:spPr bwMode="auto">
          <a:xfrm>
            <a:off x="7127875" y="5943600"/>
            <a:ext cx="307975" cy="396875"/>
          </a:xfrm>
          <a:prstGeom prst="rect">
            <a:avLst/>
          </a:prstGeom>
          <a:noFill/>
          <a:ln w="19050">
            <a:noFill/>
            <a:miter lim="800000"/>
            <a:headEnd/>
            <a:tailEnd/>
          </a:ln>
        </p:spPr>
        <p:txBody>
          <a:bodyPr lIns="0" tIns="0" rIns="0" bIns="0" anchor="ctr"/>
          <a:lstStyle/>
          <a:p>
            <a:pPr algn="l"/>
            <a:r>
              <a:rPr lang="es-ES_tradnl"/>
              <a:t>D</a:t>
            </a:r>
            <a:r>
              <a:rPr lang="es-ES_tradnl" b="1" baseline="-25000"/>
              <a:t>i</a:t>
            </a:r>
            <a:endParaRPr lang="es-ES_tradnl"/>
          </a:p>
        </p:txBody>
      </p:sp>
      <p:sp>
        <p:nvSpPr>
          <p:cNvPr id="66586" name="Text Box 29"/>
          <p:cNvSpPr txBox="1">
            <a:spLocks noChangeArrowheads="1"/>
          </p:cNvSpPr>
          <p:nvPr/>
        </p:nvSpPr>
        <p:spPr bwMode="auto">
          <a:xfrm>
            <a:off x="5377815" y="1694577"/>
            <a:ext cx="886460" cy="246221"/>
          </a:xfrm>
          <a:prstGeom prst="rect">
            <a:avLst/>
          </a:prstGeom>
          <a:noFill/>
          <a:ln w="19050">
            <a:noFill/>
            <a:miter lim="800000"/>
            <a:headEnd/>
            <a:tailEnd/>
          </a:ln>
        </p:spPr>
        <p:txBody>
          <a:bodyPr wrap="none" lIns="0" tIns="0" rIns="0" bIns="0" anchor="ctr">
            <a:spAutoFit/>
          </a:bodyPr>
          <a:lstStyle/>
          <a:p>
            <a:pPr algn="r"/>
            <a:r>
              <a:rPr lang="es-ES_tradnl" sz="1600" dirty="0">
                <a:solidFill>
                  <a:srgbClr val="FF0000"/>
                </a:solidFill>
              </a:rPr>
              <a:t>Selecci</a:t>
            </a:r>
            <a:r>
              <a:rPr lang="es-ES_tradnl" altLang="ja-JP" sz="1600" dirty="0">
                <a:solidFill>
                  <a:srgbClr val="FF0000"/>
                </a:solidFill>
                <a:ea typeface="Geneva" pitchFamily="1" charset="-128"/>
              </a:rPr>
              <a:t>ón</a:t>
            </a:r>
            <a:endParaRPr lang="es-ES_tradnl" sz="1600" dirty="0">
              <a:solidFill>
                <a:srgbClr val="FF0000"/>
              </a:solidFill>
            </a:endParaRPr>
          </a:p>
        </p:txBody>
      </p:sp>
      <p:sp>
        <p:nvSpPr>
          <p:cNvPr id="66587" name="Rectangle 32"/>
          <p:cNvSpPr>
            <a:spLocks noChangeArrowheads="1"/>
          </p:cNvSpPr>
          <p:nvPr/>
        </p:nvSpPr>
        <p:spPr bwMode="blackWhite">
          <a:xfrm rot="10800000">
            <a:off x="8459788" y="3633788"/>
            <a:ext cx="287337" cy="874712"/>
          </a:xfrm>
          <a:prstGeom prst="rect">
            <a:avLst/>
          </a:prstGeom>
          <a:solidFill>
            <a:srgbClr val="FF8000"/>
          </a:solidFill>
          <a:ln w="12700">
            <a:solidFill>
              <a:schemeClr val="accent5">
                <a:lumMod val="75000"/>
              </a:schemeClr>
            </a:solidFill>
            <a:miter lim="800000"/>
            <a:headEnd/>
            <a:tailEnd/>
          </a:ln>
        </p:spPr>
        <p:txBody>
          <a:bodyPr vert="eaVert" lIns="0" tIns="0" rIns="0" bIns="0" anchor="ctr"/>
          <a:lstStyle/>
          <a:p>
            <a:r>
              <a:rPr lang="es-ES"/>
              <a:t>Fila</a:t>
            </a:r>
          </a:p>
        </p:txBody>
      </p:sp>
      <p:sp>
        <p:nvSpPr>
          <p:cNvPr id="66588" name="Rectangle 42"/>
          <p:cNvSpPr>
            <a:spLocks noChangeArrowheads="1"/>
          </p:cNvSpPr>
          <p:nvPr/>
        </p:nvSpPr>
        <p:spPr bwMode="blackWhite">
          <a:xfrm rot="10800000">
            <a:off x="8459788" y="4510088"/>
            <a:ext cx="287337" cy="919162"/>
          </a:xfrm>
          <a:prstGeom prst="rect">
            <a:avLst/>
          </a:prstGeom>
          <a:solidFill>
            <a:srgbClr val="99FF66"/>
          </a:solidFill>
          <a:ln w="12700">
            <a:solidFill>
              <a:schemeClr val="accent5">
                <a:lumMod val="75000"/>
              </a:schemeClr>
            </a:solidFill>
            <a:miter lim="800000"/>
            <a:headEnd/>
            <a:tailEnd/>
          </a:ln>
        </p:spPr>
        <p:txBody>
          <a:bodyPr vert="eaVert" lIns="0" tIns="0" rIns="0" bIns="0" anchor="ctr"/>
          <a:lstStyle/>
          <a:p>
            <a:r>
              <a:rPr lang="es-ES" dirty="0">
                <a:latin typeface="Arial Narrow" pitchFamily="34" charset="0"/>
              </a:rPr>
              <a:t>Columna</a:t>
            </a:r>
          </a:p>
        </p:txBody>
      </p:sp>
      <p:sp>
        <p:nvSpPr>
          <p:cNvPr id="66589" name="Text Box 43"/>
          <p:cNvSpPr txBox="1">
            <a:spLocks noChangeArrowheads="1"/>
          </p:cNvSpPr>
          <p:nvPr/>
        </p:nvSpPr>
        <p:spPr bwMode="auto">
          <a:xfrm>
            <a:off x="7127875" y="3392488"/>
            <a:ext cx="496888" cy="396875"/>
          </a:xfrm>
          <a:prstGeom prst="rect">
            <a:avLst/>
          </a:prstGeom>
          <a:noFill/>
          <a:ln w="19050">
            <a:noFill/>
            <a:miter lim="800000"/>
            <a:headEnd/>
            <a:tailEnd/>
          </a:ln>
        </p:spPr>
        <p:txBody>
          <a:bodyPr lIns="0" tIns="0" rIns="0" bIns="0" anchor="ctr"/>
          <a:lstStyle/>
          <a:p>
            <a:pPr algn="l"/>
            <a:r>
              <a:rPr lang="es-ES_tradnl"/>
              <a:t>BA</a:t>
            </a:r>
            <a:r>
              <a:rPr lang="es-ES_tradnl" b="1" baseline="-25000"/>
              <a:t>i</a:t>
            </a:r>
            <a:endParaRPr lang="es-ES_tradnl"/>
          </a:p>
        </p:txBody>
      </p:sp>
      <p:sp>
        <p:nvSpPr>
          <p:cNvPr id="66590" name="Text Box 44"/>
          <p:cNvSpPr txBox="1">
            <a:spLocks noChangeArrowheads="1"/>
          </p:cNvSpPr>
          <p:nvPr/>
        </p:nvSpPr>
        <p:spPr bwMode="auto">
          <a:xfrm>
            <a:off x="5651500" y="3357563"/>
            <a:ext cx="641350" cy="396875"/>
          </a:xfrm>
          <a:prstGeom prst="rect">
            <a:avLst/>
          </a:prstGeom>
          <a:noFill/>
          <a:ln w="19050">
            <a:noFill/>
            <a:miter lim="800000"/>
            <a:headEnd/>
            <a:tailEnd/>
          </a:ln>
        </p:spPr>
        <p:txBody>
          <a:bodyPr wrap="none" lIns="0" tIns="0" rIns="0" bIns="0" anchor="ctr"/>
          <a:lstStyle/>
          <a:p>
            <a:pPr algn="r">
              <a:lnSpc>
                <a:spcPct val="80000"/>
              </a:lnSpc>
            </a:pPr>
            <a:r>
              <a:rPr lang="es-ES_tradnl" sz="1600" dirty="0"/>
              <a:t>banco</a:t>
            </a:r>
          </a:p>
        </p:txBody>
      </p:sp>
      <p:sp>
        <p:nvSpPr>
          <p:cNvPr id="66591" name="Line 45"/>
          <p:cNvSpPr>
            <a:spLocks noChangeShapeType="1"/>
          </p:cNvSpPr>
          <p:nvPr/>
        </p:nvSpPr>
        <p:spPr bwMode="auto">
          <a:xfrm>
            <a:off x="6443663" y="299720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592" name="Line 46"/>
          <p:cNvSpPr>
            <a:spLocks noChangeShapeType="1"/>
          </p:cNvSpPr>
          <p:nvPr/>
        </p:nvSpPr>
        <p:spPr bwMode="auto">
          <a:xfrm>
            <a:off x="7969250" y="1436688"/>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3" name="Line 47"/>
          <p:cNvSpPr>
            <a:spLocks noChangeShapeType="1"/>
          </p:cNvSpPr>
          <p:nvPr/>
        </p:nvSpPr>
        <p:spPr bwMode="auto">
          <a:xfrm>
            <a:off x="7969250" y="1844675"/>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4" name="Line 48"/>
          <p:cNvSpPr>
            <a:spLocks noChangeShapeType="1"/>
          </p:cNvSpPr>
          <p:nvPr/>
        </p:nvSpPr>
        <p:spPr bwMode="auto">
          <a:xfrm>
            <a:off x="7969250" y="2420938"/>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5" name="Line 49"/>
          <p:cNvSpPr>
            <a:spLocks noChangeShapeType="1"/>
          </p:cNvSpPr>
          <p:nvPr/>
        </p:nvSpPr>
        <p:spPr bwMode="auto">
          <a:xfrm>
            <a:off x="7969250" y="2708275"/>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6" name="Line 50"/>
          <p:cNvSpPr>
            <a:spLocks noChangeShapeType="1"/>
          </p:cNvSpPr>
          <p:nvPr/>
        </p:nvSpPr>
        <p:spPr bwMode="auto">
          <a:xfrm>
            <a:off x="7969250" y="2995613"/>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66597" name="Rectangle 51"/>
          <p:cNvSpPr>
            <a:spLocks noChangeArrowheads="1"/>
          </p:cNvSpPr>
          <p:nvPr/>
        </p:nvSpPr>
        <p:spPr bwMode="auto">
          <a:xfrm rot="10800000">
            <a:off x="8243888" y="1196975"/>
            <a:ext cx="360362" cy="2016125"/>
          </a:xfrm>
          <a:prstGeom prst="rect">
            <a:avLst/>
          </a:prstGeom>
          <a:noFill/>
          <a:ln w="19050">
            <a:solidFill>
              <a:schemeClr val="tx1"/>
            </a:solidFill>
            <a:prstDash val="dash"/>
            <a:miter lim="800000"/>
            <a:headEnd/>
            <a:tailEnd/>
          </a:ln>
        </p:spPr>
        <p:txBody>
          <a:bodyPr vert="eaVert" wrap="none" lIns="0" tIns="0" rIns="0" bIns="0" anchor="ctr"/>
          <a:lstStyle/>
          <a:p>
            <a:r>
              <a:rPr lang="es-ES_tradnl"/>
              <a:t>Control</a:t>
            </a:r>
            <a:endParaRPr lang="es-ES"/>
          </a:p>
        </p:txBody>
      </p:sp>
      <p:sp>
        <p:nvSpPr>
          <p:cNvPr id="66598" name="Line 53"/>
          <p:cNvSpPr>
            <a:spLocks noChangeShapeType="1"/>
          </p:cNvSpPr>
          <p:nvPr/>
        </p:nvSpPr>
        <p:spPr bwMode="auto">
          <a:xfrm>
            <a:off x="7969250" y="3573463"/>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grpSp>
        <p:nvGrpSpPr>
          <p:cNvPr id="3" name="Group 55"/>
          <p:cNvGrpSpPr>
            <a:grpSpLocks/>
          </p:cNvGrpSpPr>
          <p:nvPr/>
        </p:nvGrpSpPr>
        <p:grpSpPr bwMode="auto">
          <a:xfrm>
            <a:off x="7969250" y="5867400"/>
            <a:ext cx="490538" cy="449263"/>
            <a:chOff x="2208" y="2928"/>
            <a:chExt cx="720" cy="768"/>
          </a:xfrm>
        </p:grpSpPr>
        <p:sp>
          <p:nvSpPr>
            <p:cNvPr id="66606" name="Freeform 56"/>
            <p:cNvSpPr>
              <a:spLocks/>
            </p:cNvSpPr>
            <p:nvPr/>
          </p:nvSpPr>
          <p:spPr bwMode="auto">
            <a:xfrm>
              <a:off x="2208" y="2928"/>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p>
          </p:txBody>
        </p:sp>
        <p:sp>
          <p:nvSpPr>
            <p:cNvPr id="66607" name="Freeform 57"/>
            <p:cNvSpPr>
              <a:spLocks/>
            </p:cNvSpPr>
            <p:nvPr/>
          </p:nvSpPr>
          <p:spPr bwMode="auto">
            <a:xfrm flipV="1">
              <a:off x="2208" y="3312"/>
              <a:ext cx="720" cy="384"/>
            </a:xfrm>
            <a:custGeom>
              <a:avLst/>
              <a:gdLst>
                <a:gd name="T0" fmla="*/ 0 w 720"/>
                <a:gd name="T1" fmla="*/ 384 h 384"/>
                <a:gd name="T2" fmla="*/ 288 w 720"/>
                <a:gd name="T3" fmla="*/ 384 h 384"/>
                <a:gd name="T4" fmla="*/ 384 w 720"/>
                <a:gd name="T5" fmla="*/ 288 h 384"/>
                <a:gd name="T6" fmla="*/ 384 w 720"/>
                <a:gd name="T7" fmla="*/ 96 h 384"/>
                <a:gd name="T8" fmla="*/ 480 w 720"/>
                <a:gd name="T9" fmla="*/ 0 h 384"/>
                <a:gd name="T10" fmla="*/ 720 w 720"/>
                <a:gd name="T11" fmla="*/ 0 h 384"/>
                <a:gd name="T12" fmla="*/ 0 60000 65536"/>
                <a:gd name="T13" fmla="*/ 0 60000 65536"/>
                <a:gd name="T14" fmla="*/ 0 60000 65536"/>
                <a:gd name="T15" fmla="*/ 0 60000 65536"/>
                <a:gd name="T16" fmla="*/ 0 60000 65536"/>
                <a:gd name="T17" fmla="*/ 0 60000 65536"/>
                <a:gd name="T18" fmla="*/ 0 w 720"/>
                <a:gd name="T19" fmla="*/ 0 h 384"/>
                <a:gd name="T20" fmla="*/ 720 w 720"/>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720" h="384">
                  <a:moveTo>
                    <a:pt x="0" y="384"/>
                  </a:moveTo>
                  <a:cubicBezTo>
                    <a:pt x="0" y="384"/>
                    <a:pt x="144" y="384"/>
                    <a:pt x="288" y="384"/>
                  </a:cubicBezTo>
                  <a:cubicBezTo>
                    <a:pt x="288" y="384"/>
                    <a:pt x="382" y="384"/>
                    <a:pt x="384" y="288"/>
                  </a:cubicBezTo>
                  <a:cubicBezTo>
                    <a:pt x="384" y="288"/>
                    <a:pt x="384" y="192"/>
                    <a:pt x="384" y="96"/>
                  </a:cubicBezTo>
                  <a:cubicBezTo>
                    <a:pt x="384" y="0"/>
                    <a:pt x="480" y="0"/>
                    <a:pt x="480" y="0"/>
                  </a:cubicBezTo>
                  <a:cubicBezTo>
                    <a:pt x="600" y="0"/>
                    <a:pt x="720" y="0"/>
                    <a:pt x="720" y="0"/>
                  </a:cubicBezTo>
                </a:path>
              </a:pathLst>
            </a:custGeom>
            <a:noFill/>
            <a:ln w="28575">
              <a:solidFill>
                <a:schemeClr val="tx1"/>
              </a:solidFill>
              <a:round/>
              <a:headEnd type="triangle" w="med" len="med"/>
              <a:tailEnd type="triangle" w="med" len="med"/>
            </a:ln>
          </p:spPr>
          <p:txBody>
            <a:bodyPr wrap="none" lIns="0" tIns="0" rIns="0" bIns="0" anchor="ctr"/>
            <a:lstStyle/>
            <a:p>
              <a:endParaRPr lang="es-ES"/>
            </a:p>
          </p:txBody>
        </p:sp>
      </p:grpSp>
      <p:sp>
        <p:nvSpPr>
          <p:cNvPr id="66600" name="Text Box 58"/>
          <p:cNvSpPr txBox="1">
            <a:spLocks noChangeArrowheads="1"/>
          </p:cNvSpPr>
          <p:nvPr/>
        </p:nvSpPr>
        <p:spPr bwMode="auto">
          <a:xfrm>
            <a:off x="8454492" y="5863427"/>
            <a:ext cx="602729" cy="492443"/>
          </a:xfrm>
          <a:prstGeom prst="rect">
            <a:avLst/>
          </a:prstGeom>
          <a:noFill/>
          <a:ln w="19050">
            <a:noFill/>
            <a:miter lim="800000"/>
            <a:headEnd/>
            <a:tailEnd/>
          </a:ln>
        </p:spPr>
        <p:txBody>
          <a:bodyPr wrap="none" lIns="0" tIns="0" rIns="0" bIns="0" anchor="ctr">
            <a:spAutoFit/>
          </a:bodyPr>
          <a:lstStyle/>
          <a:p>
            <a:r>
              <a:rPr lang="es-ES_tradnl" sz="1600" dirty="0"/>
              <a:t>L</a:t>
            </a:r>
            <a:r>
              <a:rPr lang="es-ES_tradnl" altLang="ja-JP" sz="1600" dirty="0">
                <a:ea typeface="Geneva" pitchFamily="1" charset="-128"/>
              </a:rPr>
              <a:t>ógica</a:t>
            </a:r>
            <a:br>
              <a:rPr lang="es-ES_tradnl" altLang="ja-JP" sz="1600" dirty="0">
                <a:ea typeface="Geneva" pitchFamily="1" charset="-128"/>
              </a:rPr>
            </a:br>
            <a:r>
              <a:rPr lang="es-ES_tradnl" altLang="ja-JP" sz="1600" dirty="0">
                <a:ea typeface="Geneva" pitchFamily="1" charset="-128"/>
              </a:rPr>
              <a:t>E/S</a:t>
            </a:r>
            <a:endParaRPr lang="es-ES_tradnl" sz="1600" dirty="0"/>
          </a:p>
        </p:txBody>
      </p:sp>
      <p:sp>
        <p:nvSpPr>
          <p:cNvPr id="66601" name="Text Box 59"/>
          <p:cNvSpPr txBox="1">
            <a:spLocks noChangeArrowheads="1"/>
          </p:cNvSpPr>
          <p:nvPr/>
        </p:nvSpPr>
        <p:spPr bwMode="auto">
          <a:xfrm>
            <a:off x="5477681" y="5226050"/>
            <a:ext cx="960438" cy="488950"/>
          </a:xfrm>
          <a:prstGeom prst="rect">
            <a:avLst/>
          </a:prstGeom>
          <a:noFill/>
          <a:ln w="19050">
            <a:noFill/>
            <a:miter lim="800000"/>
            <a:headEnd/>
            <a:tailEnd/>
          </a:ln>
        </p:spPr>
        <p:txBody>
          <a:bodyPr wrap="none" lIns="0" tIns="0" rIns="0" bIns="0" anchor="ctr"/>
          <a:lstStyle/>
          <a:p>
            <a:pPr algn="r">
              <a:lnSpc>
                <a:spcPct val="80000"/>
              </a:lnSpc>
            </a:pPr>
            <a:r>
              <a:rPr lang="es-ES_tradnl" sz="1600" dirty="0"/>
              <a:t>m</a:t>
            </a:r>
            <a:r>
              <a:rPr lang="es-ES_tradnl" altLang="ja-JP" sz="1600" dirty="0">
                <a:ea typeface="Geneva" pitchFamily="1" charset="-128"/>
              </a:rPr>
              <a:t>áscara</a:t>
            </a:r>
            <a:br>
              <a:rPr lang="es-ES_tradnl" altLang="ja-JP" sz="1600" dirty="0">
                <a:ea typeface="Geneva" pitchFamily="1" charset="-128"/>
              </a:rPr>
            </a:br>
            <a:r>
              <a:rPr lang="es-ES_tradnl" altLang="ja-JP" sz="1600" dirty="0">
                <a:ea typeface="Geneva" pitchFamily="1" charset="-128"/>
              </a:rPr>
              <a:t>de datos</a:t>
            </a:r>
            <a:endParaRPr lang="es-ES_tradnl" sz="1600" dirty="0"/>
          </a:p>
        </p:txBody>
      </p:sp>
      <p:sp>
        <p:nvSpPr>
          <p:cNvPr id="66602" name="Line 60"/>
          <p:cNvSpPr>
            <a:spLocks noChangeShapeType="1"/>
          </p:cNvSpPr>
          <p:nvPr/>
        </p:nvSpPr>
        <p:spPr bwMode="auto">
          <a:xfrm>
            <a:off x="6445250" y="5486400"/>
            <a:ext cx="609600" cy="0"/>
          </a:xfrm>
          <a:prstGeom prst="line">
            <a:avLst/>
          </a:prstGeom>
          <a:noFill/>
          <a:ln w="19050">
            <a:solidFill>
              <a:schemeClr val="tx1"/>
            </a:solidFill>
            <a:round/>
            <a:headEnd/>
            <a:tailEnd type="triangle" w="med" len="med"/>
          </a:ln>
        </p:spPr>
        <p:txBody>
          <a:bodyPr anchor="ctr">
            <a:spAutoFit/>
          </a:bodyPr>
          <a:lstStyle/>
          <a:p>
            <a:endParaRPr lang="es-ES"/>
          </a:p>
        </p:txBody>
      </p:sp>
      <p:sp>
        <p:nvSpPr>
          <p:cNvPr id="66603" name="Text Box 61"/>
          <p:cNvSpPr txBox="1">
            <a:spLocks noChangeArrowheads="1"/>
          </p:cNvSpPr>
          <p:nvPr/>
        </p:nvSpPr>
        <p:spPr bwMode="auto">
          <a:xfrm>
            <a:off x="7127875" y="5318125"/>
            <a:ext cx="720725" cy="396875"/>
          </a:xfrm>
          <a:prstGeom prst="rect">
            <a:avLst/>
          </a:prstGeom>
          <a:noFill/>
          <a:ln w="19050">
            <a:noFill/>
            <a:miter lim="800000"/>
            <a:headEnd/>
            <a:tailEnd/>
          </a:ln>
        </p:spPr>
        <p:txBody>
          <a:bodyPr lIns="0" tIns="0" rIns="0" bIns="0" anchor="ctr"/>
          <a:lstStyle/>
          <a:p>
            <a:pPr algn="l"/>
            <a:r>
              <a:rPr lang="es-ES_tradnl" dirty="0"/>
              <a:t>DQM</a:t>
            </a:r>
          </a:p>
        </p:txBody>
      </p:sp>
      <p:sp>
        <p:nvSpPr>
          <p:cNvPr id="66604" name="Line 62"/>
          <p:cNvSpPr>
            <a:spLocks noChangeShapeType="1"/>
          </p:cNvSpPr>
          <p:nvPr/>
        </p:nvSpPr>
        <p:spPr bwMode="auto">
          <a:xfrm>
            <a:off x="7969250" y="5486400"/>
            <a:ext cx="274638" cy="0"/>
          </a:xfrm>
          <a:prstGeom prst="line">
            <a:avLst/>
          </a:prstGeom>
          <a:noFill/>
          <a:ln w="19050">
            <a:solidFill>
              <a:schemeClr val="tx1"/>
            </a:solidFill>
            <a:round/>
            <a:headEnd/>
            <a:tailEnd type="triangle" w="med" len="med"/>
          </a:ln>
        </p:spPr>
        <p:txBody>
          <a:bodyPr lIns="0" tIns="0" rIns="0" bIns="0" anchor="ctr"/>
          <a:lstStyle/>
          <a:p>
            <a:endParaRPr lang="es-ES"/>
          </a:p>
        </p:txBody>
      </p:sp>
      <p:sp>
        <p:nvSpPr>
          <p:cNvPr id="52" name="Rectangle 2">
            <a:extLst>
              <a:ext uri="{FF2B5EF4-FFF2-40B4-BE49-F238E27FC236}">
                <a16:creationId xmlns:a16="http://schemas.microsoft.com/office/drawing/2014/main" id="{BA758999-EA9B-41EF-9884-F23B51E3AE81}"/>
              </a:ext>
            </a:extLst>
          </p:cNvPr>
          <p:cNvSpPr>
            <a:spLocks noGrp="1" noChangeArrowheads="1"/>
          </p:cNvSpPr>
          <p:nvPr>
            <p:ph type="title"/>
          </p:nvPr>
        </p:nvSpPr>
        <p:spPr>
          <a:xfrm>
            <a:off x="684213" y="115888"/>
            <a:ext cx="8250237" cy="865187"/>
          </a:xfrm>
        </p:spPr>
        <p:txBody>
          <a:bodyPr/>
          <a:lstStyle/>
          <a:p>
            <a:r>
              <a:rPr lang="es-ES" dirty="0"/>
              <a:t>Conceptos básicos</a:t>
            </a:r>
          </a:p>
        </p:txBody>
      </p:sp>
      <p:sp>
        <p:nvSpPr>
          <p:cNvPr id="7" name="Elipse 6">
            <a:extLst>
              <a:ext uri="{FF2B5EF4-FFF2-40B4-BE49-F238E27FC236}">
                <a16:creationId xmlns:a16="http://schemas.microsoft.com/office/drawing/2014/main" id="{F114E00D-CEAD-40DF-8C44-74812E97EDC8}"/>
              </a:ext>
            </a:extLst>
          </p:cNvPr>
          <p:cNvSpPr/>
          <p:nvPr/>
        </p:nvSpPr>
        <p:spPr bwMode="auto">
          <a:xfrm>
            <a:off x="4572000" y="1436688"/>
            <a:ext cx="3276600" cy="765044"/>
          </a:xfrm>
          <a:prstGeom prst="ellipse">
            <a:avLst/>
          </a:prstGeom>
          <a:noFill/>
          <a:ln w="19050">
            <a:solidFill>
              <a:schemeClr val="accent3"/>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Botón de acción: ir hacia atrás o anterior 4">
            <a:hlinkClick r:id="" action="ppaction://hlinkshowjump?jump=previousslide" highlightClick="1"/>
            <a:extLst>
              <a:ext uri="{FF2B5EF4-FFF2-40B4-BE49-F238E27FC236}">
                <a16:creationId xmlns:a16="http://schemas.microsoft.com/office/drawing/2014/main" id="{9F01CAC0-349F-4C03-9F96-D62F012E72D1}"/>
              </a:ext>
            </a:extLst>
          </p:cNvPr>
          <p:cNvSpPr/>
          <p:nvPr/>
        </p:nvSpPr>
        <p:spPr bwMode="auto">
          <a:xfrm>
            <a:off x="8333196" y="413991"/>
            <a:ext cx="288032" cy="328612"/>
          </a:xfrm>
          <a:prstGeom prst="actionButtonBackPrevious">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2 Marcador de número de diapositiva">
            <a:extLst>
              <a:ext uri="{FF2B5EF4-FFF2-40B4-BE49-F238E27FC236}">
                <a16:creationId xmlns:a16="http://schemas.microsoft.com/office/drawing/2014/main" id="{CF93FCE8-70A6-6798-C112-966804C8227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110</a:t>
            </a:fld>
            <a:endParaRPr lang="en-US" dirty="0"/>
          </a:p>
        </p:txBody>
      </p:sp>
    </p:spTree>
    <p:extLst>
      <p:ext uri="{BB962C8B-B14F-4D97-AF65-F5344CB8AC3E}">
        <p14:creationId xmlns:p14="http://schemas.microsoft.com/office/powerpoint/2010/main" val="2469953207"/>
      </p:ext>
    </p:extLst>
  </p:cSld>
  <p:clrMapOvr>
    <a:masterClrMapping/>
  </p:clrMapOvr>
  <p:transition advClick="0"/>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p:txBody>
          <a:bodyPr/>
          <a:lstStyle/>
          <a:p>
            <a:r>
              <a:rPr lang="es-ES" altLang="es-ES_tradnl" dirty="0"/>
              <a:t>Conceptos básicos</a:t>
            </a:r>
          </a:p>
        </p:txBody>
      </p:sp>
      <p:sp>
        <p:nvSpPr>
          <p:cNvPr id="84996" name="Rectangle 3"/>
          <p:cNvSpPr>
            <a:spLocks noGrp="1" noChangeArrowheads="1"/>
          </p:cNvSpPr>
          <p:nvPr>
            <p:ph type="body" idx="1"/>
          </p:nvPr>
        </p:nvSpPr>
        <p:spPr/>
        <p:txBody>
          <a:bodyPr/>
          <a:lstStyle/>
          <a:p>
            <a:r>
              <a:rPr lang="es-ES" altLang="es-ES_tradnl" dirty="0"/>
              <a:t>Un módulo de memoria es un conjunto de chips que cumplen unos determinados requerimientos  </a:t>
            </a:r>
          </a:p>
          <a:p>
            <a:pPr lvl="1"/>
            <a:r>
              <a:rPr lang="es-ES" altLang="es-ES_tradnl" dirty="0"/>
              <a:t>Usualmente, cada módulo es de un tipo de memoria determinado: ROM, SRAM, DRAM, etc.</a:t>
            </a:r>
          </a:p>
          <a:p>
            <a:r>
              <a:rPr lang="es-ES" altLang="es-ES_tradnl" dirty="0"/>
              <a:t>Cada módulo, a través de un mecanismo de selección, soporta un conjunto de direcciones dentro del espacio de direccionamiento global del procesador</a:t>
            </a:r>
          </a:p>
          <a:p>
            <a:r>
              <a:rPr lang="es-ES" altLang="es-ES_tradnl" dirty="0"/>
              <a:t>La distribución del espacio </a:t>
            </a:r>
            <a:r>
              <a:rPr lang="es-ES" altLang="es-ES_tradnl" dirty="0" err="1"/>
              <a:t>direccionable</a:t>
            </a:r>
            <a:r>
              <a:rPr lang="es-ES" altLang="es-ES_tradnl" dirty="0"/>
              <a:t> del procesador entre los módulos (conjunto de direcciones que corresponden a cada módulo) se denomina mapa de memoria</a:t>
            </a:r>
          </a:p>
        </p:txBody>
      </p:sp>
      <p:sp>
        <p:nvSpPr>
          <p:cNvPr id="2" name="2 Marcador de número de diapositiva">
            <a:extLst>
              <a:ext uri="{FF2B5EF4-FFF2-40B4-BE49-F238E27FC236}">
                <a16:creationId xmlns:a16="http://schemas.microsoft.com/office/drawing/2014/main" id="{183B721D-9805-1A8A-1FDF-63BEC55AD45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111</a:t>
            </a:fld>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0E79678-5838-4222-ACB8-37FFF6F38465}"/>
              </a:ext>
            </a:extLst>
          </p:cNvPr>
          <p:cNvPicPr>
            <a:picLocks noChangeAspect="1"/>
          </p:cNvPicPr>
          <p:nvPr/>
        </p:nvPicPr>
        <p:blipFill>
          <a:blip r:embed="rId3"/>
          <a:stretch>
            <a:fillRect/>
          </a:stretch>
        </p:blipFill>
        <p:spPr>
          <a:xfrm>
            <a:off x="617964" y="2779447"/>
            <a:ext cx="8150585" cy="3513184"/>
          </a:xfrm>
          <a:prstGeom prst="rect">
            <a:avLst/>
          </a:prstGeom>
        </p:spPr>
      </p:pic>
      <p:sp>
        <p:nvSpPr>
          <p:cNvPr id="38916" name="Rectangle 2"/>
          <p:cNvSpPr>
            <a:spLocks noGrp="1" noChangeArrowheads="1"/>
          </p:cNvSpPr>
          <p:nvPr>
            <p:ph type="title"/>
          </p:nvPr>
        </p:nvSpPr>
        <p:spPr/>
        <p:txBody>
          <a:bodyPr/>
          <a:lstStyle/>
          <a:p>
            <a:r>
              <a:rPr lang="es-ES" dirty="0"/>
              <a:t>Conceptos básicos</a:t>
            </a:r>
          </a:p>
        </p:txBody>
      </p:sp>
      <p:sp>
        <p:nvSpPr>
          <p:cNvPr id="10" name="CuadroTexto 9">
            <a:extLst>
              <a:ext uri="{FF2B5EF4-FFF2-40B4-BE49-F238E27FC236}">
                <a16:creationId xmlns:a16="http://schemas.microsoft.com/office/drawing/2014/main" id="{CAF35387-5392-47A8-B7D0-C0649EB48465}"/>
              </a:ext>
            </a:extLst>
          </p:cNvPr>
          <p:cNvSpPr txBox="1"/>
          <p:nvPr/>
        </p:nvSpPr>
        <p:spPr>
          <a:xfrm>
            <a:off x="8215744" y="3158922"/>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17964" y="922132"/>
            <a:ext cx="8138864" cy="1002579"/>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800" dirty="0"/>
              <a:t>La selección de los módulos se realiza con las líneas de la dirección que no se utilizan para seleccionar las palabras, por eso en cada módulo se emplean unas líneas distintas:</a:t>
            </a:r>
          </a:p>
          <a:p>
            <a:pPr>
              <a:lnSpc>
                <a:spcPct val="100000"/>
              </a:lnSpc>
              <a:spcBef>
                <a:spcPts val="0"/>
              </a:spcBef>
            </a:pPr>
            <a:endParaRPr lang="es-ES" sz="1800" dirty="0"/>
          </a:p>
        </p:txBody>
      </p:sp>
      <p:sp>
        <p:nvSpPr>
          <p:cNvPr id="68" name="CuadroTexto 67">
            <a:extLst>
              <a:ext uri="{FF2B5EF4-FFF2-40B4-BE49-F238E27FC236}">
                <a16:creationId xmlns:a16="http://schemas.microsoft.com/office/drawing/2014/main" id="{A0C37C0A-20D5-4A19-A59D-D4AEAE0DEDC4}"/>
              </a:ext>
            </a:extLst>
          </p:cNvPr>
          <p:cNvSpPr txBox="1"/>
          <p:nvPr/>
        </p:nvSpPr>
        <p:spPr>
          <a:xfrm>
            <a:off x="7729576" y="2678141"/>
            <a:ext cx="1414424" cy="307777"/>
          </a:xfrm>
          <a:prstGeom prst="rect">
            <a:avLst/>
          </a:prstGeom>
          <a:noFill/>
        </p:spPr>
        <p:txBody>
          <a:bodyPr wrap="square" rtlCol="0">
            <a:spAutoFit/>
          </a:bodyPr>
          <a:lstStyle/>
          <a:p>
            <a:r>
              <a:rPr lang="es-ES" sz="1400" dirty="0">
                <a:solidFill>
                  <a:schemeClr val="accent1">
                    <a:lumMod val="75000"/>
                  </a:schemeClr>
                </a:solidFill>
              </a:rPr>
              <a:t>MP</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5768975" y="3129313"/>
            <a:ext cx="2987853" cy="2409888"/>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783BEC40-8B22-4E37-B64F-D4D6BD4674F1}"/>
              </a:ext>
            </a:extLst>
          </p:cNvPr>
          <p:cNvSpPr txBox="1"/>
          <p:nvPr/>
        </p:nvSpPr>
        <p:spPr>
          <a:xfrm>
            <a:off x="845016" y="2699455"/>
            <a:ext cx="3006903" cy="523220"/>
          </a:xfrm>
          <a:prstGeom prst="rect">
            <a:avLst/>
          </a:prstGeom>
          <a:noFill/>
        </p:spPr>
        <p:txBody>
          <a:bodyPr wrap="square" rtlCol="0">
            <a:spAutoFit/>
          </a:bodyPr>
          <a:lstStyle/>
          <a:p>
            <a:r>
              <a:rPr lang="es-ES" sz="1400" dirty="0">
                <a:solidFill>
                  <a:schemeClr val="accent1">
                    <a:lumMod val="75000"/>
                  </a:schemeClr>
                </a:solidFill>
              </a:rPr>
              <a:t>Ejemplo con dos módulos de memoria: 2</a:t>
            </a:r>
            <a:r>
              <a:rPr lang="es-ES" sz="1400" baseline="30000" dirty="0">
                <a:solidFill>
                  <a:schemeClr val="accent1">
                    <a:lumMod val="75000"/>
                  </a:schemeClr>
                </a:solidFill>
              </a:rPr>
              <a:t>x1</a:t>
            </a:r>
            <a:r>
              <a:rPr lang="es-ES" sz="1400" dirty="0">
                <a:solidFill>
                  <a:schemeClr val="accent1">
                    <a:lumMod val="75000"/>
                  </a:schemeClr>
                </a:solidFill>
              </a:rPr>
              <a:t> B + 2</a:t>
            </a:r>
            <a:r>
              <a:rPr lang="es-ES" sz="1400" baseline="30000" dirty="0">
                <a:solidFill>
                  <a:schemeClr val="accent1">
                    <a:lumMod val="75000"/>
                  </a:schemeClr>
                </a:solidFill>
              </a:rPr>
              <a:t>x2</a:t>
            </a:r>
            <a:r>
              <a:rPr lang="es-ES" sz="1400" dirty="0">
                <a:solidFill>
                  <a:schemeClr val="accent1">
                    <a:lumMod val="75000"/>
                  </a:schemeClr>
                </a:solidFill>
              </a:rPr>
              <a:t> B </a:t>
            </a:r>
            <a:r>
              <a:rPr lang="es-ES" sz="1400" dirty="0">
                <a:solidFill>
                  <a:schemeClr val="accent1">
                    <a:lumMod val="75000"/>
                  </a:schemeClr>
                </a:solidFill>
                <a:sym typeface="Symbol" panose="05050102010706020507" pitchFamily="18" charset="2"/>
              </a:rPr>
              <a:t> 2</a:t>
            </a:r>
            <a:r>
              <a:rPr lang="es-ES" sz="1400" baseline="30000" dirty="0">
                <a:solidFill>
                  <a:schemeClr val="accent1">
                    <a:lumMod val="75000"/>
                  </a:schemeClr>
                </a:solidFill>
                <a:sym typeface="Symbol" panose="05050102010706020507" pitchFamily="18" charset="2"/>
              </a:rPr>
              <a:t>x</a:t>
            </a:r>
            <a:r>
              <a:rPr lang="es-ES" sz="1400" dirty="0">
                <a:solidFill>
                  <a:schemeClr val="accent1">
                    <a:lumMod val="75000"/>
                  </a:schemeClr>
                </a:solidFill>
                <a:sym typeface="Symbol" panose="05050102010706020507" pitchFamily="18" charset="2"/>
              </a:rPr>
              <a:t> B</a:t>
            </a:r>
            <a:endParaRPr lang="es-ES" sz="1400" dirty="0">
              <a:solidFill>
                <a:schemeClr val="accent1">
                  <a:lumMod val="75000"/>
                </a:schemeClr>
              </a:solidFill>
            </a:endParaRPr>
          </a:p>
        </p:txBody>
      </p:sp>
      <p:sp>
        <p:nvSpPr>
          <p:cNvPr id="14" name="CuadroTexto 13">
            <a:extLst>
              <a:ext uri="{FF2B5EF4-FFF2-40B4-BE49-F238E27FC236}">
                <a16:creationId xmlns:a16="http://schemas.microsoft.com/office/drawing/2014/main" id="{0753CDA0-FFE3-4337-BC0C-761DB3B93F7E}"/>
              </a:ext>
            </a:extLst>
          </p:cNvPr>
          <p:cNvSpPr txBox="1"/>
          <p:nvPr/>
        </p:nvSpPr>
        <p:spPr>
          <a:xfrm>
            <a:off x="8176220" y="5013176"/>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x2</a:t>
            </a:r>
            <a:r>
              <a:rPr lang="es-ES" sz="1400" dirty="0">
                <a:solidFill>
                  <a:schemeClr val="accent1">
                    <a:lumMod val="75000"/>
                  </a:schemeClr>
                </a:solidFill>
              </a:rPr>
              <a:t> B</a:t>
            </a:r>
          </a:p>
        </p:txBody>
      </p:sp>
      <p:sp>
        <p:nvSpPr>
          <p:cNvPr id="2" name="CuadroTexto 1">
            <a:extLst>
              <a:ext uri="{FF2B5EF4-FFF2-40B4-BE49-F238E27FC236}">
                <a16:creationId xmlns:a16="http://schemas.microsoft.com/office/drawing/2014/main" id="{644707BF-181E-41D1-8870-FCCA9FDA53B9}"/>
              </a:ext>
            </a:extLst>
          </p:cNvPr>
          <p:cNvSpPr txBox="1"/>
          <p:nvPr/>
        </p:nvSpPr>
        <p:spPr>
          <a:xfrm>
            <a:off x="3887924" y="5651987"/>
            <a:ext cx="1368152" cy="307777"/>
          </a:xfrm>
          <a:prstGeom prst="rect">
            <a:avLst/>
          </a:prstGeom>
          <a:noFill/>
        </p:spPr>
        <p:txBody>
          <a:bodyPr wrap="square" rtlCol="0">
            <a:spAutoFit/>
          </a:bodyPr>
          <a:lstStyle/>
          <a:p>
            <a:r>
              <a:rPr lang="es-ES" sz="1400" dirty="0">
                <a:solidFill>
                  <a:schemeClr val="accent1">
                    <a:lumMod val="75000"/>
                  </a:schemeClr>
                </a:solidFill>
              </a:rPr>
              <a:t>= 4 B = 2</a:t>
            </a:r>
            <a:r>
              <a:rPr lang="es-ES" sz="1400" baseline="30000" dirty="0">
                <a:solidFill>
                  <a:schemeClr val="accent1">
                    <a:lumMod val="75000"/>
                  </a:schemeClr>
                </a:solidFill>
              </a:rPr>
              <a:t>2</a:t>
            </a:r>
            <a:endParaRPr lang="es-ES" sz="1400" dirty="0">
              <a:solidFill>
                <a:schemeClr val="accent1">
                  <a:lumMod val="75000"/>
                </a:schemeClr>
              </a:solidFill>
            </a:endParaRPr>
          </a:p>
        </p:txBody>
      </p:sp>
      <p:sp>
        <p:nvSpPr>
          <p:cNvPr id="12" name="Rectángulo 11">
            <a:extLst>
              <a:ext uri="{FF2B5EF4-FFF2-40B4-BE49-F238E27FC236}">
                <a16:creationId xmlns:a16="http://schemas.microsoft.com/office/drawing/2014/main" id="{278E785A-BA01-4288-9B19-4912B9E8A770}"/>
              </a:ext>
            </a:extLst>
          </p:cNvPr>
          <p:cNvSpPr/>
          <p:nvPr/>
        </p:nvSpPr>
        <p:spPr>
          <a:xfrm>
            <a:off x="2898170" y="1635756"/>
            <a:ext cx="1229824"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X-1</a:t>
            </a:r>
            <a:r>
              <a:rPr lang="es-ES" dirty="0">
                <a:solidFill>
                  <a:schemeClr val="accent1">
                    <a:lumMod val="75000"/>
                  </a:schemeClr>
                </a:solidFill>
              </a:rPr>
              <a:t>…A</a:t>
            </a:r>
            <a:r>
              <a:rPr lang="es-ES" baseline="-25000" dirty="0">
                <a:solidFill>
                  <a:schemeClr val="accent1">
                    <a:lumMod val="75000"/>
                  </a:schemeClr>
                </a:solidFill>
              </a:rPr>
              <a:t>x1</a:t>
            </a:r>
            <a:endParaRPr lang="es-ES" dirty="0"/>
          </a:p>
        </p:txBody>
      </p:sp>
      <p:sp>
        <p:nvSpPr>
          <p:cNvPr id="13" name="Rectángulo 12">
            <a:extLst>
              <a:ext uri="{FF2B5EF4-FFF2-40B4-BE49-F238E27FC236}">
                <a16:creationId xmlns:a16="http://schemas.microsoft.com/office/drawing/2014/main" id="{94658BE1-7251-4DD0-B085-1F7956EECCDE}"/>
              </a:ext>
            </a:extLst>
          </p:cNvPr>
          <p:cNvSpPr/>
          <p:nvPr/>
        </p:nvSpPr>
        <p:spPr>
          <a:xfrm>
            <a:off x="4139932" y="1635756"/>
            <a:ext cx="2876108" cy="400110"/>
          </a:xfrm>
          <a:prstGeom prst="rect">
            <a:avLst/>
          </a:prstGeom>
          <a:solidFill>
            <a:schemeClr val="bg1"/>
          </a:solidFill>
        </p:spPr>
        <p:txBody>
          <a:bodyPr wrap="none">
            <a:spAutoFit/>
          </a:bodyPr>
          <a:lstStyle/>
          <a:p>
            <a:pPr algn="l"/>
            <a:r>
              <a:rPr lang="es-ES" dirty="0">
                <a:solidFill>
                  <a:schemeClr val="accent1">
                    <a:lumMod val="75000"/>
                  </a:schemeClr>
                </a:solidFill>
              </a:rPr>
              <a:t>A</a:t>
            </a:r>
            <a:r>
              <a:rPr lang="es-ES" baseline="-25000" dirty="0">
                <a:solidFill>
                  <a:schemeClr val="accent1">
                    <a:lumMod val="75000"/>
                  </a:schemeClr>
                </a:solidFill>
              </a:rPr>
              <a:t>x1-1…………..……….............</a:t>
            </a:r>
            <a:r>
              <a:rPr lang="es-ES" dirty="0">
                <a:solidFill>
                  <a:schemeClr val="accent1">
                    <a:lumMod val="75000"/>
                  </a:schemeClr>
                </a:solidFill>
              </a:rPr>
              <a:t>A</a:t>
            </a:r>
            <a:r>
              <a:rPr lang="es-ES" baseline="-25000" dirty="0">
                <a:solidFill>
                  <a:schemeClr val="accent1">
                    <a:lumMod val="75000"/>
                  </a:schemeClr>
                </a:solidFill>
              </a:rPr>
              <a:t>0</a:t>
            </a:r>
            <a:endParaRPr lang="es-ES" dirty="0"/>
          </a:p>
        </p:txBody>
      </p:sp>
      <p:sp>
        <p:nvSpPr>
          <p:cNvPr id="15" name="CuadroTexto 14">
            <a:extLst>
              <a:ext uri="{FF2B5EF4-FFF2-40B4-BE49-F238E27FC236}">
                <a16:creationId xmlns:a16="http://schemas.microsoft.com/office/drawing/2014/main" id="{26E86C01-C348-46EE-9F2A-F02F015CE141}"/>
              </a:ext>
            </a:extLst>
          </p:cNvPr>
          <p:cNvSpPr txBox="1"/>
          <p:nvPr/>
        </p:nvSpPr>
        <p:spPr>
          <a:xfrm>
            <a:off x="4172239" y="2059280"/>
            <a:ext cx="2650085" cy="307777"/>
          </a:xfrm>
          <a:prstGeom prst="rect">
            <a:avLst/>
          </a:prstGeom>
          <a:noFill/>
        </p:spPr>
        <p:txBody>
          <a:bodyPr wrap="none" rtlCol="0">
            <a:spAutoFit/>
          </a:bodyPr>
          <a:lstStyle/>
          <a:p>
            <a:r>
              <a:rPr lang="es-ES" sz="1400" dirty="0">
                <a:solidFill>
                  <a:schemeClr val="accent1">
                    <a:lumMod val="75000"/>
                  </a:schemeClr>
                </a:solidFill>
              </a:rPr>
              <a:t>Dirección del módulo de 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16" name="CuadroTexto 15">
            <a:extLst>
              <a:ext uri="{FF2B5EF4-FFF2-40B4-BE49-F238E27FC236}">
                <a16:creationId xmlns:a16="http://schemas.microsoft.com/office/drawing/2014/main" id="{4ECC7DEF-AC2A-49F3-B7EE-6004B5171E18}"/>
              </a:ext>
            </a:extLst>
          </p:cNvPr>
          <p:cNvSpPr txBox="1"/>
          <p:nvPr/>
        </p:nvSpPr>
        <p:spPr>
          <a:xfrm>
            <a:off x="2207275" y="2067465"/>
            <a:ext cx="1887055" cy="307777"/>
          </a:xfrm>
          <a:prstGeom prst="rect">
            <a:avLst/>
          </a:prstGeom>
          <a:noFill/>
        </p:spPr>
        <p:txBody>
          <a:bodyPr wrap="none" rtlCol="0">
            <a:spAutoFit/>
          </a:bodyPr>
          <a:lstStyle/>
          <a:p>
            <a:r>
              <a:rPr lang="es-ES" sz="1400" dirty="0">
                <a:solidFill>
                  <a:schemeClr val="accent1">
                    <a:lumMod val="75000"/>
                  </a:schemeClr>
                </a:solidFill>
              </a:rPr>
              <a:t>Selección del módulo</a:t>
            </a:r>
          </a:p>
        </p:txBody>
      </p:sp>
      <p:cxnSp>
        <p:nvCxnSpPr>
          <p:cNvPr id="6" name="Conector: angular 5">
            <a:extLst>
              <a:ext uri="{FF2B5EF4-FFF2-40B4-BE49-F238E27FC236}">
                <a16:creationId xmlns:a16="http://schemas.microsoft.com/office/drawing/2014/main" id="{703E3142-CFFD-4B2C-8A9C-FC11E9789054}"/>
              </a:ext>
            </a:extLst>
          </p:cNvPr>
          <p:cNvCxnSpPr>
            <a:cxnSpLocks/>
            <a:endCxn id="12" idx="1"/>
          </p:cNvCxnSpPr>
          <p:nvPr/>
        </p:nvCxnSpPr>
        <p:spPr bwMode="auto">
          <a:xfrm rot="5400000" flipH="1" flipV="1">
            <a:off x="540225" y="1913550"/>
            <a:ext cx="2435684" cy="2280206"/>
          </a:xfrm>
          <a:prstGeom prst="bentConnector2">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9" name="Conector recto 18">
            <a:extLst>
              <a:ext uri="{FF2B5EF4-FFF2-40B4-BE49-F238E27FC236}">
                <a16:creationId xmlns:a16="http://schemas.microsoft.com/office/drawing/2014/main" id="{A9996B66-62F1-48D3-B1C7-E0DBDD722ACF}"/>
              </a:ext>
            </a:extLst>
          </p:cNvPr>
          <p:cNvCxnSpPr/>
          <p:nvPr/>
        </p:nvCxnSpPr>
        <p:spPr bwMode="auto">
          <a:xfrm>
            <a:off x="617964" y="4240229"/>
            <a:ext cx="410254" cy="0"/>
          </a:xfrm>
          <a:prstGeom prst="line">
            <a:avLst/>
          </a:prstGeom>
          <a:ln w="12700"/>
        </p:spPr>
        <p:style>
          <a:lnRef idx="2">
            <a:schemeClr val="accent1">
              <a:shade val="50000"/>
            </a:schemeClr>
          </a:lnRef>
          <a:fillRef idx="1">
            <a:schemeClr val="accent1"/>
          </a:fillRef>
          <a:effectRef idx="0">
            <a:schemeClr val="accent1"/>
          </a:effectRef>
          <a:fontRef idx="minor">
            <a:schemeClr val="lt1"/>
          </a:fontRef>
        </p:style>
      </p:cxnSp>
      <p:sp>
        <p:nvSpPr>
          <p:cNvPr id="20" name="Rectángulo: esquinas redondeadas 19">
            <a:extLst>
              <a:ext uri="{FF2B5EF4-FFF2-40B4-BE49-F238E27FC236}">
                <a16:creationId xmlns:a16="http://schemas.microsoft.com/office/drawing/2014/main" id="{0D925D4A-B058-43A9-8039-DA340E85F622}"/>
              </a:ext>
            </a:extLst>
          </p:cNvPr>
          <p:cNvSpPr/>
          <p:nvPr/>
        </p:nvSpPr>
        <p:spPr bwMode="auto">
          <a:xfrm>
            <a:off x="2123728" y="2035866"/>
            <a:ext cx="2048511" cy="426832"/>
          </a:xfrm>
          <a:prstGeom prst="round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2" name="Conector recto de flecha 21">
            <a:extLst>
              <a:ext uri="{FF2B5EF4-FFF2-40B4-BE49-F238E27FC236}">
                <a16:creationId xmlns:a16="http://schemas.microsoft.com/office/drawing/2014/main" id="{CE3F269C-CA9B-475C-8A7E-6EC7B279D568}"/>
              </a:ext>
            </a:extLst>
          </p:cNvPr>
          <p:cNvCxnSpPr/>
          <p:nvPr/>
        </p:nvCxnSpPr>
        <p:spPr bwMode="auto">
          <a:xfrm>
            <a:off x="3851919" y="2542690"/>
            <a:ext cx="1147917" cy="1310925"/>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 name="2 Marcador de número de diapositiva">
            <a:extLst>
              <a:ext uri="{FF2B5EF4-FFF2-40B4-BE49-F238E27FC236}">
                <a16:creationId xmlns:a16="http://schemas.microsoft.com/office/drawing/2014/main" id="{486BF431-3548-6420-3520-61174E595F6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112</a:t>
            </a:fld>
            <a:endParaRPr lang="en-US" dirty="0"/>
          </a:p>
        </p:txBody>
      </p:sp>
    </p:spTree>
    <p:extLst>
      <p:ext uri="{BB962C8B-B14F-4D97-AF65-F5344CB8AC3E}">
        <p14:creationId xmlns:p14="http://schemas.microsoft.com/office/powerpoint/2010/main" val="35665378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p:txBody>
          <a:bodyPr/>
          <a:lstStyle/>
          <a:p>
            <a:r>
              <a:rPr lang="es-ES_tradnl" altLang="es-ES_tradnl" dirty="0"/>
              <a:t>Conceptos básicos</a:t>
            </a:r>
          </a:p>
        </p:txBody>
      </p:sp>
      <p:sp>
        <p:nvSpPr>
          <p:cNvPr id="153" name="Rectangle 4"/>
          <p:cNvSpPr>
            <a:spLocks noChangeArrowheads="1"/>
          </p:cNvSpPr>
          <p:nvPr/>
        </p:nvSpPr>
        <p:spPr bwMode="auto">
          <a:xfrm>
            <a:off x="6444208" y="2107704"/>
            <a:ext cx="2160240" cy="457200"/>
          </a:xfrm>
          <a:prstGeom prst="rect">
            <a:avLst/>
          </a:prstGeom>
          <a:noFill/>
          <a:ln w="19050">
            <a:solidFill>
              <a:schemeClr val="tx1"/>
            </a:solidFill>
            <a:miter lim="800000"/>
            <a:headEnd/>
            <a:tailEnd/>
          </a:ln>
        </p:spPr>
        <p:txBody>
          <a:bodyPr wrap="none" lIns="0" tIns="0" rIns="0" bIns="0" anchor="ctr"/>
          <a:lstStyle/>
          <a:p>
            <a:r>
              <a:rPr lang="es-ES_tradnl" sz="1800" dirty="0"/>
              <a:t>BE*</a:t>
            </a:r>
            <a:r>
              <a:rPr lang="es-ES_tradnl" sz="1800" b="1" baseline="-25000" dirty="0"/>
              <a:t>3 </a:t>
            </a:r>
            <a:r>
              <a:rPr lang="es-ES_tradnl" sz="1800" dirty="0"/>
              <a:t>BE*</a:t>
            </a:r>
            <a:r>
              <a:rPr lang="es-ES_tradnl" sz="1800" b="1" baseline="-25000" dirty="0"/>
              <a:t>2 </a:t>
            </a:r>
            <a:r>
              <a:rPr lang="es-ES_tradnl" sz="1800" dirty="0"/>
              <a:t>BE*</a:t>
            </a:r>
            <a:r>
              <a:rPr lang="es-ES_tradnl" sz="1800" b="1" baseline="-25000" dirty="0"/>
              <a:t>1 </a:t>
            </a:r>
            <a:r>
              <a:rPr lang="es-ES_tradnl" sz="1800" dirty="0"/>
              <a:t>BE*</a:t>
            </a:r>
            <a:r>
              <a:rPr lang="es-ES_tradnl" sz="1800" b="1" baseline="-25000" dirty="0"/>
              <a:t>0</a:t>
            </a:r>
            <a:endParaRPr lang="es-ES_tradnl" sz="1800" baseline="-25000" dirty="0"/>
          </a:p>
        </p:txBody>
      </p:sp>
      <p:sp>
        <p:nvSpPr>
          <p:cNvPr id="164" name="Rectangle 15"/>
          <p:cNvSpPr>
            <a:spLocks noChangeArrowheads="1"/>
          </p:cNvSpPr>
          <p:nvPr/>
        </p:nvSpPr>
        <p:spPr bwMode="auto">
          <a:xfrm>
            <a:off x="827584" y="2107506"/>
            <a:ext cx="5616624" cy="457200"/>
          </a:xfrm>
          <a:prstGeom prst="rect">
            <a:avLst/>
          </a:prstGeom>
          <a:noFill/>
          <a:ln w="19050">
            <a:solidFill>
              <a:schemeClr val="tx1"/>
            </a:solidFill>
            <a:miter lim="800000"/>
            <a:headEnd/>
            <a:tailEnd/>
          </a:ln>
        </p:spPr>
        <p:txBody>
          <a:bodyPr wrap="none" lIns="0" tIns="0" rIns="0" bIns="0" anchor="ctr"/>
          <a:lstStyle/>
          <a:p>
            <a:pPr algn="l"/>
            <a:r>
              <a:rPr lang="es-ES_tradnl" dirty="0"/>
              <a:t>  A</a:t>
            </a:r>
            <a:r>
              <a:rPr lang="es-ES_tradnl" b="1" baseline="-25000" dirty="0"/>
              <a:t>X−1   </a:t>
            </a:r>
            <a:r>
              <a:rPr lang="es-ES_tradnl" b="1" dirty="0"/>
              <a:t>                        …..                                   </a:t>
            </a:r>
            <a:r>
              <a:rPr lang="es-ES_tradnl" dirty="0"/>
              <a:t>A</a:t>
            </a:r>
            <a:r>
              <a:rPr lang="es-ES_tradnl" b="1" baseline="-25000" dirty="0"/>
              <a:t>2</a:t>
            </a:r>
          </a:p>
        </p:txBody>
      </p:sp>
      <p:sp>
        <p:nvSpPr>
          <p:cNvPr id="168" name="167 CuadroTexto"/>
          <p:cNvSpPr txBox="1"/>
          <p:nvPr/>
        </p:nvSpPr>
        <p:spPr>
          <a:xfrm>
            <a:off x="683568" y="1660738"/>
            <a:ext cx="4629794" cy="400110"/>
          </a:xfrm>
          <a:prstGeom prst="rect">
            <a:avLst/>
          </a:prstGeom>
          <a:noFill/>
        </p:spPr>
        <p:txBody>
          <a:bodyPr wrap="none" rtlCol="0">
            <a:spAutoFit/>
          </a:bodyPr>
          <a:lstStyle/>
          <a:p>
            <a:pPr algn="l"/>
            <a:r>
              <a:rPr lang="es-ES" dirty="0"/>
              <a:t>Bus físico de direcciones (CPU 32 bits)</a:t>
            </a:r>
          </a:p>
        </p:txBody>
      </p:sp>
      <p:sp>
        <p:nvSpPr>
          <p:cNvPr id="169" name="Rectangle 3"/>
          <p:cNvSpPr txBox="1">
            <a:spLocks noChangeArrowheads="1"/>
          </p:cNvSpPr>
          <p:nvPr/>
        </p:nvSpPr>
        <p:spPr bwMode="auto">
          <a:xfrm>
            <a:off x="533400" y="1052736"/>
            <a:ext cx="8401050"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lang="es-ES" altLang="es-ES_tradnl" sz="2400" kern="0" dirty="0">
                <a:latin typeface="+mn-lt"/>
              </a:rPr>
              <a:t>CPU con capacidad de direccionar 2</a:t>
            </a:r>
            <a:r>
              <a:rPr lang="es-ES" altLang="es-ES_tradnl" sz="2400" kern="0" baseline="30000" dirty="0">
                <a:latin typeface="+mn-lt"/>
              </a:rPr>
              <a:t>X</a:t>
            </a:r>
            <a:r>
              <a:rPr lang="es-ES" altLang="es-ES_tradnl" sz="2400" kern="0" dirty="0">
                <a:latin typeface="+mn-lt"/>
              </a:rPr>
              <a:t> Bytes, y palabas de 32bits</a:t>
            </a:r>
            <a:endParaRPr kumimoji="0" lang="es-ES" altLang="es-ES_tradnl" sz="2400" b="0" i="0" u="none" strike="noStrike" kern="0" cap="none" spc="0" normalizeH="0" baseline="0" noProof="0" dirty="0">
              <a:ln>
                <a:noFill/>
              </a:ln>
              <a:effectLst/>
              <a:uLnTx/>
              <a:uFillTx/>
              <a:latin typeface="+mn-lt"/>
              <a:ea typeface="+mn-ea"/>
              <a:cs typeface="+mn-cs"/>
            </a:endParaRPr>
          </a:p>
        </p:txBody>
      </p:sp>
      <p:sp>
        <p:nvSpPr>
          <p:cNvPr id="170" name="Rectangle 4"/>
          <p:cNvSpPr>
            <a:spLocks noChangeArrowheads="1"/>
          </p:cNvSpPr>
          <p:nvPr/>
        </p:nvSpPr>
        <p:spPr bwMode="auto">
          <a:xfrm>
            <a:off x="6444208" y="3331840"/>
            <a:ext cx="2160240" cy="457200"/>
          </a:xfrm>
          <a:prstGeom prst="rect">
            <a:avLst/>
          </a:prstGeom>
          <a:solidFill>
            <a:srgbClr val="7030A0"/>
          </a:solidFill>
          <a:ln w="19050">
            <a:solidFill>
              <a:schemeClr val="tx1"/>
            </a:solidFill>
            <a:miter lim="800000"/>
            <a:headEnd/>
            <a:tailEnd/>
          </a:ln>
        </p:spPr>
        <p:txBody>
          <a:bodyPr wrap="none" lIns="0" tIns="0" rIns="0" bIns="0" anchor="ctr"/>
          <a:lstStyle/>
          <a:p>
            <a:r>
              <a:rPr lang="es-ES_tradnl" sz="1800" b="1" dirty="0" err="1">
                <a:solidFill>
                  <a:srgbClr val="FFFFFF"/>
                </a:solidFill>
              </a:rPr>
              <a:t>Sel</a:t>
            </a:r>
            <a:r>
              <a:rPr lang="es-ES_tradnl" sz="1800" b="1" dirty="0">
                <a:solidFill>
                  <a:srgbClr val="FFFFFF"/>
                </a:solidFill>
              </a:rPr>
              <a:t>. Bytes</a:t>
            </a:r>
            <a:endParaRPr lang="es-ES_tradnl" sz="1800" b="1" baseline="-25000" dirty="0"/>
          </a:p>
        </p:txBody>
      </p:sp>
      <p:sp>
        <p:nvSpPr>
          <p:cNvPr id="171" name="Rectangle 15"/>
          <p:cNvSpPr>
            <a:spLocks noChangeArrowheads="1"/>
          </p:cNvSpPr>
          <p:nvPr/>
        </p:nvSpPr>
        <p:spPr bwMode="auto">
          <a:xfrm>
            <a:off x="827584" y="3331642"/>
            <a:ext cx="1656184" cy="457200"/>
          </a:xfrm>
          <a:prstGeom prst="rect">
            <a:avLst/>
          </a:prstGeom>
          <a:solidFill>
            <a:srgbClr val="FF0000"/>
          </a:solidFill>
          <a:ln w="19050">
            <a:solidFill>
              <a:schemeClr val="tx1"/>
            </a:solidFill>
            <a:miter lim="800000"/>
            <a:headEnd/>
            <a:tailEnd/>
          </a:ln>
        </p:spPr>
        <p:txBody>
          <a:bodyPr wrap="none" lIns="0" tIns="0" rIns="0" bIns="0" anchor="ctr"/>
          <a:lstStyle/>
          <a:p>
            <a:r>
              <a:rPr lang="es-ES_tradnl" b="1" dirty="0">
                <a:solidFill>
                  <a:srgbClr val="FFFFFF"/>
                </a:solidFill>
              </a:rPr>
              <a:t>  </a:t>
            </a:r>
            <a:r>
              <a:rPr lang="es-ES_tradnl" b="1" dirty="0" err="1">
                <a:solidFill>
                  <a:srgbClr val="FFFFFF"/>
                </a:solidFill>
              </a:rPr>
              <a:t>Sel</a:t>
            </a:r>
            <a:r>
              <a:rPr lang="es-ES_tradnl" b="1" dirty="0">
                <a:solidFill>
                  <a:srgbClr val="FFFFFF"/>
                </a:solidFill>
              </a:rPr>
              <a:t>. Módulo</a:t>
            </a:r>
            <a:endParaRPr lang="es-ES_tradnl" b="1" baseline="-25000" dirty="0">
              <a:solidFill>
                <a:srgbClr val="FFFFFF"/>
              </a:solidFill>
            </a:endParaRPr>
          </a:p>
        </p:txBody>
      </p:sp>
      <p:sp>
        <p:nvSpPr>
          <p:cNvPr id="173" name="Rectangle 15"/>
          <p:cNvSpPr>
            <a:spLocks noChangeArrowheads="1"/>
          </p:cNvSpPr>
          <p:nvPr/>
        </p:nvSpPr>
        <p:spPr bwMode="auto">
          <a:xfrm>
            <a:off x="2483768" y="3331840"/>
            <a:ext cx="3960440" cy="457200"/>
          </a:xfrm>
          <a:prstGeom prst="rect">
            <a:avLst/>
          </a:prstGeom>
          <a:solidFill>
            <a:srgbClr val="0070C0"/>
          </a:solidFill>
          <a:ln w="19050">
            <a:solidFill>
              <a:schemeClr val="tx1"/>
            </a:solidFill>
            <a:miter lim="800000"/>
            <a:headEnd/>
            <a:tailEnd/>
          </a:ln>
        </p:spPr>
        <p:txBody>
          <a:bodyPr wrap="none" lIns="0" tIns="0" rIns="0" bIns="0" anchor="ctr"/>
          <a:lstStyle/>
          <a:p>
            <a:r>
              <a:rPr lang="es-ES_tradnl" b="1" dirty="0">
                <a:solidFill>
                  <a:srgbClr val="FFFFFF"/>
                </a:solidFill>
              </a:rPr>
              <a:t>  Dir. Interno chips</a:t>
            </a:r>
            <a:endParaRPr lang="es-ES_tradnl" b="1" baseline="-25000" dirty="0">
              <a:solidFill>
                <a:srgbClr val="FFFFFF"/>
              </a:solidFill>
            </a:endParaRPr>
          </a:p>
        </p:txBody>
      </p:sp>
      <p:cxnSp>
        <p:nvCxnSpPr>
          <p:cNvPr id="175" name="174 Conector recto de flecha"/>
          <p:cNvCxnSpPr/>
          <p:nvPr/>
        </p:nvCxnSpPr>
        <p:spPr bwMode="auto">
          <a:xfrm rot="5400000">
            <a:off x="3923928" y="2924944"/>
            <a:ext cx="432048" cy="1588"/>
          </a:xfrm>
          <a:prstGeom prst="straightConnector1">
            <a:avLst/>
          </a:prstGeom>
          <a:noFill/>
          <a:ln w="50800" cap="flat" cmpd="sng" algn="ctr">
            <a:solidFill>
              <a:schemeClr val="tx1">
                <a:lumMod val="20000"/>
                <a:lumOff val="80000"/>
              </a:schemeClr>
            </a:solidFill>
            <a:prstDash val="solid"/>
            <a:round/>
            <a:headEnd type="none" w="med" len="med"/>
            <a:tailEnd type="stealth"/>
          </a:ln>
          <a:effectLst/>
        </p:spPr>
      </p:cxnSp>
      <p:sp>
        <p:nvSpPr>
          <p:cNvPr id="176" name="175 CuadroTexto"/>
          <p:cNvSpPr txBox="1"/>
          <p:nvPr/>
        </p:nvSpPr>
        <p:spPr>
          <a:xfrm>
            <a:off x="5836848" y="4757082"/>
            <a:ext cx="1736373" cy="400110"/>
          </a:xfrm>
          <a:prstGeom prst="rect">
            <a:avLst/>
          </a:prstGeom>
          <a:noFill/>
        </p:spPr>
        <p:txBody>
          <a:bodyPr wrap="none" rtlCol="0">
            <a:spAutoFit/>
          </a:bodyPr>
          <a:lstStyle/>
          <a:p>
            <a:r>
              <a:rPr lang="es-ES" b="1" dirty="0"/>
              <a:t>log</a:t>
            </a:r>
            <a:r>
              <a:rPr lang="es-ES" b="1" baseline="-25000" dirty="0"/>
              <a:t>2 </a:t>
            </a:r>
            <a:r>
              <a:rPr lang="es-ES" b="1" dirty="0"/>
              <a:t>m </a:t>
            </a:r>
            <a:r>
              <a:rPr lang="es-ES" dirty="0"/>
              <a:t>líneas</a:t>
            </a:r>
          </a:p>
        </p:txBody>
      </p:sp>
      <p:sp>
        <p:nvSpPr>
          <p:cNvPr id="178" name="177 CuadroTexto"/>
          <p:cNvSpPr txBox="1"/>
          <p:nvPr/>
        </p:nvSpPr>
        <p:spPr>
          <a:xfrm>
            <a:off x="2331485" y="5661248"/>
            <a:ext cx="3012364" cy="338554"/>
          </a:xfrm>
          <a:prstGeom prst="rect">
            <a:avLst/>
          </a:prstGeom>
          <a:noFill/>
        </p:spPr>
        <p:txBody>
          <a:bodyPr wrap="none" rtlCol="0">
            <a:spAutoFit/>
          </a:bodyPr>
          <a:lstStyle/>
          <a:p>
            <a:r>
              <a:rPr lang="es-ES" sz="1600" b="1" dirty="0"/>
              <a:t>Resto líneas bus direcciones</a:t>
            </a:r>
          </a:p>
        </p:txBody>
      </p:sp>
      <p:sp>
        <p:nvSpPr>
          <p:cNvPr id="179" name="178 CuadroTexto"/>
          <p:cNvSpPr txBox="1"/>
          <p:nvPr/>
        </p:nvSpPr>
        <p:spPr>
          <a:xfrm>
            <a:off x="6774829" y="4253026"/>
            <a:ext cx="1596784" cy="338554"/>
          </a:xfrm>
          <a:prstGeom prst="rect">
            <a:avLst/>
          </a:prstGeom>
          <a:noFill/>
        </p:spPr>
        <p:txBody>
          <a:bodyPr wrap="square" rtlCol="0">
            <a:spAutoFit/>
          </a:bodyPr>
          <a:lstStyle/>
          <a:p>
            <a:r>
              <a:rPr lang="es-ES" sz="1600" b="1" dirty="0"/>
              <a:t>Líneas BE*</a:t>
            </a:r>
            <a:r>
              <a:rPr lang="es-ES" sz="1600" b="1" baseline="-25000" dirty="0"/>
              <a:t>i</a:t>
            </a:r>
          </a:p>
        </p:txBody>
      </p:sp>
      <p:cxnSp>
        <p:nvCxnSpPr>
          <p:cNvPr id="191" name="190 Forma"/>
          <p:cNvCxnSpPr>
            <a:endCxn id="178" idx="1"/>
          </p:cNvCxnSpPr>
          <p:nvPr/>
        </p:nvCxnSpPr>
        <p:spPr bwMode="auto">
          <a:xfrm rot="16200000" flipH="1">
            <a:off x="990834" y="4489874"/>
            <a:ext cx="1969478" cy="711823"/>
          </a:xfrm>
          <a:prstGeom prst="bentConnector2">
            <a:avLst/>
          </a:prstGeom>
          <a:noFill/>
          <a:ln w="28575" cap="flat" cmpd="sng" algn="ctr">
            <a:solidFill>
              <a:schemeClr val="accent1">
                <a:lumMod val="75000"/>
              </a:schemeClr>
            </a:solidFill>
            <a:prstDash val="solid"/>
            <a:round/>
            <a:headEnd type="none" w="med" len="med"/>
            <a:tailEnd type="arrow"/>
          </a:ln>
          <a:effectLst/>
        </p:spPr>
      </p:cxnSp>
      <p:cxnSp>
        <p:nvCxnSpPr>
          <p:cNvPr id="195" name="194 Conector recto de flecha"/>
          <p:cNvCxnSpPr/>
          <p:nvPr/>
        </p:nvCxnSpPr>
        <p:spPr bwMode="auto">
          <a:xfrm rot="5400000">
            <a:off x="7381106" y="4076278"/>
            <a:ext cx="431254" cy="794"/>
          </a:xfrm>
          <a:prstGeom prst="straightConnector1">
            <a:avLst/>
          </a:prstGeom>
          <a:noFill/>
          <a:ln w="28575" cap="flat" cmpd="sng" algn="ctr">
            <a:solidFill>
              <a:schemeClr val="accent1">
                <a:lumMod val="75000"/>
              </a:schemeClr>
            </a:solidFill>
            <a:prstDash val="solid"/>
            <a:round/>
            <a:headEnd type="none" w="med" len="med"/>
            <a:tailEnd type="arrow"/>
          </a:ln>
          <a:effectLst/>
        </p:spPr>
      </p:cxnSp>
      <p:cxnSp>
        <p:nvCxnSpPr>
          <p:cNvPr id="206" name="205 Forma"/>
          <p:cNvCxnSpPr>
            <a:endCxn id="176" idx="1"/>
          </p:cNvCxnSpPr>
          <p:nvPr/>
        </p:nvCxnSpPr>
        <p:spPr bwMode="auto">
          <a:xfrm>
            <a:off x="4283968" y="3933056"/>
            <a:ext cx="1552880" cy="1024081"/>
          </a:xfrm>
          <a:prstGeom prst="bentConnector3">
            <a:avLst>
              <a:gd name="adj1" fmla="val -1091"/>
            </a:avLst>
          </a:prstGeom>
          <a:noFill/>
          <a:ln w="28575" cap="flat" cmpd="sng" algn="ctr">
            <a:solidFill>
              <a:schemeClr val="accent1">
                <a:lumMod val="75000"/>
              </a:schemeClr>
            </a:solidFill>
            <a:prstDash val="solid"/>
            <a:round/>
            <a:headEnd type="none" w="med" len="med"/>
            <a:tailEnd type="arrow"/>
          </a:ln>
          <a:effectLst/>
        </p:spPr>
      </p:cxnSp>
      <p:sp>
        <p:nvSpPr>
          <p:cNvPr id="207" name="206 CuadroTexto"/>
          <p:cNvSpPr txBox="1"/>
          <p:nvPr/>
        </p:nvSpPr>
        <p:spPr>
          <a:xfrm>
            <a:off x="6628338" y="5397023"/>
            <a:ext cx="1965603" cy="1083374"/>
          </a:xfrm>
          <a:prstGeom prst="rect">
            <a:avLst/>
          </a:prstGeom>
          <a:noFill/>
        </p:spPr>
        <p:txBody>
          <a:bodyPr wrap="none" rtlCol="0">
            <a:spAutoFit/>
          </a:bodyPr>
          <a:lstStyle/>
          <a:p>
            <a:pPr algn="l"/>
            <a:r>
              <a:rPr lang="es-ES" sz="1400" i="1" dirty="0"/>
              <a:t>Se descomponen en </a:t>
            </a:r>
          </a:p>
          <a:p>
            <a:pPr algn="l"/>
            <a:r>
              <a:rPr lang="es-ES" sz="1400" i="1" dirty="0"/>
              <a:t>líneas de banco, fila y </a:t>
            </a:r>
          </a:p>
          <a:p>
            <a:pPr algn="l"/>
            <a:r>
              <a:rPr lang="es-ES" sz="1400" i="1" dirty="0"/>
              <a:t>columna internas de </a:t>
            </a:r>
          </a:p>
          <a:p>
            <a:pPr algn="l"/>
            <a:r>
              <a:rPr lang="es-ES" sz="1400" i="1" dirty="0"/>
              <a:t>la DRAM</a:t>
            </a:r>
          </a:p>
        </p:txBody>
      </p:sp>
      <p:sp>
        <p:nvSpPr>
          <p:cNvPr id="208" name="207 Elipse"/>
          <p:cNvSpPr/>
          <p:nvPr/>
        </p:nvSpPr>
        <p:spPr bwMode="auto">
          <a:xfrm>
            <a:off x="5652120" y="4653136"/>
            <a:ext cx="1944216" cy="648072"/>
          </a:xfrm>
          <a:prstGeom prst="ellipse">
            <a:avLst/>
          </a:prstGeom>
          <a:noFill/>
          <a:ln w="19050" cap="flat" cmpd="sng" algn="ctr">
            <a:solidFill>
              <a:schemeClr val="accent1">
                <a:lumMod val="7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effectLst/>
              <a:latin typeface="Arial" charset="0"/>
            </a:endParaRPr>
          </a:p>
        </p:txBody>
      </p:sp>
      <p:sp>
        <p:nvSpPr>
          <p:cNvPr id="216" name="215 Forma libre"/>
          <p:cNvSpPr/>
          <p:nvPr/>
        </p:nvSpPr>
        <p:spPr bwMode="auto">
          <a:xfrm>
            <a:off x="7620000" y="4962144"/>
            <a:ext cx="414528" cy="0"/>
          </a:xfrm>
          <a:custGeom>
            <a:avLst/>
            <a:gdLst>
              <a:gd name="connsiteX0" fmla="*/ 0 w 414528"/>
              <a:gd name="connsiteY0" fmla="*/ 0 h 0"/>
              <a:gd name="connsiteX1" fmla="*/ 414528 w 414528"/>
              <a:gd name="connsiteY1" fmla="*/ 0 h 0"/>
            </a:gdLst>
            <a:ahLst/>
            <a:cxnLst>
              <a:cxn ang="0">
                <a:pos x="connsiteX0" y="connsiteY0"/>
              </a:cxn>
              <a:cxn ang="0">
                <a:pos x="connsiteX1" y="connsiteY1"/>
              </a:cxn>
            </a:cxnLst>
            <a:rect l="l" t="t" r="r" b="b"/>
            <a:pathLst>
              <a:path w="414528">
                <a:moveTo>
                  <a:pt x="0" y="0"/>
                </a:moveTo>
                <a:lnTo>
                  <a:pt x="414528" y="0"/>
                </a:lnTo>
              </a:path>
            </a:pathLst>
          </a:custGeom>
          <a:noFill/>
          <a:ln w="190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effectLst/>
              <a:latin typeface="Arial" charset="0"/>
            </a:endParaRPr>
          </a:p>
        </p:txBody>
      </p:sp>
      <p:cxnSp>
        <p:nvCxnSpPr>
          <p:cNvPr id="218" name="217 Conector recto de flecha"/>
          <p:cNvCxnSpPr/>
          <p:nvPr/>
        </p:nvCxnSpPr>
        <p:spPr bwMode="auto">
          <a:xfrm rot="5400000">
            <a:off x="7813154" y="5157192"/>
            <a:ext cx="288032" cy="1588"/>
          </a:xfrm>
          <a:prstGeom prst="straightConnector1">
            <a:avLst/>
          </a:prstGeom>
          <a:noFill/>
          <a:ln w="19050" cap="flat" cmpd="sng" algn="ctr">
            <a:solidFill>
              <a:schemeClr val="accent1">
                <a:lumMod val="75000"/>
              </a:schemeClr>
            </a:solidFill>
            <a:prstDash val="solid"/>
            <a:round/>
            <a:headEnd type="none" w="med" len="med"/>
            <a:tailEnd type="arrow"/>
          </a:ln>
          <a:effectLst/>
        </p:spPr>
      </p:cxnSp>
      <p:cxnSp>
        <p:nvCxnSpPr>
          <p:cNvPr id="222" name="221 Conector recto"/>
          <p:cNvCxnSpPr/>
          <p:nvPr/>
        </p:nvCxnSpPr>
        <p:spPr bwMode="auto">
          <a:xfrm>
            <a:off x="7596336" y="5013176"/>
            <a:ext cx="360040" cy="0"/>
          </a:xfrm>
          <a:prstGeom prst="line">
            <a:avLst/>
          </a:prstGeom>
          <a:noFill/>
          <a:ln w="19050" cap="flat" cmpd="sng" algn="ctr">
            <a:solidFill>
              <a:schemeClr val="accent1">
                <a:lumMod val="75000"/>
              </a:schemeClr>
            </a:solidFill>
            <a:prstDash val="solid"/>
            <a:round/>
            <a:headEnd type="none" w="med" len="med"/>
            <a:tailEnd type="none" w="med" len="med"/>
          </a:ln>
          <a:effectLst/>
        </p:spPr>
      </p:cxnSp>
      <p:sp>
        <p:nvSpPr>
          <p:cNvPr id="2" name="2 Marcador de número de diapositiva">
            <a:extLst>
              <a:ext uri="{FF2B5EF4-FFF2-40B4-BE49-F238E27FC236}">
                <a16:creationId xmlns:a16="http://schemas.microsoft.com/office/drawing/2014/main" id="{459C001C-CAF6-DE26-21B4-98BABF9F6DEA}"/>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113</a:t>
            </a:fld>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0E79678-5838-4222-ACB8-37FFF6F38465}"/>
              </a:ext>
            </a:extLst>
          </p:cNvPr>
          <p:cNvPicPr>
            <a:picLocks noChangeAspect="1"/>
          </p:cNvPicPr>
          <p:nvPr/>
        </p:nvPicPr>
        <p:blipFill>
          <a:blip r:embed="rId3"/>
          <a:stretch>
            <a:fillRect/>
          </a:stretch>
        </p:blipFill>
        <p:spPr>
          <a:xfrm>
            <a:off x="617964" y="2779447"/>
            <a:ext cx="8150585" cy="3513184"/>
          </a:xfrm>
          <a:prstGeom prst="rect">
            <a:avLst/>
          </a:prstGeom>
        </p:spPr>
      </p:pic>
      <p:sp>
        <p:nvSpPr>
          <p:cNvPr id="38916" name="Rectangle 2"/>
          <p:cNvSpPr>
            <a:spLocks noGrp="1" noChangeArrowheads="1"/>
          </p:cNvSpPr>
          <p:nvPr>
            <p:ph type="title"/>
          </p:nvPr>
        </p:nvSpPr>
        <p:spPr/>
        <p:txBody>
          <a:bodyPr/>
          <a:lstStyle/>
          <a:p>
            <a:r>
              <a:rPr lang="es-ES" dirty="0"/>
              <a:t>Organización de módulos de memoria</a:t>
            </a:r>
          </a:p>
        </p:txBody>
      </p:sp>
      <p:sp>
        <p:nvSpPr>
          <p:cNvPr id="10" name="CuadroTexto 9">
            <a:extLst>
              <a:ext uri="{FF2B5EF4-FFF2-40B4-BE49-F238E27FC236}">
                <a16:creationId xmlns:a16="http://schemas.microsoft.com/office/drawing/2014/main" id="{CAF35387-5392-47A8-B7D0-C0649EB48465}"/>
              </a:ext>
            </a:extLst>
          </p:cNvPr>
          <p:cNvSpPr txBox="1"/>
          <p:nvPr/>
        </p:nvSpPr>
        <p:spPr>
          <a:xfrm>
            <a:off x="8215744" y="3158922"/>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17964" y="922132"/>
            <a:ext cx="8138864" cy="1684311"/>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800" dirty="0"/>
              <a:t>Internamente cada MODULO puede tener chips DRAM de capacidad y ancho de palabra distinta de los de otro módulo que pertenezca a la misma memoria principal.</a:t>
            </a:r>
          </a:p>
          <a:p>
            <a:pPr>
              <a:lnSpc>
                <a:spcPct val="100000"/>
              </a:lnSpc>
              <a:spcBef>
                <a:spcPts val="0"/>
              </a:spcBef>
            </a:pPr>
            <a:r>
              <a:rPr lang="es-ES" sz="1800" dirty="0"/>
              <a:t>En el ejemplo del dibujo:</a:t>
            </a:r>
          </a:p>
          <a:p>
            <a:pPr lvl="1">
              <a:lnSpc>
                <a:spcPct val="100000"/>
              </a:lnSpc>
              <a:spcBef>
                <a:spcPts val="0"/>
              </a:spcBef>
            </a:pPr>
            <a:r>
              <a:rPr lang="es-ES" sz="1800" dirty="0"/>
              <a:t>MODULO capacidad 2</a:t>
            </a:r>
            <a:r>
              <a:rPr lang="es-ES" sz="1800" baseline="30000" dirty="0"/>
              <a:t>x1</a:t>
            </a:r>
            <a:r>
              <a:rPr lang="es-ES" sz="1800" dirty="0"/>
              <a:t> B = 2</a:t>
            </a:r>
            <a:r>
              <a:rPr lang="es-ES" sz="1800" baseline="30000" dirty="0"/>
              <a:t>x1-2</a:t>
            </a:r>
            <a:r>
              <a:rPr lang="es-ES" sz="1800" dirty="0"/>
              <a:t> palabras,  tiene chips de 2</a:t>
            </a:r>
            <a:r>
              <a:rPr lang="es-ES" sz="1800" baseline="30000" dirty="0"/>
              <a:t>x1-2</a:t>
            </a:r>
            <a:r>
              <a:rPr lang="es-ES" sz="1800" dirty="0"/>
              <a:t> x 8  </a:t>
            </a:r>
          </a:p>
          <a:p>
            <a:pPr lvl="1">
              <a:lnSpc>
                <a:spcPct val="100000"/>
              </a:lnSpc>
              <a:spcBef>
                <a:spcPts val="0"/>
              </a:spcBef>
            </a:pPr>
            <a:r>
              <a:rPr lang="es-ES" sz="1800" dirty="0"/>
              <a:t>MODULO capacidad 2</a:t>
            </a:r>
            <a:r>
              <a:rPr lang="es-ES" sz="1800" baseline="30000" dirty="0"/>
              <a:t>x2</a:t>
            </a:r>
            <a:r>
              <a:rPr lang="es-ES" sz="1800" dirty="0"/>
              <a:t> B = 2</a:t>
            </a:r>
            <a:r>
              <a:rPr lang="es-ES" sz="1800" baseline="30000" dirty="0"/>
              <a:t>x2-2</a:t>
            </a:r>
            <a:r>
              <a:rPr lang="es-ES" sz="1800" dirty="0"/>
              <a:t> palabras,  tiene chips de 2</a:t>
            </a:r>
            <a:r>
              <a:rPr lang="es-ES" sz="1800" baseline="30000" dirty="0"/>
              <a:t>x2-2</a:t>
            </a:r>
            <a:r>
              <a:rPr lang="es-ES" sz="1800" dirty="0"/>
              <a:t> x 8 </a:t>
            </a:r>
          </a:p>
          <a:p>
            <a:pPr>
              <a:lnSpc>
                <a:spcPct val="100000"/>
              </a:lnSpc>
              <a:spcBef>
                <a:spcPts val="0"/>
              </a:spcBef>
            </a:pPr>
            <a:endParaRPr lang="es-ES" sz="1800" dirty="0"/>
          </a:p>
        </p:txBody>
      </p:sp>
      <p:sp>
        <p:nvSpPr>
          <p:cNvPr id="68" name="CuadroTexto 67">
            <a:extLst>
              <a:ext uri="{FF2B5EF4-FFF2-40B4-BE49-F238E27FC236}">
                <a16:creationId xmlns:a16="http://schemas.microsoft.com/office/drawing/2014/main" id="{A0C37C0A-20D5-4A19-A59D-D4AEAE0DEDC4}"/>
              </a:ext>
            </a:extLst>
          </p:cNvPr>
          <p:cNvSpPr txBox="1"/>
          <p:nvPr/>
        </p:nvSpPr>
        <p:spPr>
          <a:xfrm>
            <a:off x="7729576" y="2678141"/>
            <a:ext cx="1414424" cy="307777"/>
          </a:xfrm>
          <a:prstGeom prst="rect">
            <a:avLst/>
          </a:prstGeom>
          <a:noFill/>
        </p:spPr>
        <p:txBody>
          <a:bodyPr wrap="square" rtlCol="0">
            <a:spAutoFit/>
          </a:bodyPr>
          <a:lstStyle/>
          <a:p>
            <a:r>
              <a:rPr lang="es-ES" sz="1400" dirty="0">
                <a:solidFill>
                  <a:schemeClr val="accent1">
                    <a:lumMod val="75000"/>
                  </a:schemeClr>
                </a:solidFill>
              </a:rPr>
              <a:t>MP</a:t>
            </a:r>
          </a:p>
        </p:txBody>
      </p:sp>
      <p:sp>
        <p:nvSpPr>
          <p:cNvPr id="11" name="Rectángulo 10">
            <a:extLst>
              <a:ext uri="{FF2B5EF4-FFF2-40B4-BE49-F238E27FC236}">
                <a16:creationId xmlns:a16="http://schemas.microsoft.com/office/drawing/2014/main" id="{D0D21B56-793D-4F14-98D0-A3362600122F}"/>
              </a:ext>
            </a:extLst>
          </p:cNvPr>
          <p:cNvSpPr/>
          <p:nvPr/>
        </p:nvSpPr>
        <p:spPr bwMode="auto">
          <a:xfrm>
            <a:off x="5768975" y="3129313"/>
            <a:ext cx="2987853" cy="2409888"/>
          </a:xfrm>
          <a:prstGeom prst="rect">
            <a:avLst/>
          </a:prstGeom>
          <a:noFill/>
          <a:ln w="3810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783BEC40-8B22-4E37-B64F-D4D6BD4674F1}"/>
              </a:ext>
            </a:extLst>
          </p:cNvPr>
          <p:cNvSpPr txBox="1"/>
          <p:nvPr/>
        </p:nvSpPr>
        <p:spPr>
          <a:xfrm>
            <a:off x="845016" y="2699455"/>
            <a:ext cx="3006903" cy="523220"/>
          </a:xfrm>
          <a:prstGeom prst="rect">
            <a:avLst/>
          </a:prstGeom>
          <a:noFill/>
        </p:spPr>
        <p:txBody>
          <a:bodyPr wrap="square" rtlCol="0">
            <a:spAutoFit/>
          </a:bodyPr>
          <a:lstStyle/>
          <a:p>
            <a:r>
              <a:rPr lang="es-ES" sz="1400" dirty="0">
                <a:solidFill>
                  <a:schemeClr val="accent1">
                    <a:lumMod val="75000"/>
                  </a:schemeClr>
                </a:solidFill>
              </a:rPr>
              <a:t>Ejemplo con dos módulos de memoria: 2</a:t>
            </a:r>
            <a:r>
              <a:rPr lang="es-ES" sz="1400" baseline="30000" dirty="0">
                <a:solidFill>
                  <a:schemeClr val="accent1">
                    <a:lumMod val="75000"/>
                  </a:schemeClr>
                </a:solidFill>
              </a:rPr>
              <a:t>x1</a:t>
            </a:r>
            <a:r>
              <a:rPr lang="es-ES" sz="1400" dirty="0">
                <a:solidFill>
                  <a:schemeClr val="accent1">
                    <a:lumMod val="75000"/>
                  </a:schemeClr>
                </a:solidFill>
              </a:rPr>
              <a:t> B + 2</a:t>
            </a:r>
            <a:r>
              <a:rPr lang="es-ES" sz="1400" baseline="30000" dirty="0">
                <a:solidFill>
                  <a:schemeClr val="accent1">
                    <a:lumMod val="75000"/>
                  </a:schemeClr>
                </a:solidFill>
              </a:rPr>
              <a:t>x2</a:t>
            </a:r>
            <a:r>
              <a:rPr lang="es-ES" sz="1400" dirty="0">
                <a:solidFill>
                  <a:schemeClr val="accent1">
                    <a:lumMod val="75000"/>
                  </a:schemeClr>
                </a:solidFill>
              </a:rPr>
              <a:t> B </a:t>
            </a:r>
            <a:r>
              <a:rPr lang="es-ES" sz="1400" dirty="0">
                <a:solidFill>
                  <a:schemeClr val="accent1">
                    <a:lumMod val="75000"/>
                  </a:schemeClr>
                </a:solidFill>
                <a:sym typeface="Symbol" panose="05050102010706020507" pitchFamily="18" charset="2"/>
              </a:rPr>
              <a:t> 2</a:t>
            </a:r>
            <a:r>
              <a:rPr lang="es-ES" sz="1400" baseline="30000" dirty="0">
                <a:solidFill>
                  <a:schemeClr val="accent1">
                    <a:lumMod val="75000"/>
                  </a:schemeClr>
                </a:solidFill>
                <a:sym typeface="Symbol" panose="05050102010706020507" pitchFamily="18" charset="2"/>
              </a:rPr>
              <a:t>x</a:t>
            </a:r>
            <a:r>
              <a:rPr lang="es-ES" sz="1400" dirty="0">
                <a:solidFill>
                  <a:schemeClr val="accent1">
                    <a:lumMod val="75000"/>
                  </a:schemeClr>
                </a:solidFill>
                <a:sym typeface="Symbol" panose="05050102010706020507" pitchFamily="18" charset="2"/>
              </a:rPr>
              <a:t> B</a:t>
            </a:r>
            <a:endParaRPr lang="es-ES" sz="1400" dirty="0">
              <a:solidFill>
                <a:schemeClr val="accent1">
                  <a:lumMod val="75000"/>
                </a:schemeClr>
              </a:solidFill>
            </a:endParaRPr>
          </a:p>
        </p:txBody>
      </p:sp>
      <p:sp>
        <p:nvSpPr>
          <p:cNvPr id="14" name="CuadroTexto 13">
            <a:extLst>
              <a:ext uri="{FF2B5EF4-FFF2-40B4-BE49-F238E27FC236}">
                <a16:creationId xmlns:a16="http://schemas.microsoft.com/office/drawing/2014/main" id="{0753CDA0-FFE3-4337-BC0C-761DB3B93F7E}"/>
              </a:ext>
            </a:extLst>
          </p:cNvPr>
          <p:cNvSpPr txBox="1"/>
          <p:nvPr/>
        </p:nvSpPr>
        <p:spPr>
          <a:xfrm>
            <a:off x="8176220" y="5013176"/>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x2</a:t>
            </a:r>
            <a:r>
              <a:rPr lang="es-ES" sz="1400" dirty="0">
                <a:solidFill>
                  <a:schemeClr val="accent1">
                    <a:lumMod val="75000"/>
                  </a:schemeClr>
                </a:solidFill>
              </a:rPr>
              <a:t> B</a:t>
            </a:r>
          </a:p>
        </p:txBody>
      </p:sp>
      <p:sp>
        <p:nvSpPr>
          <p:cNvPr id="2" name="CuadroTexto 1">
            <a:extLst>
              <a:ext uri="{FF2B5EF4-FFF2-40B4-BE49-F238E27FC236}">
                <a16:creationId xmlns:a16="http://schemas.microsoft.com/office/drawing/2014/main" id="{644707BF-181E-41D1-8870-FCCA9FDA53B9}"/>
              </a:ext>
            </a:extLst>
          </p:cNvPr>
          <p:cNvSpPr txBox="1"/>
          <p:nvPr/>
        </p:nvSpPr>
        <p:spPr>
          <a:xfrm>
            <a:off x="3887924" y="5651987"/>
            <a:ext cx="1368152" cy="307777"/>
          </a:xfrm>
          <a:prstGeom prst="rect">
            <a:avLst/>
          </a:prstGeom>
          <a:noFill/>
        </p:spPr>
        <p:txBody>
          <a:bodyPr wrap="square" rtlCol="0">
            <a:spAutoFit/>
          </a:bodyPr>
          <a:lstStyle/>
          <a:p>
            <a:r>
              <a:rPr lang="es-ES" sz="1400" dirty="0">
                <a:solidFill>
                  <a:schemeClr val="accent1">
                    <a:lumMod val="75000"/>
                  </a:schemeClr>
                </a:solidFill>
              </a:rPr>
              <a:t>= 4 B = 2</a:t>
            </a:r>
            <a:r>
              <a:rPr lang="es-ES" sz="1400" baseline="30000" dirty="0">
                <a:solidFill>
                  <a:schemeClr val="accent1">
                    <a:lumMod val="75000"/>
                  </a:schemeClr>
                </a:solidFill>
              </a:rPr>
              <a:t>2</a:t>
            </a:r>
            <a:endParaRPr lang="es-ES" sz="1400" dirty="0">
              <a:solidFill>
                <a:schemeClr val="accent1">
                  <a:lumMod val="75000"/>
                </a:schemeClr>
              </a:solidFill>
            </a:endParaRPr>
          </a:p>
        </p:txBody>
      </p:sp>
      <p:sp>
        <p:nvSpPr>
          <p:cNvPr id="3" name="2 Marcador de número de diapositiva">
            <a:extLst>
              <a:ext uri="{FF2B5EF4-FFF2-40B4-BE49-F238E27FC236}">
                <a16:creationId xmlns:a16="http://schemas.microsoft.com/office/drawing/2014/main" id="{66A830F3-D84F-BDD4-C7B5-9B6D5FB1C839}"/>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114</a:t>
            </a:fld>
            <a:endParaRPr lang="en-US" dirty="0"/>
          </a:p>
        </p:txBody>
      </p:sp>
    </p:spTree>
    <p:extLst>
      <p:ext uri="{BB962C8B-B14F-4D97-AF65-F5344CB8AC3E}">
        <p14:creationId xmlns:p14="http://schemas.microsoft.com/office/powerpoint/2010/main" val="272672107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9 Rectángulo redondeado"/>
          <p:cNvSpPr/>
          <p:nvPr/>
        </p:nvSpPr>
        <p:spPr bwMode="auto">
          <a:xfrm>
            <a:off x="589489" y="3501008"/>
            <a:ext cx="8447007" cy="3168352"/>
          </a:xfrm>
          <a:prstGeom prst="roundRect">
            <a:avLst/>
          </a:prstGeom>
          <a:solidFill>
            <a:srgbClr val="FFF4D9"/>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1141" name="Rectangle 76"/>
          <p:cNvSpPr>
            <a:spLocks noGrp="1" noChangeArrowheads="1"/>
          </p:cNvSpPr>
          <p:nvPr>
            <p:ph type="title"/>
          </p:nvPr>
        </p:nvSpPr>
        <p:spPr/>
        <p:txBody>
          <a:bodyPr/>
          <a:lstStyle/>
          <a:p>
            <a:r>
              <a:rPr lang="es-ES_tradnl" altLang="es-ES_tradnl" dirty="0"/>
              <a:t>Organización de módulos de memoria</a:t>
            </a:r>
            <a:endParaRPr lang="es-ES" dirty="0"/>
          </a:p>
        </p:txBody>
      </p:sp>
      <p:sp>
        <p:nvSpPr>
          <p:cNvPr id="91142" name="Rectangle 77"/>
          <p:cNvSpPr>
            <a:spLocks noGrp="1" noChangeArrowheads="1"/>
          </p:cNvSpPr>
          <p:nvPr>
            <p:ph type="body" idx="1"/>
          </p:nvPr>
        </p:nvSpPr>
        <p:spPr>
          <a:xfrm>
            <a:off x="506921" y="836712"/>
            <a:ext cx="8458200" cy="2146300"/>
          </a:xfrm>
        </p:spPr>
        <p:txBody>
          <a:bodyPr/>
          <a:lstStyle/>
          <a:p>
            <a:pPr>
              <a:lnSpc>
                <a:spcPct val="100000"/>
              </a:lnSpc>
            </a:pPr>
            <a:r>
              <a:rPr lang="es-ES" dirty="0"/>
              <a:t>Suele tener una o dos filas de chips</a:t>
            </a:r>
          </a:p>
          <a:p>
            <a:pPr lvl="1">
              <a:lnSpc>
                <a:spcPct val="100000"/>
              </a:lnSpc>
            </a:pPr>
            <a:r>
              <a:rPr lang="es-ES" dirty="0"/>
              <a:t>Las entradas de reloj, selecci</a:t>
            </a:r>
            <a:r>
              <a:rPr lang="es-ES" altLang="ja-JP" dirty="0">
                <a:ea typeface="Geneva" pitchFamily="1" charset="-128"/>
              </a:rPr>
              <a:t>ón, </a:t>
            </a:r>
            <a:r>
              <a:rPr lang="es-ES" dirty="0"/>
              <a:t>órdenes y dirección son comunes</a:t>
            </a:r>
          </a:p>
          <a:p>
            <a:pPr lvl="1">
              <a:lnSpc>
                <a:spcPct val="100000"/>
              </a:lnSpc>
            </a:pPr>
            <a:r>
              <a:rPr lang="es-ES" dirty="0"/>
              <a:t>Las entradas de m</a:t>
            </a:r>
            <a:r>
              <a:rPr lang="es-ES" altLang="ja-JP" dirty="0">
                <a:ea typeface="Geneva" pitchFamily="1" charset="-128"/>
              </a:rPr>
              <a:t>áscara de datos DQM de los chips aprovechan para seleccionar los bytes</a:t>
            </a:r>
          </a:p>
          <a:p>
            <a:pPr lvl="1">
              <a:lnSpc>
                <a:spcPct val="100000"/>
              </a:lnSpc>
            </a:pPr>
            <a:r>
              <a:rPr lang="es-ES" altLang="ja-JP" dirty="0">
                <a:ea typeface="Geneva" pitchFamily="1" charset="-128"/>
              </a:rPr>
              <a:t>El ancho de banda del módulo es la suma de los anchos de banda de los chips</a:t>
            </a:r>
            <a:endParaRPr lang="es-ES" dirty="0"/>
          </a:p>
          <a:p>
            <a:pPr>
              <a:lnSpc>
                <a:spcPct val="100000"/>
              </a:lnSpc>
            </a:pPr>
            <a:r>
              <a:rPr lang="es-ES" dirty="0"/>
              <a:t>Ejemplo: módulo de m×32 bits con chips de m×4 bits</a:t>
            </a:r>
          </a:p>
        </p:txBody>
      </p:sp>
      <p:grpSp>
        <p:nvGrpSpPr>
          <p:cNvPr id="19" name="18 Grupo"/>
          <p:cNvGrpSpPr/>
          <p:nvPr/>
        </p:nvGrpSpPr>
        <p:grpSpPr>
          <a:xfrm>
            <a:off x="566756" y="3618127"/>
            <a:ext cx="8024812" cy="2780729"/>
            <a:chOff x="433388" y="3622676"/>
            <a:chExt cx="8405812" cy="2930524"/>
          </a:xfrm>
        </p:grpSpPr>
        <p:sp>
          <p:nvSpPr>
            <p:cNvPr id="91139" name="Line 95"/>
            <p:cNvSpPr>
              <a:spLocks noChangeShapeType="1"/>
            </p:cNvSpPr>
            <p:nvPr/>
          </p:nvSpPr>
          <p:spPr bwMode="ltGray">
            <a:xfrm>
              <a:off x="1752600" y="4997450"/>
              <a:ext cx="6096000" cy="0"/>
            </a:xfrm>
            <a:prstGeom prst="line">
              <a:avLst/>
            </a:prstGeom>
            <a:noFill/>
            <a:ln w="28575">
              <a:pattFill prst="wdUpDiag">
                <a:fgClr>
                  <a:schemeClr val="tx1"/>
                </a:fgClr>
                <a:bgClr>
                  <a:schemeClr val="bg1"/>
                </a:bgClr>
              </a:pattFill>
              <a:round/>
              <a:headEnd/>
              <a:tailEnd/>
            </a:ln>
          </p:spPr>
          <p:txBody>
            <a:bodyPr wrap="none" lIns="0" tIns="0" rIns="0" bIns="0" anchor="ctr"/>
            <a:lstStyle/>
            <a:p>
              <a:endParaRPr lang="es-ES"/>
            </a:p>
          </p:txBody>
        </p:sp>
        <p:sp>
          <p:nvSpPr>
            <p:cNvPr id="91140" name="Line 94"/>
            <p:cNvSpPr>
              <a:spLocks noChangeShapeType="1"/>
            </p:cNvSpPr>
            <p:nvPr/>
          </p:nvSpPr>
          <p:spPr bwMode="ltGray">
            <a:xfrm>
              <a:off x="1752600" y="5470525"/>
              <a:ext cx="6096000" cy="0"/>
            </a:xfrm>
            <a:prstGeom prst="line">
              <a:avLst/>
            </a:prstGeom>
            <a:noFill/>
            <a:ln w="28575">
              <a:pattFill prst="wdUpDiag">
                <a:fgClr>
                  <a:srgbClr val="66FF33"/>
                </a:fgClr>
                <a:bgClr>
                  <a:schemeClr val="bg1"/>
                </a:bgClr>
              </a:pattFill>
              <a:round/>
              <a:headEnd/>
              <a:tailEnd/>
            </a:ln>
          </p:spPr>
          <p:txBody>
            <a:bodyPr wrap="none" lIns="0" tIns="0" rIns="0" bIns="0" anchor="ctr"/>
            <a:lstStyle/>
            <a:p>
              <a:endParaRPr lang="es-ES"/>
            </a:p>
          </p:txBody>
        </p:sp>
        <p:grpSp>
          <p:nvGrpSpPr>
            <p:cNvPr id="2" name="Group 93"/>
            <p:cNvGrpSpPr>
              <a:grpSpLocks/>
            </p:cNvGrpSpPr>
            <p:nvPr/>
          </p:nvGrpSpPr>
          <p:grpSpPr bwMode="auto">
            <a:xfrm>
              <a:off x="1752600" y="4403725"/>
              <a:ext cx="7010400" cy="1235075"/>
              <a:chOff x="1104" y="2410"/>
              <a:chExt cx="4416" cy="624"/>
            </a:xfrm>
          </p:grpSpPr>
          <p:sp>
            <p:nvSpPr>
              <p:cNvPr id="91228" name="Rectangle 4"/>
              <p:cNvSpPr>
                <a:spLocks noChangeArrowheads="1"/>
              </p:cNvSpPr>
              <p:nvPr/>
            </p:nvSpPr>
            <p:spPr bwMode="auto">
              <a:xfrm>
                <a:off x="1104" y="2410"/>
                <a:ext cx="384" cy="624"/>
              </a:xfrm>
              <a:prstGeom prst="rect">
                <a:avLst/>
              </a:prstGeom>
              <a:noFill/>
              <a:ln w="28575">
                <a:solidFill>
                  <a:schemeClr val="tx1"/>
                </a:solidFill>
                <a:miter lim="800000"/>
                <a:headEnd/>
                <a:tailEnd/>
              </a:ln>
            </p:spPr>
            <p:txBody>
              <a:bodyPr wrap="none" anchor="ctr"/>
              <a:lstStyle/>
              <a:p>
                <a:pPr>
                  <a:spcBef>
                    <a:spcPct val="20000"/>
                  </a:spcBef>
                </a:pPr>
                <a:endParaRPr lang="es-ES_tradnl" sz="2400"/>
              </a:p>
            </p:txBody>
          </p:sp>
          <p:sp>
            <p:nvSpPr>
              <p:cNvPr id="91229" name="Rectangle 5"/>
              <p:cNvSpPr>
                <a:spLocks noChangeArrowheads="1"/>
              </p:cNvSpPr>
              <p:nvPr/>
            </p:nvSpPr>
            <p:spPr bwMode="auto">
              <a:xfrm>
                <a:off x="1680" y="2410"/>
                <a:ext cx="384" cy="624"/>
              </a:xfrm>
              <a:prstGeom prst="rect">
                <a:avLst/>
              </a:prstGeom>
              <a:noFill/>
              <a:ln w="28575">
                <a:solidFill>
                  <a:schemeClr val="tx1"/>
                </a:solidFill>
                <a:miter lim="800000"/>
                <a:headEnd/>
                <a:tailEnd/>
              </a:ln>
            </p:spPr>
            <p:txBody>
              <a:bodyPr wrap="none" anchor="ctr"/>
              <a:lstStyle/>
              <a:p>
                <a:endParaRPr lang="es-ES"/>
              </a:p>
            </p:txBody>
          </p:sp>
          <p:sp>
            <p:nvSpPr>
              <p:cNvPr id="91230" name="Rectangle 6"/>
              <p:cNvSpPr>
                <a:spLocks noChangeArrowheads="1"/>
              </p:cNvSpPr>
              <p:nvPr/>
            </p:nvSpPr>
            <p:spPr bwMode="auto">
              <a:xfrm>
                <a:off x="2256" y="2410"/>
                <a:ext cx="384" cy="624"/>
              </a:xfrm>
              <a:prstGeom prst="rect">
                <a:avLst/>
              </a:prstGeom>
              <a:noFill/>
              <a:ln w="28575">
                <a:solidFill>
                  <a:schemeClr val="tx1"/>
                </a:solidFill>
                <a:miter lim="800000"/>
                <a:headEnd/>
                <a:tailEnd/>
              </a:ln>
            </p:spPr>
            <p:txBody>
              <a:bodyPr wrap="none" anchor="ctr"/>
              <a:lstStyle/>
              <a:p>
                <a:endParaRPr lang="es-ES"/>
              </a:p>
            </p:txBody>
          </p:sp>
          <p:sp>
            <p:nvSpPr>
              <p:cNvPr id="91231" name="Rectangle 7"/>
              <p:cNvSpPr>
                <a:spLocks noChangeArrowheads="1"/>
              </p:cNvSpPr>
              <p:nvPr/>
            </p:nvSpPr>
            <p:spPr bwMode="auto">
              <a:xfrm>
                <a:off x="2832" y="2410"/>
                <a:ext cx="384" cy="624"/>
              </a:xfrm>
              <a:prstGeom prst="rect">
                <a:avLst/>
              </a:prstGeom>
              <a:noFill/>
              <a:ln w="28575">
                <a:solidFill>
                  <a:schemeClr val="tx1"/>
                </a:solidFill>
                <a:miter lim="800000"/>
                <a:headEnd/>
                <a:tailEnd/>
              </a:ln>
            </p:spPr>
            <p:txBody>
              <a:bodyPr wrap="none" anchor="ctr"/>
              <a:lstStyle/>
              <a:p>
                <a:endParaRPr lang="es-ES"/>
              </a:p>
            </p:txBody>
          </p:sp>
          <p:sp>
            <p:nvSpPr>
              <p:cNvPr id="91232" name="Rectangle 8"/>
              <p:cNvSpPr>
                <a:spLocks noChangeArrowheads="1"/>
              </p:cNvSpPr>
              <p:nvPr/>
            </p:nvSpPr>
            <p:spPr bwMode="auto">
              <a:xfrm>
                <a:off x="3408" y="2410"/>
                <a:ext cx="384" cy="624"/>
              </a:xfrm>
              <a:prstGeom prst="rect">
                <a:avLst/>
              </a:prstGeom>
              <a:noFill/>
              <a:ln w="28575">
                <a:solidFill>
                  <a:schemeClr val="tx1"/>
                </a:solidFill>
                <a:miter lim="800000"/>
                <a:headEnd/>
                <a:tailEnd/>
              </a:ln>
            </p:spPr>
            <p:txBody>
              <a:bodyPr wrap="none" anchor="ctr"/>
              <a:lstStyle/>
              <a:p>
                <a:endParaRPr lang="es-ES"/>
              </a:p>
            </p:txBody>
          </p:sp>
          <p:sp>
            <p:nvSpPr>
              <p:cNvPr id="91233" name="Rectangle 9"/>
              <p:cNvSpPr>
                <a:spLocks noChangeArrowheads="1"/>
              </p:cNvSpPr>
              <p:nvPr/>
            </p:nvSpPr>
            <p:spPr bwMode="auto">
              <a:xfrm>
                <a:off x="3984" y="2410"/>
                <a:ext cx="384" cy="624"/>
              </a:xfrm>
              <a:prstGeom prst="rect">
                <a:avLst/>
              </a:prstGeom>
              <a:noFill/>
              <a:ln w="28575">
                <a:solidFill>
                  <a:schemeClr val="tx1"/>
                </a:solidFill>
                <a:miter lim="800000"/>
                <a:headEnd/>
                <a:tailEnd/>
              </a:ln>
            </p:spPr>
            <p:txBody>
              <a:bodyPr wrap="none" anchor="ctr"/>
              <a:lstStyle/>
              <a:p>
                <a:endParaRPr lang="es-ES"/>
              </a:p>
            </p:txBody>
          </p:sp>
          <p:sp>
            <p:nvSpPr>
              <p:cNvPr id="91234" name="Rectangle 10"/>
              <p:cNvSpPr>
                <a:spLocks noChangeArrowheads="1"/>
              </p:cNvSpPr>
              <p:nvPr/>
            </p:nvSpPr>
            <p:spPr bwMode="auto">
              <a:xfrm>
                <a:off x="4560" y="2410"/>
                <a:ext cx="384" cy="624"/>
              </a:xfrm>
              <a:prstGeom prst="rect">
                <a:avLst/>
              </a:prstGeom>
              <a:noFill/>
              <a:ln w="28575">
                <a:solidFill>
                  <a:schemeClr val="tx1"/>
                </a:solidFill>
                <a:miter lim="800000"/>
                <a:headEnd/>
                <a:tailEnd/>
              </a:ln>
            </p:spPr>
            <p:txBody>
              <a:bodyPr wrap="none" anchor="ctr"/>
              <a:lstStyle/>
              <a:p>
                <a:endParaRPr lang="es-ES"/>
              </a:p>
            </p:txBody>
          </p:sp>
          <p:sp>
            <p:nvSpPr>
              <p:cNvPr id="91235" name="Rectangle 11"/>
              <p:cNvSpPr>
                <a:spLocks noChangeArrowheads="1"/>
              </p:cNvSpPr>
              <p:nvPr/>
            </p:nvSpPr>
            <p:spPr bwMode="auto">
              <a:xfrm>
                <a:off x="5136" y="2410"/>
                <a:ext cx="384" cy="624"/>
              </a:xfrm>
              <a:prstGeom prst="rect">
                <a:avLst/>
              </a:prstGeom>
              <a:noFill/>
              <a:ln w="28575">
                <a:solidFill>
                  <a:schemeClr val="tx1"/>
                </a:solidFill>
                <a:miter lim="800000"/>
                <a:headEnd/>
                <a:tailEnd/>
              </a:ln>
            </p:spPr>
            <p:txBody>
              <a:bodyPr wrap="none" anchor="ctr"/>
              <a:lstStyle/>
              <a:p>
                <a:endParaRPr lang="es-ES"/>
              </a:p>
            </p:txBody>
          </p:sp>
        </p:grpSp>
        <p:grpSp>
          <p:nvGrpSpPr>
            <p:cNvPr id="3" name="Group 12"/>
            <p:cNvGrpSpPr>
              <a:grpSpLocks/>
            </p:cNvGrpSpPr>
            <p:nvPr/>
          </p:nvGrpSpPr>
          <p:grpSpPr bwMode="auto">
            <a:xfrm>
              <a:off x="2057400" y="3870325"/>
              <a:ext cx="914400" cy="533400"/>
              <a:chOff x="1536" y="1392"/>
              <a:chExt cx="528" cy="336"/>
            </a:xfrm>
          </p:grpSpPr>
          <p:sp>
            <p:nvSpPr>
              <p:cNvPr id="91226" name="Freeform 13"/>
              <p:cNvSpPr>
                <a:spLocks/>
              </p:cNvSpPr>
              <p:nvPr/>
            </p:nvSpPr>
            <p:spPr bwMode="auto">
              <a:xfrm>
                <a:off x="1536" y="1488"/>
                <a:ext cx="528" cy="240"/>
              </a:xfrm>
              <a:custGeom>
                <a:avLst/>
                <a:gdLst>
                  <a:gd name="T0" fmla="*/ 0 w 528"/>
                  <a:gd name="T1" fmla="*/ 240 h 240"/>
                  <a:gd name="T2" fmla="*/ 0 w 528"/>
                  <a:gd name="T3" fmla="*/ 0 h 240"/>
                  <a:gd name="T4" fmla="*/ 528 w 528"/>
                  <a:gd name="T5" fmla="*/ 0 h 240"/>
                  <a:gd name="T6" fmla="*/ 528 w 528"/>
                  <a:gd name="T7" fmla="*/ 240 h 240"/>
                  <a:gd name="T8" fmla="*/ 0 60000 65536"/>
                  <a:gd name="T9" fmla="*/ 0 60000 65536"/>
                  <a:gd name="T10" fmla="*/ 0 60000 65536"/>
                  <a:gd name="T11" fmla="*/ 0 60000 65536"/>
                  <a:gd name="T12" fmla="*/ 0 w 528"/>
                  <a:gd name="T13" fmla="*/ 0 h 240"/>
                  <a:gd name="T14" fmla="*/ 528 w 528"/>
                  <a:gd name="T15" fmla="*/ 240 h 240"/>
                </a:gdLst>
                <a:ahLst/>
                <a:cxnLst>
                  <a:cxn ang="T8">
                    <a:pos x="T0" y="T1"/>
                  </a:cxn>
                  <a:cxn ang="T9">
                    <a:pos x="T2" y="T3"/>
                  </a:cxn>
                  <a:cxn ang="T10">
                    <a:pos x="T4" y="T5"/>
                  </a:cxn>
                  <a:cxn ang="T11">
                    <a:pos x="T6" y="T7"/>
                  </a:cxn>
                </a:cxnLst>
                <a:rect l="T12" t="T13" r="T14" b="T15"/>
                <a:pathLst>
                  <a:path w="528" h="240">
                    <a:moveTo>
                      <a:pt x="0" y="240"/>
                    </a:moveTo>
                    <a:lnTo>
                      <a:pt x="0" y="0"/>
                    </a:lnTo>
                    <a:lnTo>
                      <a:pt x="528" y="0"/>
                    </a:lnTo>
                    <a:lnTo>
                      <a:pt x="528" y="240"/>
                    </a:lnTo>
                  </a:path>
                </a:pathLst>
              </a:custGeom>
              <a:noFill/>
              <a:ln w="28575">
                <a:solidFill>
                  <a:schemeClr val="accent6">
                    <a:lumMod val="60000"/>
                    <a:lumOff val="40000"/>
                  </a:schemeClr>
                </a:solidFill>
                <a:round/>
                <a:headEnd type="triangle" w="med" len="med"/>
                <a:tailEnd type="triangle" w="med" len="med"/>
              </a:ln>
            </p:spPr>
            <p:txBody>
              <a:bodyPr wrap="none" anchor="ctr"/>
              <a:lstStyle/>
              <a:p>
                <a:endParaRPr lang="es-ES"/>
              </a:p>
            </p:txBody>
          </p:sp>
          <p:sp>
            <p:nvSpPr>
              <p:cNvPr id="91227" name="Line 14"/>
              <p:cNvSpPr>
                <a:spLocks noChangeShapeType="1"/>
              </p:cNvSpPr>
              <p:nvPr/>
            </p:nvSpPr>
            <p:spPr bwMode="auto">
              <a:xfrm>
                <a:off x="1536" y="1392"/>
                <a:ext cx="0" cy="96"/>
              </a:xfrm>
              <a:prstGeom prst="line">
                <a:avLst/>
              </a:prstGeom>
              <a:noFill/>
              <a:ln w="28575">
                <a:solidFill>
                  <a:schemeClr val="accent6">
                    <a:lumMod val="40000"/>
                    <a:lumOff val="60000"/>
                  </a:schemeClr>
                </a:solidFill>
                <a:round/>
                <a:headEnd/>
                <a:tailEnd/>
              </a:ln>
            </p:spPr>
            <p:txBody>
              <a:bodyPr wrap="none" anchor="ctr"/>
              <a:lstStyle/>
              <a:p>
                <a:endParaRPr lang="es-ES"/>
              </a:p>
            </p:txBody>
          </p:sp>
        </p:grpSp>
        <p:grpSp>
          <p:nvGrpSpPr>
            <p:cNvPr id="4" name="Group 85"/>
            <p:cNvGrpSpPr>
              <a:grpSpLocks/>
            </p:cNvGrpSpPr>
            <p:nvPr/>
          </p:nvGrpSpPr>
          <p:grpSpPr bwMode="auto">
            <a:xfrm>
              <a:off x="2054226" y="3640138"/>
              <a:ext cx="754063" cy="400050"/>
              <a:chOff x="1276" y="1871"/>
              <a:chExt cx="475" cy="252"/>
            </a:xfrm>
          </p:grpSpPr>
          <p:sp>
            <p:nvSpPr>
              <p:cNvPr id="91224" name="Text Box 16"/>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DQM</a:t>
                </a:r>
                <a:r>
                  <a:rPr lang="es-ES_tradnl" sz="1800" b="1" baseline="-25000" dirty="0">
                    <a:latin typeface="Arial Narrow" pitchFamily="34" charset="0"/>
                  </a:rPr>
                  <a:t>3</a:t>
                </a:r>
                <a:endParaRPr lang="es-ES_tradnl" sz="1800" dirty="0"/>
              </a:p>
            </p:txBody>
          </p:sp>
          <p:sp>
            <p:nvSpPr>
              <p:cNvPr id="91225" name="Line 17"/>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5" name="Group 18"/>
            <p:cNvGrpSpPr>
              <a:grpSpLocks/>
            </p:cNvGrpSpPr>
            <p:nvPr/>
          </p:nvGrpSpPr>
          <p:grpSpPr bwMode="auto">
            <a:xfrm>
              <a:off x="433388" y="4997450"/>
              <a:ext cx="612775" cy="396875"/>
              <a:chOff x="1586" y="1200"/>
              <a:chExt cx="386" cy="250"/>
            </a:xfrm>
          </p:grpSpPr>
          <p:sp>
            <p:nvSpPr>
              <p:cNvPr id="91222" name="Text Box 19"/>
              <p:cNvSpPr txBox="1">
                <a:spLocks noChangeArrowheads="1"/>
              </p:cNvSpPr>
              <p:nvPr/>
            </p:nvSpPr>
            <p:spPr bwMode="auto">
              <a:xfrm>
                <a:off x="1586" y="1200"/>
                <a:ext cx="386" cy="250"/>
              </a:xfrm>
              <a:prstGeom prst="rect">
                <a:avLst/>
              </a:prstGeom>
              <a:noFill/>
              <a:ln w="28575">
                <a:noFill/>
                <a:miter lim="800000"/>
                <a:headEnd/>
                <a:tailEnd/>
              </a:ln>
            </p:spPr>
            <p:txBody>
              <a:bodyPr wrap="none" anchor="ctr">
                <a:spAutoFit/>
              </a:bodyPr>
              <a:lstStyle/>
              <a:p>
                <a:pPr algn="l">
                  <a:spcBef>
                    <a:spcPct val="20000"/>
                  </a:spcBef>
                </a:pPr>
                <a:r>
                  <a:rPr lang="es-ES_tradnl" sz="1800" dirty="0">
                    <a:latin typeface="Arial Narrow" pitchFamily="34" charset="0"/>
                  </a:rPr>
                  <a:t>CAS</a:t>
                </a:r>
                <a:endParaRPr lang="es-ES_tradnl" sz="1800" dirty="0"/>
              </a:p>
            </p:txBody>
          </p:sp>
          <p:sp>
            <p:nvSpPr>
              <p:cNvPr id="91223" name="Line 20"/>
              <p:cNvSpPr>
                <a:spLocks noChangeShapeType="1"/>
              </p:cNvSpPr>
              <p:nvPr/>
            </p:nvSpPr>
            <p:spPr bwMode="auto">
              <a:xfrm>
                <a:off x="1654" y="1248"/>
                <a:ext cx="240" cy="0"/>
              </a:xfrm>
              <a:prstGeom prst="line">
                <a:avLst/>
              </a:prstGeom>
              <a:noFill/>
              <a:ln w="19050">
                <a:solidFill>
                  <a:schemeClr val="tx1"/>
                </a:solidFill>
                <a:round/>
                <a:headEnd/>
                <a:tailEnd/>
              </a:ln>
            </p:spPr>
            <p:txBody>
              <a:bodyPr wrap="none" anchor="ctr"/>
              <a:lstStyle/>
              <a:p>
                <a:endParaRPr lang="es-ES"/>
              </a:p>
            </p:txBody>
          </p:sp>
        </p:grpSp>
        <p:grpSp>
          <p:nvGrpSpPr>
            <p:cNvPr id="6" name="Group 27"/>
            <p:cNvGrpSpPr>
              <a:grpSpLocks/>
            </p:cNvGrpSpPr>
            <p:nvPr/>
          </p:nvGrpSpPr>
          <p:grpSpPr bwMode="auto">
            <a:xfrm>
              <a:off x="434975" y="4754563"/>
              <a:ext cx="612775" cy="396875"/>
              <a:chOff x="1578" y="1200"/>
              <a:chExt cx="386" cy="250"/>
            </a:xfrm>
          </p:grpSpPr>
          <p:sp>
            <p:nvSpPr>
              <p:cNvPr id="91220" name="Text Box 28"/>
              <p:cNvSpPr txBox="1">
                <a:spLocks noChangeArrowheads="1"/>
              </p:cNvSpPr>
              <p:nvPr/>
            </p:nvSpPr>
            <p:spPr bwMode="auto">
              <a:xfrm>
                <a:off x="1578" y="1200"/>
                <a:ext cx="386" cy="250"/>
              </a:xfrm>
              <a:prstGeom prst="rect">
                <a:avLst/>
              </a:prstGeom>
              <a:noFill/>
              <a:ln w="28575">
                <a:noFill/>
                <a:miter lim="800000"/>
                <a:headEnd/>
                <a:tailEnd/>
              </a:ln>
            </p:spPr>
            <p:txBody>
              <a:bodyPr wrap="none" anchor="ctr">
                <a:spAutoFit/>
              </a:bodyPr>
              <a:lstStyle/>
              <a:p>
                <a:pPr algn="l">
                  <a:spcBef>
                    <a:spcPct val="20000"/>
                  </a:spcBef>
                </a:pPr>
                <a:r>
                  <a:rPr lang="es-ES_tradnl" sz="1800" dirty="0">
                    <a:latin typeface="Arial Narrow" pitchFamily="34" charset="0"/>
                  </a:rPr>
                  <a:t>RAS</a:t>
                </a:r>
                <a:endParaRPr lang="es-ES_tradnl" sz="1800" dirty="0"/>
              </a:p>
            </p:txBody>
          </p:sp>
          <p:sp>
            <p:nvSpPr>
              <p:cNvPr id="91221" name="Line 29"/>
              <p:cNvSpPr>
                <a:spLocks noChangeShapeType="1"/>
              </p:cNvSpPr>
              <p:nvPr/>
            </p:nvSpPr>
            <p:spPr bwMode="auto">
              <a:xfrm>
                <a:off x="1654" y="1248"/>
                <a:ext cx="240" cy="0"/>
              </a:xfrm>
              <a:prstGeom prst="line">
                <a:avLst/>
              </a:prstGeom>
              <a:noFill/>
              <a:ln w="19050">
                <a:solidFill>
                  <a:schemeClr val="tx1"/>
                </a:solidFill>
                <a:round/>
                <a:headEnd/>
                <a:tailEnd/>
              </a:ln>
            </p:spPr>
            <p:txBody>
              <a:bodyPr wrap="none" anchor="ctr"/>
              <a:lstStyle/>
              <a:p>
                <a:endParaRPr lang="es-ES"/>
              </a:p>
            </p:txBody>
          </p:sp>
        </p:grpSp>
        <p:sp>
          <p:nvSpPr>
            <p:cNvPr id="91148" name="Text Box 30"/>
            <p:cNvSpPr txBox="1">
              <a:spLocks noChangeArrowheads="1"/>
            </p:cNvSpPr>
            <p:nvPr/>
          </p:nvSpPr>
          <p:spPr bwMode="auto">
            <a:xfrm>
              <a:off x="728663" y="5514975"/>
              <a:ext cx="1054100" cy="336550"/>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sz="1800" dirty="0">
                  <a:latin typeface="Arial Narrow" pitchFamily="34" charset="0"/>
                </a:rPr>
                <a:t>Dirección</a:t>
              </a:r>
            </a:p>
          </p:txBody>
        </p:sp>
        <p:grpSp>
          <p:nvGrpSpPr>
            <p:cNvPr id="7" name="Group 31"/>
            <p:cNvGrpSpPr>
              <a:grpSpLocks/>
            </p:cNvGrpSpPr>
            <p:nvPr/>
          </p:nvGrpSpPr>
          <p:grpSpPr bwMode="auto">
            <a:xfrm>
              <a:off x="2057400" y="5638800"/>
              <a:ext cx="6400800" cy="533400"/>
              <a:chOff x="1536" y="2352"/>
              <a:chExt cx="3696" cy="240"/>
            </a:xfrm>
          </p:grpSpPr>
          <p:sp>
            <p:nvSpPr>
              <p:cNvPr id="91212" name="Line 32"/>
              <p:cNvSpPr>
                <a:spLocks noChangeShapeType="1"/>
              </p:cNvSpPr>
              <p:nvPr/>
            </p:nvSpPr>
            <p:spPr bwMode="auto">
              <a:xfrm>
                <a:off x="1536"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3" name="Line 33"/>
              <p:cNvSpPr>
                <a:spLocks noChangeShapeType="1"/>
              </p:cNvSpPr>
              <p:nvPr/>
            </p:nvSpPr>
            <p:spPr bwMode="auto">
              <a:xfrm>
                <a:off x="2064"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4" name="Line 34"/>
              <p:cNvSpPr>
                <a:spLocks noChangeShapeType="1"/>
              </p:cNvSpPr>
              <p:nvPr/>
            </p:nvSpPr>
            <p:spPr bwMode="auto">
              <a:xfrm>
                <a:off x="2592"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5" name="Line 35"/>
              <p:cNvSpPr>
                <a:spLocks noChangeShapeType="1"/>
              </p:cNvSpPr>
              <p:nvPr/>
            </p:nvSpPr>
            <p:spPr bwMode="auto">
              <a:xfrm>
                <a:off x="3120"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6" name="Line 36"/>
              <p:cNvSpPr>
                <a:spLocks noChangeShapeType="1"/>
              </p:cNvSpPr>
              <p:nvPr/>
            </p:nvSpPr>
            <p:spPr bwMode="auto">
              <a:xfrm>
                <a:off x="3648"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7" name="Line 37"/>
              <p:cNvSpPr>
                <a:spLocks noChangeShapeType="1"/>
              </p:cNvSpPr>
              <p:nvPr/>
            </p:nvSpPr>
            <p:spPr bwMode="auto">
              <a:xfrm>
                <a:off x="4176"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8" name="Line 38"/>
              <p:cNvSpPr>
                <a:spLocks noChangeShapeType="1"/>
              </p:cNvSpPr>
              <p:nvPr/>
            </p:nvSpPr>
            <p:spPr bwMode="auto">
              <a:xfrm>
                <a:off x="4704"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1219" name="Line 39"/>
              <p:cNvSpPr>
                <a:spLocks noChangeShapeType="1"/>
              </p:cNvSpPr>
              <p:nvPr/>
            </p:nvSpPr>
            <p:spPr bwMode="auto">
              <a:xfrm>
                <a:off x="5232" y="2352"/>
                <a:ext cx="0" cy="240"/>
              </a:xfrm>
              <a:prstGeom prst="line">
                <a:avLst/>
              </a:prstGeom>
              <a:noFill/>
              <a:ln w="38100">
                <a:solidFill>
                  <a:srgbClr val="FF9900"/>
                </a:solidFill>
                <a:round/>
                <a:headEnd type="triangle" w="med" len="med"/>
                <a:tailEnd type="triangle" w="med" len="med"/>
              </a:ln>
            </p:spPr>
            <p:txBody>
              <a:bodyPr wrap="none" anchor="ctr"/>
              <a:lstStyle/>
              <a:p>
                <a:endParaRPr lang="es-ES"/>
              </a:p>
            </p:txBody>
          </p:sp>
        </p:grpSp>
        <p:sp>
          <p:nvSpPr>
            <p:cNvPr id="91150" name="Text Box 40"/>
            <p:cNvSpPr txBox="1">
              <a:spLocks noChangeArrowheads="1"/>
            </p:cNvSpPr>
            <p:nvPr/>
          </p:nvSpPr>
          <p:spPr bwMode="auto">
            <a:xfrm>
              <a:off x="1600200" y="6156325"/>
              <a:ext cx="914400" cy="396875"/>
            </a:xfrm>
            <a:prstGeom prst="rect">
              <a:avLst/>
            </a:prstGeom>
            <a:noFill/>
            <a:ln w="28575">
              <a:noFill/>
              <a:miter lim="800000"/>
              <a:headEnd/>
              <a:tailEnd/>
            </a:ln>
          </p:spPr>
          <p:txBody>
            <a:bodyPr anchor="ctr">
              <a:spAutoFit/>
            </a:bodyPr>
            <a:lstStyle/>
            <a:p>
              <a:pPr>
                <a:spcBef>
                  <a:spcPct val="20000"/>
                </a:spcBef>
              </a:pPr>
              <a:r>
                <a:rPr lang="es-ES_tradnl" dirty="0">
                  <a:latin typeface="Arial Narrow" pitchFamily="34" charset="0"/>
                </a:rPr>
                <a:t>D</a:t>
              </a:r>
              <a:r>
                <a:rPr lang="es-ES_tradnl" b="1" baseline="-25000" dirty="0">
                  <a:latin typeface="Arial Narrow" pitchFamily="34" charset="0"/>
                </a:rPr>
                <a:t>31..28</a:t>
              </a:r>
              <a:endParaRPr lang="es-ES_tradnl" dirty="0">
                <a:latin typeface="Arial Narrow" pitchFamily="34" charset="0"/>
              </a:endParaRPr>
            </a:p>
          </p:txBody>
        </p:sp>
        <p:sp>
          <p:nvSpPr>
            <p:cNvPr id="91151" name="Text Box 41"/>
            <p:cNvSpPr txBox="1">
              <a:spLocks noChangeArrowheads="1"/>
            </p:cNvSpPr>
            <p:nvPr/>
          </p:nvSpPr>
          <p:spPr bwMode="auto">
            <a:xfrm>
              <a:off x="2514600" y="6156325"/>
              <a:ext cx="9144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27..24</a:t>
              </a:r>
              <a:endParaRPr lang="es-ES_tradnl">
                <a:latin typeface="Arial Narrow" pitchFamily="34" charset="0"/>
              </a:endParaRPr>
            </a:p>
          </p:txBody>
        </p:sp>
        <p:sp>
          <p:nvSpPr>
            <p:cNvPr id="91152" name="Text Box 42"/>
            <p:cNvSpPr txBox="1">
              <a:spLocks noChangeArrowheads="1"/>
            </p:cNvSpPr>
            <p:nvPr/>
          </p:nvSpPr>
          <p:spPr bwMode="auto">
            <a:xfrm>
              <a:off x="3429000" y="6156325"/>
              <a:ext cx="9144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23..20</a:t>
              </a:r>
              <a:endParaRPr lang="es-ES_tradnl">
                <a:latin typeface="Arial Narrow" pitchFamily="34" charset="0"/>
              </a:endParaRPr>
            </a:p>
          </p:txBody>
        </p:sp>
        <p:sp>
          <p:nvSpPr>
            <p:cNvPr id="91153" name="Text Box 43"/>
            <p:cNvSpPr txBox="1">
              <a:spLocks noChangeArrowheads="1"/>
            </p:cNvSpPr>
            <p:nvPr/>
          </p:nvSpPr>
          <p:spPr bwMode="auto">
            <a:xfrm>
              <a:off x="4343400" y="6156325"/>
              <a:ext cx="9144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19..16</a:t>
              </a:r>
              <a:endParaRPr lang="es-ES_tradnl">
                <a:latin typeface="Arial Narrow" pitchFamily="34" charset="0"/>
              </a:endParaRPr>
            </a:p>
          </p:txBody>
        </p:sp>
        <p:sp>
          <p:nvSpPr>
            <p:cNvPr id="91154" name="Text Box 44"/>
            <p:cNvSpPr txBox="1">
              <a:spLocks noChangeArrowheads="1"/>
            </p:cNvSpPr>
            <p:nvPr/>
          </p:nvSpPr>
          <p:spPr bwMode="auto">
            <a:xfrm>
              <a:off x="5257800" y="6156325"/>
              <a:ext cx="9144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15..12</a:t>
              </a:r>
              <a:endParaRPr lang="es-ES_tradnl">
                <a:latin typeface="Arial Narrow" pitchFamily="34" charset="0"/>
              </a:endParaRPr>
            </a:p>
          </p:txBody>
        </p:sp>
        <p:sp>
          <p:nvSpPr>
            <p:cNvPr id="91155" name="Text Box 45"/>
            <p:cNvSpPr txBox="1">
              <a:spLocks noChangeArrowheads="1"/>
            </p:cNvSpPr>
            <p:nvPr/>
          </p:nvSpPr>
          <p:spPr bwMode="auto">
            <a:xfrm>
              <a:off x="6248400" y="6156325"/>
              <a:ext cx="7620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11..8</a:t>
              </a:r>
              <a:endParaRPr lang="es-ES_tradnl">
                <a:latin typeface="Arial Narrow" pitchFamily="34" charset="0"/>
              </a:endParaRPr>
            </a:p>
          </p:txBody>
        </p:sp>
        <p:sp>
          <p:nvSpPr>
            <p:cNvPr id="91156" name="Text Box 46"/>
            <p:cNvSpPr txBox="1">
              <a:spLocks noChangeArrowheads="1"/>
            </p:cNvSpPr>
            <p:nvPr/>
          </p:nvSpPr>
          <p:spPr bwMode="auto">
            <a:xfrm>
              <a:off x="7162800" y="6156325"/>
              <a:ext cx="7620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7..4</a:t>
              </a:r>
              <a:endParaRPr lang="es-ES_tradnl">
                <a:latin typeface="Arial Narrow" pitchFamily="34" charset="0"/>
              </a:endParaRPr>
            </a:p>
          </p:txBody>
        </p:sp>
        <p:sp>
          <p:nvSpPr>
            <p:cNvPr id="91157" name="Text Box 47"/>
            <p:cNvSpPr txBox="1">
              <a:spLocks noChangeArrowheads="1"/>
            </p:cNvSpPr>
            <p:nvPr/>
          </p:nvSpPr>
          <p:spPr bwMode="auto">
            <a:xfrm>
              <a:off x="8077200" y="6156325"/>
              <a:ext cx="762000" cy="396875"/>
            </a:xfrm>
            <a:prstGeom prst="rect">
              <a:avLst/>
            </a:prstGeom>
            <a:noFill/>
            <a:ln w="28575">
              <a:noFill/>
              <a:miter lim="800000"/>
              <a:headEnd/>
              <a:tailEnd/>
            </a:ln>
          </p:spPr>
          <p:txBody>
            <a:bodyPr anchor="ctr">
              <a:spAutoFit/>
            </a:bodyPr>
            <a:lstStyle/>
            <a:p>
              <a:pPr>
                <a:spcBef>
                  <a:spcPct val="20000"/>
                </a:spcBef>
              </a:pPr>
              <a:r>
                <a:rPr lang="es-ES_tradnl">
                  <a:latin typeface="Arial Narrow" pitchFamily="34" charset="0"/>
                </a:rPr>
                <a:t>D</a:t>
              </a:r>
              <a:r>
                <a:rPr lang="es-ES_tradnl" b="1" baseline="-25000">
                  <a:latin typeface="Arial Narrow" pitchFamily="34" charset="0"/>
                </a:rPr>
                <a:t>3..0</a:t>
              </a:r>
              <a:endParaRPr lang="es-ES_tradnl">
                <a:latin typeface="Arial Narrow" pitchFamily="34" charset="0"/>
              </a:endParaRPr>
            </a:p>
          </p:txBody>
        </p:sp>
        <p:grpSp>
          <p:nvGrpSpPr>
            <p:cNvPr id="8" name="Group 48"/>
            <p:cNvGrpSpPr>
              <a:grpSpLocks/>
            </p:cNvGrpSpPr>
            <p:nvPr/>
          </p:nvGrpSpPr>
          <p:grpSpPr bwMode="auto">
            <a:xfrm>
              <a:off x="1295400" y="4997450"/>
              <a:ext cx="6858000" cy="0"/>
              <a:chOff x="768" y="2256"/>
              <a:chExt cx="4320" cy="0"/>
            </a:xfrm>
          </p:grpSpPr>
          <p:sp>
            <p:nvSpPr>
              <p:cNvPr id="91204" name="Line 49"/>
              <p:cNvSpPr>
                <a:spLocks noChangeShapeType="1"/>
              </p:cNvSpPr>
              <p:nvPr/>
            </p:nvSpPr>
            <p:spPr bwMode="auto">
              <a:xfrm>
                <a:off x="768" y="2256"/>
                <a:ext cx="288"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05" name="Line 50"/>
              <p:cNvSpPr>
                <a:spLocks noChangeShapeType="1"/>
              </p:cNvSpPr>
              <p:nvPr/>
            </p:nvSpPr>
            <p:spPr bwMode="auto">
              <a:xfrm>
                <a:off x="1440"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06" name="Line 51"/>
              <p:cNvSpPr>
                <a:spLocks noChangeShapeType="1"/>
              </p:cNvSpPr>
              <p:nvPr/>
            </p:nvSpPr>
            <p:spPr bwMode="auto">
              <a:xfrm>
                <a:off x="2016"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07" name="Line 52"/>
              <p:cNvSpPr>
                <a:spLocks noChangeShapeType="1"/>
              </p:cNvSpPr>
              <p:nvPr/>
            </p:nvSpPr>
            <p:spPr bwMode="auto">
              <a:xfrm>
                <a:off x="2592"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08" name="Line 53"/>
              <p:cNvSpPr>
                <a:spLocks noChangeShapeType="1"/>
              </p:cNvSpPr>
              <p:nvPr/>
            </p:nvSpPr>
            <p:spPr bwMode="auto">
              <a:xfrm>
                <a:off x="3168"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09" name="Line 54"/>
              <p:cNvSpPr>
                <a:spLocks noChangeShapeType="1"/>
              </p:cNvSpPr>
              <p:nvPr/>
            </p:nvSpPr>
            <p:spPr bwMode="auto">
              <a:xfrm>
                <a:off x="3744"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10" name="Line 55"/>
              <p:cNvSpPr>
                <a:spLocks noChangeShapeType="1"/>
              </p:cNvSpPr>
              <p:nvPr/>
            </p:nvSpPr>
            <p:spPr bwMode="auto">
              <a:xfrm>
                <a:off x="4320"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sp>
            <p:nvSpPr>
              <p:cNvPr id="91211" name="Line 56"/>
              <p:cNvSpPr>
                <a:spLocks noChangeShapeType="1"/>
              </p:cNvSpPr>
              <p:nvPr/>
            </p:nvSpPr>
            <p:spPr bwMode="auto">
              <a:xfrm>
                <a:off x="4896" y="2256"/>
                <a:ext cx="192" cy="0"/>
              </a:xfrm>
              <a:prstGeom prst="line">
                <a:avLst/>
              </a:prstGeom>
              <a:noFill/>
              <a:ln w="28575">
                <a:solidFill>
                  <a:schemeClr val="accent3">
                    <a:lumMod val="75000"/>
                  </a:schemeClr>
                </a:solidFill>
                <a:round/>
                <a:headEnd/>
                <a:tailEnd type="triangle" w="med" len="med"/>
              </a:ln>
            </p:spPr>
            <p:txBody>
              <a:bodyPr wrap="none" anchor="ctr"/>
              <a:lstStyle/>
              <a:p>
                <a:endParaRPr lang="es-ES"/>
              </a:p>
            </p:txBody>
          </p:sp>
        </p:grpSp>
        <p:grpSp>
          <p:nvGrpSpPr>
            <p:cNvPr id="9" name="Group 57"/>
            <p:cNvGrpSpPr>
              <a:grpSpLocks/>
            </p:cNvGrpSpPr>
            <p:nvPr/>
          </p:nvGrpSpPr>
          <p:grpSpPr bwMode="auto">
            <a:xfrm>
              <a:off x="3886200" y="3870325"/>
              <a:ext cx="914400" cy="533400"/>
              <a:chOff x="1536" y="1392"/>
              <a:chExt cx="528" cy="336"/>
            </a:xfrm>
          </p:grpSpPr>
          <p:sp>
            <p:nvSpPr>
              <p:cNvPr id="91202" name="Freeform 58"/>
              <p:cNvSpPr>
                <a:spLocks/>
              </p:cNvSpPr>
              <p:nvPr/>
            </p:nvSpPr>
            <p:spPr bwMode="auto">
              <a:xfrm>
                <a:off x="1536" y="1488"/>
                <a:ext cx="528" cy="240"/>
              </a:xfrm>
              <a:custGeom>
                <a:avLst/>
                <a:gdLst>
                  <a:gd name="T0" fmla="*/ 0 w 528"/>
                  <a:gd name="T1" fmla="*/ 240 h 240"/>
                  <a:gd name="T2" fmla="*/ 0 w 528"/>
                  <a:gd name="T3" fmla="*/ 0 h 240"/>
                  <a:gd name="T4" fmla="*/ 528 w 528"/>
                  <a:gd name="T5" fmla="*/ 0 h 240"/>
                  <a:gd name="T6" fmla="*/ 528 w 528"/>
                  <a:gd name="T7" fmla="*/ 240 h 240"/>
                  <a:gd name="T8" fmla="*/ 0 60000 65536"/>
                  <a:gd name="T9" fmla="*/ 0 60000 65536"/>
                  <a:gd name="T10" fmla="*/ 0 60000 65536"/>
                  <a:gd name="T11" fmla="*/ 0 60000 65536"/>
                  <a:gd name="T12" fmla="*/ 0 w 528"/>
                  <a:gd name="T13" fmla="*/ 0 h 240"/>
                  <a:gd name="T14" fmla="*/ 528 w 528"/>
                  <a:gd name="T15" fmla="*/ 240 h 240"/>
                </a:gdLst>
                <a:ahLst/>
                <a:cxnLst>
                  <a:cxn ang="T8">
                    <a:pos x="T0" y="T1"/>
                  </a:cxn>
                  <a:cxn ang="T9">
                    <a:pos x="T2" y="T3"/>
                  </a:cxn>
                  <a:cxn ang="T10">
                    <a:pos x="T4" y="T5"/>
                  </a:cxn>
                  <a:cxn ang="T11">
                    <a:pos x="T6" y="T7"/>
                  </a:cxn>
                </a:cxnLst>
                <a:rect l="T12" t="T13" r="T14" b="T15"/>
                <a:pathLst>
                  <a:path w="528" h="240">
                    <a:moveTo>
                      <a:pt x="0" y="240"/>
                    </a:moveTo>
                    <a:lnTo>
                      <a:pt x="0" y="0"/>
                    </a:lnTo>
                    <a:lnTo>
                      <a:pt x="528" y="0"/>
                    </a:lnTo>
                    <a:lnTo>
                      <a:pt x="528" y="240"/>
                    </a:lnTo>
                  </a:path>
                </a:pathLst>
              </a:custGeom>
              <a:noFill/>
              <a:ln w="28575">
                <a:solidFill>
                  <a:schemeClr val="accent6">
                    <a:lumMod val="40000"/>
                    <a:lumOff val="60000"/>
                  </a:schemeClr>
                </a:solidFill>
                <a:round/>
                <a:headEnd type="triangle" w="med" len="med"/>
                <a:tailEnd type="triangle" w="med" len="med"/>
              </a:ln>
            </p:spPr>
            <p:txBody>
              <a:bodyPr wrap="none" anchor="ctr"/>
              <a:lstStyle/>
              <a:p>
                <a:endParaRPr lang="es-ES"/>
              </a:p>
            </p:txBody>
          </p:sp>
          <p:sp>
            <p:nvSpPr>
              <p:cNvPr id="91203" name="Line 59"/>
              <p:cNvSpPr>
                <a:spLocks noChangeShapeType="1"/>
              </p:cNvSpPr>
              <p:nvPr/>
            </p:nvSpPr>
            <p:spPr bwMode="auto">
              <a:xfrm>
                <a:off x="1536" y="1392"/>
                <a:ext cx="0" cy="96"/>
              </a:xfrm>
              <a:prstGeom prst="line">
                <a:avLst/>
              </a:prstGeom>
              <a:noFill/>
              <a:ln w="28575">
                <a:solidFill>
                  <a:schemeClr val="accent6">
                    <a:lumMod val="40000"/>
                    <a:lumOff val="60000"/>
                  </a:schemeClr>
                </a:solidFill>
                <a:round/>
                <a:headEnd/>
                <a:tailEnd/>
              </a:ln>
            </p:spPr>
            <p:txBody>
              <a:bodyPr wrap="none" anchor="ctr"/>
              <a:lstStyle/>
              <a:p>
                <a:endParaRPr lang="es-ES"/>
              </a:p>
            </p:txBody>
          </p:sp>
        </p:grpSp>
        <p:grpSp>
          <p:nvGrpSpPr>
            <p:cNvPr id="10" name="Group 60"/>
            <p:cNvGrpSpPr>
              <a:grpSpLocks/>
            </p:cNvGrpSpPr>
            <p:nvPr/>
          </p:nvGrpSpPr>
          <p:grpSpPr bwMode="auto">
            <a:xfrm>
              <a:off x="5715000" y="3870325"/>
              <a:ext cx="914400" cy="533400"/>
              <a:chOff x="1536" y="1392"/>
              <a:chExt cx="528" cy="336"/>
            </a:xfrm>
          </p:grpSpPr>
          <p:sp>
            <p:nvSpPr>
              <p:cNvPr id="91200" name="Freeform 61"/>
              <p:cNvSpPr>
                <a:spLocks/>
              </p:cNvSpPr>
              <p:nvPr/>
            </p:nvSpPr>
            <p:spPr bwMode="auto">
              <a:xfrm>
                <a:off x="1536" y="1488"/>
                <a:ext cx="528" cy="240"/>
              </a:xfrm>
              <a:custGeom>
                <a:avLst/>
                <a:gdLst>
                  <a:gd name="T0" fmla="*/ 0 w 528"/>
                  <a:gd name="T1" fmla="*/ 240 h 240"/>
                  <a:gd name="T2" fmla="*/ 0 w 528"/>
                  <a:gd name="T3" fmla="*/ 0 h 240"/>
                  <a:gd name="T4" fmla="*/ 528 w 528"/>
                  <a:gd name="T5" fmla="*/ 0 h 240"/>
                  <a:gd name="T6" fmla="*/ 528 w 528"/>
                  <a:gd name="T7" fmla="*/ 240 h 240"/>
                  <a:gd name="T8" fmla="*/ 0 60000 65536"/>
                  <a:gd name="T9" fmla="*/ 0 60000 65536"/>
                  <a:gd name="T10" fmla="*/ 0 60000 65536"/>
                  <a:gd name="T11" fmla="*/ 0 60000 65536"/>
                  <a:gd name="T12" fmla="*/ 0 w 528"/>
                  <a:gd name="T13" fmla="*/ 0 h 240"/>
                  <a:gd name="T14" fmla="*/ 528 w 528"/>
                  <a:gd name="T15" fmla="*/ 240 h 240"/>
                </a:gdLst>
                <a:ahLst/>
                <a:cxnLst>
                  <a:cxn ang="T8">
                    <a:pos x="T0" y="T1"/>
                  </a:cxn>
                  <a:cxn ang="T9">
                    <a:pos x="T2" y="T3"/>
                  </a:cxn>
                  <a:cxn ang="T10">
                    <a:pos x="T4" y="T5"/>
                  </a:cxn>
                  <a:cxn ang="T11">
                    <a:pos x="T6" y="T7"/>
                  </a:cxn>
                </a:cxnLst>
                <a:rect l="T12" t="T13" r="T14" b="T15"/>
                <a:pathLst>
                  <a:path w="528" h="240">
                    <a:moveTo>
                      <a:pt x="0" y="240"/>
                    </a:moveTo>
                    <a:lnTo>
                      <a:pt x="0" y="0"/>
                    </a:lnTo>
                    <a:lnTo>
                      <a:pt x="528" y="0"/>
                    </a:lnTo>
                    <a:lnTo>
                      <a:pt x="528" y="240"/>
                    </a:lnTo>
                  </a:path>
                </a:pathLst>
              </a:custGeom>
              <a:noFill/>
              <a:ln w="28575">
                <a:solidFill>
                  <a:schemeClr val="accent6">
                    <a:lumMod val="40000"/>
                    <a:lumOff val="60000"/>
                  </a:schemeClr>
                </a:solidFill>
                <a:round/>
                <a:headEnd type="triangle" w="med" len="med"/>
                <a:tailEnd type="triangle" w="med" len="med"/>
              </a:ln>
            </p:spPr>
            <p:txBody>
              <a:bodyPr wrap="none" anchor="ctr"/>
              <a:lstStyle/>
              <a:p>
                <a:endParaRPr lang="es-ES"/>
              </a:p>
            </p:txBody>
          </p:sp>
          <p:sp>
            <p:nvSpPr>
              <p:cNvPr id="91201" name="Line 62"/>
              <p:cNvSpPr>
                <a:spLocks noChangeShapeType="1"/>
              </p:cNvSpPr>
              <p:nvPr/>
            </p:nvSpPr>
            <p:spPr bwMode="auto">
              <a:xfrm>
                <a:off x="1536" y="1392"/>
                <a:ext cx="0" cy="96"/>
              </a:xfrm>
              <a:prstGeom prst="line">
                <a:avLst/>
              </a:prstGeom>
              <a:noFill/>
              <a:ln w="28575">
                <a:solidFill>
                  <a:schemeClr val="accent6">
                    <a:lumMod val="40000"/>
                    <a:lumOff val="60000"/>
                  </a:schemeClr>
                </a:solidFill>
                <a:round/>
                <a:headEnd/>
                <a:tailEnd/>
              </a:ln>
            </p:spPr>
            <p:txBody>
              <a:bodyPr wrap="none" anchor="ctr"/>
              <a:lstStyle/>
              <a:p>
                <a:endParaRPr lang="es-ES"/>
              </a:p>
            </p:txBody>
          </p:sp>
        </p:grpSp>
        <p:grpSp>
          <p:nvGrpSpPr>
            <p:cNvPr id="11" name="Group 63"/>
            <p:cNvGrpSpPr>
              <a:grpSpLocks/>
            </p:cNvGrpSpPr>
            <p:nvPr/>
          </p:nvGrpSpPr>
          <p:grpSpPr bwMode="auto">
            <a:xfrm>
              <a:off x="7543800" y="3870325"/>
              <a:ext cx="914400" cy="533400"/>
              <a:chOff x="1536" y="1392"/>
              <a:chExt cx="528" cy="336"/>
            </a:xfrm>
          </p:grpSpPr>
          <p:sp>
            <p:nvSpPr>
              <p:cNvPr id="91198" name="Freeform 64"/>
              <p:cNvSpPr>
                <a:spLocks/>
              </p:cNvSpPr>
              <p:nvPr/>
            </p:nvSpPr>
            <p:spPr bwMode="auto">
              <a:xfrm>
                <a:off x="1536" y="1488"/>
                <a:ext cx="528" cy="240"/>
              </a:xfrm>
              <a:custGeom>
                <a:avLst/>
                <a:gdLst>
                  <a:gd name="T0" fmla="*/ 0 w 528"/>
                  <a:gd name="T1" fmla="*/ 240 h 240"/>
                  <a:gd name="T2" fmla="*/ 0 w 528"/>
                  <a:gd name="T3" fmla="*/ 0 h 240"/>
                  <a:gd name="T4" fmla="*/ 528 w 528"/>
                  <a:gd name="T5" fmla="*/ 0 h 240"/>
                  <a:gd name="T6" fmla="*/ 528 w 528"/>
                  <a:gd name="T7" fmla="*/ 240 h 240"/>
                  <a:gd name="T8" fmla="*/ 0 60000 65536"/>
                  <a:gd name="T9" fmla="*/ 0 60000 65536"/>
                  <a:gd name="T10" fmla="*/ 0 60000 65536"/>
                  <a:gd name="T11" fmla="*/ 0 60000 65536"/>
                  <a:gd name="T12" fmla="*/ 0 w 528"/>
                  <a:gd name="T13" fmla="*/ 0 h 240"/>
                  <a:gd name="T14" fmla="*/ 528 w 528"/>
                  <a:gd name="T15" fmla="*/ 240 h 240"/>
                </a:gdLst>
                <a:ahLst/>
                <a:cxnLst>
                  <a:cxn ang="T8">
                    <a:pos x="T0" y="T1"/>
                  </a:cxn>
                  <a:cxn ang="T9">
                    <a:pos x="T2" y="T3"/>
                  </a:cxn>
                  <a:cxn ang="T10">
                    <a:pos x="T4" y="T5"/>
                  </a:cxn>
                  <a:cxn ang="T11">
                    <a:pos x="T6" y="T7"/>
                  </a:cxn>
                </a:cxnLst>
                <a:rect l="T12" t="T13" r="T14" b="T15"/>
                <a:pathLst>
                  <a:path w="528" h="240">
                    <a:moveTo>
                      <a:pt x="0" y="240"/>
                    </a:moveTo>
                    <a:lnTo>
                      <a:pt x="0" y="0"/>
                    </a:lnTo>
                    <a:lnTo>
                      <a:pt x="528" y="0"/>
                    </a:lnTo>
                    <a:lnTo>
                      <a:pt x="528" y="240"/>
                    </a:lnTo>
                  </a:path>
                </a:pathLst>
              </a:custGeom>
              <a:noFill/>
              <a:ln w="28575">
                <a:solidFill>
                  <a:schemeClr val="accent6">
                    <a:lumMod val="40000"/>
                    <a:lumOff val="60000"/>
                  </a:schemeClr>
                </a:solidFill>
                <a:round/>
                <a:headEnd type="triangle" w="med" len="med"/>
                <a:tailEnd type="triangle" w="med" len="med"/>
              </a:ln>
            </p:spPr>
            <p:txBody>
              <a:bodyPr wrap="none" anchor="ctr"/>
              <a:lstStyle/>
              <a:p>
                <a:endParaRPr lang="es-ES"/>
              </a:p>
            </p:txBody>
          </p:sp>
          <p:sp>
            <p:nvSpPr>
              <p:cNvPr id="91199" name="Line 65"/>
              <p:cNvSpPr>
                <a:spLocks noChangeShapeType="1"/>
              </p:cNvSpPr>
              <p:nvPr/>
            </p:nvSpPr>
            <p:spPr bwMode="auto">
              <a:xfrm>
                <a:off x="1536" y="1392"/>
                <a:ext cx="0" cy="96"/>
              </a:xfrm>
              <a:prstGeom prst="line">
                <a:avLst/>
              </a:prstGeom>
              <a:ln w="28575">
                <a:solidFill>
                  <a:schemeClr val="accent6">
                    <a:lumMod val="40000"/>
                    <a:lumOff val="60000"/>
                  </a:schemeClr>
                </a:solidFill>
                <a:headEnd/>
                <a:tailEnd/>
              </a:ln>
            </p:spPr>
            <p:style>
              <a:lnRef idx="1">
                <a:schemeClr val="accent6"/>
              </a:lnRef>
              <a:fillRef idx="0">
                <a:schemeClr val="accent6"/>
              </a:fillRef>
              <a:effectRef idx="0">
                <a:schemeClr val="accent6"/>
              </a:effectRef>
              <a:fontRef idx="minor">
                <a:schemeClr val="tx1"/>
              </a:fontRef>
            </p:style>
            <p:txBody>
              <a:bodyPr wrap="none" anchor="ctr"/>
              <a:lstStyle/>
              <a:p>
                <a:endParaRPr lang="es-ES"/>
              </a:p>
            </p:txBody>
          </p:sp>
        </p:grpSp>
        <p:grpSp>
          <p:nvGrpSpPr>
            <p:cNvPr id="12" name="Group 66"/>
            <p:cNvGrpSpPr>
              <a:grpSpLocks/>
            </p:cNvGrpSpPr>
            <p:nvPr/>
          </p:nvGrpSpPr>
          <p:grpSpPr bwMode="auto">
            <a:xfrm>
              <a:off x="1295400" y="5470525"/>
              <a:ext cx="6858000" cy="0"/>
              <a:chOff x="768" y="2256"/>
              <a:chExt cx="4320" cy="0"/>
            </a:xfrm>
          </p:grpSpPr>
          <p:sp>
            <p:nvSpPr>
              <p:cNvPr id="91190" name="Line 67"/>
              <p:cNvSpPr>
                <a:spLocks noChangeShapeType="1"/>
              </p:cNvSpPr>
              <p:nvPr/>
            </p:nvSpPr>
            <p:spPr bwMode="auto">
              <a:xfrm>
                <a:off x="768" y="2256"/>
                <a:ext cx="288"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1" name="Line 68"/>
              <p:cNvSpPr>
                <a:spLocks noChangeShapeType="1"/>
              </p:cNvSpPr>
              <p:nvPr/>
            </p:nvSpPr>
            <p:spPr bwMode="auto">
              <a:xfrm>
                <a:off x="1440"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2" name="Line 69"/>
              <p:cNvSpPr>
                <a:spLocks noChangeShapeType="1"/>
              </p:cNvSpPr>
              <p:nvPr/>
            </p:nvSpPr>
            <p:spPr bwMode="auto">
              <a:xfrm>
                <a:off x="2016"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3" name="Line 70"/>
              <p:cNvSpPr>
                <a:spLocks noChangeShapeType="1"/>
              </p:cNvSpPr>
              <p:nvPr/>
            </p:nvSpPr>
            <p:spPr bwMode="auto">
              <a:xfrm>
                <a:off x="2592"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4" name="Line 71"/>
              <p:cNvSpPr>
                <a:spLocks noChangeShapeType="1"/>
              </p:cNvSpPr>
              <p:nvPr/>
            </p:nvSpPr>
            <p:spPr bwMode="auto">
              <a:xfrm>
                <a:off x="3168"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5" name="Line 72"/>
              <p:cNvSpPr>
                <a:spLocks noChangeShapeType="1"/>
              </p:cNvSpPr>
              <p:nvPr/>
            </p:nvSpPr>
            <p:spPr bwMode="auto">
              <a:xfrm>
                <a:off x="3744"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6" name="Line 73"/>
              <p:cNvSpPr>
                <a:spLocks noChangeShapeType="1"/>
              </p:cNvSpPr>
              <p:nvPr/>
            </p:nvSpPr>
            <p:spPr bwMode="auto">
              <a:xfrm>
                <a:off x="4320"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sp>
            <p:nvSpPr>
              <p:cNvPr id="91197" name="Line 74"/>
              <p:cNvSpPr>
                <a:spLocks noChangeShapeType="1"/>
              </p:cNvSpPr>
              <p:nvPr/>
            </p:nvSpPr>
            <p:spPr bwMode="auto">
              <a:xfrm>
                <a:off x="4896" y="2256"/>
                <a:ext cx="192" cy="0"/>
              </a:xfrm>
              <a:prstGeom prst="line">
                <a:avLst/>
              </a:prstGeom>
              <a:noFill/>
              <a:ln w="38100">
                <a:solidFill>
                  <a:schemeClr val="accent1">
                    <a:lumMod val="75000"/>
                  </a:schemeClr>
                </a:solidFill>
                <a:round/>
                <a:headEnd/>
                <a:tailEnd type="triangle" w="med" len="med"/>
              </a:ln>
            </p:spPr>
            <p:txBody>
              <a:bodyPr wrap="none" anchor="ctr"/>
              <a:lstStyle/>
              <a:p>
                <a:endParaRPr lang="es-ES"/>
              </a:p>
            </p:txBody>
          </p:sp>
        </p:grpSp>
        <p:grpSp>
          <p:nvGrpSpPr>
            <p:cNvPr id="13" name="Group 92"/>
            <p:cNvGrpSpPr>
              <a:grpSpLocks/>
            </p:cNvGrpSpPr>
            <p:nvPr/>
          </p:nvGrpSpPr>
          <p:grpSpPr bwMode="auto">
            <a:xfrm>
              <a:off x="434975" y="5226050"/>
              <a:ext cx="588963" cy="396875"/>
              <a:chOff x="622" y="2179"/>
              <a:chExt cx="371" cy="250"/>
            </a:xfrm>
          </p:grpSpPr>
          <p:sp>
            <p:nvSpPr>
              <p:cNvPr id="91188" name="Text Box 90"/>
              <p:cNvSpPr txBox="1">
                <a:spLocks noChangeArrowheads="1"/>
              </p:cNvSpPr>
              <p:nvPr/>
            </p:nvSpPr>
            <p:spPr bwMode="auto">
              <a:xfrm>
                <a:off x="622" y="2179"/>
                <a:ext cx="371" cy="250"/>
              </a:xfrm>
              <a:prstGeom prst="rect">
                <a:avLst/>
              </a:prstGeom>
              <a:noFill/>
              <a:ln w="28575">
                <a:noFill/>
                <a:miter lim="800000"/>
                <a:headEnd/>
                <a:tailEnd/>
              </a:ln>
            </p:spPr>
            <p:txBody>
              <a:bodyPr wrap="none" anchor="ctr">
                <a:spAutoFit/>
              </a:bodyPr>
              <a:lstStyle/>
              <a:p>
                <a:pPr algn="l">
                  <a:spcBef>
                    <a:spcPct val="20000"/>
                  </a:spcBef>
                </a:pPr>
                <a:r>
                  <a:rPr lang="es-ES_tradnl" sz="1800" dirty="0">
                    <a:latin typeface="Arial Narrow" pitchFamily="34" charset="0"/>
                  </a:rPr>
                  <a:t>R/W</a:t>
                </a:r>
                <a:endParaRPr lang="es-ES_tradnl" sz="1800" dirty="0"/>
              </a:p>
            </p:txBody>
          </p:sp>
          <p:sp>
            <p:nvSpPr>
              <p:cNvPr id="91189" name="Line 91"/>
              <p:cNvSpPr>
                <a:spLocks noChangeShapeType="1"/>
              </p:cNvSpPr>
              <p:nvPr/>
            </p:nvSpPr>
            <p:spPr bwMode="auto">
              <a:xfrm>
                <a:off x="816" y="2227"/>
                <a:ext cx="114" cy="0"/>
              </a:xfrm>
              <a:prstGeom prst="line">
                <a:avLst/>
              </a:prstGeom>
              <a:noFill/>
              <a:ln w="19050">
                <a:solidFill>
                  <a:schemeClr val="tx1"/>
                </a:solidFill>
                <a:round/>
                <a:headEnd/>
                <a:tailEnd/>
              </a:ln>
            </p:spPr>
            <p:txBody>
              <a:bodyPr wrap="none" anchor="ctr"/>
              <a:lstStyle/>
              <a:p>
                <a:endParaRPr lang="es-ES"/>
              </a:p>
            </p:txBody>
          </p:sp>
        </p:grpSp>
        <p:grpSp>
          <p:nvGrpSpPr>
            <p:cNvPr id="14" name="Group 99"/>
            <p:cNvGrpSpPr>
              <a:grpSpLocks/>
            </p:cNvGrpSpPr>
            <p:nvPr/>
          </p:nvGrpSpPr>
          <p:grpSpPr bwMode="auto">
            <a:xfrm>
              <a:off x="457200" y="4479925"/>
              <a:ext cx="473075" cy="396875"/>
              <a:chOff x="328" y="1776"/>
              <a:chExt cx="298" cy="250"/>
            </a:xfrm>
          </p:grpSpPr>
          <p:sp>
            <p:nvSpPr>
              <p:cNvPr id="91186" name="Text Box 97"/>
              <p:cNvSpPr txBox="1">
                <a:spLocks noChangeArrowheads="1"/>
              </p:cNvSpPr>
              <p:nvPr/>
            </p:nvSpPr>
            <p:spPr bwMode="auto">
              <a:xfrm>
                <a:off x="328" y="1776"/>
                <a:ext cx="298" cy="250"/>
              </a:xfrm>
              <a:prstGeom prst="rect">
                <a:avLst/>
              </a:prstGeom>
              <a:noFill/>
              <a:ln w="28575">
                <a:noFill/>
                <a:miter lim="800000"/>
                <a:headEnd/>
                <a:tailEnd/>
              </a:ln>
            </p:spPr>
            <p:txBody>
              <a:bodyPr wrap="none" anchor="ctr">
                <a:spAutoFit/>
              </a:bodyPr>
              <a:lstStyle/>
              <a:p>
                <a:pPr algn="r">
                  <a:spcBef>
                    <a:spcPct val="20000"/>
                  </a:spcBef>
                </a:pPr>
                <a:r>
                  <a:rPr lang="es-ES_tradnl" sz="1800" dirty="0">
                    <a:latin typeface="Arial Narrow" pitchFamily="34" charset="0"/>
                  </a:rPr>
                  <a:t>CS</a:t>
                </a:r>
                <a:endParaRPr lang="es-ES_tradnl" sz="1800" dirty="0"/>
              </a:p>
            </p:txBody>
          </p:sp>
          <p:sp>
            <p:nvSpPr>
              <p:cNvPr id="91187" name="Line 98"/>
              <p:cNvSpPr>
                <a:spLocks noChangeShapeType="1"/>
              </p:cNvSpPr>
              <p:nvPr/>
            </p:nvSpPr>
            <p:spPr bwMode="auto">
              <a:xfrm>
                <a:off x="401" y="1824"/>
                <a:ext cx="160" cy="0"/>
              </a:xfrm>
              <a:prstGeom prst="line">
                <a:avLst/>
              </a:prstGeom>
              <a:noFill/>
              <a:ln w="19050">
                <a:solidFill>
                  <a:schemeClr val="tx1"/>
                </a:solidFill>
                <a:round/>
                <a:headEnd/>
                <a:tailEnd/>
              </a:ln>
            </p:spPr>
            <p:txBody>
              <a:bodyPr wrap="none" anchor="ctr"/>
              <a:lstStyle/>
              <a:p>
                <a:endParaRPr lang="es-ES"/>
              </a:p>
            </p:txBody>
          </p:sp>
        </p:grpSp>
        <p:sp>
          <p:nvSpPr>
            <p:cNvPr id="91165" name="AutoShape 100"/>
            <p:cNvSpPr>
              <a:spLocks/>
            </p:cNvSpPr>
            <p:nvPr/>
          </p:nvSpPr>
          <p:spPr bwMode="auto">
            <a:xfrm>
              <a:off x="990600" y="4556125"/>
              <a:ext cx="152400" cy="914400"/>
            </a:xfrm>
            <a:prstGeom prst="rightBrace">
              <a:avLst>
                <a:gd name="adj1" fmla="val 50000"/>
                <a:gd name="adj2" fmla="val 50000"/>
              </a:avLst>
            </a:prstGeom>
            <a:noFill/>
            <a:ln w="19050">
              <a:solidFill>
                <a:schemeClr val="tx1"/>
              </a:solidFill>
              <a:round/>
              <a:headEnd/>
              <a:tailEnd/>
            </a:ln>
          </p:spPr>
          <p:txBody>
            <a:bodyPr wrap="none" lIns="0" tIns="0" rIns="0" bIns="0" anchor="ctr"/>
            <a:lstStyle/>
            <a:p>
              <a:endParaRPr lang="es-ES"/>
            </a:p>
          </p:txBody>
        </p:sp>
        <p:sp>
          <p:nvSpPr>
            <p:cNvPr id="91166" name="Line 101"/>
            <p:cNvSpPr>
              <a:spLocks noChangeShapeType="1"/>
            </p:cNvSpPr>
            <p:nvPr/>
          </p:nvSpPr>
          <p:spPr bwMode="ltGray">
            <a:xfrm>
              <a:off x="1752600" y="4556125"/>
              <a:ext cx="6096000" cy="0"/>
            </a:xfrm>
            <a:prstGeom prst="line">
              <a:avLst/>
            </a:prstGeom>
            <a:noFill/>
            <a:ln w="28575">
              <a:pattFill prst="wdUpDiag">
                <a:fgClr>
                  <a:schemeClr val="tx1"/>
                </a:fgClr>
                <a:bgClr>
                  <a:schemeClr val="bg1"/>
                </a:bgClr>
              </a:pattFill>
              <a:round/>
              <a:headEnd/>
              <a:tailEnd/>
            </a:ln>
          </p:spPr>
          <p:txBody>
            <a:bodyPr wrap="none" lIns="0" tIns="0" rIns="0" bIns="0" anchor="ctr"/>
            <a:lstStyle/>
            <a:p>
              <a:endParaRPr lang="es-ES"/>
            </a:p>
          </p:txBody>
        </p:sp>
        <p:grpSp>
          <p:nvGrpSpPr>
            <p:cNvPr id="15" name="Group 102"/>
            <p:cNvGrpSpPr>
              <a:grpSpLocks/>
            </p:cNvGrpSpPr>
            <p:nvPr/>
          </p:nvGrpSpPr>
          <p:grpSpPr bwMode="auto">
            <a:xfrm>
              <a:off x="1295400" y="4556125"/>
              <a:ext cx="6858000" cy="0"/>
              <a:chOff x="768" y="2256"/>
              <a:chExt cx="4320" cy="0"/>
            </a:xfrm>
          </p:grpSpPr>
          <p:sp>
            <p:nvSpPr>
              <p:cNvPr id="91178" name="Line 103"/>
              <p:cNvSpPr>
                <a:spLocks noChangeShapeType="1"/>
              </p:cNvSpPr>
              <p:nvPr/>
            </p:nvSpPr>
            <p:spPr bwMode="auto">
              <a:xfrm>
                <a:off x="768" y="2256"/>
                <a:ext cx="288" cy="0"/>
              </a:xfrm>
              <a:prstGeom prst="line">
                <a:avLst/>
              </a:prstGeom>
              <a:noFill/>
              <a:ln w="28575">
                <a:solidFill>
                  <a:srgbClr val="0070C0"/>
                </a:solidFill>
                <a:round/>
                <a:headEnd/>
                <a:tailEnd type="triangle" w="med" len="med"/>
              </a:ln>
            </p:spPr>
            <p:txBody>
              <a:bodyPr wrap="none" anchor="ctr"/>
              <a:lstStyle/>
              <a:p>
                <a:endParaRPr lang="es-ES"/>
              </a:p>
            </p:txBody>
          </p:sp>
          <p:sp>
            <p:nvSpPr>
              <p:cNvPr id="91179" name="Line 104"/>
              <p:cNvSpPr>
                <a:spLocks noChangeShapeType="1"/>
              </p:cNvSpPr>
              <p:nvPr/>
            </p:nvSpPr>
            <p:spPr bwMode="auto">
              <a:xfrm>
                <a:off x="1440" y="2256"/>
                <a:ext cx="192" cy="0"/>
              </a:xfrm>
              <a:prstGeom prst="line">
                <a:avLst/>
              </a:prstGeom>
              <a:noFill/>
              <a:ln w="28575">
                <a:solidFill>
                  <a:srgbClr val="0070C0"/>
                </a:solidFill>
                <a:round/>
                <a:headEnd/>
                <a:tailEnd type="triangle" w="med" len="med"/>
              </a:ln>
            </p:spPr>
            <p:txBody>
              <a:bodyPr wrap="none" anchor="ctr"/>
              <a:lstStyle/>
              <a:p>
                <a:endParaRPr lang="es-ES"/>
              </a:p>
            </p:txBody>
          </p:sp>
          <p:sp>
            <p:nvSpPr>
              <p:cNvPr id="91180" name="Line 105"/>
              <p:cNvSpPr>
                <a:spLocks noChangeShapeType="1"/>
              </p:cNvSpPr>
              <p:nvPr/>
            </p:nvSpPr>
            <p:spPr bwMode="auto">
              <a:xfrm>
                <a:off x="2016" y="2256"/>
                <a:ext cx="192" cy="0"/>
              </a:xfrm>
              <a:prstGeom prst="line">
                <a:avLst/>
              </a:prstGeom>
              <a:noFill/>
              <a:ln w="28575">
                <a:solidFill>
                  <a:srgbClr val="0070C0"/>
                </a:solidFill>
                <a:round/>
                <a:headEnd/>
                <a:tailEnd type="triangle" w="med" len="med"/>
              </a:ln>
            </p:spPr>
            <p:txBody>
              <a:bodyPr wrap="none" anchor="ctr"/>
              <a:lstStyle/>
              <a:p>
                <a:endParaRPr lang="es-ES"/>
              </a:p>
            </p:txBody>
          </p:sp>
          <p:sp>
            <p:nvSpPr>
              <p:cNvPr id="91181" name="Line 106"/>
              <p:cNvSpPr>
                <a:spLocks noChangeShapeType="1"/>
              </p:cNvSpPr>
              <p:nvPr/>
            </p:nvSpPr>
            <p:spPr bwMode="auto">
              <a:xfrm>
                <a:off x="2592" y="2256"/>
                <a:ext cx="192" cy="0"/>
              </a:xfrm>
              <a:prstGeom prst="line">
                <a:avLst/>
              </a:prstGeom>
              <a:noFill/>
              <a:ln w="28575">
                <a:solidFill>
                  <a:srgbClr val="0070C0"/>
                </a:solidFill>
                <a:round/>
                <a:headEnd/>
                <a:tailEnd type="triangle" w="med" len="med"/>
              </a:ln>
            </p:spPr>
            <p:txBody>
              <a:bodyPr wrap="none" anchor="ctr"/>
              <a:lstStyle/>
              <a:p>
                <a:endParaRPr lang="es-ES"/>
              </a:p>
            </p:txBody>
          </p:sp>
          <p:sp>
            <p:nvSpPr>
              <p:cNvPr id="91182" name="Line 107"/>
              <p:cNvSpPr>
                <a:spLocks noChangeShapeType="1"/>
              </p:cNvSpPr>
              <p:nvPr/>
            </p:nvSpPr>
            <p:spPr bwMode="auto">
              <a:xfrm>
                <a:off x="3168" y="2256"/>
                <a:ext cx="192" cy="0"/>
              </a:xfrm>
              <a:prstGeom prst="line">
                <a:avLst/>
              </a:prstGeom>
              <a:noFill/>
              <a:ln w="28575">
                <a:solidFill>
                  <a:srgbClr val="0070C0"/>
                </a:solidFill>
                <a:round/>
                <a:headEnd/>
                <a:tailEnd type="triangle" w="med" len="med"/>
              </a:ln>
            </p:spPr>
            <p:txBody>
              <a:bodyPr wrap="none" anchor="ctr"/>
              <a:lstStyle/>
              <a:p>
                <a:endParaRPr lang="es-ES"/>
              </a:p>
            </p:txBody>
          </p:sp>
          <p:sp>
            <p:nvSpPr>
              <p:cNvPr id="91183" name="Line 108"/>
              <p:cNvSpPr>
                <a:spLocks noChangeShapeType="1"/>
              </p:cNvSpPr>
              <p:nvPr/>
            </p:nvSpPr>
            <p:spPr bwMode="auto">
              <a:xfrm>
                <a:off x="3744" y="2256"/>
                <a:ext cx="192" cy="0"/>
              </a:xfrm>
              <a:prstGeom prst="line">
                <a:avLst/>
              </a:prstGeom>
              <a:noFill/>
              <a:ln w="28575">
                <a:solidFill>
                  <a:srgbClr val="0070C0"/>
                </a:solidFill>
                <a:round/>
                <a:headEnd/>
                <a:tailEnd type="triangle" w="med" len="med"/>
              </a:ln>
            </p:spPr>
            <p:txBody>
              <a:bodyPr wrap="none" anchor="ctr"/>
              <a:lstStyle/>
              <a:p>
                <a:endParaRPr lang="es-ES"/>
              </a:p>
            </p:txBody>
          </p:sp>
          <p:sp>
            <p:nvSpPr>
              <p:cNvPr id="91184" name="Line 109"/>
              <p:cNvSpPr>
                <a:spLocks noChangeShapeType="1"/>
              </p:cNvSpPr>
              <p:nvPr/>
            </p:nvSpPr>
            <p:spPr bwMode="auto">
              <a:xfrm>
                <a:off x="4320" y="2256"/>
                <a:ext cx="192" cy="0"/>
              </a:xfrm>
              <a:prstGeom prst="line">
                <a:avLst/>
              </a:prstGeom>
              <a:noFill/>
              <a:ln w="28575">
                <a:solidFill>
                  <a:srgbClr val="0070C0"/>
                </a:solidFill>
                <a:round/>
                <a:headEnd/>
                <a:tailEnd type="triangle" w="med" len="med"/>
              </a:ln>
            </p:spPr>
            <p:txBody>
              <a:bodyPr wrap="none" anchor="ctr"/>
              <a:lstStyle/>
              <a:p>
                <a:endParaRPr lang="es-ES"/>
              </a:p>
            </p:txBody>
          </p:sp>
          <p:sp>
            <p:nvSpPr>
              <p:cNvPr id="91185" name="Line 110"/>
              <p:cNvSpPr>
                <a:spLocks noChangeShapeType="1"/>
              </p:cNvSpPr>
              <p:nvPr/>
            </p:nvSpPr>
            <p:spPr bwMode="auto">
              <a:xfrm>
                <a:off x="4896" y="2256"/>
                <a:ext cx="192" cy="0"/>
              </a:xfrm>
              <a:prstGeom prst="line">
                <a:avLst/>
              </a:prstGeom>
              <a:noFill/>
              <a:ln w="28575">
                <a:solidFill>
                  <a:srgbClr val="0070C0"/>
                </a:solidFill>
                <a:round/>
                <a:headEnd/>
                <a:tailEnd type="triangle" w="med" len="med"/>
              </a:ln>
            </p:spPr>
            <p:txBody>
              <a:bodyPr wrap="none" anchor="ctr"/>
              <a:lstStyle/>
              <a:p>
                <a:endParaRPr lang="es-ES"/>
              </a:p>
            </p:txBody>
          </p:sp>
        </p:grpSp>
        <p:grpSp>
          <p:nvGrpSpPr>
            <p:cNvPr id="16" name="Group 111"/>
            <p:cNvGrpSpPr>
              <a:grpSpLocks/>
            </p:cNvGrpSpPr>
            <p:nvPr/>
          </p:nvGrpSpPr>
          <p:grpSpPr bwMode="auto">
            <a:xfrm>
              <a:off x="3883026" y="3640138"/>
              <a:ext cx="754063" cy="400050"/>
              <a:chOff x="1276" y="1871"/>
              <a:chExt cx="475" cy="252"/>
            </a:xfrm>
          </p:grpSpPr>
          <p:sp>
            <p:nvSpPr>
              <p:cNvPr id="91176" name="Text Box 112"/>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DQM</a:t>
                </a:r>
                <a:r>
                  <a:rPr lang="es-ES_tradnl" sz="1800" b="1" baseline="-25000" dirty="0">
                    <a:latin typeface="Arial Narrow" pitchFamily="34" charset="0"/>
                  </a:rPr>
                  <a:t>2</a:t>
                </a:r>
                <a:endParaRPr lang="es-ES_tradnl" sz="1800" dirty="0"/>
              </a:p>
            </p:txBody>
          </p:sp>
          <p:sp>
            <p:nvSpPr>
              <p:cNvPr id="91177" name="Line 113"/>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17" name="Group 114"/>
            <p:cNvGrpSpPr>
              <a:grpSpLocks/>
            </p:cNvGrpSpPr>
            <p:nvPr/>
          </p:nvGrpSpPr>
          <p:grpSpPr bwMode="auto">
            <a:xfrm>
              <a:off x="5711826" y="3640138"/>
              <a:ext cx="754063" cy="400050"/>
              <a:chOff x="1276" y="1871"/>
              <a:chExt cx="475" cy="252"/>
            </a:xfrm>
          </p:grpSpPr>
          <p:sp>
            <p:nvSpPr>
              <p:cNvPr id="91174" name="Text Box 115"/>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DQM</a:t>
                </a:r>
                <a:r>
                  <a:rPr lang="es-ES_tradnl" sz="1800" b="1" baseline="-25000" dirty="0">
                    <a:latin typeface="Arial Narrow" pitchFamily="34" charset="0"/>
                  </a:rPr>
                  <a:t>1</a:t>
                </a:r>
                <a:endParaRPr lang="es-ES_tradnl" sz="1800" dirty="0"/>
              </a:p>
            </p:txBody>
          </p:sp>
          <p:sp>
            <p:nvSpPr>
              <p:cNvPr id="91175" name="Line 116"/>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18" name="Group 117"/>
            <p:cNvGrpSpPr>
              <a:grpSpLocks/>
            </p:cNvGrpSpPr>
            <p:nvPr/>
          </p:nvGrpSpPr>
          <p:grpSpPr bwMode="auto">
            <a:xfrm>
              <a:off x="7546976" y="3622676"/>
              <a:ext cx="754063" cy="400050"/>
              <a:chOff x="1280" y="1860"/>
              <a:chExt cx="475" cy="252"/>
            </a:xfrm>
          </p:grpSpPr>
          <p:sp>
            <p:nvSpPr>
              <p:cNvPr id="91172" name="Text Box 118"/>
              <p:cNvSpPr txBox="1">
                <a:spLocks noChangeArrowheads="1"/>
              </p:cNvSpPr>
              <p:nvPr/>
            </p:nvSpPr>
            <p:spPr bwMode="auto">
              <a:xfrm>
                <a:off x="1280" y="1860"/>
                <a:ext cx="475" cy="252"/>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DQM</a:t>
                </a:r>
                <a:r>
                  <a:rPr lang="es-ES_tradnl" sz="1800" b="1" baseline="-25000" dirty="0">
                    <a:latin typeface="Arial Narrow" pitchFamily="34" charset="0"/>
                  </a:rPr>
                  <a:t>0</a:t>
                </a:r>
                <a:endParaRPr lang="es-ES_tradnl" sz="1800" dirty="0"/>
              </a:p>
            </p:txBody>
          </p:sp>
          <p:sp>
            <p:nvSpPr>
              <p:cNvPr id="91173" name="Line 119"/>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sp>
          <p:nvSpPr>
            <p:cNvPr id="91171" name="Text Box 120"/>
            <p:cNvSpPr txBox="1">
              <a:spLocks noChangeArrowheads="1"/>
            </p:cNvSpPr>
            <p:nvPr/>
          </p:nvSpPr>
          <p:spPr bwMode="auto">
            <a:xfrm>
              <a:off x="1118268" y="4273640"/>
              <a:ext cx="470151" cy="291921"/>
            </a:xfrm>
            <a:prstGeom prst="rect">
              <a:avLst/>
            </a:prstGeom>
            <a:noFill/>
            <a:ln w="19050">
              <a:noFill/>
              <a:miter lim="800000"/>
              <a:headEnd/>
              <a:tailEnd/>
            </a:ln>
          </p:spPr>
          <p:txBody>
            <a:bodyPr wrap="none" lIns="0" tIns="0" rIns="0" bIns="0" anchor="ctr">
              <a:spAutoFit/>
            </a:bodyPr>
            <a:lstStyle/>
            <a:p>
              <a:r>
                <a:rPr lang="es-ES_tradnl" sz="1800" dirty="0"/>
                <a:t>CLK</a:t>
              </a:r>
            </a:p>
          </p:txBody>
        </p:sp>
      </p:grpSp>
      <p:sp>
        <p:nvSpPr>
          <p:cNvPr id="21" name="2 Marcador de número de diapositiva">
            <a:extLst>
              <a:ext uri="{FF2B5EF4-FFF2-40B4-BE49-F238E27FC236}">
                <a16:creationId xmlns:a16="http://schemas.microsoft.com/office/drawing/2014/main" id="{A79C83CF-B333-639C-2A43-4C641C292CAE}"/>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115</a:t>
            </a:fld>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bwMode="auto">
          <a:xfrm>
            <a:off x="1071262" y="4722904"/>
            <a:ext cx="2592288" cy="746328"/>
          </a:xfrm>
          <a:prstGeom prst="roundRect">
            <a:avLst/>
          </a:prstGeom>
          <a:solidFill>
            <a:schemeClr val="accent1">
              <a:lumMod val="20000"/>
              <a:lumOff val="80000"/>
            </a:schemeClr>
          </a:solidFill>
          <a:ln w="19050">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Rectángulo redondeado"/>
          <p:cNvSpPr/>
          <p:nvPr/>
        </p:nvSpPr>
        <p:spPr bwMode="auto">
          <a:xfrm>
            <a:off x="971600" y="5517232"/>
            <a:ext cx="3596239" cy="864096"/>
          </a:xfrm>
          <a:prstGeom prst="roundRect">
            <a:avLst/>
          </a:prstGeom>
          <a:solidFill>
            <a:schemeClr val="accent1">
              <a:lumMod val="20000"/>
              <a:lumOff val="80000"/>
            </a:schemeClr>
          </a:solidFill>
          <a:ln w="19050">
            <a:solidFill>
              <a:schemeClr val="accent1">
                <a:lumMod val="75000"/>
              </a:scheme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8067" name="Rectangle 2"/>
          <p:cNvSpPr>
            <a:spLocks noGrp="1" noChangeArrowheads="1"/>
          </p:cNvSpPr>
          <p:nvPr>
            <p:ph type="title"/>
          </p:nvPr>
        </p:nvSpPr>
        <p:spPr/>
        <p:txBody>
          <a:bodyPr/>
          <a:lstStyle/>
          <a:p>
            <a:r>
              <a:rPr lang="es-ES_tradnl" altLang="es-ES_tradnl" dirty="0"/>
              <a:t>Organización de módulos de memoria</a:t>
            </a:r>
          </a:p>
        </p:txBody>
      </p:sp>
      <p:sp>
        <p:nvSpPr>
          <p:cNvPr id="140" name="Rectangle 3"/>
          <p:cNvSpPr txBox="1">
            <a:spLocks noChangeArrowheads="1"/>
          </p:cNvSpPr>
          <p:nvPr/>
        </p:nvSpPr>
        <p:spPr bwMode="auto">
          <a:xfrm>
            <a:off x="533400" y="1052736"/>
            <a:ext cx="8305800" cy="2808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lang="es-ES" altLang="es-ES_tradnl" kern="0" dirty="0">
                <a:latin typeface="+mn-lt"/>
              </a:rPr>
              <a:t>Cuando el módulo está formado por una sola fila de chips:</a:t>
            </a:r>
          </a:p>
          <a:p>
            <a:pPr marL="800100" lvl="1" indent="-342900" algn="l">
              <a:buFont typeface="Wingdings" pitchFamily="2" charset="2"/>
              <a:buChar char="§"/>
              <a:defRPr/>
            </a:pPr>
            <a:r>
              <a:rPr lang="es-ES" altLang="es-ES_tradnl" kern="0" dirty="0">
                <a:latin typeface="+mn-lt"/>
              </a:rPr>
              <a:t>el número de chips del módulo dependerá del tamaño de palabra (número de bits) de los mismos (</a:t>
            </a:r>
            <a:r>
              <a:rPr lang="es-ES" altLang="es-ES_tradnl" i="1" kern="0" dirty="0">
                <a:latin typeface="+mn-lt"/>
              </a:rPr>
              <a:t>w</a:t>
            </a:r>
            <a:r>
              <a:rPr lang="es-ES" altLang="es-ES_tradnl" kern="0" dirty="0">
                <a:latin typeface="+mn-lt"/>
              </a:rPr>
              <a:t>), y</a:t>
            </a:r>
          </a:p>
          <a:p>
            <a:pPr marL="800100" lvl="1" indent="-342900" algn="l">
              <a:buFont typeface="Wingdings" pitchFamily="2" charset="2"/>
              <a:buChar char="§"/>
              <a:defRPr/>
            </a:pPr>
            <a:r>
              <a:rPr lang="es-ES" altLang="es-ES_tradnl" kern="0" dirty="0">
                <a:latin typeface="+mn-lt"/>
              </a:rPr>
              <a:t>del tamaño de palabra del módulo (</a:t>
            </a:r>
            <a:r>
              <a:rPr lang="es-ES" altLang="es-ES_tradnl" i="1" kern="0" dirty="0">
                <a:latin typeface="+mn-lt"/>
              </a:rPr>
              <a:t>W</a:t>
            </a:r>
            <a:r>
              <a:rPr lang="es-ES" altLang="es-ES_tradnl" kern="0" dirty="0">
                <a:latin typeface="+mn-lt"/>
              </a:rPr>
              <a:t>) o tamaño de palabra de CPU </a:t>
            </a:r>
          </a:p>
          <a:p>
            <a:pPr marL="800100" lvl="1" indent="-342900" algn="l">
              <a:spcBef>
                <a:spcPct val="20000"/>
              </a:spcBef>
            </a:pPr>
            <a:endParaRPr kumimoji="0" lang="es-ES" altLang="es-ES_tradnl" b="0" i="0" u="none" strike="noStrike" kern="0" cap="none" spc="0" normalizeH="0" baseline="0" noProof="0" dirty="0">
              <a:ln>
                <a:noFill/>
              </a:ln>
              <a:effectLst/>
              <a:uLnTx/>
              <a:uFillTx/>
              <a:latin typeface="+mn-lt"/>
              <a:ea typeface="+mn-ea"/>
              <a:cs typeface="+mn-cs"/>
            </a:endParaRPr>
          </a:p>
        </p:txBody>
      </p:sp>
      <p:sp>
        <p:nvSpPr>
          <p:cNvPr id="142" name="141 Rectángulo"/>
          <p:cNvSpPr/>
          <p:nvPr/>
        </p:nvSpPr>
        <p:spPr bwMode="auto">
          <a:xfrm>
            <a:off x="2602352" y="3009146"/>
            <a:ext cx="4320480" cy="1512168"/>
          </a:xfrm>
          <a:prstGeom prst="rect">
            <a:avLst/>
          </a:prstGeom>
          <a:solidFill>
            <a:schemeClr val="accent6">
              <a:lumMod val="75000"/>
            </a:schemeClr>
          </a:solidFill>
          <a:ln w="19050" cap="flat" cmpd="sng" algn="ctr">
            <a:solidFill>
              <a:schemeClr val="tx1">
                <a:lumMod val="20000"/>
                <a:lumOff val="8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s-ES" dirty="0"/>
          </a:p>
          <a:p>
            <a:pPr marL="0" marR="0" indent="0" algn="ctr" defTabSz="914400" rtl="0" eaLnBrk="0" fontAlgn="base" latinLnBrk="0" hangingPunct="0">
              <a:lnSpc>
                <a:spcPct val="100000"/>
              </a:lnSpc>
              <a:spcBef>
                <a:spcPct val="0"/>
              </a:spcBef>
              <a:spcAft>
                <a:spcPct val="0"/>
              </a:spcAft>
              <a:buClrTx/>
              <a:buSzTx/>
              <a:buFontTx/>
              <a:buNone/>
              <a:tabLst/>
            </a:pPr>
            <a:r>
              <a:rPr kumimoji="0" lang="es-ES" sz="2000" b="0" i="0" u="none" strike="noStrike" cap="none" normalizeH="0" baseline="0" dirty="0">
                <a:ln>
                  <a:noFill/>
                </a:ln>
                <a:solidFill>
                  <a:schemeClr val="tx1"/>
                </a:solidFill>
                <a:effectLst/>
                <a:latin typeface="Arial" charset="0"/>
              </a:rPr>
              <a:t>             </a:t>
            </a:r>
          </a:p>
          <a:p>
            <a:pPr marL="0" marR="0" indent="0" algn="ctr" defTabSz="914400" rtl="0" eaLnBrk="0" fontAlgn="base" latinLnBrk="0" hangingPunct="0">
              <a:lnSpc>
                <a:spcPct val="100000"/>
              </a:lnSpc>
              <a:spcBef>
                <a:spcPct val="0"/>
              </a:spcBef>
              <a:spcAft>
                <a:spcPct val="0"/>
              </a:spcAft>
              <a:buClrTx/>
              <a:buSzTx/>
              <a:buFontTx/>
              <a:buNone/>
              <a:tabLst/>
            </a:pPr>
            <a:r>
              <a:rPr lang="es-ES" dirty="0"/>
              <a:t>                       </a:t>
            </a:r>
            <a:r>
              <a:rPr kumimoji="0" lang="es-ES" sz="2000" b="0" i="0" u="none" strike="noStrike" cap="none" normalizeH="0" baseline="0" dirty="0">
                <a:ln>
                  <a:noFill/>
                </a:ln>
                <a:solidFill>
                  <a:schemeClr val="tx1"/>
                </a:solidFill>
                <a:effectLst/>
                <a:latin typeface="Arial" charset="0"/>
              </a:rPr>
              <a:t> </a:t>
            </a:r>
            <a:r>
              <a:rPr kumimoji="0" lang="es-ES" sz="2400" b="1" i="1" u="none" strike="noStrike" cap="none" normalizeH="0" baseline="0" dirty="0">
                <a:ln>
                  <a:noFill/>
                </a:ln>
                <a:solidFill>
                  <a:schemeClr val="tx1">
                    <a:lumMod val="20000"/>
                    <a:lumOff val="80000"/>
                  </a:schemeClr>
                </a:solidFill>
                <a:effectLst/>
                <a:latin typeface="Arial" charset="0"/>
              </a:rPr>
              <a:t>m </a:t>
            </a:r>
            <a:r>
              <a:rPr kumimoji="0" lang="es-ES" sz="2400" b="1" i="1" u="none" strike="noStrike" cap="none" normalizeH="0" baseline="0" dirty="0">
                <a:ln>
                  <a:noFill/>
                </a:ln>
                <a:solidFill>
                  <a:schemeClr val="tx1">
                    <a:lumMod val="20000"/>
                    <a:lumOff val="80000"/>
                  </a:schemeClr>
                </a:solidFill>
                <a:effectLst/>
                <a:latin typeface="Arial" charset="0"/>
                <a:sym typeface="Symbol"/>
              </a:rPr>
              <a:t> W bits</a:t>
            </a:r>
            <a:endParaRPr kumimoji="0" lang="es-ES" sz="2000" b="1" i="1" u="none" strike="noStrike" cap="none" normalizeH="0" baseline="0" dirty="0">
              <a:ln>
                <a:noFill/>
              </a:ln>
              <a:solidFill>
                <a:schemeClr val="tx1">
                  <a:lumMod val="20000"/>
                  <a:lumOff val="80000"/>
                </a:schemeClr>
              </a:solidFill>
              <a:effectLst/>
              <a:latin typeface="Arial" charset="0"/>
            </a:endParaRPr>
          </a:p>
        </p:txBody>
      </p:sp>
      <p:sp>
        <p:nvSpPr>
          <p:cNvPr id="143" name="142 Rectángulo"/>
          <p:cNvSpPr/>
          <p:nvPr/>
        </p:nvSpPr>
        <p:spPr bwMode="auto">
          <a:xfrm>
            <a:off x="2754752" y="3153162"/>
            <a:ext cx="567680" cy="792088"/>
          </a:xfrm>
          <a:prstGeom prst="rect">
            <a:avLst/>
          </a:prstGeom>
          <a:solidFill>
            <a:srgbClr val="FF0000"/>
          </a:solidFill>
          <a:ln w="19050" cap="flat" cmpd="sng" algn="ctr">
            <a:solidFill>
              <a:schemeClr val="tx1">
                <a:lumMod val="20000"/>
                <a:lumOff val="8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cxnSp>
        <p:nvCxnSpPr>
          <p:cNvPr id="146" name="145 Conector recto de flecha"/>
          <p:cNvCxnSpPr/>
          <p:nvPr/>
        </p:nvCxnSpPr>
        <p:spPr bwMode="auto">
          <a:xfrm>
            <a:off x="2602352" y="2865130"/>
            <a:ext cx="4320480" cy="1588"/>
          </a:xfrm>
          <a:prstGeom prst="straightConnector1">
            <a:avLst/>
          </a:prstGeom>
          <a:noFill/>
          <a:ln w="19050" cap="flat" cmpd="sng" algn="ctr">
            <a:solidFill>
              <a:srgbClr val="0070C0"/>
            </a:solidFill>
            <a:prstDash val="solid"/>
            <a:round/>
            <a:headEnd type="arrow"/>
            <a:tailEnd type="arrow"/>
          </a:ln>
          <a:effectLst/>
        </p:spPr>
      </p:cxnSp>
      <p:sp>
        <p:nvSpPr>
          <p:cNvPr id="148" name="147 CuadroTexto"/>
          <p:cNvSpPr txBox="1"/>
          <p:nvPr/>
        </p:nvSpPr>
        <p:spPr>
          <a:xfrm>
            <a:off x="4278573" y="2577098"/>
            <a:ext cx="856324" cy="400110"/>
          </a:xfrm>
          <a:prstGeom prst="rect">
            <a:avLst/>
          </a:prstGeom>
          <a:solidFill>
            <a:schemeClr val="bg1"/>
          </a:solidFill>
        </p:spPr>
        <p:txBody>
          <a:bodyPr wrap="none" rtlCol="0">
            <a:spAutoFit/>
          </a:bodyPr>
          <a:lstStyle/>
          <a:p>
            <a:r>
              <a:rPr lang="es-ES" i="1" dirty="0"/>
              <a:t>W </a:t>
            </a:r>
            <a:r>
              <a:rPr lang="es-ES" sz="1800" i="1" dirty="0"/>
              <a:t>bits</a:t>
            </a:r>
            <a:endParaRPr lang="es-ES" i="1" dirty="0"/>
          </a:p>
        </p:txBody>
      </p:sp>
      <p:cxnSp>
        <p:nvCxnSpPr>
          <p:cNvPr id="150" name="149 Conector recto de flecha"/>
          <p:cNvCxnSpPr/>
          <p:nvPr/>
        </p:nvCxnSpPr>
        <p:spPr bwMode="auto">
          <a:xfrm>
            <a:off x="7066848" y="3009146"/>
            <a:ext cx="0" cy="1512168"/>
          </a:xfrm>
          <a:prstGeom prst="straightConnector1">
            <a:avLst/>
          </a:prstGeom>
          <a:noFill/>
          <a:ln w="19050" cap="flat" cmpd="sng" algn="ctr">
            <a:solidFill>
              <a:srgbClr val="0070C0"/>
            </a:solidFill>
            <a:prstDash val="solid"/>
            <a:round/>
            <a:headEnd type="arrow"/>
            <a:tailEnd type="arrow"/>
          </a:ln>
          <a:effectLst/>
        </p:spPr>
      </p:cxnSp>
      <p:sp>
        <p:nvSpPr>
          <p:cNvPr id="151" name="150 CuadroTexto"/>
          <p:cNvSpPr txBox="1"/>
          <p:nvPr/>
        </p:nvSpPr>
        <p:spPr>
          <a:xfrm>
            <a:off x="6939204" y="3585210"/>
            <a:ext cx="1423788" cy="400110"/>
          </a:xfrm>
          <a:prstGeom prst="rect">
            <a:avLst/>
          </a:prstGeom>
          <a:solidFill>
            <a:schemeClr val="bg1"/>
          </a:solidFill>
        </p:spPr>
        <p:txBody>
          <a:bodyPr wrap="none" rtlCol="0">
            <a:spAutoFit/>
          </a:bodyPr>
          <a:lstStyle/>
          <a:p>
            <a:r>
              <a:rPr lang="es-ES" i="1" dirty="0"/>
              <a:t>m  </a:t>
            </a:r>
            <a:r>
              <a:rPr lang="es-ES" sz="1800" i="1" dirty="0"/>
              <a:t>palabras</a:t>
            </a:r>
            <a:endParaRPr lang="es-ES" i="1" dirty="0"/>
          </a:p>
        </p:txBody>
      </p:sp>
      <p:cxnSp>
        <p:nvCxnSpPr>
          <p:cNvPr id="152" name="151 Conector recto de flecha"/>
          <p:cNvCxnSpPr/>
          <p:nvPr/>
        </p:nvCxnSpPr>
        <p:spPr bwMode="auto">
          <a:xfrm rot="5400000">
            <a:off x="3035194" y="3584416"/>
            <a:ext cx="864096" cy="1588"/>
          </a:xfrm>
          <a:prstGeom prst="straightConnector1">
            <a:avLst/>
          </a:prstGeom>
          <a:noFill/>
          <a:ln w="19050" cap="flat" cmpd="sng" algn="ctr">
            <a:solidFill>
              <a:schemeClr val="tx1">
                <a:lumMod val="20000"/>
                <a:lumOff val="80000"/>
              </a:schemeClr>
            </a:solidFill>
            <a:prstDash val="solid"/>
            <a:round/>
            <a:headEnd type="arrow"/>
            <a:tailEnd type="arrow"/>
          </a:ln>
          <a:effectLst/>
        </p:spPr>
      </p:cxnSp>
      <p:sp>
        <p:nvSpPr>
          <p:cNvPr id="155" name="154 CuadroTexto"/>
          <p:cNvSpPr txBox="1"/>
          <p:nvPr/>
        </p:nvSpPr>
        <p:spPr>
          <a:xfrm>
            <a:off x="3358600" y="3401124"/>
            <a:ext cx="1353255" cy="400110"/>
          </a:xfrm>
          <a:prstGeom prst="rect">
            <a:avLst/>
          </a:prstGeom>
          <a:solidFill>
            <a:schemeClr val="accent6">
              <a:lumMod val="50000"/>
            </a:schemeClr>
          </a:solidFill>
        </p:spPr>
        <p:txBody>
          <a:bodyPr wrap="none" rtlCol="0">
            <a:spAutoFit/>
          </a:bodyPr>
          <a:lstStyle/>
          <a:p>
            <a:r>
              <a:rPr lang="es-ES" i="1" dirty="0">
                <a:solidFill>
                  <a:schemeClr val="tx1">
                    <a:lumMod val="20000"/>
                    <a:lumOff val="80000"/>
                  </a:schemeClr>
                </a:solidFill>
              </a:rPr>
              <a:t>m </a:t>
            </a:r>
            <a:r>
              <a:rPr lang="es-ES" sz="1800" i="1" dirty="0">
                <a:solidFill>
                  <a:schemeClr val="tx1">
                    <a:lumMod val="20000"/>
                    <a:lumOff val="80000"/>
                  </a:schemeClr>
                </a:solidFill>
              </a:rPr>
              <a:t>palabras</a:t>
            </a:r>
            <a:endParaRPr lang="es-ES" i="1" dirty="0">
              <a:solidFill>
                <a:schemeClr val="tx1">
                  <a:lumMod val="20000"/>
                  <a:lumOff val="80000"/>
                </a:schemeClr>
              </a:solidFill>
            </a:endParaRPr>
          </a:p>
        </p:txBody>
      </p:sp>
      <p:cxnSp>
        <p:nvCxnSpPr>
          <p:cNvPr id="157" name="156 Conector recto de flecha"/>
          <p:cNvCxnSpPr/>
          <p:nvPr/>
        </p:nvCxnSpPr>
        <p:spPr bwMode="auto">
          <a:xfrm>
            <a:off x="2746368" y="4080058"/>
            <a:ext cx="612000" cy="1588"/>
          </a:xfrm>
          <a:prstGeom prst="straightConnector1">
            <a:avLst/>
          </a:prstGeom>
          <a:noFill/>
          <a:ln w="19050" cap="flat" cmpd="sng" algn="ctr">
            <a:solidFill>
              <a:schemeClr val="tx1">
                <a:lumMod val="20000"/>
                <a:lumOff val="80000"/>
              </a:schemeClr>
            </a:solidFill>
            <a:prstDash val="solid"/>
            <a:round/>
            <a:headEnd type="arrow"/>
            <a:tailEnd type="arrow"/>
          </a:ln>
          <a:effectLst/>
        </p:spPr>
      </p:cxnSp>
      <p:sp>
        <p:nvSpPr>
          <p:cNvPr id="158" name="157 CuadroTexto"/>
          <p:cNvSpPr txBox="1"/>
          <p:nvPr/>
        </p:nvSpPr>
        <p:spPr>
          <a:xfrm>
            <a:off x="2731140" y="4116058"/>
            <a:ext cx="800219" cy="400110"/>
          </a:xfrm>
          <a:prstGeom prst="rect">
            <a:avLst/>
          </a:prstGeom>
          <a:solidFill>
            <a:schemeClr val="accent6">
              <a:lumMod val="50000"/>
            </a:schemeClr>
          </a:solidFill>
        </p:spPr>
        <p:txBody>
          <a:bodyPr wrap="none" rtlCol="0">
            <a:spAutoFit/>
          </a:bodyPr>
          <a:lstStyle/>
          <a:p>
            <a:r>
              <a:rPr lang="es-ES" i="1" dirty="0">
                <a:solidFill>
                  <a:schemeClr val="tx1">
                    <a:lumMod val="20000"/>
                    <a:lumOff val="80000"/>
                  </a:schemeClr>
                </a:solidFill>
              </a:rPr>
              <a:t>w </a:t>
            </a:r>
            <a:r>
              <a:rPr lang="es-ES" sz="1800" i="1" dirty="0">
                <a:solidFill>
                  <a:schemeClr val="tx1">
                    <a:lumMod val="20000"/>
                    <a:lumOff val="80000"/>
                  </a:schemeClr>
                </a:solidFill>
              </a:rPr>
              <a:t>bits</a:t>
            </a:r>
            <a:endParaRPr lang="es-ES" i="1" dirty="0">
              <a:solidFill>
                <a:schemeClr val="tx1">
                  <a:lumMod val="20000"/>
                  <a:lumOff val="80000"/>
                </a:schemeClr>
              </a:solidFill>
            </a:endParaRPr>
          </a:p>
        </p:txBody>
      </p:sp>
      <p:sp>
        <p:nvSpPr>
          <p:cNvPr id="161" name="160 Forma libre"/>
          <p:cNvSpPr/>
          <p:nvPr/>
        </p:nvSpPr>
        <p:spPr bwMode="auto">
          <a:xfrm>
            <a:off x="3068430" y="3092837"/>
            <a:ext cx="1916482" cy="580372"/>
          </a:xfrm>
          <a:custGeom>
            <a:avLst/>
            <a:gdLst>
              <a:gd name="connsiteX0" fmla="*/ 0 w 1916482"/>
              <a:gd name="connsiteY0" fmla="*/ 580372 h 580372"/>
              <a:gd name="connsiteX1" fmla="*/ 613775 w 1916482"/>
              <a:gd name="connsiteY1" fmla="*/ 41753 h 580372"/>
              <a:gd name="connsiteX2" fmla="*/ 1916482 w 1916482"/>
              <a:gd name="connsiteY2" fmla="*/ 329851 h 580372"/>
            </a:gdLst>
            <a:ahLst/>
            <a:cxnLst>
              <a:cxn ang="0">
                <a:pos x="connsiteX0" y="connsiteY0"/>
              </a:cxn>
              <a:cxn ang="0">
                <a:pos x="connsiteX1" y="connsiteY1"/>
              </a:cxn>
              <a:cxn ang="0">
                <a:pos x="connsiteX2" y="connsiteY2"/>
              </a:cxn>
            </a:cxnLst>
            <a:rect l="l" t="t" r="r" b="b"/>
            <a:pathLst>
              <a:path w="1916482" h="580372">
                <a:moveTo>
                  <a:pt x="0" y="580372"/>
                </a:moveTo>
                <a:cubicBezTo>
                  <a:pt x="147180" y="331939"/>
                  <a:pt x="294361" y="83507"/>
                  <a:pt x="613775" y="41753"/>
                </a:cubicBezTo>
                <a:cubicBezTo>
                  <a:pt x="933189" y="0"/>
                  <a:pt x="1424835" y="164925"/>
                  <a:pt x="1916482" y="329851"/>
                </a:cubicBezTo>
              </a:path>
            </a:pathLst>
          </a:custGeom>
          <a:noFill/>
          <a:ln w="12700" cap="flat" cmpd="sng" algn="ctr">
            <a:solidFill>
              <a:schemeClr val="tx1">
                <a:lumMod val="20000"/>
                <a:lumOff val="80000"/>
              </a:schemeClr>
            </a:solidFill>
            <a:prstDash val="dash"/>
            <a:round/>
            <a:headEnd type="none" w="med" len="med"/>
            <a:tailEnd type="arrow"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162" name="161 CuadroTexto"/>
          <p:cNvSpPr txBox="1"/>
          <p:nvPr/>
        </p:nvSpPr>
        <p:spPr>
          <a:xfrm>
            <a:off x="4895348" y="3225170"/>
            <a:ext cx="1667444" cy="461665"/>
          </a:xfrm>
          <a:prstGeom prst="rect">
            <a:avLst/>
          </a:prstGeom>
          <a:noFill/>
        </p:spPr>
        <p:txBody>
          <a:bodyPr wrap="none" rtlCol="0">
            <a:spAutoFit/>
          </a:bodyPr>
          <a:lstStyle/>
          <a:p>
            <a:r>
              <a:rPr lang="es-ES" sz="2400" b="1" i="1" dirty="0">
                <a:solidFill>
                  <a:schemeClr val="tx1">
                    <a:lumMod val="20000"/>
                    <a:lumOff val="80000"/>
                  </a:schemeClr>
                </a:solidFill>
              </a:rPr>
              <a:t>m </a:t>
            </a:r>
            <a:r>
              <a:rPr lang="es-ES" sz="2400" b="1" i="1" dirty="0">
                <a:solidFill>
                  <a:schemeClr val="tx1">
                    <a:lumMod val="20000"/>
                    <a:lumOff val="80000"/>
                  </a:schemeClr>
                </a:solidFill>
                <a:sym typeface="Symbol"/>
              </a:rPr>
              <a:t></a:t>
            </a:r>
            <a:r>
              <a:rPr lang="es-ES" sz="2400" b="1" i="1" dirty="0">
                <a:solidFill>
                  <a:schemeClr val="tx1">
                    <a:lumMod val="20000"/>
                    <a:lumOff val="80000"/>
                  </a:schemeClr>
                </a:solidFill>
              </a:rPr>
              <a:t> w bits</a:t>
            </a:r>
          </a:p>
        </p:txBody>
      </p:sp>
      <p:sp>
        <p:nvSpPr>
          <p:cNvPr id="163" name="162 CuadroTexto"/>
          <p:cNvSpPr txBox="1"/>
          <p:nvPr/>
        </p:nvSpPr>
        <p:spPr>
          <a:xfrm>
            <a:off x="7415247" y="4593322"/>
            <a:ext cx="1128834" cy="566309"/>
          </a:xfrm>
          <a:prstGeom prst="rect">
            <a:avLst/>
          </a:prstGeom>
          <a:noFill/>
        </p:spPr>
        <p:txBody>
          <a:bodyPr wrap="none" rtlCol="0">
            <a:spAutoFit/>
          </a:bodyPr>
          <a:lstStyle/>
          <a:p>
            <a:r>
              <a:rPr lang="es-ES" sz="1400" i="1" dirty="0"/>
              <a:t>Módulo</a:t>
            </a:r>
          </a:p>
          <a:p>
            <a:r>
              <a:rPr lang="es-ES" sz="1400" i="1" dirty="0"/>
              <a:t>de memoria</a:t>
            </a:r>
          </a:p>
        </p:txBody>
      </p:sp>
      <p:sp>
        <p:nvSpPr>
          <p:cNvPr id="164" name="163 CuadroTexto"/>
          <p:cNvSpPr txBox="1"/>
          <p:nvPr/>
        </p:nvSpPr>
        <p:spPr>
          <a:xfrm>
            <a:off x="911372" y="2661300"/>
            <a:ext cx="1268296" cy="634020"/>
          </a:xfrm>
          <a:prstGeom prst="rect">
            <a:avLst/>
          </a:prstGeom>
          <a:noFill/>
        </p:spPr>
        <p:txBody>
          <a:bodyPr wrap="none" rtlCol="0">
            <a:spAutoFit/>
          </a:bodyPr>
          <a:lstStyle/>
          <a:p>
            <a:r>
              <a:rPr lang="es-ES" sz="1600" i="1" dirty="0"/>
              <a:t>Chip</a:t>
            </a:r>
          </a:p>
          <a:p>
            <a:r>
              <a:rPr lang="es-ES" sz="1600" i="1" dirty="0"/>
              <a:t>de memoria</a:t>
            </a:r>
          </a:p>
        </p:txBody>
      </p:sp>
      <p:cxnSp>
        <p:nvCxnSpPr>
          <p:cNvPr id="166" name="165 Conector recto de flecha"/>
          <p:cNvCxnSpPr>
            <a:stCxn id="163" idx="1"/>
          </p:cNvCxnSpPr>
          <p:nvPr/>
        </p:nvCxnSpPr>
        <p:spPr bwMode="auto">
          <a:xfrm flipH="1" flipV="1">
            <a:off x="6418776" y="4665332"/>
            <a:ext cx="996471" cy="211145"/>
          </a:xfrm>
          <a:prstGeom prst="straightConnector1">
            <a:avLst/>
          </a:prstGeom>
          <a:noFill/>
          <a:ln w="12700" cap="flat" cmpd="sng" algn="ctr">
            <a:solidFill>
              <a:schemeClr val="bg1">
                <a:lumMod val="75000"/>
              </a:schemeClr>
            </a:solidFill>
            <a:prstDash val="sysDash"/>
            <a:round/>
            <a:headEnd type="none" w="med" len="med"/>
            <a:tailEnd type="arrow"/>
          </a:ln>
          <a:effectLst/>
        </p:spPr>
      </p:cxnSp>
      <p:cxnSp>
        <p:nvCxnSpPr>
          <p:cNvPr id="168" name="167 Conector recto de flecha"/>
          <p:cNvCxnSpPr/>
          <p:nvPr/>
        </p:nvCxnSpPr>
        <p:spPr bwMode="auto">
          <a:xfrm>
            <a:off x="1954280" y="3369186"/>
            <a:ext cx="1008112" cy="360040"/>
          </a:xfrm>
          <a:prstGeom prst="straightConnector1">
            <a:avLst/>
          </a:prstGeom>
          <a:noFill/>
          <a:ln w="12700" cap="flat" cmpd="sng" algn="ctr">
            <a:solidFill>
              <a:schemeClr val="tx1">
                <a:lumMod val="20000"/>
                <a:lumOff val="80000"/>
              </a:schemeClr>
            </a:solidFill>
            <a:prstDash val="sysDash"/>
            <a:round/>
            <a:headEnd type="none" w="med" len="med"/>
            <a:tailEnd type="arrow"/>
          </a:ln>
          <a:effectLst/>
        </p:spPr>
      </p:cxnSp>
      <p:graphicFrame>
        <p:nvGraphicFramePr>
          <p:cNvPr id="25" name="24 Objeto"/>
          <p:cNvGraphicFramePr>
            <a:graphicFrameLocks noChangeAspect="1"/>
          </p:cNvGraphicFramePr>
          <p:nvPr>
            <p:extLst>
              <p:ext uri="{D42A27DB-BD31-4B8C-83A1-F6EECF244321}">
                <p14:modId xmlns:p14="http://schemas.microsoft.com/office/powerpoint/2010/main" val="1537628894"/>
              </p:ext>
            </p:extLst>
          </p:nvPr>
        </p:nvGraphicFramePr>
        <p:xfrm>
          <a:off x="1366659" y="4794936"/>
          <a:ext cx="1895321" cy="593318"/>
        </p:xfrm>
        <a:graphic>
          <a:graphicData uri="http://schemas.openxmlformats.org/presentationml/2006/ole">
            <mc:AlternateContent xmlns:mc="http://schemas.openxmlformats.org/markup-compatibility/2006">
              <mc:Choice xmlns:v="urn:schemas-microsoft-com:vml" Requires="v">
                <p:oleObj name="Ecuación" r:id="rId3" imgW="1460500" imgH="457200" progId="Equation.3">
                  <p:embed/>
                </p:oleObj>
              </mc:Choice>
              <mc:Fallback>
                <p:oleObj name="Ecuación" r:id="rId3" imgW="1460500" imgH="457200" progId="Equation.3">
                  <p:embed/>
                  <p:pic>
                    <p:nvPicPr>
                      <p:cNvPr id="0" name="Picture 1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6659" y="4794936"/>
                        <a:ext cx="1895321" cy="593318"/>
                      </a:xfrm>
                      <a:prstGeom prst="rect">
                        <a:avLst/>
                      </a:prstGeom>
                      <a:solidFill>
                        <a:srgbClr val="D4EBF1"/>
                      </a:solidFill>
                    </p:spPr>
                  </p:pic>
                </p:oleObj>
              </mc:Fallback>
            </mc:AlternateContent>
          </a:graphicData>
        </a:graphic>
      </p:graphicFrame>
      <p:graphicFrame>
        <p:nvGraphicFramePr>
          <p:cNvPr id="26" name="25 Objeto"/>
          <p:cNvGraphicFramePr>
            <a:graphicFrameLocks noChangeAspect="1"/>
          </p:cNvGraphicFramePr>
          <p:nvPr>
            <p:extLst>
              <p:ext uri="{D42A27DB-BD31-4B8C-83A1-F6EECF244321}">
                <p14:modId xmlns:p14="http://schemas.microsoft.com/office/powerpoint/2010/main" val="454611147"/>
              </p:ext>
            </p:extLst>
          </p:nvPr>
        </p:nvGraphicFramePr>
        <p:xfrm>
          <a:off x="1162030" y="5590110"/>
          <a:ext cx="3265954" cy="656840"/>
        </p:xfrm>
        <a:graphic>
          <a:graphicData uri="http://schemas.openxmlformats.org/presentationml/2006/ole">
            <mc:AlternateContent xmlns:mc="http://schemas.openxmlformats.org/markup-compatibility/2006">
              <mc:Choice xmlns:v="urn:schemas-microsoft-com:vml" Requires="v">
                <p:oleObj name="Ecuación" r:id="rId5" imgW="2273300" imgH="457200" progId="Equation.3">
                  <p:embed/>
                </p:oleObj>
              </mc:Choice>
              <mc:Fallback>
                <p:oleObj name="Ecuación" r:id="rId5" imgW="2273300" imgH="457200" progId="Equation.3">
                  <p:embed/>
                  <p:pic>
                    <p:nvPicPr>
                      <p:cNvPr id="0" name="Picture 1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2030" y="5590110"/>
                        <a:ext cx="3265954" cy="656840"/>
                      </a:xfrm>
                      <a:prstGeom prst="rect">
                        <a:avLst/>
                      </a:prstGeom>
                      <a:solidFill>
                        <a:srgbClr val="D4EBF1"/>
                      </a:solidFill>
                    </p:spPr>
                  </p:pic>
                </p:oleObj>
              </mc:Fallback>
            </mc:AlternateContent>
          </a:graphicData>
        </a:graphic>
      </p:graphicFrame>
      <p:sp>
        <p:nvSpPr>
          <p:cNvPr id="27" name="26 CuadroTexto"/>
          <p:cNvSpPr txBox="1"/>
          <p:nvPr/>
        </p:nvSpPr>
        <p:spPr>
          <a:xfrm>
            <a:off x="5767609" y="5445224"/>
            <a:ext cx="2467342" cy="646331"/>
          </a:xfrm>
          <a:prstGeom prst="rect">
            <a:avLst/>
          </a:prstGeom>
          <a:noFill/>
        </p:spPr>
        <p:txBody>
          <a:bodyPr wrap="none" rtlCol="0">
            <a:spAutoFit/>
          </a:bodyPr>
          <a:lstStyle/>
          <a:p>
            <a:r>
              <a:rPr lang="es-ES" sz="1800" i="1" dirty="0"/>
              <a:t>Actualmente, el valor  </a:t>
            </a:r>
          </a:p>
          <a:p>
            <a:r>
              <a:rPr lang="es-ES" sz="1800" i="1" dirty="0"/>
              <a:t>típico de W es 64 bits</a:t>
            </a:r>
          </a:p>
        </p:txBody>
      </p:sp>
      <p:sp>
        <p:nvSpPr>
          <p:cNvPr id="4" name="2 Marcador de número de diapositiva">
            <a:extLst>
              <a:ext uri="{FF2B5EF4-FFF2-40B4-BE49-F238E27FC236}">
                <a16:creationId xmlns:a16="http://schemas.microsoft.com/office/drawing/2014/main" id="{6316D374-1E78-5AF7-F72C-D629A99DB5F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116</a:t>
            </a:fld>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es-ES" dirty="0"/>
              <a:t>Pregunta:  Para módulo de una sola fila</a:t>
            </a:r>
          </a:p>
        </p:txBody>
      </p:sp>
      <p:sp>
        <p:nvSpPr>
          <p:cNvPr id="66" name="Rectangle 63">
            <a:extLst>
              <a:ext uri="{FF2B5EF4-FFF2-40B4-BE49-F238E27FC236}">
                <a16:creationId xmlns:a16="http://schemas.microsoft.com/office/drawing/2014/main" id="{521B88B6-9CB8-46BD-A48E-A68501839D56}"/>
              </a:ext>
            </a:extLst>
          </p:cNvPr>
          <p:cNvSpPr txBox="1">
            <a:spLocks noChangeArrowheads="1"/>
          </p:cNvSpPr>
          <p:nvPr/>
        </p:nvSpPr>
        <p:spPr>
          <a:xfrm>
            <a:off x="617964" y="922132"/>
            <a:ext cx="8138864" cy="690313"/>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800" dirty="0"/>
              <a:t>Si nos dijeran la capacidad del módulo en Bytes, 2</a:t>
            </a:r>
            <a:r>
              <a:rPr lang="es-ES" sz="1800" baseline="30000" dirty="0"/>
              <a:t>y</a:t>
            </a:r>
            <a:r>
              <a:rPr lang="es-ES" sz="1800" dirty="0"/>
              <a:t> B, y el tamaño de palabra de memoria es 2</a:t>
            </a:r>
            <a:r>
              <a:rPr lang="es-ES" sz="1800" baseline="30000" dirty="0"/>
              <a:t>z</a:t>
            </a:r>
            <a:r>
              <a:rPr lang="es-ES" sz="1800" dirty="0"/>
              <a:t> B entonces la capacidad del módulo en palabras sería: </a:t>
            </a:r>
            <a:r>
              <a:rPr lang="es-ES" sz="1800" dirty="0">
                <a:solidFill>
                  <a:schemeClr val="accent1">
                    <a:lumMod val="75000"/>
                  </a:schemeClr>
                </a:solidFill>
              </a:rPr>
              <a:t>2</a:t>
            </a:r>
            <a:r>
              <a:rPr lang="es-ES" sz="1800" baseline="30000" dirty="0">
                <a:solidFill>
                  <a:schemeClr val="accent1">
                    <a:lumMod val="75000"/>
                  </a:schemeClr>
                </a:solidFill>
              </a:rPr>
              <a:t>y-z</a:t>
            </a:r>
            <a:endParaRPr lang="es-ES" sz="1800" dirty="0">
              <a:solidFill>
                <a:schemeClr val="accent1">
                  <a:lumMod val="75000"/>
                </a:schemeClr>
              </a:solidFill>
            </a:endParaRPr>
          </a:p>
          <a:p>
            <a:pPr>
              <a:lnSpc>
                <a:spcPct val="100000"/>
              </a:lnSpc>
              <a:spcBef>
                <a:spcPts val="0"/>
              </a:spcBef>
            </a:pPr>
            <a:endParaRPr lang="es-ES" sz="1800" dirty="0"/>
          </a:p>
        </p:txBody>
      </p:sp>
      <p:pic>
        <p:nvPicPr>
          <p:cNvPr id="3" name="Imagen 2">
            <a:extLst>
              <a:ext uri="{FF2B5EF4-FFF2-40B4-BE49-F238E27FC236}">
                <a16:creationId xmlns:a16="http://schemas.microsoft.com/office/drawing/2014/main" id="{9708E93B-B0B0-4B39-97CD-615F04974C1C}"/>
              </a:ext>
            </a:extLst>
          </p:cNvPr>
          <p:cNvPicPr>
            <a:picLocks noChangeAspect="1"/>
          </p:cNvPicPr>
          <p:nvPr/>
        </p:nvPicPr>
        <p:blipFill>
          <a:blip r:embed="rId3"/>
          <a:stretch>
            <a:fillRect/>
          </a:stretch>
        </p:blipFill>
        <p:spPr>
          <a:xfrm>
            <a:off x="1271127" y="1733196"/>
            <a:ext cx="6601746" cy="3943900"/>
          </a:xfrm>
          <a:prstGeom prst="rect">
            <a:avLst/>
          </a:prstGeom>
        </p:spPr>
      </p:pic>
      <p:sp>
        <p:nvSpPr>
          <p:cNvPr id="4" name="CuadroTexto 3">
            <a:extLst>
              <a:ext uri="{FF2B5EF4-FFF2-40B4-BE49-F238E27FC236}">
                <a16:creationId xmlns:a16="http://schemas.microsoft.com/office/drawing/2014/main" id="{B06A7A4D-6246-44BC-9779-34A7174EBD8B}"/>
              </a:ext>
            </a:extLst>
          </p:cNvPr>
          <p:cNvSpPr txBox="1"/>
          <p:nvPr/>
        </p:nvSpPr>
        <p:spPr>
          <a:xfrm>
            <a:off x="7279960" y="3280352"/>
            <a:ext cx="1840682" cy="461665"/>
          </a:xfrm>
          <a:prstGeom prst="rect">
            <a:avLst/>
          </a:prstGeom>
          <a:noFill/>
        </p:spPr>
        <p:txBody>
          <a:bodyPr wrap="square" rtlCol="0">
            <a:spAutoFit/>
          </a:bodyPr>
          <a:lstStyle/>
          <a:p>
            <a:r>
              <a:rPr lang="es-ES" sz="2400" dirty="0">
                <a:solidFill>
                  <a:schemeClr val="accent1">
                    <a:lumMod val="75000"/>
                  </a:schemeClr>
                </a:solidFill>
              </a:rPr>
              <a:t>2</a:t>
            </a:r>
            <a:r>
              <a:rPr lang="es-ES" sz="2400" baseline="30000" dirty="0">
                <a:solidFill>
                  <a:schemeClr val="accent1">
                    <a:lumMod val="75000"/>
                  </a:schemeClr>
                </a:solidFill>
              </a:rPr>
              <a:t>y-z</a:t>
            </a:r>
            <a:r>
              <a:rPr lang="es-ES" sz="2400" dirty="0">
                <a:solidFill>
                  <a:schemeClr val="accent1">
                    <a:lumMod val="75000"/>
                  </a:schemeClr>
                </a:solidFill>
              </a:rPr>
              <a:t> x  2</a:t>
            </a:r>
            <a:r>
              <a:rPr lang="es-ES" sz="2400" baseline="30000" dirty="0">
                <a:solidFill>
                  <a:schemeClr val="accent1">
                    <a:lumMod val="75000"/>
                  </a:schemeClr>
                </a:solidFill>
              </a:rPr>
              <a:t>z+3</a:t>
            </a:r>
            <a:endParaRPr lang="es-ES" sz="2400" dirty="0">
              <a:solidFill>
                <a:schemeClr val="accent1">
                  <a:lumMod val="75000"/>
                </a:schemeClr>
              </a:solidFill>
            </a:endParaRPr>
          </a:p>
        </p:txBody>
      </p:sp>
      <p:sp>
        <p:nvSpPr>
          <p:cNvPr id="8" name="CuadroTexto 7">
            <a:extLst>
              <a:ext uri="{FF2B5EF4-FFF2-40B4-BE49-F238E27FC236}">
                <a16:creationId xmlns:a16="http://schemas.microsoft.com/office/drawing/2014/main" id="{B56A68D3-BC12-42F1-84C4-81E2A37B58A2}"/>
              </a:ext>
            </a:extLst>
          </p:cNvPr>
          <p:cNvSpPr txBox="1"/>
          <p:nvPr/>
        </p:nvSpPr>
        <p:spPr>
          <a:xfrm>
            <a:off x="2635167" y="5525077"/>
            <a:ext cx="4104457" cy="461665"/>
          </a:xfrm>
          <a:prstGeom prst="rect">
            <a:avLst/>
          </a:prstGeom>
          <a:noFill/>
        </p:spPr>
        <p:txBody>
          <a:bodyPr wrap="square" rtlCol="0">
            <a:spAutoFit/>
          </a:bodyPr>
          <a:lstStyle/>
          <a:p>
            <a:r>
              <a:rPr lang="es-ES" sz="2400" dirty="0">
                <a:solidFill>
                  <a:schemeClr val="accent1">
                    <a:lumMod val="75000"/>
                  </a:schemeClr>
                </a:solidFill>
              </a:rPr>
              <a:t>2</a:t>
            </a:r>
            <a:r>
              <a:rPr lang="es-ES" sz="2400" baseline="30000" dirty="0">
                <a:solidFill>
                  <a:schemeClr val="accent1">
                    <a:lumMod val="75000"/>
                  </a:schemeClr>
                </a:solidFill>
              </a:rPr>
              <a:t>z</a:t>
            </a:r>
            <a:r>
              <a:rPr lang="es-ES" sz="2400" dirty="0">
                <a:solidFill>
                  <a:schemeClr val="accent1">
                    <a:lumMod val="75000"/>
                  </a:schemeClr>
                </a:solidFill>
              </a:rPr>
              <a:t> B =  2</a:t>
            </a:r>
            <a:r>
              <a:rPr lang="es-ES" sz="2400" baseline="30000" dirty="0">
                <a:solidFill>
                  <a:schemeClr val="accent1">
                    <a:lumMod val="75000"/>
                  </a:schemeClr>
                </a:solidFill>
              </a:rPr>
              <a:t>z+3</a:t>
            </a:r>
            <a:r>
              <a:rPr lang="es-ES" sz="2400" dirty="0">
                <a:solidFill>
                  <a:schemeClr val="accent1">
                    <a:lumMod val="75000"/>
                  </a:schemeClr>
                </a:solidFill>
              </a:rPr>
              <a:t> bits = P x w bits</a:t>
            </a:r>
          </a:p>
        </p:txBody>
      </p:sp>
      <p:sp>
        <p:nvSpPr>
          <p:cNvPr id="9" name="CuadroTexto 8">
            <a:extLst>
              <a:ext uri="{FF2B5EF4-FFF2-40B4-BE49-F238E27FC236}">
                <a16:creationId xmlns:a16="http://schemas.microsoft.com/office/drawing/2014/main" id="{49841E47-2437-4026-9FE0-05A5622C4278}"/>
              </a:ext>
            </a:extLst>
          </p:cNvPr>
          <p:cNvSpPr txBox="1"/>
          <p:nvPr/>
        </p:nvSpPr>
        <p:spPr>
          <a:xfrm>
            <a:off x="5111850" y="3410837"/>
            <a:ext cx="1840682" cy="338554"/>
          </a:xfrm>
          <a:prstGeom prst="rect">
            <a:avLst/>
          </a:prstGeom>
          <a:noFill/>
        </p:spPr>
        <p:txBody>
          <a:bodyPr wrap="square" rtlCol="0">
            <a:spAutoFit/>
          </a:bodyPr>
          <a:lstStyle/>
          <a:p>
            <a:r>
              <a:rPr lang="es-ES" sz="1600" dirty="0">
                <a:solidFill>
                  <a:schemeClr val="accent1">
                    <a:lumMod val="75000"/>
                  </a:schemeClr>
                </a:solidFill>
              </a:rPr>
              <a:t>2</a:t>
            </a:r>
            <a:r>
              <a:rPr lang="es-ES" sz="1600" baseline="30000" dirty="0">
                <a:solidFill>
                  <a:schemeClr val="accent1">
                    <a:lumMod val="75000"/>
                  </a:schemeClr>
                </a:solidFill>
              </a:rPr>
              <a:t>y-z</a:t>
            </a:r>
            <a:r>
              <a:rPr lang="es-ES" sz="1600" dirty="0">
                <a:solidFill>
                  <a:schemeClr val="accent1">
                    <a:lumMod val="75000"/>
                  </a:schemeClr>
                </a:solidFill>
              </a:rPr>
              <a:t> x  w</a:t>
            </a:r>
          </a:p>
        </p:txBody>
      </p:sp>
      <p:sp>
        <p:nvSpPr>
          <p:cNvPr id="10" name="CuadroTexto 9">
            <a:extLst>
              <a:ext uri="{FF2B5EF4-FFF2-40B4-BE49-F238E27FC236}">
                <a16:creationId xmlns:a16="http://schemas.microsoft.com/office/drawing/2014/main" id="{20517492-231D-4E31-8C71-F3F5FAE48A4F}"/>
              </a:ext>
            </a:extLst>
          </p:cNvPr>
          <p:cNvSpPr txBox="1"/>
          <p:nvPr/>
        </p:nvSpPr>
        <p:spPr>
          <a:xfrm>
            <a:off x="2023399" y="3440004"/>
            <a:ext cx="1840682" cy="338554"/>
          </a:xfrm>
          <a:prstGeom prst="rect">
            <a:avLst/>
          </a:prstGeom>
          <a:noFill/>
        </p:spPr>
        <p:txBody>
          <a:bodyPr wrap="square" rtlCol="0">
            <a:spAutoFit/>
          </a:bodyPr>
          <a:lstStyle/>
          <a:p>
            <a:r>
              <a:rPr lang="es-ES" sz="1600" dirty="0">
                <a:solidFill>
                  <a:schemeClr val="accent1">
                    <a:lumMod val="75000"/>
                  </a:schemeClr>
                </a:solidFill>
              </a:rPr>
              <a:t>2</a:t>
            </a:r>
            <a:r>
              <a:rPr lang="es-ES" sz="1600" baseline="30000" dirty="0">
                <a:solidFill>
                  <a:schemeClr val="accent1">
                    <a:lumMod val="75000"/>
                  </a:schemeClr>
                </a:solidFill>
              </a:rPr>
              <a:t>y-z</a:t>
            </a:r>
            <a:r>
              <a:rPr lang="es-ES" sz="1600" dirty="0">
                <a:solidFill>
                  <a:schemeClr val="accent1">
                    <a:lumMod val="75000"/>
                  </a:schemeClr>
                </a:solidFill>
              </a:rPr>
              <a:t> x  w</a:t>
            </a:r>
          </a:p>
        </p:txBody>
      </p:sp>
      <p:grpSp>
        <p:nvGrpSpPr>
          <p:cNvPr id="6" name="Grupo 5">
            <a:extLst>
              <a:ext uri="{FF2B5EF4-FFF2-40B4-BE49-F238E27FC236}">
                <a16:creationId xmlns:a16="http://schemas.microsoft.com/office/drawing/2014/main" id="{2481809C-0BA4-495D-9B70-7DA8B92FBB2F}"/>
              </a:ext>
            </a:extLst>
          </p:cNvPr>
          <p:cNvGrpSpPr/>
          <p:nvPr/>
        </p:nvGrpSpPr>
        <p:grpSpPr>
          <a:xfrm>
            <a:off x="2537016" y="3273658"/>
            <a:ext cx="3891218" cy="738803"/>
            <a:chOff x="730467" y="3756765"/>
            <a:chExt cx="3891218" cy="738803"/>
          </a:xfrm>
        </p:grpSpPr>
        <p:sp>
          <p:nvSpPr>
            <p:cNvPr id="5" name="Rectángulo 4">
              <a:extLst>
                <a:ext uri="{FF2B5EF4-FFF2-40B4-BE49-F238E27FC236}">
                  <a16:creationId xmlns:a16="http://schemas.microsoft.com/office/drawing/2014/main" id="{1CEFDC97-95AF-43A6-A347-B9E048E583F0}"/>
                </a:ext>
              </a:extLst>
            </p:cNvPr>
            <p:cNvSpPr/>
            <p:nvPr/>
          </p:nvSpPr>
          <p:spPr bwMode="auto">
            <a:xfrm>
              <a:off x="3829598" y="3770856"/>
              <a:ext cx="792087" cy="724712"/>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1"/>
                  </a:solidFill>
                </a:rPr>
                <a:t>?</a:t>
              </a:r>
            </a:p>
          </p:txBody>
        </p:sp>
        <p:sp>
          <p:nvSpPr>
            <p:cNvPr id="12" name="Rectángulo 11">
              <a:extLst>
                <a:ext uri="{FF2B5EF4-FFF2-40B4-BE49-F238E27FC236}">
                  <a16:creationId xmlns:a16="http://schemas.microsoft.com/office/drawing/2014/main" id="{E972163C-93D3-422D-A96F-40E84CDC86C1}"/>
                </a:ext>
              </a:extLst>
            </p:cNvPr>
            <p:cNvSpPr/>
            <p:nvPr/>
          </p:nvSpPr>
          <p:spPr bwMode="auto">
            <a:xfrm>
              <a:off x="730467" y="3756765"/>
              <a:ext cx="792087" cy="724712"/>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1"/>
                  </a:solidFill>
                </a:rPr>
                <a:t>?</a:t>
              </a:r>
            </a:p>
          </p:txBody>
        </p:sp>
      </p:grpSp>
      <p:sp>
        <p:nvSpPr>
          <p:cNvPr id="14" name="CuadroTexto 13">
            <a:extLst>
              <a:ext uri="{FF2B5EF4-FFF2-40B4-BE49-F238E27FC236}">
                <a16:creationId xmlns:a16="http://schemas.microsoft.com/office/drawing/2014/main" id="{8F29B96D-1E0B-4717-9913-769D56E33702}"/>
              </a:ext>
            </a:extLst>
          </p:cNvPr>
          <p:cNvSpPr txBox="1"/>
          <p:nvPr/>
        </p:nvSpPr>
        <p:spPr>
          <a:xfrm>
            <a:off x="2266285" y="4441953"/>
            <a:ext cx="2421111" cy="461665"/>
          </a:xfrm>
          <a:prstGeom prst="rect">
            <a:avLst/>
          </a:prstGeom>
          <a:noFill/>
        </p:spPr>
        <p:txBody>
          <a:bodyPr wrap="square" rtlCol="0">
            <a:spAutoFit/>
          </a:bodyPr>
          <a:lstStyle/>
          <a:p>
            <a:r>
              <a:rPr lang="es-ES" sz="2400" dirty="0">
                <a:solidFill>
                  <a:schemeClr val="accent1">
                    <a:lumMod val="75000"/>
                  </a:schemeClr>
                </a:solidFill>
              </a:rPr>
              <a:t>  w bits</a:t>
            </a:r>
          </a:p>
        </p:txBody>
      </p:sp>
      <p:sp>
        <p:nvSpPr>
          <p:cNvPr id="15" name="CuadroTexto 14">
            <a:extLst>
              <a:ext uri="{FF2B5EF4-FFF2-40B4-BE49-F238E27FC236}">
                <a16:creationId xmlns:a16="http://schemas.microsoft.com/office/drawing/2014/main" id="{71206222-198B-42BA-A2D5-7D2B4336CC4C}"/>
              </a:ext>
            </a:extLst>
          </p:cNvPr>
          <p:cNvSpPr txBox="1"/>
          <p:nvPr/>
        </p:nvSpPr>
        <p:spPr>
          <a:xfrm>
            <a:off x="5636147" y="4542819"/>
            <a:ext cx="3240360" cy="461665"/>
          </a:xfrm>
          <a:prstGeom prst="rect">
            <a:avLst/>
          </a:prstGeom>
          <a:noFill/>
        </p:spPr>
        <p:txBody>
          <a:bodyPr wrap="square" rtlCol="0">
            <a:spAutoFit/>
          </a:bodyPr>
          <a:lstStyle/>
          <a:p>
            <a:r>
              <a:rPr lang="es-ES" sz="2400" dirty="0">
                <a:solidFill>
                  <a:schemeClr val="accent1">
                    <a:lumMod val="75000"/>
                  </a:schemeClr>
                </a:solidFill>
              </a:rPr>
              <a:t>  w bits = 2</a:t>
            </a:r>
            <a:r>
              <a:rPr lang="es-ES" sz="2400" baseline="30000" dirty="0">
                <a:solidFill>
                  <a:schemeClr val="accent1">
                    <a:lumMod val="75000"/>
                  </a:schemeClr>
                </a:solidFill>
              </a:rPr>
              <a:t>z+3</a:t>
            </a:r>
            <a:r>
              <a:rPr lang="es-ES" sz="2400" dirty="0">
                <a:solidFill>
                  <a:schemeClr val="accent1">
                    <a:lumMod val="75000"/>
                  </a:schemeClr>
                </a:solidFill>
              </a:rPr>
              <a:t> / P</a:t>
            </a:r>
          </a:p>
        </p:txBody>
      </p:sp>
      <p:sp>
        <p:nvSpPr>
          <p:cNvPr id="18" name="Rectángulo 17">
            <a:extLst>
              <a:ext uri="{FF2B5EF4-FFF2-40B4-BE49-F238E27FC236}">
                <a16:creationId xmlns:a16="http://schemas.microsoft.com/office/drawing/2014/main" id="{FCE16DBD-DE5F-4B7A-B99F-14C02A10E4C5}"/>
              </a:ext>
            </a:extLst>
          </p:cNvPr>
          <p:cNvSpPr/>
          <p:nvPr/>
        </p:nvSpPr>
        <p:spPr bwMode="auto">
          <a:xfrm>
            <a:off x="7364414" y="4441953"/>
            <a:ext cx="1729374" cy="724712"/>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accent1"/>
                </a:solidFill>
              </a:rPr>
              <a:t>¿Sabiendo P y bits/palabra CPU?</a:t>
            </a:r>
          </a:p>
        </p:txBody>
      </p:sp>
      <p:grpSp>
        <p:nvGrpSpPr>
          <p:cNvPr id="17" name="Grupo 16">
            <a:extLst>
              <a:ext uri="{FF2B5EF4-FFF2-40B4-BE49-F238E27FC236}">
                <a16:creationId xmlns:a16="http://schemas.microsoft.com/office/drawing/2014/main" id="{758BFACE-3F6C-4588-B2A2-B9945589A85C}"/>
              </a:ext>
            </a:extLst>
          </p:cNvPr>
          <p:cNvGrpSpPr/>
          <p:nvPr/>
        </p:nvGrpSpPr>
        <p:grpSpPr>
          <a:xfrm>
            <a:off x="7337064" y="1262753"/>
            <a:ext cx="1537198" cy="2606252"/>
            <a:chOff x="7339309" y="1267288"/>
            <a:chExt cx="1537198" cy="2606252"/>
          </a:xfrm>
        </p:grpSpPr>
        <p:sp>
          <p:nvSpPr>
            <p:cNvPr id="16" name="Rectángulo 15">
              <a:extLst>
                <a:ext uri="{FF2B5EF4-FFF2-40B4-BE49-F238E27FC236}">
                  <a16:creationId xmlns:a16="http://schemas.microsoft.com/office/drawing/2014/main" id="{A6BE3467-C032-4809-99D2-85CE5E366D09}"/>
                </a:ext>
              </a:extLst>
            </p:cNvPr>
            <p:cNvSpPr/>
            <p:nvPr/>
          </p:nvSpPr>
          <p:spPr bwMode="auto">
            <a:xfrm>
              <a:off x="7456910" y="1267288"/>
              <a:ext cx="1419597" cy="724712"/>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accent1"/>
                  </a:solidFill>
                </a:rPr>
                <a:t>¿?</a:t>
              </a:r>
            </a:p>
          </p:txBody>
        </p:sp>
        <p:grpSp>
          <p:nvGrpSpPr>
            <p:cNvPr id="13" name="Grupo 12">
              <a:extLst>
                <a:ext uri="{FF2B5EF4-FFF2-40B4-BE49-F238E27FC236}">
                  <a16:creationId xmlns:a16="http://schemas.microsoft.com/office/drawing/2014/main" id="{1ACFB33D-63D3-4E71-8444-2AE2B2EE477C}"/>
                </a:ext>
              </a:extLst>
            </p:cNvPr>
            <p:cNvGrpSpPr/>
            <p:nvPr/>
          </p:nvGrpSpPr>
          <p:grpSpPr>
            <a:xfrm>
              <a:off x="7339309" y="2132856"/>
              <a:ext cx="889792" cy="1740684"/>
              <a:chOff x="7339309" y="2132856"/>
              <a:chExt cx="889792" cy="1740684"/>
            </a:xfrm>
          </p:grpSpPr>
          <p:sp>
            <p:nvSpPr>
              <p:cNvPr id="19" name="Rectángulo 18">
                <a:extLst>
                  <a:ext uri="{FF2B5EF4-FFF2-40B4-BE49-F238E27FC236}">
                    <a16:creationId xmlns:a16="http://schemas.microsoft.com/office/drawing/2014/main" id="{BD522C1F-2B41-464E-942A-2F4E79380E9F}"/>
                  </a:ext>
                </a:extLst>
              </p:cNvPr>
              <p:cNvSpPr/>
              <p:nvPr/>
            </p:nvSpPr>
            <p:spPr bwMode="auto">
              <a:xfrm>
                <a:off x="7339309" y="3148828"/>
                <a:ext cx="689076" cy="724712"/>
              </a:xfrm>
              <a:prstGeom prst="rect">
                <a:avLst/>
              </a:prstGeom>
              <a:solidFill>
                <a:schemeClr val="bg1"/>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accent1"/>
                    </a:solidFill>
                  </a:rPr>
                  <a:t>¿?</a:t>
                </a:r>
              </a:p>
            </p:txBody>
          </p:sp>
          <p:cxnSp>
            <p:nvCxnSpPr>
              <p:cNvPr id="11" name="Conector recto de flecha 10">
                <a:extLst>
                  <a:ext uri="{FF2B5EF4-FFF2-40B4-BE49-F238E27FC236}">
                    <a16:creationId xmlns:a16="http://schemas.microsoft.com/office/drawing/2014/main" id="{E57F053D-5DAB-438B-A540-C00560AB7579}"/>
                  </a:ext>
                </a:extLst>
              </p:cNvPr>
              <p:cNvCxnSpPr/>
              <p:nvPr/>
            </p:nvCxnSpPr>
            <p:spPr bwMode="auto">
              <a:xfrm flipH="1">
                <a:off x="7872873" y="2132856"/>
                <a:ext cx="356228" cy="864096"/>
              </a:xfrm>
              <a:prstGeom prst="straightConnector1">
                <a:avLst/>
              </a:prstGeom>
              <a:ln w="12700">
                <a:headEnd type="triangle"/>
                <a:tailEnd type="triangle"/>
              </a:ln>
            </p:spPr>
            <p:style>
              <a:lnRef idx="2">
                <a:schemeClr val="accent1">
                  <a:shade val="50000"/>
                </a:schemeClr>
              </a:lnRef>
              <a:fillRef idx="1">
                <a:schemeClr val="accent1"/>
              </a:fillRef>
              <a:effectRef idx="0">
                <a:schemeClr val="accent1"/>
              </a:effectRef>
              <a:fontRef idx="minor">
                <a:schemeClr val="lt1"/>
              </a:fontRef>
            </p:style>
          </p:cxnSp>
        </p:grpSp>
      </p:grpSp>
      <p:sp>
        <p:nvSpPr>
          <p:cNvPr id="23" name="Rectangle 63">
            <a:extLst>
              <a:ext uri="{FF2B5EF4-FFF2-40B4-BE49-F238E27FC236}">
                <a16:creationId xmlns:a16="http://schemas.microsoft.com/office/drawing/2014/main" id="{08C0CB39-C94F-4B20-9DFC-594B285A40A9}"/>
              </a:ext>
            </a:extLst>
          </p:cNvPr>
          <p:cNvSpPr txBox="1">
            <a:spLocks noChangeArrowheads="1"/>
          </p:cNvSpPr>
          <p:nvPr/>
        </p:nvSpPr>
        <p:spPr>
          <a:xfrm>
            <a:off x="684213" y="5891984"/>
            <a:ext cx="8138864" cy="690313"/>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800" dirty="0"/>
              <a:t>¿Y cuánto sería ese valor w, sabiendo que hay P chips y que la palabra de memoria es 2</a:t>
            </a:r>
            <a:r>
              <a:rPr lang="es-ES" sz="1800" baseline="30000" dirty="0"/>
              <a:t>z</a:t>
            </a:r>
            <a:r>
              <a:rPr lang="es-ES" sz="1800" dirty="0"/>
              <a:t> Bytes, es decir 2</a:t>
            </a:r>
            <a:r>
              <a:rPr lang="es-ES" sz="1800" baseline="30000" dirty="0"/>
              <a:t>z+3 </a:t>
            </a:r>
            <a:r>
              <a:rPr lang="es-ES" sz="1800" dirty="0"/>
              <a:t>bits? </a:t>
            </a:r>
          </a:p>
          <a:p>
            <a:pPr>
              <a:lnSpc>
                <a:spcPct val="100000"/>
              </a:lnSpc>
              <a:spcBef>
                <a:spcPts val="0"/>
              </a:spcBef>
            </a:pPr>
            <a:endParaRPr lang="es-ES" sz="1800" dirty="0"/>
          </a:p>
        </p:txBody>
      </p:sp>
      <p:cxnSp>
        <p:nvCxnSpPr>
          <p:cNvPr id="21" name="Conector recto de flecha 20">
            <a:extLst>
              <a:ext uri="{FF2B5EF4-FFF2-40B4-BE49-F238E27FC236}">
                <a16:creationId xmlns:a16="http://schemas.microsoft.com/office/drawing/2014/main" id="{77AC3C78-03AC-4BE4-A44D-9BFDEC87598A}"/>
              </a:ext>
            </a:extLst>
          </p:cNvPr>
          <p:cNvCxnSpPr/>
          <p:nvPr/>
        </p:nvCxnSpPr>
        <p:spPr bwMode="auto">
          <a:xfrm flipV="1">
            <a:off x="7371763" y="5287416"/>
            <a:ext cx="501110" cy="579185"/>
          </a:xfrm>
          <a:prstGeom prst="straightConnector1">
            <a:avLst/>
          </a:prstGeom>
          <a:ln w="12700">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26" name="Rectangle 63">
            <a:extLst>
              <a:ext uri="{FF2B5EF4-FFF2-40B4-BE49-F238E27FC236}">
                <a16:creationId xmlns:a16="http://schemas.microsoft.com/office/drawing/2014/main" id="{BE0E5ED6-250F-41E9-AC97-E55872D4F23F}"/>
              </a:ext>
            </a:extLst>
          </p:cNvPr>
          <p:cNvSpPr txBox="1">
            <a:spLocks noChangeArrowheads="1"/>
          </p:cNvSpPr>
          <p:nvPr/>
        </p:nvSpPr>
        <p:spPr>
          <a:xfrm>
            <a:off x="617964" y="1546626"/>
            <a:ext cx="8138864" cy="690313"/>
          </a:xfrm>
          <a:prstGeom prst="rect">
            <a:avLst/>
          </a:prstGeom>
          <a:noFill/>
        </p:spPr>
        <p:txBody>
          <a:bodyPr>
            <a:noAutofit/>
          </a:bodyPr>
          <a:lstStyle>
            <a:lvl1pPr marL="365125" indent="-282575" algn="l" rtl="0" eaLnBrk="0" fontAlgn="base" hangingPunct="0">
              <a:lnSpc>
                <a:spcPts val="3000"/>
              </a:lnSpc>
              <a:spcBef>
                <a:spcPts val="600"/>
              </a:spcBef>
              <a:spcAft>
                <a:spcPct val="0"/>
              </a:spcAft>
              <a:buClr>
                <a:schemeClr val="accent2">
                  <a:lumMod val="75000"/>
                </a:schemeClr>
              </a:buClr>
              <a:buSzPct val="80000"/>
              <a:buFont typeface="Wingdings 2" pitchFamily="18" charset="2"/>
              <a:buChar char=""/>
              <a:defRPr lang="es-ES" sz="2400" kern="1200">
                <a:solidFill>
                  <a:schemeClr val="tx1"/>
                </a:solidFill>
                <a:latin typeface="+mn-lt"/>
                <a:ea typeface="+mn-ea"/>
                <a:cs typeface="+mn-cs"/>
              </a:defRPr>
            </a:lvl1pPr>
            <a:lvl2pPr marL="639763" indent="-236538" algn="l" rtl="0" eaLnBrk="0" fontAlgn="base" hangingPunct="0">
              <a:lnSpc>
                <a:spcPts val="3000"/>
              </a:lnSpc>
              <a:spcBef>
                <a:spcPts val="550"/>
              </a:spcBef>
              <a:spcAft>
                <a:spcPct val="0"/>
              </a:spcAft>
              <a:buClr>
                <a:schemeClr val="bg2">
                  <a:lumMod val="50000"/>
                </a:schemeClr>
              </a:buClr>
              <a:buSzPct val="85000"/>
              <a:buFont typeface="Wingdings" pitchFamily="2" charset="2"/>
              <a:buChar char="ü"/>
              <a:defRPr lang="es-ES" sz="2000" kern="1200">
                <a:solidFill>
                  <a:schemeClr val="tx1"/>
                </a:solidFill>
                <a:latin typeface="+mn-lt"/>
                <a:ea typeface="+mn-ea"/>
                <a:cs typeface="+mn-cs"/>
              </a:defRPr>
            </a:lvl2pPr>
            <a:lvl3pPr marL="885825" indent="-228600" algn="l" rtl="0" eaLnBrk="0" fontAlgn="base" hangingPunct="0">
              <a:lnSpc>
                <a:spcPts val="2800"/>
              </a:lnSpc>
              <a:spcBef>
                <a:spcPct val="20000"/>
              </a:spcBef>
              <a:spcAft>
                <a:spcPct val="0"/>
              </a:spcAft>
              <a:buFont typeface="Wingdings 2" pitchFamily="18" charset="2"/>
              <a:buChar char=""/>
              <a:defRPr lang="es-ES"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lang="es-ES" sz="16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lang="es-ES" sz="1600" kern="1200">
                <a:solidFill>
                  <a:schemeClr val="tx1"/>
                </a:solidFill>
                <a:latin typeface="+mn-lt"/>
                <a:ea typeface="+mn-ea"/>
                <a:cs typeface="+mn-cs"/>
              </a:defRPr>
            </a:lvl5pPr>
            <a:lvl6pPr marL="1508760" indent="-182880" algn="l" rtl="0" eaLnBrk="1" latinLnBrk="0" hangingPunct="1">
              <a:spcBef>
                <a:spcPct val="20000"/>
              </a:spcBef>
              <a:buClr>
                <a:schemeClr val="accent5"/>
              </a:buClr>
              <a:buFont typeface="Wingdings 2"/>
              <a:buChar char=""/>
              <a:defRPr lang="es-ES" sz="1600" kern="1200">
                <a:solidFill>
                  <a:schemeClr val="tx1"/>
                </a:solidFill>
                <a:latin typeface="+mn-lt"/>
                <a:ea typeface="+mn-ea"/>
                <a:cs typeface="+mn-cs"/>
              </a:defRPr>
            </a:lvl6pPr>
            <a:lvl7pPr marL="171907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7pPr>
            <a:lvl8pPr marL="1920240"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8pPr>
            <a:lvl9pPr marL="2130552" indent="-182880" algn="l" rtl="0" eaLnBrk="1" latinLnBrk="0" hangingPunct="1">
              <a:spcBef>
                <a:spcPct val="20000"/>
              </a:spcBef>
              <a:buClr>
                <a:schemeClr val="accent6"/>
              </a:buClr>
              <a:buFont typeface="Wingdings 2"/>
              <a:buChar char=""/>
              <a:defRPr lang="es-ES" sz="1600" kern="1200">
                <a:solidFill>
                  <a:schemeClr val="tx1"/>
                </a:solidFill>
                <a:latin typeface="+mn-lt"/>
                <a:ea typeface="+mn-ea"/>
                <a:cs typeface="+mn-cs"/>
              </a:defRPr>
            </a:lvl9pPr>
          </a:lstStyle>
          <a:p>
            <a:pPr>
              <a:lnSpc>
                <a:spcPct val="100000"/>
              </a:lnSpc>
              <a:spcBef>
                <a:spcPts val="0"/>
              </a:spcBef>
            </a:pPr>
            <a:r>
              <a:rPr lang="es-ES" sz="1800" dirty="0"/>
              <a:t>Sabiendo palabras del módulo. ¿palabras del chip?</a:t>
            </a:r>
          </a:p>
          <a:p>
            <a:pPr>
              <a:lnSpc>
                <a:spcPct val="100000"/>
              </a:lnSpc>
              <a:spcBef>
                <a:spcPts val="0"/>
              </a:spcBef>
            </a:pPr>
            <a:endParaRPr lang="es-ES" sz="1800" dirty="0"/>
          </a:p>
        </p:txBody>
      </p:sp>
      <p:sp>
        <p:nvSpPr>
          <p:cNvPr id="2" name="2 Marcador de número de diapositiva">
            <a:extLst>
              <a:ext uri="{FF2B5EF4-FFF2-40B4-BE49-F238E27FC236}">
                <a16:creationId xmlns:a16="http://schemas.microsoft.com/office/drawing/2014/main" id="{A70F55EE-ADD4-01B7-270C-17AB160C0077}"/>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117</a:t>
            </a:fld>
            <a:endParaRPr lang="en-US" dirty="0"/>
          </a:p>
        </p:txBody>
      </p:sp>
    </p:spTree>
    <p:extLst>
      <p:ext uri="{BB962C8B-B14F-4D97-AF65-F5344CB8AC3E}">
        <p14:creationId xmlns:p14="http://schemas.microsoft.com/office/powerpoint/2010/main" val="51679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Rectángulo redondeado"/>
          <p:cNvSpPr/>
          <p:nvPr/>
        </p:nvSpPr>
        <p:spPr bwMode="auto">
          <a:xfrm>
            <a:off x="5436741" y="1340768"/>
            <a:ext cx="3527747" cy="2016224"/>
          </a:xfrm>
          <a:prstGeom prst="roundRect">
            <a:avLst/>
          </a:prstGeom>
          <a:solidFill>
            <a:schemeClr val="accent2">
              <a:lumMod val="20000"/>
              <a:lumOff val="80000"/>
            </a:schemeClr>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3490" name="Imagen 3" descr="DIMM-insercion.jpg"/>
          <p:cNvPicPr>
            <a:picLocks noChangeAspect="1"/>
          </p:cNvPicPr>
          <p:nvPr/>
        </p:nvPicPr>
        <p:blipFill>
          <a:blip r:embed="rId3" cstate="print"/>
          <a:srcRect/>
          <a:stretch>
            <a:fillRect/>
          </a:stretch>
        </p:blipFill>
        <p:spPr bwMode="auto">
          <a:xfrm>
            <a:off x="5292725" y="3716338"/>
            <a:ext cx="3527425" cy="2881312"/>
          </a:xfrm>
          <a:prstGeom prst="rect">
            <a:avLst/>
          </a:prstGeom>
          <a:noFill/>
          <a:ln w="9525">
            <a:noFill/>
            <a:miter lim="800000"/>
            <a:headEnd/>
            <a:tailEnd/>
          </a:ln>
        </p:spPr>
      </p:pic>
      <p:sp>
        <p:nvSpPr>
          <p:cNvPr id="63491" name="Rectangle 7"/>
          <p:cNvSpPr>
            <a:spLocks noGrp="1" noChangeArrowheads="1"/>
          </p:cNvSpPr>
          <p:nvPr>
            <p:ph type="title"/>
          </p:nvPr>
        </p:nvSpPr>
        <p:spPr/>
        <p:txBody>
          <a:bodyPr/>
          <a:lstStyle/>
          <a:p>
            <a:pPr algn="l"/>
            <a:r>
              <a:rPr lang="ca-ES" dirty="0" err="1">
                <a:ea typeface="ＭＳ Ｐゴシック" charset="-128"/>
              </a:rPr>
              <a:t>Módulos</a:t>
            </a:r>
            <a:r>
              <a:rPr lang="ca-ES" dirty="0">
                <a:ea typeface="ＭＳ Ｐゴシック" charset="-128"/>
              </a:rPr>
              <a:t> </a:t>
            </a:r>
            <a:r>
              <a:rPr lang="ca-ES" dirty="0" err="1">
                <a:ea typeface="ＭＳ Ｐゴシック" charset="-128"/>
              </a:rPr>
              <a:t>estándar</a:t>
            </a:r>
            <a:r>
              <a:rPr lang="ca-ES" dirty="0">
                <a:ea typeface="ＭＳ Ｐゴシック" charset="-128"/>
              </a:rPr>
              <a:t> de </a:t>
            </a:r>
            <a:r>
              <a:rPr lang="ca-ES" dirty="0" err="1">
                <a:ea typeface="ＭＳ Ｐゴシック" charset="-128"/>
              </a:rPr>
              <a:t>memoria</a:t>
            </a:r>
            <a:r>
              <a:rPr lang="ca-ES" dirty="0">
                <a:ea typeface="ＭＳ Ｐゴシック" charset="-128"/>
              </a:rPr>
              <a:t> </a:t>
            </a:r>
            <a:r>
              <a:rPr lang="ca-ES" dirty="0" err="1">
                <a:ea typeface="ＭＳ Ｐゴシック" charset="-128"/>
              </a:rPr>
              <a:t>dinámica</a:t>
            </a:r>
            <a:endParaRPr lang="ca-ES" dirty="0">
              <a:ea typeface="ＭＳ Ｐゴシック" charset="-128"/>
            </a:endParaRPr>
          </a:p>
        </p:txBody>
      </p:sp>
      <p:sp>
        <p:nvSpPr>
          <p:cNvPr id="63492" name="Rectangle 8"/>
          <p:cNvSpPr>
            <a:spLocks noGrp="1" noChangeArrowheads="1"/>
          </p:cNvSpPr>
          <p:nvPr>
            <p:ph type="body" idx="1"/>
          </p:nvPr>
        </p:nvSpPr>
        <p:spPr>
          <a:xfrm>
            <a:off x="323850" y="1196975"/>
            <a:ext cx="5184775" cy="4032250"/>
          </a:xfrm>
        </p:spPr>
        <p:txBody>
          <a:bodyPr/>
          <a:lstStyle/>
          <a:p>
            <a:pPr marL="400050"/>
            <a:r>
              <a:rPr lang="ca-ES" sz="2400" dirty="0" err="1">
                <a:ea typeface="ＭＳ Ｐゴシック" charset="-128"/>
              </a:rPr>
              <a:t>Terminales</a:t>
            </a:r>
            <a:endParaRPr lang="ca-ES" sz="2400" dirty="0">
              <a:ea typeface="ＭＳ Ｐゴシック" charset="-128"/>
            </a:endParaRPr>
          </a:p>
          <a:p>
            <a:pPr lvl="1"/>
            <a:r>
              <a:rPr lang="ca-ES" sz="1600" dirty="0">
                <a:latin typeface="Arial" pitchFamily="34" charset="0"/>
                <a:ea typeface="ＭＳ Ｐゴシック" charset="-128"/>
              </a:rPr>
              <a:t>Las </a:t>
            </a:r>
            <a:r>
              <a:rPr lang="ca-ES" sz="1600" dirty="0" err="1">
                <a:latin typeface="Arial" pitchFamily="34" charset="0"/>
                <a:ea typeface="ＭＳ Ｐゴシック" charset="-128"/>
              </a:rPr>
              <a:t>líneas</a:t>
            </a:r>
            <a:r>
              <a:rPr lang="ca-ES" sz="1600" dirty="0">
                <a:latin typeface="Arial" pitchFamily="34" charset="0"/>
                <a:ea typeface="ＭＳ Ｐゴシック" charset="-128"/>
              </a:rPr>
              <a:t> de </a:t>
            </a:r>
            <a:r>
              <a:rPr lang="ca-ES" sz="1600" dirty="0" err="1">
                <a:latin typeface="Arial" pitchFamily="34" charset="0"/>
                <a:ea typeface="ＭＳ Ｐゴシック" charset="-128"/>
              </a:rPr>
              <a:t>dirección</a:t>
            </a:r>
            <a:r>
              <a:rPr lang="ca-ES" sz="1600" dirty="0">
                <a:latin typeface="Arial" pitchFamily="34" charset="0"/>
                <a:ea typeface="ＭＳ Ｐゴシック" charset="-128"/>
              </a:rPr>
              <a:t> </a:t>
            </a:r>
            <a:r>
              <a:rPr lang="ca-ES" sz="1600" dirty="0" err="1">
                <a:latin typeface="Arial" pitchFamily="34" charset="0"/>
                <a:ea typeface="ＭＳ Ｐゴシック" charset="-128"/>
              </a:rPr>
              <a:t>están</a:t>
            </a:r>
            <a:r>
              <a:rPr lang="ca-ES" sz="1600" dirty="0">
                <a:latin typeface="Arial" pitchFamily="34" charset="0"/>
                <a:ea typeface="ＭＳ Ｐゴシック" charset="-128"/>
              </a:rPr>
              <a:t> </a:t>
            </a:r>
            <a:r>
              <a:rPr lang="ca-ES" sz="1600" dirty="0" err="1">
                <a:latin typeface="Arial" pitchFamily="34" charset="0"/>
                <a:ea typeface="ＭＳ Ｐゴシック" charset="-128"/>
              </a:rPr>
              <a:t>multiplexadas</a:t>
            </a:r>
            <a:endParaRPr lang="ca-ES" sz="1600" dirty="0">
              <a:latin typeface="Arial" pitchFamily="34" charset="0"/>
              <a:ea typeface="ＭＳ Ｐゴシック" charset="-128"/>
            </a:endParaRPr>
          </a:p>
          <a:p>
            <a:pPr lvl="1"/>
            <a:r>
              <a:rPr lang="ca-ES" sz="1600" dirty="0">
                <a:latin typeface="Arial" pitchFamily="34" charset="0"/>
                <a:ea typeface="ＭＳ Ｐゴシック" charset="-128"/>
              </a:rPr>
              <a:t>Una entrada CS* </a:t>
            </a:r>
            <a:r>
              <a:rPr lang="ca-ES" sz="1600" dirty="0" err="1">
                <a:latin typeface="Arial" pitchFamily="34" charset="0"/>
                <a:ea typeface="ＭＳ Ｐゴシック" charset="-128"/>
              </a:rPr>
              <a:t>actúa</a:t>
            </a:r>
            <a:r>
              <a:rPr lang="ca-ES" sz="1600" dirty="0">
                <a:latin typeface="Arial" pitchFamily="34" charset="0"/>
                <a:ea typeface="ＭＳ Ｐゴシック" charset="-128"/>
              </a:rPr>
              <a:t> de </a:t>
            </a:r>
            <a:r>
              <a:rPr lang="ca-ES" sz="1600" dirty="0" err="1">
                <a:latin typeface="Arial" pitchFamily="34" charset="0"/>
                <a:ea typeface="ＭＳ Ｐゴシック" charset="-128"/>
              </a:rPr>
              <a:t>línea</a:t>
            </a:r>
            <a:r>
              <a:rPr lang="ca-ES" sz="1600" dirty="0">
                <a:latin typeface="Arial" pitchFamily="34" charset="0"/>
                <a:ea typeface="ＭＳ Ｐゴシック" charset="-128"/>
              </a:rPr>
              <a:t> de </a:t>
            </a:r>
            <a:r>
              <a:rPr lang="ca-ES" sz="1600" dirty="0" err="1">
                <a:latin typeface="Arial" pitchFamily="34" charset="0"/>
                <a:ea typeface="ＭＳ Ｐゴシック" charset="-128"/>
              </a:rPr>
              <a:t>selección</a:t>
            </a:r>
            <a:r>
              <a:rPr lang="ca-ES" sz="1600" dirty="0">
                <a:latin typeface="Arial" pitchFamily="34" charset="0"/>
                <a:ea typeface="ＭＳ Ｐゴシック" charset="-128"/>
              </a:rPr>
              <a:t> de </a:t>
            </a:r>
            <a:r>
              <a:rPr lang="ca-ES" sz="1600" dirty="0" err="1">
                <a:latin typeface="Arial" pitchFamily="34" charset="0"/>
                <a:ea typeface="ＭＳ Ｐゴシック" charset="-128"/>
              </a:rPr>
              <a:t>módulo</a:t>
            </a:r>
            <a:endParaRPr lang="ca-ES" sz="1600" dirty="0">
              <a:latin typeface="Arial" pitchFamily="34" charset="0"/>
              <a:ea typeface="ＭＳ Ｐゴシック" charset="-128"/>
            </a:endParaRPr>
          </a:p>
          <a:p>
            <a:pPr lvl="1"/>
            <a:r>
              <a:rPr lang="ca-ES" sz="1600" dirty="0">
                <a:latin typeface="Arial" pitchFamily="34" charset="0"/>
                <a:ea typeface="ＭＳ Ｐゴシック" charset="-128"/>
              </a:rPr>
              <a:t>Las </a:t>
            </a:r>
            <a:r>
              <a:rPr lang="ca-ES" sz="1600" dirty="0" err="1">
                <a:latin typeface="Arial" pitchFamily="34" charset="0"/>
                <a:ea typeface="ＭＳ Ｐゴシック" charset="-128"/>
              </a:rPr>
              <a:t>entradas</a:t>
            </a:r>
            <a:r>
              <a:rPr lang="ca-ES" sz="1600" dirty="0">
                <a:latin typeface="Arial" pitchFamily="34" charset="0"/>
                <a:ea typeface="ＭＳ Ｐゴシック" charset="-128"/>
              </a:rPr>
              <a:t> DMQ*(CAS) son las </a:t>
            </a:r>
            <a:r>
              <a:rPr lang="ca-ES" sz="1600" dirty="0" err="1">
                <a:latin typeface="Arial" pitchFamily="34" charset="0"/>
                <a:ea typeface="ＭＳ Ｐゴシック" charset="-128"/>
              </a:rPr>
              <a:t>líneas</a:t>
            </a:r>
            <a:r>
              <a:rPr lang="ca-ES" sz="1600" dirty="0">
                <a:latin typeface="Arial" pitchFamily="34" charset="0"/>
                <a:ea typeface="ＭＳ Ｐゴシック" charset="-128"/>
              </a:rPr>
              <a:t> de </a:t>
            </a:r>
            <a:r>
              <a:rPr lang="ca-ES" sz="1600" dirty="0" err="1">
                <a:latin typeface="Arial" pitchFamily="34" charset="0"/>
                <a:ea typeface="ＭＳ Ｐゴシック" charset="-128"/>
              </a:rPr>
              <a:t>habilitación</a:t>
            </a:r>
            <a:r>
              <a:rPr lang="ca-ES" sz="1600" dirty="0">
                <a:latin typeface="Arial" pitchFamily="34" charset="0"/>
                <a:ea typeface="ＭＳ Ｐゴシック" charset="-128"/>
              </a:rPr>
              <a:t> de byte (</a:t>
            </a:r>
            <a:r>
              <a:rPr lang="ca-ES" sz="1600" dirty="0" err="1">
                <a:latin typeface="Arial" pitchFamily="34" charset="0"/>
                <a:ea typeface="ＭＳ Ｐゴシック" charset="-128"/>
              </a:rPr>
              <a:t>sólo</a:t>
            </a:r>
            <a:r>
              <a:rPr lang="ca-ES" sz="1600" dirty="0">
                <a:latin typeface="Arial" pitchFamily="34" charset="0"/>
                <a:ea typeface="ＭＳ Ｐゴシック" charset="-128"/>
              </a:rPr>
              <a:t>  para la </a:t>
            </a:r>
            <a:r>
              <a:rPr lang="ca-ES" sz="1600" dirty="0" err="1">
                <a:latin typeface="Arial" pitchFamily="34" charset="0"/>
                <a:ea typeface="ＭＳ Ｐゴシック" charset="-128"/>
              </a:rPr>
              <a:t>escritura</a:t>
            </a:r>
            <a:r>
              <a:rPr lang="ca-ES" sz="1600" dirty="0">
                <a:latin typeface="Arial" pitchFamily="34" charset="0"/>
                <a:ea typeface="ＭＳ Ｐゴシック" charset="-128"/>
              </a:rPr>
              <a:t>)</a:t>
            </a:r>
          </a:p>
          <a:p>
            <a:pPr marL="400050"/>
            <a:r>
              <a:rPr lang="ca-ES" sz="2400" dirty="0">
                <a:ea typeface="ＭＳ Ｐゴシック" charset="-128"/>
              </a:rPr>
              <a:t>Los </a:t>
            </a:r>
            <a:r>
              <a:rPr lang="ca-ES" sz="2400" dirty="0" err="1">
                <a:ea typeface="ＭＳ Ｐゴシック" charset="-128"/>
              </a:rPr>
              <a:t>módulos</a:t>
            </a:r>
            <a:r>
              <a:rPr lang="ca-ES" sz="2400" dirty="0">
                <a:ea typeface="ＭＳ Ｐゴシック" charset="-128"/>
              </a:rPr>
              <a:t> se </a:t>
            </a:r>
            <a:r>
              <a:rPr lang="ca-ES" sz="2400" dirty="0" err="1">
                <a:ea typeface="ＭＳ Ｐゴシック" charset="-128"/>
              </a:rPr>
              <a:t>insertan</a:t>
            </a:r>
            <a:r>
              <a:rPr lang="ca-ES" sz="2400" dirty="0">
                <a:ea typeface="ＭＳ Ｐゴシック" charset="-128"/>
              </a:rPr>
              <a:t> y </a:t>
            </a:r>
            <a:r>
              <a:rPr lang="ca-ES" sz="2400" dirty="0" err="1">
                <a:ea typeface="ＭＳ Ｐゴシック" charset="-128"/>
              </a:rPr>
              <a:t>extraen</a:t>
            </a:r>
            <a:r>
              <a:rPr lang="ca-ES" sz="2400" dirty="0">
                <a:ea typeface="ＭＳ Ｐゴシック" charset="-128"/>
              </a:rPr>
              <a:t> </a:t>
            </a:r>
            <a:r>
              <a:rPr lang="ca-ES" sz="2400" dirty="0" err="1">
                <a:ea typeface="ＭＳ Ｐゴシック" charset="-128"/>
              </a:rPr>
              <a:t>fácilmente</a:t>
            </a:r>
            <a:r>
              <a:rPr lang="ca-ES" sz="2400" dirty="0">
                <a:ea typeface="ＭＳ Ｐゴシック" charset="-128"/>
              </a:rPr>
              <a:t> en las </a:t>
            </a:r>
            <a:r>
              <a:rPr lang="ca-ES" sz="2400" dirty="0" err="1">
                <a:ea typeface="ＭＳ Ｐゴシック" charset="-128"/>
              </a:rPr>
              <a:t>ranuras</a:t>
            </a:r>
            <a:r>
              <a:rPr lang="ca-ES" sz="2400" dirty="0">
                <a:ea typeface="ＭＳ Ｐゴシック" charset="-128"/>
              </a:rPr>
              <a:t> (</a:t>
            </a:r>
            <a:r>
              <a:rPr lang="ca-ES" sz="2400" i="1" dirty="0" err="1">
                <a:ea typeface="ＭＳ Ｐゴシック" charset="-128"/>
              </a:rPr>
              <a:t>slots</a:t>
            </a:r>
            <a:r>
              <a:rPr lang="ca-ES" sz="2400" dirty="0">
                <a:ea typeface="ＭＳ Ｐゴシック" charset="-128"/>
              </a:rPr>
              <a:t>) de la placa base</a:t>
            </a:r>
          </a:p>
          <a:p>
            <a:pPr lvl="1"/>
            <a:r>
              <a:rPr lang="ca-ES" sz="1800" dirty="0" err="1">
                <a:latin typeface="Arial" pitchFamily="34" charset="0"/>
                <a:ea typeface="ＭＳ Ｐゴシック" charset="-128"/>
              </a:rPr>
              <a:t>Opcionalmente</a:t>
            </a:r>
            <a:r>
              <a:rPr lang="ca-ES" sz="1800" dirty="0">
                <a:latin typeface="Arial" pitchFamily="34" charset="0"/>
                <a:ea typeface="ＭＳ Ｐゴシック" charset="-128"/>
              </a:rPr>
              <a:t>: con </a:t>
            </a:r>
            <a:r>
              <a:rPr lang="ca-ES" sz="1800" dirty="0">
                <a:solidFill>
                  <a:srgbClr val="000099"/>
                </a:solidFill>
                <a:latin typeface="Arial" pitchFamily="34" charset="0"/>
                <a:ea typeface="ＭＳ Ｐゴシック" charset="-128"/>
              </a:rPr>
              <a:t>bit de </a:t>
            </a:r>
            <a:r>
              <a:rPr lang="ca-ES" sz="1800" dirty="0" err="1">
                <a:solidFill>
                  <a:srgbClr val="000099"/>
                </a:solidFill>
                <a:latin typeface="Arial" pitchFamily="34" charset="0"/>
                <a:ea typeface="ＭＳ Ｐゴシック" charset="-128"/>
              </a:rPr>
              <a:t>paridad</a:t>
            </a:r>
            <a:r>
              <a:rPr lang="ca-ES" sz="1800" dirty="0">
                <a:solidFill>
                  <a:srgbClr val="000099"/>
                </a:solidFill>
                <a:latin typeface="Arial" pitchFamily="34" charset="0"/>
                <a:ea typeface="ＭＳ Ｐゴシック" charset="-128"/>
              </a:rPr>
              <a:t> </a:t>
            </a:r>
            <a:r>
              <a:rPr lang="ca-ES" sz="1800" dirty="0">
                <a:latin typeface="Arial" pitchFamily="34" charset="0"/>
                <a:ea typeface="ＭＳ Ｐゴシック" charset="-128"/>
              </a:rPr>
              <a:t>(a cada 8 bits se </a:t>
            </a:r>
            <a:r>
              <a:rPr lang="ca-ES" sz="1800" dirty="0" err="1">
                <a:latin typeface="Arial" pitchFamily="34" charset="0"/>
                <a:ea typeface="ＭＳ Ｐゴシック" charset="-128"/>
              </a:rPr>
              <a:t>añade</a:t>
            </a:r>
            <a:r>
              <a:rPr lang="ca-ES" sz="1800" dirty="0">
                <a:latin typeface="Arial" pitchFamily="34" charset="0"/>
                <a:ea typeface="ＭＳ Ｐゴシック" charset="-128"/>
              </a:rPr>
              <a:t> un bit </a:t>
            </a:r>
            <a:r>
              <a:rPr lang="ca-ES" sz="1800" dirty="0" err="1">
                <a:latin typeface="Arial" pitchFamily="34" charset="0"/>
                <a:ea typeface="ＭＳ Ｐゴシック" charset="-128"/>
              </a:rPr>
              <a:t>redundante</a:t>
            </a:r>
            <a:r>
              <a:rPr lang="ca-ES" sz="1800" dirty="0">
                <a:latin typeface="Arial" pitchFamily="34" charset="0"/>
                <a:ea typeface="ＭＳ Ｐゴシック" charset="-128"/>
              </a:rPr>
              <a:t> para detectar </a:t>
            </a:r>
            <a:r>
              <a:rPr lang="ca-ES" sz="1800" dirty="0" err="1">
                <a:latin typeface="Arial" pitchFamily="34" charset="0"/>
                <a:ea typeface="ＭＳ Ｐゴシック" charset="-128"/>
              </a:rPr>
              <a:t>errores</a:t>
            </a:r>
            <a:r>
              <a:rPr lang="ca-ES" sz="1800" dirty="0">
                <a:latin typeface="Arial" pitchFamily="34" charset="0"/>
                <a:ea typeface="ＭＳ Ｐゴシック" charset="-128"/>
              </a:rPr>
              <a:t>)</a:t>
            </a:r>
          </a:p>
          <a:p>
            <a:pPr marL="400050">
              <a:buFont typeface="Symbol" pitchFamily="18" charset="2"/>
              <a:buNone/>
            </a:pPr>
            <a:endParaRPr lang="ca-ES" sz="2400" dirty="0">
              <a:ea typeface="ＭＳ Ｐゴシック" charset="-128"/>
            </a:endParaRPr>
          </a:p>
          <a:p>
            <a:pPr marL="400050"/>
            <a:endParaRPr lang="ca-ES" sz="2400" dirty="0">
              <a:ea typeface="ＭＳ Ｐゴシック" charset="-128"/>
            </a:endParaRPr>
          </a:p>
        </p:txBody>
      </p:sp>
      <p:pic>
        <p:nvPicPr>
          <p:cNvPr id="63493" name="Imagen 2" descr="dimm-pc133-168pin.jpg"/>
          <p:cNvPicPr>
            <a:picLocks noChangeAspect="1"/>
          </p:cNvPicPr>
          <p:nvPr/>
        </p:nvPicPr>
        <p:blipFill>
          <a:blip r:embed="rId4" cstate="print"/>
          <a:srcRect/>
          <a:stretch>
            <a:fillRect/>
          </a:stretch>
        </p:blipFill>
        <p:spPr bwMode="auto">
          <a:xfrm>
            <a:off x="2897643" y="5918831"/>
            <a:ext cx="2307722" cy="767961"/>
          </a:xfrm>
          <a:prstGeom prst="rect">
            <a:avLst/>
          </a:prstGeom>
          <a:noFill/>
          <a:ln w="9525">
            <a:noFill/>
            <a:miter lim="800000"/>
            <a:headEnd/>
            <a:tailEnd/>
          </a:ln>
        </p:spPr>
      </p:pic>
      <p:grpSp>
        <p:nvGrpSpPr>
          <p:cNvPr id="2" name="Agrupar 9"/>
          <p:cNvGrpSpPr>
            <a:grpSpLocks/>
          </p:cNvGrpSpPr>
          <p:nvPr/>
        </p:nvGrpSpPr>
        <p:grpSpPr bwMode="auto">
          <a:xfrm>
            <a:off x="5651500" y="1412875"/>
            <a:ext cx="3009900" cy="1871663"/>
            <a:chOff x="914400" y="3733800"/>
            <a:chExt cx="3810000" cy="2286000"/>
          </a:xfrm>
        </p:grpSpPr>
        <p:sp>
          <p:nvSpPr>
            <p:cNvPr id="63495" name="Rectangle 5"/>
            <p:cNvSpPr>
              <a:spLocks noChangeArrowheads="1"/>
            </p:cNvSpPr>
            <p:nvPr/>
          </p:nvSpPr>
          <p:spPr bwMode="auto">
            <a:xfrm>
              <a:off x="1371600" y="4114800"/>
              <a:ext cx="3352800" cy="1371600"/>
            </a:xfrm>
            <a:prstGeom prst="rect">
              <a:avLst/>
            </a:prstGeom>
            <a:noFill/>
            <a:ln w="28575">
              <a:solidFill>
                <a:schemeClr val="tx1"/>
              </a:solidFill>
              <a:miter lim="800000"/>
              <a:headEnd/>
              <a:tailEnd/>
            </a:ln>
          </p:spPr>
          <p:txBody>
            <a:bodyPr wrap="none" anchor="ctr"/>
            <a:lstStyle/>
            <a:p>
              <a:pPr eaLnBrk="0" hangingPunct="0">
                <a:spcBef>
                  <a:spcPct val="20000"/>
                </a:spcBef>
                <a:buClr>
                  <a:schemeClr val="tx1"/>
                </a:buClr>
                <a:buFont typeface="Symbol" pitchFamily="18" charset="2"/>
                <a:buNone/>
              </a:pPr>
              <a:endParaRPr lang="es-ES" sz="1400"/>
            </a:p>
          </p:txBody>
        </p:sp>
        <p:grpSp>
          <p:nvGrpSpPr>
            <p:cNvPr id="3" name="Group 6"/>
            <p:cNvGrpSpPr>
              <a:grpSpLocks/>
            </p:cNvGrpSpPr>
            <p:nvPr/>
          </p:nvGrpSpPr>
          <p:grpSpPr bwMode="auto">
            <a:xfrm>
              <a:off x="1430338" y="4475166"/>
              <a:ext cx="596900" cy="376238"/>
              <a:chOff x="1614" y="1207"/>
              <a:chExt cx="376" cy="237"/>
            </a:xfrm>
          </p:grpSpPr>
          <p:sp>
            <p:nvSpPr>
              <p:cNvPr id="63526" name="Text Box 7"/>
              <p:cNvSpPr txBox="1">
                <a:spLocks noChangeArrowheads="1"/>
              </p:cNvSpPr>
              <p:nvPr/>
            </p:nvSpPr>
            <p:spPr bwMode="auto">
              <a:xfrm>
                <a:off x="1614" y="1207"/>
                <a:ext cx="376" cy="237"/>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400">
                    <a:solidFill>
                      <a:schemeClr val="tx1"/>
                    </a:solidFill>
                    <a:latin typeface="Arial Narrow" pitchFamily="34" charset="0"/>
                  </a:rPr>
                  <a:t>CS </a:t>
                </a:r>
                <a:r>
                  <a:rPr lang="es-ES_tradnl" sz="1400" b="1">
                    <a:solidFill>
                      <a:schemeClr val="tx1"/>
                    </a:solidFill>
                    <a:latin typeface="Arial Narrow" pitchFamily="34" charset="0"/>
                  </a:rPr>
                  <a:t> </a:t>
                </a:r>
                <a:endParaRPr lang="es-ES_tradnl" sz="1400">
                  <a:solidFill>
                    <a:schemeClr val="tx1"/>
                  </a:solidFill>
                </a:endParaRPr>
              </a:p>
            </p:txBody>
          </p:sp>
          <p:sp>
            <p:nvSpPr>
              <p:cNvPr id="63527" name="Line 8"/>
              <p:cNvSpPr>
                <a:spLocks noChangeShapeType="1"/>
              </p:cNvSpPr>
              <p:nvPr/>
            </p:nvSpPr>
            <p:spPr bwMode="auto">
              <a:xfrm>
                <a:off x="1654" y="1248"/>
                <a:ext cx="240" cy="0"/>
              </a:xfrm>
              <a:prstGeom prst="line">
                <a:avLst/>
              </a:prstGeom>
              <a:noFill/>
              <a:ln w="19050">
                <a:solidFill>
                  <a:schemeClr val="tx1"/>
                </a:solidFill>
                <a:round/>
                <a:headEnd/>
                <a:tailEnd/>
              </a:ln>
            </p:spPr>
            <p:txBody>
              <a:bodyPr wrap="none" anchor="ctr"/>
              <a:lstStyle/>
              <a:p>
                <a:endParaRPr lang="es-ES" sz="1400"/>
              </a:p>
            </p:txBody>
          </p:sp>
        </p:grpSp>
        <p:sp>
          <p:nvSpPr>
            <p:cNvPr id="63497" name="Text Box 9"/>
            <p:cNvSpPr txBox="1">
              <a:spLocks noChangeArrowheads="1"/>
            </p:cNvSpPr>
            <p:nvPr/>
          </p:nvSpPr>
          <p:spPr bwMode="auto">
            <a:xfrm>
              <a:off x="1356148" y="5081872"/>
              <a:ext cx="856692" cy="323283"/>
            </a:xfrm>
            <a:prstGeom prst="rect">
              <a:avLst/>
            </a:prstGeom>
            <a:noFill/>
            <a:ln w="28575">
              <a:noFill/>
              <a:miter lim="800000"/>
              <a:headEnd/>
              <a:tailEnd/>
            </a:ln>
          </p:spPr>
          <p:txBody>
            <a:bodyPr wrap="none" anchor="ctr">
              <a:spAutoFit/>
            </a:bodyPr>
            <a:lstStyle/>
            <a:p>
              <a:pPr eaLnBrk="0" hangingPunct="0">
                <a:lnSpc>
                  <a:spcPct val="80000"/>
                </a:lnSpc>
                <a:spcBef>
                  <a:spcPct val="20000"/>
                </a:spcBef>
                <a:buClr>
                  <a:schemeClr val="tx1"/>
                </a:buClr>
                <a:buFont typeface="Symbol" pitchFamily="18" charset="2"/>
                <a:buNone/>
              </a:pPr>
              <a:r>
                <a:rPr lang="es-ES_tradnl" sz="1400" b="1">
                  <a:solidFill>
                    <a:schemeClr val="tx1"/>
                  </a:solidFill>
                  <a:latin typeface="Arial Narrow" pitchFamily="34" charset="0"/>
                </a:rPr>
                <a:t>Direcc.</a:t>
              </a:r>
              <a:endParaRPr lang="es-ES_tradnl" sz="1400">
                <a:solidFill>
                  <a:schemeClr val="tx1"/>
                </a:solidFill>
                <a:latin typeface="Arial Narrow" pitchFamily="34" charset="0"/>
              </a:endParaRPr>
            </a:p>
          </p:txBody>
        </p:sp>
        <p:sp>
          <p:nvSpPr>
            <p:cNvPr id="63498" name="Line 10"/>
            <p:cNvSpPr>
              <a:spLocks noChangeShapeType="1"/>
            </p:cNvSpPr>
            <p:nvPr/>
          </p:nvSpPr>
          <p:spPr bwMode="auto">
            <a:xfrm>
              <a:off x="3048000" y="5486400"/>
              <a:ext cx="0" cy="533400"/>
            </a:xfrm>
            <a:prstGeom prst="line">
              <a:avLst/>
            </a:prstGeom>
            <a:noFill/>
            <a:ln w="38100">
              <a:solidFill>
                <a:srgbClr val="FF9900"/>
              </a:solidFill>
              <a:round/>
              <a:headEnd type="triangle" w="med" len="med"/>
              <a:tailEnd type="triangle" w="med" len="med"/>
            </a:ln>
          </p:spPr>
          <p:txBody>
            <a:bodyPr wrap="none" anchor="ctr"/>
            <a:lstStyle/>
            <a:p>
              <a:endParaRPr lang="es-ES" sz="1400"/>
            </a:p>
          </p:txBody>
        </p:sp>
        <p:sp>
          <p:nvSpPr>
            <p:cNvPr id="63499" name="Line 11"/>
            <p:cNvSpPr>
              <a:spLocks noChangeShapeType="1"/>
            </p:cNvSpPr>
            <p:nvPr/>
          </p:nvSpPr>
          <p:spPr bwMode="auto">
            <a:xfrm>
              <a:off x="914400" y="4616450"/>
              <a:ext cx="457200" cy="0"/>
            </a:xfrm>
            <a:prstGeom prst="line">
              <a:avLst/>
            </a:prstGeom>
            <a:noFill/>
            <a:ln w="28575">
              <a:solidFill>
                <a:srgbClr val="7030A0"/>
              </a:solidFill>
              <a:round/>
              <a:headEnd/>
              <a:tailEnd type="triangle" w="med" len="med"/>
            </a:ln>
          </p:spPr>
          <p:txBody>
            <a:bodyPr wrap="none" anchor="ctr"/>
            <a:lstStyle/>
            <a:p>
              <a:endParaRPr lang="es-ES" sz="1400"/>
            </a:p>
          </p:txBody>
        </p:sp>
        <p:sp>
          <p:nvSpPr>
            <p:cNvPr id="63500" name="Line 12"/>
            <p:cNvSpPr>
              <a:spLocks noChangeShapeType="1"/>
            </p:cNvSpPr>
            <p:nvPr/>
          </p:nvSpPr>
          <p:spPr bwMode="auto">
            <a:xfrm>
              <a:off x="914400" y="5238750"/>
              <a:ext cx="457200" cy="0"/>
            </a:xfrm>
            <a:prstGeom prst="line">
              <a:avLst/>
            </a:prstGeom>
            <a:noFill/>
            <a:ln w="38100">
              <a:solidFill>
                <a:srgbClr val="0070C0"/>
              </a:solidFill>
              <a:round/>
              <a:headEnd/>
              <a:tailEnd type="triangle" w="med" len="med"/>
            </a:ln>
          </p:spPr>
          <p:txBody>
            <a:bodyPr wrap="none" anchor="ctr"/>
            <a:lstStyle/>
            <a:p>
              <a:endParaRPr lang="es-ES" sz="1400"/>
            </a:p>
          </p:txBody>
        </p:sp>
        <p:sp>
          <p:nvSpPr>
            <p:cNvPr id="63501" name="Line 14"/>
            <p:cNvSpPr>
              <a:spLocks noChangeShapeType="1"/>
            </p:cNvSpPr>
            <p:nvPr/>
          </p:nvSpPr>
          <p:spPr bwMode="auto">
            <a:xfrm>
              <a:off x="2438400" y="3733800"/>
              <a:ext cx="0" cy="381000"/>
            </a:xfrm>
            <a:prstGeom prst="line">
              <a:avLst/>
            </a:prstGeom>
            <a:noFill/>
            <a:ln w="28575">
              <a:solidFill>
                <a:srgbClr val="7030A0"/>
              </a:solidFill>
              <a:round/>
              <a:headEnd/>
              <a:tailEnd type="triangle" w="med" len="med"/>
            </a:ln>
          </p:spPr>
          <p:txBody>
            <a:bodyPr wrap="none" anchor="ctr"/>
            <a:lstStyle/>
            <a:p>
              <a:endParaRPr lang="es-ES" sz="1400"/>
            </a:p>
          </p:txBody>
        </p:sp>
        <p:sp>
          <p:nvSpPr>
            <p:cNvPr id="63502" name="Text Box 15"/>
            <p:cNvSpPr txBox="1">
              <a:spLocks noChangeArrowheads="1"/>
            </p:cNvSpPr>
            <p:nvPr/>
          </p:nvSpPr>
          <p:spPr bwMode="auto">
            <a:xfrm>
              <a:off x="3042476" y="4586195"/>
              <a:ext cx="734947" cy="338319"/>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200" b="1">
                  <a:solidFill>
                    <a:schemeClr val="tx1"/>
                  </a:solidFill>
                </a:rPr>
                <a:t>m×32</a:t>
              </a:r>
            </a:p>
          </p:txBody>
        </p:sp>
        <p:sp>
          <p:nvSpPr>
            <p:cNvPr id="63503" name="Line 16"/>
            <p:cNvSpPr>
              <a:spLocks noChangeShapeType="1"/>
            </p:cNvSpPr>
            <p:nvPr/>
          </p:nvSpPr>
          <p:spPr bwMode="auto">
            <a:xfrm flipH="1">
              <a:off x="1066800" y="5105400"/>
              <a:ext cx="76200" cy="228600"/>
            </a:xfrm>
            <a:prstGeom prst="line">
              <a:avLst/>
            </a:prstGeom>
            <a:noFill/>
            <a:ln w="28575">
              <a:solidFill>
                <a:srgbClr val="0070C0"/>
              </a:solidFill>
              <a:round/>
              <a:headEnd/>
              <a:tailEnd/>
            </a:ln>
          </p:spPr>
          <p:txBody>
            <a:bodyPr wrap="none" anchor="ctr"/>
            <a:lstStyle/>
            <a:p>
              <a:endParaRPr lang="es-ES" sz="1400"/>
            </a:p>
          </p:txBody>
        </p:sp>
        <p:sp>
          <p:nvSpPr>
            <p:cNvPr id="63504" name="Line 17"/>
            <p:cNvSpPr>
              <a:spLocks noChangeShapeType="1"/>
            </p:cNvSpPr>
            <p:nvPr/>
          </p:nvSpPr>
          <p:spPr bwMode="auto">
            <a:xfrm flipV="1">
              <a:off x="2895600" y="5715000"/>
              <a:ext cx="304800" cy="76200"/>
            </a:xfrm>
            <a:prstGeom prst="line">
              <a:avLst/>
            </a:prstGeom>
            <a:noFill/>
            <a:ln w="28575">
              <a:solidFill>
                <a:srgbClr val="FF9900"/>
              </a:solidFill>
              <a:round/>
              <a:headEnd/>
              <a:tailEnd/>
            </a:ln>
          </p:spPr>
          <p:txBody>
            <a:bodyPr wrap="none" anchor="ctr"/>
            <a:lstStyle/>
            <a:p>
              <a:endParaRPr lang="es-ES" sz="1400"/>
            </a:p>
          </p:txBody>
        </p:sp>
        <p:sp>
          <p:nvSpPr>
            <p:cNvPr id="63505" name="Text Box 18"/>
            <p:cNvSpPr txBox="1">
              <a:spLocks noChangeArrowheads="1"/>
            </p:cNvSpPr>
            <p:nvPr/>
          </p:nvSpPr>
          <p:spPr bwMode="auto">
            <a:xfrm>
              <a:off x="2631027" y="5158071"/>
              <a:ext cx="751178" cy="323283"/>
            </a:xfrm>
            <a:prstGeom prst="rect">
              <a:avLst/>
            </a:prstGeom>
            <a:noFill/>
            <a:ln w="28575">
              <a:noFill/>
              <a:miter lim="800000"/>
              <a:headEnd/>
              <a:tailEnd/>
            </a:ln>
          </p:spPr>
          <p:txBody>
            <a:bodyPr wrap="none" anchor="ctr">
              <a:spAutoFit/>
            </a:bodyPr>
            <a:lstStyle/>
            <a:p>
              <a:pPr eaLnBrk="0" hangingPunct="0">
                <a:lnSpc>
                  <a:spcPct val="80000"/>
                </a:lnSpc>
                <a:spcBef>
                  <a:spcPct val="20000"/>
                </a:spcBef>
                <a:buClr>
                  <a:schemeClr val="tx1"/>
                </a:buClr>
                <a:buFont typeface="Symbol" pitchFamily="18" charset="2"/>
                <a:buNone/>
              </a:pPr>
              <a:r>
                <a:rPr lang="es-ES_tradnl" sz="1400" b="1" dirty="0">
                  <a:solidFill>
                    <a:schemeClr val="tx1"/>
                  </a:solidFill>
                  <a:latin typeface="Arial Narrow" pitchFamily="34" charset="0"/>
                </a:rPr>
                <a:t>Datos</a:t>
              </a:r>
              <a:endParaRPr lang="es-ES_tradnl" sz="1400" dirty="0">
                <a:solidFill>
                  <a:schemeClr val="tx1"/>
                </a:solidFill>
                <a:latin typeface="Arial Narrow" pitchFamily="34" charset="0"/>
              </a:endParaRPr>
            </a:p>
          </p:txBody>
        </p:sp>
        <p:sp>
          <p:nvSpPr>
            <p:cNvPr id="63506" name="Text Box 19"/>
            <p:cNvSpPr txBox="1">
              <a:spLocks noChangeArrowheads="1"/>
            </p:cNvSpPr>
            <p:nvPr/>
          </p:nvSpPr>
          <p:spPr bwMode="auto">
            <a:xfrm>
              <a:off x="3191080" y="5573081"/>
              <a:ext cx="485365" cy="375911"/>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400">
                  <a:solidFill>
                    <a:schemeClr val="tx1"/>
                  </a:solidFill>
                </a:rPr>
                <a:t>32</a:t>
              </a:r>
            </a:p>
          </p:txBody>
        </p:sp>
        <p:sp>
          <p:nvSpPr>
            <p:cNvPr id="63507" name="Line 32"/>
            <p:cNvSpPr>
              <a:spLocks noChangeShapeType="1"/>
            </p:cNvSpPr>
            <p:nvPr/>
          </p:nvSpPr>
          <p:spPr bwMode="auto">
            <a:xfrm>
              <a:off x="3048000" y="3733800"/>
              <a:ext cx="0" cy="381000"/>
            </a:xfrm>
            <a:prstGeom prst="line">
              <a:avLst/>
            </a:prstGeom>
            <a:noFill/>
            <a:ln w="28575">
              <a:solidFill>
                <a:srgbClr val="7030A0"/>
              </a:solidFill>
              <a:round/>
              <a:headEnd/>
              <a:tailEnd type="triangle" w="med" len="med"/>
            </a:ln>
          </p:spPr>
          <p:txBody>
            <a:bodyPr wrap="none" anchor="ctr"/>
            <a:lstStyle/>
            <a:p>
              <a:endParaRPr lang="es-ES" sz="1400"/>
            </a:p>
          </p:txBody>
        </p:sp>
        <p:sp>
          <p:nvSpPr>
            <p:cNvPr id="63508" name="Line 33"/>
            <p:cNvSpPr>
              <a:spLocks noChangeShapeType="1"/>
            </p:cNvSpPr>
            <p:nvPr/>
          </p:nvSpPr>
          <p:spPr bwMode="auto">
            <a:xfrm>
              <a:off x="3657600" y="3733800"/>
              <a:ext cx="0" cy="381000"/>
            </a:xfrm>
            <a:prstGeom prst="line">
              <a:avLst/>
            </a:prstGeom>
            <a:noFill/>
            <a:ln w="28575">
              <a:solidFill>
                <a:srgbClr val="7030A0"/>
              </a:solidFill>
              <a:round/>
              <a:headEnd/>
              <a:tailEnd type="triangle" w="med" len="med"/>
            </a:ln>
          </p:spPr>
          <p:txBody>
            <a:bodyPr wrap="none" anchor="ctr"/>
            <a:lstStyle/>
            <a:p>
              <a:endParaRPr lang="es-ES" sz="1400"/>
            </a:p>
          </p:txBody>
        </p:sp>
        <p:sp>
          <p:nvSpPr>
            <p:cNvPr id="63509" name="Line 34"/>
            <p:cNvSpPr>
              <a:spLocks noChangeShapeType="1"/>
            </p:cNvSpPr>
            <p:nvPr/>
          </p:nvSpPr>
          <p:spPr bwMode="auto">
            <a:xfrm>
              <a:off x="4267200" y="3733800"/>
              <a:ext cx="0" cy="381000"/>
            </a:xfrm>
            <a:prstGeom prst="line">
              <a:avLst/>
            </a:prstGeom>
            <a:noFill/>
            <a:ln w="28575">
              <a:solidFill>
                <a:srgbClr val="7030A0"/>
              </a:solidFill>
              <a:round/>
              <a:headEnd/>
              <a:tailEnd type="triangle" w="med" len="med"/>
            </a:ln>
          </p:spPr>
          <p:txBody>
            <a:bodyPr wrap="none" anchor="ctr"/>
            <a:lstStyle/>
            <a:p>
              <a:endParaRPr lang="es-ES" sz="1400"/>
            </a:p>
          </p:txBody>
        </p:sp>
        <p:sp>
          <p:nvSpPr>
            <p:cNvPr id="63510" name="Line 43"/>
            <p:cNvSpPr>
              <a:spLocks noChangeShapeType="1"/>
            </p:cNvSpPr>
            <p:nvPr/>
          </p:nvSpPr>
          <p:spPr bwMode="auto">
            <a:xfrm>
              <a:off x="914400" y="4921250"/>
              <a:ext cx="457200" cy="0"/>
            </a:xfrm>
            <a:prstGeom prst="line">
              <a:avLst/>
            </a:prstGeom>
            <a:noFill/>
            <a:ln w="28575">
              <a:solidFill>
                <a:srgbClr val="7030A0"/>
              </a:solidFill>
              <a:round/>
              <a:headEnd/>
              <a:tailEnd type="triangle" w="med" len="med"/>
            </a:ln>
          </p:spPr>
          <p:txBody>
            <a:bodyPr wrap="none" anchor="ctr"/>
            <a:lstStyle/>
            <a:p>
              <a:endParaRPr lang="es-ES" sz="1400"/>
            </a:p>
          </p:txBody>
        </p:sp>
        <p:sp>
          <p:nvSpPr>
            <p:cNvPr id="63511" name="Text Box 44"/>
            <p:cNvSpPr txBox="1">
              <a:spLocks noChangeArrowheads="1"/>
            </p:cNvSpPr>
            <p:nvPr/>
          </p:nvSpPr>
          <p:spPr bwMode="auto">
            <a:xfrm>
              <a:off x="1372399" y="4775483"/>
              <a:ext cx="948004" cy="323283"/>
            </a:xfrm>
            <a:prstGeom prst="rect">
              <a:avLst/>
            </a:prstGeom>
            <a:noFill/>
            <a:ln w="28575">
              <a:noFill/>
              <a:miter lim="800000"/>
              <a:headEnd/>
              <a:tailEnd/>
            </a:ln>
          </p:spPr>
          <p:txBody>
            <a:bodyPr wrap="none" anchor="ctr">
              <a:spAutoFit/>
            </a:bodyPr>
            <a:lstStyle/>
            <a:p>
              <a:pPr eaLnBrk="0" hangingPunct="0">
                <a:lnSpc>
                  <a:spcPct val="80000"/>
                </a:lnSpc>
                <a:spcBef>
                  <a:spcPct val="20000"/>
                </a:spcBef>
                <a:buClr>
                  <a:schemeClr val="tx1"/>
                </a:buClr>
                <a:buFont typeface="Symbol" pitchFamily="18" charset="2"/>
                <a:buNone/>
              </a:pPr>
              <a:r>
                <a:rPr lang="es-ES_tradnl" sz="1400">
                  <a:solidFill>
                    <a:schemeClr val="tx1"/>
                  </a:solidFill>
                  <a:latin typeface="Arial Narrow" pitchFamily="34" charset="0"/>
                </a:rPr>
                <a:t>Ordenes</a:t>
              </a:r>
            </a:p>
          </p:txBody>
        </p:sp>
        <p:sp>
          <p:nvSpPr>
            <p:cNvPr id="63512" name="Line 45"/>
            <p:cNvSpPr>
              <a:spLocks noChangeShapeType="1"/>
            </p:cNvSpPr>
            <p:nvPr/>
          </p:nvSpPr>
          <p:spPr bwMode="auto">
            <a:xfrm>
              <a:off x="914400" y="4343400"/>
              <a:ext cx="457200" cy="0"/>
            </a:xfrm>
            <a:prstGeom prst="line">
              <a:avLst/>
            </a:prstGeom>
            <a:noFill/>
            <a:ln w="28575">
              <a:solidFill>
                <a:srgbClr val="7030A0"/>
              </a:solidFill>
              <a:round/>
              <a:headEnd/>
              <a:tailEnd type="triangle" w="med" len="med"/>
            </a:ln>
          </p:spPr>
          <p:txBody>
            <a:bodyPr wrap="none" anchor="ctr"/>
            <a:lstStyle/>
            <a:p>
              <a:endParaRPr lang="es-ES" sz="1400"/>
            </a:p>
          </p:txBody>
        </p:sp>
        <p:sp>
          <p:nvSpPr>
            <p:cNvPr id="63513" name="Text Box 46"/>
            <p:cNvSpPr txBox="1">
              <a:spLocks noChangeArrowheads="1"/>
            </p:cNvSpPr>
            <p:nvPr/>
          </p:nvSpPr>
          <p:spPr bwMode="auto">
            <a:xfrm>
              <a:off x="1382733" y="4197634"/>
              <a:ext cx="542180" cy="323283"/>
            </a:xfrm>
            <a:prstGeom prst="rect">
              <a:avLst/>
            </a:prstGeom>
            <a:noFill/>
            <a:ln w="28575">
              <a:noFill/>
              <a:miter lim="800000"/>
              <a:headEnd/>
              <a:tailEnd/>
            </a:ln>
          </p:spPr>
          <p:txBody>
            <a:bodyPr wrap="none" anchor="ctr">
              <a:spAutoFit/>
            </a:bodyPr>
            <a:lstStyle/>
            <a:p>
              <a:pPr eaLnBrk="0" hangingPunct="0">
                <a:lnSpc>
                  <a:spcPct val="80000"/>
                </a:lnSpc>
                <a:spcBef>
                  <a:spcPct val="20000"/>
                </a:spcBef>
                <a:buClr>
                  <a:schemeClr val="tx1"/>
                </a:buClr>
                <a:buFont typeface="Symbol" pitchFamily="18" charset="2"/>
                <a:buNone/>
              </a:pPr>
              <a:r>
                <a:rPr lang="es-ES_tradnl" sz="1400">
                  <a:solidFill>
                    <a:schemeClr val="tx1"/>
                  </a:solidFill>
                  <a:latin typeface="Arial Narrow" pitchFamily="34" charset="0"/>
                </a:rPr>
                <a:t>Clkl</a:t>
              </a:r>
            </a:p>
          </p:txBody>
        </p:sp>
        <p:grpSp>
          <p:nvGrpSpPr>
            <p:cNvPr id="4" name="Group 47"/>
            <p:cNvGrpSpPr>
              <a:grpSpLocks/>
            </p:cNvGrpSpPr>
            <p:nvPr/>
          </p:nvGrpSpPr>
          <p:grpSpPr bwMode="auto">
            <a:xfrm>
              <a:off x="2044701" y="4125917"/>
              <a:ext cx="771525" cy="376238"/>
              <a:chOff x="1270" y="1879"/>
              <a:chExt cx="486" cy="237"/>
            </a:xfrm>
          </p:grpSpPr>
          <p:sp>
            <p:nvSpPr>
              <p:cNvPr id="63524" name="Text Box 48"/>
              <p:cNvSpPr txBox="1">
                <a:spLocks noChangeArrowheads="1"/>
              </p:cNvSpPr>
              <p:nvPr/>
            </p:nvSpPr>
            <p:spPr bwMode="auto">
              <a:xfrm>
                <a:off x="1270" y="1879"/>
                <a:ext cx="486" cy="237"/>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400">
                    <a:solidFill>
                      <a:schemeClr val="tx1"/>
                    </a:solidFill>
                    <a:latin typeface="Arial Narrow" pitchFamily="34" charset="0"/>
                  </a:rPr>
                  <a:t>DMQ</a:t>
                </a:r>
                <a:r>
                  <a:rPr lang="es-ES_tradnl" sz="1400" b="1">
                    <a:solidFill>
                      <a:schemeClr val="tx1"/>
                    </a:solidFill>
                    <a:latin typeface="Arial Narrow" pitchFamily="34" charset="0"/>
                  </a:rPr>
                  <a:t>0</a:t>
                </a:r>
                <a:endParaRPr lang="es-ES_tradnl" sz="1400">
                  <a:solidFill>
                    <a:schemeClr val="tx1"/>
                  </a:solidFill>
                </a:endParaRPr>
              </a:p>
            </p:txBody>
          </p:sp>
          <p:sp>
            <p:nvSpPr>
              <p:cNvPr id="63525" name="Line 49"/>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sz="1400"/>
              </a:p>
            </p:txBody>
          </p:sp>
        </p:grpSp>
        <p:grpSp>
          <p:nvGrpSpPr>
            <p:cNvPr id="5" name="Group 50"/>
            <p:cNvGrpSpPr>
              <a:grpSpLocks/>
            </p:cNvGrpSpPr>
            <p:nvPr/>
          </p:nvGrpSpPr>
          <p:grpSpPr bwMode="auto">
            <a:xfrm>
              <a:off x="2693989" y="4125917"/>
              <a:ext cx="771525" cy="376238"/>
              <a:chOff x="1270" y="1879"/>
              <a:chExt cx="486" cy="237"/>
            </a:xfrm>
          </p:grpSpPr>
          <p:sp>
            <p:nvSpPr>
              <p:cNvPr id="63522" name="Text Box 51"/>
              <p:cNvSpPr txBox="1">
                <a:spLocks noChangeArrowheads="1"/>
              </p:cNvSpPr>
              <p:nvPr/>
            </p:nvSpPr>
            <p:spPr bwMode="auto">
              <a:xfrm>
                <a:off x="1270" y="1879"/>
                <a:ext cx="486" cy="237"/>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400">
                    <a:solidFill>
                      <a:schemeClr val="tx1"/>
                    </a:solidFill>
                    <a:latin typeface="Arial Narrow" pitchFamily="34" charset="0"/>
                  </a:rPr>
                  <a:t>DMQ</a:t>
                </a:r>
                <a:r>
                  <a:rPr lang="es-ES_tradnl" sz="1400" b="1">
                    <a:solidFill>
                      <a:schemeClr val="tx1"/>
                    </a:solidFill>
                    <a:latin typeface="Arial Narrow" pitchFamily="34" charset="0"/>
                  </a:rPr>
                  <a:t>1</a:t>
                </a:r>
                <a:endParaRPr lang="es-ES_tradnl" sz="1400">
                  <a:solidFill>
                    <a:schemeClr val="tx1"/>
                  </a:solidFill>
                </a:endParaRPr>
              </a:p>
            </p:txBody>
          </p:sp>
          <p:sp>
            <p:nvSpPr>
              <p:cNvPr id="63523" name="Line 52"/>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sz="1400"/>
              </a:p>
            </p:txBody>
          </p:sp>
        </p:grpSp>
        <p:grpSp>
          <p:nvGrpSpPr>
            <p:cNvPr id="6" name="Group 53"/>
            <p:cNvGrpSpPr>
              <a:grpSpLocks/>
            </p:cNvGrpSpPr>
            <p:nvPr/>
          </p:nvGrpSpPr>
          <p:grpSpPr bwMode="auto">
            <a:xfrm>
              <a:off x="3271839" y="4125917"/>
              <a:ext cx="771525" cy="376238"/>
              <a:chOff x="1270" y="1879"/>
              <a:chExt cx="486" cy="237"/>
            </a:xfrm>
          </p:grpSpPr>
          <p:sp>
            <p:nvSpPr>
              <p:cNvPr id="63520" name="Text Box 54"/>
              <p:cNvSpPr txBox="1">
                <a:spLocks noChangeArrowheads="1"/>
              </p:cNvSpPr>
              <p:nvPr/>
            </p:nvSpPr>
            <p:spPr bwMode="auto">
              <a:xfrm>
                <a:off x="1270" y="1879"/>
                <a:ext cx="486" cy="237"/>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400">
                    <a:solidFill>
                      <a:schemeClr val="tx1"/>
                    </a:solidFill>
                    <a:latin typeface="Arial Narrow" pitchFamily="34" charset="0"/>
                  </a:rPr>
                  <a:t>DMQ</a:t>
                </a:r>
                <a:r>
                  <a:rPr lang="es-ES_tradnl" sz="1400" b="1">
                    <a:solidFill>
                      <a:schemeClr val="tx1"/>
                    </a:solidFill>
                    <a:latin typeface="Arial Narrow" pitchFamily="34" charset="0"/>
                  </a:rPr>
                  <a:t>2</a:t>
                </a:r>
                <a:endParaRPr lang="es-ES_tradnl" sz="1400">
                  <a:solidFill>
                    <a:schemeClr val="tx1"/>
                  </a:solidFill>
                </a:endParaRPr>
              </a:p>
            </p:txBody>
          </p:sp>
          <p:sp>
            <p:nvSpPr>
              <p:cNvPr id="63521" name="Line 55"/>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sz="1400"/>
              </a:p>
            </p:txBody>
          </p:sp>
        </p:grpSp>
        <p:grpSp>
          <p:nvGrpSpPr>
            <p:cNvPr id="7" name="Group 62"/>
            <p:cNvGrpSpPr>
              <a:grpSpLocks/>
            </p:cNvGrpSpPr>
            <p:nvPr/>
          </p:nvGrpSpPr>
          <p:grpSpPr bwMode="auto">
            <a:xfrm>
              <a:off x="3833814" y="4125917"/>
              <a:ext cx="771525" cy="376238"/>
              <a:chOff x="1270" y="1879"/>
              <a:chExt cx="486" cy="237"/>
            </a:xfrm>
          </p:grpSpPr>
          <p:sp>
            <p:nvSpPr>
              <p:cNvPr id="63518" name="Text Box 63"/>
              <p:cNvSpPr txBox="1">
                <a:spLocks noChangeArrowheads="1"/>
              </p:cNvSpPr>
              <p:nvPr/>
            </p:nvSpPr>
            <p:spPr bwMode="auto">
              <a:xfrm>
                <a:off x="1270" y="1879"/>
                <a:ext cx="486" cy="237"/>
              </a:xfrm>
              <a:prstGeom prst="rect">
                <a:avLst/>
              </a:prstGeom>
              <a:noFill/>
              <a:ln w="28575">
                <a:noFill/>
                <a:miter lim="800000"/>
                <a:headEnd/>
                <a:tailEnd/>
              </a:ln>
            </p:spPr>
            <p:txBody>
              <a:bodyPr wrap="none" anchor="ctr">
                <a:spAutoFit/>
              </a:bodyPr>
              <a:lstStyle/>
              <a:p>
                <a:pPr eaLnBrk="0" hangingPunct="0">
                  <a:spcBef>
                    <a:spcPct val="20000"/>
                  </a:spcBef>
                  <a:buClr>
                    <a:schemeClr val="tx1"/>
                  </a:buClr>
                  <a:buFont typeface="Symbol" pitchFamily="18" charset="2"/>
                  <a:buNone/>
                </a:pPr>
                <a:r>
                  <a:rPr lang="es-ES_tradnl" sz="1400">
                    <a:solidFill>
                      <a:schemeClr val="tx1"/>
                    </a:solidFill>
                    <a:latin typeface="Arial Narrow" pitchFamily="34" charset="0"/>
                  </a:rPr>
                  <a:t>DMQ</a:t>
                </a:r>
                <a:r>
                  <a:rPr lang="es-ES_tradnl" sz="1400" b="1">
                    <a:solidFill>
                      <a:schemeClr val="tx1"/>
                    </a:solidFill>
                    <a:latin typeface="Arial Narrow" pitchFamily="34" charset="0"/>
                  </a:rPr>
                  <a:t>3</a:t>
                </a:r>
                <a:endParaRPr lang="es-ES_tradnl" sz="1400">
                  <a:solidFill>
                    <a:schemeClr val="tx1"/>
                  </a:solidFill>
                </a:endParaRPr>
              </a:p>
            </p:txBody>
          </p:sp>
          <p:sp>
            <p:nvSpPr>
              <p:cNvPr id="63519" name="Line 64"/>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sz="1400"/>
              </a:p>
            </p:txBody>
          </p:sp>
        </p:grpSp>
      </p:grpSp>
      <p:sp>
        <p:nvSpPr>
          <p:cNvPr id="9" name="2 Marcador de número de diapositiva">
            <a:extLst>
              <a:ext uri="{FF2B5EF4-FFF2-40B4-BE49-F238E27FC236}">
                <a16:creationId xmlns:a16="http://schemas.microsoft.com/office/drawing/2014/main" id="{C1DD3AEF-281E-DEBB-5028-23BB7647C5A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118</a:t>
            </a:fld>
            <a:endParaRPr lang="en-US" dirty="0"/>
          </a:p>
        </p:txBody>
      </p:sp>
    </p:spTree>
    <p:extLst>
      <p:ext uri="{BB962C8B-B14F-4D97-AF65-F5344CB8AC3E}">
        <p14:creationId xmlns:p14="http://schemas.microsoft.com/office/powerpoint/2010/main" val="549039158"/>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Rectángulo redondeado"/>
          <p:cNvSpPr/>
          <p:nvPr/>
        </p:nvSpPr>
        <p:spPr bwMode="auto">
          <a:xfrm>
            <a:off x="611560" y="2492896"/>
            <a:ext cx="3672408" cy="2674815"/>
          </a:xfrm>
          <a:prstGeom prst="roundRect">
            <a:avLst/>
          </a:prstGeom>
          <a:solidFill>
            <a:srgbClr val="FFF4D9"/>
          </a:solid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211" name="Rectangle 2"/>
          <p:cNvSpPr>
            <a:spLocks noGrp="1" noChangeArrowheads="1"/>
          </p:cNvSpPr>
          <p:nvPr>
            <p:ph type="title"/>
          </p:nvPr>
        </p:nvSpPr>
        <p:spPr>
          <a:xfrm>
            <a:off x="711601" y="779892"/>
            <a:ext cx="8250237" cy="865187"/>
          </a:xfrm>
        </p:spPr>
        <p:txBody>
          <a:bodyPr/>
          <a:lstStyle/>
          <a:p>
            <a:r>
              <a:rPr lang="es-ES" sz="2000" dirty="0"/>
              <a:t>Módulos DIMM (</a:t>
            </a:r>
            <a:r>
              <a:rPr lang="es-ES" sz="2000" i="1" dirty="0"/>
              <a:t>Dual </a:t>
            </a:r>
            <a:r>
              <a:rPr lang="es-ES" sz="2000" i="1" dirty="0" err="1"/>
              <a:t>Inline</a:t>
            </a:r>
            <a:r>
              <a:rPr lang="es-ES" sz="2000" i="1" dirty="0"/>
              <a:t> </a:t>
            </a:r>
            <a:r>
              <a:rPr lang="es-ES" sz="2000" i="1" dirty="0" err="1"/>
              <a:t>Memory</a:t>
            </a:r>
            <a:r>
              <a:rPr lang="es-ES" sz="2000" i="1" dirty="0"/>
              <a:t> Module</a:t>
            </a:r>
            <a:r>
              <a:rPr lang="es-ES" sz="2000" dirty="0"/>
              <a:t>)</a:t>
            </a:r>
          </a:p>
        </p:txBody>
      </p:sp>
      <p:sp>
        <p:nvSpPr>
          <p:cNvPr id="94212" name="Rectangle 151"/>
          <p:cNvSpPr>
            <a:spLocks noGrp="1" noChangeArrowheads="1"/>
          </p:cNvSpPr>
          <p:nvPr>
            <p:ph type="body" idx="1"/>
          </p:nvPr>
        </p:nvSpPr>
        <p:spPr>
          <a:xfrm>
            <a:off x="611560" y="1552776"/>
            <a:ext cx="8515350" cy="481013"/>
          </a:xfrm>
        </p:spPr>
        <p:txBody>
          <a:bodyPr/>
          <a:lstStyle/>
          <a:p>
            <a:r>
              <a:rPr lang="es-ES" dirty="0"/>
              <a:t>168/184/240 contactos, 64 bits de datos, 13 cm de longitud</a:t>
            </a:r>
          </a:p>
        </p:txBody>
      </p:sp>
      <p:grpSp>
        <p:nvGrpSpPr>
          <p:cNvPr id="2" name="Group 3"/>
          <p:cNvGrpSpPr>
            <a:grpSpLocks/>
          </p:cNvGrpSpPr>
          <p:nvPr/>
        </p:nvGrpSpPr>
        <p:grpSpPr bwMode="auto">
          <a:xfrm>
            <a:off x="4644008" y="2492896"/>
            <a:ext cx="4187900" cy="936104"/>
            <a:chOff x="1632" y="2688"/>
            <a:chExt cx="3137" cy="816"/>
          </a:xfrm>
        </p:grpSpPr>
        <p:grpSp>
          <p:nvGrpSpPr>
            <p:cNvPr id="3" name="Group 4"/>
            <p:cNvGrpSpPr>
              <a:grpSpLocks/>
            </p:cNvGrpSpPr>
            <p:nvPr/>
          </p:nvGrpSpPr>
          <p:grpSpPr bwMode="auto">
            <a:xfrm>
              <a:off x="1632" y="2688"/>
              <a:ext cx="2708" cy="805"/>
              <a:chOff x="1632" y="2688"/>
              <a:chExt cx="2708" cy="805"/>
            </a:xfrm>
          </p:grpSpPr>
          <p:sp>
            <p:nvSpPr>
              <p:cNvPr id="94263" name="Freeform 5"/>
              <p:cNvSpPr>
                <a:spLocks/>
              </p:cNvSpPr>
              <p:nvPr/>
            </p:nvSpPr>
            <p:spPr bwMode="auto">
              <a:xfrm>
                <a:off x="1632" y="2688"/>
                <a:ext cx="2708" cy="805"/>
              </a:xfrm>
              <a:custGeom>
                <a:avLst/>
                <a:gdLst>
                  <a:gd name="T0" fmla="*/ 0 w 2256"/>
                  <a:gd name="T1" fmla="*/ 0 h 634"/>
                  <a:gd name="T2" fmla="*/ 8100 w 2256"/>
                  <a:gd name="T3" fmla="*/ 0 h 634"/>
                  <a:gd name="T4" fmla="*/ 8100 w 2256"/>
                  <a:gd name="T5" fmla="*/ 512 h 634"/>
                  <a:gd name="T6" fmla="*/ 7926 w 2256"/>
                  <a:gd name="T7" fmla="*/ 767 h 634"/>
                  <a:gd name="T8" fmla="*/ 7926 w 2256"/>
                  <a:gd name="T9" fmla="*/ 1023 h 634"/>
                  <a:gd name="T10" fmla="*/ 8100 w 2256"/>
                  <a:gd name="T11" fmla="*/ 1275 h 634"/>
                  <a:gd name="T12" fmla="*/ 8100 w 2256"/>
                  <a:gd name="T13" fmla="*/ 1533 h 634"/>
                  <a:gd name="T14" fmla="*/ 7926 w 2256"/>
                  <a:gd name="T15" fmla="*/ 1789 h 634"/>
                  <a:gd name="T16" fmla="*/ 8100 w 2256"/>
                  <a:gd name="T17" fmla="*/ 2044 h 634"/>
                  <a:gd name="T18" fmla="*/ 8100 w 2256"/>
                  <a:gd name="T19" fmla="*/ 3318 h 634"/>
                  <a:gd name="T20" fmla="*/ 4288 w 2256"/>
                  <a:gd name="T21" fmla="*/ 3330 h 634"/>
                  <a:gd name="T22" fmla="*/ 4154 w 2256"/>
                  <a:gd name="T23" fmla="*/ 3121 h 634"/>
                  <a:gd name="T24" fmla="*/ 4050 w 2256"/>
                  <a:gd name="T25" fmla="*/ 3330 h 634"/>
                  <a:gd name="T26" fmla="*/ 1580 w 2256"/>
                  <a:gd name="T27" fmla="*/ 3337 h 634"/>
                  <a:gd name="T28" fmla="*/ 1451 w 2256"/>
                  <a:gd name="T29" fmla="*/ 3130 h 634"/>
                  <a:gd name="T30" fmla="*/ 1323 w 2256"/>
                  <a:gd name="T31" fmla="*/ 3318 h 634"/>
                  <a:gd name="T32" fmla="*/ 0 w 2256"/>
                  <a:gd name="T33" fmla="*/ 3318 h 634"/>
                  <a:gd name="T34" fmla="*/ 0 w 2256"/>
                  <a:gd name="T35" fmla="*/ 2044 h 634"/>
                  <a:gd name="T36" fmla="*/ 174 w 2256"/>
                  <a:gd name="T37" fmla="*/ 1789 h 634"/>
                  <a:gd name="T38" fmla="*/ 0 w 2256"/>
                  <a:gd name="T39" fmla="*/ 1533 h 634"/>
                  <a:gd name="T40" fmla="*/ 0 w 2256"/>
                  <a:gd name="T41" fmla="*/ 1275 h 634"/>
                  <a:gd name="T42" fmla="*/ 174 w 2256"/>
                  <a:gd name="T43" fmla="*/ 1023 h 634"/>
                  <a:gd name="T44" fmla="*/ 174 w 2256"/>
                  <a:gd name="T45" fmla="*/ 767 h 634"/>
                  <a:gd name="T46" fmla="*/ 0 w 2256"/>
                  <a:gd name="T47" fmla="*/ 512 h 634"/>
                  <a:gd name="T48" fmla="*/ 0 w 2256"/>
                  <a:gd name="T49" fmla="*/ 0 h 63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256"/>
                  <a:gd name="T76" fmla="*/ 0 h 634"/>
                  <a:gd name="T77" fmla="*/ 2256 w 2256"/>
                  <a:gd name="T78" fmla="*/ 634 h 63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256" h="634">
                    <a:moveTo>
                      <a:pt x="0" y="0"/>
                    </a:moveTo>
                    <a:lnTo>
                      <a:pt x="2256" y="0"/>
                    </a:lnTo>
                    <a:cubicBezTo>
                      <a:pt x="2256" y="0"/>
                      <a:pt x="2256" y="48"/>
                      <a:pt x="2256" y="96"/>
                    </a:cubicBezTo>
                    <a:cubicBezTo>
                      <a:pt x="2232" y="108"/>
                      <a:pt x="2216" y="128"/>
                      <a:pt x="2208" y="144"/>
                    </a:cubicBezTo>
                    <a:lnTo>
                      <a:pt x="2208" y="192"/>
                    </a:lnTo>
                    <a:cubicBezTo>
                      <a:pt x="2216" y="208"/>
                      <a:pt x="2222" y="236"/>
                      <a:pt x="2256" y="240"/>
                    </a:cubicBezTo>
                    <a:cubicBezTo>
                      <a:pt x="2256" y="288"/>
                      <a:pt x="2256" y="264"/>
                      <a:pt x="2256" y="288"/>
                    </a:cubicBezTo>
                    <a:cubicBezTo>
                      <a:pt x="2217" y="289"/>
                      <a:pt x="2208" y="320"/>
                      <a:pt x="2208" y="336"/>
                    </a:cubicBezTo>
                    <a:cubicBezTo>
                      <a:pt x="2208" y="352"/>
                      <a:pt x="2217" y="376"/>
                      <a:pt x="2256" y="384"/>
                    </a:cubicBezTo>
                    <a:cubicBezTo>
                      <a:pt x="2256" y="504"/>
                      <a:pt x="2256" y="624"/>
                      <a:pt x="2256" y="624"/>
                    </a:cubicBezTo>
                    <a:cubicBezTo>
                      <a:pt x="2256" y="624"/>
                      <a:pt x="1377" y="632"/>
                      <a:pt x="1194" y="626"/>
                    </a:cubicBezTo>
                    <a:cubicBezTo>
                      <a:pt x="1185" y="585"/>
                      <a:pt x="1179" y="588"/>
                      <a:pt x="1157" y="587"/>
                    </a:cubicBezTo>
                    <a:cubicBezTo>
                      <a:pt x="1135" y="586"/>
                      <a:pt x="1128" y="585"/>
                      <a:pt x="1128" y="626"/>
                    </a:cubicBezTo>
                    <a:cubicBezTo>
                      <a:pt x="1014" y="634"/>
                      <a:pt x="737" y="621"/>
                      <a:pt x="440" y="627"/>
                    </a:cubicBezTo>
                    <a:cubicBezTo>
                      <a:pt x="433" y="571"/>
                      <a:pt x="404" y="588"/>
                      <a:pt x="404" y="588"/>
                    </a:cubicBezTo>
                    <a:cubicBezTo>
                      <a:pt x="404" y="588"/>
                      <a:pt x="369" y="582"/>
                      <a:pt x="368" y="624"/>
                    </a:cubicBezTo>
                    <a:cubicBezTo>
                      <a:pt x="184" y="624"/>
                      <a:pt x="0" y="624"/>
                      <a:pt x="0" y="624"/>
                    </a:cubicBezTo>
                    <a:cubicBezTo>
                      <a:pt x="0" y="624"/>
                      <a:pt x="0" y="504"/>
                      <a:pt x="0" y="384"/>
                    </a:cubicBezTo>
                    <a:cubicBezTo>
                      <a:pt x="45" y="379"/>
                      <a:pt x="48" y="352"/>
                      <a:pt x="48" y="336"/>
                    </a:cubicBezTo>
                    <a:cubicBezTo>
                      <a:pt x="48" y="320"/>
                      <a:pt x="57" y="295"/>
                      <a:pt x="0" y="288"/>
                    </a:cubicBezTo>
                    <a:cubicBezTo>
                      <a:pt x="0" y="264"/>
                      <a:pt x="0" y="240"/>
                      <a:pt x="0" y="240"/>
                    </a:cubicBezTo>
                    <a:cubicBezTo>
                      <a:pt x="30" y="240"/>
                      <a:pt x="40" y="208"/>
                      <a:pt x="48" y="192"/>
                    </a:cubicBezTo>
                    <a:lnTo>
                      <a:pt x="48" y="144"/>
                    </a:lnTo>
                    <a:cubicBezTo>
                      <a:pt x="40" y="128"/>
                      <a:pt x="38" y="98"/>
                      <a:pt x="0" y="96"/>
                    </a:cubicBezTo>
                    <a:cubicBezTo>
                      <a:pt x="0" y="48"/>
                      <a:pt x="0" y="0"/>
                      <a:pt x="0" y="0"/>
                    </a:cubicBezTo>
                    <a:close/>
                  </a:path>
                </a:pathLst>
              </a:custGeom>
              <a:noFill/>
              <a:ln w="28575">
                <a:solidFill>
                  <a:schemeClr val="tx1"/>
                </a:solidFill>
                <a:round/>
                <a:headEnd/>
                <a:tailEnd/>
              </a:ln>
            </p:spPr>
            <p:txBody>
              <a:bodyPr wrap="none" anchor="ctr">
                <a:spAutoFit/>
              </a:bodyPr>
              <a:lstStyle/>
              <a:p>
                <a:endParaRPr lang="es-ES"/>
              </a:p>
            </p:txBody>
          </p:sp>
          <p:grpSp>
            <p:nvGrpSpPr>
              <p:cNvPr id="4" name="Group 6"/>
              <p:cNvGrpSpPr>
                <a:grpSpLocks/>
              </p:cNvGrpSpPr>
              <p:nvPr/>
            </p:nvGrpSpPr>
            <p:grpSpPr bwMode="auto">
              <a:xfrm>
                <a:off x="1729" y="3420"/>
                <a:ext cx="2496" cy="60"/>
                <a:chOff x="1729" y="3420"/>
                <a:chExt cx="2496" cy="60"/>
              </a:xfrm>
            </p:grpSpPr>
            <p:sp>
              <p:nvSpPr>
                <p:cNvPr id="94276" name="Line 7"/>
                <p:cNvSpPr>
                  <a:spLocks noChangeShapeType="1"/>
                </p:cNvSpPr>
                <p:nvPr/>
              </p:nvSpPr>
              <p:spPr bwMode="auto">
                <a:xfrm>
                  <a:off x="313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77" name="Line 8"/>
                <p:cNvSpPr>
                  <a:spLocks noChangeShapeType="1"/>
                </p:cNvSpPr>
                <p:nvPr/>
              </p:nvSpPr>
              <p:spPr bwMode="auto">
                <a:xfrm>
                  <a:off x="315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78" name="Line 9"/>
                <p:cNvSpPr>
                  <a:spLocks noChangeShapeType="1"/>
                </p:cNvSpPr>
                <p:nvPr/>
              </p:nvSpPr>
              <p:spPr bwMode="auto">
                <a:xfrm>
                  <a:off x="318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79" name="Line 10"/>
                <p:cNvSpPr>
                  <a:spLocks noChangeShapeType="1"/>
                </p:cNvSpPr>
                <p:nvPr/>
              </p:nvSpPr>
              <p:spPr bwMode="auto">
                <a:xfrm>
                  <a:off x="320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0" name="Line 11"/>
                <p:cNvSpPr>
                  <a:spLocks noChangeShapeType="1"/>
                </p:cNvSpPr>
                <p:nvPr/>
              </p:nvSpPr>
              <p:spPr bwMode="auto">
                <a:xfrm>
                  <a:off x="3232"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1" name="Line 12"/>
                <p:cNvSpPr>
                  <a:spLocks noChangeShapeType="1"/>
                </p:cNvSpPr>
                <p:nvPr/>
              </p:nvSpPr>
              <p:spPr bwMode="auto">
                <a:xfrm>
                  <a:off x="325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2" name="Line 13"/>
                <p:cNvSpPr>
                  <a:spLocks noChangeShapeType="1"/>
                </p:cNvSpPr>
                <p:nvPr/>
              </p:nvSpPr>
              <p:spPr bwMode="auto">
                <a:xfrm>
                  <a:off x="3282"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3" name="Line 14"/>
                <p:cNvSpPr>
                  <a:spLocks noChangeShapeType="1"/>
                </p:cNvSpPr>
                <p:nvPr/>
              </p:nvSpPr>
              <p:spPr bwMode="auto">
                <a:xfrm>
                  <a:off x="330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4" name="Line 15"/>
                <p:cNvSpPr>
                  <a:spLocks noChangeShapeType="1"/>
                </p:cNvSpPr>
                <p:nvPr/>
              </p:nvSpPr>
              <p:spPr bwMode="auto">
                <a:xfrm>
                  <a:off x="333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5" name="Line 16"/>
                <p:cNvSpPr>
                  <a:spLocks noChangeShapeType="1"/>
                </p:cNvSpPr>
                <p:nvPr/>
              </p:nvSpPr>
              <p:spPr bwMode="auto">
                <a:xfrm>
                  <a:off x="335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6" name="Line 17"/>
                <p:cNvSpPr>
                  <a:spLocks noChangeShapeType="1"/>
                </p:cNvSpPr>
                <p:nvPr/>
              </p:nvSpPr>
              <p:spPr bwMode="auto">
                <a:xfrm>
                  <a:off x="338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7" name="Line 18"/>
                <p:cNvSpPr>
                  <a:spLocks noChangeShapeType="1"/>
                </p:cNvSpPr>
                <p:nvPr/>
              </p:nvSpPr>
              <p:spPr bwMode="auto">
                <a:xfrm>
                  <a:off x="341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8" name="Line 19"/>
                <p:cNvSpPr>
                  <a:spLocks noChangeShapeType="1"/>
                </p:cNvSpPr>
                <p:nvPr/>
              </p:nvSpPr>
              <p:spPr bwMode="auto">
                <a:xfrm>
                  <a:off x="343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89" name="Line 20"/>
                <p:cNvSpPr>
                  <a:spLocks noChangeShapeType="1"/>
                </p:cNvSpPr>
                <p:nvPr/>
              </p:nvSpPr>
              <p:spPr bwMode="auto">
                <a:xfrm>
                  <a:off x="346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0" name="Line 21"/>
                <p:cNvSpPr>
                  <a:spLocks noChangeShapeType="1"/>
                </p:cNvSpPr>
                <p:nvPr/>
              </p:nvSpPr>
              <p:spPr bwMode="auto">
                <a:xfrm>
                  <a:off x="348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1" name="Line 22"/>
                <p:cNvSpPr>
                  <a:spLocks noChangeShapeType="1"/>
                </p:cNvSpPr>
                <p:nvPr/>
              </p:nvSpPr>
              <p:spPr bwMode="auto">
                <a:xfrm>
                  <a:off x="3512"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2" name="Line 23"/>
                <p:cNvSpPr>
                  <a:spLocks noChangeShapeType="1"/>
                </p:cNvSpPr>
                <p:nvPr/>
              </p:nvSpPr>
              <p:spPr bwMode="auto">
                <a:xfrm>
                  <a:off x="353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3" name="Line 24"/>
                <p:cNvSpPr>
                  <a:spLocks noChangeShapeType="1"/>
                </p:cNvSpPr>
                <p:nvPr/>
              </p:nvSpPr>
              <p:spPr bwMode="auto">
                <a:xfrm>
                  <a:off x="356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4" name="Line 25"/>
                <p:cNvSpPr>
                  <a:spLocks noChangeShapeType="1"/>
                </p:cNvSpPr>
                <p:nvPr/>
              </p:nvSpPr>
              <p:spPr bwMode="auto">
                <a:xfrm>
                  <a:off x="358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5" name="Line 26"/>
                <p:cNvSpPr>
                  <a:spLocks noChangeShapeType="1"/>
                </p:cNvSpPr>
                <p:nvPr/>
              </p:nvSpPr>
              <p:spPr bwMode="auto">
                <a:xfrm>
                  <a:off x="361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6" name="Line 27"/>
                <p:cNvSpPr>
                  <a:spLocks noChangeShapeType="1"/>
                </p:cNvSpPr>
                <p:nvPr/>
              </p:nvSpPr>
              <p:spPr bwMode="auto">
                <a:xfrm>
                  <a:off x="363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7" name="Line 28"/>
                <p:cNvSpPr>
                  <a:spLocks noChangeShapeType="1"/>
                </p:cNvSpPr>
                <p:nvPr/>
              </p:nvSpPr>
              <p:spPr bwMode="auto">
                <a:xfrm>
                  <a:off x="366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8" name="Line 29"/>
                <p:cNvSpPr>
                  <a:spLocks noChangeShapeType="1"/>
                </p:cNvSpPr>
                <p:nvPr/>
              </p:nvSpPr>
              <p:spPr bwMode="auto">
                <a:xfrm>
                  <a:off x="369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299" name="Line 30"/>
                <p:cNvSpPr>
                  <a:spLocks noChangeShapeType="1"/>
                </p:cNvSpPr>
                <p:nvPr/>
              </p:nvSpPr>
              <p:spPr bwMode="auto">
                <a:xfrm>
                  <a:off x="371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0" name="Line 31"/>
                <p:cNvSpPr>
                  <a:spLocks noChangeShapeType="1"/>
                </p:cNvSpPr>
                <p:nvPr/>
              </p:nvSpPr>
              <p:spPr bwMode="auto">
                <a:xfrm>
                  <a:off x="374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1" name="Line 32"/>
                <p:cNvSpPr>
                  <a:spLocks noChangeShapeType="1"/>
                </p:cNvSpPr>
                <p:nvPr/>
              </p:nvSpPr>
              <p:spPr bwMode="auto">
                <a:xfrm>
                  <a:off x="376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2" name="Line 33"/>
                <p:cNvSpPr>
                  <a:spLocks noChangeShapeType="1"/>
                </p:cNvSpPr>
                <p:nvPr/>
              </p:nvSpPr>
              <p:spPr bwMode="auto">
                <a:xfrm>
                  <a:off x="379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3" name="Line 34"/>
                <p:cNvSpPr>
                  <a:spLocks noChangeShapeType="1"/>
                </p:cNvSpPr>
                <p:nvPr/>
              </p:nvSpPr>
              <p:spPr bwMode="auto">
                <a:xfrm>
                  <a:off x="381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4" name="Line 35"/>
                <p:cNvSpPr>
                  <a:spLocks noChangeShapeType="1"/>
                </p:cNvSpPr>
                <p:nvPr/>
              </p:nvSpPr>
              <p:spPr bwMode="auto">
                <a:xfrm>
                  <a:off x="384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5" name="Line 36"/>
                <p:cNvSpPr>
                  <a:spLocks noChangeShapeType="1"/>
                </p:cNvSpPr>
                <p:nvPr/>
              </p:nvSpPr>
              <p:spPr bwMode="auto">
                <a:xfrm>
                  <a:off x="386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6" name="Line 37"/>
                <p:cNvSpPr>
                  <a:spLocks noChangeShapeType="1"/>
                </p:cNvSpPr>
                <p:nvPr/>
              </p:nvSpPr>
              <p:spPr bwMode="auto">
                <a:xfrm>
                  <a:off x="389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7" name="Line 38"/>
                <p:cNvSpPr>
                  <a:spLocks noChangeShapeType="1"/>
                </p:cNvSpPr>
                <p:nvPr/>
              </p:nvSpPr>
              <p:spPr bwMode="auto">
                <a:xfrm>
                  <a:off x="391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8" name="Line 39"/>
                <p:cNvSpPr>
                  <a:spLocks noChangeShapeType="1"/>
                </p:cNvSpPr>
                <p:nvPr/>
              </p:nvSpPr>
              <p:spPr bwMode="auto">
                <a:xfrm>
                  <a:off x="394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09" name="Line 40"/>
                <p:cNvSpPr>
                  <a:spLocks noChangeShapeType="1"/>
                </p:cNvSpPr>
                <p:nvPr/>
              </p:nvSpPr>
              <p:spPr bwMode="auto">
                <a:xfrm>
                  <a:off x="397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0" name="Line 41"/>
                <p:cNvSpPr>
                  <a:spLocks noChangeShapeType="1"/>
                </p:cNvSpPr>
                <p:nvPr/>
              </p:nvSpPr>
              <p:spPr bwMode="auto">
                <a:xfrm>
                  <a:off x="399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1" name="Line 42"/>
                <p:cNvSpPr>
                  <a:spLocks noChangeShapeType="1"/>
                </p:cNvSpPr>
                <p:nvPr/>
              </p:nvSpPr>
              <p:spPr bwMode="auto">
                <a:xfrm>
                  <a:off x="402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2" name="Line 43"/>
                <p:cNvSpPr>
                  <a:spLocks noChangeShapeType="1"/>
                </p:cNvSpPr>
                <p:nvPr/>
              </p:nvSpPr>
              <p:spPr bwMode="auto">
                <a:xfrm>
                  <a:off x="404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3" name="Line 44"/>
                <p:cNvSpPr>
                  <a:spLocks noChangeShapeType="1"/>
                </p:cNvSpPr>
                <p:nvPr/>
              </p:nvSpPr>
              <p:spPr bwMode="auto">
                <a:xfrm>
                  <a:off x="4072"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4" name="Line 45"/>
                <p:cNvSpPr>
                  <a:spLocks noChangeShapeType="1"/>
                </p:cNvSpPr>
                <p:nvPr/>
              </p:nvSpPr>
              <p:spPr bwMode="auto">
                <a:xfrm>
                  <a:off x="409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5" name="Line 46"/>
                <p:cNvSpPr>
                  <a:spLocks noChangeShapeType="1"/>
                </p:cNvSpPr>
                <p:nvPr/>
              </p:nvSpPr>
              <p:spPr bwMode="auto">
                <a:xfrm>
                  <a:off x="412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6" name="Line 47"/>
                <p:cNvSpPr>
                  <a:spLocks noChangeShapeType="1"/>
                </p:cNvSpPr>
                <p:nvPr/>
              </p:nvSpPr>
              <p:spPr bwMode="auto">
                <a:xfrm>
                  <a:off x="414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7" name="Line 48"/>
                <p:cNvSpPr>
                  <a:spLocks noChangeShapeType="1"/>
                </p:cNvSpPr>
                <p:nvPr/>
              </p:nvSpPr>
              <p:spPr bwMode="auto">
                <a:xfrm>
                  <a:off x="417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8" name="Line 49"/>
                <p:cNvSpPr>
                  <a:spLocks noChangeShapeType="1"/>
                </p:cNvSpPr>
                <p:nvPr/>
              </p:nvSpPr>
              <p:spPr bwMode="auto">
                <a:xfrm>
                  <a:off x="420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19" name="Line 50"/>
                <p:cNvSpPr>
                  <a:spLocks noChangeShapeType="1"/>
                </p:cNvSpPr>
                <p:nvPr/>
              </p:nvSpPr>
              <p:spPr bwMode="auto">
                <a:xfrm>
                  <a:off x="422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0" name="Line 51"/>
                <p:cNvSpPr>
                  <a:spLocks noChangeShapeType="1"/>
                </p:cNvSpPr>
                <p:nvPr/>
              </p:nvSpPr>
              <p:spPr bwMode="auto">
                <a:xfrm>
                  <a:off x="172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1" name="Line 52"/>
                <p:cNvSpPr>
                  <a:spLocks noChangeShapeType="1"/>
                </p:cNvSpPr>
                <p:nvPr/>
              </p:nvSpPr>
              <p:spPr bwMode="auto">
                <a:xfrm>
                  <a:off x="175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2" name="Line 53"/>
                <p:cNvSpPr>
                  <a:spLocks noChangeShapeType="1"/>
                </p:cNvSpPr>
                <p:nvPr/>
              </p:nvSpPr>
              <p:spPr bwMode="auto">
                <a:xfrm>
                  <a:off x="178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3" name="Line 54"/>
                <p:cNvSpPr>
                  <a:spLocks noChangeShapeType="1"/>
                </p:cNvSpPr>
                <p:nvPr/>
              </p:nvSpPr>
              <p:spPr bwMode="auto">
                <a:xfrm>
                  <a:off x="180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4" name="Line 55"/>
                <p:cNvSpPr>
                  <a:spLocks noChangeShapeType="1"/>
                </p:cNvSpPr>
                <p:nvPr/>
              </p:nvSpPr>
              <p:spPr bwMode="auto">
                <a:xfrm>
                  <a:off x="183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5" name="Line 56"/>
                <p:cNvSpPr>
                  <a:spLocks noChangeShapeType="1"/>
                </p:cNvSpPr>
                <p:nvPr/>
              </p:nvSpPr>
              <p:spPr bwMode="auto">
                <a:xfrm>
                  <a:off x="185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6" name="Line 57"/>
                <p:cNvSpPr>
                  <a:spLocks noChangeShapeType="1"/>
                </p:cNvSpPr>
                <p:nvPr/>
              </p:nvSpPr>
              <p:spPr bwMode="auto">
                <a:xfrm>
                  <a:off x="1882"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7" name="Line 58"/>
                <p:cNvSpPr>
                  <a:spLocks noChangeShapeType="1"/>
                </p:cNvSpPr>
                <p:nvPr/>
              </p:nvSpPr>
              <p:spPr bwMode="auto">
                <a:xfrm>
                  <a:off x="190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8" name="Line 59"/>
                <p:cNvSpPr>
                  <a:spLocks noChangeShapeType="1"/>
                </p:cNvSpPr>
                <p:nvPr/>
              </p:nvSpPr>
              <p:spPr bwMode="auto">
                <a:xfrm>
                  <a:off x="193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29" name="Line 60"/>
                <p:cNvSpPr>
                  <a:spLocks noChangeShapeType="1"/>
                </p:cNvSpPr>
                <p:nvPr/>
              </p:nvSpPr>
              <p:spPr bwMode="auto">
                <a:xfrm>
                  <a:off x="195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0" name="Line 61"/>
                <p:cNvSpPr>
                  <a:spLocks noChangeShapeType="1"/>
                </p:cNvSpPr>
                <p:nvPr/>
              </p:nvSpPr>
              <p:spPr bwMode="auto">
                <a:xfrm>
                  <a:off x="198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1" name="Line 62"/>
                <p:cNvSpPr>
                  <a:spLocks noChangeShapeType="1"/>
                </p:cNvSpPr>
                <p:nvPr/>
              </p:nvSpPr>
              <p:spPr bwMode="auto">
                <a:xfrm>
                  <a:off x="200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2" name="Line 63"/>
                <p:cNvSpPr>
                  <a:spLocks noChangeShapeType="1"/>
                </p:cNvSpPr>
                <p:nvPr/>
              </p:nvSpPr>
              <p:spPr bwMode="auto">
                <a:xfrm>
                  <a:off x="203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3" name="Line 64"/>
                <p:cNvSpPr>
                  <a:spLocks noChangeShapeType="1"/>
                </p:cNvSpPr>
                <p:nvPr/>
              </p:nvSpPr>
              <p:spPr bwMode="auto">
                <a:xfrm>
                  <a:off x="219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4" name="Line 65"/>
                <p:cNvSpPr>
                  <a:spLocks noChangeShapeType="1"/>
                </p:cNvSpPr>
                <p:nvPr/>
              </p:nvSpPr>
              <p:spPr bwMode="auto">
                <a:xfrm>
                  <a:off x="221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5" name="Line 66"/>
                <p:cNvSpPr>
                  <a:spLocks noChangeShapeType="1"/>
                </p:cNvSpPr>
                <p:nvPr/>
              </p:nvSpPr>
              <p:spPr bwMode="auto">
                <a:xfrm>
                  <a:off x="224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6" name="Line 67"/>
                <p:cNvSpPr>
                  <a:spLocks noChangeShapeType="1"/>
                </p:cNvSpPr>
                <p:nvPr/>
              </p:nvSpPr>
              <p:spPr bwMode="auto">
                <a:xfrm>
                  <a:off x="226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7" name="Line 68"/>
                <p:cNvSpPr>
                  <a:spLocks noChangeShapeType="1"/>
                </p:cNvSpPr>
                <p:nvPr/>
              </p:nvSpPr>
              <p:spPr bwMode="auto">
                <a:xfrm>
                  <a:off x="229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8" name="Line 69"/>
                <p:cNvSpPr>
                  <a:spLocks noChangeShapeType="1"/>
                </p:cNvSpPr>
                <p:nvPr/>
              </p:nvSpPr>
              <p:spPr bwMode="auto">
                <a:xfrm>
                  <a:off x="232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39" name="Line 70"/>
                <p:cNvSpPr>
                  <a:spLocks noChangeShapeType="1"/>
                </p:cNvSpPr>
                <p:nvPr/>
              </p:nvSpPr>
              <p:spPr bwMode="auto">
                <a:xfrm>
                  <a:off x="234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0" name="Line 71"/>
                <p:cNvSpPr>
                  <a:spLocks noChangeShapeType="1"/>
                </p:cNvSpPr>
                <p:nvPr/>
              </p:nvSpPr>
              <p:spPr bwMode="auto">
                <a:xfrm>
                  <a:off x="237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1" name="Line 72"/>
                <p:cNvSpPr>
                  <a:spLocks noChangeShapeType="1"/>
                </p:cNvSpPr>
                <p:nvPr/>
              </p:nvSpPr>
              <p:spPr bwMode="auto">
                <a:xfrm>
                  <a:off x="239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2" name="Line 73"/>
                <p:cNvSpPr>
                  <a:spLocks noChangeShapeType="1"/>
                </p:cNvSpPr>
                <p:nvPr/>
              </p:nvSpPr>
              <p:spPr bwMode="auto">
                <a:xfrm>
                  <a:off x="242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3" name="Line 74"/>
                <p:cNvSpPr>
                  <a:spLocks noChangeShapeType="1"/>
                </p:cNvSpPr>
                <p:nvPr/>
              </p:nvSpPr>
              <p:spPr bwMode="auto">
                <a:xfrm>
                  <a:off x="244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4" name="Line 75"/>
                <p:cNvSpPr>
                  <a:spLocks noChangeShapeType="1"/>
                </p:cNvSpPr>
                <p:nvPr/>
              </p:nvSpPr>
              <p:spPr bwMode="auto">
                <a:xfrm>
                  <a:off x="247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5" name="Line 76"/>
                <p:cNvSpPr>
                  <a:spLocks noChangeShapeType="1"/>
                </p:cNvSpPr>
                <p:nvPr/>
              </p:nvSpPr>
              <p:spPr bwMode="auto">
                <a:xfrm>
                  <a:off x="2499"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6" name="Line 77"/>
                <p:cNvSpPr>
                  <a:spLocks noChangeShapeType="1"/>
                </p:cNvSpPr>
                <p:nvPr/>
              </p:nvSpPr>
              <p:spPr bwMode="auto">
                <a:xfrm>
                  <a:off x="2524"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7" name="Line 78"/>
                <p:cNvSpPr>
                  <a:spLocks noChangeShapeType="1"/>
                </p:cNvSpPr>
                <p:nvPr/>
              </p:nvSpPr>
              <p:spPr bwMode="auto">
                <a:xfrm>
                  <a:off x="255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8" name="Line 79"/>
                <p:cNvSpPr>
                  <a:spLocks noChangeShapeType="1"/>
                </p:cNvSpPr>
                <p:nvPr/>
              </p:nvSpPr>
              <p:spPr bwMode="auto">
                <a:xfrm>
                  <a:off x="257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49" name="Line 80"/>
                <p:cNvSpPr>
                  <a:spLocks noChangeShapeType="1"/>
                </p:cNvSpPr>
                <p:nvPr/>
              </p:nvSpPr>
              <p:spPr bwMode="auto">
                <a:xfrm>
                  <a:off x="260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0" name="Line 81"/>
                <p:cNvSpPr>
                  <a:spLocks noChangeShapeType="1"/>
                </p:cNvSpPr>
                <p:nvPr/>
              </p:nvSpPr>
              <p:spPr bwMode="auto">
                <a:xfrm>
                  <a:off x="2626"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1" name="Line 82"/>
                <p:cNvSpPr>
                  <a:spLocks noChangeShapeType="1"/>
                </p:cNvSpPr>
                <p:nvPr/>
              </p:nvSpPr>
              <p:spPr bwMode="auto">
                <a:xfrm>
                  <a:off x="2651"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2" name="Line 83"/>
                <p:cNvSpPr>
                  <a:spLocks noChangeShapeType="1"/>
                </p:cNvSpPr>
                <p:nvPr/>
              </p:nvSpPr>
              <p:spPr bwMode="auto">
                <a:xfrm>
                  <a:off x="267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3" name="Line 84"/>
                <p:cNvSpPr>
                  <a:spLocks noChangeShapeType="1"/>
                </p:cNvSpPr>
                <p:nvPr/>
              </p:nvSpPr>
              <p:spPr bwMode="auto">
                <a:xfrm>
                  <a:off x="270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4" name="Line 85"/>
                <p:cNvSpPr>
                  <a:spLocks noChangeShapeType="1"/>
                </p:cNvSpPr>
                <p:nvPr/>
              </p:nvSpPr>
              <p:spPr bwMode="auto">
                <a:xfrm>
                  <a:off x="2728"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5" name="Line 86"/>
                <p:cNvSpPr>
                  <a:spLocks noChangeShapeType="1"/>
                </p:cNvSpPr>
                <p:nvPr/>
              </p:nvSpPr>
              <p:spPr bwMode="auto">
                <a:xfrm>
                  <a:off x="2753"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6" name="Line 87"/>
                <p:cNvSpPr>
                  <a:spLocks noChangeShapeType="1"/>
                </p:cNvSpPr>
                <p:nvPr/>
              </p:nvSpPr>
              <p:spPr bwMode="auto">
                <a:xfrm>
                  <a:off x="278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7" name="Line 88"/>
                <p:cNvSpPr>
                  <a:spLocks noChangeShapeType="1"/>
                </p:cNvSpPr>
                <p:nvPr/>
              </p:nvSpPr>
              <p:spPr bwMode="auto">
                <a:xfrm>
                  <a:off x="280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8" name="Line 89"/>
                <p:cNvSpPr>
                  <a:spLocks noChangeShapeType="1"/>
                </p:cNvSpPr>
                <p:nvPr/>
              </p:nvSpPr>
              <p:spPr bwMode="auto">
                <a:xfrm>
                  <a:off x="283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59" name="Line 90"/>
                <p:cNvSpPr>
                  <a:spLocks noChangeShapeType="1"/>
                </p:cNvSpPr>
                <p:nvPr/>
              </p:nvSpPr>
              <p:spPr bwMode="auto">
                <a:xfrm>
                  <a:off x="2855"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60" name="Line 91"/>
                <p:cNvSpPr>
                  <a:spLocks noChangeShapeType="1"/>
                </p:cNvSpPr>
                <p:nvPr/>
              </p:nvSpPr>
              <p:spPr bwMode="auto">
                <a:xfrm>
                  <a:off x="2880"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61" name="Line 92"/>
                <p:cNvSpPr>
                  <a:spLocks noChangeShapeType="1"/>
                </p:cNvSpPr>
                <p:nvPr/>
              </p:nvSpPr>
              <p:spPr bwMode="auto">
                <a:xfrm>
                  <a:off x="2907"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62" name="Line 93"/>
                <p:cNvSpPr>
                  <a:spLocks noChangeShapeType="1"/>
                </p:cNvSpPr>
                <p:nvPr/>
              </p:nvSpPr>
              <p:spPr bwMode="auto">
                <a:xfrm>
                  <a:off x="2932" y="3420"/>
                  <a:ext cx="0" cy="60"/>
                </a:xfrm>
                <a:prstGeom prst="line">
                  <a:avLst/>
                </a:prstGeom>
                <a:noFill/>
                <a:ln w="19050">
                  <a:solidFill>
                    <a:schemeClr val="tx1"/>
                  </a:solidFill>
                  <a:round/>
                  <a:headEnd/>
                  <a:tailEnd/>
                </a:ln>
              </p:spPr>
              <p:txBody>
                <a:bodyPr wrap="none" anchor="ctr">
                  <a:spAutoFit/>
                </a:bodyPr>
                <a:lstStyle/>
                <a:p>
                  <a:endParaRPr lang="es-ES"/>
                </a:p>
              </p:txBody>
            </p:sp>
            <p:sp>
              <p:nvSpPr>
                <p:cNvPr id="94363" name="Line 94"/>
                <p:cNvSpPr>
                  <a:spLocks noChangeShapeType="1"/>
                </p:cNvSpPr>
                <p:nvPr/>
              </p:nvSpPr>
              <p:spPr bwMode="auto">
                <a:xfrm>
                  <a:off x="2957" y="3420"/>
                  <a:ext cx="0" cy="60"/>
                </a:xfrm>
                <a:prstGeom prst="line">
                  <a:avLst/>
                </a:prstGeom>
                <a:noFill/>
                <a:ln w="19050">
                  <a:solidFill>
                    <a:schemeClr val="tx1"/>
                  </a:solidFill>
                  <a:round/>
                  <a:headEnd/>
                  <a:tailEnd/>
                </a:ln>
              </p:spPr>
              <p:txBody>
                <a:bodyPr wrap="none" anchor="ctr">
                  <a:spAutoFit/>
                </a:bodyPr>
                <a:lstStyle/>
                <a:p>
                  <a:endParaRPr lang="es-ES"/>
                </a:p>
              </p:txBody>
            </p:sp>
          </p:grpSp>
          <p:grpSp>
            <p:nvGrpSpPr>
              <p:cNvPr id="5" name="Group 95"/>
              <p:cNvGrpSpPr>
                <a:grpSpLocks/>
              </p:cNvGrpSpPr>
              <p:nvPr/>
            </p:nvGrpSpPr>
            <p:grpSpPr bwMode="auto">
              <a:xfrm>
                <a:off x="1805" y="2761"/>
                <a:ext cx="2362" cy="488"/>
                <a:chOff x="1805" y="2761"/>
                <a:chExt cx="2362" cy="488"/>
              </a:xfrm>
            </p:grpSpPr>
            <p:sp>
              <p:nvSpPr>
                <p:cNvPr id="94268" name="Rectangle 96"/>
                <p:cNvSpPr>
                  <a:spLocks noChangeArrowheads="1"/>
                </p:cNvSpPr>
                <p:nvPr/>
              </p:nvSpPr>
              <p:spPr bwMode="auto">
                <a:xfrm>
                  <a:off x="1805" y="2761"/>
                  <a:ext cx="230" cy="488"/>
                </a:xfrm>
                <a:prstGeom prst="rect">
                  <a:avLst/>
                </a:prstGeom>
                <a:noFill/>
                <a:ln w="28575">
                  <a:solidFill>
                    <a:schemeClr val="tx1"/>
                  </a:solidFill>
                  <a:miter lim="800000"/>
                  <a:headEnd/>
                  <a:tailEnd/>
                </a:ln>
              </p:spPr>
              <p:txBody>
                <a:bodyPr anchor="ctr">
                  <a:spAutoFit/>
                </a:bodyPr>
                <a:lstStyle/>
                <a:p>
                  <a:endParaRPr lang="es-ES"/>
                </a:p>
              </p:txBody>
            </p:sp>
            <p:sp>
              <p:nvSpPr>
                <p:cNvPr id="94269" name="Rectangle 97"/>
                <p:cNvSpPr>
                  <a:spLocks noChangeArrowheads="1"/>
                </p:cNvSpPr>
                <p:nvPr/>
              </p:nvSpPr>
              <p:spPr bwMode="auto">
                <a:xfrm>
                  <a:off x="2093" y="2761"/>
                  <a:ext cx="230" cy="488"/>
                </a:xfrm>
                <a:prstGeom prst="rect">
                  <a:avLst/>
                </a:prstGeom>
                <a:noFill/>
                <a:ln w="28575">
                  <a:solidFill>
                    <a:schemeClr val="tx1"/>
                  </a:solidFill>
                  <a:miter lim="800000"/>
                  <a:headEnd/>
                  <a:tailEnd/>
                </a:ln>
              </p:spPr>
              <p:txBody>
                <a:bodyPr anchor="ctr">
                  <a:spAutoFit/>
                </a:bodyPr>
                <a:lstStyle/>
                <a:p>
                  <a:endParaRPr lang="es-ES"/>
                </a:p>
              </p:txBody>
            </p:sp>
            <p:sp>
              <p:nvSpPr>
                <p:cNvPr id="94270" name="Rectangle 98"/>
                <p:cNvSpPr>
                  <a:spLocks noChangeArrowheads="1"/>
                </p:cNvSpPr>
                <p:nvPr/>
              </p:nvSpPr>
              <p:spPr bwMode="auto">
                <a:xfrm>
                  <a:off x="2381" y="2761"/>
                  <a:ext cx="230" cy="488"/>
                </a:xfrm>
                <a:prstGeom prst="rect">
                  <a:avLst/>
                </a:prstGeom>
                <a:noFill/>
                <a:ln w="28575">
                  <a:solidFill>
                    <a:schemeClr val="tx1"/>
                  </a:solidFill>
                  <a:miter lim="800000"/>
                  <a:headEnd/>
                  <a:tailEnd/>
                </a:ln>
              </p:spPr>
              <p:txBody>
                <a:bodyPr anchor="ctr">
                  <a:spAutoFit/>
                </a:bodyPr>
                <a:lstStyle/>
                <a:p>
                  <a:endParaRPr lang="es-ES"/>
                </a:p>
              </p:txBody>
            </p:sp>
            <p:sp>
              <p:nvSpPr>
                <p:cNvPr id="94271" name="Rectangle 99"/>
                <p:cNvSpPr>
                  <a:spLocks noChangeArrowheads="1"/>
                </p:cNvSpPr>
                <p:nvPr/>
              </p:nvSpPr>
              <p:spPr bwMode="auto">
                <a:xfrm>
                  <a:off x="2669" y="2761"/>
                  <a:ext cx="231" cy="488"/>
                </a:xfrm>
                <a:prstGeom prst="rect">
                  <a:avLst/>
                </a:prstGeom>
                <a:noFill/>
                <a:ln w="28575">
                  <a:solidFill>
                    <a:schemeClr val="tx1"/>
                  </a:solidFill>
                  <a:miter lim="800000"/>
                  <a:headEnd/>
                  <a:tailEnd/>
                </a:ln>
              </p:spPr>
              <p:txBody>
                <a:bodyPr anchor="ctr">
                  <a:spAutoFit/>
                </a:bodyPr>
                <a:lstStyle/>
                <a:p>
                  <a:endParaRPr lang="es-ES"/>
                </a:p>
              </p:txBody>
            </p:sp>
            <p:sp>
              <p:nvSpPr>
                <p:cNvPr id="94272" name="Rectangle 100"/>
                <p:cNvSpPr>
                  <a:spLocks noChangeArrowheads="1"/>
                </p:cNvSpPr>
                <p:nvPr/>
              </p:nvSpPr>
              <p:spPr bwMode="auto">
                <a:xfrm>
                  <a:off x="3072" y="2761"/>
                  <a:ext cx="231" cy="488"/>
                </a:xfrm>
                <a:prstGeom prst="rect">
                  <a:avLst/>
                </a:prstGeom>
                <a:noFill/>
                <a:ln w="28575">
                  <a:solidFill>
                    <a:schemeClr val="tx1"/>
                  </a:solidFill>
                  <a:miter lim="800000"/>
                  <a:headEnd/>
                  <a:tailEnd/>
                </a:ln>
              </p:spPr>
              <p:txBody>
                <a:bodyPr anchor="ctr">
                  <a:spAutoFit/>
                </a:bodyPr>
                <a:lstStyle/>
                <a:p>
                  <a:endParaRPr lang="es-ES"/>
                </a:p>
              </p:txBody>
            </p:sp>
            <p:sp>
              <p:nvSpPr>
                <p:cNvPr id="94273" name="Rectangle 101"/>
                <p:cNvSpPr>
                  <a:spLocks noChangeArrowheads="1"/>
                </p:cNvSpPr>
                <p:nvPr/>
              </p:nvSpPr>
              <p:spPr bwMode="auto">
                <a:xfrm>
                  <a:off x="3361" y="2761"/>
                  <a:ext cx="230" cy="488"/>
                </a:xfrm>
                <a:prstGeom prst="rect">
                  <a:avLst/>
                </a:prstGeom>
                <a:noFill/>
                <a:ln w="28575">
                  <a:solidFill>
                    <a:schemeClr val="tx1"/>
                  </a:solidFill>
                  <a:miter lim="800000"/>
                  <a:headEnd/>
                  <a:tailEnd/>
                </a:ln>
              </p:spPr>
              <p:txBody>
                <a:bodyPr anchor="ctr">
                  <a:spAutoFit/>
                </a:bodyPr>
                <a:lstStyle/>
                <a:p>
                  <a:endParaRPr lang="es-ES"/>
                </a:p>
              </p:txBody>
            </p:sp>
            <p:sp>
              <p:nvSpPr>
                <p:cNvPr id="94274" name="Rectangle 102"/>
                <p:cNvSpPr>
                  <a:spLocks noChangeArrowheads="1"/>
                </p:cNvSpPr>
                <p:nvPr/>
              </p:nvSpPr>
              <p:spPr bwMode="auto">
                <a:xfrm>
                  <a:off x="3649" y="2761"/>
                  <a:ext cx="230" cy="488"/>
                </a:xfrm>
                <a:prstGeom prst="rect">
                  <a:avLst/>
                </a:prstGeom>
                <a:noFill/>
                <a:ln w="28575">
                  <a:solidFill>
                    <a:schemeClr val="tx1"/>
                  </a:solidFill>
                  <a:miter lim="800000"/>
                  <a:headEnd/>
                  <a:tailEnd/>
                </a:ln>
              </p:spPr>
              <p:txBody>
                <a:bodyPr anchor="ctr">
                  <a:spAutoFit/>
                </a:bodyPr>
                <a:lstStyle/>
                <a:p>
                  <a:endParaRPr lang="es-ES"/>
                </a:p>
              </p:txBody>
            </p:sp>
            <p:sp>
              <p:nvSpPr>
                <p:cNvPr id="94275" name="Rectangle 103"/>
                <p:cNvSpPr>
                  <a:spLocks noChangeArrowheads="1"/>
                </p:cNvSpPr>
                <p:nvPr/>
              </p:nvSpPr>
              <p:spPr bwMode="auto">
                <a:xfrm>
                  <a:off x="3937" y="2761"/>
                  <a:ext cx="230" cy="488"/>
                </a:xfrm>
                <a:prstGeom prst="rect">
                  <a:avLst/>
                </a:prstGeom>
                <a:noFill/>
                <a:ln w="28575">
                  <a:solidFill>
                    <a:schemeClr val="tx1"/>
                  </a:solidFill>
                  <a:miter lim="800000"/>
                  <a:headEnd/>
                  <a:tailEnd/>
                </a:ln>
              </p:spPr>
              <p:txBody>
                <a:bodyPr anchor="ctr">
                  <a:spAutoFit/>
                </a:bodyPr>
                <a:lstStyle/>
                <a:p>
                  <a:endParaRPr lang="es-ES"/>
                </a:p>
              </p:txBody>
            </p:sp>
          </p:grpSp>
          <p:sp>
            <p:nvSpPr>
              <p:cNvPr id="94266" name="Oval 104"/>
              <p:cNvSpPr>
                <a:spLocks noChangeArrowheads="1"/>
              </p:cNvSpPr>
              <p:nvPr/>
            </p:nvSpPr>
            <p:spPr bwMode="auto">
              <a:xfrm>
                <a:off x="1648" y="3386"/>
                <a:ext cx="57" cy="58"/>
              </a:xfrm>
              <a:prstGeom prst="ellipse">
                <a:avLst/>
              </a:prstGeom>
              <a:noFill/>
              <a:ln w="19050">
                <a:solidFill>
                  <a:schemeClr val="tx1"/>
                </a:solidFill>
                <a:round/>
                <a:headEnd/>
                <a:tailEnd/>
              </a:ln>
            </p:spPr>
            <p:txBody>
              <a:bodyPr wrap="none" anchor="ctr">
                <a:spAutoFit/>
              </a:bodyPr>
              <a:lstStyle/>
              <a:p>
                <a:endParaRPr lang="es-ES"/>
              </a:p>
            </p:txBody>
          </p:sp>
          <p:sp>
            <p:nvSpPr>
              <p:cNvPr id="94267" name="Oval 105"/>
              <p:cNvSpPr>
                <a:spLocks noChangeArrowheads="1"/>
              </p:cNvSpPr>
              <p:nvPr/>
            </p:nvSpPr>
            <p:spPr bwMode="auto">
              <a:xfrm>
                <a:off x="4261" y="3396"/>
                <a:ext cx="57" cy="57"/>
              </a:xfrm>
              <a:prstGeom prst="ellipse">
                <a:avLst/>
              </a:prstGeom>
              <a:noFill/>
              <a:ln w="19050">
                <a:solidFill>
                  <a:schemeClr val="tx1"/>
                </a:solidFill>
                <a:round/>
                <a:headEnd/>
                <a:tailEnd/>
              </a:ln>
            </p:spPr>
            <p:txBody>
              <a:bodyPr wrap="none" anchor="ctr">
                <a:spAutoFit/>
              </a:bodyPr>
              <a:lstStyle/>
              <a:p>
                <a:endParaRPr lang="es-ES"/>
              </a:p>
            </p:txBody>
          </p:sp>
        </p:grpSp>
        <p:grpSp>
          <p:nvGrpSpPr>
            <p:cNvPr id="6" name="Group 106"/>
            <p:cNvGrpSpPr>
              <a:grpSpLocks/>
            </p:cNvGrpSpPr>
            <p:nvPr/>
          </p:nvGrpSpPr>
          <p:grpSpPr bwMode="auto">
            <a:xfrm>
              <a:off x="4656" y="2699"/>
              <a:ext cx="113" cy="805"/>
              <a:chOff x="5463" y="2891"/>
              <a:chExt cx="113" cy="805"/>
            </a:xfrm>
          </p:grpSpPr>
          <p:sp>
            <p:nvSpPr>
              <p:cNvPr id="94243" name="Line 107"/>
              <p:cNvSpPr>
                <a:spLocks noChangeShapeType="1"/>
              </p:cNvSpPr>
              <p:nvPr/>
            </p:nvSpPr>
            <p:spPr bwMode="auto">
              <a:xfrm>
                <a:off x="5521" y="2891"/>
                <a:ext cx="0" cy="805"/>
              </a:xfrm>
              <a:prstGeom prst="line">
                <a:avLst/>
              </a:prstGeom>
              <a:noFill/>
              <a:ln w="57150">
                <a:solidFill>
                  <a:schemeClr val="tx1"/>
                </a:solidFill>
                <a:round/>
                <a:headEnd/>
                <a:tailEnd/>
              </a:ln>
            </p:spPr>
            <p:txBody>
              <a:bodyPr anchor="ctr">
                <a:spAutoFit/>
              </a:bodyPr>
              <a:lstStyle/>
              <a:p>
                <a:endParaRPr lang="es-ES"/>
              </a:p>
            </p:txBody>
          </p:sp>
          <p:sp>
            <p:nvSpPr>
              <p:cNvPr id="94244" name="Line 108"/>
              <p:cNvSpPr>
                <a:spLocks noChangeShapeType="1"/>
              </p:cNvSpPr>
              <p:nvPr/>
            </p:nvSpPr>
            <p:spPr bwMode="auto">
              <a:xfrm>
                <a:off x="5463" y="2949"/>
                <a:ext cx="0" cy="517"/>
              </a:xfrm>
              <a:prstGeom prst="line">
                <a:avLst/>
              </a:prstGeom>
              <a:noFill/>
              <a:ln w="57150">
                <a:solidFill>
                  <a:schemeClr val="tx1"/>
                </a:solidFill>
                <a:round/>
                <a:headEnd/>
                <a:tailEnd/>
              </a:ln>
            </p:spPr>
            <p:txBody>
              <a:bodyPr anchor="ctr">
                <a:spAutoFit/>
              </a:bodyPr>
              <a:lstStyle/>
              <a:p>
                <a:endParaRPr lang="es-ES"/>
              </a:p>
            </p:txBody>
          </p:sp>
          <p:grpSp>
            <p:nvGrpSpPr>
              <p:cNvPr id="7" name="Group 109"/>
              <p:cNvGrpSpPr>
                <a:grpSpLocks/>
              </p:cNvGrpSpPr>
              <p:nvPr/>
            </p:nvGrpSpPr>
            <p:grpSpPr bwMode="auto">
              <a:xfrm>
                <a:off x="5463" y="3006"/>
                <a:ext cx="105" cy="403"/>
                <a:chOff x="3168" y="1680"/>
                <a:chExt cx="48" cy="720"/>
              </a:xfrm>
            </p:grpSpPr>
            <p:sp>
              <p:nvSpPr>
                <p:cNvPr id="94247" name="Line 110"/>
                <p:cNvSpPr>
                  <a:spLocks noChangeShapeType="1"/>
                </p:cNvSpPr>
                <p:nvPr/>
              </p:nvSpPr>
              <p:spPr bwMode="auto">
                <a:xfrm flipV="1">
                  <a:off x="3168" y="1680"/>
                  <a:ext cx="48" cy="0"/>
                </a:xfrm>
                <a:prstGeom prst="line">
                  <a:avLst/>
                </a:prstGeom>
                <a:noFill/>
                <a:ln w="19050">
                  <a:solidFill>
                    <a:schemeClr val="tx1"/>
                  </a:solidFill>
                  <a:round/>
                  <a:headEnd/>
                  <a:tailEnd/>
                </a:ln>
              </p:spPr>
              <p:txBody>
                <a:bodyPr anchor="ctr">
                  <a:spAutoFit/>
                </a:bodyPr>
                <a:lstStyle/>
                <a:p>
                  <a:endParaRPr lang="es-ES"/>
                </a:p>
              </p:txBody>
            </p:sp>
            <p:sp>
              <p:nvSpPr>
                <p:cNvPr id="94248" name="Line 111"/>
                <p:cNvSpPr>
                  <a:spLocks noChangeShapeType="1"/>
                </p:cNvSpPr>
                <p:nvPr/>
              </p:nvSpPr>
              <p:spPr bwMode="auto">
                <a:xfrm flipV="1">
                  <a:off x="3168" y="1728"/>
                  <a:ext cx="48" cy="0"/>
                </a:xfrm>
                <a:prstGeom prst="line">
                  <a:avLst/>
                </a:prstGeom>
                <a:noFill/>
                <a:ln w="19050">
                  <a:solidFill>
                    <a:schemeClr val="tx1"/>
                  </a:solidFill>
                  <a:round/>
                  <a:headEnd/>
                  <a:tailEnd/>
                </a:ln>
              </p:spPr>
              <p:txBody>
                <a:bodyPr anchor="ctr">
                  <a:spAutoFit/>
                </a:bodyPr>
                <a:lstStyle/>
                <a:p>
                  <a:endParaRPr lang="es-ES"/>
                </a:p>
              </p:txBody>
            </p:sp>
            <p:sp>
              <p:nvSpPr>
                <p:cNvPr id="94249" name="Line 112"/>
                <p:cNvSpPr>
                  <a:spLocks noChangeShapeType="1"/>
                </p:cNvSpPr>
                <p:nvPr/>
              </p:nvSpPr>
              <p:spPr bwMode="auto">
                <a:xfrm flipV="1">
                  <a:off x="3168" y="1776"/>
                  <a:ext cx="48" cy="0"/>
                </a:xfrm>
                <a:prstGeom prst="line">
                  <a:avLst/>
                </a:prstGeom>
                <a:noFill/>
                <a:ln w="19050">
                  <a:solidFill>
                    <a:schemeClr val="tx1"/>
                  </a:solidFill>
                  <a:round/>
                  <a:headEnd/>
                  <a:tailEnd/>
                </a:ln>
              </p:spPr>
              <p:txBody>
                <a:bodyPr anchor="ctr">
                  <a:spAutoFit/>
                </a:bodyPr>
                <a:lstStyle/>
                <a:p>
                  <a:endParaRPr lang="es-ES"/>
                </a:p>
              </p:txBody>
            </p:sp>
            <p:sp>
              <p:nvSpPr>
                <p:cNvPr id="94250" name="Line 113"/>
                <p:cNvSpPr>
                  <a:spLocks noChangeShapeType="1"/>
                </p:cNvSpPr>
                <p:nvPr/>
              </p:nvSpPr>
              <p:spPr bwMode="auto">
                <a:xfrm flipV="1">
                  <a:off x="3168" y="1824"/>
                  <a:ext cx="48" cy="0"/>
                </a:xfrm>
                <a:prstGeom prst="line">
                  <a:avLst/>
                </a:prstGeom>
                <a:noFill/>
                <a:ln w="19050">
                  <a:solidFill>
                    <a:schemeClr val="tx1"/>
                  </a:solidFill>
                  <a:round/>
                  <a:headEnd/>
                  <a:tailEnd/>
                </a:ln>
              </p:spPr>
              <p:txBody>
                <a:bodyPr anchor="ctr">
                  <a:spAutoFit/>
                </a:bodyPr>
                <a:lstStyle/>
                <a:p>
                  <a:endParaRPr lang="es-ES"/>
                </a:p>
              </p:txBody>
            </p:sp>
            <p:sp>
              <p:nvSpPr>
                <p:cNvPr id="94251" name="Line 114"/>
                <p:cNvSpPr>
                  <a:spLocks noChangeShapeType="1"/>
                </p:cNvSpPr>
                <p:nvPr/>
              </p:nvSpPr>
              <p:spPr bwMode="auto">
                <a:xfrm flipV="1">
                  <a:off x="3168" y="1872"/>
                  <a:ext cx="48" cy="0"/>
                </a:xfrm>
                <a:prstGeom prst="line">
                  <a:avLst/>
                </a:prstGeom>
                <a:noFill/>
                <a:ln w="19050">
                  <a:solidFill>
                    <a:schemeClr val="tx1"/>
                  </a:solidFill>
                  <a:round/>
                  <a:headEnd/>
                  <a:tailEnd/>
                </a:ln>
              </p:spPr>
              <p:txBody>
                <a:bodyPr anchor="ctr">
                  <a:spAutoFit/>
                </a:bodyPr>
                <a:lstStyle/>
                <a:p>
                  <a:endParaRPr lang="es-ES"/>
                </a:p>
              </p:txBody>
            </p:sp>
            <p:sp>
              <p:nvSpPr>
                <p:cNvPr id="94252" name="Line 115"/>
                <p:cNvSpPr>
                  <a:spLocks noChangeShapeType="1"/>
                </p:cNvSpPr>
                <p:nvPr/>
              </p:nvSpPr>
              <p:spPr bwMode="auto">
                <a:xfrm flipV="1">
                  <a:off x="3168" y="1920"/>
                  <a:ext cx="48" cy="0"/>
                </a:xfrm>
                <a:prstGeom prst="line">
                  <a:avLst/>
                </a:prstGeom>
                <a:noFill/>
                <a:ln w="19050">
                  <a:solidFill>
                    <a:schemeClr val="tx1"/>
                  </a:solidFill>
                  <a:round/>
                  <a:headEnd/>
                  <a:tailEnd/>
                </a:ln>
              </p:spPr>
              <p:txBody>
                <a:bodyPr anchor="ctr">
                  <a:spAutoFit/>
                </a:bodyPr>
                <a:lstStyle/>
                <a:p>
                  <a:endParaRPr lang="es-ES"/>
                </a:p>
              </p:txBody>
            </p:sp>
            <p:sp>
              <p:nvSpPr>
                <p:cNvPr id="94253" name="Line 116"/>
                <p:cNvSpPr>
                  <a:spLocks noChangeShapeType="1"/>
                </p:cNvSpPr>
                <p:nvPr/>
              </p:nvSpPr>
              <p:spPr bwMode="auto">
                <a:xfrm flipV="1">
                  <a:off x="3168" y="1968"/>
                  <a:ext cx="48" cy="0"/>
                </a:xfrm>
                <a:prstGeom prst="line">
                  <a:avLst/>
                </a:prstGeom>
                <a:noFill/>
                <a:ln w="19050">
                  <a:solidFill>
                    <a:schemeClr val="tx1"/>
                  </a:solidFill>
                  <a:round/>
                  <a:headEnd/>
                  <a:tailEnd/>
                </a:ln>
              </p:spPr>
              <p:txBody>
                <a:bodyPr anchor="ctr">
                  <a:spAutoFit/>
                </a:bodyPr>
                <a:lstStyle/>
                <a:p>
                  <a:endParaRPr lang="es-ES"/>
                </a:p>
              </p:txBody>
            </p:sp>
            <p:sp>
              <p:nvSpPr>
                <p:cNvPr id="94254" name="Line 117"/>
                <p:cNvSpPr>
                  <a:spLocks noChangeShapeType="1"/>
                </p:cNvSpPr>
                <p:nvPr/>
              </p:nvSpPr>
              <p:spPr bwMode="auto">
                <a:xfrm flipV="1">
                  <a:off x="3168" y="2016"/>
                  <a:ext cx="48" cy="0"/>
                </a:xfrm>
                <a:prstGeom prst="line">
                  <a:avLst/>
                </a:prstGeom>
                <a:noFill/>
                <a:ln w="19050">
                  <a:solidFill>
                    <a:schemeClr val="tx1"/>
                  </a:solidFill>
                  <a:round/>
                  <a:headEnd/>
                  <a:tailEnd/>
                </a:ln>
              </p:spPr>
              <p:txBody>
                <a:bodyPr anchor="ctr">
                  <a:spAutoFit/>
                </a:bodyPr>
                <a:lstStyle/>
                <a:p>
                  <a:endParaRPr lang="es-ES"/>
                </a:p>
              </p:txBody>
            </p:sp>
            <p:sp>
              <p:nvSpPr>
                <p:cNvPr id="94255" name="Line 118"/>
                <p:cNvSpPr>
                  <a:spLocks noChangeShapeType="1"/>
                </p:cNvSpPr>
                <p:nvPr/>
              </p:nvSpPr>
              <p:spPr bwMode="auto">
                <a:xfrm flipV="1">
                  <a:off x="3168" y="2064"/>
                  <a:ext cx="48" cy="0"/>
                </a:xfrm>
                <a:prstGeom prst="line">
                  <a:avLst/>
                </a:prstGeom>
                <a:noFill/>
                <a:ln w="19050">
                  <a:solidFill>
                    <a:schemeClr val="tx1"/>
                  </a:solidFill>
                  <a:round/>
                  <a:headEnd/>
                  <a:tailEnd/>
                </a:ln>
              </p:spPr>
              <p:txBody>
                <a:bodyPr anchor="ctr">
                  <a:spAutoFit/>
                </a:bodyPr>
                <a:lstStyle/>
                <a:p>
                  <a:endParaRPr lang="es-ES"/>
                </a:p>
              </p:txBody>
            </p:sp>
            <p:sp>
              <p:nvSpPr>
                <p:cNvPr id="94256" name="Line 119"/>
                <p:cNvSpPr>
                  <a:spLocks noChangeShapeType="1"/>
                </p:cNvSpPr>
                <p:nvPr/>
              </p:nvSpPr>
              <p:spPr bwMode="auto">
                <a:xfrm flipV="1">
                  <a:off x="3168" y="2112"/>
                  <a:ext cx="48" cy="0"/>
                </a:xfrm>
                <a:prstGeom prst="line">
                  <a:avLst/>
                </a:prstGeom>
                <a:noFill/>
                <a:ln w="19050">
                  <a:solidFill>
                    <a:schemeClr val="tx1"/>
                  </a:solidFill>
                  <a:round/>
                  <a:headEnd/>
                  <a:tailEnd/>
                </a:ln>
              </p:spPr>
              <p:txBody>
                <a:bodyPr anchor="ctr">
                  <a:spAutoFit/>
                </a:bodyPr>
                <a:lstStyle/>
                <a:p>
                  <a:endParaRPr lang="es-ES"/>
                </a:p>
              </p:txBody>
            </p:sp>
            <p:sp>
              <p:nvSpPr>
                <p:cNvPr id="94257" name="Line 120"/>
                <p:cNvSpPr>
                  <a:spLocks noChangeShapeType="1"/>
                </p:cNvSpPr>
                <p:nvPr/>
              </p:nvSpPr>
              <p:spPr bwMode="auto">
                <a:xfrm flipV="1">
                  <a:off x="3168" y="2160"/>
                  <a:ext cx="48" cy="0"/>
                </a:xfrm>
                <a:prstGeom prst="line">
                  <a:avLst/>
                </a:prstGeom>
                <a:noFill/>
                <a:ln w="19050">
                  <a:solidFill>
                    <a:schemeClr val="tx1"/>
                  </a:solidFill>
                  <a:round/>
                  <a:headEnd/>
                  <a:tailEnd/>
                </a:ln>
              </p:spPr>
              <p:txBody>
                <a:bodyPr anchor="ctr">
                  <a:spAutoFit/>
                </a:bodyPr>
                <a:lstStyle/>
                <a:p>
                  <a:endParaRPr lang="es-ES"/>
                </a:p>
              </p:txBody>
            </p:sp>
            <p:sp>
              <p:nvSpPr>
                <p:cNvPr id="94258" name="Line 121"/>
                <p:cNvSpPr>
                  <a:spLocks noChangeShapeType="1"/>
                </p:cNvSpPr>
                <p:nvPr/>
              </p:nvSpPr>
              <p:spPr bwMode="auto">
                <a:xfrm flipV="1">
                  <a:off x="3168" y="2208"/>
                  <a:ext cx="48" cy="0"/>
                </a:xfrm>
                <a:prstGeom prst="line">
                  <a:avLst/>
                </a:prstGeom>
                <a:noFill/>
                <a:ln w="19050">
                  <a:solidFill>
                    <a:schemeClr val="tx1"/>
                  </a:solidFill>
                  <a:round/>
                  <a:headEnd/>
                  <a:tailEnd/>
                </a:ln>
              </p:spPr>
              <p:txBody>
                <a:bodyPr anchor="ctr">
                  <a:spAutoFit/>
                </a:bodyPr>
                <a:lstStyle/>
                <a:p>
                  <a:endParaRPr lang="es-ES"/>
                </a:p>
              </p:txBody>
            </p:sp>
            <p:sp>
              <p:nvSpPr>
                <p:cNvPr id="94259" name="Line 122"/>
                <p:cNvSpPr>
                  <a:spLocks noChangeShapeType="1"/>
                </p:cNvSpPr>
                <p:nvPr/>
              </p:nvSpPr>
              <p:spPr bwMode="auto">
                <a:xfrm flipV="1">
                  <a:off x="3168" y="2256"/>
                  <a:ext cx="48" cy="0"/>
                </a:xfrm>
                <a:prstGeom prst="line">
                  <a:avLst/>
                </a:prstGeom>
                <a:noFill/>
                <a:ln w="19050">
                  <a:solidFill>
                    <a:schemeClr val="tx1"/>
                  </a:solidFill>
                  <a:round/>
                  <a:headEnd/>
                  <a:tailEnd/>
                </a:ln>
              </p:spPr>
              <p:txBody>
                <a:bodyPr anchor="ctr">
                  <a:spAutoFit/>
                </a:bodyPr>
                <a:lstStyle/>
                <a:p>
                  <a:endParaRPr lang="es-ES"/>
                </a:p>
              </p:txBody>
            </p:sp>
            <p:sp>
              <p:nvSpPr>
                <p:cNvPr id="94260" name="Line 123"/>
                <p:cNvSpPr>
                  <a:spLocks noChangeShapeType="1"/>
                </p:cNvSpPr>
                <p:nvPr/>
              </p:nvSpPr>
              <p:spPr bwMode="auto">
                <a:xfrm flipV="1">
                  <a:off x="3168" y="2304"/>
                  <a:ext cx="48" cy="0"/>
                </a:xfrm>
                <a:prstGeom prst="line">
                  <a:avLst/>
                </a:prstGeom>
                <a:noFill/>
                <a:ln w="19050">
                  <a:solidFill>
                    <a:schemeClr val="tx1"/>
                  </a:solidFill>
                  <a:round/>
                  <a:headEnd/>
                  <a:tailEnd/>
                </a:ln>
              </p:spPr>
              <p:txBody>
                <a:bodyPr anchor="ctr">
                  <a:spAutoFit/>
                </a:bodyPr>
                <a:lstStyle/>
                <a:p>
                  <a:endParaRPr lang="es-ES"/>
                </a:p>
              </p:txBody>
            </p:sp>
            <p:sp>
              <p:nvSpPr>
                <p:cNvPr id="94261" name="Line 124"/>
                <p:cNvSpPr>
                  <a:spLocks noChangeShapeType="1"/>
                </p:cNvSpPr>
                <p:nvPr/>
              </p:nvSpPr>
              <p:spPr bwMode="auto">
                <a:xfrm flipV="1">
                  <a:off x="3168" y="2352"/>
                  <a:ext cx="48" cy="0"/>
                </a:xfrm>
                <a:prstGeom prst="line">
                  <a:avLst/>
                </a:prstGeom>
                <a:noFill/>
                <a:ln w="19050">
                  <a:solidFill>
                    <a:schemeClr val="tx1"/>
                  </a:solidFill>
                  <a:round/>
                  <a:headEnd/>
                  <a:tailEnd/>
                </a:ln>
              </p:spPr>
              <p:txBody>
                <a:bodyPr anchor="ctr">
                  <a:spAutoFit/>
                </a:bodyPr>
                <a:lstStyle/>
                <a:p>
                  <a:endParaRPr lang="es-ES"/>
                </a:p>
              </p:txBody>
            </p:sp>
            <p:sp>
              <p:nvSpPr>
                <p:cNvPr id="94262" name="Line 125"/>
                <p:cNvSpPr>
                  <a:spLocks noChangeShapeType="1"/>
                </p:cNvSpPr>
                <p:nvPr/>
              </p:nvSpPr>
              <p:spPr bwMode="auto">
                <a:xfrm flipV="1">
                  <a:off x="3168" y="2400"/>
                  <a:ext cx="48" cy="0"/>
                </a:xfrm>
                <a:prstGeom prst="line">
                  <a:avLst/>
                </a:prstGeom>
                <a:noFill/>
                <a:ln w="19050">
                  <a:solidFill>
                    <a:schemeClr val="tx1"/>
                  </a:solidFill>
                  <a:round/>
                  <a:headEnd/>
                  <a:tailEnd/>
                </a:ln>
              </p:spPr>
              <p:txBody>
                <a:bodyPr anchor="ctr">
                  <a:spAutoFit/>
                </a:bodyPr>
                <a:lstStyle/>
                <a:p>
                  <a:endParaRPr lang="es-ES"/>
                </a:p>
              </p:txBody>
            </p:sp>
          </p:grpSp>
          <p:sp>
            <p:nvSpPr>
              <p:cNvPr id="94246" name="Line 126"/>
              <p:cNvSpPr>
                <a:spLocks noChangeShapeType="1"/>
              </p:cNvSpPr>
              <p:nvPr/>
            </p:nvSpPr>
            <p:spPr bwMode="auto">
              <a:xfrm>
                <a:off x="5576" y="2952"/>
                <a:ext cx="0" cy="517"/>
              </a:xfrm>
              <a:prstGeom prst="line">
                <a:avLst/>
              </a:prstGeom>
              <a:noFill/>
              <a:ln w="57150">
                <a:solidFill>
                  <a:schemeClr val="tx1"/>
                </a:solidFill>
                <a:round/>
                <a:headEnd/>
                <a:tailEnd/>
              </a:ln>
            </p:spPr>
            <p:txBody>
              <a:bodyPr anchor="ctr">
                <a:spAutoFit/>
              </a:bodyPr>
              <a:lstStyle/>
              <a:p>
                <a:endParaRPr lang="es-ES"/>
              </a:p>
            </p:txBody>
          </p:sp>
        </p:grpSp>
      </p:grpSp>
      <p:grpSp>
        <p:nvGrpSpPr>
          <p:cNvPr id="11" name="10 Grupo"/>
          <p:cNvGrpSpPr/>
          <p:nvPr/>
        </p:nvGrpSpPr>
        <p:grpSpPr>
          <a:xfrm>
            <a:off x="711601" y="2626393"/>
            <a:ext cx="3305970" cy="2332914"/>
            <a:chOff x="251520" y="1814516"/>
            <a:chExt cx="3810000" cy="2681284"/>
          </a:xfrm>
        </p:grpSpPr>
        <p:sp>
          <p:nvSpPr>
            <p:cNvPr id="94214" name="Line 149"/>
            <p:cNvSpPr>
              <a:spLocks noChangeShapeType="1"/>
            </p:cNvSpPr>
            <p:nvPr/>
          </p:nvSpPr>
          <p:spPr bwMode="auto">
            <a:xfrm>
              <a:off x="2535933" y="2362200"/>
              <a:ext cx="381000" cy="0"/>
            </a:xfrm>
            <a:prstGeom prst="line">
              <a:avLst/>
            </a:prstGeom>
            <a:noFill/>
            <a:ln w="38100">
              <a:solidFill>
                <a:schemeClr val="tx1"/>
              </a:solidFill>
              <a:prstDash val="sysDot"/>
              <a:round/>
              <a:headEnd/>
              <a:tailEnd/>
            </a:ln>
          </p:spPr>
          <p:txBody>
            <a:bodyPr wrap="none" anchor="ctr">
              <a:spAutoFit/>
            </a:bodyPr>
            <a:lstStyle/>
            <a:p>
              <a:endParaRPr lang="es-ES"/>
            </a:p>
          </p:txBody>
        </p:sp>
        <p:sp>
          <p:nvSpPr>
            <p:cNvPr id="94216" name="Rectangle 153"/>
            <p:cNvSpPr>
              <a:spLocks noChangeArrowheads="1"/>
            </p:cNvSpPr>
            <p:nvPr/>
          </p:nvSpPr>
          <p:spPr bwMode="auto">
            <a:xfrm>
              <a:off x="708720" y="2590800"/>
              <a:ext cx="3352800" cy="1371600"/>
            </a:xfrm>
            <a:prstGeom prst="rect">
              <a:avLst/>
            </a:prstGeom>
            <a:noFill/>
            <a:ln w="28575">
              <a:solidFill>
                <a:schemeClr val="tx1"/>
              </a:solidFill>
              <a:miter lim="800000"/>
              <a:headEnd/>
              <a:tailEnd/>
            </a:ln>
          </p:spPr>
          <p:txBody>
            <a:bodyPr wrap="none" anchor="ctr"/>
            <a:lstStyle/>
            <a:p>
              <a:pPr>
                <a:spcBef>
                  <a:spcPct val="20000"/>
                </a:spcBef>
              </a:pPr>
              <a:endParaRPr lang="es-ES_tradnl" sz="2400"/>
            </a:p>
          </p:txBody>
        </p:sp>
        <p:grpSp>
          <p:nvGrpSpPr>
            <p:cNvPr id="8" name="Group 154"/>
            <p:cNvGrpSpPr>
              <a:grpSpLocks/>
            </p:cNvGrpSpPr>
            <p:nvPr/>
          </p:nvGrpSpPr>
          <p:grpSpPr bwMode="auto">
            <a:xfrm>
              <a:off x="753172" y="2908300"/>
              <a:ext cx="627063" cy="460375"/>
              <a:chOff x="1605" y="1180"/>
              <a:chExt cx="395" cy="290"/>
            </a:xfrm>
          </p:grpSpPr>
          <p:sp>
            <p:nvSpPr>
              <p:cNvPr id="94239" name="Text Box 155"/>
              <p:cNvSpPr txBox="1">
                <a:spLocks noChangeArrowheads="1"/>
              </p:cNvSpPr>
              <p:nvPr/>
            </p:nvSpPr>
            <p:spPr bwMode="auto">
              <a:xfrm>
                <a:off x="1605" y="1180"/>
                <a:ext cx="395" cy="290"/>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CS</a:t>
                </a:r>
                <a:r>
                  <a:rPr lang="es-ES_tradnl" dirty="0">
                    <a:latin typeface="Arial Narrow" pitchFamily="34" charset="0"/>
                  </a:rPr>
                  <a:t> </a:t>
                </a:r>
                <a:r>
                  <a:rPr lang="es-ES_tradnl" b="1" baseline="-25000" dirty="0">
                    <a:latin typeface="Arial Narrow" pitchFamily="34" charset="0"/>
                  </a:rPr>
                  <a:t> </a:t>
                </a:r>
                <a:endParaRPr lang="es-ES_tradnl" dirty="0"/>
              </a:p>
            </p:txBody>
          </p:sp>
          <p:sp>
            <p:nvSpPr>
              <p:cNvPr id="94240" name="Line 156"/>
              <p:cNvSpPr>
                <a:spLocks noChangeShapeType="1"/>
              </p:cNvSpPr>
              <p:nvPr/>
            </p:nvSpPr>
            <p:spPr bwMode="auto">
              <a:xfrm>
                <a:off x="1654" y="1248"/>
                <a:ext cx="240" cy="0"/>
              </a:xfrm>
              <a:prstGeom prst="line">
                <a:avLst/>
              </a:prstGeom>
              <a:noFill/>
              <a:ln w="19050">
                <a:solidFill>
                  <a:schemeClr val="tx1"/>
                </a:solidFill>
                <a:round/>
                <a:headEnd/>
                <a:tailEnd/>
              </a:ln>
            </p:spPr>
            <p:txBody>
              <a:bodyPr wrap="none" anchor="ctr"/>
              <a:lstStyle/>
              <a:p>
                <a:endParaRPr lang="es-ES"/>
              </a:p>
            </p:txBody>
          </p:sp>
        </p:grpSp>
        <p:sp>
          <p:nvSpPr>
            <p:cNvPr id="94218" name="Text Box 157"/>
            <p:cNvSpPr txBox="1">
              <a:spLocks noChangeArrowheads="1"/>
            </p:cNvSpPr>
            <p:nvPr/>
          </p:nvSpPr>
          <p:spPr bwMode="auto">
            <a:xfrm>
              <a:off x="708720" y="3539108"/>
              <a:ext cx="1208568" cy="360811"/>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sz="1800" b="1" dirty="0">
                  <a:latin typeface="Arial Narrow" pitchFamily="34" charset="0"/>
                </a:rPr>
                <a:t>Dirección</a:t>
              </a:r>
              <a:endParaRPr lang="es-ES_tradnl" dirty="0">
                <a:latin typeface="Arial Narrow" pitchFamily="34" charset="0"/>
              </a:endParaRPr>
            </a:p>
          </p:txBody>
        </p:sp>
        <p:sp>
          <p:nvSpPr>
            <p:cNvPr id="94219" name="Line 158"/>
            <p:cNvSpPr>
              <a:spLocks noChangeShapeType="1"/>
            </p:cNvSpPr>
            <p:nvPr/>
          </p:nvSpPr>
          <p:spPr bwMode="auto">
            <a:xfrm>
              <a:off x="2385120" y="3962400"/>
              <a:ext cx="0" cy="533400"/>
            </a:xfrm>
            <a:prstGeom prst="line">
              <a:avLst/>
            </a:prstGeom>
            <a:noFill/>
            <a:ln w="38100">
              <a:solidFill>
                <a:srgbClr val="FF9900"/>
              </a:solidFill>
              <a:round/>
              <a:headEnd type="triangle" w="med" len="med"/>
              <a:tailEnd type="triangle" w="med" len="med"/>
            </a:ln>
          </p:spPr>
          <p:txBody>
            <a:bodyPr wrap="none" anchor="ctr"/>
            <a:lstStyle/>
            <a:p>
              <a:endParaRPr lang="es-ES"/>
            </a:p>
          </p:txBody>
        </p:sp>
        <p:sp>
          <p:nvSpPr>
            <p:cNvPr id="94220" name="Line 159"/>
            <p:cNvSpPr>
              <a:spLocks noChangeShapeType="1"/>
            </p:cNvSpPr>
            <p:nvPr/>
          </p:nvSpPr>
          <p:spPr bwMode="auto">
            <a:xfrm>
              <a:off x="251520" y="3092450"/>
              <a:ext cx="457200" cy="0"/>
            </a:xfrm>
            <a:prstGeom prst="line">
              <a:avLst/>
            </a:prstGeom>
            <a:noFill/>
            <a:ln w="28575">
              <a:solidFill>
                <a:schemeClr val="accent3">
                  <a:lumMod val="60000"/>
                  <a:lumOff val="40000"/>
                </a:schemeClr>
              </a:solidFill>
              <a:round/>
              <a:headEnd/>
              <a:tailEnd type="triangle" w="med" len="med"/>
            </a:ln>
          </p:spPr>
          <p:txBody>
            <a:bodyPr wrap="none" anchor="ctr"/>
            <a:lstStyle/>
            <a:p>
              <a:r>
                <a:rPr lang="es-ES" dirty="0"/>
                <a:t>                             </a:t>
              </a:r>
            </a:p>
          </p:txBody>
        </p:sp>
        <p:sp>
          <p:nvSpPr>
            <p:cNvPr id="94221" name="Line 160"/>
            <p:cNvSpPr>
              <a:spLocks noChangeShapeType="1"/>
            </p:cNvSpPr>
            <p:nvPr/>
          </p:nvSpPr>
          <p:spPr bwMode="auto">
            <a:xfrm>
              <a:off x="251520" y="3714750"/>
              <a:ext cx="457200" cy="0"/>
            </a:xfrm>
            <a:prstGeom prst="line">
              <a:avLst/>
            </a:prstGeom>
            <a:noFill/>
            <a:ln w="38100">
              <a:solidFill>
                <a:srgbClr val="0070C0"/>
              </a:solidFill>
              <a:round/>
              <a:headEnd/>
              <a:tailEnd type="triangle" w="med" len="med"/>
            </a:ln>
          </p:spPr>
          <p:txBody>
            <a:bodyPr wrap="none" anchor="ctr"/>
            <a:lstStyle/>
            <a:p>
              <a:endParaRPr lang="es-ES"/>
            </a:p>
          </p:txBody>
        </p:sp>
        <p:sp>
          <p:nvSpPr>
            <p:cNvPr id="94222" name="Line 161"/>
            <p:cNvSpPr>
              <a:spLocks noChangeShapeType="1"/>
            </p:cNvSpPr>
            <p:nvPr/>
          </p:nvSpPr>
          <p:spPr bwMode="auto">
            <a:xfrm>
              <a:off x="1775520" y="2209800"/>
              <a:ext cx="0" cy="3810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94223" name="Line 163"/>
            <p:cNvSpPr>
              <a:spLocks noChangeShapeType="1"/>
            </p:cNvSpPr>
            <p:nvPr/>
          </p:nvSpPr>
          <p:spPr bwMode="auto">
            <a:xfrm flipH="1">
              <a:off x="403920" y="3581400"/>
              <a:ext cx="76200" cy="228600"/>
            </a:xfrm>
            <a:prstGeom prst="line">
              <a:avLst/>
            </a:prstGeom>
            <a:noFill/>
            <a:ln w="28575">
              <a:solidFill>
                <a:srgbClr val="0070C0"/>
              </a:solidFill>
              <a:round/>
              <a:headEnd/>
              <a:tailEnd/>
            </a:ln>
          </p:spPr>
          <p:txBody>
            <a:bodyPr wrap="none" anchor="ctr"/>
            <a:lstStyle/>
            <a:p>
              <a:endParaRPr lang="es-ES"/>
            </a:p>
          </p:txBody>
        </p:sp>
        <p:sp>
          <p:nvSpPr>
            <p:cNvPr id="94224" name="Line 164"/>
            <p:cNvSpPr>
              <a:spLocks noChangeShapeType="1"/>
            </p:cNvSpPr>
            <p:nvPr/>
          </p:nvSpPr>
          <p:spPr bwMode="auto">
            <a:xfrm flipV="1">
              <a:off x="2232720" y="4191000"/>
              <a:ext cx="304800" cy="76200"/>
            </a:xfrm>
            <a:prstGeom prst="line">
              <a:avLst/>
            </a:prstGeom>
            <a:noFill/>
            <a:ln w="28575">
              <a:solidFill>
                <a:srgbClr val="FF9900"/>
              </a:solidFill>
              <a:round/>
              <a:headEnd/>
              <a:tailEnd/>
            </a:ln>
          </p:spPr>
          <p:txBody>
            <a:bodyPr wrap="none" anchor="ctr"/>
            <a:lstStyle/>
            <a:p>
              <a:endParaRPr lang="es-ES"/>
            </a:p>
          </p:txBody>
        </p:sp>
        <p:sp>
          <p:nvSpPr>
            <p:cNvPr id="94225" name="Text Box 165"/>
            <p:cNvSpPr txBox="1">
              <a:spLocks noChangeArrowheads="1"/>
            </p:cNvSpPr>
            <p:nvPr/>
          </p:nvSpPr>
          <p:spPr bwMode="auto">
            <a:xfrm>
              <a:off x="1980308" y="3615308"/>
              <a:ext cx="818767" cy="360811"/>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sz="1800" b="1" dirty="0">
                  <a:latin typeface="Arial Narrow" pitchFamily="34" charset="0"/>
                </a:rPr>
                <a:t>Datos</a:t>
              </a:r>
              <a:endParaRPr lang="es-ES_tradnl" dirty="0">
                <a:latin typeface="Arial Narrow" pitchFamily="34" charset="0"/>
              </a:endParaRPr>
            </a:p>
          </p:txBody>
        </p:sp>
        <p:sp>
          <p:nvSpPr>
            <p:cNvPr id="94226" name="Text Box 166"/>
            <p:cNvSpPr txBox="1">
              <a:spLocks noChangeArrowheads="1"/>
            </p:cNvSpPr>
            <p:nvPr/>
          </p:nvSpPr>
          <p:spPr bwMode="auto">
            <a:xfrm>
              <a:off x="2539108" y="4038600"/>
              <a:ext cx="466725" cy="396875"/>
            </a:xfrm>
            <a:prstGeom prst="rect">
              <a:avLst/>
            </a:prstGeom>
            <a:noFill/>
            <a:ln w="28575">
              <a:noFill/>
              <a:miter lim="800000"/>
              <a:headEnd/>
              <a:tailEnd/>
            </a:ln>
          </p:spPr>
          <p:txBody>
            <a:bodyPr wrap="none" anchor="ctr">
              <a:spAutoFit/>
            </a:bodyPr>
            <a:lstStyle/>
            <a:p>
              <a:pPr>
                <a:spcBef>
                  <a:spcPct val="20000"/>
                </a:spcBef>
              </a:pPr>
              <a:r>
                <a:rPr lang="es-ES_tradnl"/>
                <a:t>64</a:t>
              </a:r>
            </a:p>
          </p:txBody>
        </p:sp>
        <p:sp>
          <p:nvSpPr>
            <p:cNvPr id="94227" name="Line 169"/>
            <p:cNvSpPr>
              <a:spLocks noChangeShapeType="1"/>
            </p:cNvSpPr>
            <p:nvPr/>
          </p:nvSpPr>
          <p:spPr bwMode="auto">
            <a:xfrm>
              <a:off x="3604320" y="2209800"/>
              <a:ext cx="0" cy="3810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94228" name="Line 170"/>
            <p:cNvSpPr>
              <a:spLocks noChangeShapeType="1"/>
            </p:cNvSpPr>
            <p:nvPr/>
          </p:nvSpPr>
          <p:spPr bwMode="auto">
            <a:xfrm>
              <a:off x="251520" y="3397250"/>
              <a:ext cx="457200" cy="0"/>
            </a:xfrm>
            <a:prstGeom prst="line">
              <a:avLst/>
            </a:prstGeom>
            <a:noFill/>
            <a:ln w="28575">
              <a:solidFill>
                <a:schemeClr val="accent3">
                  <a:lumMod val="60000"/>
                  <a:lumOff val="40000"/>
                </a:schemeClr>
              </a:solidFill>
              <a:round/>
              <a:headEnd/>
              <a:tailEnd type="triangle" w="med" len="med"/>
            </a:ln>
          </p:spPr>
          <p:txBody>
            <a:bodyPr wrap="none" anchor="ctr"/>
            <a:lstStyle/>
            <a:p>
              <a:endParaRPr lang="es-ES"/>
            </a:p>
          </p:txBody>
        </p:sp>
        <p:sp>
          <p:nvSpPr>
            <p:cNvPr id="94229" name="Text Box 171"/>
            <p:cNvSpPr txBox="1">
              <a:spLocks noChangeArrowheads="1"/>
            </p:cNvSpPr>
            <p:nvPr/>
          </p:nvSpPr>
          <p:spPr bwMode="auto">
            <a:xfrm>
              <a:off x="726183" y="3232720"/>
              <a:ext cx="1051538" cy="360811"/>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sz="1800" dirty="0">
                  <a:latin typeface="Arial Narrow" pitchFamily="34" charset="0"/>
                </a:rPr>
                <a:t>Órdenes</a:t>
              </a:r>
              <a:endParaRPr lang="es-ES_tradnl" dirty="0">
                <a:latin typeface="Arial Narrow" pitchFamily="34" charset="0"/>
              </a:endParaRPr>
            </a:p>
          </p:txBody>
        </p:sp>
        <p:sp>
          <p:nvSpPr>
            <p:cNvPr id="94230" name="Line 172"/>
            <p:cNvSpPr>
              <a:spLocks noChangeShapeType="1"/>
            </p:cNvSpPr>
            <p:nvPr/>
          </p:nvSpPr>
          <p:spPr bwMode="auto">
            <a:xfrm>
              <a:off x="251520" y="2819400"/>
              <a:ext cx="457200" cy="0"/>
            </a:xfrm>
            <a:prstGeom prst="line">
              <a:avLst/>
            </a:prstGeom>
            <a:noFill/>
            <a:ln w="28575">
              <a:solidFill>
                <a:schemeClr val="accent3">
                  <a:lumMod val="60000"/>
                  <a:lumOff val="40000"/>
                </a:schemeClr>
              </a:solidFill>
              <a:round/>
              <a:headEnd/>
              <a:tailEnd type="triangle" w="med" len="med"/>
            </a:ln>
          </p:spPr>
          <p:txBody>
            <a:bodyPr wrap="none" anchor="ctr"/>
            <a:lstStyle/>
            <a:p>
              <a:r>
                <a:rPr lang="es-ES" dirty="0"/>
                <a:t> </a:t>
              </a:r>
            </a:p>
          </p:txBody>
        </p:sp>
        <p:sp>
          <p:nvSpPr>
            <p:cNvPr id="94231" name="Text Box 173"/>
            <p:cNvSpPr txBox="1">
              <a:spLocks noChangeArrowheads="1"/>
            </p:cNvSpPr>
            <p:nvPr/>
          </p:nvSpPr>
          <p:spPr bwMode="auto">
            <a:xfrm>
              <a:off x="726183" y="2654870"/>
              <a:ext cx="709770" cy="360811"/>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sz="1800" dirty="0">
                  <a:latin typeface="Arial Narrow" pitchFamily="34" charset="0"/>
                </a:rPr>
                <a:t>Reloj</a:t>
              </a:r>
              <a:endParaRPr lang="es-ES_tradnl" dirty="0">
                <a:latin typeface="Arial Narrow" pitchFamily="34" charset="0"/>
              </a:endParaRPr>
            </a:p>
          </p:txBody>
        </p:sp>
        <p:grpSp>
          <p:nvGrpSpPr>
            <p:cNvPr id="9" name="Group 174"/>
            <p:cNvGrpSpPr>
              <a:grpSpLocks/>
            </p:cNvGrpSpPr>
            <p:nvPr/>
          </p:nvGrpSpPr>
          <p:grpSpPr bwMode="auto">
            <a:xfrm>
              <a:off x="1367533" y="1814516"/>
              <a:ext cx="801688" cy="423863"/>
              <a:chOff x="1261" y="1863"/>
              <a:chExt cx="505" cy="267"/>
            </a:xfrm>
          </p:grpSpPr>
          <p:sp>
            <p:nvSpPr>
              <p:cNvPr id="94237" name="Text Box 175"/>
              <p:cNvSpPr txBox="1">
                <a:spLocks noChangeArrowheads="1"/>
              </p:cNvSpPr>
              <p:nvPr/>
            </p:nvSpPr>
            <p:spPr bwMode="auto">
              <a:xfrm>
                <a:off x="1261" y="1863"/>
                <a:ext cx="505" cy="267"/>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DQM</a:t>
                </a:r>
                <a:r>
                  <a:rPr lang="es-ES_tradnl" sz="1800" b="1" baseline="-25000" dirty="0">
                    <a:latin typeface="Arial Narrow" pitchFamily="34" charset="0"/>
                  </a:rPr>
                  <a:t>0</a:t>
                </a:r>
                <a:endParaRPr lang="es-ES_tradnl" sz="1800" dirty="0"/>
              </a:p>
            </p:txBody>
          </p:sp>
          <p:sp>
            <p:nvSpPr>
              <p:cNvPr id="94238" name="Line 176"/>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10" name="Group 186"/>
            <p:cNvGrpSpPr>
              <a:grpSpLocks/>
            </p:cNvGrpSpPr>
            <p:nvPr/>
          </p:nvGrpSpPr>
          <p:grpSpPr bwMode="auto">
            <a:xfrm>
              <a:off x="3156646" y="1814516"/>
              <a:ext cx="801688" cy="423863"/>
              <a:chOff x="1261" y="1863"/>
              <a:chExt cx="505" cy="267"/>
            </a:xfrm>
          </p:grpSpPr>
          <p:sp>
            <p:nvSpPr>
              <p:cNvPr id="94235" name="Text Box 187"/>
              <p:cNvSpPr txBox="1">
                <a:spLocks noChangeArrowheads="1"/>
              </p:cNvSpPr>
              <p:nvPr/>
            </p:nvSpPr>
            <p:spPr bwMode="auto">
              <a:xfrm>
                <a:off x="1261" y="1863"/>
                <a:ext cx="505" cy="267"/>
              </a:xfrm>
              <a:prstGeom prst="rect">
                <a:avLst/>
              </a:prstGeom>
              <a:noFill/>
              <a:ln w="28575">
                <a:noFill/>
                <a:miter lim="800000"/>
                <a:headEnd/>
                <a:tailEnd/>
              </a:ln>
            </p:spPr>
            <p:txBody>
              <a:bodyPr wrap="none" anchor="ctr">
                <a:spAutoFit/>
              </a:bodyPr>
              <a:lstStyle/>
              <a:p>
                <a:pPr>
                  <a:spcBef>
                    <a:spcPct val="20000"/>
                  </a:spcBef>
                </a:pPr>
                <a:r>
                  <a:rPr lang="es-ES_tradnl" sz="1800" dirty="0">
                    <a:latin typeface="Arial Narrow" pitchFamily="34" charset="0"/>
                  </a:rPr>
                  <a:t>DQM</a:t>
                </a:r>
                <a:r>
                  <a:rPr lang="es-ES_tradnl" sz="1800" b="1" baseline="-25000" dirty="0">
                    <a:latin typeface="Arial Narrow" pitchFamily="34" charset="0"/>
                  </a:rPr>
                  <a:t>7</a:t>
                </a:r>
                <a:endParaRPr lang="es-ES_tradnl" sz="1800" dirty="0"/>
              </a:p>
            </p:txBody>
          </p:sp>
          <p:sp>
            <p:nvSpPr>
              <p:cNvPr id="94236" name="Line 188"/>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sp>
          <p:nvSpPr>
            <p:cNvPr id="94234" name="Text Box 190"/>
            <p:cNvSpPr txBox="1">
              <a:spLocks noChangeArrowheads="1"/>
            </p:cNvSpPr>
            <p:nvPr/>
          </p:nvSpPr>
          <p:spPr bwMode="auto">
            <a:xfrm>
              <a:off x="2202558" y="2924175"/>
              <a:ext cx="774700" cy="366713"/>
            </a:xfrm>
            <a:prstGeom prst="rect">
              <a:avLst/>
            </a:prstGeom>
            <a:noFill/>
            <a:ln w="28575">
              <a:noFill/>
              <a:miter lim="800000"/>
              <a:headEnd/>
              <a:tailEnd/>
            </a:ln>
          </p:spPr>
          <p:txBody>
            <a:bodyPr wrap="none" anchor="ctr">
              <a:spAutoFit/>
            </a:bodyPr>
            <a:lstStyle/>
            <a:p>
              <a:pPr>
                <a:spcBef>
                  <a:spcPct val="20000"/>
                </a:spcBef>
              </a:pPr>
              <a:r>
                <a:rPr lang="es-ES_tradnl" sz="1800" b="1"/>
                <a:t>m×64</a:t>
              </a:r>
            </a:p>
          </p:txBody>
        </p:sp>
      </p:grpSp>
      <p:pic>
        <p:nvPicPr>
          <p:cNvPr id="280" name="Imagen 153" descr="dimm-pc133-168pin.jpg"/>
          <p:cNvPicPr>
            <a:picLocks noChangeAspect="1"/>
          </p:cNvPicPr>
          <p:nvPr/>
        </p:nvPicPr>
        <p:blipFill>
          <a:blip r:embed="rId3" cstate="print"/>
          <a:srcRect/>
          <a:stretch>
            <a:fillRect/>
          </a:stretch>
        </p:blipFill>
        <p:spPr bwMode="auto">
          <a:xfrm>
            <a:off x="4355976" y="3717032"/>
            <a:ext cx="4470400" cy="1487488"/>
          </a:xfrm>
          <a:prstGeom prst="rect">
            <a:avLst/>
          </a:prstGeom>
          <a:noFill/>
          <a:ln w="9525">
            <a:noFill/>
            <a:miter lim="800000"/>
            <a:headEnd/>
            <a:tailEnd/>
          </a:ln>
        </p:spPr>
      </p:pic>
      <p:pic>
        <p:nvPicPr>
          <p:cNvPr id="281" name="Imagen 154" descr="ddr-pc3200front.jpg"/>
          <p:cNvPicPr>
            <a:picLocks noChangeAspect="1"/>
          </p:cNvPicPr>
          <p:nvPr/>
        </p:nvPicPr>
        <p:blipFill>
          <a:blip r:embed="rId4" cstate="print"/>
          <a:srcRect/>
          <a:stretch>
            <a:fillRect/>
          </a:stretch>
        </p:blipFill>
        <p:spPr bwMode="auto">
          <a:xfrm>
            <a:off x="4355976" y="5373216"/>
            <a:ext cx="4537075" cy="1065213"/>
          </a:xfrm>
          <a:prstGeom prst="rect">
            <a:avLst/>
          </a:prstGeom>
          <a:noFill/>
          <a:ln w="9525">
            <a:noFill/>
            <a:miter lim="800000"/>
            <a:headEnd/>
            <a:tailEnd/>
          </a:ln>
        </p:spPr>
      </p:pic>
      <p:sp>
        <p:nvSpPr>
          <p:cNvPr id="159" name="Rectangle 7">
            <a:extLst>
              <a:ext uri="{FF2B5EF4-FFF2-40B4-BE49-F238E27FC236}">
                <a16:creationId xmlns:a16="http://schemas.microsoft.com/office/drawing/2014/main" id="{F8CF48E9-A376-467F-A438-D5AD8EF4FF79}"/>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a:ea typeface="ＭＳ Ｐゴシック" charset="-128"/>
              </a:rPr>
              <a:t>Módulos estándar de memoria dinámica</a:t>
            </a:r>
            <a:endParaRPr lang="ca-ES" dirty="0">
              <a:ea typeface="ＭＳ Ｐゴシック" charset="-128"/>
            </a:endParaRPr>
          </a:p>
        </p:txBody>
      </p:sp>
      <p:sp>
        <p:nvSpPr>
          <p:cNvPr id="13" name="2 Marcador de número de diapositiva">
            <a:extLst>
              <a:ext uri="{FF2B5EF4-FFF2-40B4-BE49-F238E27FC236}">
                <a16:creationId xmlns:a16="http://schemas.microsoft.com/office/drawing/2014/main" id="{30502A4A-8295-5964-691A-4C4BC178E384}"/>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119</a:t>
            </a:fld>
            <a:endParaRPr lang="en-US" dirty="0"/>
          </a:p>
        </p:txBody>
      </p:sp>
    </p:spTree>
    <p:extLst>
      <p:ext uri="{BB962C8B-B14F-4D97-AF65-F5344CB8AC3E}">
        <p14:creationId xmlns:p14="http://schemas.microsoft.com/office/powerpoint/2010/main" val="4564129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a:xfrm>
            <a:off x="684212" y="586582"/>
            <a:ext cx="8250237" cy="865187"/>
          </a:xfrm>
        </p:spPr>
        <p:txBody>
          <a:bodyPr/>
          <a:lstStyle/>
          <a:p>
            <a:r>
              <a:rPr lang="es-ES" sz="2000" dirty="0"/>
              <a:t>SPD (</a:t>
            </a:r>
            <a:r>
              <a:rPr lang="es-ES" sz="2000" i="1" dirty="0"/>
              <a:t>Serial </a:t>
            </a:r>
            <a:r>
              <a:rPr lang="es-ES" sz="2000" i="1" dirty="0" err="1"/>
              <a:t>Presence</a:t>
            </a:r>
            <a:r>
              <a:rPr lang="es-ES" sz="2000" i="1" dirty="0"/>
              <a:t> </a:t>
            </a:r>
            <a:r>
              <a:rPr lang="es-ES" sz="2000" i="1" dirty="0" err="1"/>
              <a:t>Detect</a:t>
            </a:r>
            <a:r>
              <a:rPr lang="es-ES" sz="2000" dirty="0"/>
              <a:t>)</a:t>
            </a:r>
          </a:p>
        </p:txBody>
      </p:sp>
      <p:sp>
        <p:nvSpPr>
          <p:cNvPr id="96260" name="Rectangle 3"/>
          <p:cNvSpPr>
            <a:spLocks noGrp="1" noChangeArrowheads="1"/>
          </p:cNvSpPr>
          <p:nvPr>
            <p:ph type="body" idx="1"/>
          </p:nvPr>
        </p:nvSpPr>
        <p:spPr>
          <a:xfrm>
            <a:off x="533400" y="1219200"/>
            <a:ext cx="5767388" cy="5233988"/>
          </a:xfrm>
        </p:spPr>
        <p:txBody>
          <a:bodyPr/>
          <a:lstStyle/>
          <a:p>
            <a:r>
              <a:rPr lang="es-ES" dirty="0"/>
              <a:t>Memoria EEPROM de pocos bytes</a:t>
            </a:r>
          </a:p>
          <a:p>
            <a:r>
              <a:rPr lang="es-ES" dirty="0"/>
              <a:t>Almacena información sobre el módulo de memoria</a:t>
            </a:r>
          </a:p>
          <a:p>
            <a:pPr lvl="1"/>
            <a:r>
              <a:rPr lang="es-ES" dirty="0"/>
              <a:t>Temporización</a:t>
            </a:r>
          </a:p>
          <a:p>
            <a:pPr lvl="1"/>
            <a:r>
              <a:rPr lang="es-ES" dirty="0"/>
              <a:t>Capacidad</a:t>
            </a:r>
          </a:p>
          <a:p>
            <a:pPr lvl="1"/>
            <a:r>
              <a:rPr lang="es-ES" dirty="0"/>
              <a:t>Fabricante</a:t>
            </a:r>
          </a:p>
          <a:p>
            <a:pPr lvl="1"/>
            <a:r>
              <a:rPr lang="es-ES" dirty="0"/>
              <a:t>Número de serie</a:t>
            </a:r>
          </a:p>
          <a:p>
            <a:r>
              <a:rPr lang="es-ES" dirty="0"/>
              <a:t>Permite la configuración automática del sistema de memoria</a:t>
            </a:r>
          </a:p>
          <a:p>
            <a:r>
              <a:rPr lang="es-ES" dirty="0"/>
              <a:t>Hay programas que pueden acceder a esta información</a:t>
            </a:r>
          </a:p>
          <a:p>
            <a:pPr lvl="1"/>
            <a:r>
              <a:rPr lang="es-ES" dirty="0"/>
              <a:t>CPU-Z, </a:t>
            </a:r>
            <a:r>
              <a:rPr lang="es-ES" dirty="0" err="1"/>
              <a:t>Sisoft</a:t>
            </a:r>
            <a:r>
              <a:rPr lang="es-ES" dirty="0"/>
              <a:t> Sandra, entre otros</a:t>
            </a:r>
          </a:p>
        </p:txBody>
      </p:sp>
      <p:pic>
        <p:nvPicPr>
          <p:cNvPr id="96261" name="Picture 4"/>
          <p:cNvPicPr>
            <a:picLocks noChangeAspect="1" noChangeArrowheads="1"/>
          </p:cNvPicPr>
          <p:nvPr/>
        </p:nvPicPr>
        <p:blipFill>
          <a:blip r:embed="rId2" cstate="print"/>
          <a:srcRect/>
          <a:stretch>
            <a:fillRect/>
          </a:stretch>
        </p:blipFill>
        <p:spPr bwMode="auto">
          <a:xfrm>
            <a:off x="6372225" y="1412875"/>
            <a:ext cx="2278063" cy="2260600"/>
          </a:xfrm>
          <a:prstGeom prst="rect">
            <a:avLst/>
          </a:prstGeom>
          <a:noFill/>
          <a:ln w="9525" algn="ctr">
            <a:noFill/>
            <a:miter lim="800000"/>
            <a:headEnd/>
            <a:tailEnd/>
          </a:ln>
        </p:spPr>
      </p:pic>
      <p:sp>
        <p:nvSpPr>
          <p:cNvPr id="6" name="Rectangle 7">
            <a:extLst>
              <a:ext uri="{FF2B5EF4-FFF2-40B4-BE49-F238E27FC236}">
                <a16:creationId xmlns:a16="http://schemas.microsoft.com/office/drawing/2014/main" id="{EEE8D8C9-4FAC-4762-BF37-D257C346AED7}"/>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a:ea typeface="ＭＳ Ｐゴシック" charset="-128"/>
              </a:rPr>
              <a:t>Módulos estándar de memoria dinámica</a:t>
            </a:r>
            <a:endParaRPr lang="ca-ES" dirty="0">
              <a:ea typeface="ＭＳ Ｐゴシック" charset="-128"/>
            </a:endParaRPr>
          </a:p>
        </p:txBody>
      </p:sp>
      <p:sp>
        <p:nvSpPr>
          <p:cNvPr id="2" name="2 Marcador de número de diapositiva">
            <a:extLst>
              <a:ext uri="{FF2B5EF4-FFF2-40B4-BE49-F238E27FC236}">
                <a16:creationId xmlns:a16="http://schemas.microsoft.com/office/drawing/2014/main" id="{A601DF0B-2C4D-F28E-18CB-C82213E6B9B6}"/>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120</a:t>
            </a:fld>
            <a:endParaRPr lang="en-US" dirty="0"/>
          </a:p>
        </p:txBody>
      </p:sp>
    </p:spTree>
    <p:extLst>
      <p:ext uri="{BB962C8B-B14F-4D97-AF65-F5344CB8AC3E}">
        <p14:creationId xmlns:p14="http://schemas.microsoft.com/office/powerpoint/2010/main" val="165877297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a:xfrm>
            <a:off x="642996" y="553717"/>
            <a:ext cx="8250120" cy="864096"/>
          </a:xfrm>
        </p:spPr>
        <p:txBody>
          <a:bodyPr/>
          <a:lstStyle/>
          <a:p>
            <a:r>
              <a:rPr lang="ca-ES" sz="2000" dirty="0" err="1"/>
              <a:t>Información</a:t>
            </a:r>
            <a:r>
              <a:rPr lang="ca-ES" sz="2000" dirty="0"/>
              <a:t> </a:t>
            </a:r>
            <a:r>
              <a:rPr lang="ca-ES" sz="2000" dirty="0" err="1"/>
              <a:t>contenida</a:t>
            </a:r>
            <a:r>
              <a:rPr lang="ca-ES" sz="2000" dirty="0"/>
              <a:t> en el SPD</a:t>
            </a:r>
          </a:p>
        </p:txBody>
      </p:sp>
      <p:pic>
        <p:nvPicPr>
          <p:cNvPr id="97284" name="Picture 3"/>
          <p:cNvPicPr>
            <a:picLocks noChangeAspect="1" noChangeArrowheads="1"/>
          </p:cNvPicPr>
          <p:nvPr/>
        </p:nvPicPr>
        <p:blipFill>
          <a:blip r:embed="rId2" cstate="print"/>
          <a:srcRect/>
          <a:stretch>
            <a:fillRect/>
          </a:stretch>
        </p:blipFill>
        <p:spPr bwMode="auto">
          <a:xfrm>
            <a:off x="2411413" y="1196975"/>
            <a:ext cx="4713287" cy="5256213"/>
          </a:xfrm>
          <a:prstGeom prst="rect">
            <a:avLst/>
          </a:prstGeom>
          <a:noFill/>
          <a:ln w="9525" algn="ctr">
            <a:noFill/>
            <a:miter lim="800000"/>
            <a:headEnd/>
            <a:tailEnd/>
          </a:ln>
        </p:spPr>
      </p:pic>
      <p:sp>
        <p:nvSpPr>
          <p:cNvPr id="5" name="Rectangle 7">
            <a:extLst>
              <a:ext uri="{FF2B5EF4-FFF2-40B4-BE49-F238E27FC236}">
                <a16:creationId xmlns:a16="http://schemas.microsoft.com/office/drawing/2014/main" id="{855E6149-18F8-470E-8212-14FFCA262FB7}"/>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dirty="0" err="1">
                <a:ea typeface="ＭＳ Ｐゴシック" charset="-128"/>
              </a:rPr>
              <a:t>Módulos</a:t>
            </a:r>
            <a:r>
              <a:rPr lang="ca-ES" dirty="0">
                <a:ea typeface="ＭＳ Ｐゴシック" charset="-128"/>
              </a:rPr>
              <a:t> </a:t>
            </a:r>
            <a:r>
              <a:rPr lang="ca-ES" dirty="0" err="1">
                <a:ea typeface="ＭＳ Ｐゴシック" charset="-128"/>
              </a:rPr>
              <a:t>estándar</a:t>
            </a:r>
            <a:r>
              <a:rPr lang="ca-ES" dirty="0">
                <a:ea typeface="ＭＳ Ｐゴシック" charset="-128"/>
              </a:rPr>
              <a:t> de </a:t>
            </a:r>
            <a:r>
              <a:rPr lang="ca-ES" dirty="0" err="1">
                <a:ea typeface="ＭＳ Ｐゴシック" charset="-128"/>
              </a:rPr>
              <a:t>memoria</a:t>
            </a:r>
            <a:r>
              <a:rPr lang="ca-ES" dirty="0">
                <a:ea typeface="ＭＳ Ｐゴシック" charset="-128"/>
              </a:rPr>
              <a:t> </a:t>
            </a:r>
            <a:r>
              <a:rPr lang="ca-ES" dirty="0" err="1">
                <a:ea typeface="ＭＳ Ｐゴシック" charset="-128"/>
              </a:rPr>
              <a:t>dinámica</a:t>
            </a:r>
            <a:endParaRPr lang="ca-ES" dirty="0">
              <a:ea typeface="ＭＳ Ｐゴシック" charset="-128"/>
            </a:endParaRPr>
          </a:p>
        </p:txBody>
      </p:sp>
      <p:sp>
        <p:nvSpPr>
          <p:cNvPr id="2" name="2 Marcador de número de diapositiva">
            <a:extLst>
              <a:ext uri="{FF2B5EF4-FFF2-40B4-BE49-F238E27FC236}">
                <a16:creationId xmlns:a16="http://schemas.microsoft.com/office/drawing/2014/main" id="{FE9D988B-98AF-1B6A-2C24-40205154426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121</a:t>
            </a:fld>
            <a:endParaRPr lang="en-US" dirty="0"/>
          </a:p>
        </p:txBody>
      </p:sp>
    </p:spTree>
    <p:extLst>
      <p:ext uri="{BB962C8B-B14F-4D97-AF65-F5344CB8AC3E}">
        <p14:creationId xmlns:p14="http://schemas.microsoft.com/office/powerpoint/2010/main" val="8069798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a:xfrm>
            <a:off x="577056" y="545306"/>
            <a:ext cx="8250237" cy="865187"/>
          </a:xfrm>
        </p:spPr>
        <p:txBody>
          <a:bodyPr/>
          <a:lstStyle/>
          <a:p>
            <a:r>
              <a:rPr lang="es-ES" sz="2000" dirty="0"/>
              <a:t>Comparativa de módulos y denominaciones</a:t>
            </a:r>
          </a:p>
        </p:txBody>
      </p:sp>
      <p:sp>
        <p:nvSpPr>
          <p:cNvPr id="98308" name="Rectangle 3"/>
          <p:cNvSpPr>
            <a:spLocks noGrp="1" noChangeArrowheads="1"/>
          </p:cNvSpPr>
          <p:nvPr>
            <p:ph type="body" idx="1"/>
          </p:nvPr>
        </p:nvSpPr>
        <p:spPr/>
        <p:txBody>
          <a:bodyPr/>
          <a:lstStyle/>
          <a:p>
            <a:pPr>
              <a:lnSpc>
                <a:spcPct val="100000"/>
              </a:lnSpc>
            </a:pPr>
            <a:r>
              <a:rPr lang="es-ES" sz="2000" dirty="0"/>
              <a:t>Empaquetamiento</a:t>
            </a:r>
          </a:p>
          <a:p>
            <a:pPr lvl="1">
              <a:lnSpc>
                <a:spcPct val="100000"/>
              </a:lnSpc>
            </a:pPr>
            <a:r>
              <a:rPr lang="es-ES" sz="1800" dirty="0"/>
              <a:t>SDRAM: 		DIMM 168 c</a:t>
            </a:r>
          </a:p>
          <a:p>
            <a:pPr lvl="1">
              <a:lnSpc>
                <a:spcPct val="100000"/>
              </a:lnSpc>
            </a:pPr>
            <a:r>
              <a:rPr lang="es-ES" sz="1800" dirty="0"/>
              <a:t>DDR SDRAM:	DIMM 184 c</a:t>
            </a:r>
          </a:p>
          <a:p>
            <a:pPr lvl="1">
              <a:lnSpc>
                <a:spcPct val="100000"/>
              </a:lnSpc>
            </a:pPr>
            <a:r>
              <a:rPr lang="es-ES" sz="1800" dirty="0"/>
              <a:t>DDR2 SDRAM:	DIMM 240 c</a:t>
            </a:r>
          </a:p>
          <a:p>
            <a:pPr lvl="1">
              <a:lnSpc>
                <a:spcPct val="100000"/>
              </a:lnSpc>
            </a:pPr>
            <a:r>
              <a:rPr lang="es-ES" sz="1800" dirty="0"/>
              <a:t>DDR3 SDRAM:	DIMM 240 c</a:t>
            </a:r>
          </a:p>
          <a:p>
            <a:pPr>
              <a:lnSpc>
                <a:spcPct val="100000"/>
              </a:lnSpc>
            </a:pPr>
            <a:r>
              <a:rPr lang="es-ES" sz="2000" dirty="0"/>
              <a:t>Ancho de banda y denominaciones</a:t>
            </a:r>
          </a:p>
          <a:p>
            <a:pPr lvl="1">
              <a:lnSpc>
                <a:spcPct val="100000"/>
              </a:lnSpc>
            </a:pPr>
            <a:r>
              <a:rPr lang="es-ES" sz="1800" dirty="0"/>
              <a:t>SDRAM (100 MHz): 100 MHz x 8 bytes = 800 MB/s</a:t>
            </a:r>
          </a:p>
          <a:p>
            <a:pPr marL="1162050" lvl="2">
              <a:lnSpc>
                <a:spcPct val="100000"/>
              </a:lnSpc>
            </a:pPr>
            <a:r>
              <a:rPr lang="es-ES" sz="1800" dirty="0"/>
              <a:t>Nomenclatura: PC100</a:t>
            </a:r>
          </a:p>
          <a:p>
            <a:pPr lvl="1">
              <a:lnSpc>
                <a:spcPct val="100000"/>
              </a:lnSpc>
            </a:pPr>
            <a:r>
              <a:rPr lang="es-ES" sz="1800" dirty="0"/>
              <a:t>DDR SDRAM (100 MHz): 100 MHz x 8 bytes x 2 = 1600 MB/s</a:t>
            </a:r>
          </a:p>
          <a:p>
            <a:pPr marL="1162050" lvl="2">
              <a:lnSpc>
                <a:spcPct val="100000"/>
              </a:lnSpc>
            </a:pPr>
            <a:r>
              <a:rPr lang="es-ES" sz="1800" dirty="0"/>
              <a:t>Nomenclatura: PC1600</a:t>
            </a:r>
          </a:p>
          <a:p>
            <a:pPr lvl="1">
              <a:lnSpc>
                <a:spcPct val="100000"/>
              </a:lnSpc>
            </a:pPr>
            <a:r>
              <a:rPr lang="es-ES" sz="1800" dirty="0"/>
              <a:t>DDR2 SDRAM (200 MHz): 200 MHz x 8 bytes x 2 = 3200 MB/s</a:t>
            </a:r>
          </a:p>
          <a:p>
            <a:pPr marL="1162050" lvl="2">
              <a:lnSpc>
                <a:spcPct val="100000"/>
              </a:lnSpc>
            </a:pPr>
            <a:r>
              <a:rPr lang="es-ES" sz="1800" dirty="0"/>
              <a:t>Nomenclatura: PC2-3200</a:t>
            </a:r>
          </a:p>
          <a:p>
            <a:pPr lvl="1">
              <a:lnSpc>
                <a:spcPct val="100000"/>
              </a:lnSpc>
            </a:pPr>
            <a:r>
              <a:rPr lang="es-ES" sz="1800" dirty="0"/>
              <a:t>DDR3 SDRAM (400 MHz): 400 MHz x 8 bytes x 2 = 6400 MB/s</a:t>
            </a:r>
          </a:p>
          <a:p>
            <a:pPr marL="1162050" lvl="2">
              <a:lnSpc>
                <a:spcPct val="100000"/>
              </a:lnSpc>
            </a:pPr>
            <a:r>
              <a:rPr lang="es-ES" sz="1800" dirty="0"/>
              <a:t>Nomenclatura: PC3-6400</a:t>
            </a:r>
          </a:p>
          <a:p>
            <a:pPr marL="762000" lvl="1">
              <a:lnSpc>
                <a:spcPct val="100000"/>
              </a:lnSpc>
            </a:pPr>
            <a:endParaRPr lang="es-ES" sz="1800" dirty="0"/>
          </a:p>
        </p:txBody>
      </p:sp>
      <p:sp>
        <p:nvSpPr>
          <p:cNvPr id="5" name="Rectangle 7">
            <a:extLst>
              <a:ext uri="{FF2B5EF4-FFF2-40B4-BE49-F238E27FC236}">
                <a16:creationId xmlns:a16="http://schemas.microsoft.com/office/drawing/2014/main" id="{26572BBE-8C7B-464F-AE6A-32DFA7CEAF4B}"/>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a:ea typeface="ＭＳ Ｐゴシック" charset="-128"/>
              </a:rPr>
              <a:t>Módulos estándar de memoria dinámica</a:t>
            </a:r>
            <a:endParaRPr lang="ca-ES" dirty="0">
              <a:ea typeface="ＭＳ Ｐゴシック" charset="-128"/>
            </a:endParaRPr>
          </a:p>
        </p:txBody>
      </p:sp>
      <p:sp>
        <p:nvSpPr>
          <p:cNvPr id="2" name="2 Marcador de número de diapositiva">
            <a:extLst>
              <a:ext uri="{FF2B5EF4-FFF2-40B4-BE49-F238E27FC236}">
                <a16:creationId xmlns:a16="http://schemas.microsoft.com/office/drawing/2014/main" id="{3F40DA1D-DA98-1FA3-FDC7-873FE4F0F115}"/>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122</a:t>
            </a:fld>
            <a:endParaRPr lang="en-US" dirty="0"/>
          </a:p>
        </p:txBody>
      </p:sp>
    </p:spTree>
    <p:extLst>
      <p:ext uri="{BB962C8B-B14F-4D97-AF65-F5344CB8AC3E}">
        <p14:creationId xmlns:p14="http://schemas.microsoft.com/office/powerpoint/2010/main" val="234404541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ítulo 1"/>
          <p:cNvSpPr>
            <a:spLocks noGrp="1"/>
          </p:cNvSpPr>
          <p:nvPr>
            <p:ph type="title"/>
          </p:nvPr>
        </p:nvSpPr>
        <p:spPr>
          <a:xfrm>
            <a:off x="591032" y="817221"/>
            <a:ext cx="8250237" cy="865187"/>
          </a:xfrm>
        </p:spPr>
        <p:txBody>
          <a:bodyPr/>
          <a:lstStyle/>
          <a:p>
            <a:r>
              <a:rPr lang="es-ES" sz="2800" dirty="0">
                <a:solidFill>
                  <a:schemeClr val="accent1"/>
                </a:solidFill>
                <a:ea typeface="ＭＳ Ｐゴシック" charset="-128"/>
              </a:rPr>
              <a:t>Módulos DDR estándar</a:t>
            </a:r>
          </a:p>
        </p:txBody>
      </p:sp>
      <p:sp>
        <p:nvSpPr>
          <p:cNvPr id="8" name="Rectángulo 7"/>
          <p:cNvSpPr/>
          <p:nvPr/>
        </p:nvSpPr>
        <p:spPr>
          <a:xfrm>
            <a:off x="-1404664" y="1570969"/>
            <a:ext cx="11880998" cy="3293209"/>
          </a:xfrm>
          <a:prstGeom prst="rect">
            <a:avLst/>
          </a:prstGeom>
        </p:spPr>
        <p:txBody>
          <a:bodyPr wrap="square">
            <a:spAutoFit/>
          </a:bodyPr>
          <a:lstStyle/>
          <a:p>
            <a:pPr eaLnBrk="0" hangingPunct="0">
              <a:spcBef>
                <a:spcPct val="20000"/>
              </a:spcBef>
              <a:buClr>
                <a:schemeClr val="tx1"/>
              </a:buClr>
              <a:buFont typeface="Symbol" charset="0"/>
              <a:buNone/>
              <a:defRPr/>
            </a:pPr>
            <a:r>
              <a:rPr lang="es-ES_tradnl" sz="1600" baseline="0" dirty="0">
                <a:solidFill>
                  <a:schemeClr val="accent3"/>
                </a:solidFill>
                <a:latin typeface="+mj-lt"/>
                <a:ea typeface="ＭＳ Ｐゴシック" charset="0"/>
                <a:cs typeface="ＭＳ Ｐゴシック" charset="0"/>
              </a:rPr>
              <a:t>Nombre 	     F. reloj 	 Retardo	  F.</a:t>
            </a:r>
            <a:r>
              <a:rPr lang="es-ES_tradnl" sz="1600" dirty="0">
                <a:solidFill>
                  <a:schemeClr val="accent3"/>
                </a:solidFill>
                <a:latin typeface="+mj-lt"/>
                <a:ea typeface="ＭＳ Ｐゴシック" charset="0"/>
                <a:cs typeface="ＭＳ Ｐゴシック" charset="0"/>
              </a:rPr>
              <a:t> r</a:t>
            </a:r>
            <a:r>
              <a:rPr lang="es-ES_tradnl" sz="1600" baseline="0" dirty="0">
                <a:solidFill>
                  <a:schemeClr val="accent3"/>
                </a:solidFill>
                <a:latin typeface="+mj-lt"/>
                <a:ea typeface="ＭＳ Ｐゴシック" charset="0"/>
                <a:cs typeface="ＭＳ Ｐゴシック" charset="0"/>
              </a:rPr>
              <a:t>eloj E/S   V. </a:t>
            </a:r>
            <a:r>
              <a:rPr lang="es-ES_tradnl" sz="1600" baseline="0" dirty="0" err="1">
                <a:solidFill>
                  <a:schemeClr val="accent3"/>
                </a:solidFill>
                <a:latin typeface="+mj-lt"/>
                <a:ea typeface="ＭＳ Ｐゴシック" charset="0"/>
                <a:cs typeface="ＭＳ Ｐゴシック" charset="0"/>
              </a:rPr>
              <a:t>Transf</a:t>
            </a:r>
            <a:r>
              <a:rPr lang="es-ES_tradnl" sz="1600" baseline="0" dirty="0">
                <a:solidFill>
                  <a:schemeClr val="accent3"/>
                </a:solidFill>
                <a:latin typeface="+mj-lt"/>
                <a:ea typeface="ＭＳ Ｐゴシック" charset="0"/>
                <a:cs typeface="ＭＳ Ｐゴシック" charset="0"/>
              </a:rPr>
              <a:t>.		</a:t>
            </a:r>
            <a:r>
              <a:rPr lang="es-ES_tradnl" sz="1600" baseline="0" dirty="0" err="1">
                <a:solidFill>
                  <a:schemeClr val="accent3"/>
                </a:solidFill>
                <a:latin typeface="+mj-lt"/>
                <a:ea typeface="ＭＳ Ｐゴシック" charset="0"/>
                <a:cs typeface="ＭＳ Ｐゴシック" charset="0"/>
              </a:rPr>
              <a:t>Denom</a:t>
            </a:r>
            <a:r>
              <a:rPr lang="es-ES_tradnl" sz="1600" baseline="0" dirty="0">
                <a:solidFill>
                  <a:schemeClr val="accent3"/>
                </a:solidFill>
                <a:latin typeface="+mj-lt"/>
                <a:ea typeface="ＭＳ Ｐゴシック" charset="0"/>
                <a:cs typeface="ＭＳ Ｐゴシック" charset="0"/>
              </a:rPr>
              <a:t>.	Tasa </a:t>
            </a:r>
            <a:r>
              <a:rPr lang="es-ES_tradnl" sz="1600" baseline="0" dirty="0" err="1">
                <a:solidFill>
                  <a:schemeClr val="accent3"/>
                </a:solidFill>
                <a:latin typeface="+mj-lt"/>
                <a:ea typeface="ＭＳ Ｐゴシック" charset="0"/>
                <a:cs typeface="ＭＳ Ｐゴシック" charset="0"/>
              </a:rPr>
              <a:t>Transf</a:t>
            </a:r>
            <a:r>
              <a:rPr lang="es-ES_tradnl" sz="1600" baseline="0" dirty="0">
                <a:solidFill>
                  <a:schemeClr val="accent3"/>
                </a:solidFill>
                <a:latin typeface="+mj-lt"/>
                <a:ea typeface="ＭＳ Ｐゴシック" charset="0"/>
                <a:cs typeface="ＭＳ Ｐゴシック" charset="0"/>
              </a:rPr>
              <a:t>. Max.</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DDR-200 	100 MHz 	 10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100 MHz 	200 MT/s   	PC1600 	1.600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DDR-266 	133 MHz 	 7,5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133 MHz 	266 MT/s     	PC2100 	2.133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DDR-300 	150 MHz 	 6,7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150 MHz 	300 MT/s     	PC2400 	2.400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DDR-333 	166 MHz 	 6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166 MHz 	333 MT/s     	PC2700 	2.667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DDR-366 	183 MHz 	 5,5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183 MHz 	366 MT/s     	PC3000 	2.933 MiB/s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DDR-400 	200 MHz 	 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200 MHz 	400 MT/s     	PC3200 	3.200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DDR-433 	216 MHz 	 4,6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216 MHz 	433 MT/s     	PC3500 	3.500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DDR-466 	233 MHz 	 4,2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233 MHz 	466 MT/s     	PC3700 	3.700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DDR-500 	250 MHz 	 4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250 MHz 	500 MT/s     	PC4000 	4.000 MB/s</a:t>
            </a:r>
          </a:p>
          <a:p>
            <a:pPr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DDR-533 	266 MHz 	 3,7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266 MHz 	533 MT/s     	PC4300 	4.264 MB/s</a:t>
            </a:r>
            <a:endParaRPr lang="es-ES" sz="1600" baseline="0" dirty="0">
              <a:solidFill>
                <a:schemeClr val="accent6">
                  <a:lumMod val="75000"/>
                </a:schemeClr>
              </a:solidFill>
              <a:latin typeface="+mj-lt"/>
              <a:ea typeface="ＭＳ Ｐゴシック" charset="0"/>
              <a:cs typeface="ＭＳ Ｐゴシック" charset="0"/>
            </a:endParaRPr>
          </a:p>
        </p:txBody>
      </p:sp>
      <p:cxnSp>
        <p:nvCxnSpPr>
          <p:cNvPr id="3" name="2 Conector recto"/>
          <p:cNvCxnSpPr/>
          <p:nvPr/>
        </p:nvCxnSpPr>
        <p:spPr bwMode="auto">
          <a:xfrm>
            <a:off x="683568" y="1916832"/>
            <a:ext cx="7776864" cy="0"/>
          </a:xfrm>
          <a:prstGeom prst="line">
            <a:avLst/>
          </a:prstGeom>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6" name="5 CuadroTexto"/>
          <p:cNvSpPr txBox="1"/>
          <p:nvPr/>
        </p:nvSpPr>
        <p:spPr>
          <a:xfrm>
            <a:off x="1187624" y="5733256"/>
            <a:ext cx="3804247" cy="307777"/>
          </a:xfrm>
          <a:prstGeom prst="rect">
            <a:avLst/>
          </a:prstGeom>
          <a:noFill/>
        </p:spPr>
        <p:txBody>
          <a:bodyPr wrap="none" rtlCol="0">
            <a:spAutoFit/>
          </a:bodyPr>
          <a:lstStyle/>
          <a:p>
            <a:r>
              <a:rPr lang="es-ES" sz="1400" i="1" dirty="0">
                <a:solidFill>
                  <a:schemeClr val="accent1">
                    <a:lumMod val="75000"/>
                  </a:schemeClr>
                </a:solidFill>
              </a:rPr>
              <a:t>MT/s: Millones de transferencias por segundo</a:t>
            </a:r>
          </a:p>
        </p:txBody>
      </p:sp>
      <p:sp>
        <p:nvSpPr>
          <p:cNvPr id="7" name="Rectangle 7">
            <a:extLst>
              <a:ext uri="{FF2B5EF4-FFF2-40B4-BE49-F238E27FC236}">
                <a16:creationId xmlns:a16="http://schemas.microsoft.com/office/drawing/2014/main" id="{57000117-99C8-41AB-A6AB-E19D78E31EA8}"/>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a:ea typeface="ＭＳ Ｐゴシック" charset="-128"/>
              </a:rPr>
              <a:t>Módulos estándar de memoria dinámica</a:t>
            </a:r>
            <a:endParaRPr lang="ca-ES" dirty="0">
              <a:ea typeface="ＭＳ Ｐゴシック" charset="-128"/>
            </a:endParaRPr>
          </a:p>
        </p:txBody>
      </p:sp>
      <p:sp>
        <p:nvSpPr>
          <p:cNvPr id="2" name="2 Marcador de número de diapositiva">
            <a:extLst>
              <a:ext uri="{FF2B5EF4-FFF2-40B4-BE49-F238E27FC236}">
                <a16:creationId xmlns:a16="http://schemas.microsoft.com/office/drawing/2014/main" id="{80328A1F-4A75-3CE7-CEDD-201B37A4A4EC}"/>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123</a:t>
            </a:fld>
            <a:endParaRPr lang="en-US" dirty="0"/>
          </a:p>
        </p:txBody>
      </p:sp>
    </p:spTree>
    <p:extLst>
      <p:ext uri="{BB962C8B-B14F-4D97-AF65-F5344CB8AC3E}">
        <p14:creationId xmlns:p14="http://schemas.microsoft.com/office/powerpoint/2010/main" val="2776095924"/>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ítulo 1"/>
          <p:cNvSpPr>
            <a:spLocks noGrp="1"/>
          </p:cNvSpPr>
          <p:nvPr>
            <p:ph type="title"/>
          </p:nvPr>
        </p:nvSpPr>
        <p:spPr>
          <a:xfrm>
            <a:off x="577056" y="795396"/>
            <a:ext cx="8250237" cy="865187"/>
          </a:xfrm>
        </p:spPr>
        <p:txBody>
          <a:bodyPr/>
          <a:lstStyle/>
          <a:p>
            <a:pPr algn="l"/>
            <a:r>
              <a:rPr lang="es-ES" sz="2800" dirty="0">
                <a:solidFill>
                  <a:schemeClr val="accent1"/>
                </a:solidFill>
                <a:ea typeface="ＭＳ Ｐゴシック" charset="-128"/>
              </a:rPr>
              <a:t>Módulos DDR2 Estándar</a:t>
            </a:r>
          </a:p>
        </p:txBody>
      </p:sp>
      <p:sp>
        <p:nvSpPr>
          <p:cNvPr id="5" name="Rectángulo 4"/>
          <p:cNvSpPr/>
          <p:nvPr/>
        </p:nvSpPr>
        <p:spPr>
          <a:xfrm>
            <a:off x="971600" y="1785915"/>
            <a:ext cx="11592966" cy="2997744"/>
          </a:xfrm>
          <a:prstGeom prst="rect">
            <a:avLst/>
          </a:prstGeom>
        </p:spPr>
        <p:txBody>
          <a:bodyPr wrap="square">
            <a:spAutoFit/>
          </a:bodyPr>
          <a:lstStyle/>
          <a:p>
            <a:pPr algn="l" eaLnBrk="0" hangingPunct="0">
              <a:spcBef>
                <a:spcPct val="20000"/>
              </a:spcBef>
              <a:buClr>
                <a:schemeClr val="tx1"/>
              </a:buClr>
              <a:buFont typeface="Symbol" charset="0"/>
              <a:buNone/>
              <a:defRPr/>
            </a:pPr>
            <a:r>
              <a:rPr lang="es-ES_tradnl" sz="1600" baseline="0" dirty="0">
                <a:solidFill>
                  <a:schemeClr val="accent3"/>
                </a:solidFill>
                <a:latin typeface="+mj-lt"/>
                <a:ea typeface="ＭＳ Ｐゴシック" charset="0"/>
                <a:cs typeface="ＭＳ Ｐゴシック" charset="0"/>
              </a:rPr>
              <a:t>Nombre 	   F. reloj 	Retardo	</a:t>
            </a:r>
            <a:r>
              <a:rPr lang="es-ES_tradnl" sz="1600" baseline="0" dirty="0" err="1">
                <a:solidFill>
                  <a:schemeClr val="accent3"/>
                </a:solidFill>
                <a:latin typeface="+mj-lt"/>
                <a:ea typeface="ＭＳ Ｐゴシック" charset="0"/>
                <a:cs typeface="ＭＳ Ｐゴシック" charset="0"/>
              </a:rPr>
              <a:t>F..Reloj</a:t>
            </a:r>
            <a:r>
              <a:rPr lang="es-ES_tradnl" sz="1600" baseline="0" dirty="0">
                <a:solidFill>
                  <a:schemeClr val="accent3"/>
                </a:solidFill>
                <a:latin typeface="+mj-lt"/>
                <a:ea typeface="ＭＳ Ｐゴシック" charset="0"/>
                <a:cs typeface="ＭＳ Ｐゴシック" charset="0"/>
              </a:rPr>
              <a:t> E/S   V. </a:t>
            </a:r>
            <a:r>
              <a:rPr lang="es-ES_tradnl" sz="1600" baseline="0" dirty="0" err="1">
                <a:solidFill>
                  <a:schemeClr val="accent3"/>
                </a:solidFill>
                <a:latin typeface="+mj-lt"/>
                <a:ea typeface="ＭＳ Ｐゴシック" charset="0"/>
                <a:cs typeface="ＭＳ Ｐゴシック" charset="0"/>
              </a:rPr>
              <a:t>Transf</a:t>
            </a:r>
            <a:r>
              <a:rPr lang="es-ES_tradnl" sz="1600" baseline="0" dirty="0">
                <a:solidFill>
                  <a:schemeClr val="accent3"/>
                </a:solidFill>
                <a:latin typeface="+mj-lt"/>
                <a:ea typeface="ＭＳ Ｐゴシック" charset="0"/>
                <a:cs typeface="ＭＳ Ｐゴシック" charset="0"/>
              </a:rPr>
              <a:t>.	    </a:t>
            </a:r>
            <a:r>
              <a:rPr lang="es-ES_tradnl" sz="1600" baseline="0" dirty="0" err="1">
                <a:solidFill>
                  <a:schemeClr val="accent3"/>
                </a:solidFill>
                <a:latin typeface="+mj-lt"/>
                <a:ea typeface="ＭＳ Ｐゴシック" charset="0"/>
                <a:cs typeface="ＭＳ Ｐゴシック" charset="0"/>
              </a:rPr>
              <a:t>Denom</a:t>
            </a:r>
            <a:r>
              <a:rPr lang="es-ES_tradnl" sz="1600" baseline="0" dirty="0">
                <a:solidFill>
                  <a:schemeClr val="accent3"/>
                </a:solidFill>
                <a:latin typeface="+mj-lt"/>
                <a:ea typeface="ＭＳ Ｐゴシック" charset="0"/>
                <a:cs typeface="ＭＳ Ｐゴシック" charset="0"/>
              </a:rPr>
              <a:t>.	      Tasa </a:t>
            </a:r>
            <a:r>
              <a:rPr lang="es-ES_tradnl" sz="1600" baseline="0" dirty="0" err="1">
                <a:solidFill>
                  <a:schemeClr val="accent3"/>
                </a:solidFill>
                <a:latin typeface="+mj-lt"/>
                <a:ea typeface="ＭＳ Ｐゴシック" charset="0"/>
                <a:cs typeface="ＭＳ Ｐゴシック" charset="0"/>
              </a:rPr>
              <a:t>Transf</a:t>
            </a:r>
            <a:r>
              <a:rPr lang="es-ES_tradnl" sz="1600" baseline="0" dirty="0">
                <a:solidFill>
                  <a:schemeClr val="accent3"/>
                </a:solidFill>
                <a:latin typeface="+mj-lt"/>
                <a:ea typeface="ＭＳ Ｐゴシック" charset="0"/>
                <a:cs typeface="ＭＳ Ｐゴシック" charset="0"/>
              </a:rPr>
              <a:t>. Max</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DDR2-400   100 MHz   10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200 MHz 	400 MT/s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 PC2-3200   3.200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DDR2-533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133 MHz   7,5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266 MHz 	533 MT/s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PC2-4300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4.264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DDR2-600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150 MHz   6,7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300 MHz 	600 MT/s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PC2-4800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4.800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DDR2-667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166 MHz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6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333 MHz 	667 MT/s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PC2-5300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5.336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DDR2-800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200 MHz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400 MHz 	800 MT/s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PC2-6400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6.400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DDR2-1000  250 MHz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3,75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500 MHz  1.000 MT/s      PC2-8000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8.000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DDR2-1066  266 MHz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3,75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533 MHz  1.066 MT/s      PC2-8500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8.530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DDR2-1150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286 MHz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3,5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575 MHz 	1.150 MT/s     PC2-9200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9.200 MB/s</a:t>
            </a:r>
          </a:p>
          <a:p>
            <a:pPr algn="l" eaLnBrk="0" hangingPunct="0">
              <a:spcBef>
                <a:spcPct val="20000"/>
              </a:spcBef>
              <a:buClr>
                <a:schemeClr val="tx1"/>
              </a:buClr>
              <a:buFont typeface="Symbol" charset="0"/>
              <a:buNone/>
              <a:defRPr/>
            </a:pPr>
            <a:r>
              <a:rPr lang="es-ES_tradnl" sz="1600" baseline="0" dirty="0">
                <a:solidFill>
                  <a:schemeClr val="accent6">
                    <a:lumMod val="75000"/>
                  </a:schemeClr>
                </a:solidFill>
                <a:latin typeface="+mj-lt"/>
                <a:ea typeface="ＭＳ Ｐゴシック" charset="0"/>
                <a:cs typeface="ＭＳ Ｐゴシック" charset="0"/>
              </a:rPr>
              <a:t>DDR2-1200  300 MHz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3,3 </a:t>
            </a:r>
            <a:r>
              <a:rPr lang="es-ES_tradnl" sz="1600" baseline="0" dirty="0" err="1">
                <a:solidFill>
                  <a:schemeClr val="accent6">
                    <a:lumMod val="75000"/>
                  </a:schemeClr>
                </a:solidFill>
                <a:latin typeface="+mj-lt"/>
                <a:ea typeface="ＭＳ Ｐゴシック" charset="0"/>
                <a:cs typeface="ＭＳ Ｐゴシック" charset="0"/>
              </a:rPr>
              <a:t>ns</a:t>
            </a:r>
            <a:r>
              <a:rPr lang="es-ES_tradnl" sz="1600" baseline="0" dirty="0">
                <a:solidFill>
                  <a:schemeClr val="accent6">
                    <a:lumMod val="75000"/>
                  </a:schemeClr>
                </a:solidFill>
                <a:latin typeface="+mj-lt"/>
                <a:ea typeface="ＭＳ Ｐゴシック" charset="0"/>
                <a:cs typeface="ＭＳ Ｐゴシック" charset="0"/>
              </a:rPr>
              <a:t> 	600 MHz 	1.200 MT/s     PC2-9600 </a:t>
            </a:r>
            <a:r>
              <a:rPr lang="es-ES_tradnl" sz="1600" dirty="0">
                <a:solidFill>
                  <a:schemeClr val="accent6">
                    <a:lumMod val="75000"/>
                  </a:schemeClr>
                </a:solidFill>
                <a:latin typeface="+mj-lt"/>
                <a:ea typeface="ＭＳ Ｐゴシック" charset="0"/>
                <a:cs typeface="ＭＳ Ｐゴシック" charset="0"/>
              </a:rPr>
              <a:t>  </a:t>
            </a:r>
            <a:r>
              <a:rPr lang="es-ES_tradnl" sz="1600" baseline="0" dirty="0">
                <a:solidFill>
                  <a:schemeClr val="accent6">
                    <a:lumMod val="75000"/>
                  </a:schemeClr>
                </a:solidFill>
                <a:latin typeface="+mj-lt"/>
                <a:ea typeface="ＭＳ Ｐゴシック" charset="0"/>
                <a:cs typeface="ＭＳ Ｐゴシック" charset="0"/>
              </a:rPr>
              <a:t>9.600 MB/s</a:t>
            </a:r>
            <a:endParaRPr lang="es-ES" sz="1600" baseline="0" dirty="0">
              <a:solidFill>
                <a:schemeClr val="accent6">
                  <a:lumMod val="75000"/>
                </a:schemeClr>
              </a:solidFill>
              <a:latin typeface="+mj-lt"/>
              <a:ea typeface="ＭＳ Ｐゴシック" charset="0"/>
              <a:cs typeface="ＭＳ Ｐゴシック" charset="0"/>
            </a:endParaRPr>
          </a:p>
        </p:txBody>
      </p:sp>
      <p:cxnSp>
        <p:nvCxnSpPr>
          <p:cNvPr id="3" name="2 Conector recto"/>
          <p:cNvCxnSpPr/>
          <p:nvPr/>
        </p:nvCxnSpPr>
        <p:spPr bwMode="auto">
          <a:xfrm>
            <a:off x="827584" y="2060848"/>
            <a:ext cx="7560840" cy="0"/>
          </a:xfrm>
          <a:prstGeom prst="line">
            <a:avLst/>
          </a:prstGeom>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7" name="6 CuadroTexto"/>
          <p:cNvSpPr txBox="1"/>
          <p:nvPr/>
        </p:nvSpPr>
        <p:spPr>
          <a:xfrm>
            <a:off x="1187624" y="5733256"/>
            <a:ext cx="3804247" cy="307777"/>
          </a:xfrm>
          <a:prstGeom prst="rect">
            <a:avLst/>
          </a:prstGeom>
          <a:noFill/>
        </p:spPr>
        <p:txBody>
          <a:bodyPr wrap="none" rtlCol="0">
            <a:spAutoFit/>
          </a:bodyPr>
          <a:lstStyle/>
          <a:p>
            <a:r>
              <a:rPr lang="es-ES" sz="1400" i="1" dirty="0">
                <a:solidFill>
                  <a:schemeClr val="accent1">
                    <a:lumMod val="75000"/>
                  </a:schemeClr>
                </a:solidFill>
              </a:rPr>
              <a:t>MT/s: Millones de transferencias por segundo</a:t>
            </a:r>
          </a:p>
        </p:txBody>
      </p:sp>
      <p:sp>
        <p:nvSpPr>
          <p:cNvPr id="8" name="Rectangle 7">
            <a:extLst>
              <a:ext uri="{FF2B5EF4-FFF2-40B4-BE49-F238E27FC236}">
                <a16:creationId xmlns:a16="http://schemas.microsoft.com/office/drawing/2014/main" id="{DD52B502-3DCB-4286-8BA0-8DA9102837A4}"/>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a:ea typeface="ＭＳ Ｐゴシック" charset="-128"/>
              </a:rPr>
              <a:t>Módulos estándar de memoria dinámica</a:t>
            </a:r>
            <a:endParaRPr lang="ca-ES" dirty="0">
              <a:ea typeface="ＭＳ Ｐゴシック" charset="-128"/>
            </a:endParaRPr>
          </a:p>
        </p:txBody>
      </p:sp>
      <p:sp>
        <p:nvSpPr>
          <p:cNvPr id="2" name="2 Marcador de número de diapositiva">
            <a:extLst>
              <a:ext uri="{FF2B5EF4-FFF2-40B4-BE49-F238E27FC236}">
                <a16:creationId xmlns:a16="http://schemas.microsoft.com/office/drawing/2014/main" id="{8EC0E238-5865-720B-2168-140ADCF99AC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124</a:t>
            </a:fld>
            <a:endParaRPr lang="en-US" dirty="0"/>
          </a:p>
        </p:txBody>
      </p:sp>
    </p:spTree>
    <p:extLst>
      <p:ext uri="{BB962C8B-B14F-4D97-AF65-F5344CB8AC3E}">
        <p14:creationId xmlns:p14="http://schemas.microsoft.com/office/powerpoint/2010/main" val="1683595744"/>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ítulo 1"/>
          <p:cNvSpPr>
            <a:spLocks noGrp="1"/>
          </p:cNvSpPr>
          <p:nvPr>
            <p:ph type="title"/>
          </p:nvPr>
        </p:nvSpPr>
        <p:spPr>
          <a:xfrm>
            <a:off x="596538" y="979637"/>
            <a:ext cx="8250237" cy="865187"/>
          </a:xfrm>
        </p:spPr>
        <p:txBody>
          <a:bodyPr/>
          <a:lstStyle/>
          <a:p>
            <a:pPr algn="l"/>
            <a:r>
              <a:rPr lang="es-ES" sz="2800" dirty="0">
                <a:solidFill>
                  <a:schemeClr val="accent1"/>
                </a:solidFill>
                <a:ea typeface="ＭＳ Ｐゴシック" charset="-128"/>
              </a:rPr>
              <a:t>Módulos DDR3 estándar</a:t>
            </a:r>
          </a:p>
        </p:txBody>
      </p:sp>
      <p:sp>
        <p:nvSpPr>
          <p:cNvPr id="5" name="Rectángulo 4"/>
          <p:cNvSpPr/>
          <p:nvPr/>
        </p:nvSpPr>
        <p:spPr>
          <a:xfrm>
            <a:off x="611560" y="1988840"/>
            <a:ext cx="8250237" cy="2701925"/>
          </a:xfrm>
          <a:prstGeom prst="rect">
            <a:avLst/>
          </a:prstGeom>
        </p:spPr>
        <p:txBody>
          <a:bodyPr wrap="square">
            <a:spAutoFit/>
          </a:bodyPr>
          <a:lstStyle/>
          <a:p>
            <a:pPr algn="just" eaLnBrk="0" hangingPunct="0">
              <a:spcBef>
                <a:spcPct val="20000"/>
              </a:spcBef>
              <a:buClr>
                <a:schemeClr val="tx1"/>
              </a:buClr>
              <a:buFont typeface="Symbol" charset="0"/>
              <a:buNone/>
              <a:defRPr/>
            </a:pPr>
            <a:r>
              <a:rPr lang="es-ES_tradnl" sz="1600" baseline="0" dirty="0">
                <a:solidFill>
                  <a:schemeClr val="accent3"/>
                </a:solidFill>
                <a:latin typeface="+mj-lt"/>
                <a:ea typeface="ＭＳ Ｐゴシック" charset="0"/>
                <a:cs typeface="ＭＳ Ｐゴシック" charset="0"/>
              </a:rPr>
              <a:t>Nombre 	     F. reloj 	    Retardo	    </a:t>
            </a:r>
            <a:r>
              <a:rPr lang="es-ES_tradnl" sz="1600" baseline="0" dirty="0" err="1">
                <a:solidFill>
                  <a:schemeClr val="accent3"/>
                </a:solidFill>
                <a:latin typeface="+mj-lt"/>
                <a:ea typeface="ＭＳ Ｐゴシック" charset="0"/>
                <a:cs typeface="ＭＳ Ｐゴシック" charset="0"/>
              </a:rPr>
              <a:t>Freq</a:t>
            </a:r>
            <a:r>
              <a:rPr lang="es-ES_tradnl" sz="1600" baseline="0" dirty="0">
                <a:solidFill>
                  <a:schemeClr val="accent3"/>
                </a:solidFill>
                <a:latin typeface="+mj-lt"/>
                <a:ea typeface="ＭＳ Ｐゴシック" charset="0"/>
                <a:cs typeface="ＭＳ Ｐゴシック" charset="0"/>
              </a:rPr>
              <a:t>. E/S</a:t>
            </a:r>
            <a:r>
              <a:rPr lang="es-ES_tradnl" sz="1600" dirty="0">
                <a:solidFill>
                  <a:schemeClr val="accent3"/>
                </a:solidFill>
                <a:latin typeface="+mj-lt"/>
                <a:ea typeface="ＭＳ Ｐゴシック" charset="0"/>
                <a:cs typeface="ＭＳ Ｐゴシック" charset="0"/>
              </a:rPr>
              <a:t>      </a:t>
            </a:r>
            <a:r>
              <a:rPr lang="es-ES_tradnl" sz="1600" baseline="0" dirty="0">
                <a:solidFill>
                  <a:schemeClr val="accent3"/>
                </a:solidFill>
                <a:latin typeface="+mj-lt"/>
                <a:ea typeface="ＭＳ Ｐゴシック" charset="0"/>
                <a:cs typeface="ＭＳ Ｐゴシック" charset="0"/>
              </a:rPr>
              <a:t>V. </a:t>
            </a:r>
            <a:r>
              <a:rPr lang="es-ES_tradnl" sz="1600" baseline="0" dirty="0" err="1">
                <a:solidFill>
                  <a:schemeClr val="accent3"/>
                </a:solidFill>
                <a:latin typeface="+mj-lt"/>
                <a:ea typeface="ＭＳ Ｐゴシック" charset="0"/>
                <a:cs typeface="ＭＳ Ｐゴシック" charset="0"/>
              </a:rPr>
              <a:t>Transf</a:t>
            </a:r>
            <a:r>
              <a:rPr lang="es-ES_tradnl" sz="1600" baseline="0" dirty="0">
                <a:solidFill>
                  <a:schemeClr val="accent3"/>
                </a:solidFill>
                <a:latin typeface="+mj-lt"/>
                <a:ea typeface="ＭＳ Ｐゴシック" charset="0"/>
                <a:cs typeface="ＭＳ Ｐゴシック" charset="0"/>
              </a:rPr>
              <a:t>.	</a:t>
            </a:r>
            <a:r>
              <a:rPr lang="es-ES_tradnl" sz="1600" baseline="0" dirty="0" err="1">
                <a:solidFill>
                  <a:schemeClr val="accent3"/>
                </a:solidFill>
                <a:latin typeface="+mj-lt"/>
                <a:ea typeface="ＭＳ Ｐゴシック" charset="0"/>
                <a:cs typeface="ＭＳ Ｐゴシック" charset="0"/>
              </a:rPr>
              <a:t>Denom</a:t>
            </a:r>
            <a:r>
              <a:rPr lang="es-ES_tradnl" sz="1600" baseline="0" dirty="0">
                <a:solidFill>
                  <a:schemeClr val="accent3"/>
                </a:solidFill>
                <a:latin typeface="+mj-lt"/>
                <a:ea typeface="ＭＳ Ｐゴシック" charset="0"/>
                <a:cs typeface="ＭＳ Ｐゴシック" charset="0"/>
              </a:rPr>
              <a:t>.	    Tasa </a:t>
            </a:r>
            <a:r>
              <a:rPr lang="es-ES_tradnl" sz="1600" baseline="0" dirty="0" err="1">
                <a:solidFill>
                  <a:schemeClr val="accent3"/>
                </a:solidFill>
                <a:latin typeface="+mj-lt"/>
                <a:ea typeface="ＭＳ Ｐゴシック" charset="0"/>
                <a:cs typeface="ＭＳ Ｐゴシック" charset="0"/>
              </a:rPr>
              <a:t>Transf</a:t>
            </a:r>
            <a:r>
              <a:rPr lang="es-ES_tradnl" sz="1600" baseline="0" dirty="0">
                <a:solidFill>
                  <a:schemeClr val="accent3"/>
                </a:solidFill>
                <a:latin typeface="+mj-lt"/>
                <a:ea typeface="ＭＳ Ｐゴシック" charset="0"/>
                <a:cs typeface="ＭＳ Ｐゴシック" charset="0"/>
              </a:rPr>
              <a:t>. Max</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DDR3-1.066   133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7,5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533 MHz</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1.066 MT/s     	PC3-8500 	     8.530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DDR3-1.200   150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6,7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600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1.200 MT/s     	PC3-9600 	     9.600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DDR3-1.333   166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6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667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1.333 MT/s     	PC3-10667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10.664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DDR3-1.375   170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5,9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688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1.375 MT/s     	PC3-11000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11.000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DDR3-1.466   183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5,5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733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1.466 MT/s     	PC3-11700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11.700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DDR3-1.600    200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5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800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1.600 MT/s     	PC3-12800</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12.800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DDR3-1.866    233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4,3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933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1.866 MT/s     	PC3-14900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14.930 MB/s</a:t>
            </a:r>
          </a:p>
          <a:p>
            <a:pPr algn="just" eaLnBrk="0" hangingPunct="0">
              <a:spcBef>
                <a:spcPct val="20000"/>
              </a:spcBef>
              <a:buClr>
                <a:schemeClr val="tx1"/>
              </a:buClr>
              <a:buFont typeface="Symbol" charset="0"/>
              <a:buNone/>
              <a:defRPr/>
            </a:pPr>
            <a:r>
              <a:rPr lang="es-ES_tradnl" sz="1600" baseline="0" dirty="0">
                <a:solidFill>
                  <a:srgbClr val="002060"/>
                </a:solidFill>
                <a:latin typeface="+mj-lt"/>
                <a:ea typeface="ＭＳ Ｐゴシック" charset="0"/>
                <a:cs typeface="ＭＳ Ｐゴシック" charset="0"/>
              </a:rPr>
              <a:t>DDR3-2.000    250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4 </a:t>
            </a:r>
            <a:r>
              <a:rPr lang="es-ES_tradnl" sz="1600" baseline="0" dirty="0" err="1">
                <a:solidFill>
                  <a:srgbClr val="002060"/>
                </a:solidFill>
                <a:latin typeface="+mj-lt"/>
                <a:ea typeface="ＭＳ Ｐゴシック" charset="0"/>
                <a:cs typeface="ＭＳ Ｐゴシック" charset="0"/>
              </a:rPr>
              <a:t>ns</a:t>
            </a:r>
            <a:r>
              <a:rPr lang="es-ES_tradnl" sz="1600" baseline="0" dirty="0">
                <a:solidFill>
                  <a:srgbClr val="002060"/>
                </a:solidFill>
                <a:latin typeface="+mj-lt"/>
                <a:ea typeface="ＭＳ Ｐゴシック" charset="0"/>
                <a:cs typeface="ＭＳ Ｐゴシック" charset="0"/>
              </a:rPr>
              <a:t> 	   1000 MHz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2.000 MT/s     	PC3-16000 </a:t>
            </a:r>
            <a:r>
              <a:rPr lang="es-ES_tradnl" sz="1600" dirty="0">
                <a:solidFill>
                  <a:srgbClr val="002060"/>
                </a:solidFill>
                <a:latin typeface="+mj-lt"/>
                <a:ea typeface="ＭＳ Ｐゴシック" charset="0"/>
                <a:cs typeface="ＭＳ Ｐゴシック" charset="0"/>
              </a:rPr>
              <a:t>   </a:t>
            </a:r>
            <a:r>
              <a:rPr lang="es-ES_tradnl" sz="1600" baseline="0" dirty="0">
                <a:solidFill>
                  <a:srgbClr val="002060"/>
                </a:solidFill>
                <a:latin typeface="+mj-lt"/>
                <a:ea typeface="ＭＳ Ｐゴシック" charset="0"/>
                <a:cs typeface="ＭＳ Ｐゴシック" charset="0"/>
              </a:rPr>
              <a:t>16.000 MB/s</a:t>
            </a:r>
            <a:endParaRPr lang="es-ES" sz="1600" baseline="0" dirty="0">
              <a:solidFill>
                <a:srgbClr val="002060"/>
              </a:solidFill>
              <a:latin typeface="+mj-lt"/>
              <a:ea typeface="ＭＳ Ｐゴシック" charset="0"/>
              <a:cs typeface="ＭＳ Ｐゴシック" charset="0"/>
            </a:endParaRPr>
          </a:p>
        </p:txBody>
      </p:sp>
      <p:cxnSp>
        <p:nvCxnSpPr>
          <p:cNvPr id="3" name="2 Conector recto"/>
          <p:cNvCxnSpPr/>
          <p:nvPr/>
        </p:nvCxnSpPr>
        <p:spPr bwMode="auto">
          <a:xfrm>
            <a:off x="611560" y="2276872"/>
            <a:ext cx="8280920" cy="0"/>
          </a:xfrm>
          <a:prstGeom prst="line">
            <a:avLst/>
          </a:prstGeom>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7" name="6 CuadroTexto"/>
          <p:cNvSpPr txBox="1"/>
          <p:nvPr/>
        </p:nvSpPr>
        <p:spPr>
          <a:xfrm>
            <a:off x="1187624" y="5733256"/>
            <a:ext cx="3804247" cy="307777"/>
          </a:xfrm>
          <a:prstGeom prst="rect">
            <a:avLst/>
          </a:prstGeom>
          <a:noFill/>
        </p:spPr>
        <p:txBody>
          <a:bodyPr wrap="none" rtlCol="0">
            <a:spAutoFit/>
          </a:bodyPr>
          <a:lstStyle/>
          <a:p>
            <a:r>
              <a:rPr lang="es-ES" sz="1400" i="1" dirty="0">
                <a:solidFill>
                  <a:schemeClr val="accent1">
                    <a:lumMod val="75000"/>
                  </a:schemeClr>
                </a:solidFill>
              </a:rPr>
              <a:t>MT/s: Millones de transferencias por segundo</a:t>
            </a:r>
          </a:p>
        </p:txBody>
      </p:sp>
      <p:sp>
        <p:nvSpPr>
          <p:cNvPr id="8" name="Rectangle 7">
            <a:extLst>
              <a:ext uri="{FF2B5EF4-FFF2-40B4-BE49-F238E27FC236}">
                <a16:creationId xmlns:a16="http://schemas.microsoft.com/office/drawing/2014/main" id="{1498C8E0-A853-4A21-825F-38B00599F5CB}"/>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ca-ES">
                <a:ea typeface="ＭＳ Ｐゴシック" charset="-128"/>
              </a:rPr>
              <a:t>Módulos estándar de memoria dinámica</a:t>
            </a:r>
            <a:endParaRPr lang="ca-ES" dirty="0">
              <a:ea typeface="ＭＳ Ｐゴシック" charset="-128"/>
            </a:endParaRPr>
          </a:p>
        </p:txBody>
      </p:sp>
      <p:sp>
        <p:nvSpPr>
          <p:cNvPr id="2" name="2 Marcador de número de diapositiva">
            <a:extLst>
              <a:ext uri="{FF2B5EF4-FFF2-40B4-BE49-F238E27FC236}">
                <a16:creationId xmlns:a16="http://schemas.microsoft.com/office/drawing/2014/main" id="{0BD1C73A-A0CC-E8BA-86AD-E067356DBC97}"/>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125</a:t>
            </a:fld>
            <a:endParaRPr lang="en-US" dirty="0"/>
          </a:p>
        </p:txBody>
      </p:sp>
    </p:spTree>
    <p:extLst>
      <p:ext uri="{BB962C8B-B14F-4D97-AF65-F5344CB8AC3E}">
        <p14:creationId xmlns:p14="http://schemas.microsoft.com/office/powerpoint/2010/main" val="1082409227"/>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E460E-A176-7104-6B03-B3C34C60A3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0C7AD4-3320-ED2E-C885-18F60E0BFF5E}"/>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7CC874DE-FFBE-51C6-C782-44F7B65BFD2A}"/>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t>3 - Memorias RAM</a:t>
            </a:r>
          </a:p>
          <a:p>
            <a:pPr marL="82550" indent="0">
              <a:buNone/>
            </a:pPr>
            <a:r>
              <a:rPr lang="es-ES" dirty="0"/>
              <a:t>4 - Módulos de memoria</a:t>
            </a:r>
          </a:p>
          <a:p>
            <a:pPr marL="82550" indent="0">
              <a:buNone/>
            </a:pPr>
            <a:r>
              <a:rPr lang="es-ES" dirty="0">
                <a:solidFill>
                  <a:srgbClr val="FF0000"/>
                </a:solidFill>
              </a:rPr>
              <a:t>5 - Mapas de memoria</a:t>
            </a:r>
          </a:p>
          <a:p>
            <a:pPr marL="82550" indent="0">
              <a:buNone/>
            </a:pPr>
            <a:r>
              <a:rPr lang="es-ES" dirty="0"/>
              <a:t>6 - El controlador de memoria</a:t>
            </a:r>
          </a:p>
          <a:p>
            <a:endParaRPr lang="es-ES_tradnl" dirty="0"/>
          </a:p>
        </p:txBody>
      </p:sp>
      <p:sp>
        <p:nvSpPr>
          <p:cNvPr id="4" name="Marcador de número de diapositiva 3">
            <a:extLst>
              <a:ext uri="{FF2B5EF4-FFF2-40B4-BE49-F238E27FC236}">
                <a16:creationId xmlns:a16="http://schemas.microsoft.com/office/drawing/2014/main" id="{B6A9C9C0-0D7D-976F-D591-7720842F94D5}"/>
              </a:ext>
            </a:extLst>
          </p:cNvPr>
          <p:cNvSpPr>
            <a:spLocks noGrp="1"/>
          </p:cNvSpPr>
          <p:nvPr>
            <p:ph type="sldNum" sz="quarter" idx="12"/>
          </p:nvPr>
        </p:nvSpPr>
        <p:spPr/>
        <p:txBody>
          <a:bodyPr/>
          <a:lstStyle/>
          <a:p>
            <a:pPr>
              <a:defRPr/>
            </a:pPr>
            <a:fld id="{50B7A251-C820-4EFF-8270-C7613E20881F}" type="slidenum">
              <a:rPr lang="en-US" smtClean="0"/>
              <a:pPr>
                <a:defRPr/>
              </a:pPr>
              <a:t>126</a:t>
            </a:fld>
            <a:endParaRPr lang="en-US" dirty="0"/>
          </a:p>
        </p:txBody>
      </p:sp>
      <p:sp>
        <p:nvSpPr>
          <p:cNvPr id="6" name="Rectángulo 5">
            <a:extLst>
              <a:ext uri="{FF2B5EF4-FFF2-40B4-BE49-F238E27FC236}">
                <a16:creationId xmlns:a16="http://schemas.microsoft.com/office/drawing/2014/main" id="{24138A2F-3301-FFCA-14DA-389D2CBF9431}"/>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
        <p:nvSpPr>
          <p:cNvPr id="7" name="Rectángulo 6">
            <a:extLst>
              <a:ext uri="{FF2B5EF4-FFF2-40B4-BE49-F238E27FC236}">
                <a16:creationId xmlns:a16="http://schemas.microsoft.com/office/drawing/2014/main" id="{0562092F-E0E8-D5BE-909B-F66B78282609}"/>
              </a:ext>
            </a:extLst>
          </p:cNvPr>
          <p:cNvSpPr/>
          <p:nvPr/>
        </p:nvSpPr>
        <p:spPr>
          <a:xfrm>
            <a:off x="471407" y="5323429"/>
            <a:ext cx="8201185" cy="929485"/>
          </a:xfrm>
          <a:prstGeom prst="rect">
            <a:avLst/>
          </a:prstGeom>
        </p:spPr>
        <p:txBody>
          <a:bodyPr wrap="square">
            <a:spAutoFit/>
          </a:bodyPr>
          <a:lstStyle/>
          <a:p>
            <a:pPr algn="l"/>
            <a:r>
              <a:rPr lang="es-ES" sz="1600" dirty="0">
                <a:solidFill>
                  <a:schemeClr val="accent1">
                    <a:lumMod val="75000"/>
                  </a:schemeClr>
                </a:solidFill>
              </a:rPr>
              <a:t>Vídeos relacionados:</a:t>
            </a:r>
          </a:p>
          <a:p>
            <a:pPr marL="742950" lvl="1" indent="-285750" algn="l">
              <a:buFont typeface="Arial" panose="020B0604020202020204" pitchFamily="34" charset="0"/>
              <a:buChar char="•"/>
            </a:pPr>
            <a:r>
              <a:rPr lang="es-ES" sz="1600" dirty="0">
                <a:solidFill>
                  <a:schemeClr val="accent1">
                    <a:lumMod val="75000"/>
                  </a:schemeClr>
                </a:solidFill>
              </a:rPr>
              <a:t>Vídeo 8. “Mapas de memoria”</a:t>
            </a:r>
          </a:p>
          <a:p>
            <a:pPr marL="742950" lvl="1" indent="-285750" algn="l">
              <a:buFont typeface="Arial" panose="020B0604020202020204" pitchFamily="34" charset="0"/>
              <a:buChar char="•"/>
            </a:pPr>
            <a:r>
              <a:rPr lang="es-ES" sz="1600" dirty="0">
                <a:solidFill>
                  <a:schemeClr val="accent1">
                    <a:lumMod val="75000"/>
                  </a:schemeClr>
                </a:solidFill>
              </a:rPr>
              <a:t>Vídeo 9: “Mapas de memoria: Ejemplo”</a:t>
            </a:r>
          </a:p>
        </p:txBody>
      </p:sp>
    </p:spTree>
    <p:extLst>
      <p:ext uri="{BB962C8B-B14F-4D97-AF65-F5344CB8AC3E}">
        <p14:creationId xmlns:p14="http://schemas.microsoft.com/office/powerpoint/2010/main" val="182380423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p:txBody>
          <a:bodyPr/>
          <a:lstStyle/>
          <a:p>
            <a:r>
              <a:rPr lang="es-ES" altLang="es-ES_tradnl" dirty="0"/>
              <a:t>Concepto de mapa de memoria</a:t>
            </a:r>
          </a:p>
        </p:txBody>
      </p:sp>
      <p:sp>
        <p:nvSpPr>
          <p:cNvPr id="100356" name="Rectangle 3"/>
          <p:cNvSpPr>
            <a:spLocks noGrp="1" noChangeArrowheads="1"/>
          </p:cNvSpPr>
          <p:nvPr>
            <p:ph type="body" idx="1"/>
          </p:nvPr>
        </p:nvSpPr>
        <p:spPr>
          <a:xfrm>
            <a:off x="714251" y="915988"/>
            <a:ext cx="8250237" cy="5256212"/>
          </a:xfrm>
        </p:spPr>
        <p:txBody>
          <a:bodyPr/>
          <a:lstStyle/>
          <a:p>
            <a:r>
              <a:rPr lang="es-ES" altLang="es-ES_tradnl" dirty="0"/>
              <a:t>Distribución de los distintos módulos en el espacio físico de direccionamiento del procesador</a:t>
            </a:r>
          </a:p>
          <a:p>
            <a:pPr lvl="1"/>
            <a:r>
              <a:rPr lang="es-ES" altLang="es-ES_tradnl" dirty="0"/>
              <a:t>El espacio </a:t>
            </a:r>
            <a:r>
              <a:rPr lang="es-ES" altLang="es-ES_tradnl" dirty="0" err="1"/>
              <a:t>direccionable</a:t>
            </a:r>
            <a:r>
              <a:rPr lang="es-ES" altLang="es-ES_tradnl" dirty="0"/>
              <a:t> suele ser mucho más grande que el espacio ocupado por los módulos físicos de la memoria</a:t>
            </a:r>
          </a:p>
          <a:p>
            <a:pPr lvl="1"/>
            <a:r>
              <a:rPr lang="es-ES" altLang="es-ES_tradnl" dirty="0"/>
              <a:t>Ejemplo: procesador con 32 bits de direcciones  y memoria principal de 128 MB implementada mediante 2 módulos de 32 MB y uno de 64 MB</a:t>
            </a:r>
          </a:p>
          <a:p>
            <a:pPr lvl="2"/>
            <a:r>
              <a:rPr lang="es-ES" altLang="es-ES_tradnl" dirty="0"/>
              <a:t>128 MB &lt;&lt; 4 GB</a:t>
            </a:r>
          </a:p>
        </p:txBody>
      </p:sp>
      <p:sp>
        <p:nvSpPr>
          <p:cNvPr id="100357" name="AutoShape 4"/>
          <p:cNvSpPr>
            <a:spLocks noChangeArrowheads="1"/>
          </p:cNvSpPr>
          <p:nvPr/>
        </p:nvSpPr>
        <p:spPr bwMode="auto">
          <a:xfrm>
            <a:off x="2743200" y="4860925"/>
            <a:ext cx="1371600" cy="685800"/>
          </a:xfrm>
          <a:prstGeom prst="rightArrow">
            <a:avLst>
              <a:gd name="adj1" fmla="val 50000"/>
              <a:gd name="adj2" fmla="val 50000"/>
            </a:avLst>
          </a:prstGeom>
          <a:solidFill>
            <a:srgbClr val="669900"/>
          </a:solidFill>
          <a:ln w="28575">
            <a:noFill/>
            <a:miter lim="800000"/>
            <a:headEnd/>
            <a:tailEnd/>
          </a:ln>
        </p:spPr>
        <p:txBody>
          <a:bodyPr wrap="none" anchor="ctr"/>
          <a:lstStyle/>
          <a:p>
            <a:endParaRPr lang="es-ES"/>
          </a:p>
        </p:txBody>
      </p:sp>
      <p:sp>
        <p:nvSpPr>
          <p:cNvPr id="100358" name="Text Box 5"/>
          <p:cNvSpPr txBox="1">
            <a:spLocks noChangeArrowheads="1"/>
          </p:cNvSpPr>
          <p:nvPr/>
        </p:nvSpPr>
        <p:spPr bwMode="auto">
          <a:xfrm>
            <a:off x="2601913" y="5622925"/>
            <a:ext cx="1512887" cy="396875"/>
          </a:xfrm>
          <a:prstGeom prst="rect">
            <a:avLst/>
          </a:prstGeom>
          <a:noFill/>
          <a:ln w="28575">
            <a:noFill/>
            <a:miter lim="800000"/>
            <a:headEnd/>
            <a:tailEnd/>
          </a:ln>
        </p:spPr>
        <p:txBody>
          <a:bodyPr wrap="none" anchor="ctr">
            <a:spAutoFit/>
          </a:bodyPr>
          <a:lstStyle/>
          <a:p>
            <a:pPr>
              <a:spcBef>
                <a:spcPct val="20000"/>
              </a:spcBef>
            </a:pPr>
            <a:r>
              <a:rPr lang="es-ES_tradnl"/>
              <a:t>Direcciones</a:t>
            </a:r>
          </a:p>
        </p:txBody>
      </p:sp>
      <p:sp>
        <p:nvSpPr>
          <p:cNvPr id="100359" name="Rectangle 6"/>
          <p:cNvSpPr>
            <a:spLocks noChangeArrowheads="1"/>
          </p:cNvSpPr>
          <p:nvPr/>
        </p:nvSpPr>
        <p:spPr bwMode="auto">
          <a:xfrm>
            <a:off x="4076576" y="3733800"/>
            <a:ext cx="4887912" cy="2743200"/>
          </a:xfrm>
          <a:prstGeom prst="rect">
            <a:avLst/>
          </a:prstGeom>
          <a:solidFill>
            <a:srgbClr val="FF9933"/>
          </a:solidFill>
          <a:ln w="28575">
            <a:noFill/>
            <a:miter lim="800000"/>
            <a:headEnd/>
            <a:tailEnd/>
          </a:ln>
        </p:spPr>
        <p:txBody>
          <a:bodyPr wrap="none" anchor="ctr"/>
          <a:lstStyle/>
          <a:p>
            <a:pPr>
              <a:spcBef>
                <a:spcPct val="20000"/>
              </a:spcBef>
            </a:pPr>
            <a:endParaRPr lang="es-ES_tradnl" sz="2400"/>
          </a:p>
        </p:txBody>
      </p:sp>
      <p:sp>
        <p:nvSpPr>
          <p:cNvPr id="100360" name="Text Box 7"/>
          <p:cNvSpPr txBox="1">
            <a:spLocks noChangeArrowheads="1"/>
          </p:cNvSpPr>
          <p:nvPr/>
        </p:nvSpPr>
        <p:spPr bwMode="auto">
          <a:xfrm>
            <a:off x="4318167" y="3807896"/>
            <a:ext cx="4528804" cy="369332"/>
          </a:xfrm>
          <a:prstGeom prst="rect">
            <a:avLst/>
          </a:prstGeom>
          <a:noFill/>
          <a:ln w="28575">
            <a:noFill/>
            <a:miter lim="800000"/>
            <a:headEnd/>
            <a:tailEnd/>
          </a:ln>
        </p:spPr>
        <p:txBody>
          <a:bodyPr wrap="none" anchor="ctr">
            <a:spAutoFit/>
          </a:bodyPr>
          <a:lstStyle/>
          <a:p>
            <a:pPr>
              <a:spcBef>
                <a:spcPct val="20000"/>
              </a:spcBef>
            </a:pPr>
            <a:r>
              <a:rPr lang="es-ES_tradnl" sz="1800" b="1" dirty="0">
                <a:solidFill>
                  <a:srgbClr val="000000"/>
                </a:solidFill>
              </a:rPr>
              <a:t>Espacio </a:t>
            </a:r>
            <a:r>
              <a:rPr lang="es-ES_tradnl" sz="1800" b="1" dirty="0" err="1">
                <a:solidFill>
                  <a:srgbClr val="000000"/>
                </a:solidFill>
              </a:rPr>
              <a:t>direccionable</a:t>
            </a:r>
            <a:r>
              <a:rPr lang="es-ES_tradnl" sz="1800" b="1" dirty="0">
                <a:solidFill>
                  <a:srgbClr val="000000"/>
                </a:solidFill>
              </a:rPr>
              <a:t>: 2</a:t>
            </a:r>
            <a:r>
              <a:rPr lang="es-ES_tradnl" sz="1800" b="1" baseline="30000" dirty="0">
                <a:solidFill>
                  <a:srgbClr val="000000"/>
                </a:solidFill>
              </a:rPr>
              <a:t>32</a:t>
            </a:r>
            <a:r>
              <a:rPr lang="es-ES_tradnl" sz="1800" b="1" dirty="0">
                <a:solidFill>
                  <a:srgbClr val="000000"/>
                </a:solidFill>
              </a:rPr>
              <a:t> bytes = 4 GB</a:t>
            </a:r>
            <a:endParaRPr lang="es-ES_tradnl" sz="1800" b="1" dirty="0">
              <a:solidFill>
                <a:schemeClr val="accent2"/>
              </a:solidFill>
            </a:endParaRPr>
          </a:p>
        </p:txBody>
      </p:sp>
      <p:sp>
        <p:nvSpPr>
          <p:cNvPr id="100361" name="Oval 8"/>
          <p:cNvSpPr>
            <a:spLocks noChangeArrowheads="1"/>
          </p:cNvSpPr>
          <p:nvPr/>
        </p:nvSpPr>
        <p:spPr bwMode="auto">
          <a:xfrm>
            <a:off x="714400" y="4191000"/>
            <a:ext cx="2057400" cy="1981200"/>
          </a:xfrm>
          <a:prstGeom prst="ellipse">
            <a:avLst/>
          </a:prstGeom>
          <a:solidFill>
            <a:srgbClr val="FF969C"/>
          </a:solidFill>
          <a:ln w="28575">
            <a:noFill/>
            <a:round/>
            <a:headEnd/>
            <a:tailEnd/>
          </a:ln>
        </p:spPr>
        <p:txBody>
          <a:bodyPr wrap="none" anchor="ctr"/>
          <a:lstStyle/>
          <a:p>
            <a:pPr>
              <a:spcBef>
                <a:spcPct val="20000"/>
              </a:spcBef>
            </a:pPr>
            <a:r>
              <a:rPr lang="es-ES_tradnl" sz="2400">
                <a:solidFill>
                  <a:srgbClr val="502800"/>
                </a:solidFill>
              </a:rPr>
              <a:t>Procesador</a:t>
            </a:r>
            <a:endParaRPr lang="es-ES_tradnl" sz="2400"/>
          </a:p>
        </p:txBody>
      </p:sp>
      <p:sp>
        <p:nvSpPr>
          <p:cNvPr id="100362" name="Rectangle 9"/>
          <p:cNvSpPr>
            <a:spLocks noChangeArrowheads="1"/>
          </p:cNvSpPr>
          <p:nvPr/>
        </p:nvSpPr>
        <p:spPr bwMode="auto">
          <a:xfrm>
            <a:off x="4800600" y="4572000"/>
            <a:ext cx="1439863" cy="719138"/>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2400" dirty="0">
                <a:solidFill>
                  <a:srgbClr val="502800"/>
                </a:solidFill>
              </a:rPr>
              <a:t>Módulo 0</a:t>
            </a:r>
          </a:p>
        </p:txBody>
      </p:sp>
      <p:sp>
        <p:nvSpPr>
          <p:cNvPr id="100363" name="Rectangle 10"/>
          <p:cNvSpPr>
            <a:spLocks noChangeArrowheads="1"/>
          </p:cNvSpPr>
          <p:nvPr/>
        </p:nvSpPr>
        <p:spPr bwMode="auto">
          <a:xfrm>
            <a:off x="6781800" y="4343400"/>
            <a:ext cx="1439863" cy="719138"/>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2400">
                <a:solidFill>
                  <a:srgbClr val="502800"/>
                </a:solidFill>
              </a:rPr>
              <a:t>Módulo 1</a:t>
            </a:r>
          </a:p>
        </p:txBody>
      </p:sp>
      <p:sp>
        <p:nvSpPr>
          <p:cNvPr id="100364" name="Rectangle 11"/>
          <p:cNvSpPr>
            <a:spLocks noChangeArrowheads="1"/>
          </p:cNvSpPr>
          <p:nvPr/>
        </p:nvSpPr>
        <p:spPr bwMode="auto">
          <a:xfrm>
            <a:off x="5105400" y="5486400"/>
            <a:ext cx="2879725" cy="719138"/>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2400">
                <a:solidFill>
                  <a:srgbClr val="502800"/>
                </a:solidFill>
              </a:rPr>
              <a:t>Módulo 2</a:t>
            </a:r>
          </a:p>
        </p:txBody>
      </p:sp>
      <p:sp>
        <p:nvSpPr>
          <p:cNvPr id="2" name="2 Marcador de número de diapositiva">
            <a:extLst>
              <a:ext uri="{FF2B5EF4-FFF2-40B4-BE49-F238E27FC236}">
                <a16:creationId xmlns:a16="http://schemas.microsoft.com/office/drawing/2014/main" id="{FDE18E37-6C2E-A05D-9DED-51B88793F61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127</a:t>
            </a:fld>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a:xfrm>
            <a:off x="523198" y="589221"/>
            <a:ext cx="8250237" cy="865187"/>
          </a:xfrm>
        </p:spPr>
        <p:txBody>
          <a:bodyPr/>
          <a:lstStyle/>
          <a:p>
            <a:r>
              <a:rPr lang="es-ES" altLang="es-ES_tradnl" sz="2000" dirty="0"/>
              <a:t>Circuito de descodificación o selección</a:t>
            </a:r>
          </a:p>
        </p:txBody>
      </p:sp>
      <p:sp>
        <p:nvSpPr>
          <p:cNvPr id="101380" name="Rectangle 3"/>
          <p:cNvSpPr>
            <a:spLocks noGrp="1" noChangeArrowheads="1"/>
          </p:cNvSpPr>
          <p:nvPr>
            <p:ph type="body" idx="1"/>
          </p:nvPr>
        </p:nvSpPr>
        <p:spPr>
          <a:xfrm>
            <a:off x="684213" y="1125538"/>
            <a:ext cx="8250237" cy="1170023"/>
          </a:xfrm>
        </p:spPr>
        <p:txBody>
          <a:bodyPr/>
          <a:lstStyle/>
          <a:p>
            <a:r>
              <a:rPr lang="es-ES" altLang="es-ES_tradnl" dirty="0"/>
              <a:t>Se trata de repartir las direcciones efectivas que puede emitir el procesador entre los distintos módulos físicos de memoria que hay implementados.</a:t>
            </a:r>
          </a:p>
        </p:txBody>
      </p:sp>
      <p:grpSp>
        <p:nvGrpSpPr>
          <p:cNvPr id="2" name="1 Grupo"/>
          <p:cNvGrpSpPr/>
          <p:nvPr/>
        </p:nvGrpSpPr>
        <p:grpSpPr>
          <a:xfrm>
            <a:off x="577275" y="2417636"/>
            <a:ext cx="7952105" cy="3360032"/>
            <a:chOff x="213490" y="2349500"/>
            <a:chExt cx="8473310" cy="3757763"/>
          </a:xfrm>
        </p:grpSpPr>
        <p:sp>
          <p:nvSpPr>
            <p:cNvPr id="101381" name="Text Box 4"/>
            <p:cNvSpPr txBox="1">
              <a:spLocks noChangeArrowheads="1"/>
            </p:cNvSpPr>
            <p:nvPr/>
          </p:nvSpPr>
          <p:spPr bwMode="auto">
            <a:xfrm>
              <a:off x="213490" y="4631966"/>
              <a:ext cx="2301110" cy="722838"/>
            </a:xfrm>
            <a:prstGeom prst="rect">
              <a:avLst/>
            </a:prstGeom>
            <a:noFill/>
            <a:ln w="28575">
              <a:noFill/>
              <a:miter lim="800000"/>
              <a:headEnd/>
              <a:tailEnd/>
            </a:ln>
          </p:spPr>
          <p:txBody>
            <a:bodyPr wrap="none" anchor="ctr">
              <a:spAutoFit/>
            </a:bodyPr>
            <a:lstStyle/>
            <a:p>
              <a:pPr algn="r">
                <a:lnSpc>
                  <a:spcPct val="90000"/>
                </a:lnSpc>
                <a:spcBef>
                  <a:spcPct val="20000"/>
                </a:spcBef>
              </a:pPr>
              <a:r>
                <a:rPr lang="es-ES_tradnl" sz="1800" dirty="0"/>
                <a:t>Líneas de </a:t>
              </a:r>
            </a:p>
            <a:p>
              <a:pPr algn="r">
                <a:lnSpc>
                  <a:spcPct val="90000"/>
                </a:lnSpc>
                <a:spcBef>
                  <a:spcPct val="20000"/>
                </a:spcBef>
              </a:pPr>
              <a:r>
                <a:rPr lang="es-ES_tradnl" sz="1800" dirty="0"/>
                <a:t>direcciones del bus</a:t>
              </a:r>
            </a:p>
          </p:txBody>
        </p:sp>
        <p:sp>
          <p:nvSpPr>
            <p:cNvPr id="101382" name="Oval 5"/>
            <p:cNvSpPr>
              <a:spLocks noChangeArrowheads="1"/>
            </p:cNvSpPr>
            <p:nvPr/>
          </p:nvSpPr>
          <p:spPr bwMode="auto">
            <a:xfrm>
              <a:off x="393700" y="3067050"/>
              <a:ext cx="1447800" cy="1382713"/>
            </a:xfrm>
            <a:prstGeom prst="ellipse">
              <a:avLst/>
            </a:prstGeom>
            <a:solidFill>
              <a:srgbClr val="FF969C"/>
            </a:solidFill>
            <a:ln w="28575">
              <a:noFill/>
              <a:round/>
              <a:headEnd/>
              <a:tailEnd/>
            </a:ln>
          </p:spPr>
          <p:txBody>
            <a:bodyPr wrap="none" anchor="ctr"/>
            <a:lstStyle/>
            <a:p>
              <a:pPr>
                <a:spcBef>
                  <a:spcPct val="20000"/>
                </a:spcBef>
              </a:pPr>
              <a:r>
                <a:rPr lang="es-ES_tradnl">
                  <a:solidFill>
                    <a:srgbClr val="502800"/>
                  </a:solidFill>
                </a:rPr>
                <a:t>Procesador</a:t>
              </a:r>
              <a:endParaRPr lang="es-ES_tradnl"/>
            </a:p>
          </p:txBody>
        </p:sp>
        <p:sp>
          <p:nvSpPr>
            <p:cNvPr id="101383" name="Rectangle 6"/>
            <p:cNvSpPr>
              <a:spLocks noChangeArrowheads="1"/>
            </p:cNvSpPr>
            <p:nvPr/>
          </p:nvSpPr>
          <p:spPr bwMode="auto">
            <a:xfrm>
              <a:off x="6113463" y="4300538"/>
              <a:ext cx="1524000" cy="685800"/>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1800" dirty="0">
                  <a:solidFill>
                    <a:srgbClr val="502800"/>
                  </a:solidFill>
                </a:rPr>
                <a:t>Módulo 2</a:t>
              </a:r>
            </a:p>
          </p:txBody>
        </p:sp>
        <p:sp>
          <p:nvSpPr>
            <p:cNvPr id="101384" name="Freeform 7"/>
            <p:cNvSpPr>
              <a:spLocks/>
            </p:cNvSpPr>
            <p:nvPr/>
          </p:nvSpPr>
          <p:spPr bwMode="auto">
            <a:xfrm>
              <a:off x="3052763" y="2806700"/>
              <a:ext cx="2357437" cy="1920875"/>
            </a:xfrm>
            <a:custGeom>
              <a:avLst/>
              <a:gdLst>
                <a:gd name="T0" fmla="*/ 2147483647 w 1485"/>
                <a:gd name="T1" fmla="*/ 2147483647 h 1210"/>
                <a:gd name="T2" fmla="*/ 2147483647 w 1485"/>
                <a:gd name="T3" fmla="*/ 2147483647 h 1210"/>
                <a:gd name="T4" fmla="*/ 0 w 1485"/>
                <a:gd name="T5" fmla="*/ 2147483647 h 1210"/>
                <a:gd name="T6" fmla="*/ 2147483647 w 1485"/>
                <a:gd name="T7" fmla="*/ 2147483647 h 1210"/>
                <a:gd name="T8" fmla="*/ 2147483647 w 1485"/>
                <a:gd name="T9" fmla="*/ 2147483647 h 1210"/>
                <a:gd name="T10" fmla="*/ 2147483647 w 1485"/>
                <a:gd name="T11" fmla="*/ 2147483647 h 1210"/>
                <a:gd name="T12" fmla="*/ 2147483647 w 1485"/>
                <a:gd name="T13" fmla="*/ 2147483647 h 1210"/>
                <a:gd name="T14" fmla="*/ 2147483647 w 1485"/>
                <a:gd name="T15" fmla="*/ 2147483647 h 1210"/>
                <a:gd name="T16" fmla="*/ 2147483647 w 1485"/>
                <a:gd name="T17" fmla="*/ 2147483647 h 1210"/>
                <a:gd name="T18" fmla="*/ 2147483647 w 1485"/>
                <a:gd name="T19" fmla="*/ 2147483647 h 1210"/>
                <a:gd name="T20" fmla="*/ 2147483647 w 1485"/>
                <a:gd name="T21" fmla="*/ 2147483647 h 1210"/>
                <a:gd name="T22" fmla="*/ 2147483647 w 1485"/>
                <a:gd name="T23" fmla="*/ 2147483647 h 1210"/>
                <a:gd name="T24" fmla="*/ 2147483647 w 1485"/>
                <a:gd name="T25" fmla="*/ 2147483647 h 1210"/>
                <a:gd name="T26" fmla="*/ 2147483647 w 1485"/>
                <a:gd name="T27" fmla="*/ 2147483647 h 1210"/>
                <a:gd name="T28" fmla="*/ 2147483647 w 1485"/>
                <a:gd name="T29" fmla="*/ 2147483647 h 1210"/>
                <a:gd name="T30" fmla="*/ 2147483647 w 1485"/>
                <a:gd name="T31" fmla="*/ 2147483647 h 1210"/>
                <a:gd name="T32" fmla="*/ 2147483647 w 1485"/>
                <a:gd name="T33" fmla="*/ 2147483647 h 1210"/>
                <a:gd name="T34" fmla="*/ 2147483647 w 1485"/>
                <a:gd name="T35" fmla="*/ 2147483647 h 1210"/>
                <a:gd name="T36" fmla="*/ 2147483647 w 1485"/>
                <a:gd name="T37" fmla="*/ 2147483647 h 1210"/>
                <a:gd name="T38" fmla="*/ 2147483647 w 1485"/>
                <a:gd name="T39" fmla="*/ 2147483647 h 1210"/>
                <a:gd name="T40" fmla="*/ 2147483647 w 1485"/>
                <a:gd name="T41" fmla="*/ 2147483647 h 1210"/>
                <a:gd name="T42" fmla="*/ 2147483647 w 1485"/>
                <a:gd name="T43" fmla="*/ 2147483647 h 1210"/>
                <a:gd name="T44" fmla="*/ 2147483647 w 1485"/>
                <a:gd name="T45" fmla="*/ 2147483647 h 1210"/>
                <a:gd name="T46" fmla="*/ 2147483647 w 1485"/>
                <a:gd name="T47" fmla="*/ 2147483647 h 1210"/>
                <a:gd name="T48" fmla="*/ 2147483647 w 1485"/>
                <a:gd name="T49" fmla="*/ 2147483647 h 1210"/>
                <a:gd name="T50" fmla="*/ 2147483647 w 1485"/>
                <a:gd name="T51" fmla="*/ 2147483647 h 1210"/>
                <a:gd name="T52" fmla="*/ 2147483647 w 1485"/>
                <a:gd name="T53" fmla="*/ 2147483647 h 1210"/>
                <a:gd name="T54" fmla="*/ 2147483647 w 1485"/>
                <a:gd name="T55" fmla="*/ 2147483647 h 1210"/>
                <a:gd name="T56" fmla="*/ 2147483647 w 1485"/>
                <a:gd name="T57" fmla="*/ 2147483647 h 1210"/>
                <a:gd name="T58" fmla="*/ 2147483647 w 1485"/>
                <a:gd name="T59" fmla="*/ 2147483647 h 1210"/>
                <a:gd name="T60" fmla="*/ 2147483647 w 1485"/>
                <a:gd name="T61" fmla="*/ 2147483647 h 1210"/>
                <a:gd name="T62" fmla="*/ 2147483647 w 1485"/>
                <a:gd name="T63" fmla="*/ 2147483647 h 1210"/>
                <a:gd name="T64" fmla="*/ 2147483647 w 1485"/>
                <a:gd name="T65" fmla="*/ 2147483647 h 1210"/>
                <a:gd name="T66" fmla="*/ 2147483647 w 1485"/>
                <a:gd name="T67" fmla="*/ 2147483647 h 1210"/>
                <a:gd name="T68" fmla="*/ 2147483647 w 1485"/>
                <a:gd name="T69" fmla="*/ 0 h 1210"/>
                <a:gd name="T70" fmla="*/ 2147483647 w 1485"/>
                <a:gd name="T71" fmla="*/ 2147483647 h 12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5"/>
                <a:gd name="T109" fmla="*/ 0 h 1210"/>
                <a:gd name="T110" fmla="*/ 1485 w 1485"/>
                <a:gd name="T111" fmla="*/ 1210 h 12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5" h="1210">
                  <a:moveTo>
                    <a:pt x="234" y="47"/>
                  </a:moveTo>
                  <a:lnTo>
                    <a:pt x="127" y="55"/>
                  </a:lnTo>
                  <a:lnTo>
                    <a:pt x="0" y="83"/>
                  </a:lnTo>
                  <a:lnTo>
                    <a:pt x="27" y="192"/>
                  </a:lnTo>
                  <a:lnTo>
                    <a:pt x="36" y="301"/>
                  </a:lnTo>
                  <a:lnTo>
                    <a:pt x="91" y="399"/>
                  </a:lnTo>
                  <a:lnTo>
                    <a:pt x="73" y="537"/>
                  </a:lnTo>
                  <a:lnTo>
                    <a:pt x="20" y="646"/>
                  </a:lnTo>
                  <a:lnTo>
                    <a:pt x="20" y="717"/>
                  </a:lnTo>
                  <a:lnTo>
                    <a:pt x="91" y="787"/>
                  </a:lnTo>
                  <a:lnTo>
                    <a:pt x="133" y="896"/>
                  </a:lnTo>
                  <a:lnTo>
                    <a:pt x="234" y="963"/>
                  </a:lnTo>
                  <a:lnTo>
                    <a:pt x="162" y="999"/>
                  </a:lnTo>
                  <a:lnTo>
                    <a:pt x="162" y="1069"/>
                  </a:lnTo>
                  <a:lnTo>
                    <a:pt x="375" y="1104"/>
                  </a:lnTo>
                  <a:lnTo>
                    <a:pt x="516" y="1104"/>
                  </a:lnTo>
                  <a:lnTo>
                    <a:pt x="801" y="1210"/>
                  </a:lnTo>
                  <a:lnTo>
                    <a:pt x="943" y="1210"/>
                  </a:lnTo>
                  <a:lnTo>
                    <a:pt x="1085" y="1140"/>
                  </a:lnTo>
                  <a:lnTo>
                    <a:pt x="1156" y="1034"/>
                  </a:lnTo>
                  <a:lnTo>
                    <a:pt x="1298" y="963"/>
                  </a:lnTo>
                  <a:lnTo>
                    <a:pt x="1370" y="858"/>
                  </a:lnTo>
                  <a:lnTo>
                    <a:pt x="1485" y="805"/>
                  </a:lnTo>
                  <a:lnTo>
                    <a:pt x="1459" y="692"/>
                  </a:lnTo>
                  <a:lnTo>
                    <a:pt x="1478" y="585"/>
                  </a:lnTo>
                  <a:lnTo>
                    <a:pt x="1429" y="463"/>
                  </a:lnTo>
                  <a:lnTo>
                    <a:pt x="1409" y="372"/>
                  </a:lnTo>
                  <a:lnTo>
                    <a:pt x="1370" y="258"/>
                  </a:lnTo>
                  <a:lnTo>
                    <a:pt x="1303" y="137"/>
                  </a:lnTo>
                  <a:lnTo>
                    <a:pt x="1283" y="76"/>
                  </a:lnTo>
                  <a:lnTo>
                    <a:pt x="1204" y="84"/>
                  </a:lnTo>
                  <a:lnTo>
                    <a:pt x="1156" y="12"/>
                  </a:lnTo>
                  <a:lnTo>
                    <a:pt x="774" y="31"/>
                  </a:lnTo>
                  <a:lnTo>
                    <a:pt x="588" y="82"/>
                  </a:lnTo>
                  <a:lnTo>
                    <a:pt x="379" y="0"/>
                  </a:lnTo>
                  <a:lnTo>
                    <a:pt x="234" y="47"/>
                  </a:lnTo>
                  <a:close/>
                </a:path>
              </a:pathLst>
            </a:custGeom>
            <a:solidFill>
              <a:srgbClr val="CCECFF"/>
            </a:solidFill>
            <a:ln w="28575">
              <a:solidFill>
                <a:schemeClr val="accent6">
                  <a:lumMod val="75000"/>
                </a:schemeClr>
              </a:solidFill>
              <a:round/>
              <a:headEnd/>
              <a:tailEnd/>
            </a:ln>
          </p:spPr>
          <p:txBody>
            <a:bodyPr wrap="none" anchor="ctr"/>
            <a:lstStyle/>
            <a:p>
              <a:endParaRPr lang="es-ES"/>
            </a:p>
          </p:txBody>
        </p:sp>
        <p:sp>
          <p:nvSpPr>
            <p:cNvPr id="101385" name="Text Box 8"/>
            <p:cNvSpPr txBox="1">
              <a:spLocks noChangeArrowheads="1"/>
            </p:cNvSpPr>
            <p:nvPr/>
          </p:nvSpPr>
          <p:spPr bwMode="auto">
            <a:xfrm>
              <a:off x="3382380" y="2955408"/>
              <a:ext cx="1680739" cy="1425023"/>
            </a:xfrm>
            <a:prstGeom prst="rect">
              <a:avLst/>
            </a:prstGeom>
            <a:solidFill>
              <a:srgbClr val="CCECFF"/>
            </a:solidFill>
            <a:ln w="28575">
              <a:noFill/>
              <a:miter lim="800000"/>
              <a:headEnd/>
              <a:tailEnd/>
            </a:ln>
          </p:spPr>
          <p:txBody>
            <a:bodyPr wrap="none" lIns="0" tIns="0" rIns="0" bIns="0" anchor="ctr">
              <a:spAutoFit/>
            </a:bodyPr>
            <a:lstStyle/>
            <a:p>
              <a:pPr>
                <a:spcBef>
                  <a:spcPct val="20000"/>
                </a:spcBef>
              </a:pPr>
              <a:r>
                <a:rPr lang="es-ES_tradnl" sz="1800" dirty="0">
                  <a:solidFill>
                    <a:srgbClr val="000000"/>
                  </a:solidFill>
                </a:rPr>
                <a:t>Circuito de</a:t>
              </a:r>
            </a:p>
            <a:p>
              <a:pPr>
                <a:spcBef>
                  <a:spcPct val="20000"/>
                </a:spcBef>
              </a:pPr>
              <a:r>
                <a:rPr lang="es-ES_tradnl" sz="1800" dirty="0">
                  <a:solidFill>
                    <a:srgbClr val="000000"/>
                  </a:solidFill>
                </a:rPr>
                <a:t>descodificación</a:t>
              </a:r>
            </a:p>
            <a:p>
              <a:pPr>
                <a:spcBef>
                  <a:spcPct val="20000"/>
                </a:spcBef>
              </a:pPr>
              <a:r>
                <a:rPr lang="es-ES_tradnl" sz="1800" dirty="0">
                  <a:solidFill>
                    <a:srgbClr val="000000"/>
                  </a:solidFill>
                </a:rPr>
                <a:t>o selección</a:t>
              </a:r>
            </a:p>
            <a:p>
              <a:pPr>
                <a:spcBef>
                  <a:spcPct val="20000"/>
                </a:spcBef>
              </a:pPr>
              <a:r>
                <a:rPr lang="es-ES_tradnl" sz="1800" dirty="0">
                  <a:solidFill>
                    <a:srgbClr val="000000"/>
                  </a:solidFill>
                </a:rPr>
                <a:t>de módulo</a:t>
              </a:r>
            </a:p>
          </p:txBody>
        </p:sp>
        <p:sp>
          <p:nvSpPr>
            <p:cNvPr id="101386" name="Freeform 9"/>
            <p:cNvSpPr>
              <a:spLocks/>
            </p:cNvSpPr>
            <p:nvPr/>
          </p:nvSpPr>
          <p:spPr bwMode="auto">
            <a:xfrm>
              <a:off x="4870450" y="2373313"/>
              <a:ext cx="2078038" cy="449262"/>
            </a:xfrm>
            <a:custGeom>
              <a:avLst/>
              <a:gdLst>
                <a:gd name="T0" fmla="*/ 0 w 1309"/>
                <a:gd name="T1" fmla="*/ 2147483647 h 283"/>
                <a:gd name="T2" fmla="*/ 2147483647 w 1309"/>
                <a:gd name="T3" fmla="*/ 2147483647 h 283"/>
                <a:gd name="T4" fmla="*/ 2147483647 w 1309"/>
                <a:gd name="T5" fmla="*/ 2147483647 h 283"/>
                <a:gd name="T6" fmla="*/ 0 60000 65536"/>
                <a:gd name="T7" fmla="*/ 0 60000 65536"/>
                <a:gd name="T8" fmla="*/ 0 60000 65536"/>
                <a:gd name="T9" fmla="*/ 0 w 1309"/>
                <a:gd name="T10" fmla="*/ 0 h 283"/>
                <a:gd name="T11" fmla="*/ 1309 w 1309"/>
                <a:gd name="T12" fmla="*/ 283 h 283"/>
              </a:gdLst>
              <a:ahLst/>
              <a:cxnLst>
                <a:cxn ang="T6">
                  <a:pos x="T0" y="T1"/>
                </a:cxn>
                <a:cxn ang="T7">
                  <a:pos x="T2" y="T3"/>
                </a:cxn>
                <a:cxn ang="T8">
                  <a:pos x="T4" y="T5"/>
                </a:cxn>
              </a:cxnLst>
              <a:rect l="T9" t="T10" r="T11" b="T12"/>
              <a:pathLst>
                <a:path w="1309" h="283">
                  <a:moveTo>
                    <a:pt x="0" y="283"/>
                  </a:moveTo>
                  <a:cubicBezTo>
                    <a:pt x="109" y="239"/>
                    <a:pt x="430" y="42"/>
                    <a:pt x="648" y="21"/>
                  </a:cubicBezTo>
                  <a:cubicBezTo>
                    <a:pt x="866" y="0"/>
                    <a:pt x="1172" y="128"/>
                    <a:pt x="1309" y="156"/>
                  </a:cubicBezTo>
                </a:path>
              </a:pathLst>
            </a:custGeom>
            <a:noFill/>
            <a:ln w="28575">
              <a:solidFill>
                <a:schemeClr val="accent6">
                  <a:lumMod val="60000"/>
                  <a:lumOff val="40000"/>
                </a:schemeClr>
              </a:solidFill>
              <a:round/>
              <a:headEnd/>
              <a:tailEnd type="arrow" w="lg" len="med"/>
            </a:ln>
          </p:spPr>
          <p:txBody>
            <a:bodyPr wrap="none" anchor="ctr"/>
            <a:lstStyle/>
            <a:p>
              <a:endParaRPr lang="es-ES"/>
            </a:p>
          </p:txBody>
        </p:sp>
        <p:sp>
          <p:nvSpPr>
            <p:cNvPr id="101387" name="Freeform 10"/>
            <p:cNvSpPr>
              <a:spLocks/>
            </p:cNvSpPr>
            <p:nvPr/>
          </p:nvSpPr>
          <p:spPr bwMode="auto">
            <a:xfrm>
              <a:off x="4813300" y="4525963"/>
              <a:ext cx="1312863" cy="438150"/>
            </a:xfrm>
            <a:custGeom>
              <a:avLst/>
              <a:gdLst>
                <a:gd name="T0" fmla="*/ 0 w 827"/>
                <a:gd name="T1" fmla="*/ 0 h 276"/>
                <a:gd name="T2" fmla="*/ 2147483647 w 827"/>
                <a:gd name="T3" fmla="*/ 2147483647 h 276"/>
                <a:gd name="T4" fmla="*/ 2147483647 w 827"/>
                <a:gd name="T5" fmla="*/ 2147483647 h 276"/>
                <a:gd name="T6" fmla="*/ 2147483647 w 827"/>
                <a:gd name="T7" fmla="*/ 2147483647 h 276"/>
                <a:gd name="T8" fmla="*/ 2147483647 w 827"/>
                <a:gd name="T9" fmla="*/ 2147483647 h 276"/>
                <a:gd name="T10" fmla="*/ 0 60000 65536"/>
                <a:gd name="T11" fmla="*/ 0 60000 65536"/>
                <a:gd name="T12" fmla="*/ 0 60000 65536"/>
                <a:gd name="T13" fmla="*/ 0 60000 65536"/>
                <a:gd name="T14" fmla="*/ 0 60000 65536"/>
                <a:gd name="T15" fmla="*/ 0 w 827"/>
                <a:gd name="T16" fmla="*/ 0 h 276"/>
                <a:gd name="T17" fmla="*/ 827 w 827"/>
                <a:gd name="T18" fmla="*/ 276 h 276"/>
              </a:gdLst>
              <a:ahLst/>
              <a:cxnLst>
                <a:cxn ang="T10">
                  <a:pos x="T0" y="T1"/>
                </a:cxn>
                <a:cxn ang="T11">
                  <a:pos x="T2" y="T3"/>
                </a:cxn>
                <a:cxn ang="T12">
                  <a:pos x="T4" y="T5"/>
                </a:cxn>
                <a:cxn ang="T13">
                  <a:pos x="T6" y="T7"/>
                </a:cxn>
                <a:cxn ang="T14">
                  <a:pos x="T8" y="T9"/>
                </a:cxn>
              </a:cxnLst>
              <a:rect l="T15" t="T16" r="T17" b="T18"/>
              <a:pathLst>
                <a:path w="827" h="276">
                  <a:moveTo>
                    <a:pt x="0" y="0"/>
                  </a:moveTo>
                  <a:cubicBezTo>
                    <a:pt x="22" y="12"/>
                    <a:pt x="47" y="29"/>
                    <a:pt x="123" y="70"/>
                  </a:cubicBezTo>
                  <a:cubicBezTo>
                    <a:pt x="199" y="111"/>
                    <a:pt x="370" y="220"/>
                    <a:pt x="457" y="248"/>
                  </a:cubicBezTo>
                  <a:cubicBezTo>
                    <a:pt x="544" y="276"/>
                    <a:pt x="583" y="262"/>
                    <a:pt x="645" y="236"/>
                  </a:cubicBezTo>
                  <a:cubicBezTo>
                    <a:pt x="707" y="210"/>
                    <a:pt x="789" y="121"/>
                    <a:pt x="827" y="91"/>
                  </a:cubicBezTo>
                </a:path>
              </a:pathLst>
            </a:custGeom>
            <a:noFill/>
            <a:ln w="28575">
              <a:solidFill>
                <a:schemeClr val="accent6">
                  <a:lumMod val="60000"/>
                  <a:lumOff val="40000"/>
                </a:schemeClr>
              </a:solidFill>
              <a:round/>
              <a:headEnd/>
              <a:tailEnd type="arrow" w="lg" len="med"/>
            </a:ln>
          </p:spPr>
          <p:txBody>
            <a:bodyPr wrap="none" anchor="ctr"/>
            <a:lstStyle/>
            <a:p>
              <a:endParaRPr lang="es-ES"/>
            </a:p>
          </p:txBody>
        </p:sp>
        <p:sp>
          <p:nvSpPr>
            <p:cNvPr id="101388" name="Line 11"/>
            <p:cNvSpPr>
              <a:spLocks noChangeShapeType="1"/>
            </p:cNvSpPr>
            <p:nvPr/>
          </p:nvSpPr>
          <p:spPr bwMode="auto">
            <a:xfrm>
              <a:off x="1905000" y="3721100"/>
              <a:ext cx="762000" cy="0"/>
            </a:xfrm>
            <a:prstGeom prst="line">
              <a:avLst/>
            </a:prstGeom>
            <a:noFill/>
            <a:ln w="241300">
              <a:solidFill>
                <a:schemeClr val="accent6">
                  <a:lumMod val="75000"/>
                </a:schemeClr>
              </a:solidFill>
              <a:round/>
              <a:headEnd/>
              <a:tailEnd/>
            </a:ln>
          </p:spPr>
          <p:txBody>
            <a:bodyPr wrap="none" anchor="ctr"/>
            <a:lstStyle/>
            <a:p>
              <a:endParaRPr lang="es-ES"/>
            </a:p>
          </p:txBody>
        </p:sp>
        <p:sp>
          <p:nvSpPr>
            <p:cNvPr id="101389" name="Line 12"/>
            <p:cNvSpPr>
              <a:spLocks noChangeShapeType="1"/>
            </p:cNvSpPr>
            <p:nvPr/>
          </p:nvSpPr>
          <p:spPr bwMode="auto">
            <a:xfrm>
              <a:off x="2590800" y="3644900"/>
              <a:ext cx="0" cy="1981200"/>
            </a:xfrm>
            <a:prstGeom prst="line">
              <a:avLst/>
            </a:prstGeom>
            <a:noFill/>
            <a:ln w="152400">
              <a:solidFill>
                <a:schemeClr val="accent6">
                  <a:lumMod val="75000"/>
                </a:schemeClr>
              </a:solidFill>
              <a:round/>
              <a:headEnd/>
              <a:tailEnd/>
            </a:ln>
          </p:spPr>
          <p:txBody>
            <a:bodyPr wrap="none" anchor="ctr"/>
            <a:lstStyle/>
            <a:p>
              <a:endParaRPr lang="es-ES"/>
            </a:p>
          </p:txBody>
        </p:sp>
        <p:sp>
          <p:nvSpPr>
            <p:cNvPr id="101390" name="Line 13"/>
            <p:cNvSpPr>
              <a:spLocks noChangeShapeType="1"/>
            </p:cNvSpPr>
            <p:nvPr/>
          </p:nvSpPr>
          <p:spPr bwMode="auto">
            <a:xfrm>
              <a:off x="2590800" y="3644900"/>
              <a:ext cx="609600" cy="0"/>
            </a:xfrm>
            <a:prstGeom prst="line">
              <a:avLst/>
            </a:prstGeom>
            <a:noFill/>
            <a:ln w="76200">
              <a:solidFill>
                <a:schemeClr val="accent6">
                  <a:lumMod val="75000"/>
                </a:schemeClr>
              </a:solidFill>
              <a:round/>
              <a:headEnd/>
              <a:tailEnd type="triangle" w="med" len="med"/>
            </a:ln>
          </p:spPr>
          <p:txBody>
            <a:bodyPr wrap="none" anchor="ctr"/>
            <a:lstStyle/>
            <a:p>
              <a:endParaRPr lang="es-ES"/>
            </a:p>
          </p:txBody>
        </p:sp>
        <p:sp>
          <p:nvSpPr>
            <p:cNvPr id="101391" name="Line 14"/>
            <p:cNvSpPr>
              <a:spLocks noChangeShapeType="1"/>
            </p:cNvSpPr>
            <p:nvPr/>
          </p:nvSpPr>
          <p:spPr bwMode="auto">
            <a:xfrm flipH="1" flipV="1">
              <a:off x="2516188" y="5626100"/>
              <a:ext cx="6170612" cy="0"/>
            </a:xfrm>
            <a:prstGeom prst="line">
              <a:avLst/>
            </a:prstGeom>
            <a:noFill/>
            <a:ln w="127000">
              <a:solidFill>
                <a:schemeClr val="accent6">
                  <a:lumMod val="75000"/>
                </a:schemeClr>
              </a:solidFill>
              <a:round/>
              <a:headEnd/>
              <a:tailEnd/>
            </a:ln>
          </p:spPr>
          <p:txBody>
            <a:bodyPr wrap="none" anchor="ctr"/>
            <a:lstStyle/>
            <a:p>
              <a:endParaRPr lang="es-ES"/>
            </a:p>
          </p:txBody>
        </p:sp>
        <p:sp>
          <p:nvSpPr>
            <p:cNvPr id="101392" name="Line 15"/>
            <p:cNvSpPr>
              <a:spLocks noChangeShapeType="1"/>
            </p:cNvSpPr>
            <p:nvPr/>
          </p:nvSpPr>
          <p:spPr bwMode="auto">
            <a:xfrm>
              <a:off x="6781800" y="3721100"/>
              <a:ext cx="1905000" cy="0"/>
            </a:xfrm>
            <a:prstGeom prst="line">
              <a:avLst/>
            </a:prstGeom>
            <a:noFill/>
            <a:ln w="127000">
              <a:solidFill>
                <a:schemeClr val="accent6">
                  <a:lumMod val="75000"/>
                </a:schemeClr>
              </a:solidFill>
              <a:round/>
              <a:headEnd type="triangle" w="med" len="med"/>
              <a:tailEnd/>
            </a:ln>
          </p:spPr>
          <p:txBody>
            <a:bodyPr wrap="none" anchor="ctr"/>
            <a:lstStyle/>
            <a:p>
              <a:endParaRPr lang="es-ES"/>
            </a:p>
          </p:txBody>
        </p:sp>
        <p:sp>
          <p:nvSpPr>
            <p:cNvPr id="101393" name="Line 16"/>
            <p:cNvSpPr>
              <a:spLocks noChangeShapeType="1"/>
            </p:cNvSpPr>
            <p:nvPr/>
          </p:nvSpPr>
          <p:spPr bwMode="auto">
            <a:xfrm>
              <a:off x="8623300" y="2806700"/>
              <a:ext cx="0" cy="2819400"/>
            </a:xfrm>
            <a:prstGeom prst="line">
              <a:avLst/>
            </a:prstGeom>
            <a:noFill/>
            <a:ln w="127000">
              <a:solidFill>
                <a:schemeClr val="accent6">
                  <a:lumMod val="75000"/>
                </a:schemeClr>
              </a:solidFill>
              <a:round/>
              <a:headEnd/>
              <a:tailEnd/>
            </a:ln>
          </p:spPr>
          <p:txBody>
            <a:bodyPr wrap="none" anchor="ctr"/>
            <a:lstStyle/>
            <a:p>
              <a:endParaRPr lang="es-ES"/>
            </a:p>
          </p:txBody>
        </p:sp>
        <p:sp>
          <p:nvSpPr>
            <p:cNvPr id="101394" name="Line 17"/>
            <p:cNvSpPr>
              <a:spLocks noChangeShapeType="1"/>
            </p:cNvSpPr>
            <p:nvPr/>
          </p:nvSpPr>
          <p:spPr bwMode="auto">
            <a:xfrm flipV="1">
              <a:off x="8001000" y="2806700"/>
              <a:ext cx="685800" cy="0"/>
            </a:xfrm>
            <a:prstGeom prst="line">
              <a:avLst/>
            </a:prstGeom>
            <a:noFill/>
            <a:ln w="127000">
              <a:solidFill>
                <a:schemeClr val="accent6">
                  <a:lumMod val="75000"/>
                </a:schemeClr>
              </a:solidFill>
              <a:round/>
              <a:headEnd type="triangle" w="med" len="med"/>
              <a:tailEnd/>
            </a:ln>
          </p:spPr>
          <p:txBody>
            <a:bodyPr wrap="none" anchor="ctr"/>
            <a:lstStyle/>
            <a:p>
              <a:endParaRPr lang="es-ES"/>
            </a:p>
          </p:txBody>
        </p:sp>
        <p:sp>
          <p:nvSpPr>
            <p:cNvPr id="101395" name="Rectangle 18"/>
            <p:cNvSpPr>
              <a:spLocks noChangeArrowheads="1"/>
            </p:cNvSpPr>
            <p:nvPr/>
          </p:nvSpPr>
          <p:spPr bwMode="auto">
            <a:xfrm>
              <a:off x="5715000" y="3340100"/>
              <a:ext cx="1066800" cy="685800"/>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1800" dirty="0">
                  <a:solidFill>
                    <a:srgbClr val="502800"/>
                  </a:solidFill>
                </a:rPr>
                <a:t>Módulo 0</a:t>
              </a:r>
            </a:p>
          </p:txBody>
        </p:sp>
        <p:sp>
          <p:nvSpPr>
            <p:cNvPr id="101396" name="Rectangle 19"/>
            <p:cNvSpPr>
              <a:spLocks noChangeArrowheads="1"/>
            </p:cNvSpPr>
            <p:nvPr/>
          </p:nvSpPr>
          <p:spPr bwMode="auto">
            <a:xfrm>
              <a:off x="6934200" y="2349500"/>
              <a:ext cx="1066800" cy="685800"/>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1800" dirty="0">
                  <a:solidFill>
                    <a:srgbClr val="502800"/>
                  </a:solidFill>
                </a:rPr>
                <a:t>Módulo </a:t>
              </a:r>
              <a:r>
                <a:rPr lang="es-ES_tradnl" dirty="0">
                  <a:solidFill>
                    <a:srgbClr val="502800"/>
                  </a:solidFill>
                </a:rPr>
                <a:t>1</a:t>
              </a:r>
            </a:p>
          </p:txBody>
        </p:sp>
        <p:sp>
          <p:nvSpPr>
            <p:cNvPr id="101397" name="Freeform 20"/>
            <p:cNvSpPr>
              <a:spLocks/>
            </p:cNvSpPr>
            <p:nvPr/>
          </p:nvSpPr>
          <p:spPr bwMode="auto">
            <a:xfrm>
              <a:off x="5260975" y="2940050"/>
              <a:ext cx="1139825" cy="401638"/>
            </a:xfrm>
            <a:custGeom>
              <a:avLst/>
              <a:gdLst>
                <a:gd name="T0" fmla="*/ 0 w 718"/>
                <a:gd name="T1" fmla="*/ 2147483647 h 253"/>
                <a:gd name="T2" fmla="*/ 2147483647 w 718"/>
                <a:gd name="T3" fmla="*/ 2147483647 h 253"/>
                <a:gd name="T4" fmla="*/ 2147483647 w 718"/>
                <a:gd name="T5" fmla="*/ 2147483647 h 253"/>
                <a:gd name="T6" fmla="*/ 2147483647 w 718"/>
                <a:gd name="T7" fmla="*/ 2147483647 h 253"/>
                <a:gd name="T8" fmla="*/ 0 60000 65536"/>
                <a:gd name="T9" fmla="*/ 0 60000 65536"/>
                <a:gd name="T10" fmla="*/ 0 60000 65536"/>
                <a:gd name="T11" fmla="*/ 0 60000 65536"/>
                <a:gd name="T12" fmla="*/ 0 w 718"/>
                <a:gd name="T13" fmla="*/ 0 h 253"/>
                <a:gd name="T14" fmla="*/ 718 w 718"/>
                <a:gd name="T15" fmla="*/ 253 h 253"/>
              </a:gdLst>
              <a:ahLst/>
              <a:cxnLst>
                <a:cxn ang="T8">
                  <a:pos x="T0" y="T1"/>
                </a:cxn>
                <a:cxn ang="T9">
                  <a:pos x="T2" y="T3"/>
                </a:cxn>
                <a:cxn ang="T10">
                  <a:pos x="T4" y="T5"/>
                </a:cxn>
                <a:cxn ang="T11">
                  <a:pos x="T6" y="T7"/>
                </a:cxn>
              </a:cxnLst>
              <a:rect l="T12" t="T13" r="T14" b="T15"/>
              <a:pathLst>
                <a:path w="718" h="253">
                  <a:moveTo>
                    <a:pt x="0" y="190"/>
                  </a:moveTo>
                  <a:cubicBezTo>
                    <a:pt x="47" y="161"/>
                    <a:pt x="179" y="34"/>
                    <a:pt x="282" y="17"/>
                  </a:cubicBezTo>
                  <a:cubicBezTo>
                    <a:pt x="385" y="0"/>
                    <a:pt x="545" y="51"/>
                    <a:pt x="618" y="90"/>
                  </a:cubicBezTo>
                  <a:cubicBezTo>
                    <a:pt x="691" y="129"/>
                    <a:pt x="697" y="219"/>
                    <a:pt x="718" y="253"/>
                  </a:cubicBezTo>
                </a:path>
              </a:pathLst>
            </a:custGeom>
            <a:noFill/>
            <a:ln w="28575">
              <a:solidFill>
                <a:schemeClr val="accent6">
                  <a:lumMod val="60000"/>
                  <a:lumOff val="40000"/>
                </a:schemeClr>
              </a:solidFill>
              <a:round/>
              <a:headEnd/>
              <a:tailEnd type="arrow" w="lg" len="med"/>
            </a:ln>
          </p:spPr>
          <p:txBody>
            <a:bodyPr wrap="none" anchor="ctr"/>
            <a:lstStyle/>
            <a:p>
              <a:endParaRPr lang="es-ES"/>
            </a:p>
          </p:txBody>
        </p:sp>
        <p:sp>
          <p:nvSpPr>
            <p:cNvPr id="101398" name="Line 21"/>
            <p:cNvSpPr>
              <a:spLocks noChangeShapeType="1"/>
            </p:cNvSpPr>
            <p:nvPr/>
          </p:nvSpPr>
          <p:spPr bwMode="auto">
            <a:xfrm flipH="1">
              <a:off x="3124200" y="5321300"/>
              <a:ext cx="381000" cy="685800"/>
            </a:xfrm>
            <a:prstGeom prst="line">
              <a:avLst/>
            </a:prstGeom>
            <a:noFill/>
            <a:ln w="28575">
              <a:solidFill>
                <a:schemeClr val="accent6">
                  <a:lumMod val="75000"/>
                </a:schemeClr>
              </a:solidFill>
              <a:round/>
              <a:headEnd/>
              <a:tailEnd/>
            </a:ln>
          </p:spPr>
          <p:txBody>
            <a:bodyPr wrap="none" anchor="ctr"/>
            <a:lstStyle/>
            <a:p>
              <a:endParaRPr lang="es-ES"/>
            </a:p>
          </p:txBody>
        </p:sp>
        <p:sp>
          <p:nvSpPr>
            <p:cNvPr id="101399" name="Text Box 22"/>
            <p:cNvSpPr txBox="1">
              <a:spLocks noChangeArrowheads="1"/>
            </p:cNvSpPr>
            <p:nvPr/>
          </p:nvSpPr>
          <p:spPr bwMode="auto">
            <a:xfrm>
              <a:off x="3230000" y="5694213"/>
              <a:ext cx="2642723" cy="413050"/>
            </a:xfrm>
            <a:prstGeom prst="rect">
              <a:avLst/>
            </a:prstGeom>
            <a:noFill/>
            <a:ln w="28575">
              <a:noFill/>
              <a:miter lim="800000"/>
              <a:headEnd/>
              <a:tailEnd/>
            </a:ln>
          </p:spPr>
          <p:txBody>
            <a:bodyPr wrap="none" anchor="ctr">
              <a:spAutoFit/>
            </a:bodyPr>
            <a:lstStyle/>
            <a:p>
              <a:pPr>
                <a:spcBef>
                  <a:spcPct val="20000"/>
                </a:spcBef>
              </a:pPr>
              <a:r>
                <a:rPr lang="es-ES_tradnl" sz="1800" dirty="0"/>
                <a:t>Líneas de menor peso</a:t>
              </a:r>
            </a:p>
          </p:txBody>
        </p:sp>
        <p:sp>
          <p:nvSpPr>
            <p:cNvPr id="101400" name="Text Box 23"/>
            <p:cNvSpPr txBox="1">
              <a:spLocks noChangeArrowheads="1"/>
            </p:cNvSpPr>
            <p:nvPr/>
          </p:nvSpPr>
          <p:spPr bwMode="auto">
            <a:xfrm>
              <a:off x="1657300" y="3112938"/>
              <a:ext cx="1481237" cy="413050"/>
            </a:xfrm>
            <a:prstGeom prst="rect">
              <a:avLst/>
            </a:prstGeom>
            <a:noFill/>
            <a:ln w="28575">
              <a:noFill/>
              <a:miter lim="800000"/>
              <a:headEnd/>
              <a:tailEnd/>
            </a:ln>
          </p:spPr>
          <p:txBody>
            <a:bodyPr wrap="none" anchor="ctr">
              <a:spAutoFit/>
            </a:bodyPr>
            <a:lstStyle/>
            <a:p>
              <a:pPr>
                <a:spcBef>
                  <a:spcPct val="20000"/>
                </a:spcBef>
              </a:pPr>
              <a:r>
                <a:rPr lang="es-ES_tradnl" sz="1800" dirty="0"/>
                <a:t>Mayor peso</a:t>
              </a:r>
            </a:p>
          </p:txBody>
        </p:sp>
        <p:sp>
          <p:nvSpPr>
            <p:cNvPr id="101401" name="Line 24"/>
            <p:cNvSpPr>
              <a:spLocks noChangeShapeType="1"/>
            </p:cNvSpPr>
            <p:nvPr/>
          </p:nvSpPr>
          <p:spPr bwMode="auto">
            <a:xfrm flipV="1">
              <a:off x="7637463" y="4727575"/>
              <a:ext cx="1049337" cy="0"/>
            </a:xfrm>
            <a:prstGeom prst="line">
              <a:avLst/>
            </a:prstGeom>
            <a:noFill/>
            <a:ln w="127000">
              <a:solidFill>
                <a:schemeClr val="accent6">
                  <a:lumMod val="75000"/>
                </a:schemeClr>
              </a:solidFill>
              <a:round/>
              <a:headEnd type="triangle" w="med" len="med"/>
              <a:tailEnd/>
            </a:ln>
          </p:spPr>
          <p:txBody>
            <a:bodyPr wrap="none" anchor="ctr"/>
            <a:lstStyle/>
            <a:p>
              <a:endParaRPr lang="es-ES"/>
            </a:p>
          </p:txBody>
        </p:sp>
      </p:grpSp>
      <p:sp>
        <p:nvSpPr>
          <p:cNvPr id="27" name="CuadroTexto 26">
            <a:extLst>
              <a:ext uri="{FF2B5EF4-FFF2-40B4-BE49-F238E27FC236}">
                <a16:creationId xmlns:a16="http://schemas.microsoft.com/office/drawing/2014/main" id="{A5B92A5F-22F9-4DAE-BDF2-F8BA9979A9B0}"/>
              </a:ext>
            </a:extLst>
          </p:cNvPr>
          <p:cNvSpPr txBox="1"/>
          <p:nvPr/>
        </p:nvSpPr>
        <p:spPr>
          <a:xfrm>
            <a:off x="7746680" y="1987784"/>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28" name="CuadroTexto 27">
            <a:extLst>
              <a:ext uri="{FF2B5EF4-FFF2-40B4-BE49-F238E27FC236}">
                <a16:creationId xmlns:a16="http://schemas.microsoft.com/office/drawing/2014/main" id="{EAAB275E-2AF5-4A2E-9784-EB81A8A9B4E7}"/>
              </a:ext>
            </a:extLst>
          </p:cNvPr>
          <p:cNvSpPr txBox="1"/>
          <p:nvPr/>
        </p:nvSpPr>
        <p:spPr>
          <a:xfrm>
            <a:off x="1099084" y="2686751"/>
            <a:ext cx="521297"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n</a:t>
            </a:r>
            <a:r>
              <a:rPr lang="es-ES" sz="1400" dirty="0">
                <a:solidFill>
                  <a:schemeClr val="accent1">
                    <a:lumMod val="75000"/>
                  </a:schemeClr>
                </a:solidFill>
              </a:rPr>
              <a:t> B</a:t>
            </a:r>
          </a:p>
        </p:txBody>
      </p:sp>
      <p:sp>
        <p:nvSpPr>
          <p:cNvPr id="29" name="CuadroTexto 28">
            <a:extLst>
              <a:ext uri="{FF2B5EF4-FFF2-40B4-BE49-F238E27FC236}">
                <a16:creationId xmlns:a16="http://schemas.microsoft.com/office/drawing/2014/main" id="{CEC37E0F-8372-4F2D-AE2B-C2E89DE28312}"/>
              </a:ext>
            </a:extLst>
          </p:cNvPr>
          <p:cNvSpPr txBox="1"/>
          <p:nvPr/>
        </p:nvSpPr>
        <p:spPr>
          <a:xfrm>
            <a:off x="6038349" y="2685921"/>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x2</a:t>
            </a:r>
            <a:r>
              <a:rPr lang="es-ES" sz="1400" dirty="0">
                <a:solidFill>
                  <a:schemeClr val="accent1">
                    <a:lumMod val="75000"/>
                  </a:schemeClr>
                </a:solidFill>
              </a:rPr>
              <a:t> B</a:t>
            </a:r>
          </a:p>
        </p:txBody>
      </p:sp>
      <p:sp>
        <p:nvSpPr>
          <p:cNvPr id="30" name="CuadroTexto 29">
            <a:extLst>
              <a:ext uri="{FF2B5EF4-FFF2-40B4-BE49-F238E27FC236}">
                <a16:creationId xmlns:a16="http://schemas.microsoft.com/office/drawing/2014/main" id="{E1A60D15-07EC-4FFB-8461-068FCAD24DD4}"/>
              </a:ext>
            </a:extLst>
          </p:cNvPr>
          <p:cNvSpPr txBox="1"/>
          <p:nvPr/>
        </p:nvSpPr>
        <p:spPr>
          <a:xfrm>
            <a:off x="7456376" y="3866923"/>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x3</a:t>
            </a:r>
            <a:r>
              <a:rPr lang="es-ES" sz="1400" dirty="0">
                <a:solidFill>
                  <a:schemeClr val="accent1">
                    <a:lumMod val="75000"/>
                  </a:schemeClr>
                </a:solidFill>
              </a:rPr>
              <a:t> B</a:t>
            </a:r>
          </a:p>
        </p:txBody>
      </p:sp>
      <p:sp>
        <p:nvSpPr>
          <p:cNvPr id="31" name="Rectangle 2">
            <a:extLst>
              <a:ext uri="{FF2B5EF4-FFF2-40B4-BE49-F238E27FC236}">
                <a16:creationId xmlns:a16="http://schemas.microsoft.com/office/drawing/2014/main" id="{30594253-3D6E-4D11-B7A9-5F413DCF341F}"/>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ltLang="es-ES_tradnl"/>
              <a:t>Concepto de mapa de memoria</a:t>
            </a:r>
            <a:endParaRPr lang="es-ES" altLang="es-ES_tradnl" dirty="0"/>
          </a:p>
        </p:txBody>
      </p:sp>
      <p:sp>
        <p:nvSpPr>
          <p:cNvPr id="3" name="2 Marcador de número de diapositiva">
            <a:extLst>
              <a:ext uri="{FF2B5EF4-FFF2-40B4-BE49-F238E27FC236}">
                <a16:creationId xmlns:a16="http://schemas.microsoft.com/office/drawing/2014/main" id="{61956738-19C1-6E21-9CDA-A314EDB3D591}"/>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128</a:t>
            </a:fld>
            <a:endParaRPr lang="en-US" dirty="0"/>
          </a:p>
        </p:txBody>
      </p:sp>
    </p:spTree>
    <p:extLst>
      <p:ext uri="{BB962C8B-B14F-4D97-AF65-F5344CB8AC3E}">
        <p14:creationId xmlns:p14="http://schemas.microsoft.com/office/powerpoint/2010/main" val="7529615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a:xfrm>
            <a:off x="673557" y="557144"/>
            <a:ext cx="8250237" cy="865187"/>
          </a:xfrm>
        </p:spPr>
        <p:txBody>
          <a:bodyPr/>
          <a:lstStyle/>
          <a:p>
            <a:r>
              <a:rPr lang="es-ES" altLang="es-ES_tradnl" sz="2000" dirty="0"/>
              <a:t>Circuito de descodificación o selección</a:t>
            </a:r>
          </a:p>
        </p:txBody>
      </p:sp>
      <p:grpSp>
        <p:nvGrpSpPr>
          <p:cNvPr id="2" name="1 Grupo"/>
          <p:cNvGrpSpPr/>
          <p:nvPr/>
        </p:nvGrpSpPr>
        <p:grpSpPr>
          <a:xfrm>
            <a:off x="846171" y="981075"/>
            <a:ext cx="6534141" cy="2563371"/>
            <a:chOff x="393700" y="2349500"/>
            <a:chExt cx="8293100" cy="3754071"/>
          </a:xfrm>
        </p:grpSpPr>
        <p:sp>
          <p:nvSpPr>
            <p:cNvPr id="101381" name="Text Box 4"/>
            <p:cNvSpPr txBox="1">
              <a:spLocks noChangeArrowheads="1"/>
            </p:cNvSpPr>
            <p:nvPr/>
          </p:nvSpPr>
          <p:spPr bwMode="auto">
            <a:xfrm>
              <a:off x="615983" y="4655329"/>
              <a:ext cx="1898617" cy="676111"/>
            </a:xfrm>
            <a:prstGeom prst="rect">
              <a:avLst/>
            </a:prstGeom>
            <a:noFill/>
            <a:ln w="28575">
              <a:noFill/>
              <a:miter lim="800000"/>
              <a:headEnd/>
              <a:tailEnd/>
            </a:ln>
          </p:spPr>
          <p:txBody>
            <a:bodyPr wrap="none" anchor="ctr">
              <a:spAutoFit/>
            </a:bodyPr>
            <a:lstStyle/>
            <a:p>
              <a:pPr algn="r">
                <a:lnSpc>
                  <a:spcPct val="90000"/>
                </a:lnSpc>
                <a:spcBef>
                  <a:spcPct val="20000"/>
                </a:spcBef>
              </a:pPr>
              <a:r>
                <a:rPr lang="es-ES_tradnl" sz="1200" dirty="0"/>
                <a:t>Líneas de </a:t>
              </a:r>
            </a:p>
            <a:p>
              <a:pPr algn="r">
                <a:lnSpc>
                  <a:spcPct val="90000"/>
                </a:lnSpc>
                <a:spcBef>
                  <a:spcPct val="20000"/>
                </a:spcBef>
              </a:pPr>
              <a:r>
                <a:rPr lang="es-ES_tradnl" sz="1200" dirty="0"/>
                <a:t>direcciones del bus</a:t>
              </a:r>
            </a:p>
          </p:txBody>
        </p:sp>
        <p:sp>
          <p:nvSpPr>
            <p:cNvPr id="101382" name="Oval 5"/>
            <p:cNvSpPr>
              <a:spLocks noChangeArrowheads="1"/>
            </p:cNvSpPr>
            <p:nvPr/>
          </p:nvSpPr>
          <p:spPr bwMode="auto">
            <a:xfrm>
              <a:off x="393700" y="3067050"/>
              <a:ext cx="1447800" cy="1382713"/>
            </a:xfrm>
            <a:prstGeom prst="ellipse">
              <a:avLst/>
            </a:prstGeom>
            <a:solidFill>
              <a:srgbClr val="FF969C"/>
            </a:solidFill>
            <a:ln w="28575">
              <a:noFill/>
              <a:round/>
              <a:headEnd/>
              <a:tailEnd/>
            </a:ln>
          </p:spPr>
          <p:txBody>
            <a:bodyPr wrap="none" anchor="ctr"/>
            <a:lstStyle/>
            <a:p>
              <a:pPr>
                <a:spcBef>
                  <a:spcPct val="20000"/>
                </a:spcBef>
              </a:pPr>
              <a:r>
                <a:rPr lang="es-ES_tradnl" sz="1200">
                  <a:solidFill>
                    <a:srgbClr val="502800"/>
                  </a:solidFill>
                </a:rPr>
                <a:t>Procesador</a:t>
              </a:r>
              <a:endParaRPr lang="es-ES_tradnl" sz="1200"/>
            </a:p>
          </p:txBody>
        </p:sp>
        <p:sp>
          <p:nvSpPr>
            <p:cNvPr id="101383" name="Rectangle 6"/>
            <p:cNvSpPr>
              <a:spLocks noChangeArrowheads="1"/>
            </p:cNvSpPr>
            <p:nvPr/>
          </p:nvSpPr>
          <p:spPr bwMode="auto">
            <a:xfrm>
              <a:off x="6113463" y="4300538"/>
              <a:ext cx="1524000" cy="685800"/>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1200" dirty="0">
                  <a:solidFill>
                    <a:srgbClr val="502800"/>
                  </a:solidFill>
                </a:rPr>
                <a:t>Módulo 2</a:t>
              </a:r>
            </a:p>
          </p:txBody>
        </p:sp>
        <p:sp>
          <p:nvSpPr>
            <p:cNvPr id="101384" name="Freeform 7"/>
            <p:cNvSpPr>
              <a:spLocks/>
            </p:cNvSpPr>
            <p:nvPr/>
          </p:nvSpPr>
          <p:spPr bwMode="auto">
            <a:xfrm>
              <a:off x="3052763" y="2806700"/>
              <a:ext cx="2357437" cy="1920875"/>
            </a:xfrm>
            <a:custGeom>
              <a:avLst/>
              <a:gdLst>
                <a:gd name="T0" fmla="*/ 2147483647 w 1485"/>
                <a:gd name="T1" fmla="*/ 2147483647 h 1210"/>
                <a:gd name="T2" fmla="*/ 2147483647 w 1485"/>
                <a:gd name="T3" fmla="*/ 2147483647 h 1210"/>
                <a:gd name="T4" fmla="*/ 0 w 1485"/>
                <a:gd name="T5" fmla="*/ 2147483647 h 1210"/>
                <a:gd name="T6" fmla="*/ 2147483647 w 1485"/>
                <a:gd name="T7" fmla="*/ 2147483647 h 1210"/>
                <a:gd name="T8" fmla="*/ 2147483647 w 1485"/>
                <a:gd name="T9" fmla="*/ 2147483647 h 1210"/>
                <a:gd name="T10" fmla="*/ 2147483647 w 1485"/>
                <a:gd name="T11" fmla="*/ 2147483647 h 1210"/>
                <a:gd name="T12" fmla="*/ 2147483647 w 1485"/>
                <a:gd name="T13" fmla="*/ 2147483647 h 1210"/>
                <a:gd name="T14" fmla="*/ 2147483647 w 1485"/>
                <a:gd name="T15" fmla="*/ 2147483647 h 1210"/>
                <a:gd name="T16" fmla="*/ 2147483647 w 1485"/>
                <a:gd name="T17" fmla="*/ 2147483647 h 1210"/>
                <a:gd name="T18" fmla="*/ 2147483647 w 1485"/>
                <a:gd name="T19" fmla="*/ 2147483647 h 1210"/>
                <a:gd name="T20" fmla="*/ 2147483647 w 1485"/>
                <a:gd name="T21" fmla="*/ 2147483647 h 1210"/>
                <a:gd name="T22" fmla="*/ 2147483647 w 1485"/>
                <a:gd name="T23" fmla="*/ 2147483647 h 1210"/>
                <a:gd name="T24" fmla="*/ 2147483647 w 1485"/>
                <a:gd name="T25" fmla="*/ 2147483647 h 1210"/>
                <a:gd name="T26" fmla="*/ 2147483647 w 1485"/>
                <a:gd name="T27" fmla="*/ 2147483647 h 1210"/>
                <a:gd name="T28" fmla="*/ 2147483647 w 1485"/>
                <a:gd name="T29" fmla="*/ 2147483647 h 1210"/>
                <a:gd name="T30" fmla="*/ 2147483647 w 1485"/>
                <a:gd name="T31" fmla="*/ 2147483647 h 1210"/>
                <a:gd name="T32" fmla="*/ 2147483647 w 1485"/>
                <a:gd name="T33" fmla="*/ 2147483647 h 1210"/>
                <a:gd name="T34" fmla="*/ 2147483647 w 1485"/>
                <a:gd name="T35" fmla="*/ 2147483647 h 1210"/>
                <a:gd name="T36" fmla="*/ 2147483647 w 1485"/>
                <a:gd name="T37" fmla="*/ 2147483647 h 1210"/>
                <a:gd name="T38" fmla="*/ 2147483647 w 1485"/>
                <a:gd name="T39" fmla="*/ 2147483647 h 1210"/>
                <a:gd name="T40" fmla="*/ 2147483647 w 1485"/>
                <a:gd name="T41" fmla="*/ 2147483647 h 1210"/>
                <a:gd name="T42" fmla="*/ 2147483647 w 1485"/>
                <a:gd name="T43" fmla="*/ 2147483647 h 1210"/>
                <a:gd name="T44" fmla="*/ 2147483647 w 1485"/>
                <a:gd name="T45" fmla="*/ 2147483647 h 1210"/>
                <a:gd name="T46" fmla="*/ 2147483647 w 1485"/>
                <a:gd name="T47" fmla="*/ 2147483647 h 1210"/>
                <a:gd name="T48" fmla="*/ 2147483647 w 1485"/>
                <a:gd name="T49" fmla="*/ 2147483647 h 1210"/>
                <a:gd name="T50" fmla="*/ 2147483647 w 1485"/>
                <a:gd name="T51" fmla="*/ 2147483647 h 1210"/>
                <a:gd name="T52" fmla="*/ 2147483647 w 1485"/>
                <a:gd name="T53" fmla="*/ 2147483647 h 1210"/>
                <a:gd name="T54" fmla="*/ 2147483647 w 1485"/>
                <a:gd name="T55" fmla="*/ 2147483647 h 1210"/>
                <a:gd name="T56" fmla="*/ 2147483647 w 1485"/>
                <a:gd name="T57" fmla="*/ 2147483647 h 1210"/>
                <a:gd name="T58" fmla="*/ 2147483647 w 1485"/>
                <a:gd name="T59" fmla="*/ 2147483647 h 1210"/>
                <a:gd name="T60" fmla="*/ 2147483647 w 1485"/>
                <a:gd name="T61" fmla="*/ 2147483647 h 1210"/>
                <a:gd name="T62" fmla="*/ 2147483647 w 1485"/>
                <a:gd name="T63" fmla="*/ 2147483647 h 1210"/>
                <a:gd name="T64" fmla="*/ 2147483647 w 1485"/>
                <a:gd name="T65" fmla="*/ 2147483647 h 1210"/>
                <a:gd name="T66" fmla="*/ 2147483647 w 1485"/>
                <a:gd name="T67" fmla="*/ 2147483647 h 1210"/>
                <a:gd name="T68" fmla="*/ 2147483647 w 1485"/>
                <a:gd name="T69" fmla="*/ 0 h 1210"/>
                <a:gd name="T70" fmla="*/ 2147483647 w 1485"/>
                <a:gd name="T71" fmla="*/ 2147483647 h 12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5"/>
                <a:gd name="T109" fmla="*/ 0 h 1210"/>
                <a:gd name="T110" fmla="*/ 1485 w 1485"/>
                <a:gd name="T111" fmla="*/ 1210 h 12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5" h="1210">
                  <a:moveTo>
                    <a:pt x="234" y="47"/>
                  </a:moveTo>
                  <a:lnTo>
                    <a:pt x="127" y="55"/>
                  </a:lnTo>
                  <a:lnTo>
                    <a:pt x="0" y="83"/>
                  </a:lnTo>
                  <a:lnTo>
                    <a:pt x="27" y="192"/>
                  </a:lnTo>
                  <a:lnTo>
                    <a:pt x="36" y="301"/>
                  </a:lnTo>
                  <a:lnTo>
                    <a:pt x="91" y="399"/>
                  </a:lnTo>
                  <a:lnTo>
                    <a:pt x="73" y="537"/>
                  </a:lnTo>
                  <a:lnTo>
                    <a:pt x="20" y="646"/>
                  </a:lnTo>
                  <a:lnTo>
                    <a:pt x="20" y="717"/>
                  </a:lnTo>
                  <a:lnTo>
                    <a:pt x="91" y="787"/>
                  </a:lnTo>
                  <a:lnTo>
                    <a:pt x="133" y="896"/>
                  </a:lnTo>
                  <a:lnTo>
                    <a:pt x="234" y="963"/>
                  </a:lnTo>
                  <a:lnTo>
                    <a:pt x="162" y="999"/>
                  </a:lnTo>
                  <a:lnTo>
                    <a:pt x="162" y="1069"/>
                  </a:lnTo>
                  <a:lnTo>
                    <a:pt x="375" y="1104"/>
                  </a:lnTo>
                  <a:lnTo>
                    <a:pt x="516" y="1104"/>
                  </a:lnTo>
                  <a:lnTo>
                    <a:pt x="801" y="1210"/>
                  </a:lnTo>
                  <a:lnTo>
                    <a:pt x="943" y="1210"/>
                  </a:lnTo>
                  <a:lnTo>
                    <a:pt x="1085" y="1140"/>
                  </a:lnTo>
                  <a:lnTo>
                    <a:pt x="1156" y="1034"/>
                  </a:lnTo>
                  <a:lnTo>
                    <a:pt x="1298" y="963"/>
                  </a:lnTo>
                  <a:lnTo>
                    <a:pt x="1370" y="858"/>
                  </a:lnTo>
                  <a:lnTo>
                    <a:pt x="1485" y="805"/>
                  </a:lnTo>
                  <a:lnTo>
                    <a:pt x="1459" y="692"/>
                  </a:lnTo>
                  <a:lnTo>
                    <a:pt x="1478" y="585"/>
                  </a:lnTo>
                  <a:lnTo>
                    <a:pt x="1429" y="463"/>
                  </a:lnTo>
                  <a:lnTo>
                    <a:pt x="1409" y="372"/>
                  </a:lnTo>
                  <a:lnTo>
                    <a:pt x="1370" y="258"/>
                  </a:lnTo>
                  <a:lnTo>
                    <a:pt x="1303" y="137"/>
                  </a:lnTo>
                  <a:lnTo>
                    <a:pt x="1283" y="76"/>
                  </a:lnTo>
                  <a:lnTo>
                    <a:pt x="1204" y="84"/>
                  </a:lnTo>
                  <a:lnTo>
                    <a:pt x="1156" y="12"/>
                  </a:lnTo>
                  <a:lnTo>
                    <a:pt x="774" y="31"/>
                  </a:lnTo>
                  <a:lnTo>
                    <a:pt x="588" y="82"/>
                  </a:lnTo>
                  <a:lnTo>
                    <a:pt x="379" y="0"/>
                  </a:lnTo>
                  <a:lnTo>
                    <a:pt x="234" y="47"/>
                  </a:lnTo>
                  <a:close/>
                </a:path>
              </a:pathLst>
            </a:custGeom>
            <a:solidFill>
              <a:srgbClr val="CCECFF"/>
            </a:solidFill>
            <a:ln w="28575">
              <a:solidFill>
                <a:schemeClr val="accent6">
                  <a:lumMod val="75000"/>
                </a:schemeClr>
              </a:solidFill>
              <a:round/>
              <a:headEnd/>
              <a:tailEnd/>
            </a:ln>
          </p:spPr>
          <p:txBody>
            <a:bodyPr wrap="none" anchor="ctr"/>
            <a:lstStyle/>
            <a:p>
              <a:endParaRPr lang="es-ES" sz="1200"/>
            </a:p>
          </p:txBody>
        </p:sp>
        <p:sp>
          <p:nvSpPr>
            <p:cNvPr id="101385" name="Text Box 8"/>
            <p:cNvSpPr txBox="1">
              <a:spLocks noChangeArrowheads="1"/>
            </p:cNvSpPr>
            <p:nvPr/>
          </p:nvSpPr>
          <p:spPr bwMode="auto">
            <a:xfrm>
              <a:off x="3558477" y="3045897"/>
              <a:ext cx="1328544" cy="1244043"/>
            </a:xfrm>
            <a:prstGeom prst="rect">
              <a:avLst/>
            </a:prstGeom>
            <a:solidFill>
              <a:srgbClr val="CCECFF"/>
            </a:solidFill>
            <a:ln w="28575">
              <a:noFill/>
              <a:miter lim="800000"/>
              <a:headEnd/>
              <a:tailEnd/>
            </a:ln>
          </p:spPr>
          <p:txBody>
            <a:bodyPr wrap="none" lIns="0" tIns="0" rIns="0" bIns="0" anchor="ctr">
              <a:spAutoFit/>
            </a:bodyPr>
            <a:lstStyle/>
            <a:p>
              <a:pPr>
                <a:spcBef>
                  <a:spcPct val="20000"/>
                </a:spcBef>
              </a:pPr>
              <a:r>
                <a:rPr lang="es-ES_tradnl" sz="1200" dirty="0">
                  <a:solidFill>
                    <a:srgbClr val="000000"/>
                  </a:solidFill>
                </a:rPr>
                <a:t>Circuito de</a:t>
              </a:r>
            </a:p>
            <a:p>
              <a:pPr>
                <a:spcBef>
                  <a:spcPct val="20000"/>
                </a:spcBef>
              </a:pPr>
              <a:r>
                <a:rPr lang="es-ES_tradnl" sz="1200" dirty="0">
                  <a:solidFill>
                    <a:srgbClr val="000000"/>
                  </a:solidFill>
                </a:rPr>
                <a:t>descodificación</a:t>
              </a:r>
            </a:p>
            <a:p>
              <a:pPr>
                <a:spcBef>
                  <a:spcPct val="20000"/>
                </a:spcBef>
              </a:pPr>
              <a:r>
                <a:rPr lang="es-ES_tradnl" sz="1200" dirty="0">
                  <a:solidFill>
                    <a:srgbClr val="000000"/>
                  </a:solidFill>
                </a:rPr>
                <a:t>o selección</a:t>
              </a:r>
            </a:p>
            <a:p>
              <a:pPr>
                <a:spcBef>
                  <a:spcPct val="20000"/>
                </a:spcBef>
              </a:pPr>
              <a:r>
                <a:rPr lang="es-ES_tradnl" sz="1200" dirty="0">
                  <a:solidFill>
                    <a:srgbClr val="000000"/>
                  </a:solidFill>
                </a:rPr>
                <a:t>de módulo</a:t>
              </a:r>
            </a:p>
          </p:txBody>
        </p:sp>
        <p:sp>
          <p:nvSpPr>
            <p:cNvPr id="101386" name="Freeform 9"/>
            <p:cNvSpPr>
              <a:spLocks/>
            </p:cNvSpPr>
            <p:nvPr/>
          </p:nvSpPr>
          <p:spPr bwMode="auto">
            <a:xfrm>
              <a:off x="4870450" y="2373313"/>
              <a:ext cx="2078038" cy="449262"/>
            </a:xfrm>
            <a:custGeom>
              <a:avLst/>
              <a:gdLst>
                <a:gd name="T0" fmla="*/ 0 w 1309"/>
                <a:gd name="T1" fmla="*/ 2147483647 h 283"/>
                <a:gd name="T2" fmla="*/ 2147483647 w 1309"/>
                <a:gd name="T3" fmla="*/ 2147483647 h 283"/>
                <a:gd name="T4" fmla="*/ 2147483647 w 1309"/>
                <a:gd name="T5" fmla="*/ 2147483647 h 283"/>
                <a:gd name="T6" fmla="*/ 0 60000 65536"/>
                <a:gd name="T7" fmla="*/ 0 60000 65536"/>
                <a:gd name="T8" fmla="*/ 0 60000 65536"/>
                <a:gd name="T9" fmla="*/ 0 w 1309"/>
                <a:gd name="T10" fmla="*/ 0 h 283"/>
                <a:gd name="T11" fmla="*/ 1309 w 1309"/>
                <a:gd name="T12" fmla="*/ 283 h 283"/>
              </a:gdLst>
              <a:ahLst/>
              <a:cxnLst>
                <a:cxn ang="T6">
                  <a:pos x="T0" y="T1"/>
                </a:cxn>
                <a:cxn ang="T7">
                  <a:pos x="T2" y="T3"/>
                </a:cxn>
                <a:cxn ang="T8">
                  <a:pos x="T4" y="T5"/>
                </a:cxn>
              </a:cxnLst>
              <a:rect l="T9" t="T10" r="T11" b="T12"/>
              <a:pathLst>
                <a:path w="1309" h="283">
                  <a:moveTo>
                    <a:pt x="0" y="283"/>
                  </a:moveTo>
                  <a:cubicBezTo>
                    <a:pt x="109" y="239"/>
                    <a:pt x="430" y="42"/>
                    <a:pt x="648" y="21"/>
                  </a:cubicBezTo>
                  <a:cubicBezTo>
                    <a:pt x="866" y="0"/>
                    <a:pt x="1172" y="128"/>
                    <a:pt x="1309" y="156"/>
                  </a:cubicBezTo>
                </a:path>
              </a:pathLst>
            </a:custGeom>
            <a:noFill/>
            <a:ln w="28575">
              <a:solidFill>
                <a:schemeClr val="accent6">
                  <a:lumMod val="60000"/>
                  <a:lumOff val="40000"/>
                </a:schemeClr>
              </a:solidFill>
              <a:round/>
              <a:headEnd/>
              <a:tailEnd type="arrow" w="lg" len="med"/>
            </a:ln>
          </p:spPr>
          <p:txBody>
            <a:bodyPr wrap="none" anchor="ctr"/>
            <a:lstStyle/>
            <a:p>
              <a:endParaRPr lang="es-ES" sz="1200"/>
            </a:p>
          </p:txBody>
        </p:sp>
        <p:sp>
          <p:nvSpPr>
            <p:cNvPr id="101387" name="Freeform 10"/>
            <p:cNvSpPr>
              <a:spLocks/>
            </p:cNvSpPr>
            <p:nvPr/>
          </p:nvSpPr>
          <p:spPr bwMode="auto">
            <a:xfrm>
              <a:off x="4813300" y="4525963"/>
              <a:ext cx="1312863" cy="438150"/>
            </a:xfrm>
            <a:custGeom>
              <a:avLst/>
              <a:gdLst>
                <a:gd name="T0" fmla="*/ 0 w 827"/>
                <a:gd name="T1" fmla="*/ 0 h 276"/>
                <a:gd name="T2" fmla="*/ 2147483647 w 827"/>
                <a:gd name="T3" fmla="*/ 2147483647 h 276"/>
                <a:gd name="T4" fmla="*/ 2147483647 w 827"/>
                <a:gd name="T5" fmla="*/ 2147483647 h 276"/>
                <a:gd name="T6" fmla="*/ 2147483647 w 827"/>
                <a:gd name="T7" fmla="*/ 2147483647 h 276"/>
                <a:gd name="T8" fmla="*/ 2147483647 w 827"/>
                <a:gd name="T9" fmla="*/ 2147483647 h 276"/>
                <a:gd name="T10" fmla="*/ 0 60000 65536"/>
                <a:gd name="T11" fmla="*/ 0 60000 65536"/>
                <a:gd name="T12" fmla="*/ 0 60000 65536"/>
                <a:gd name="T13" fmla="*/ 0 60000 65536"/>
                <a:gd name="T14" fmla="*/ 0 60000 65536"/>
                <a:gd name="T15" fmla="*/ 0 w 827"/>
                <a:gd name="T16" fmla="*/ 0 h 276"/>
                <a:gd name="T17" fmla="*/ 827 w 827"/>
                <a:gd name="T18" fmla="*/ 276 h 276"/>
              </a:gdLst>
              <a:ahLst/>
              <a:cxnLst>
                <a:cxn ang="T10">
                  <a:pos x="T0" y="T1"/>
                </a:cxn>
                <a:cxn ang="T11">
                  <a:pos x="T2" y="T3"/>
                </a:cxn>
                <a:cxn ang="T12">
                  <a:pos x="T4" y="T5"/>
                </a:cxn>
                <a:cxn ang="T13">
                  <a:pos x="T6" y="T7"/>
                </a:cxn>
                <a:cxn ang="T14">
                  <a:pos x="T8" y="T9"/>
                </a:cxn>
              </a:cxnLst>
              <a:rect l="T15" t="T16" r="T17" b="T18"/>
              <a:pathLst>
                <a:path w="827" h="276">
                  <a:moveTo>
                    <a:pt x="0" y="0"/>
                  </a:moveTo>
                  <a:cubicBezTo>
                    <a:pt x="22" y="12"/>
                    <a:pt x="47" y="29"/>
                    <a:pt x="123" y="70"/>
                  </a:cubicBezTo>
                  <a:cubicBezTo>
                    <a:pt x="199" y="111"/>
                    <a:pt x="370" y="220"/>
                    <a:pt x="457" y="248"/>
                  </a:cubicBezTo>
                  <a:cubicBezTo>
                    <a:pt x="544" y="276"/>
                    <a:pt x="583" y="262"/>
                    <a:pt x="645" y="236"/>
                  </a:cubicBezTo>
                  <a:cubicBezTo>
                    <a:pt x="707" y="210"/>
                    <a:pt x="789" y="121"/>
                    <a:pt x="827" y="91"/>
                  </a:cubicBezTo>
                </a:path>
              </a:pathLst>
            </a:custGeom>
            <a:noFill/>
            <a:ln w="28575">
              <a:solidFill>
                <a:schemeClr val="accent6">
                  <a:lumMod val="60000"/>
                  <a:lumOff val="40000"/>
                </a:schemeClr>
              </a:solidFill>
              <a:round/>
              <a:headEnd/>
              <a:tailEnd type="arrow" w="lg" len="med"/>
            </a:ln>
          </p:spPr>
          <p:txBody>
            <a:bodyPr wrap="none" anchor="ctr"/>
            <a:lstStyle/>
            <a:p>
              <a:endParaRPr lang="es-ES" sz="1200"/>
            </a:p>
          </p:txBody>
        </p:sp>
        <p:sp>
          <p:nvSpPr>
            <p:cNvPr id="101388" name="Line 11"/>
            <p:cNvSpPr>
              <a:spLocks noChangeShapeType="1"/>
            </p:cNvSpPr>
            <p:nvPr/>
          </p:nvSpPr>
          <p:spPr bwMode="auto">
            <a:xfrm>
              <a:off x="1905000" y="3721100"/>
              <a:ext cx="762000" cy="0"/>
            </a:xfrm>
            <a:prstGeom prst="line">
              <a:avLst/>
            </a:prstGeom>
            <a:noFill/>
            <a:ln w="241300">
              <a:solidFill>
                <a:schemeClr val="accent6">
                  <a:lumMod val="75000"/>
                </a:schemeClr>
              </a:solidFill>
              <a:round/>
              <a:headEnd/>
              <a:tailEnd/>
            </a:ln>
          </p:spPr>
          <p:txBody>
            <a:bodyPr wrap="none" anchor="ctr"/>
            <a:lstStyle/>
            <a:p>
              <a:endParaRPr lang="es-ES" sz="1200"/>
            </a:p>
          </p:txBody>
        </p:sp>
        <p:sp>
          <p:nvSpPr>
            <p:cNvPr id="101389" name="Line 12"/>
            <p:cNvSpPr>
              <a:spLocks noChangeShapeType="1"/>
            </p:cNvSpPr>
            <p:nvPr/>
          </p:nvSpPr>
          <p:spPr bwMode="auto">
            <a:xfrm>
              <a:off x="2590800" y="3644900"/>
              <a:ext cx="0" cy="1981200"/>
            </a:xfrm>
            <a:prstGeom prst="line">
              <a:avLst/>
            </a:prstGeom>
            <a:noFill/>
            <a:ln w="152400">
              <a:solidFill>
                <a:schemeClr val="accent6">
                  <a:lumMod val="75000"/>
                </a:schemeClr>
              </a:solidFill>
              <a:round/>
              <a:headEnd/>
              <a:tailEnd/>
            </a:ln>
          </p:spPr>
          <p:txBody>
            <a:bodyPr wrap="none" anchor="ctr"/>
            <a:lstStyle/>
            <a:p>
              <a:endParaRPr lang="es-ES" sz="1200"/>
            </a:p>
          </p:txBody>
        </p:sp>
        <p:sp>
          <p:nvSpPr>
            <p:cNvPr id="101390" name="Line 13"/>
            <p:cNvSpPr>
              <a:spLocks noChangeShapeType="1"/>
            </p:cNvSpPr>
            <p:nvPr/>
          </p:nvSpPr>
          <p:spPr bwMode="auto">
            <a:xfrm>
              <a:off x="2590800" y="3644900"/>
              <a:ext cx="609600" cy="0"/>
            </a:xfrm>
            <a:prstGeom prst="line">
              <a:avLst/>
            </a:prstGeom>
            <a:noFill/>
            <a:ln w="76200">
              <a:solidFill>
                <a:schemeClr val="accent6">
                  <a:lumMod val="75000"/>
                </a:schemeClr>
              </a:solidFill>
              <a:round/>
              <a:headEnd/>
              <a:tailEnd type="triangle" w="med" len="med"/>
            </a:ln>
          </p:spPr>
          <p:txBody>
            <a:bodyPr wrap="none" anchor="ctr"/>
            <a:lstStyle/>
            <a:p>
              <a:endParaRPr lang="es-ES" sz="1200"/>
            </a:p>
          </p:txBody>
        </p:sp>
        <p:sp>
          <p:nvSpPr>
            <p:cNvPr id="101391" name="Line 14"/>
            <p:cNvSpPr>
              <a:spLocks noChangeShapeType="1"/>
            </p:cNvSpPr>
            <p:nvPr/>
          </p:nvSpPr>
          <p:spPr bwMode="auto">
            <a:xfrm flipH="1" flipV="1">
              <a:off x="2516188" y="5626100"/>
              <a:ext cx="6170612" cy="0"/>
            </a:xfrm>
            <a:prstGeom prst="line">
              <a:avLst/>
            </a:prstGeom>
            <a:noFill/>
            <a:ln w="127000">
              <a:solidFill>
                <a:schemeClr val="accent6">
                  <a:lumMod val="75000"/>
                </a:schemeClr>
              </a:solidFill>
              <a:round/>
              <a:headEnd/>
              <a:tailEnd/>
            </a:ln>
          </p:spPr>
          <p:txBody>
            <a:bodyPr wrap="none" anchor="ctr"/>
            <a:lstStyle/>
            <a:p>
              <a:endParaRPr lang="es-ES" sz="1200"/>
            </a:p>
          </p:txBody>
        </p:sp>
        <p:sp>
          <p:nvSpPr>
            <p:cNvPr id="101392" name="Line 15"/>
            <p:cNvSpPr>
              <a:spLocks noChangeShapeType="1"/>
            </p:cNvSpPr>
            <p:nvPr/>
          </p:nvSpPr>
          <p:spPr bwMode="auto">
            <a:xfrm>
              <a:off x="6781800" y="3721100"/>
              <a:ext cx="1905000" cy="0"/>
            </a:xfrm>
            <a:prstGeom prst="line">
              <a:avLst/>
            </a:prstGeom>
            <a:noFill/>
            <a:ln w="127000">
              <a:solidFill>
                <a:schemeClr val="accent6">
                  <a:lumMod val="75000"/>
                </a:schemeClr>
              </a:solidFill>
              <a:round/>
              <a:headEnd type="triangle" w="med" len="med"/>
              <a:tailEnd/>
            </a:ln>
          </p:spPr>
          <p:txBody>
            <a:bodyPr wrap="none" anchor="ctr"/>
            <a:lstStyle/>
            <a:p>
              <a:endParaRPr lang="es-ES" sz="1200"/>
            </a:p>
          </p:txBody>
        </p:sp>
        <p:sp>
          <p:nvSpPr>
            <p:cNvPr id="101393" name="Line 16"/>
            <p:cNvSpPr>
              <a:spLocks noChangeShapeType="1"/>
            </p:cNvSpPr>
            <p:nvPr/>
          </p:nvSpPr>
          <p:spPr bwMode="auto">
            <a:xfrm>
              <a:off x="8623300" y="2806700"/>
              <a:ext cx="0" cy="2819400"/>
            </a:xfrm>
            <a:prstGeom prst="line">
              <a:avLst/>
            </a:prstGeom>
            <a:noFill/>
            <a:ln w="127000">
              <a:solidFill>
                <a:schemeClr val="accent6">
                  <a:lumMod val="75000"/>
                </a:schemeClr>
              </a:solidFill>
              <a:round/>
              <a:headEnd/>
              <a:tailEnd/>
            </a:ln>
          </p:spPr>
          <p:txBody>
            <a:bodyPr wrap="none" anchor="ctr"/>
            <a:lstStyle/>
            <a:p>
              <a:endParaRPr lang="es-ES" sz="1200"/>
            </a:p>
          </p:txBody>
        </p:sp>
        <p:sp>
          <p:nvSpPr>
            <p:cNvPr id="101394" name="Line 17"/>
            <p:cNvSpPr>
              <a:spLocks noChangeShapeType="1"/>
            </p:cNvSpPr>
            <p:nvPr/>
          </p:nvSpPr>
          <p:spPr bwMode="auto">
            <a:xfrm flipV="1">
              <a:off x="8001000" y="2806700"/>
              <a:ext cx="685800" cy="0"/>
            </a:xfrm>
            <a:prstGeom prst="line">
              <a:avLst/>
            </a:prstGeom>
            <a:noFill/>
            <a:ln w="127000">
              <a:solidFill>
                <a:schemeClr val="accent6">
                  <a:lumMod val="75000"/>
                </a:schemeClr>
              </a:solidFill>
              <a:round/>
              <a:headEnd type="triangle" w="med" len="med"/>
              <a:tailEnd/>
            </a:ln>
          </p:spPr>
          <p:txBody>
            <a:bodyPr wrap="none" anchor="ctr"/>
            <a:lstStyle/>
            <a:p>
              <a:endParaRPr lang="es-ES" sz="1200"/>
            </a:p>
          </p:txBody>
        </p:sp>
        <p:sp>
          <p:nvSpPr>
            <p:cNvPr id="101395" name="Rectangle 18"/>
            <p:cNvSpPr>
              <a:spLocks noChangeArrowheads="1"/>
            </p:cNvSpPr>
            <p:nvPr/>
          </p:nvSpPr>
          <p:spPr bwMode="auto">
            <a:xfrm>
              <a:off x="5715000" y="3340100"/>
              <a:ext cx="1066800" cy="685800"/>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1200" dirty="0">
                  <a:solidFill>
                    <a:srgbClr val="502800"/>
                  </a:solidFill>
                </a:rPr>
                <a:t>Módulo 0</a:t>
              </a:r>
            </a:p>
          </p:txBody>
        </p:sp>
        <p:sp>
          <p:nvSpPr>
            <p:cNvPr id="101396" name="Rectangle 19"/>
            <p:cNvSpPr>
              <a:spLocks noChangeArrowheads="1"/>
            </p:cNvSpPr>
            <p:nvPr/>
          </p:nvSpPr>
          <p:spPr bwMode="auto">
            <a:xfrm>
              <a:off x="6934200" y="2349500"/>
              <a:ext cx="1066800" cy="685800"/>
            </a:xfrm>
            <a:prstGeom prst="rect">
              <a:avLst/>
            </a:prstGeom>
            <a:solidFill>
              <a:srgbClr val="FFCCFF"/>
            </a:solidFill>
            <a:ln w="28575">
              <a:solidFill>
                <a:srgbClr val="000000"/>
              </a:solidFill>
              <a:miter lim="800000"/>
              <a:headEnd/>
              <a:tailEnd/>
            </a:ln>
          </p:spPr>
          <p:txBody>
            <a:bodyPr wrap="none" anchor="ctr"/>
            <a:lstStyle/>
            <a:p>
              <a:pPr>
                <a:spcBef>
                  <a:spcPct val="20000"/>
                </a:spcBef>
              </a:pPr>
              <a:r>
                <a:rPr lang="es-ES_tradnl" sz="1200" dirty="0">
                  <a:solidFill>
                    <a:srgbClr val="502800"/>
                  </a:solidFill>
                </a:rPr>
                <a:t>Módulo 1</a:t>
              </a:r>
            </a:p>
          </p:txBody>
        </p:sp>
        <p:sp>
          <p:nvSpPr>
            <p:cNvPr id="101397" name="Freeform 20"/>
            <p:cNvSpPr>
              <a:spLocks/>
            </p:cNvSpPr>
            <p:nvPr/>
          </p:nvSpPr>
          <p:spPr bwMode="auto">
            <a:xfrm>
              <a:off x="5260975" y="2940050"/>
              <a:ext cx="1139825" cy="401638"/>
            </a:xfrm>
            <a:custGeom>
              <a:avLst/>
              <a:gdLst>
                <a:gd name="T0" fmla="*/ 0 w 718"/>
                <a:gd name="T1" fmla="*/ 2147483647 h 253"/>
                <a:gd name="T2" fmla="*/ 2147483647 w 718"/>
                <a:gd name="T3" fmla="*/ 2147483647 h 253"/>
                <a:gd name="T4" fmla="*/ 2147483647 w 718"/>
                <a:gd name="T5" fmla="*/ 2147483647 h 253"/>
                <a:gd name="T6" fmla="*/ 2147483647 w 718"/>
                <a:gd name="T7" fmla="*/ 2147483647 h 253"/>
                <a:gd name="T8" fmla="*/ 0 60000 65536"/>
                <a:gd name="T9" fmla="*/ 0 60000 65536"/>
                <a:gd name="T10" fmla="*/ 0 60000 65536"/>
                <a:gd name="T11" fmla="*/ 0 60000 65536"/>
                <a:gd name="T12" fmla="*/ 0 w 718"/>
                <a:gd name="T13" fmla="*/ 0 h 253"/>
                <a:gd name="T14" fmla="*/ 718 w 718"/>
                <a:gd name="T15" fmla="*/ 253 h 253"/>
              </a:gdLst>
              <a:ahLst/>
              <a:cxnLst>
                <a:cxn ang="T8">
                  <a:pos x="T0" y="T1"/>
                </a:cxn>
                <a:cxn ang="T9">
                  <a:pos x="T2" y="T3"/>
                </a:cxn>
                <a:cxn ang="T10">
                  <a:pos x="T4" y="T5"/>
                </a:cxn>
                <a:cxn ang="T11">
                  <a:pos x="T6" y="T7"/>
                </a:cxn>
              </a:cxnLst>
              <a:rect l="T12" t="T13" r="T14" b="T15"/>
              <a:pathLst>
                <a:path w="718" h="253">
                  <a:moveTo>
                    <a:pt x="0" y="190"/>
                  </a:moveTo>
                  <a:cubicBezTo>
                    <a:pt x="47" y="161"/>
                    <a:pt x="179" y="34"/>
                    <a:pt x="282" y="17"/>
                  </a:cubicBezTo>
                  <a:cubicBezTo>
                    <a:pt x="385" y="0"/>
                    <a:pt x="545" y="51"/>
                    <a:pt x="618" y="90"/>
                  </a:cubicBezTo>
                  <a:cubicBezTo>
                    <a:pt x="691" y="129"/>
                    <a:pt x="697" y="219"/>
                    <a:pt x="718" y="253"/>
                  </a:cubicBezTo>
                </a:path>
              </a:pathLst>
            </a:custGeom>
            <a:noFill/>
            <a:ln w="28575">
              <a:solidFill>
                <a:schemeClr val="accent6">
                  <a:lumMod val="60000"/>
                  <a:lumOff val="40000"/>
                </a:schemeClr>
              </a:solidFill>
              <a:round/>
              <a:headEnd/>
              <a:tailEnd type="arrow" w="lg" len="med"/>
            </a:ln>
          </p:spPr>
          <p:txBody>
            <a:bodyPr wrap="none" anchor="ctr"/>
            <a:lstStyle/>
            <a:p>
              <a:endParaRPr lang="es-ES" sz="1200"/>
            </a:p>
          </p:txBody>
        </p:sp>
        <p:sp>
          <p:nvSpPr>
            <p:cNvPr id="101398" name="Line 21"/>
            <p:cNvSpPr>
              <a:spLocks noChangeShapeType="1"/>
            </p:cNvSpPr>
            <p:nvPr/>
          </p:nvSpPr>
          <p:spPr bwMode="auto">
            <a:xfrm flipH="1">
              <a:off x="3124200" y="5321300"/>
              <a:ext cx="381000" cy="685800"/>
            </a:xfrm>
            <a:prstGeom prst="line">
              <a:avLst/>
            </a:prstGeom>
            <a:noFill/>
            <a:ln w="28575">
              <a:solidFill>
                <a:schemeClr val="accent6">
                  <a:lumMod val="75000"/>
                </a:schemeClr>
              </a:solidFill>
              <a:round/>
              <a:headEnd/>
              <a:tailEnd/>
            </a:ln>
          </p:spPr>
          <p:txBody>
            <a:bodyPr wrap="none" anchor="ctr"/>
            <a:lstStyle/>
            <a:p>
              <a:endParaRPr lang="es-ES" sz="1200"/>
            </a:p>
          </p:txBody>
        </p:sp>
        <p:sp>
          <p:nvSpPr>
            <p:cNvPr id="101399" name="Text Box 22"/>
            <p:cNvSpPr txBox="1">
              <a:spLocks noChangeArrowheads="1"/>
            </p:cNvSpPr>
            <p:nvPr/>
          </p:nvSpPr>
          <p:spPr bwMode="auto">
            <a:xfrm>
              <a:off x="3465739" y="5697904"/>
              <a:ext cx="2171244" cy="405667"/>
            </a:xfrm>
            <a:prstGeom prst="rect">
              <a:avLst/>
            </a:prstGeom>
            <a:noFill/>
            <a:ln w="28575">
              <a:noFill/>
              <a:miter lim="800000"/>
              <a:headEnd/>
              <a:tailEnd/>
            </a:ln>
          </p:spPr>
          <p:txBody>
            <a:bodyPr wrap="none" anchor="ctr">
              <a:spAutoFit/>
            </a:bodyPr>
            <a:lstStyle/>
            <a:p>
              <a:pPr>
                <a:spcBef>
                  <a:spcPct val="20000"/>
                </a:spcBef>
              </a:pPr>
              <a:r>
                <a:rPr lang="es-ES_tradnl" sz="1200" dirty="0"/>
                <a:t>Líneas de menor peso</a:t>
              </a:r>
            </a:p>
          </p:txBody>
        </p:sp>
        <p:sp>
          <p:nvSpPr>
            <p:cNvPr id="101400" name="Text Box 23"/>
            <p:cNvSpPr txBox="1">
              <a:spLocks noChangeArrowheads="1"/>
            </p:cNvSpPr>
            <p:nvPr/>
          </p:nvSpPr>
          <p:spPr bwMode="auto">
            <a:xfrm>
              <a:off x="1772099" y="3116630"/>
              <a:ext cx="1251638" cy="405667"/>
            </a:xfrm>
            <a:prstGeom prst="rect">
              <a:avLst/>
            </a:prstGeom>
            <a:noFill/>
            <a:ln w="28575">
              <a:noFill/>
              <a:miter lim="800000"/>
              <a:headEnd/>
              <a:tailEnd/>
            </a:ln>
          </p:spPr>
          <p:txBody>
            <a:bodyPr wrap="none" anchor="ctr">
              <a:spAutoFit/>
            </a:bodyPr>
            <a:lstStyle/>
            <a:p>
              <a:pPr>
                <a:spcBef>
                  <a:spcPct val="20000"/>
                </a:spcBef>
              </a:pPr>
              <a:r>
                <a:rPr lang="es-ES_tradnl" sz="1200" dirty="0"/>
                <a:t>Mayor peso</a:t>
              </a:r>
            </a:p>
          </p:txBody>
        </p:sp>
        <p:sp>
          <p:nvSpPr>
            <p:cNvPr id="101401" name="Line 24"/>
            <p:cNvSpPr>
              <a:spLocks noChangeShapeType="1"/>
            </p:cNvSpPr>
            <p:nvPr/>
          </p:nvSpPr>
          <p:spPr bwMode="auto">
            <a:xfrm flipV="1">
              <a:off x="7637463" y="4727575"/>
              <a:ext cx="1049337" cy="0"/>
            </a:xfrm>
            <a:prstGeom prst="line">
              <a:avLst/>
            </a:prstGeom>
            <a:noFill/>
            <a:ln w="127000">
              <a:solidFill>
                <a:schemeClr val="accent6">
                  <a:lumMod val="75000"/>
                </a:schemeClr>
              </a:solidFill>
              <a:round/>
              <a:headEnd type="triangle" w="med" len="med"/>
              <a:tailEnd/>
            </a:ln>
          </p:spPr>
          <p:txBody>
            <a:bodyPr wrap="none" anchor="ctr"/>
            <a:lstStyle/>
            <a:p>
              <a:endParaRPr lang="es-ES" sz="1200"/>
            </a:p>
          </p:txBody>
        </p:sp>
      </p:grpSp>
      <p:sp>
        <p:nvSpPr>
          <p:cNvPr id="27" name="CuadroTexto 26">
            <a:extLst>
              <a:ext uri="{FF2B5EF4-FFF2-40B4-BE49-F238E27FC236}">
                <a16:creationId xmlns:a16="http://schemas.microsoft.com/office/drawing/2014/main" id="{A5B92A5F-22F9-4DAE-BDF2-F8BA9979A9B0}"/>
              </a:ext>
            </a:extLst>
          </p:cNvPr>
          <p:cNvSpPr txBox="1"/>
          <p:nvPr/>
        </p:nvSpPr>
        <p:spPr>
          <a:xfrm>
            <a:off x="6841707" y="726586"/>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28" name="CuadroTexto 27">
            <a:extLst>
              <a:ext uri="{FF2B5EF4-FFF2-40B4-BE49-F238E27FC236}">
                <a16:creationId xmlns:a16="http://schemas.microsoft.com/office/drawing/2014/main" id="{EAAB275E-2AF5-4A2E-9784-EB81A8A9B4E7}"/>
              </a:ext>
            </a:extLst>
          </p:cNvPr>
          <p:cNvSpPr txBox="1"/>
          <p:nvPr/>
        </p:nvSpPr>
        <p:spPr>
          <a:xfrm>
            <a:off x="1093210" y="1225266"/>
            <a:ext cx="683352" cy="276999"/>
          </a:xfrm>
          <a:prstGeom prst="rect">
            <a:avLst/>
          </a:prstGeom>
          <a:noFill/>
        </p:spPr>
        <p:txBody>
          <a:bodyPr wrap="square" rtlCol="0">
            <a:spAutoFit/>
          </a:bodyPr>
          <a:lstStyle/>
          <a:p>
            <a:r>
              <a:rPr lang="es-ES" sz="1200" dirty="0">
                <a:solidFill>
                  <a:schemeClr val="accent1">
                    <a:lumMod val="75000"/>
                  </a:schemeClr>
                </a:solidFill>
              </a:rPr>
              <a:t>2</a:t>
            </a:r>
            <a:r>
              <a:rPr lang="es-ES" sz="1200" baseline="30000" dirty="0">
                <a:solidFill>
                  <a:schemeClr val="accent1">
                    <a:lumMod val="75000"/>
                  </a:schemeClr>
                </a:solidFill>
              </a:rPr>
              <a:t>n</a:t>
            </a:r>
            <a:r>
              <a:rPr lang="es-ES" sz="1200" dirty="0">
                <a:solidFill>
                  <a:schemeClr val="accent1">
                    <a:lumMod val="75000"/>
                  </a:schemeClr>
                </a:solidFill>
              </a:rPr>
              <a:t> B</a:t>
            </a:r>
          </a:p>
        </p:txBody>
      </p:sp>
      <p:sp>
        <p:nvSpPr>
          <p:cNvPr id="29" name="CuadroTexto 28">
            <a:extLst>
              <a:ext uri="{FF2B5EF4-FFF2-40B4-BE49-F238E27FC236}">
                <a16:creationId xmlns:a16="http://schemas.microsoft.com/office/drawing/2014/main" id="{CEC37E0F-8372-4F2D-AE2B-C2E89DE28312}"/>
              </a:ext>
            </a:extLst>
          </p:cNvPr>
          <p:cNvSpPr txBox="1"/>
          <p:nvPr/>
        </p:nvSpPr>
        <p:spPr>
          <a:xfrm>
            <a:off x="5809118" y="1483295"/>
            <a:ext cx="672973" cy="276999"/>
          </a:xfrm>
          <a:prstGeom prst="rect">
            <a:avLst/>
          </a:prstGeom>
          <a:noFill/>
        </p:spPr>
        <p:txBody>
          <a:bodyPr wrap="square" rtlCol="0">
            <a:spAutoFit/>
          </a:bodyPr>
          <a:lstStyle/>
          <a:p>
            <a:r>
              <a:rPr lang="es-ES" sz="1200" dirty="0">
                <a:solidFill>
                  <a:schemeClr val="accent1">
                    <a:lumMod val="75000"/>
                  </a:schemeClr>
                </a:solidFill>
              </a:rPr>
              <a:t>2</a:t>
            </a:r>
            <a:r>
              <a:rPr lang="es-ES" sz="1200" baseline="30000" dirty="0">
                <a:solidFill>
                  <a:schemeClr val="accent1">
                    <a:lumMod val="75000"/>
                  </a:schemeClr>
                </a:solidFill>
              </a:rPr>
              <a:t>x2</a:t>
            </a:r>
            <a:r>
              <a:rPr lang="es-ES" sz="1200" dirty="0">
                <a:solidFill>
                  <a:schemeClr val="accent1">
                    <a:lumMod val="75000"/>
                  </a:schemeClr>
                </a:solidFill>
              </a:rPr>
              <a:t> B</a:t>
            </a:r>
          </a:p>
        </p:txBody>
      </p:sp>
      <p:sp>
        <p:nvSpPr>
          <p:cNvPr id="30" name="CuadroTexto 29">
            <a:extLst>
              <a:ext uri="{FF2B5EF4-FFF2-40B4-BE49-F238E27FC236}">
                <a16:creationId xmlns:a16="http://schemas.microsoft.com/office/drawing/2014/main" id="{E1A60D15-07EC-4FFB-8461-068FCAD24DD4}"/>
              </a:ext>
            </a:extLst>
          </p:cNvPr>
          <p:cNvSpPr txBox="1"/>
          <p:nvPr/>
        </p:nvSpPr>
        <p:spPr>
          <a:xfrm>
            <a:off x="6118609" y="2047409"/>
            <a:ext cx="721361" cy="276999"/>
          </a:xfrm>
          <a:prstGeom prst="rect">
            <a:avLst/>
          </a:prstGeom>
          <a:noFill/>
        </p:spPr>
        <p:txBody>
          <a:bodyPr wrap="square" rtlCol="0">
            <a:spAutoFit/>
          </a:bodyPr>
          <a:lstStyle/>
          <a:p>
            <a:r>
              <a:rPr lang="es-ES" sz="1200" dirty="0">
                <a:solidFill>
                  <a:schemeClr val="accent1">
                    <a:lumMod val="75000"/>
                  </a:schemeClr>
                </a:solidFill>
              </a:rPr>
              <a:t>2</a:t>
            </a:r>
            <a:r>
              <a:rPr lang="es-ES" sz="1200" baseline="30000" dirty="0">
                <a:solidFill>
                  <a:schemeClr val="accent1">
                    <a:lumMod val="75000"/>
                  </a:schemeClr>
                </a:solidFill>
              </a:rPr>
              <a:t>x3</a:t>
            </a:r>
            <a:r>
              <a:rPr lang="es-ES" sz="1200" dirty="0">
                <a:solidFill>
                  <a:schemeClr val="accent1">
                    <a:lumMod val="75000"/>
                  </a:schemeClr>
                </a:solidFill>
              </a:rPr>
              <a:t> B</a:t>
            </a:r>
          </a:p>
        </p:txBody>
      </p:sp>
      <p:sp>
        <p:nvSpPr>
          <p:cNvPr id="33" name="Rectángulo 32">
            <a:extLst>
              <a:ext uri="{FF2B5EF4-FFF2-40B4-BE49-F238E27FC236}">
                <a16:creationId xmlns:a16="http://schemas.microsoft.com/office/drawing/2014/main" id="{846CE87F-FB95-4414-9487-E37A14B2E389}"/>
              </a:ext>
            </a:extLst>
          </p:cNvPr>
          <p:cNvSpPr/>
          <p:nvPr/>
        </p:nvSpPr>
        <p:spPr>
          <a:xfrm>
            <a:off x="2764745" y="3475835"/>
            <a:ext cx="1210588"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n-1</a:t>
            </a:r>
            <a:r>
              <a:rPr lang="es-ES" dirty="0">
                <a:solidFill>
                  <a:schemeClr val="accent1">
                    <a:lumMod val="75000"/>
                  </a:schemeClr>
                </a:solidFill>
              </a:rPr>
              <a:t>…A</a:t>
            </a:r>
            <a:r>
              <a:rPr lang="es-ES" baseline="-25000" dirty="0">
                <a:solidFill>
                  <a:schemeClr val="accent1">
                    <a:lumMod val="75000"/>
                  </a:schemeClr>
                </a:solidFill>
              </a:rPr>
              <a:t>x1</a:t>
            </a:r>
            <a:endParaRPr lang="es-ES" dirty="0"/>
          </a:p>
        </p:txBody>
      </p:sp>
      <p:sp>
        <p:nvSpPr>
          <p:cNvPr id="34" name="Rectángulo 33">
            <a:extLst>
              <a:ext uri="{FF2B5EF4-FFF2-40B4-BE49-F238E27FC236}">
                <a16:creationId xmlns:a16="http://schemas.microsoft.com/office/drawing/2014/main" id="{0A31E5C1-9913-4482-ABE5-B2440C0426ED}"/>
              </a:ext>
            </a:extLst>
          </p:cNvPr>
          <p:cNvSpPr/>
          <p:nvPr/>
        </p:nvSpPr>
        <p:spPr>
          <a:xfrm>
            <a:off x="3903844" y="3492013"/>
            <a:ext cx="2265365"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x1-1………….............</a:t>
            </a:r>
            <a:r>
              <a:rPr lang="es-ES" dirty="0">
                <a:solidFill>
                  <a:schemeClr val="accent1">
                    <a:lumMod val="75000"/>
                  </a:schemeClr>
                </a:solidFill>
              </a:rPr>
              <a:t>A</a:t>
            </a:r>
            <a:r>
              <a:rPr lang="es-ES" baseline="-25000" dirty="0">
                <a:solidFill>
                  <a:schemeClr val="accent1">
                    <a:lumMod val="75000"/>
                  </a:schemeClr>
                </a:solidFill>
              </a:rPr>
              <a:t>0</a:t>
            </a:r>
            <a:endParaRPr lang="es-ES" dirty="0"/>
          </a:p>
        </p:txBody>
      </p:sp>
      <p:sp>
        <p:nvSpPr>
          <p:cNvPr id="36" name="CuadroTexto 35">
            <a:extLst>
              <a:ext uri="{FF2B5EF4-FFF2-40B4-BE49-F238E27FC236}">
                <a16:creationId xmlns:a16="http://schemas.microsoft.com/office/drawing/2014/main" id="{F3CBC619-70A8-4C57-AA84-D579FF157F4D}"/>
              </a:ext>
            </a:extLst>
          </p:cNvPr>
          <p:cNvSpPr txBox="1"/>
          <p:nvPr/>
        </p:nvSpPr>
        <p:spPr>
          <a:xfrm>
            <a:off x="4703448" y="4051943"/>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x1</a:t>
            </a:r>
            <a:r>
              <a:rPr lang="es-ES" sz="1400" dirty="0">
                <a:solidFill>
                  <a:schemeClr val="accent1">
                    <a:lumMod val="75000"/>
                  </a:schemeClr>
                </a:solidFill>
              </a:rPr>
              <a:t> B</a:t>
            </a:r>
          </a:p>
        </p:txBody>
      </p:sp>
      <p:sp>
        <p:nvSpPr>
          <p:cNvPr id="6" name="Rectángulo 5">
            <a:extLst>
              <a:ext uri="{FF2B5EF4-FFF2-40B4-BE49-F238E27FC236}">
                <a16:creationId xmlns:a16="http://schemas.microsoft.com/office/drawing/2014/main" id="{A2CADF3A-C305-4650-9BA3-FA99C46D0496}"/>
              </a:ext>
            </a:extLst>
          </p:cNvPr>
          <p:cNvSpPr/>
          <p:nvPr/>
        </p:nvSpPr>
        <p:spPr bwMode="auto">
          <a:xfrm>
            <a:off x="4007587" y="3922248"/>
            <a:ext cx="2161622" cy="621663"/>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AD7D78AC-7AE6-49DD-BA2A-CBF22335E9A8}"/>
              </a:ext>
            </a:extLst>
          </p:cNvPr>
          <p:cNvSpPr/>
          <p:nvPr/>
        </p:nvSpPr>
        <p:spPr bwMode="auto">
          <a:xfrm>
            <a:off x="2584369" y="3983215"/>
            <a:ext cx="1319475" cy="560696"/>
          </a:xfrm>
          <a:prstGeom prst="ellips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023A804B-0FCB-4A23-97CA-853554FE4690}"/>
              </a:ext>
            </a:extLst>
          </p:cNvPr>
          <p:cNvSpPr txBox="1"/>
          <p:nvPr/>
        </p:nvSpPr>
        <p:spPr>
          <a:xfrm>
            <a:off x="2738198" y="4098561"/>
            <a:ext cx="1011816" cy="307777"/>
          </a:xfrm>
          <a:prstGeom prst="rect">
            <a:avLst/>
          </a:prstGeom>
          <a:noFill/>
        </p:spPr>
        <p:txBody>
          <a:bodyPr wrap="none" rtlCol="0">
            <a:spAutoFit/>
          </a:bodyPr>
          <a:lstStyle/>
          <a:p>
            <a:r>
              <a:rPr lang="es-ES" sz="1400" dirty="0">
                <a:solidFill>
                  <a:schemeClr val="accent1">
                    <a:lumMod val="75000"/>
                  </a:schemeClr>
                </a:solidFill>
              </a:rPr>
              <a:t>Selección </a:t>
            </a:r>
          </a:p>
        </p:txBody>
      </p:sp>
      <p:sp>
        <p:nvSpPr>
          <p:cNvPr id="40" name="Rectángulo 39">
            <a:extLst>
              <a:ext uri="{FF2B5EF4-FFF2-40B4-BE49-F238E27FC236}">
                <a16:creationId xmlns:a16="http://schemas.microsoft.com/office/drawing/2014/main" id="{4E9542CC-E1D8-4C8A-ADF0-79C2CBADDB72}"/>
              </a:ext>
            </a:extLst>
          </p:cNvPr>
          <p:cNvSpPr/>
          <p:nvPr/>
        </p:nvSpPr>
        <p:spPr>
          <a:xfrm>
            <a:off x="2764745" y="4576203"/>
            <a:ext cx="1210588"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n-1</a:t>
            </a:r>
            <a:r>
              <a:rPr lang="es-ES" dirty="0">
                <a:solidFill>
                  <a:schemeClr val="accent1">
                    <a:lumMod val="75000"/>
                  </a:schemeClr>
                </a:solidFill>
              </a:rPr>
              <a:t>…A</a:t>
            </a:r>
            <a:r>
              <a:rPr lang="es-ES" baseline="-25000" dirty="0">
                <a:solidFill>
                  <a:schemeClr val="accent1">
                    <a:lumMod val="75000"/>
                  </a:schemeClr>
                </a:solidFill>
              </a:rPr>
              <a:t>x2</a:t>
            </a:r>
            <a:endParaRPr lang="es-ES" dirty="0"/>
          </a:p>
        </p:txBody>
      </p:sp>
      <p:sp>
        <p:nvSpPr>
          <p:cNvPr id="41" name="Rectángulo 40">
            <a:extLst>
              <a:ext uri="{FF2B5EF4-FFF2-40B4-BE49-F238E27FC236}">
                <a16:creationId xmlns:a16="http://schemas.microsoft.com/office/drawing/2014/main" id="{36AFB0F4-8CB3-4019-807E-DC8071D3C606}"/>
              </a:ext>
            </a:extLst>
          </p:cNvPr>
          <p:cNvSpPr/>
          <p:nvPr/>
        </p:nvSpPr>
        <p:spPr>
          <a:xfrm>
            <a:off x="3960585" y="4561140"/>
            <a:ext cx="2265365"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x2-1………….............</a:t>
            </a:r>
            <a:r>
              <a:rPr lang="es-ES" dirty="0">
                <a:solidFill>
                  <a:schemeClr val="accent1">
                    <a:lumMod val="75000"/>
                  </a:schemeClr>
                </a:solidFill>
              </a:rPr>
              <a:t>A</a:t>
            </a:r>
            <a:r>
              <a:rPr lang="es-ES" baseline="-25000" dirty="0">
                <a:solidFill>
                  <a:schemeClr val="accent1">
                    <a:lumMod val="75000"/>
                  </a:schemeClr>
                </a:solidFill>
              </a:rPr>
              <a:t>0</a:t>
            </a:r>
            <a:endParaRPr lang="es-ES" dirty="0"/>
          </a:p>
        </p:txBody>
      </p:sp>
      <p:sp>
        <p:nvSpPr>
          <p:cNvPr id="42" name="CuadroTexto 41">
            <a:extLst>
              <a:ext uri="{FF2B5EF4-FFF2-40B4-BE49-F238E27FC236}">
                <a16:creationId xmlns:a16="http://schemas.microsoft.com/office/drawing/2014/main" id="{0C4F6394-4A61-4DB7-9900-624CF866E075}"/>
              </a:ext>
            </a:extLst>
          </p:cNvPr>
          <p:cNvSpPr txBox="1"/>
          <p:nvPr/>
        </p:nvSpPr>
        <p:spPr>
          <a:xfrm>
            <a:off x="4703448" y="5224001"/>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x2</a:t>
            </a:r>
            <a:r>
              <a:rPr lang="es-ES" sz="1400" dirty="0">
                <a:solidFill>
                  <a:schemeClr val="accent1">
                    <a:lumMod val="75000"/>
                  </a:schemeClr>
                </a:solidFill>
              </a:rPr>
              <a:t> B</a:t>
            </a:r>
          </a:p>
        </p:txBody>
      </p:sp>
      <p:sp>
        <p:nvSpPr>
          <p:cNvPr id="43" name="Rectángulo 42">
            <a:extLst>
              <a:ext uri="{FF2B5EF4-FFF2-40B4-BE49-F238E27FC236}">
                <a16:creationId xmlns:a16="http://schemas.microsoft.com/office/drawing/2014/main" id="{A2FA063D-61FB-45F8-9711-CD2AE11B6DEB}"/>
              </a:ext>
            </a:extLst>
          </p:cNvPr>
          <p:cNvSpPr/>
          <p:nvPr/>
        </p:nvSpPr>
        <p:spPr bwMode="auto">
          <a:xfrm>
            <a:off x="3977598" y="5019357"/>
            <a:ext cx="2161622" cy="621663"/>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Elipse 43">
            <a:extLst>
              <a:ext uri="{FF2B5EF4-FFF2-40B4-BE49-F238E27FC236}">
                <a16:creationId xmlns:a16="http://schemas.microsoft.com/office/drawing/2014/main" id="{54B2504F-63C7-4FE8-ADD4-BA3F16A6FD60}"/>
              </a:ext>
            </a:extLst>
          </p:cNvPr>
          <p:cNvSpPr/>
          <p:nvPr/>
        </p:nvSpPr>
        <p:spPr bwMode="auto">
          <a:xfrm>
            <a:off x="2584369" y="5058751"/>
            <a:ext cx="1319475" cy="560696"/>
          </a:xfrm>
          <a:prstGeom prst="ellips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CuadroTexto 44">
            <a:extLst>
              <a:ext uri="{FF2B5EF4-FFF2-40B4-BE49-F238E27FC236}">
                <a16:creationId xmlns:a16="http://schemas.microsoft.com/office/drawing/2014/main" id="{8FF317A2-551E-42AB-A69F-0BD083AA706A}"/>
              </a:ext>
            </a:extLst>
          </p:cNvPr>
          <p:cNvSpPr txBox="1"/>
          <p:nvPr/>
        </p:nvSpPr>
        <p:spPr>
          <a:xfrm>
            <a:off x="2764745" y="5227488"/>
            <a:ext cx="1011816" cy="307777"/>
          </a:xfrm>
          <a:prstGeom prst="rect">
            <a:avLst/>
          </a:prstGeom>
          <a:noFill/>
        </p:spPr>
        <p:txBody>
          <a:bodyPr wrap="none" rtlCol="0">
            <a:spAutoFit/>
          </a:bodyPr>
          <a:lstStyle/>
          <a:p>
            <a:r>
              <a:rPr lang="es-ES" sz="1400" dirty="0">
                <a:solidFill>
                  <a:schemeClr val="accent1">
                    <a:lumMod val="75000"/>
                  </a:schemeClr>
                </a:solidFill>
              </a:rPr>
              <a:t>Selección </a:t>
            </a:r>
          </a:p>
        </p:txBody>
      </p:sp>
      <p:sp>
        <p:nvSpPr>
          <p:cNvPr id="46" name="Rectángulo 45">
            <a:extLst>
              <a:ext uri="{FF2B5EF4-FFF2-40B4-BE49-F238E27FC236}">
                <a16:creationId xmlns:a16="http://schemas.microsoft.com/office/drawing/2014/main" id="{B6BCDDC9-12BB-4A82-8276-829F0A7B7A44}"/>
              </a:ext>
            </a:extLst>
          </p:cNvPr>
          <p:cNvSpPr/>
          <p:nvPr/>
        </p:nvSpPr>
        <p:spPr>
          <a:xfrm>
            <a:off x="2661339" y="5653805"/>
            <a:ext cx="1210588"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n-1</a:t>
            </a:r>
            <a:r>
              <a:rPr lang="es-ES" dirty="0">
                <a:solidFill>
                  <a:schemeClr val="accent1">
                    <a:lumMod val="75000"/>
                  </a:schemeClr>
                </a:solidFill>
              </a:rPr>
              <a:t>…A</a:t>
            </a:r>
            <a:r>
              <a:rPr lang="es-ES" baseline="-25000" dirty="0">
                <a:solidFill>
                  <a:schemeClr val="accent1">
                    <a:lumMod val="75000"/>
                  </a:schemeClr>
                </a:solidFill>
              </a:rPr>
              <a:t>x3</a:t>
            </a:r>
            <a:endParaRPr lang="es-ES" dirty="0"/>
          </a:p>
        </p:txBody>
      </p:sp>
      <p:sp>
        <p:nvSpPr>
          <p:cNvPr id="47" name="Rectángulo 46">
            <a:extLst>
              <a:ext uri="{FF2B5EF4-FFF2-40B4-BE49-F238E27FC236}">
                <a16:creationId xmlns:a16="http://schemas.microsoft.com/office/drawing/2014/main" id="{AF83F33E-0D02-415C-AA49-471EA99E084B}"/>
              </a:ext>
            </a:extLst>
          </p:cNvPr>
          <p:cNvSpPr/>
          <p:nvPr/>
        </p:nvSpPr>
        <p:spPr>
          <a:xfrm>
            <a:off x="3903844" y="5685094"/>
            <a:ext cx="2265365" cy="400110"/>
          </a:xfrm>
          <a:prstGeom prst="rect">
            <a:avLst/>
          </a:prstGeom>
          <a:solidFill>
            <a:schemeClr val="bg1"/>
          </a:solidFill>
        </p:spPr>
        <p:txBody>
          <a:bodyPr wrap="none">
            <a:spAutoFit/>
          </a:bodyPr>
          <a:lstStyle/>
          <a:p>
            <a:r>
              <a:rPr lang="es-ES" dirty="0">
                <a:solidFill>
                  <a:schemeClr val="accent1">
                    <a:lumMod val="75000"/>
                  </a:schemeClr>
                </a:solidFill>
              </a:rPr>
              <a:t>A</a:t>
            </a:r>
            <a:r>
              <a:rPr lang="es-ES" baseline="-25000" dirty="0">
                <a:solidFill>
                  <a:schemeClr val="accent1">
                    <a:lumMod val="75000"/>
                  </a:schemeClr>
                </a:solidFill>
              </a:rPr>
              <a:t>x3-1………….............</a:t>
            </a:r>
            <a:r>
              <a:rPr lang="es-ES" dirty="0">
                <a:solidFill>
                  <a:schemeClr val="accent1">
                    <a:lumMod val="75000"/>
                  </a:schemeClr>
                </a:solidFill>
              </a:rPr>
              <a:t>A</a:t>
            </a:r>
            <a:r>
              <a:rPr lang="es-ES" baseline="-25000" dirty="0">
                <a:solidFill>
                  <a:schemeClr val="accent1">
                    <a:lumMod val="75000"/>
                  </a:schemeClr>
                </a:solidFill>
              </a:rPr>
              <a:t>0</a:t>
            </a:r>
            <a:endParaRPr lang="es-ES" dirty="0"/>
          </a:p>
        </p:txBody>
      </p:sp>
      <p:sp>
        <p:nvSpPr>
          <p:cNvPr id="48" name="CuadroTexto 47">
            <a:extLst>
              <a:ext uri="{FF2B5EF4-FFF2-40B4-BE49-F238E27FC236}">
                <a16:creationId xmlns:a16="http://schemas.microsoft.com/office/drawing/2014/main" id="{B0777D4E-3660-48F1-B3C9-B7CA3A99CDB2}"/>
              </a:ext>
            </a:extLst>
          </p:cNvPr>
          <p:cNvSpPr txBox="1"/>
          <p:nvPr/>
        </p:nvSpPr>
        <p:spPr>
          <a:xfrm>
            <a:off x="4687054" y="6214381"/>
            <a:ext cx="580608" cy="307777"/>
          </a:xfrm>
          <a:prstGeom prst="rect">
            <a:avLst/>
          </a:prstGeom>
          <a:noFill/>
        </p:spPr>
        <p:txBody>
          <a:bodyPr wrap="none" rtlCol="0">
            <a:spAutoFit/>
          </a:bodyPr>
          <a:lstStyle/>
          <a:p>
            <a:r>
              <a:rPr lang="es-ES" sz="1400" dirty="0">
                <a:solidFill>
                  <a:schemeClr val="accent1">
                    <a:lumMod val="75000"/>
                  </a:schemeClr>
                </a:solidFill>
              </a:rPr>
              <a:t>2</a:t>
            </a:r>
            <a:r>
              <a:rPr lang="es-ES" sz="1400" baseline="30000" dirty="0">
                <a:solidFill>
                  <a:schemeClr val="accent1">
                    <a:lumMod val="75000"/>
                  </a:schemeClr>
                </a:solidFill>
              </a:rPr>
              <a:t>x3</a:t>
            </a:r>
            <a:r>
              <a:rPr lang="es-ES" sz="1400" dirty="0">
                <a:solidFill>
                  <a:schemeClr val="accent1">
                    <a:lumMod val="75000"/>
                  </a:schemeClr>
                </a:solidFill>
              </a:rPr>
              <a:t> B</a:t>
            </a:r>
          </a:p>
        </p:txBody>
      </p:sp>
      <p:sp>
        <p:nvSpPr>
          <p:cNvPr id="49" name="Rectángulo 48">
            <a:extLst>
              <a:ext uri="{FF2B5EF4-FFF2-40B4-BE49-F238E27FC236}">
                <a16:creationId xmlns:a16="http://schemas.microsoft.com/office/drawing/2014/main" id="{CC988A9D-7ADB-47A9-9852-7862B87C3116}"/>
              </a:ext>
            </a:extLst>
          </p:cNvPr>
          <p:cNvSpPr/>
          <p:nvPr/>
        </p:nvSpPr>
        <p:spPr bwMode="auto">
          <a:xfrm>
            <a:off x="3927205" y="6072031"/>
            <a:ext cx="2161622" cy="450127"/>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Elipse 49">
            <a:extLst>
              <a:ext uri="{FF2B5EF4-FFF2-40B4-BE49-F238E27FC236}">
                <a16:creationId xmlns:a16="http://schemas.microsoft.com/office/drawing/2014/main" id="{EC57848C-7AD4-4B5A-A75A-5701F7C3F95A}"/>
              </a:ext>
            </a:extLst>
          </p:cNvPr>
          <p:cNvSpPr/>
          <p:nvPr/>
        </p:nvSpPr>
        <p:spPr bwMode="auto">
          <a:xfrm>
            <a:off x="2569621" y="6053915"/>
            <a:ext cx="1319475" cy="560696"/>
          </a:xfrm>
          <a:prstGeom prst="ellipse">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CuadroTexto 50">
            <a:extLst>
              <a:ext uri="{FF2B5EF4-FFF2-40B4-BE49-F238E27FC236}">
                <a16:creationId xmlns:a16="http://schemas.microsoft.com/office/drawing/2014/main" id="{9F8AAE8D-8EA3-446B-95D0-83F8E9BBDD83}"/>
              </a:ext>
            </a:extLst>
          </p:cNvPr>
          <p:cNvSpPr txBox="1"/>
          <p:nvPr/>
        </p:nvSpPr>
        <p:spPr>
          <a:xfrm>
            <a:off x="2723450" y="6169261"/>
            <a:ext cx="1011816" cy="307777"/>
          </a:xfrm>
          <a:prstGeom prst="rect">
            <a:avLst/>
          </a:prstGeom>
          <a:noFill/>
        </p:spPr>
        <p:txBody>
          <a:bodyPr wrap="none" rtlCol="0">
            <a:spAutoFit/>
          </a:bodyPr>
          <a:lstStyle/>
          <a:p>
            <a:r>
              <a:rPr lang="es-ES" sz="1400" dirty="0">
                <a:solidFill>
                  <a:schemeClr val="accent1">
                    <a:lumMod val="75000"/>
                  </a:schemeClr>
                </a:solidFill>
              </a:rPr>
              <a:t>Selección </a:t>
            </a:r>
          </a:p>
        </p:txBody>
      </p:sp>
      <p:sp>
        <p:nvSpPr>
          <p:cNvPr id="52" name="Rectangle 2">
            <a:extLst>
              <a:ext uri="{FF2B5EF4-FFF2-40B4-BE49-F238E27FC236}">
                <a16:creationId xmlns:a16="http://schemas.microsoft.com/office/drawing/2014/main" id="{06429D3E-C377-4492-BD78-545DAE922BD9}"/>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ltLang="es-ES_tradnl"/>
              <a:t>Concepto de mapa de memoria</a:t>
            </a:r>
            <a:endParaRPr lang="es-ES" altLang="es-ES_tradnl" dirty="0"/>
          </a:p>
        </p:txBody>
      </p:sp>
      <p:sp>
        <p:nvSpPr>
          <p:cNvPr id="3" name="2 Marcador de número de diapositiva">
            <a:extLst>
              <a:ext uri="{FF2B5EF4-FFF2-40B4-BE49-F238E27FC236}">
                <a16:creationId xmlns:a16="http://schemas.microsoft.com/office/drawing/2014/main" id="{9D6D7635-889B-4E96-0580-58B605119E3B}"/>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129</a:t>
            </a:fld>
            <a:endParaRPr lang="en-US" dirty="0"/>
          </a:p>
        </p:txBody>
      </p:sp>
    </p:spTree>
    <p:extLst>
      <p:ext uri="{BB962C8B-B14F-4D97-AF65-F5344CB8AC3E}">
        <p14:creationId xmlns:p14="http://schemas.microsoft.com/office/powerpoint/2010/main" val="202771271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a:xfrm>
            <a:off x="654165" y="527686"/>
            <a:ext cx="8250237" cy="865187"/>
          </a:xfrm>
        </p:spPr>
        <p:txBody>
          <a:bodyPr/>
          <a:lstStyle/>
          <a:p>
            <a:r>
              <a:rPr lang="es-ES" altLang="es-ES_tradnl" sz="2000" dirty="0"/>
              <a:t>Parámetros a considerar</a:t>
            </a:r>
          </a:p>
        </p:txBody>
      </p:sp>
      <p:sp>
        <p:nvSpPr>
          <p:cNvPr id="102404" name="Rectangle 3"/>
          <p:cNvSpPr>
            <a:spLocks noGrp="1" noChangeArrowheads="1"/>
          </p:cNvSpPr>
          <p:nvPr>
            <p:ph type="body" idx="1"/>
          </p:nvPr>
        </p:nvSpPr>
        <p:spPr/>
        <p:txBody>
          <a:bodyPr/>
          <a:lstStyle/>
          <a:p>
            <a:r>
              <a:rPr lang="es-ES" altLang="es-ES_tradnl"/>
              <a:t>Procesador</a:t>
            </a:r>
          </a:p>
          <a:p>
            <a:pPr lvl="1"/>
            <a:r>
              <a:rPr lang="es-ES" altLang="es-ES_tradnl"/>
              <a:t>Espacio de direccionamiento</a:t>
            </a:r>
          </a:p>
          <a:p>
            <a:pPr lvl="2"/>
            <a:r>
              <a:rPr lang="es-ES" altLang="es-ES_tradnl"/>
              <a:t>Depende de la longitud de las direcciones efectivas</a:t>
            </a:r>
          </a:p>
          <a:p>
            <a:r>
              <a:rPr lang="es-ES" altLang="es-ES_tradnl"/>
              <a:t>Módulo</a:t>
            </a:r>
          </a:p>
          <a:p>
            <a:pPr lvl="1"/>
            <a:r>
              <a:rPr lang="es-ES" altLang="es-ES_tradnl"/>
              <a:t>Dirección de inicio dentro del mapa</a:t>
            </a:r>
          </a:p>
          <a:p>
            <a:pPr lvl="1"/>
            <a:r>
              <a:rPr lang="es-ES" altLang="es-ES_tradnl"/>
              <a:t>Capacidad expresada en bytes</a:t>
            </a:r>
          </a:p>
          <a:p>
            <a:pPr lvl="2"/>
            <a:r>
              <a:rPr lang="es-ES" altLang="es-ES_tradnl"/>
              <a:t>Ojo: no influye la organización interna del módulo</a:t>
            </a:r>
          </a:p>
          <a:p>
            <a:r>
              <a:rPr lang="es-ES" altLang="es-ES_tradnl"/>
              <a:t>Nivel de activación de las funciones de selección</a:t>
            </a:r>
          </a:p>
          <a:p>
            <a:pPr lvl="1"/>
            <a:r>
              <a:rPr lang="es-ES" altLang="es-ES_tradnl"/>
              <a:t>Nivel alto o bajo</a:t>
            </a:r>
          </a:p>
        </p:txBody>
      </p:sp>
      <p:sp>
        <p:nvSpPr>
          <p:cNvPr id="5" name="Rectangle 2">
            <a:extLst>
              <a:ext uri="{FF2B5EF4-FFF2-40B4-BE49-F238E27FC236}">
                <a16:creationId xmlns:a16="http://schemas.microsoft.com/office/drawing/2014/main" id="{779FD305-6A24-4C4D-A271-C42D5CA79C23}"/>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ltLang="es-ES_tradnl"/>
              <a:t>Concepto de mapa de memoria</a:t>
            </a:r>
            <a:endParaRPr lang="es-ES" altLang="es-ES_tradnl" dirty="0"/>
          </a:p>
        </p:txBody>
      </p:sp>
      <p:sp>
        <p:nvSpPr>
          <p:cNvPr id="2" name="2 Marcador de número de diapositiva">
            <a:extLst>
              <a:ext uri="{FF2B5EF4-FFF2-40B4-BE49-F238E27FC236}">
                <a16:creationId xmlns:a16="http://schemas.microsoft.com/office/drawing/2014/main" id="{9F512897-FC28-1016-F3A9-9ABE896FE1DE}"/>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130</a:t>
            </a:fld>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a:xfrm>
            <a:off x="577056" y="556364"/>
            <a:ext cx="8250237" cy="865187"/>
          </a:xfrm>
        </p:spPr>
        <p:txBody>
          <a:bodyPr/>
          <a:lstStyle/>
          <a:p>
            <a:r>
              <a:rPr lang="es-ES" sz="2000" dirty="0"/>
              <a:t>Un caso particular de mapa</a:t>
            </a:r>
          </a:p>
        </p:txBody>
      </p:sp>
      <p:sp>
        <p:nvSpPr>
          <p:cNvPr id="103428" name="Rectangle 3"/>
          <p:cNvSpPr>
            <a:spLocks noGrp="1" noChangeArrowheads="1"/>
          </p:cNvSpPr>
          <p:nvPr>
            <p:ph type="body" idx="1"/>
          </p:nvPr>
        </p:nvSpPr>
        <p:spPr>
          <a:xfrm>
            <a:off x="755576" y="1196752"/>
            <a:ext cx="8532813" cy="985838"/>
          </a:xfrm>
        </p:spPr>
        <p:txBody>
          <a:bodyPr/>
          <a:lstStyle/>
          <a:p>
            <a:r>
              <a:rPr lang="es-ES" sz="2200" dirty="0"/>
              <a:t>Procesador de 32 bits y espacio de direccionamiento de 256 KB</a:t>
            </a:r>
          </a:p>
          <a:p>
            <a:r>
              <a:rPr lang="es-ES" sz="2200" dirty="0"/>
              <a:t>Módulo DRAM de 64 KB y dirección de inicio en </a:t>
            </a:r>
            <a:r>
              <a:rPr lang="es-ES" sz="2200" b="1" dirty="0">
                <a:latin typeface="Courier New" pitchFamily="49" charset="0"/>
              </a:rPr>
              <a:t>0x20000</a:t>
            </a:r>
          </a:p>
        </p:txBody>
      </p:sp>
      <p:sp>
        <p:nvSpPr>
          <p:cNvPr id="103429" name="Text Box 4"/>
          <p:cNvSpPr txBox="1">
            <a:spLocks noChangeArrowheads="1"/>
          </p:cNvSpPr>
          <p:nvPr/>
        </p:nvSpPr>
        <p:spPr bwMode="auto">
          <a:xfrm>
            <a:off x="6451600" y="2884488"/>
            <a:ext cx="1250950" cy="2020887"/>
          </a:xfrm>
          <a:prstGeom prst="rect">
            <a:avLst/>
          </a:prstGeom>
          <a:noFill/>
          <a:ln w="28575">
            <a:noFill/>
            <a:miter lim="800000"/>
            <a:headEnd/>
            <a:tailEnd/>
          </a:ln>
        </p:spPr>
        <p:txBody>
          <a:bodyPr anchor="ctr">
            <a:spAutoFit/>
          </a:bodyPr>
          <a:lstStyle/>
          <a:p>
            <a:pPr algn="l">
              <a:spcBef>
                <a:spcPct val="20000"/>
              </a:spcBef>
            </a:pPr>
            <a:r>
              <a:rPr lang="es-ES_tradnl" b="1">
                <a:latin typeface="Courier New" pitchFamily="49" charset="0"/>
              </a:rPr>
              <a:t>0x20000</a:t>
            </a:r>
          </a:p>
          <a:p>
            <a:pPr algn="l">
              <a:spcBef>
                <a:spcPct val="20000"/>
              </a:spcBef>
            </a:pPr>
            <a:r>
              <a:rPr lang="es-ES_tradnl" b="1">
                <a:latin typeface="Courier New" pitchFamily="49" charset="0"/>
              </a:rPr>
              <a:t>0x20001</a:t>
            </a:r>
          </a:p>
          <a:p>
            <a:pPr algn="l">
              <a:spcBef>
                <a:spcPct val="20000"/>
              </a:spcBef>
            </a:pPr>
            <a:r>
              <a:rPr lang="es-ES_tradnl" b="1">
                <a:latin typeface="Courier New" pitchFamily="49" charset="0"/>
              </a:rPr>
              <a:t>0x20002</a:t>
            </a:r>
          </a:p>
          <a:p>
            <a:pPr algn="l">
              <a:spcBef>
                <a:spcPct val="20000"/>
              </a:spcBef>
            </a:pPr>
            <a:endParaRPr lang="es-ES_tradnl" sz="900" b="1">
              <a:latin typeface="Courier New" pitchFamily="49" charset="0"/>
            </a:endParaRPr>
          </a:p>
          <a:p>
            <a:pPr algn="l">
              <a:spcBef>
                <a:spcPct val="20000"/>
              </a:spcBef>
            </a:pPr>
            <a:r>
              <a:rPr lang="es-ES_tradnl" b="1">
                <a:latin typeface="Courier New" pitchFamily="49" charset="0"/>
              </a:rPr>
              <a:t>0x2FFFE</a:t>
            </a:r>
          </a:p>
          <a:p>
            <a:pPr algn="l">
              <a:spcBef>
                <a:spcPct val="20000"/>
              </a:spcBef>
            </a:pPr>
            <a:r>
              <a:rPr lang="es-ES_tradnl" b="1">
                <a:latin typeface="Courier New" pitchFamily="49" charset="0"/>
              </a:rPr>
              <a:t>0x2FFFF</a:t>
            </a:r>
          </a:p>
        </p:txBody>
      </p:sp>
      <p:sp>
        <p:nvSpPr>
          <p:cNvPr id="103430" name="Text Box 5"/>
          <p:cNvSpPr txBox="1">
            <a:spLocks noChangeArrowheads="1"/>
          </p:cNvSpPr>
          <p:nvPr/>
        </p:nvSpPr>
        <p:spPr bwMode="blackWhite">
          <a:xfrm>
            <a:off x="1403350" y="2822978"/>
            <a:ext cx="5040313" cy="2135969"/>
          </a:xfrm>
          <a:prstGeom prst="rect">
            <a:avLst/>
          </a:prstGeom>
          <a:solidFill>
            <a:srgbClr val="3399FF"/>
          </a:solidFill>
          <a:ln w="28575">
            <a:noFill/>
            <a:miter lim="800000"/>
            <a:headEnd/>
            <a:tailEnd/>
          </a:ln>
        </p:spPr>
        <p:txBody>
          <a:bodyPr anchor="ctr">
            <a:spAutoFit/>
          </a:bodyPr>
          <a:lstStyle/>
          <a:p>
            <a:pPr algn="l"/>
            <a:r>
              <a:rPr lang="es-ES_tradnl" b="1" dirty="0">
                <a:latin typeface="Courier New" pitchFamily="49" charset="0"/>
              </a:rPr>
              <a:t> </a:t>
            </a:r>
            <a:r>
              <a:rPr lang="es-ES_tradnl" sz="1800" b="1" dirty="0">
                <a:solidFill>
                  <a:schemeClr val="bg2"/>
                </a:solidFill>
                <a:latin typeface="Courier New" pitchFamily="49" charset="0"/>
              </a:rPr>
              <a:t>1  0  0  0  0 	. . .	0  0  0</a:t>
            </a:r>
          </a:p>
          <a:p>
            <a:pPr algn="l"/>
            <a:r>
              <a:rPr lang="es-ES_tradnl" sz="1800" b="1" dirty="0">
                <a:solidFill>
                  <a:schemeClr val="bg2"/>
                </a:solidFill>
                <a:latin typeface="Courier New" pitchFamily="49" charset="0"/>
              </a:rPr>
              <a:t> 1  0  0  0  0 	. . .	0  0  1</a:t>
            </a:r>
          </a:p>
          <a:p>
            <a:pPr algn="l"/>
            <a:r>
              <a:rPr lang="es-ES_tradnl" sz="1800" b="1" dirty="0">
                <a:solidFill>
                  <a:schemeClr val="bg2"/>
                </a:solidFill>
                <a:latin typeface="Courier New" pitchFamily="49" charset="0"/>
              </a:rPr>
              <a:t> 1  0  0  0  0 	. . .	0  1  0</a:t>
            </a:r>
          </a:p>
          <a:p>
            <a:pPr algn="l"/>
            <a:endParaRPr lang="es-ES_tradnl" sz="1800" b="1" dirty="0">
              <a:solidFill>
                <a:schemeClr val="bg2"/>
              </a:solidFill>
              <a:latin typeface="Courier New" pitchFamily="49" charset="0"/>
            </a:endParaRPr>
          </a:p>
          <a:p>
            <a:pPr algn="l"/>
            <a:r>
              <a:rPr lang="es-ES_tradnl" sz="1800" b="1" dirty="0">
                <a:solidFill>
                  <a:schemeClr val="bg2"/>
                </a:solidFill>
                <a:latin typeface="Courier New" pitchFamily="49" charset="0"/>
              </a:rPr>
              <a:t> 1  0  1  1  1 	. . .	1  1  0</a:t>
            </a:r>
          </a:p>
          <a:p>
            <a:pPr algn="l"/>
            <a:r>
              <a:rPr lang="es-ES_tradnl" sz="1800" b="1" dirty="0">
                <a:solidFill>
                  <a:schemeClr val="bg2"/>
                </a:solidFill>
                <a:latin typeface="Courier New" pitchFamily="49" charset="0"/>
              </a:rPr>
              <a:t> 1  0  1  1  1 	. . .	1  1  1</a:t>
            </a:r>
          </a:p>
        </p:txBody>
      </p:sp>
      <p:sp>
        <p:nvSpPr>
          <p:cNvPr id="103431" name="Text Box 6"/>
          <p:cNvSpPr txBox="1">
            <a:spLocks noChangeArrowheads="1"/>
          </p:cNvSpPr>
          <p:nvPr/>
        </p:nvSpPr>
        <p:spPr bwMode="auto">
          <a:xfrm>
            <a:off x="1403350" y="2354263"/>
            <a:ext cx="5040313" cy="396875"/>
          </a:xfrm>
          <a:prstGeom prst="rect">
            <a:avLst/>
          </a:prstGeom>
          <a:noFill/>
          <a:ln w="28575">
            <a:noFill/>
            <a:miter lim="800000"/>
            <a:headEnd/>
            <a:tailEnd/>
          </a:ln>
        </p:spPr>
        <p:txBody>
          <a:bodyPr anchor="ctr">
            <a:spAutoFit/>
          </a:bodyPr>
          <a:lstStyle/>
          <a:p>
            <a:pPr algn="l">
              <a:spcBef>
                <a:spcPct val="20000"/>
              </a:spcBef>
            </a:pPr>
            <a:r>
              <a:rPr lang="es-ES_tradnl" dirty="0"/>
              <a:t>A</a:t>
            </a:r>
            <a:r>
              <a:rPr lang="es-ES_tradnl" baseline="-25000" dirty="0"/>
              <a:t>17</a:t>
            </a:r>
            <a:r>
              <a:rPr lang="es-ES_tradnl" dirty="0"/>
              <a:t>  A</a:t>
            </a:r>
            <a:r>
              <a:rPr lang="es-ES_tradnl" baseline="-25000" dirty="0"/>
              <a:t>16</a:t>
            </a:r>
            <a:r>
              <a:rPr lang="es-ES_tradnl" dirty="0"/>
              <a:t>  A</a:t>
            </a:r>
            <a:r>
              <a:rPr lang="es-ES_tradnl" baseline="-25000" dirty="0"/>
              <a:t>15</a:t>
            </a:r>
            <a:r>
              <a:rPr lang="es-ES_tradnl" dirty="0"/>
              <a:t>  A</a:t>
            </a:r>
            <a:r>
              <a:rPr lang="es-ES_tradnl" baseline="-25000" dirty="0"/>
              <a:t>14 </a:t>
            </a:r>
            <a:r>
              <a:rPr lang="es-ES_tradnl" dirty="0"/>
              <a:t> A</a:t>
            </a:r>
            <a:r>
              <a:rPr lang="es-ES_tradnl" baseline="-25000" dirty="0"/>
              <a:t>13</a:t>
            </a:r>
            <a:r>
              <a:rPr lang="es-ES_tradnl" dirty="0"/>
              <a:t>	</a:t>
            </a:r>
            <a:r>
              <a:rPr lang="es-ES_tradnl" b="1" dirty="0"/>
              <a:t>.  .  .</a:t>
            </a:r>
            <a:r>
              <a:rPr lang="es-ES_tradnl" dirty="0"/>
              <a:t>	A</a:t>
            </a:r>
            <a:r>
              <a:rPr lang="es-ES_tradnl" baseline="-25000" dirty="0"/>
              <a:t>2 </a:t>
            </a:r>
            <a:r>
              <a:rPr lang="es-ES_tradnl" dirty="0"/>
              <a:t> A</a:t>
            </a:r>
            <a:r>
              <a:rPr lang="es-ES_tradnl" baseline="-25000" dirty="0"/>
              <a:t>1</a:t>
            </a:r>
            <a:r>
              <a:rPr lang="es-ES_tradnl" dirty="0"/>
              <a:t>  A</a:t>
            </a:r>
            <a:r>
              <a:rPr lang="es-ES_tradnl" baseline="-25000" dirty="0"/>
              <a:t>0</a:t>
            </a:r>
          </a:p>
        </p:txBody>
      </p:sp>
      <p:sp>
        <p:nvSpPr>
          <p:cNvPr id="103432" name="Line 7"/>
          <p:cNvSpPr>
            <a:spLocks noChangeShapeType="1"/>
          </p:cNvSpPr>
          <p:nvPr/>
        </p:nvSpPr>
        <p:spPr bwMode="auto">
          <a:xfrm>
            <a:off x="1403350" y="2859088"/>
            <a:ext cx="5040313" cy="0"/>
          </a:xfrm>
          <a:prstGeom prst="line">
            <a:avLst/>
          </a:prstGeom>
          <a:noFill/>
          <a:ln w="38100">
            <a:solidFill>
              <a:srgbClr val="FFCC00"/>
            </a:solidFill>
            <a:round/>
            <a:headEnd/>
            <a:tailEnd/>
          </a:ln>
        </p:spPr>
        <p:txBody>
          <a:bodyPr lIns="0" tIns="0" rIns="0" bIns="0" anchor="ctr"/>
          <a:lstStyle/>
          <a:p>
            <a:endParaRPr lang="es-ES"/>
          </a:p>
        </p:txBody>
      </p:sp>
      <p:sp>
        <p:nvSpPr>
          <p:cNvPr id="103433" name="AutoShape 8"/>
          <p:cNvSpPr>
            <a:spLocks noChangeArrowheads="1"/>
          </p:cNvSpPr>
          <p:nvPr/>
        </p:nvSpPr>
        <p:spPr bwMode="auto">
          <a:xfrm>
            <a:off x="1331913" y="5825778"/>
            <a:ext cx="5184775" cy="613470"/>
          </a:xfrm>
          <a:prstGeom prst="cube">
            <a:avLst>
              <a:gd name="adj" fmla="val 25000"/>
            </a:avLst>
          </a:prstGeom>
          <a:solidFill>
            <a:schemeClr val="accent1">
              <a:lumMod val="40000"/>
              <a:lumOff val="60000"/>
            </a:schemeClr>
          </a:solidFill>
          <a:ln w="28575">
            <a:noFill/>
            <a:miter lim="800000"/>
            <a:headEnd/>
            <a:tailEnd/>
          </a:ln>
        </p:spPr>
        <p:txBody>
          <a:bodyPr anchor="ctr">
            <a:spAutoFit/>
          </a:bodyPr>
          <a:lstStyle/>
          <a:p>
            <a:pPr algn="l">
              <a:spcBef>
                <a:spcPct val="20000"/>
              </a:spcBef>
            </a:pPr>
            <a:r>
              <a:rPr lang="es-ES_tradnl" b="1" dirty="0">
                <a:solidFill>
                  <a:srgbClr val="663300"/>
                </a:solidFill>
                <a:latin typeface="Courier New" pitchFamily="49" charset="0"/>
              </a:rPr>
              <a:t> </a:t>
            </a:r>
            <a:r>
              <a:rPr lang="es-ES_tradnl" sz="2400" b="1" dirty="0">
                <a:solidFill>
                  <a:srgbClr val="002060"/>
                </a:solidFill>
                <a:latin typeface="Courier New" pitchFamily="49" charset="0"/>
              </a:rPr>
              <a:t>1  0  </a:t>
            </a:r>
            <a:r>
              <a:rPr lang="es-ES_tradnl" b="1" dirty="0">
                <a:solidFill>
                  <a:srgbClr val="663300"/>
                </a:solidFill>
                <a:latin typeface="Courier New" pitchFamily="49" charset="0"/>
              </a:rPr>
              <a:t>X  </a:t>
            </a:r>
            <a:r>
              <a:rPr lang="es-ES_tradnl" b="1" dirty="0" err="1">
                <a:solidFill>
                  <a:srgbClr val="663300"/>
                </a:solidFill>
                <a:latin typeface="Courier New" pitchFamily="49" charset="0"/>
              </a:rPr>
              <a:t>X</a:t>
            </a:r>
            <a:r>
              <a:rPr lang="es-ES_tradnl" b="1" dirty="0">
                <a:solidFill>
                  <a:srgbClr val="663300"/>
                </a:solidFill>
                <a:latin typeface="Courier New" pitchFamily="49" charset="0"/>
              </a:rPr>
              <a:t>  </a:t>
            </a:r>
            <a:r>
              <a:rPr lang="es-ES_tradnl" b="1" dirty="0" err="1">
                <a:solidFill>
                  <a:srgbClr val="663300"/>
                </a:solidFill>
                <a:latin typeface="Courier New" pitchFamily="49" charset="0"/>
              </a:rPr>
              <a:t>X</a:t>
            </a:r>
            <a:r>
              <a:rPr lang="es-ES_tradnl" b="1" dirty="0">
                <a:solidFill>
                  <a:srgbClr val="663300"/>
                </a:solidFill>
                <a:latin typeface="Courier New" pitchFamily="49" charset="0"/>
              </a:rPr>
              <a:t> 	. . .	X  </a:t>
            </a:r>
            <a:r>
              <a:rPr lang="es-ES_tradnl" b="1" dirty="0" err="1">
                <a:solidFill>
                  <a:srgbClr val="663300"/>
                </a:solidFill>
                <a:latin typeface="Courier New" pitchFamily="49" charset="0"/>
              </a:rPr>
              <a:t>X</a:t>
            </a:r>
            <a:r>
              <a:rPr lang="es-ES_tradnl" b="1" dirty="0">
                <a:solidFill>
                  <a:srgbClr val="663300"/>
                </a:solidFill>
                <a:latin typeface="Courier New" pitchFamily="49" charset="0"/>
              </a:rPr>
              <a:t>  </a:t>
            </a:r>
            <a:r>
              <a:rPr lang="es-ES_tradnl" b="1" dirty="0" err="1">
                <a:solidFill>
                  <a:srgbClr val="663300"/>
                </a:solidFill>
                <a:latin typeface="Courier New" pitchFamily="49" charset="0"/>
              </a:rPr>
              <a:t>X</a:t>
            </a:r>
            <a:endParaRPr lang="es-ES_tradnl" b="1" dirty="0">
              <a:solidFill>
                <a:srgbClr val="663300"/>
              </a:solidFill>
              <a:latin typeface="Courier New" pitchFamily="49" charset="0"/>
            </a:endParaRPr>
          </a:p>
        </p:txBody>
      </p:sp>
      <p:sp>
        <p:nvSpPr>
          <p:cNvPr id="103434" name="AutoShape 9"/>
          <p:cNvSpPr>
            <a:spLocks noChangeArrowheads="1"/>
          </p:cNvSpPr>
          <p:nvPr/>
        </p:nvSpPr>
        <p:spPr bwMode="auto">
          <a:xfrm>
            <a:off x="3598863" y="5091113"/>
            <a:ext cx="865187" cy="647700"/>
          </a:xfrm>
          <a:prstGeom prst="downArrow">
            <a:avLst>
              <a:gd name="adj1" fmla="val 50093"/>
              <a:gd name="adj2" fmla="val 38727"/>
            </a:avLst>
          </a:prstGeom>
          <a:solidFill>
            <a:srgbClr val="CCFF66"/>
          </a:solidFill>
          <a:ln w="19050">
            <a:noFill/>
            <a:miter lim="800000"/>
            <a:headEnd/>
            <a:tailEnd/>
          </a:ln>
        </p:spPr>
        <p:txBody>
          <a:bodyPr wrap="none" lIns="0" tIns="0" rIns="0" bIns="0" anchor="ctr"/>
          <a:lstStyle/>
          <a:p>
            <a:endParaRPr lang="es-ES"/>
          </a:p>
        </p:txBody>
      </p:sp>
      <p:sp>
        <p:nvSpPr>
          <p:cNvPr id="103435" name="Text Box 10"/>
          <p:cNvSpPr txBox="1">
            <a:spLocks noChangeArrowheads="1"/>
          </p:cNvSpPr>
          <p:nvPr/>
        </p:nvSpPr>
        <p:spPr bwMode="auto">
          <a:xfrm>
            <a:off x="6659563" y="5661025"/>
            <a:ext cx="2484437" cy="732508"/>
          </a:xfrm>
          <a:prstGeom prst="rect">
            <a:avLst/>
          </a:prstGeom>
          <a:noFill/>
          <a:ln w="19050">
            <a:noFill/>
            <a:miter lim="800000"/>
            <a:headEnd/>
            <a:tailEnd/>
          </a:ln>
        </p:spPr>
        <p:txBody>
          <a:bodyPr lIns="0" tIns="0" rIns="0" bIns="0">
            <a:spAutoFit/>
          </a:bodyPr>
          <a:lstStyle/>
          <a:p>
            <a:pPr algn="l"/>
            <a:r>
              <a:rPr lang="es-ES" sz="1400" dirty="0"/>
              <a:t>Forma general de </a:t>
            </a:r>
          </a:p>
          <a:p>
            <a:pPr algn="l"/>
            <a:r>
              <a:rPr lang="es-ES" sz="1400" dirty="0"/>
              <a:t>las direcciones que </a:t>
            </a:r>
          </a:p>
          <a:p>
            <a:pPr algn="l"/>
            <a:r>
              <a:rPr lang="es-ES" sz="1400" dirty="0"/>
              <a:t>pertenecen al módulo</a:t>
            </a:r>
          </a:p>
        </p:txBody>
      </p:sp>
      <p:sp>
        <p:nvSpPr>
          <p:cNvPr id="12" name="Rectangle 2">
            <a:extLst>
              <a:ext uri="{FF2B5EF4-FFF2-40B4-BE49-F238E27FC236}">
                <a16:creationId xmlns:a16="http://schemas.microsoft.com/office/drawing/2014/main" id="{C47469B5-0997-49C4-BACA-75A8CD8E7E16}"/>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ltLang="es-ES_tradnl"/>
              <a:t>Concepto de mapa de memoria</a:t>
            </a:r>
            <a:endParaRPr lang="es-ES" altLang="es-ES_tradnl" dirty="0"/>
          </a:p>
        </p:txBody>
      </p:sp>
      <p:sp>
        <p:nvSpPr>
          <p:cNvPr id="2" name="2 Marcador de número de diapositiva">
            <a:extLst>
              <a:ext uri="{FF2B5EF4-FFF2-40B4-BE49-F238E27FC236}">
                <a16:creationId xmlns:a16="http://schemas.microsoft.com/office/drawing/2014/main" id="{30BA55FB-300B-FD20-3876-7A6F1CB3C18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131</a:t>
            </a:fld>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p:txBody>
          <a:bodyPr/>
          <a:lstStyle/>
          <a:p>
            <a:r>
              <a:rPr lang="es-ES" dirty="0"/>
              <a:t>Función de selección del módulo</a:t>
            </a:r>
          </a:p>
        </p:txBody>
      </p:sp>
      <p:sp>
        <p:nvSpPr>
          <p:cNvPr id="104452" name="Rectangle 3"/>
          <p:cNvSpPr>
            <a:spLocks noGrp="1" noChangeArrowheads="1"/>
          </p:cNvSpPr>
          <p:nvPr>
            <p:ph type="body" idx="1"/>
          </p:nvPr>
        </p:nvSpPr>
        <p:spPr/>
        <p:txBody>
          <a:bodyPr/>
          <a:lstStyle/>
          <a:p>
            <a:r>
              <a:rPr lang="es-ES"/>
              <a:t>El módulo contiene las direcciones con forma </a:t>
            </a:r>
            <a:r>
              <a:rPr lang="es-ES" b="1">
                <a:latin typeface="Courier New" pitchFamily="49" charset="0"/>
              </a:rPr>
              <a:t>0x2????</a:t>
            </a:r>
          </a:p>
          <a:p>
            <a:pPr lvl="1"/>
            <a:r>
              <a:rPr lang="es-ES"/>
              <a:t>Rango de direcciones :</a:t>
            </a:r>
            <a:r>
              <a:rPr lang="es-ES" b="1">
                <a:latin typeface="Courier New" pitchFamily="49" charset="0"/>
              </a:rPr>
              <a:t> 0x20000</a:t>
            </a:r>
            <a:r>
              <a:rPr lang="es-ES"/>
              <a:t> hasta </a:t>
            </a:r>
            <a:r>
              <a:rPr lang="es-ES" b="1">
                <a:latin typeface="Courier New" pitchFamily="49" charset="0"/>
              </a:rPr>
              <a:t>0x2FFFF</a:t>
            </a:r>
          </a:p>
        </p:txBody>
      </p:sp>
      <p:sp>
        <p:nvSpPr>
          <p:cNvPr id="104453" name="Rectangle 4"/>
          <p:cNvSpPr>
            <a:spLocks noChangeArrowheads="1"/>
          </p:cNvSpPr>
          <p:nvPr/>
        </p:nvSpPr>
        <p:spPr bwMode="auto">
          <a:xfrm>
            <a:off x="850900" y="2174875"/>
            <a:ext cx="5029200" cy="457200"/>
          </a:xfrm>
          <a:prstGeom prst="rect">
            <a:avLst/>
          </a:prstGeom>
          <a:noFill/>
          <a:ln w="25400">
            <a:noFill/>
            <a:miter lim="800000"/>
            <a:headEnd/>
            <a:tailEnd/>
          </a:ln>
        </p:spPr>
        <p:txBody>
          <a:bodyPr lIns="92075" tIns="46038" rIns="92075" bIns="46038">
            <a:spAutoFit/>
          </a:bodyPr>
          <a:lstStyle/>
          <a:p>
            <a:pPr algn="l"/>
            <a:r>
              <a:rPr lang="es-ES" sz="2400">
                <a:solidFill>
                  <a:schemeClr val="tx2"/>
                </a:solidFill>
              </a:rPr>
              <a:t>A</a:t>
            </a:r>
            <a:r>
              <a:rPr lang="es-ES" sz="2400" baseline="-25000">
                <a:solidFill>
                  <a:schemeClr val="tx2"/>
                </a:solidFill>
              </a:rPr>
              <a:t>17</a:t>
            </a:r>
            <a:r>
              <a:rPr lang="es-ES" sz="2400">
                <a:solidFill>
                  <a:schemeClr val="tx2"/>
                </a:solidFill>
              </a:rPr>
              <a:t> A</a:t>
            </a:r>
            <a:r>
              <a:rPr lang="es-ES" sz="2400" baseline="-25000">
                <a:solidFill>
                  <a:schemeClr val="tx2"/>
                </a:solidFill>
              </a:rPr>
              <a:t>16</a:t>
            </a:r>
            <a:r>
              <a:rPr lang="es-ES" sz="2400">
                <a:solidFill>
                  <a:schemeClr val="tx2"/>
                </a:solidFill>
              </a:rPr>
              <a:t>   A</a:t>
            </a:r>
            <a:r>
              <a:rPr lang="es-ES" sz="2400" baseline="-25000">
                <a:solidFill>
                  <a:schemeClr val="tx2"/>
                </a:solidFill>
              </a:rPr>
              <a:t>15</a:t>
            </a:r>
            <a:r>
              <a:rPr lang="es-ES" sz="2400">
                <a:solidFill>
                  <a:schemeClr val="tx2"/>
                </a:solidFill>
              </a:rPr>
              <a:t> A</a:t>
            </a:r>
            <a:r>
              <a:rPr lang="es-ES" sz="2400" baseline="-25000">
                <a:solidFill>
                  <a:schemeClr val="tx2"/>
                </a:solidFill>
              </a:rPr>
              <a:t>14  </a:t>
            </a:r>
            <a:r>
              <a:rPr lang="es-ES" sz="2400">
                <a:solidFill>
                  <a:schemeClr val="tx2"/>
                </a:solidFill>
              </a:rPr>
              <a:t>A</a:t>
            </a:r>
            <a:r>
              <a:rPr lang="es-ES" sz="2400" baseline="-25000">
                <a:solidFill>
                  <a:schemeClr val="tx2"/>
                </a:solidFill>
              </a:rPr>
              <a:t>13    </a:t>
            </a:r>
            <a:r>
              <a:rPr lang="es-ES" sz="2400">
                <a:solidFill>
                  <a:schemeClr val="tx2"/>
                </a:solidFill>
              </a:rPr>
              <a:t>...  A</a:t>
            </a:r>
            <a:r>
              <a:rPr lang="es-ES" sz="2400" baseline="-25000">
                <a:solidFill>
                  <a:schemeClr val="tx2"/>
                </a:solidFill>
              </a:rPr>
              <a:t>2  </a:t>
            </a:r>
            <a:r>
              <a:rPr lang="es-ES" sz="2400">
                <a:solidFill>
                  <a:schemeClr val="tx2"/>
                </a:solidFill>
              </a:rPr>
              <a:t>A</a:t>
            </a:r>
            <a:r>
              <a:rPr lang="es-ES" sz="2400" baseline="-25000">
                <a:solidFill>
                  <a:schemeClr val="tx2"/>
                </a:solidFill>
              </a:rPr>
              <a:t>1  </a:t>
            </a:r>
            <a:r>
              <a:rPr lang="es-ES" sz="2400">
                <a:solidFill>
                  <a:schemeClr val="tx2"/>
                </a:solidFill>
              </a:rPr>
              <a:t>A</a:t>
            </a:r>
            <a:r>
              <a:rPr lang="es-ES" sz="2400" baseline="-25000">
                <a:solidFill>
                  <a:schemeClr val="tx2"/>
                </a:solidFill>
              </a:rPr>
              <a:t>0</a:t>
            </a:r>
          </a:p>
        </p:txBody>
      </p:sp>
      <p:sp>
        <p:nvSpPr>
          <p:cNvPr id="104454" name="Line 5"/>
          <p:cNvSpPr>
            <a:spLocks noChangeShapeType="1"/>
          </p:cNvSpPr>
          <p:nvPr/>
        </p:nvSpPr>
        <p:spPr bwMode="auto">
          <a:xfrm>
            <a:off x="927100" y="2708275"/>
            <a:ext cx="4652963" cy="0"/>
          </a:xfrm>
          <a:prstGeom prst="line">
            <a:avLst/>
          </a:prstGeom>
          <a:noFill/>
          <a:ln w="28575">
            <a:solidFill>
              <a:schemeClr val="accent6">
                <a:lumMod val="60000"/>
                <a:lumOff val="40000"/>
              </a:schemeClr>
            </a:solidFill>
            <a:round/>
            <a:headEnd/>
            <a:tailEnd/>
          </a:ln>
        </p:spPr>
        <p:txBody>
          <a:bodyPr wrap="none" anchor="ctr"/>
          <a:lstStyle/>
          <a:p>
            <a:endParaRPr lang="es-ES"/>
          </a:p>
        </p:txBody>
      </p:sp>
      <p:sp>
        <p:nvSpPr>
          <p:cNvPr id="104455" name="AutoShape 6"/>
          <p:cNvSpPr>
            <a:spLocks/>
          </p:cNvSpPr>
          <p:nvPr/>
        </p:nvSpPr>
        <p:spPr bwMode="auto">
          <a:xfrm rot="-5400000">
            <a:off x="3636169" y="1845469"/>
            <a:ext cx="287338" cy="3600450"/>
          </a:xfrm>
          <a:prstGeom prst="leftBrace">
            <a:avLst>
              <a:gd name="adj1" fmla="val 104420"/>
              <a:gd name="adj2" fmla="val 49676"/>
            </a:avLst>
          </a:prstGeom>
          <a:noFill/>
          <a:ln w="28575">
            <a:solidFill>
              <a:schemeClr val="accent6">
                <a:lumMod val="60000"/>
                <a:lumOff val="40000"/>
              </a:schemeClr>
            </a:solidFill>
            <a:round/>
            <a:headEnd/>
            <a:tailEnd/>
          </a:ln>
        </p:spPr>
        <p:txBody>
          <a:bodyPr wrap="none" anchor="ctr"/>
          <a:lstStyle/>
          <a:p>
            <a:endParaRPr lang="es-ES"/>
          </a:p>
        </p:txBody>
      </p:sp>
      <p:sp>
        <p:nvSpPr>
          <p:cNvPr id="104456" name="Text Box 7"/>
          <p:cNvSpPr txBox="1">
            <a:spLocks noChangeArrowheads="1"/>
          </p:cNvSpPr>
          <p:nvPr/>
        </p:nvSpPr>
        <p:spPr bwMode="auto">
          <a:xfrm>
            <a:off x="7464425" y="3284538"/>
            <a:ext cx="1250950" cy="396875"/>
          </a:xfrm>
          <a:prstGeom prst="rect">
            <a:avLst/>
          </a:prstGeom>
          <a:noFill/>
          <a:ln w="28575">
            <a:noFill/>
            <a:miter lim="800000"/>
            <a:headEnd/>
            <a:tailEnd/>
          </a:ln>
        </p:spPr>
        <p:txBody>
          <a:bodyPr wrap="none" anchor="ctr">
            <a:spAutoFit/>
          </a:bodyPr>
          <a:lstStyle/>
          <a:p>
            <a:pPr>
              <a:spcBef>
                <a:spcPct val="20000"/>
              </a:spcBef>
            </a:pPr>
            <a:r>
              <a:rPr lang="es-ES" b="1">
                <a:latin typeface="Courier New" pitchFamily="49" charset="0"/>
              </a:rPr>
              <a:t>0x00000</a:t>
            </a:r>
          </a:p>
        </p:txBody>
      </p:sp>
      <p:sp>
        <p:nvSpPr>
          <p:cNvPr id="104457" name="Text Box 8"/>
          <p:cNvSpPr txBox="1">
            <a:spLocks noChangeArrowheads="1"/>
          </p:cNvSpPr>
          <p:nvPr/>
        </p:nvSpPr>
        <p:spPr bwMode="auto">
          <a:xfrm>
            <a:off x="7464425" y="5264150"/>
            <a:ext cx="1250950" cy="396875"/>
          </a:xfrm>
          <a:prstGeom prst="rect">
            <a:avLst/>
          </a:prstGeom>
          <a:noFill/>
          <a:ln w="28575">
            <a:noFill/>
            <a:miter lim="800000"/>
            <a:headEnd/>
            <a:tailEnd/>
          </a:ln>
        </p:spPr>
        <p:txBody>
          <a:bodyPr wrap="none" anchor="ctr">
            <a:spAutoFit/>
          </a:bodyPr>
          <a:lstStyle/>
          <a:p>
            <a:pPr>
              <a:spcBef>
                <a:spcPct val="20000"/>
              </a:spcBef>
            </a:pPr>
            <a:r>
              <a:rPr lang="es-ES" b="1">
                <a:latin typeface="Courier New" pitchFamily="49" charset="0"/>
              </a:rPr>
              <a:t>0x3FFFF</a:t>
            </a:r>
          </a:p>
        </p:txBody>
      </p:sp>
      <p:sp>
        <p:nvSpPr>
          <p:cNvPr id="104458" name="Text Box 9"/>
          <p:cNvSpPr txBox="1">
            <a:spLocks noChangeArrowheads="1"/>
          </p:cNvSpPr>
          <p:nvPr/>
        </p:nvSpPr>
        <p:spPr bwMode="auto">
          <a:xfrm>
            <a:off x="7464425" y="3860800"/>
            <a:ext cx="1250950" cy="396875"/>
          </a:xfrm>
          <a:prstGeom prst="rect">
            <a:avLst/>
          </a:prstGeom>
          <a:noFill/>
          <a:ln w="28575">
            <a:noFill/>
            <a:miter lim="800000"/>
            <a:headEnd/>
            <a:tailEnd/>
          </a:ln>
        </p:spPr>
        <p:txBody>
          <a:bodyPr wrap="none" anchor="ctr">
            <a:spAutoFit/>
          </a:bodyPr>
          <a:lstStyle/>
          <a:p>
            <a:pPr>
              <a:spcBef>
                <a:spcPct val="20000"/>
              </a:spcBef>
            </a:pPr>
            <a:r>
              <a:rPr lang="es-ES" b="1">
                <a:latin typeface="Courier New" pitchFamily="49" charset="0"/>
              </a:rPr>
              <a:t>0x20000</a:t>
            </a:r>
          </a:p>
        </p:txBody>
      </p:sp>
      <p:sp>
        <p:nvSpPr>
          <p:cNvPr id="104459" name="Text Box 10"/>
          <p:cNvSpPr txBox="1">
            <a:spLocks noChangeArrowheads="1"/>
          </p:cNvSpPr>
          <p:nvPr/>
        </p:nvSpPr>
        <p:spPr bwMode="auto">
          <a:xfrm>
            <a:off x="7464425" y="4256088"/>
            <a:ext cx="1250950" cy="396875"/>
          </a:xfrm>
          <a:prstGeom prst="rect">
            <a:avLst/>
          </a:prstGeom>
          <a:noFill/>
          <a:ln w="28575">
            <a:noFill/>
            <a:miter lim="800000"/>
            <a:headEnd/>
            <a:tailEnd/>
          </a:ln>
        </p:spPr>
        <p:txBody>
          <a:bodyPr wrap="none" anchor="ctr">
            <a:spAutoFit/>
          </a:bodyPr>
          <a:lstStyle/>
          <a:p>
            <a:pPr>
              <a:spcBef>
                <a:spcPct val="20000"/>
              </a:spcBef>
            </a:pPr>
            <a:r>
              <a:rPr lang="es-ES" b="1">
                <a:latin typeface="Courier New" pitchFamily="49" charset="0"/>
              </a:rPr>
              <a:t>0x2FFFF</a:t>
            </a:r>
          </a:p>
        </p:txBody>
      </p:sp>
      <p:sp>
        <p:nvSpPr>
          <p:cNvPr id="104460" name="Rectangle 11"/>
          <p:cNvSpPr>
            <a:spLocks noChangeArrowheads="1"/>
          </p:cNvSpPr>
          <p:nvPr/>
        </p:nvSpPr>
        <p:spPr bwMode="auto">
          <a:xfrm>
            <a:off x="6084888" y="3932238"/>
            <a:ext cx="1373187" cy="552450"/>
          </a:xfrm>
          <a:prstGeom prst="rect">
            <a:avLst/>
          </a:prstGeom>
          <a:solidFill>
            <a:schemeClr val="accent6">
              <a:lumMod val="20000"/>
              <a:lumOff val="80000"/>
            </a:schemeClr>
          </a:solidFill>
          <a:ln w="28575">
            <a:solidFill>
              <a:schemeClr val="bg2"/>
            </a:solidFill>
            <a:miter lim="800000"/>
            <a:headEnd/>
            <a:tailEnd/>
          </a:ln>
        </p:spPr>
        <p:txBody>
          <a:bodyPr wrap="none" anchor="ctr"/>
          <a:lstStyle/>
          <a:p>
            <a:pPr>
              <a:spcBef>
                <a:spcPct val="20000"/>
              </a:spcBef>
            </a:pPr>
            <a:r>
              <a:rPr lang="es-ES" sz="2400">
                <a:solidFill>
                  <a:srgbClr val="000000"/>
                </a:solidFill>
              </a:rPr>
              <a:t>Módulo</a:t>
            </a:r>
          </a:p>
        </p:txBody>
      </p:sp>
      <p:grpSp>
        <p:nvGrpSpPr>
          <p:cNvPr id="2" name="Group 12"/>
          <p:cNvGrpSpPr>
            <a:grpSpLocks/>
          </p:cNvGrpSpPr>
          <p:nvPr/>
        </p:nvGrpSpPr>
        <p:grpSpPr bwMode="auto">
          <a:xfrm>
            <a:off x="684213" y="5157788"/>
            <a:ext cx="4140200" cy="457200"/>
            <a:chOff x="317" y="3777"/>
            <a:chExt cx="2608" cy="288"/>
          </a:xfrm>
        </p:grpSpPr>
        <p:sp>
          <p:nvSpPr>
            <p:cNvPr id="104472" name="Rectangle 13"/>
            <p:cNvSpPr>
              <a:spLocks noChangeArrowheads="1"/>
            </p:cNvSpPr>
            <p:nvPr/>
          </p:nvSpPr>
          <p:spPr bwMode="auto">
            <a:xfrm>
              <a:off x="317" y="3777"/>
              <a:ext cx="2608" cy="288"/>
            </a:xfrm>
            <a:prstGeom prst="rect">
              <a:avLst/>
            </a:prstGeom>
            <a:solidFill>
              <a:schemeClr val="accent5">
                <a:lumMod val="40000"/>
                <a:lumOff val="60000"/>
              </a:schemeClr>
            </a:solidFill>
            <a:ln w="28575">
              <a:noFill/>
              <a:miter lim="800000"/>
              <a:headEnd/>
              <a:tailEnd/>
            </a:ln>
          </p:spPr>
          <p:txBody>
            <a:bodyPr anchor="ctr">
              <a:spAutoFit/>
            </a:bodyPr>
            <a:lstStyle/>
            <a:p>
              <a:pPr>
                <a:spcBef>
                  <a:spcPct val="20000"/>
                </a:spcBef>
              </a:pPr>
              <a:r>
                <a:rPr lang="es-ES" dirty="0"/>
                <a:t>SEL*</a:t>
              </a:r>
              <a:r>
                <a:rPr lang="es-ES" sz="2400" dirty="0">
                  <a:latin typeface="Times New Roman" pitchFamily="18" charset="0"/>
                </a:rPr>
                <a:t>= </a:t>
              </a:r>
              <a:r>
                <a:rPr lang="es-ES" sz="2400" dirty="0"/>
                <a:t>A</a:t>
              </a:r>
              <a:r>
                <a:rPr lang="es-ES" sz="2400" baseline="-25000" dirty="0"/>
                <a:t>17</a:t>
              </a:r>
              <a:r>
                <a:rPr lang="es-ES" sz="2400" baseline="30000" dirty="0"/>
                <a:t>*</a:t>
              </a:r>
              <a:r>
                <a:rPr lang="es-ES" sz="2400" dirty="0"/>
                <a:t> + A</a:t>
              </a:r>
              <a:r>
                <a:rPr lang="es-ES" sz="2400" baseline="-25000" dirty="0"/>
                <a:t>16</a:t>
              </a:r>
              <a:r>
                <a:rPr lang="es-ES" sz="2400" dirty="0"/>
                <a:t> = A</a:t>
              </a:r>
              <a:r>
                <a:rPr lang="es-ES" baseline="-25000" dirty="0"/>
                <a:t>17</a:t>
              </a:r>
              <a:r>
                <a:rPr lang="es-ES" sz="2400" dirty="0"/>
                <a:t> · A</a:t>
              </a:r>
              <a:r>
                <a:rPr lang="es-ES" sz="2400" baseline="-25000" dirty="0"/>
                <a:t>16</a:t>
              </a:r>
              <a:r>
                <a:rPr lang="es-ES" sz="2400" baseline="30000" dirty="0">
                  <a:latin typeface="Times New Roman" pitchFamily="18" charset="0"/>
                </a:rPr>
                <a:t>*</a:t>
              </a:r>
              <a:endParaRPr lang="es-ES" sz="1800" baseline="30000" dirty="0"/>
            </a:p>
          </p:txBody>
        </p:sp>
        <p:sp>
          <p:nvSpPr>
            <p:cNvPr id="104473" name="Line 14"/>
            <p:cNvSpPr>
              <a:spLocks noChangeShapeType="1"/>
            </p:cNvSpPr>
            <p:nvPr/>
          </p:nvSpPr>
          <p:spPr bwMode="auto">
            <a:xfrm>
              <a:off x="1981" y="3814"/>
              <a:ext cx="862" cy="0"/>
            </a:xfrm>
            <a:prstGeom prst="line">
              <a:avLst/>
            </a:prstGeom>
            <a:noFill/>
            <a:ln w="28575">
              <a:solidFill>
                <a:schemeClr val="bg2"/>
              </a:solidFill>
              <a:round/>
              <a:headEnd/>
              <a:tailEnd/>
            </a:ln>
          </p:spPr>
          <p:txBody>
            <a:bodyPr lIns="0" tIns="0" rIns="0" bIns="0" anchor="ctr"/>
            <a:lstStyle/>
            <a:p>
              <a:endParaRPr lang="es-ES"/>
            </a:p>
          </p:txBody>
        </p:sp>
      </p:grpSp>
      <p:sp>
        <p:nvSpPr>
          <p:cNvPr id="104462" name="AutoShape 15"/>
          <p:cNvSpPr>
            <a:spLocks noChangeArrowheads="1"/>
          </p:cNvSpPr>
          <p:nvPr/>
        </p:nvSpPr>
        <p:spPr bwMode="auto">
          <a:xfrm>
            <a:off x="755650" y="2924175"/>
            <a:ext cx="1439863" cy="498475"/>
          </a:xfrm>
          <a:prstGeom prst="cube">
            <a:avLst>
              <a:gd name="adj" fmla="val 25000"/>
            </a:avLst>
          </a:prstGeom>
          <a:solidFill>
            <a:schemeClr val="folHlink"/>
          </a:solidFill>
          <a:ln w="28575">
            <a:noFill/>
            <a:miter lim="800000"/>
            <a:headEnd/>
            <a:tailEnd/>
          </a:ln>
        </p:spPr>
        <p:txBody>
          <a:bodyPr anchor="ctr">
            <a:spAutoFit/>
          </a:bodyPr>
          <a:lstStyle/>
          <a:p>
            <a:pPr algn="l">
              <a:spcBef>
                <a:spcPct val="20000"/>
              </a:spcBef>
            </a:pPr>
            <a:r>
              <a:rPr lang="es-ES" b="1" dirty="0">
                <a:solidFill>
                  <a:srgbClr val="663300"/>
                </a:solidFill>
                <a:latin typeface="Courier New" pitchFamily="49" charset="0"/>
              </a:rPr>
              <a:t> </a:t>
            </a:r>
            <a:r>
              <a:rPr lang="es-ES" b="1" dirty="0">
                <a:solidFill>
                  <a:schemeClr val="bg2"/>
                </a:solidFill>
                <a:latin typeface="Courier New" pitchFamily="49" charset="0"/>
              </a:rPr>
              <a:t>1  0</a:t>
            </a:r>
            <a:endParaRPr lang="es-ES" b="1" dirty="0">
              <a:solidFill>
                <a:srgbClr val="663300"/>
              </a:solidFill>
              <a:latin typeface="Courier New" pitchFamily="49" charset="0"/>
            </a:endParaRPr>
          </a:p>
        </p:txBody>
      </p:sp>
      <p:sp>
        <p:nvSpPr>
          <p:cNvPr id="104463" name="AutoShape 16"/>
          <p:cNvSpPr>
            <a:spLocks noChangeArrowheads="1"/>
          </p:cNvSpPr>
          <p:nvPr/>
        </p:nvSpPr>
        <p:spPr bwMode="auto">
          <a:xfrm>
            <a:off x="1908175" y="2924175"/>
            <a:ext cx="3714750" cy="498475"/>
          </a:xfrm>
          <a:prstGeom prst="cube">
            <a:avLst>
              <a:gd name="adj" fmla="val 25000"/>
            </a:avLst>
          </a:prstGeom>
          <a:solidFill>
            <a:srgbClr val="C0C0C0"/>
          </a:solidFill>
          <a:ln w="28575">
            <a:noFill/>
            <a:miter lim="800000"/>
            <a:headEnd/>
            <a:tailEnd/>
          </a:ln>
        </p:spPr>
        <p:txBody>
          <a:bodyPr anchor="ctr">
            <a:spAutoFit/>
          </a:bodyPr>
          <a:lstStyle/>
          <a:p>
            <a:pPr algn="l">
              <a:spcBef>
                <a:spcPct val="20000"/>
              </a:spcBef>
            </a:pPr>
            <a:r>
              <a:rPr lang="es-ES" b="1">
                <a:solidFill>
                  <a:srgbClr val="663300"/>
                </a:solidFill>
                <a:latin typeface="Courier New" pitchFamily="49" charset="0"/>
              </a:rPr>
              <a:t> X  X  X . . . X  X  X</a:t>
            </a:r>
          </a:p>
        </p:txBody>
      </p:sp>
      <p:sp>
        <p:nvSpPr>
          <p:cNvPr id="104464" name="AutoShape 17"/>
          <p:cNvSpPr>
            <a:spLocks/>
          </p:cNvSpPr>
          <p:nvPr/>
        </p:nvSpPr>
        <p:spPr bwMode="auto">
          <a:xfrm rot="-5400000">
            <a:off x="1239838" y="3074988"/>
            <a:ext cx="182562" cy="1008062"/>
          </a:xfrm>
          <a:prstGeom prst="leftBrace">
            <a:avLst>
              <a:gd name="adj1" fmla="val 46015"/>
              <a:gd name="adj2" fmla="val 49676"/>
            </a:avLst>
          </a:prstGeom>
          <a:noFill/>
          <a:ln w="28575">
            <a:solidFill>
              <a:schemeClr val="accent6">
                <a:lumMod val="60000"/>
                <a:lumOff val="40000"/>
              </a:schemeClr>
            </a:solidFill>
            <a:round/>
            <a:headEnd/>
            <a:tailEnd/>
          </a:ln>
        </p:spPr>
        <p:txBody>
          <a:bodyPr wrap="none" anchor="ctr"/>
          <a:lstStyle/>
          <a:p>
            <a:endParaRPr lang="es-ES"/>
          </a:p>
        </p:txBody>
      </p:sp>
      <p:sp>
        <p:nvSpPr>
          <p:cNvPr id="104465" name="Text Box 18"/>
          <p:cNvSpPr txBox="1">
            <a:spLocks noChangeArrowheads="1"/>
          </p:cNvSpPr>
          <p:nvPr/>
        </p:nvSpPr>
        <p:spPr bwMode="auto">
          <a:xfrm>
            <a:off x="2771775" y="3907522"/>
            <a:ext cx="2305050" cy="646331"/>
          </a:xfrm>
          <a:prstGeom prst="rect">
            <a:avLst/>
          </a:prstGeom>
          <a:solidFill>
            <a:schemeClr val="bg1">
              <a:lumMod val="85000"/>
            </a:schemeClr>
          </a:solidFill>
          <a:ln w="28575">
            <a:noFill/>
            <a:miter lim="800000"/>
            <a:headEnd/>
            <a:tailEnd/>
          </a:ln>
        </p:spPr>
        <p:txBody>
          <a:bodyPr anchor="ctr">
            <a:spAutoFit/>
          </a:bodyPr>
          <a:lstStyle/>
          <a:p>
            <a:pPr>
              <a:spcBef>
                <a:spcPct val="20000"/>
              </a:spcBef>
            </a:pPr>
            <a:r>
              <a:rPr lang="es-ES" sz="1800" dirty="0"/>
              <a:t>Direccionamiento dentro del módulo</a:t>
            </a:r>
          </a:p>
        </p:txBody>
      </p:sp>
      <p:sp>
        <p:nvSpPr>
          <p:cNvPr id="104466" name="Text Box 19"/>
          <p:cNvSpPr txBox="1">
            <a:spLocks noChangeArrowheads="1"/>
          </p:cNvSpPr>
          <p:nvPr/>
        </p:nvSpPr>
        <p:spPr bwMode="auto">
          <a:xfrm>
            <a:off x="539552" y="3860800"/>
            <a:ext cx="1728787" cy="880241"/>
          </a:xfrm>
          <a:prstGeom prst="rect">
            <a:avLst/>
          </a:prstGeom>
          <a:solidFill>
            <a:srgbClr val="CC9900"/>
          </a:solidFill>
          <a:ln w="28575">
            <a:noFill/>
            <a:miter lim="800000"/>
            <a:headEnd/>
            <a:tailEnd/>
          </a:ln>
        </p:spPr>
        <p:txBody>
          <a:bodyPr anchor="ctr">
            <a:spAutoFit/>
          </a:bodyPr>
          <a:lstStyle/>
          <a:p>
            <a:r>
              <a:rPr lang="es-ES" sz="1600" dirty="0"/>
              <a:t>A</a:t>
            </a:r>
            <a:r>
              <a:rPr lang="es-ES" sz="1600" baseline="-25000" dirty="0"/>
              <a:t>17</a:t>
            </a:r>
            <a:r>
              <a:rPr lang="es-ES" sz="1600" dirty="0"/>
              <a:t> y A</a:t>
            </a:r>
            <a:r>
              <a:rPr lang="es-ES" sz="1600" baseline="-25000" dirty="0"/>
              <a:t>16</a:t>
            </a:r>
            <a:r>
              <a:rPr lang="es-ES" sz="1600" dirty="0"/>
              <a:t> seleccionan</a:t>
            </a:r>
          </a:p>
          <a:p>
            <a:r>
              <a:rPr lang="es-ES" sz="1600" dirty="0"/>
              <a:t>el módulo</a:t>
            </a:r>
          </a:p>
        </p:txBody>
      </p:sp>
      <p:sp>
        <p:nvSpPr>
          <p:cNvPr id="104467" name="Rectangle 20"/>
          <p:cNvSpPr>
            <a:spLocks noChangeArrowheads="1"/>
          </p:cNvSpPr>
          <p:nvPr/>
        </p:nvSpPr>
        <p:spPr bwMode="auto">
          <a:xfrm>
            <a:off x="6084888" y="3355975"/>
            <a:ext cx="1373187" cy="552450"/>
          </a:xfrm>
          <a:prstGeom prst="rect">
            <a:avLst/>
          </a:prstGeom>
          <a:solidFill>
            <a:srgbClr val="0070C0"/>
          </a:solidFill>
          <a:ln w="28575">
            <a:solidFill>
              <a:schemeClr val="bg2"/>
            </a:solidFill>
            <a:miter lim="800000"/>
            <a:headEnd/>
            <a:tailEnd/>
          </a:ln>
        </p:spPr>
        <p:txBody>
          <a:bodyPr wrap="none" anchor="ctr"/>
          <a:lstStyle/>
          <a:p>
            <a:pPr>
              <a:spcBef>
                <a:spcPct val="20000"/>
              </a:spcBef>
            </a:pPr>
            <a:r>
              <a:rPr lang="es-ES" sz="2400">
                <a:solidFill>
                  <a:srgbClr val="000000"/>
                </a:solidFill>
              </a:rPr>
              <a:t>Libre</a:t>
            </a:r>
          </a:p>
        </p:txBody>
      </p:sp>
      <p:sp>
        <p:nvSpPr>
          <p:cNvPr id="104468" name="Rectangle 21"/>
          <p:cNvSpPr>
            <a:spLocks noChangeArrowheads="1"/>
          </p:cNvSpPr>
          <p:nvPr/>
        </p:nvSpPr>
        <p:spPr bwMode="auto">
          <a:xfrm>
            <a:off x="6084888" y="4508500"/>
            <a:ext cx="1373187" cy="1079500"/>
          </a:xfrm>
          <a:prstGeom prst="rect">
            <a:avLst/>
          </a:prstGeom>
          <a:solidFill>
            <a:schemeClr val="accent6">
              <a:lumMod val="60000"/>
              <a:lumOff val="40000"/>
            </a:schemeClr>
          </a:solidFill>
          <a:ln w="28575">
            <a:solidFill>
              <a:schemeClr val="bg2"/>
            </a:solidFill>
            <a:miter lim="800000"/>
            <a:headEnd/>
            <a:tailEnd/>
          </a:ln>
        </p:spPr>
        <p:txBody>
          <a:bodyPr wrap="none" anchor="ctr"/>
          <a:lstStyle/>
          <a:p>
            <a:pPr>
              <a:spcBef>
                <a:spcPct val="20000"/>
              </a:spcBef>
            </a:pPr>
            <a:r>
              <a:rPr lang="es-ES" sz="2400">
                <a:solidFill>
                  <a:srgbClr val="000000"/>
                </a:solidFill>
              </a:rPr>
              <a:t>Libre</a:t>
            </a:r>
          </a:p>
        </p:txBody>
      </p:sp>
      <p:grpSp>
        <p:nvGrpSpPr>
          <p:cNvPr id="3" name="Group 22"/>
          <p:cNvGrpSpPr>
            <a:grpSpLocks/>
          </p:cNvGrpSpPr>
          <p:nvPr/>
        </p:nvGrpSpPr>
        <p:grpSpPr bwMode="auto">
          <a:xfrm>
            <a:off x="684213" y="5805488"/>
            <a:ext cx="4140200" cy="457200"/>
            <a:chOff x="431" y="3657"/>
            <a:chExt cx="2608" cy="288"/>
          </a:xfrm>
        </p:grpSpPr>
        <p:sp>
          <p:nvSpPr>
            <p:cNvPr id="104470" name="Rectangle 23"/>
            <p:cNvSpPr>
              <a:spLocks noChangeArrowheads="1"/>
            </p:cNvSpPr>
            <p:nvPr/>
          </p:nvSpPr>
          <p:spPr bwMode="auto">
            <a:xfrm>
              <a:off x="431" y="3657"/>
              <a:ext cx="2608" cy="288"/>
            </a:xfrm>
            <a:prstGeom prst="rect">
              <a:avLst/>
            </a:prstGeom>
            <a:solidFill>
              <a:schemeClr val="accent5">
                <a:lumMod val="60000"/>
                <a:lumOff val="40000"/>
              </a:schemeClr>
            </a:solidFill>
            <a:ln w="28575">
              <a:noFill/>
              <a:miter lim="800000"/>
              <a:headEnd/>
              <a:tailEnd/>
            </a:ln>
          </p:spPr>
          <p:txBody>
            <a:bodyPr anchor="ctr">
              <a:spAutoFit/>
            </a:bodyPr>
            <a:lstStyle/>
            <a:p>
              <a:pPr>
                <a:spcBef>
                  <a:spcPct val="20000"/>
                </a:spcBef>
              </a:pPr>
              <a:r>
                <a:rPr lang="es-ES" dirty="0"/>
                <a:t>SEL</a:t>
              </a:r>
              <a:r>
                <a:rPr lang="es-ES" sz="2400" dirty="0"/>
                <a:t>= A</a:t>
              </a:r>
              <a:r>
                <a:rPr lang="es-ES" sz="2400" baseline="-25000" dirty="0"/>
                <a:t>17</a:t>
              </a:r>
              <a:r>
                <a:rPr lang="es-ES" sz="2400" dirty="0"/>
                <a:t> · A</a:t>
              </a:r>
              <a:r>
                <a:rPr lang="es-ES" sz="2400" baseline="-25000" dirty="0"/>
                <a:t>16</a:t>
              </a:r>
              <a:r>
                <a:rPr lang="es-ES" sz="2400" baseline="30000" dirty="0"/>
                <a:t>*</a:t>
              </a:r>
              <a:r>
                <a:rPr lang="es-ES" sz="2400" dirty="0"/>
                <a:t> = A</a:t>
              </a:r>
              <a:r>
                <a:rPr lang="es-ES" baseline="-25000" dirty="0"/>
                <a:t>17</a:t>
              </a:r>
              <a:r>
                <a:rPr lang="es-ES" sz="2400" dirty="0"/>
                <a:t> </a:t>
              </a:r>
              <a:r>
                <a:rPr lang="es-ES" sz="2400" baseline="30000" dirty="0"/>
                <a:t>*</a:t>
              </a:r>
              <a:r>
                <a:rPr lang="es-ES" sz="2400" dirty="0"/>
                <a:t>+ A</a:t>
              </a:r>
              <a:r>
                <a:rPr lang="es-ES" sz="2400" baseline="-25000" dirty="0"/>
                <a:t>16</a:t>
              </a:r>
              <a:endParaRPr lang="es-ES" sz="1800" baseline="30000" dirty="0"/>
            </a:p>
          </p:txBody>
        </p:sp>
        <p:sp>
          <p:nvSpPr>
            <p:cNvPr id="104471" name="Line 24"/>
            <p:cNvSpPr>
              <a:spLocks noChangeShapeType="1"/>
            </p:cNvSpPr>
            <p:nvPr/>
          </p:nvSpPr>
          <p:spPr bwMode="auto">
            <a:xfrm>
              <a:off x="2095" y="3694"/>
              <a:ext cx="862" cy="0"/>
            </a:xfrm>
            <a:prstGeom prst="line">
              <a:avLst/>
            </a:prstGeom>
            <a:noFill/>
            <a:ln w="28575">
              <a:solidFill>
                <a:schemeClr val="bg2"/>
              </a:solidFill>
              <a:round/>
              <a:headEnd/>
              <a:tailEnd/>
            </a:ln>
          </p:spPr>
          <p:txBody>
            <a:bodyPr lIns="0" tIns="0" rIns="0" bIns="0" anchor="ctr"/>
            <a:lstStyle/>
            <a:p>
              <a:endParaRPr lang="es-ES"/>
            </a:p>
          </p:txBody>
        </p:sp>
      </p:grpSp>
      <p:sp>
        <p:nvSpPr>
          <p:cNvPr id="4" name="2 Marcador de número de diapositiva">
            <a:extLst>
              <a:ext uri="{FF2B5EF4-FFF2-40B4-BE49-F238E27FC236}">
                <a16:creationId xmlns:a16="http://schemas.microsoft.com/office/drawing/2014/main" id="{927B2C61-7035-F08B-E66F-DBDD70F1E6AC}"/>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132</a:t>
            </a:fld>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12" name="Rectangle 51"/>
          <p:cNvSpPr>
            <a:spLocks noGrp="1" noChangeArrowheads="1"/>
          </p:cNvSpPr>
          <p:nvPr>
            <p:ph type="body" idx="1"/>
          </p:nvPr>
        </p:nvSpPr>
        <p:spPr/>
        <p:txBody>
          <a:bodyPr/>
          <a:lstStyle/>
          <a:p>
            <a:r>
              <a:rPr lang="es-ES" dirty="0"/>
              <a:t>Con puertas lógicas</a:t>
            </a:r>
          </a:p>
        </p:txBody>
      </p:sp>
      <p:sp>
        <p:nvSpPr>
          <p:cNvPr id="105475" name="Rectangle 2"/>
          <p:cNvSpPr>
            <a:spLocks noGrp="1" noChangeArrowheads="1"/>
          </p:cNvSpPr>
          <p:nvPr>
            <p:ph type="title"/>
          </p:nvPr>
        </p:nvSpPr>
        <p:spPr>
          <a:xfrm>
            <a:off x="575854" y="528684"/>
            <a:ext cx="8250237" cy="865187"/>
          </a:xfrm>
        </p:spPr>
        <p:txBody>
          <a:bodyPr/>
          <a:lstStyle/>
          <a:p>
            <a:r>
              <a:rPr lang="es-ES" sz="2000" dirty="0"/>
              <a:t>Detalle de la implementación física</a:t>
            </a:r>
          </a:p>
        </p:txBody>
      </p:sp>
      <p:grpSp>
        <p:nvGrpSpPr>
          <p:cNvPr id="8" name="7 Grupo"/>
          <p:cNvGrpSpPr/>
          <p:nvPr/>
        </p:nvGrpSpPr>
        <p:grpSpPr>
          <a:xfrm>
            <a:off x="1449003" y="1980936"/>
            <a:ext cx="7027045" cy="3842681"/>
            <a:chOff x="858068" y="1656263"/>
            <a:chExt cx="7027045" cy="3842681"/>
          </a:xfrm>
        </p:grpSpPr>
        <p:sp>
          <p:nvSpPr>
            <p:cNvPr id="105476" name="AutoShape 3"/>
            <p:cNvSpPr>
              <a:spLocks noChangeArrowheads="1"/>
            </p:cNvSpPr>
            <p:nvPr/>
          </p:nvSpPr>
          <p:spPr bwMode="ltGray">
            <a:xfrm>
              <a:off x="4459288" y="2133600"/>
              <a:ext cx="3425825" cy="1679575"/>
            </a:xfrm>
            <a:prstGeom prst="cube">
              <a:avLst>
                <a:gd name="adj" fmla="val 10356"/>
              </a:avLst>
            </a:prstGeom>
            <a:solidFill>
              <a:schemeClr val="bg1">
                <a:lumMod val="85000"/>
              </a:schemeClr>
            </a:solidFill>
            <a:ln w="28575">
              <a:solidFill>
                <a:schemeClr val="tx1">
                  <a:lumMod val="50000"/>
                  <a:lumOff val="50000"/>
                </a:schemeClr>
              </a:solidFill>
              <a:miter lim="800000"/>
              <a:headEnd/>
              <a:tailEnd/>
            </a:ln>
          </p:spPr>
          <p:txBody>
            <a:bodyPr wrap="none" anchor="ctr"/>
            <a:lstStyle/>
            <a:p>
              <a:pPr>
                <a:spcBef>
                  <a:spcPct val="20000"/>
                </a:spcBef>
              </a:pPr>
              <a:endParaRPr lang="es-ES_tradnl" sz="2400"/>
            </a:p>
          </p:txBody>
        </p:sp>
        <p:grpSp>
          <p:nvGrpSpPr>
            <p:cNvPr id="2" name="Group 4"/>
            <p:cNvGrpSpPr>
              <a:grpSpLocks/>
            </p:cNvGrpSpPr>
            <p:nvPr/>
          </p:nvGrpSpPr>
          <p:grpSpPr bwMode="auto">
            <a:xfrm>
              <a:off x="4532313" y="2790825"/>
              <a:ext cx="568325" cy="396875"/>
              <a:chOff x="1623" y="1200"/>
              <a:chExt cx="358" cy="250"/>
            </a:xfrm>
          </p:grpSpPr>
          <p:sp>
            <p:nvSpPr>
              <p:cNvPr id="105526" name="Text Box 5"/>
              <p:cNvSpPr txBox="1">
                <a:spLocks noChangeArrowheads="1"/>
              </p:cNvSpPr>
              <p:nvPr/>
            </p:nvSpPr>
            <p:spPr bwMode="auto">
              <a:xfrm>
                <a:off x="1623" y="1200"/>
                <a:ext cx="358" cy="250"/>
              </a:xfrm>
              <a:prstGeom prst="rect">
                <a:avLst/>
              </a:prstGeom>
              <a:noFill/>
              <a:ln w="28575">
                <a:noFill/>
                <a:miter lim="800000"/>
                <a:headEnd/>
                <a:tailEnd/>
              </a:ln>
            </p:spPr>
            <p:txBody>
              <a:bodyPr wrap="none" anchor="ctr">
                <a:spAutoFit/>
              </a:bodyPr>
              <a:lstStyle/>
              <a:p>
                <a:pPr>
                  <a:spcBef>
                    <a:spcPct val="20000"/>
                  </a:spcBef>
                </a:pPr>
                <a:r>
                  <a:rPr lang="es-ES_tradnl">
                    <a:latin typeface="Arial Narrow" pitchFamily="34" charset="0"/>
                  </a:rPr>
                  <a:t>CS </a:t>
                </a:r>
                <a:r>
                  <a:rPr lang="es-ES_tradnl" b="1" baseline="-25000">
                    <a:latin typeface="Arial Narrow" pitchFamily="34" charset="0"/>
                  </a:rPr>
                  <a:t> </a:t>
                </a:r>
                <a:endParaRPr lang="es-ES_tradnl"/>
              </a:p>
            </p:txBody>
          </p:sp>
          <p:sp>
            <p:nvSpPr>
              <p:cNvPr id="105527" name="Line 6"/>
              <p:cNvSpPr>
                <a:spLocks noChangeShapeType="1"/>
              </p:cNvSpPr>
              <p:nvPr/>
            </p:nvSpPr>
            <p:spPr bwMode="auto">
              <a:xfrm>
                <a:off x="1654" y="1248"/>
                <a:ext cx="240" cy="0"/>
              </a:xfrm>
              <a:prstGeom prst="line">
                <a:avLst/>
              </a:prstGeom>
              <a:noFill/>
              <a:ln w="19050">
                <a:solidFill>
                  <a:schemeClr val="tx1"/>
                </a:solidFill>
                <a:round/>
                <a:headEnd/>
                <a:tailEnd/>
              </a:ln>
            </p:spPr>
            <p:txBody>
              <a:bodyPr wrap="none" anchor="ctr"/>
              <a:lstStyle/>
              <a:p>
                <a:endParaRPr lang="es-ES"/>
              </a:p>
            </p:txBody>
          </p:sp>
        </p:grpSp>
        <p:sp>
          <p:nvSpPr>
            <p:cNvPr id="105478" name="Text Box 7"/>
            <p:cNvSpPr txBox="1">
              <a:spLocks noChangeArrowheads="1"/>
            </p:cNvSpPr>
            <p:nvPr/>
          </p:nvSpPr>
          <p:spPr bwMode="auto">
            <a:xfrm>
              <a:off x="4459288" y="3402013"/>
              <a:ext cx="1131887"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b="1" dirty="0">
                  <a:latin typeface="Arial Narrow" pitchFamily="34" charset="0"/>
                </a:rPr>
                <a:t>Dirección</a:t>
              </a:r>
              <a:endParaRPr lang="es-ES_tradnl" sz="2400" dirty="0">
                <a:latin typeface="Arial Narrow" pitchFamily="34" charset="0"/>
              </a:endParaRPr>
            </a:p>
          </p:txBody>
        </p:sp>
        <p:sp>
          <p:nvSpPr>
            <p:cNvPr id="105479" name="Line 8"/>
            <p:cNvSpPr>
              <a:spLocks noChangeShapeType="1"/>
            </p:cNvSpPr>
            <p:nvPr/>
          </p:nvSpPr>
          <p:spPr bwMode="auto">
            <a:xfrm>
              <a:off x="6135688" y="3813175"/>
              <a:ext cx="0" cy="533400"/>
            </a:xfrm>
            <a:prstGeom prst="line">
              <a:avLst/>
            </a:prstGeom>
            <a:noFill/>
            <a:ln w="38100">
              <a:solidFill>
                <a:schemeClr val="accent3">
                  <a:lumMod val="60000"/>
                  <a:lumOff val="40000"/>
                </a:schemeClr>
              </a:solidFill>
              <a:round/>
              <a:headEnd type="triangle" w="med" len="med"/>
              <a:tailEnd type="triangle" w="med" len="med"/>
            </a:ln>
          </p:spPr>
          <p:txBody>
            <a:bodyPr wrap="none" anchor="ctr"/>
            <a:lstStyle/>
            <a:p>
              <a:endParaRPr lang="es-ES"/>
            </a:p>
          </p:txBody>
        </p:sp>
        <p:sp>
          <p:nvSpPr>
            <p:cNvPr id="105480" name="Line 9"/>
            <p:cNvSpPr>
              <a:spLocks noChangeShapeType="1"/>
            </p:cNvSpPr>
            <p:nvPr/>
          </p:nvSpPr>
          <p:spPr bwMode="auto">
            <a:xfrm>
              <a:off x="4002088" y="3565525"/>
              <a:ext cx="457200" cy="0"/>
            </a:xfrm>
            <a:prstGeom prst="line">
              <a:avLst/>
            </a:prstGeom>
            <a:noFill/>
            <a:ln w="38100">
              <a:solidFill>
                <a:srgbClr val="0070C0"/>
              </a:solidFill>
              <a:round/>
              <a:headEnd/>
              <a:tailEnd type="triangle" w="med" len="med"/>
            </a:ln>
          </p:spPr>
          <p:txBody>
            <a:bodyPr wrap="none" anchor="ctr"/>
            <a:lstStyle/>
            <a:p>
              <a:endParaRPr lang="es-ES"/>
            </a:p>
          </p:txBody>
        </p:sp>
        <p:sp>
          <p:nvSpPr>
            <p:cNvPr id="105481" name="Line 10"/>
            <p:cNvSpPr>
              <a:spLocks noChangeShapeType="1"/>
            </p:cNvSpPr>
            <p:nvPr/>
          </p:nvSpPr>
          <p:spPr bwMode="auto">
            <a:xfrm>
              <a:off x="5526088" y="2060575"/>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82" name="Text Box 11"/>
            <p:cNvSpPr txBox="1">
              <a:spLocks noChangeArrowheads="1"/>
            </p:cNvSpPr>
            <p:nvPr/>
          </p:nvSpPr>
          <p:spPr bwMode="auto">
            <a:xfrm>
              <a:off x="5521325" y="2838450"/>
              <a:ext cx="1443038" cy="519113"/>
            </a:xfrm>
            <a:prstGeom prst="rect">
              <a:avLst/>
            </a:prstGeom>
            <a:noFill/>
            <a:ln w="28575">
              <a:noFill/>
              <a:miter lim="800000"/>
              <a:headEnd/>
              <a:tailEnd/>
            </a:ln>
          </p:spPr>
          <p:txBody>
            <a:bodyPr wrap="none" anchor="ctr">
              <a:spAutoFit/>
            </a:bodyPr>
            <a:lstStyle/>
            <a:p>
              <a:pPr>
                <a:spcBef>
                  <a:spcPct val="20000"/>
                </a:spcBef>
              </a:pPr>
              <a:r>
                <a:rPr lang="es-ES_tradnl" sz="2800" b="1"/>
                <a:t>16K×32</a:t>
              </a:r>
            </a:p>
          </p:txBody>
        </p:sp>
        <p:sp>
          <p:nvSpPr>
            <p:cNvPr id="105483" name="Line 12"/>
            <p:cNvSpPr>
              <a:spLocks noChangeShapeType="1"/>
            </p:cNvSpPr>
            <p:nvPr/>
          </p:nvSpPr>
          <p:spPr bwMode="auto">
            <a:xfrm flipH="1">
              <a:off x="3163888" y="3736975"/>
              <a:ext cx="144462" cy="301625"/>
            </a:xfrm>
            <a:prstGeom prst="line">
              <a:avLst/>
            </a:prstGeom>
            <a:noFill/>
            <a:ln w="28575">
              <a:solidFill>
                <a:srgbClr val="0070C0"/>
              </a:solidFill>
              <a:round/>
              <a:headEnd/>
              <a:tailEnd/>
            </a:ln>
          </p:spPr>
          <p:txBody>
            <a:bodyPr wrap="none" anchor="ctr"/>
            <a:lstStyle/>
            <a:p>
              <a:endParaRPr lang="es-ES"/>
            </a:p>
          </p:txBody>
        </p:sp>
        <p:sp>
          <p:nvSpPr>
            <p:cNvPr id="105484" name="Line 13"/>
            <p:cNvSpPr>
              <a:spLocks noChangeShapeType="1"/>
            </p:cNvSpPr>
            <p:nvPr/>
          </p:nvSpPr>
          <p:spPr bwMode="auto">
            <a:xfrm flipV="1">
              <a:off x="5983288" y="4041775"/>
              <a:ext cx="304800" cy="76200"/>
            </a:xfrm>
            <a:prstGeom prst="line">
              <a:avLst/>
            </a:prstGeom>
            <a:noFill/>
            <a:ln w="28575">
              <a:solidFill>
                <a:schemeClr val="accent3">
                  <a:lumMod val="60000"/>
                  <a:lumOff val="40000"/>
                </a:schemeClr>
              </a:solidFill>
              <a:round/>
              <a:headEnd/>
              <a:tailEnd/>
            </a:ln>
          </p:spPr>
          <p:txBody>
            <a:bodyPr wrap="none" anchor="ctr"/>
            <a:lstStyle/>
            <a:p>
              <a:endParaRPr lang="es-ES"/>
            </a:p>
          </p:txBody>
        </p:sp>
        <p:sp>
          <p:nvSpPr>
            <p:cNvPr id="105485" name="Text Box 14"/>
            <p:cNvSpPr txBox="1">
              <a:spLocks noChangeArrowheads="1"/>
            </p:cNvSpPr>
            <p:nvPr/>
          </p:nvSpPr>
          <p:spPr bwMode="auto">
            <a:xfrm>
              <a:off x="5730875" y="3478213"/>
              <a:ext cx="763588"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b="1">
                  <a:latin typeface="Arial Narrow" pitchFamily="34" charset="0"/>
                </a:rPr>
                <a:t>Datos</a:t>
              </a:r>
              <a:endParaRPr lang="es-ES_tradnl" sz="2400">
                <a:latin typeface="Arial Narrow" pitchFamily="34" charset="0"/>
              </a:endParaRPr>
            </a:p>
          </p:txBody>
        </p:sp>
        <p:sp>
          <p:nvSpPr>
            <p:cNvPr id="105486" name="Text Box 15"/>
            <p:cNvSpPr txBox="1">
              <a:spLocks noChangeArrowheads="1"/>
            </p:cNvSpPr>
            <p:nvPr/>
          </p:nvSpPr>
          <p:spPr bwMode="auto">
            <a:xfrm>
              <a:off x="6288088" y="3889375"/>
              <a:ext cx="466725" cy="396875"/>
            </a:xfrm>
            <a:prstGeom prst="rect">
              <a:avLst/>
            </a:prstGeom>
            <a:noFill/>
            <a:ln w="28575">
              <a:noFill/>
              <a:miter lim="800000"/>
              <a:headEnd/>
              <a:tailEnd/>
            </a:ln>
          </p:spPr>
          <p:txBody>
            <a:bodyPr wrap="none" anchor="ctr">
              <a:spAutoFit/>
            </a:bodyPr>
            <a:lstStyle/>
            <a:p>
              <a:pPr>
                <a:spcBef>
                  <a:spcPct val="20000"/>
                </a:spcBef>
              </a:pPr>
              <a:r>
                <a:rPr lang="es-ES_tradnl"/>
                <a:t>32</a:t>
              </a:r>
            </a:p>
          </p:txBody>
        </p:sp>
        <p:sp>
          <p:nvSpPr>
            <p:cNvPr id="105487" name="Line 16"/>
            <p:cNvSpPr>
              <a:spLocks noChangeShapeType="1"/>
            </p:cNvSpPr>
            <p:nvPr/>
          </p:nvSpPr>
          <p:spPr bwMode="auto">
            <a:xfrm>
              <a:off x="6135688" y="2060575"/>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88" name="Line 17"/>
            <p:cNvSpPr>
              <a:spLocks noChangeShapeType="1"/>
            </p:cNvSpPr>
            <p:nvPr/>
          </p:nvSpPr>
          <p:spPr bwMode="auto">
            <a:xfrm>
              <a:off x="6745288" y="2060575"/>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89" name="Line 18"/>
            <p:cNvSpPr>
              <a:spLocks noChangeShapeType="1"/>
            </p:cNvSpPr>
            <p:nvPr/>
          </p:nvSpPr>
          <p:spPr bwMode="auto">
            <a:xfrm>
              <a:off x="7354888" y="2060575"/>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90" name="Line 19"/>
            <p:cNvSpPr>
              <a:spLocks noChangeShapeType="1"/>
            </p:cNvSpPr>
            <p:nvPr/>
          </p:nvSpPr>
          <p:spPr bwMode="auto">
            <a:xfrm>
              <a:off x="4002088" y="3248025"/>
              <a:ext cx="457200" cy="0"/>
            </a:xfrm>
            <a:prstGeom prst="line">
              <a:avLst/>
            </a:prstGeom>
            <a:noFill/>
            <a:ln w="28575">
              <a:solidFill>
                <a:schemeClr val="accent6">
                  <a:lumMod val="75000"/>
                </a:schemeClr>
              </a:solidFill>
              <a:round/>
              <a:headEnd/>
              <a:tailEnd type="triangle" w="med" len="med"/>
            </a:ln>
          </p:spPr>
          <p:txBody>
            <a:bodyPr wrap="none" anchor="ctr"/>
            <a:lstStyle/>
            <a:p>
              <a:endParaRPr lang="es-ES"/>
            </a:p>
          </p:txBody>
        </p:sp>
        <p:sp>
          <p:nvSpPr>
            <p:cNvPr id="105491" name="Text Box 20"/>
            <p:cNvSpPr txBox="1">
              <a:spLocks noChangeArrowheads="1"/>
            </p:cNvSpPr>
            <p:nvPr/>
          </p:nvSpPr>
          <p:spPr bwMode="auto">
            <a:xfrm>
              <a:off x="4476750" y="3095625"/>
              <a:ext cx="984250"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a:latin typeface="Arial Narrow" pitchFamily="34" charset="0"/>
                </a:rPr>
                <a:t>Órdenes</a:t>
              </a:r>
              <a:endParaRPr lang="es-ES_tradnl" sz="2400">
                <a:latin typeface="Arial Narrow" pitchFamily="34" charset="0"/>
              </a:endParaRPr>
            </a:p>
          </p:txBody>
        </p:sp>
        <p:sp>
          <p:nvSpPr>
            <p:cNvPr id="105492" name="Line 21"/>
            <p:cNvSpPr>
              <a:spLocks noChangeShapeType="1"/>
            </p:cNvSpPr>
            <p:nvPr/>
          </p:nvSpPr>
          <p:spPr bwMode="auto">
            <a:xfrm>
              <a:off x="4002088" y="2670175"/>
              <a:ext cx="457200" cy="0"/>
            </a:xfrm>
            <a:prstGeom prst="line">
              <a:avLst/>
            </a:prstGeom>
            <a:noFill/>
            <a:ln w="28575">
              <a:solidFill>
                <a:schemeClr val="accent6">
                  <a:lumMod val="75000"/>
                </a:schemeClr>
              </a:solidFill>
              <a:round/>
              <a:headEnd/>
              <a:tailEnd type="triangle" w="med" len="med"/>
            </a:ln>
          </p:spPr>
          <p:txBody>
            <a:bodyPr wrap="none" anchor="ctr"/>
            <a:lstStyle/>
            <a:p>
              <a:endParaRPr lang="es-ES"/>
            </a:p>
          </p:txBody>
        </p:sp>
        <p:sp>
          <p:nvSpPr>
            <p:cNvPr id="105493" name="Text Box 22"/>
            <p:cNvSpPr txBox="1">
              <a:spLocks noChangeArrowheads="1"/>
            </p:cNvSpPr>
            <p:nvPr/>
          </p:nvSpPr>
          <p:spPr bwMode="auto">
            <a:xfrm>
              <a:off x="4476750" y="2517775"/>
              <a:ext cx="496888"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a:latin typeface="Arial Narrow" pitchFamily="34" charset="0"/>
                </a:rPr>
                <a:t>Rel</a:t>
              </a:r>
              <a:endParaRPr lang="es-ES_tradnl" sz="2400">
                <a:latin typeface="Arial Narrow" pitchFamily="34" charset="0"/>
              </a:endParaRPr>
            </a:p>
          </p:txBody>
        </p:sp>
        <p:grpSp>
          <p:nvGrpSpPr>
            <p:cNvPr id="3" name="Group 23"/>
            <p:cNvGrpSpPr>
              <a:grpSpLocks/>
            </p:cNvGrpSpPr>
            <p:nvPr/>
          </p:nvGrpSpPr>
          <p:grpSpPr bwMode="auto">
            <a:xfrm>
              <a:off x="5141914" y="2439990"/>
              <a:ext cx="754063" cy="400050"/>
              <a:chOff x="1276" y="1871"/>
              <a:chExt cx="475" cy="252"/>
            </a:xfrm>
          </p:grpSpPr>
          <p:sp>
            <p:nvSpPr>
              <p:cNvPr id="105524" name="Text Box 24"/>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3</a:t>
                </a:r>
                <a:endParaRPr lang="es-ES_tradnl" dirty="0"/>
              </a:p>
            </p:txBody>
          </p:sp>
          <p:sp>
            <p:nvSpPr>
              <p:cNvPr id="105525" name="Line 25"/>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4" name="Group 26"/>
            <p:cNvGrpSpPr>
              <a:grpSpLocks/>
            </p:cNvGrpSpPr>
            <p:nvPr/>
          </p:nvGrpSpPr>
          <p:grpSpPr bwMode="auto">
            <a:xfrm>
              <a:off x="5791201" y="2439988"/>
              <a:ext cx="754063" cy="400050"/>
              <a:chOff x="1276" y="1871"/>
              <a:chExt cx="475" cy="252"/>
            </a:xfrm>
          </p:grpSpPr>
          <p:sp>
            <p:nvSpPr>
              <p:cNvPr id="105522" name="Text Box 27"/>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2</a:t>
                </a:r>
                <a:endParaRPr lang="es-ES_tradnl" dirty="0"/>
              </a:p>
            </p:txBody>
          </p:sp>
          <p:sp>
            <p:nvSpPr>
              <p:cNvPr id="105523" name="Line 28"/>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5" name="Group 29"/>
            <p:cNvGrpSpPr>
              <a:grpSpLocks/>
            </p:cNvGrpSpPr>
            <p:nvPr/>
          </p:nvGrpSpPr>
          <p:grpSpPr bwMode="auto">
            <a:xfrm>
              <a:off x="6369051" y="2439988"/>
              <a:ext cx="754063" cy="400050"/>
              <a:chOff x="1276" y="1871"/>
              <a:chExt cx="475" cy="252"/>
            </a:xfrm>
          </p:grpSpPr>
          <p:sp>
            <p:nvSpPr>
              <p:cNvPr id="105520" name="Text Box 30"/>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1</a:t>
                </a:r>
                <a:endParaRPr lang="es-ES_tradnl" dirty="0"/>
              </a:p>
            </p:txBody>
          </p:sp>
          <p:sp>
            <p:nvSpPr>
              <p:cNvPr id="105521" name="Line 31"/>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sp>
          <p:nvSpPr>
            <p:cNvPr id="105519" name="Line 34"/>
            <p:cNvSpPr>
              <a:spLocks noChangeShapeType="1"/>
            </p:cNvSpPr>
            <p:nvPr/>
          </p:nvSpPr>
          <p:spPr bwMode="auto">
            <a:xfrm>
              <a:off x="6486525" y="2517775"/>
              <a:ext cx="457200" cy="0"/>
            </a:xfrm>
            <a:prstGeom prst="line">
              <a:avLst/>
            </a:prstGeom>
            <a:noFill/>
            <a:ln w="19050">
              <a:solidFill>
                <a:schemeClr val="tx1"/>
              </a:solidFill>
              <a:round/>
              <a:headEnd/>
              <a:tailEnd/>
            </a:ln>
          </p:spPr>
          <p:txBody>
            <a:bodyPr wrap="none" anchor="ctr"/>
            <a:lstStyle/>
            <a:p>
              <a:endParaRPr lang="es-ES"/>
            </a:p>
          </p:txBody>
        </p:sp>
        <p:grpSp>
          <p:nvGrpSpPr>
            <p:cNvPr id="6" name="Group 35"/>
            <p:cNvGrpSpPr>
              <a:grpSpLocks/>
            </p:cNvGrpSpPr>
            <p:nvPr/>
          </p:nvGrpSpPr>
          <p:grpSpPr bwMode="auto">
            <a:xfrm>
              <a:off x="6931026" y="2439988"/>
              <a:ext cx="754063" cy="400050"/>
              <a:chOff x="1276" y="1871"/>
              <a:chExt cx="475" cy="252"/>
            </a:xfrm>
          </p:grpSpPr>
          <p:sp>
            <p:nvSpPr>
              <p:cNvPr id="105516" name="Text Box 36"/>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0</a:t>
                </a:r>
                <a:endParaRPr lang="es-ES_tradnl" dirty="0"/>
              </a:p>
            </p:txBody>
          </p:sp>
          <p:sp>
            <p:nvSpPr>
              <p:cNvPr id="105517" name="Line 37"/>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sp>
          <p:nvSpPr>
            <p:cNvPr id="105499" name="Oval 38"/>
            <p:cNvSpPr>
              <a:spLocks noChangeArrowheads="1"/>
            </p:cNvSpPr>
            <p:nvPr/>
          </p:nvSpPr>
          <p:spPr bwMode="auto">
            <a:xfrm>
              <a:off x="2227263" y="2297113"/>
              <a:ext cx="1295400" cy="1223962"/>
            </a:xfrm>
            <a:prstGeom prst="ellipse">
              <a:avLst/>
            </a:prstGeom>
            <a:solidFill>
              <a:schemeClr val="accent3">
                <a:lumMod val="20000"/>
                <a:lumOff val="80000"/>
              </a:schemeClr>
            </a:solidFill>
            <a:ln w="57150" cap="rnd">
              <a:solidFill>
                <a:srgbClr val="996600"/>
              </a:solidFill>
              <a:prstDash val="sysDot"/>
              <a:round/>
              <a:headEnd/>
              <a:tailEnd/>
            </a:ln>
          </p:spPr>
          <p:txBody>
            <a:bodyPr wrap="none" anchor="ctr"/>
            <a:lstStyle/>
            <a:p>
              <a:endParaRPr lang="es-ES"/>
            </a:p>
          </p:txBody>
        </p:sp>
        <p:sp>
          <p:nvSpPr>
            <p:cNvPr id="105500" name="Rectangle 39"/>
            <p:cNvSpPr>
              <a:spLocks noChangeArrowheads="1"/>
            </p:cNvSpPr>
            <p:nvPr/>
          </p:nvSpPr>
          <p:spPr bwMode="auto">
            <a:xfrm>
              <a:off x="1219200" y="2487613"/>
              <a:ext cx="685800" cy="400752"/>
            </a:xfrm>
            <a:prstGeom prst="rect">
              <a:avLst/>
            </a:prstGeom>
            <a:noFill/>
            <a:ln w="25400">
              <a:noFill/>
              <a:miter lim="800000"/>
              <a:headEnd/>
              <a:tailEnd/>
            </a:ln>
          </p:spPr>
          <p:txBody>
            <a:bodyPr lIns="92075" tIns="46038" rIns="92075" bIns="46038">
              <a:spAutoFit/>
            </a:bodyPr>
            <a:lstStyle/>
            <a:p>
              <a:pPr algn="l"/>
              <a:r>
                <a:rPr lang="es-ES_tradnl" dirty="0">
                  <a:solidFill>
                    <a:schemeClr val="tx2"/>
                  </a:solidFill>
                </a:rPr>
                <a:t>A</a:t>
              </a:r>
              <a:r>
                <a:rPr lang="es-ES_tradnl" baseline="-25000" dirty="0">
                  <a:solidFill>
                    <a:schemeClr val="tx2"/>
                  </a:solidFill>
                </a:rPr>
                <a:t>17</a:t>
              </a:r>
            </a:p>
          </p:txBody>
        </p:sp>
        <p:sp>
          <p:nvSpPr>
            <p:cNvPr id="105501" name="Rectangle 40"/>
            <p:cNvSpPr>
              <a:spLocks noChangeArrowheads="1"/>
            </p:cNvSpPr>
            <p:nvPr/>
          </p:nvSpPr>
          <p:spPr bwMode="auto">
            <a:xfrm>
              <a:off x="1219200" y="2792413"/>
              <a:ext cx="685800" cy="400752"/>
            </a:xfrm>
            <a:prstGeom prst="rect">
              <a:avLst/>
            </a:prstGeom>
            <a:noFill/>
            <a:ln w="25400">
              <a:noFill/>
              <a:miter lim="800000"/>
              <a:headEnd/>
              <a:tailEnd/>
            </a:ln>
          </p:spPr>
          <p:txBody>
            <a:bodyPr lIns="92075" tIns="46038" rIns="92075" bIns="46038">
              <a:spAutoFit/>
            </a:bodyPr>
            <a:lstStyle/>
            <a:p>
              <a:pPr algn="l"/>
              <a:r>
                <a:rPr lang="es-ES_tradnl" dirty="0">
                  <a:solidFill>
                    <a:schemeClr val="tx2"/>
                  </a:solidFill>
                </a:rPr>
                <a:t>A</a:t>
              </a:r>
              <a:r>
                <a:rPr lang="es-ES_tradnl" baseline="-25000" dirty="0">
                  <a:solidFill>
                    <a:schemeClr val="tx2"/>
                  </a:solidFill>
                </a:rPr>
                <a:t>16</a:t>
              </a:r>
            </a:p>
          </p:txBody>
        </p:sp>
        <p:sp>
          <p:nvSpPr>
            <p:cNvPr id="105502" name="AutoShape 41"/>
            <p:cNvSpPr>
              <a:spLocks noChangeArrowheads="1"/>
            </p:cNvSpPr>
            <p:nvPr/>
          </p:nvSpPr>
          <p:spPr bwMode="auto">
            <a:xfrm>
              <a:off x="2525713" y="2716213"/>
              <a:ext cx="457200" cy="457200"/>
            </a:xfrm>
            <a:prstGeom prst="flowChartDelay">
              <a:avLst/>
            </a:prstGeom>
            <a:noFill/>
            <a:ln w="28575">
              <a:solidFill>
                <a:schemeClr val="tx2"/>
              </a:solidFill>
              <a:miter lim="800000"/>
              <a:headEnd/>
              <a:tailEnd/>
            </a:ln>
          </p:spPr>
          <p:txBody>
            <a:bodyPr wrap="none" anchor="ctr"/>
            <a:lstStyle/>
            <a:p>
              <a:endParaRPr lang="es-ES"/>
            </a:p>
          </p:txBody>
        </p:sp>
        <p:sp>
          <p:nvSpPr>
            <p:cNvPr id="105503" name="Oval 42"/>
            <p:cNvSpPr>
              <a:spLocks noChangeArrowheads="1"/>
            </p:cNvSpPr>
            <p:nvPr/>
          </p:nvSpPr>
          <p:spPr bwMode="auto">
            <a:xfrm>
              <a:off x="2982913" y="2901950"/>
              <a:ext cx="61912" cy="57150"/>
            </a:xfrm>
            <a:prstGeom prst="ellipse">
              <a:avLst/>
            </a:prstGeom>
            <a:noFill/>
            <a:ln w="25400">
              <a:solidFill>
                <a:schemeClr val="tx2"/>
              </a:solidFill>
              <a:round/>
              <a:headEnd/>
              <a:tailEnd/>
            </a:ln>
          </p:spPr>
          <p:txBody>
            <a:bodyPr wrap="none" anchor="ctr"/>
            <a:lstStyle/>
            <a:p>
              <a:endParaRPr lang="es-ES"/>
            </a:p>
          </p:txBody>
        </p:sp>
        <p:sp>
          <p:nvSpPr>
            <p:cNvPr id="105504" name="Line 43"/>
            <p:cNvSpPr>
              <a:spLocks noChangeShapeType="1"/>
            </p:cNvSpPr>
            <p:nvPr/>
          </p:nvSpPr>
          <p:spPr bwMode="auto">
            <a:xfrm flipV="1">
              <a:off x="1939925" y="2792413"/>
              <a:ext cx="576263" cy="9525"/>
            </a:xfrm>
            <a:prstGeom prst="line">
              <a:avLst/>
            </a:prstGeom>
            <a:noFill/>
            <a:ln w="28575">
              <a:solidFill>
                <a:schemeClr val="accent6">
                  <a:lumMod val="75000"/>
                </a:schemeClr>
              </a:solidFill>
              <a:round/>
              <a:headEnd/>
              <a:tailEnd/>
            </a:ln>
          </p:spPr>
          <p:txBody>
            <a:bodyPr wrap="none" anchor="ctr"/>
            <a:lstStyle/>
            <a:p>
              <a:endParaRPr lang="es-ES"/>
            </a:p>
          </p:txBody>
        </p:sp>
        <p:sp>
          <p:nvSpPr>
            <p:cNvPr id="105505" name="Oval 44"/>
            <p:cNvSpPr>
              <a:spLocks noChangeArrowheads="1"/>
            </p:cNvSpPr>
            <p:nvPr/>
          </p:nvSpPr>
          <p:spPr bwMode="auto">
            <a:xfrm>
              <a:off x="2439988" y="3054350"/>
              <a:ext cx="61912" cy="57150"/>
            </a:xfrm>
            <a:prstGeom prst="ellipse">
              <a:avLst/>
            </a:prstGeom>
            <a:noFill/>
            <a:ln w="25400">
              <a:solidFill>
                <a:schemeClr val="tx2"/>
              </a:solidFill>
              <a:round/>
              <a:headEnd/>
              <a:tailEnd/>
            </a:ln>
          </p:spPr>
          <p:txBody>
            <a:bodyPr wrap="none" anchor="ctr"/>
            <a:lstStyle/>
            <a:p>
              <a:endParaRPr lang="es-ES"/>
            </a:p>
          </p:txBody>
        </p:sp>
        <p:sp>
          <p:nvSpPr>
            <p:cNvPr id="105506" name="Line 45"/>
            <p:cNvSpPr>
              <a:spLocks noChangeShapeType="1"/>
            </p:cNvSpPr>
            <p:nvPr/>
          </p:nvSpPr>
          <p:spPr bwMode="auto">
            <a:xfrm>
              <a:off x="1939925" y="3089275"/>
              <a:ext cx="500063" cy="7938"/>
            </a:xfrm>
            <a:prstGeom prst="line">
              <a:avLst/>
            </a:prstGeom>
            <a:noFill/>
            <a:ln w="28575">
              <a:solidFill>
                <a:schemeClr val="accent6">
                  <a:lumMod val="75000"/>
                </a:schemeClr>
              </a:solidFill>
              <a:round/>
              <a:headEnd/>
              <a:tailEnd/>
            </a:ln>
          </p:spPr>
          <p:txBody>
            <a:bodyPr wrap="none" anchor="ctr"/>
            <a:lstStyle/>
            <a:p>
              <a:endParaRPr lang="es-ES"/>
            </a:p>
          </p:txBody>
        </p:sp>
        <p:sp>
          <p:nvSpPr>
            <p:cNvPr id="105507" name="Line 46"/>
            <p:cNvSpPr>
              <a:spLocks noChangeShapeType="1"/>
            </p:cNvSpPr>
            <p:nvPr/>
          </p:nvSpPr>
          <p:spPr bwMode="auto">
            <a:xfrm>
              <a:off x="3040063" y="2935288"/>
              <a:ext cx="195262" cy="9525"/>
            </a:xfrm>
            <a:prstGeom prst="line">
              <a:avLst/>
            </a:prstGeom>
            <a:noFill/>
            <a:ln w="28575">
              <a:solidFill>
                <a:srgbClr val="FFFF00"/>
              </a:solidFill>
              <a:round/>
              <a:headEnd/>
              <a:tailEnd/>
            </a:ln>
          </p:spPr>
          <p:txBody>
            <a:bodyPr wrap="none" anchor="ctr"/>
            <a:lstStyle/>
            <a:p>
              <a:endParaRPr lang="es-ES"/>
            </a:p>
          </p:txBody>
        </p:sp>
        <p:sp>
          <p:nvSpPr>
            <p:cNvPr id="105508" name="Line 47"/>
            <p:cNvSpPr>
              <a:spLocks noChangeShapeType="1"/>
            </p:cNvSpPr>
            <p:nvPr/>
          </p:nvSpPr>
          <p:spPr bwMode="auto">
            <a:xfrm flipV="1">
              <a:off x="3235325" y="2943225"/>
              <a:ext cx="1223963" cy="1588"/>
            </a:xfrm>
            <a:prstGeom prst="line">
              <a:avLst/>
            </a:prstGeom>
            <a:noFill/>
            <a:ln w="28575">
              <a:solidFill>
                <a:schemeClr val="accent6">
                  <a:lumMod val="75000"/>
                </a:schemeClr>
              </a:solidFill>
              <a:round/>
              <a:headEnd/>
              <a:tailEnd type="triangle" w="med" len="med"/>
            </a:ln>
          </p:spPr>
          <p:txBody>
            <a:bodyPr wrap="none" anchor="ctr"/>
            <a:lstStyle/>
            <a:p>
              <a:endParaRPr lang="es-ES"/>
            </a:p>
          </p:txBody>
        </p:sp>
        <p:sp>
          <p:nvSpPr>
            <p:cNvPr id="105509" name="Line 48"/>
            <p:cNvSpPr>
              <a:spLocks noChangeShapeType="1"/>
            </p:cNvSpPr>
            <p:nvPr/>
          </p:nvSpPr>
          <p:spPr bwMode="auto">
            <a:xfrm>
              <a:off x="1506538" y="3881438"/>
              <a:ext cx="2520950" cy="0"/>
            </a:xfrm>
            <a:prstGeom prst="line">
              <a:avLst/>
            </a:prstGeom>
            <a:noFill/>
            <a:ln w="38100">
              <a:solidFill>
                <a:srgbClr val="0070C0"/>
              </a:solidFill>
              <a:round/>
              <a:headEnd/>
              <a:tailEnd/>
            </a:ln>
          </p:spPr>
          <p:txBody>
            <a:bodyPr wrap="none" anchor="ctr"/>
            <a:lstStyle/>
            <a:p>
              <a:endParaRPr lang="es-ES"/>
            </a:p>
          </p:txBody>
        </p:sp>
        <p:sp>
          <p:nvSpPr>
            <p:cNvPr id="105510" name="Line 49"/>
            <p:cNvSpPr>
              <a:spLocks noChangeShapeType="1"/>
            </p:cNvSpPr>
            <p:nvPr/>
          </p:nvSpPr>
          <p:spPr bwMode="auto">
            <a:xfrm flipV="1">
              <a:off x="4006850" y="3546475"/>
              <a:ext cx="0" cy="358775"/>
            </a:xfrm>
            <a:prstGeom prst="line">
              <a:avLst/>
            </a:prstGeom>
            <a:noFill/>
            <a:ln w="38100">
              <a:solidFill>
                <a:srgbClr val="0070C0"/>
              </a:solidFill>
              <a:round/>
              <a:headEnd/>
              <a:tailEnd/>
            </a:ln>
          </p:spPr>
          <p:txBody>
            <a:bodyPr wrap="none" anchor="ctr"/>
            <a:lstStyle/>
            <a:p>
              <a:endParaRPr lang="es-ES"/>
            </a:p>
          </p:txBody>
        </p:sp>
        <p:sp>
          <p:nvSpPr>
            <p:cNvPr id="105511" name="Rectangle 50"/>
            <p:cNvSpPr>
              <a:spLocks noChangeArrowheads="1"/>
            </p:cNvSpPr>
            <p:nvPr/>
          </p:nvSpPr>
          <p:spPr bwMode="auto">
            <a:xfrm>
              <a:off x="931863" y="4168775"/>
              <a:ext cx="3168650" cy="369974"/>
            </a:xfrm>
            <a:prstGeom prst="rect">
              <a:avLst/>
            </a:prstGeom>
            <a:noFill/>
            <a:ln w="25400">
              <a:noFill/>
              <a:miter lim="800000"/>
              <a:headEnd/>
              <a:tailEnd/>
            </a:ln>
          </p:spPr>
          <p:txBody>
            <a:bodyPr lIns="92075" tIns="46038" rIns="92075" bIns="46038">
              <a:spAutoFit/>
            </a:bodyPr>
            <a:lstStyle/>
            <a:p>
              <a:pPr algn="l"/>
              <a:r>
                <a:rPr lang="es-ES_tradnl" sz="1800" dirty="0">
                  <a:solidFill>
                    <a:schemeClr val="tx2"/>
                  </a:solidFill>
                </a:rPr>
                <a:t>A</a:t>
              </a:r>
              <a:r>
                <a:rPr lang="es-ES_tradnl" sz="1800" baseline="-25000" dirty="0">
                  <a:solidFill>
                    <a:schemeClr val="tx2"/>
                  </a:solidFill>
                </a:rPr>
                <a:t>15</a:t>
              </a:r>
              <a:r>
                <a:rPr lang="es-ES_tradnl" sz="1800" dirty="0">
                  <a:solidFill>
                    <a:schemeClr val="tx2"/>
                  </a:solidFill>
                </a:rPr>
                <a:t>A</a:t>
              </a:r>
              <a:r>
                <a:rPr lang="es-ES_tradnl" sz="1800" baseline="-25000" dirty="0">
                  <a:solidFill>
                    <a:schemeClr val="tx2"/>
                  </a:solidFill>
                </a:rPr>
                <a:t>14</a:t>
              </a:r>
              <a:r>
                <a:rPr lang="es-ES_tradnl" sz="1800" dirty="0">
                  <a:solidFill>
                    <a:schemeClr val="tx2"/>
                  </a:solidFill>
                </a:rPr>
                <a:t>A</a:t>
              </a:r>
              <a:r>
                <a:rPr lang="es-ES_tradnl" sz="1800" baseline="-25000" dirty="0">
                  <a:solidFill>
                    <a:schemeClr val="tx2"/>
                  </a:solidFill>
                </a:rPr>
                <a:t>13</a:t>
              </a:r>
              <a:r>
                <a:rPr lang="es-ES_tradnl" sz="1800" dirty="0">
                  <a:solidFill>
                    <a:schemeClr val="tx2"/>
                  </a:solidFill>
                </a:rPr>
                <a:t>A</a:t>
              </a:r>
              <a:r>
                <a:rPr lang="es-ES_tradnl" sz="1800" baseline="-25000" dirty="0">
                  <a:solidFill>
                    <a:schemeClr val="tx2"/>
                  </a:solidFill>
                </a:rPr>
                <a:t>12</a:t>
              </a:r>
              <a:r>
                <a:rPr lang="es-ES_tradnl" sz="1800" dirty="0">
                  <a:solidFill>
                    <a:schemeClr val="tx2"/>
                  </a:solidFill>
                </a:rPr>
                <a:t>A</a:t>
              </a:r>
              <a:r>
                <a:rPr lang="es-ES_tradnl" sz="1600" baseline="-25000" dirty="0">
                  <a:solidFill>
                    <a:schemeClr val="tx2"/>
                  </a:solidFill>
                </a:rPr>
                <a:t>11</a:t>
              </a:r>
              <a:r>
                <a:rPr lang="es-ES_tradnl" sz="1800" dirty="0">
                  <a:solidFill>
                    <a:schemeClr val="tx2"/>
                  </a:solidFill>
                </a:rPr>
                <a:t>A</a:t>
              </a:r>
              <a:r>
                <a:rPr lang="es-ES_tradnl" sz="1800" baseline="-25000" dirty="0">
                  <a:solidFill>
                    <a:schemeClr val="tx2"/>
                  </a:solidFill>
                </a:rPr>
                <a:t>10</a:t>
              </a:r>
              <a:r>
                <a:rPr lang="es-ES_tradnl" sz="1800" dirty="0">
                  <a:solidFill>
                    <a:schemeClr val="tx2"/>
                  </a:solidFill>
                </a:rPr>
                <a:t>A</a:t>
              </a:r>
              <a:r>
                <a:rPr lang="es-ES_tradnl" sz="1800" baseline="-25000" dirty="0">
                  <a:solidFill>
                    <a:schemeClr val="tx2"/>
                  </a:solidFill>
                </a:rPr>
                <a:t>9</a:t>
              </a:r>
            </a:p>
          </p:txBody>
        </p:sp>
        <p:sp>
          <p:nvSpPr>
            <p:cNvPr id="105513" name="Rectangle 52"/>
            <p:cNvSpPr>
              <a:spLocks noChangeArrowheads="1"/>
            </p:cNvSpPr>
            <p:nvPr/>
          </p:nvSpPr>
          <p:spPr bwMode="auto">
            <a:xfrm>
              <a:off x="941388" y="4672013"/>
              <a:ext cx="3168650" cy="369974"/>
            </a:xfrm>
            <a:prstGeom prst="rect">
              <a:avLst/>
            </a:prstGeom>
            <a:noFill/>
            <a:ln w="25400">
              <a:noFill/>
              <a:miter lim="800000"/>
              <a:headEnd/>
              <a:tailEnd/>
            </a:ln>
          </p:spPr>
          <p:txBody>
            <a:bodyPr lIns="92075" tIns="46038" rIns="92075" bIns="46038">
              <a:spAutoFit/>
            </a:bodyPr>
            <a:lstStyle/>
            <a:p>
              <a:pPr algn="l"/>
              <a:r>
                <a:rPr lang="es-ES_tradnl" sz="1800" dirty="0">
                  <a:solidFill>
                    <a:schemeClr val="tx2"/>
                  </a:solidFill>
                </a:rPr>
                <a:t>A</a:t>
              </a:r>
              <a:r>
                <a:rPr lang="es-ES_tradnl" sz="1800" baseline="-25000" dirty="0">
                  <a:solidFill>
                    <a:schemeClr val="tx2"/>
                  </a:solidFill>
                </a:rPr>
                <a:t>8  </a:t>
              </a:r>
              <a:r>
                <a:rPr lang="es-ES_tradnl" sz="1800" dirty="0">
                  <a:solidFill>
                    <a:schemeClr val="tx2"/>
                  </a:solidFill>
                </a:rPr>
                <a:t>A</a:t>
              </a:r>
              <a:r>
                <a:rPr lang="es-ES_tradnl" sz="1800" baseline="-25000" dirty="0">
                  <a:solidFill>
                    <a:schemeClr val="tx2"/>
                  </a:solidFill>
                </a:rPr>
                <a:t>7  </a:t>
              </a:r>
              <a:r>
                <a:rPr lang="es-ES_tradnl" sz="1800" dirty="0">
                  <a:solidFill>
                    <a:schemeClr val="tx2"/>
                  </a:solidFill>
                </a:rPr>
                <a:t>A</a:t>
              </a:r>
              <a:r>
                <a:rPr lang="es-ES_tradnl" sz="1800" baseline="-25000" dirty="0">
                  <a:solidFill>
                    <a:schemeClr val="tx2"/>
                  </a:solidFill>
                </a:rPr>
                <a:t>6  </a:t>
              </a:r>
              <a:r>
                <a:rPr lang="es-ES_tradnl" sz="1800" dirty="0">
                  <a:solidFill>
                    <a:schemeClr val="tx2"/>
                  </a:solidFill>
                </a:rPr>
                <a:t>A</a:t>
              </a:r>
              <a:r>
                <a:rPr lang="es-ES_tradnl" sz="1800" baseline="-25000" dirty="0">
                  <a:solidFill>
                    <a:schemeClr val="tx2"/>
                  </a:solidFill>
                </a:rPr>
                <a:t>5  </a:t>
              </a:r>
              <a:r>
                <a:rPr lang="es-ES_tradnl" sz="1800" dirty="0">
                  <a:solidFill>
                    <a:schemeClr val="tx2"/>
                  </a:solidFill>
                </a:rPr>
                <a:t>A</a:t>
              </a:r>
              <a:r>
                <a:rPr lang="es-ES_tradnl" sz="1600" baseline="-25000" dirty="0">
                  <a:solidFill>
                    <a:schemeClr val="tx2"/>
                  </a:solidFill>
                </a:rPr>
                <a:t>4  </a:t>
              </a:r>
              <a:r>
                <a:rPr lang="es-ES_tradnl" sz="1800" dirty="0">
                  <a:solidFill>
                    <a:schemeClr val="tx2"/>
                  </a:solidFill>
                </a:rPr>
                <a:t>A</a:t>
              </a:r>
              <a:r>
                <a:rPr lang="es-ES_tradnl" sz="1800" baseline="-25000" dirty="0">
                  <a:solidFill>
                    <a:schemeClr val="tx2"/>
                  </a:solidFill>
                </a:rPr>
                <a:t>3  </a:t>
              </a:r>
              <a:r>
                <a:rPr lang="es-ES_tradnl" sz="1800" dirty="0">
                  <a:solidFill>
                    <a:schemeClr val="tx2"/>
                  </a:solidFill>
                </a:rPr>
                <a:t>A</a:t>
              </a:r>
              <a:r>
                <a:rPr lang="es-ES_tradnl" sz="1800" baseline="-25000" dirty="0">
                  <a:solidFill>
                    <a:schemeClr val="tx2"/>
                  </a:solidFill>
                </a:rPr>
                <a:t>2</a:t>
              </a:r>
            </a:p>
          </p:txBody>
        </p:sp>
        <p:sp>
          <p:nvSpPr>
            <p:cNvPr id="105514" name="Text Box 53"/>
            <p:cNvSpPr txBox="1">
              <a:spLocks noChangeArrowheads="1"/>
            </p:cNvSpPr>
            <p:nvPr/>
          </p:nvSpPr>
          <p:spPr bwMode="auto">
            <a:xfrm>
              <a:off x="3381375" y="3552825"/>
              <a:ext cx="141288" cy="304800"/>
            </a:xfrm>
            <a:prstGeom prst="rect">
              <a:avLst/>
            </a:prstGeom>
            <a:noFill/>
            <a:ln w="19050">
              <a:noFill/>
              <a:miter lim="800000"/>
              <a:headEnd/>
              <a:tailEnd/>
            </a:ln>
          </p:spPr>
          <p:txBody>
            <a:bodyPr wrap="none" lIns="0" tIns="0" rIns="0" bIns="0">
              <a:spAutoFit/>
            </a:bodyPr>
            <a:lstStyle/>
            <a:p>
              <a:r>
                <a:rPr lang="es-ES"/>
                <a:t>7</a:t>
              </a:r>
            </a:p>
          </p:txBody>
        </p:sp>
        <p:sp>
          <p:nvSpPr>
            <p:cNvPr id="105515" name="Text Box 54"/>
            <p:cNvSpPr txBox="1">
              <a:spLocks noChangeArrowheads="1"/>
            </p:cNvSpPr>
            <p:nvPr/>
          </p:nvSpPr>
          <p:spPr bwMode="auto">
            <a:xfrm>
              <a:off x="858068" y="5252723"/>
              <a:ext cx="2378857" cy="246221"/>
            </a:xfrm>
            <a:prstGeom prst="rect">
              <a:avLst/>
            </a:prstGeom>
            <a:noFill/>
            <a:ln w="19050">
              <a:noFill/>
              <a:miter lim="800000"/>
              <a:headEnd/>
              <a:tailEnd/>
            </a:ln>
          </p:spPr>
          <p:txBody>
            <a:bodyPr wrap="none" lIns="0" tIns="0" rIns="0" bIns="0">
              <a:spAutoFit/>
            </a:bodyPr>
            <a:lstStyle/>
            <a:p>
              <a:r>
                <a:rPr lang="es-ES" sz="1600" dirty="0"/>
                <a:t>Direcciones multiplexadas</a:t>
              </a:r>
            </a:p>
          </p:txBody>
        </p:sp>
        <p:sp>
          <p:nvSpPr>
            <p:cNvPr id="7" name="6 Rectángulo"/>
            <p:cNvSpPr/>
            <p:nvPr/>
          </p:nvSpPr>
          <p:spPr bwMode="auto">
            <a:xfrm>
              <a:off x="931863" y="4168775"/>
              <a:ext cx="2590800" cy="988417"/>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Text Box 8"/>
            <p:cNvSpPr txBox="1">
              <a:spLocks noChangeArrowheads="1"/>
            </p:cNvSpPr>
            <p:nvPr/>
          </p:nvSpPr>
          <p:spPr bwMode="auto">
            <a:xfrm>
              <a:off x="5025231" y="1656263"/>
              <a:ext cx="2592288" cy="400110"/>
            </a:xfrm>
            <a:prstGeom prst="rect">
              <a:avLst/>
            </a:prstGeom>
            <a:solidFill>
              <a:schemeClr val="accent2">
                <a:lumMod val="20000"/>
                <a:lumOff val="80000"/>
              </a:schemeClr>
            </a:solidFill>
            <a:ln w="28575">
              <a:noFill/>
              <a:miter lim="800000"/>
              <a:headEnd/>
              <a:tailEnd/>
            </a:ln>
          </p:spPr>
          <p:txBody>
            <a:bodyPr wrap="square" anchor="ctr">
              <a:spAutoFit/>
            </a:bodyPr>
            <a:lstStyle/>
            <a:p>
              <a:pPr algn="l">
                <a:spcBef>
                  <a:spcPct val="20000"/>
                </a:spcBef>
              </a:pPr>
              <a:r>
                <a:rPr lang="es-ES_tradnl" dirty="0"/>
                <a:t>BE*</a:t>
              </a:r>
              <a:r>
                <a:rPr lang="es-ES_tradnl" b="1" baseline="-25000" dirty="0"/>
                <a:t>3  </a:t>
              </a:r>
              <a:r>
                <a:rPr lang="es-ES_tradnl" dirty="0"/>
                <a:t>BE*</a:t>
              </a:r>
              <a:r>
                <a:rPr lang="es-ES_tradnl" b="1" baseline="-25000" dirty="0"/>
                <a:t>2</a:t>
              </a:r>
              <a:r>
                <a:rPr lang="es-ES_tradnl" dirty="0"/>
                <a:t> BE*</a:t>
              </a:r>
              <a:r>
                <a:rPr lang="es-ES_tradnl" b="1" baseline="-25000" dirty="0"/>
                <a:t>1 </a:t>
              </a:r>
              <a:r>
                <a:rPr lang="es-ES_tradnl" dirty="0"/>
                <a:t>BE*</a:t>
              </a:r>
              <a:r>
                <a:rPr lang="es-ES_tradnl" b="1" baseline="-25000" dirty="0"/>
                <a:t>0</a:t>
              </a:r>
              <a:endParaRPr lang="es-ES_tradnl" dirty="0"/>
            </a:p>
          </p:txBody>
        </p:sp>
      </p:grpSp>
      <p:sp>
        <p:nvSpPr>
          <p:cNvPr id="57" name="Rectangle 2">
            <a:extLst>
              <a:ext uri="{FF2B5EF4-FFF2-40B4-BE49-F238E27FC236}">
                <a16:creationId xmlns:a16="http://schemas.microsoft.com/office/drawing/2014/main" id="{04F4CAB5-07E3-403E-B7E6-26BEBD3A3B10}"/>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t>Función de selección del módulo</a:t>
            </a:r>
            <a:endParaRPr lang="es-ES" dirty="0"/>
          </a:p>
        </p:txBody>
      </p:sp>
      <p:sp>
        <p:nvSpPr>
          <p:cNvPr id="9" name="2 Marcador de número de diapositiva">
            <a:extLst>
              <a:ext uri="{FF2B5EF4-FFF2-40B4-BE49-F238E27FC236}">
                <a16:creationId xmlns:a16="http://schemas.microsoft.com/office/drawing/2014/main" id="{A0669DFA-61EC-931F-422B-A0736922580C}"/>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133</a:t>
            </a:fld>
            <a:endParaRPr lang="en-US" dirty="0"/>
          </a:p>
        </p:txBody>
      </p:sp>
    </p:spTree>
    <p:extLst>
      <p:ext uri="{BB962C8B-B14F-4D97-AF65-F5344CB8AC3E}">
        <p14:creationId xmlns:p14="http://schemas.microsoft.com/office/powerpoint/2010/main" val="4603583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12" name="Rectangle 51"/>
          <p:cNvSpPr>
            <a:spLocks noGrp="1" noChangeArrowheads="1"/>
          </p:cNvSpPr>
          <p:nvPr>
            <p:ph type="body" idx="1"/>
          </p:nvPr>
        </p:nvSpPr>
        <p:spPr/>
        <p:txBody>
          <a:bodyPr/>
          <a:lstStyle/>
          <a:p>
            <a:r>
              <a:rPr lang="es-ES" dirty="0"/>
              <a:t>Con decodificador</a:t>
            </a:r>
          </a:p>
        </p:txBody>
      </p:sp>
      <p:sp>
        <p:nvSpPr>
          <p:cNvPr id="105475" name="Rectangle 2"/>
          <p:cNvSpPr>
            <a:spLocks noGrp="1" noChangeArrowheads="1"/>
          </p:cNvSpPr>
          <p:nvPr>
            <p:ph type="title"/>
          </p:nvPr>
        </p:nvSpPr>
        <p:spPr>
          <a:xfrm>
            <a:off x="575854" y="512516"/>
            <a:ext cx="8250237" cy="865187"/>
          </a:xfrm>
        </p:spPr>
        <p:txBody>
          <a:bodyPr/>
          <a:lstStyle/>
          <a:p>
            <a:r>
              <a:rPr lang="es-ES" sz="2000" dirty="0"/>
              <a:t>Detalle de la implementación física</a:t>
            </a:r>
          </a:p>
        </p:txBody>
      </p:sp>
      <p:sp>
        <p:nvSpPr>
          <p:cNvPr id="105476" name="AutoShape 3"/>
          <p:cNvSpPr>
            <a:spLocks noChangeArrowheads="1"/>
          </p:cNvSpPr>
          <p:nvPr/>
        </p:nvSpPr>
        <p:spPr bwMode="ltGray">
          <a:xfrm>
            <a:off x="5050223" y="2458273"/>
            <a:ext cx="3425825" cy="1679575"/>
          </a:xfrm>
          <a:prstGeom prst="cube">
            <a:avLst>
              <a:gd name="adj" fmla="val 10356"/>
            </a:avLst>
          </a:prstGeom>
          <a:solidFill>
            <a:schemeClr val="bg1">
              <a:lumMod val="85000"/>
            </a:schemeClr>
          </a:solidFill>
          <a:ln w="28575">
            <a:solidFill>
              <a:schemeClr val="tx1">
                <a:lumMod val="50000"/>
                <a:lumOff val="50000"/>
              </a:schemeClr>
            </a:solidFill>
            <a:miter lim="800000"/>
            <a:headEnd/>
            <a:tailEnd/>
          </a:ln>
        </p:spPr>
        <p:txBody>
          <a:bodyPr wrap="none" anchor="ctr"/>
          <a:lstStyle/>
          <a:p>
            <a:pPr>
              <a:spcBef>
                <a:spcPct val="20000"/>
              </a:spcBef>
            </a:pPr>
            <a:endParaRPr lang="es-ES_tradnl" sz="2400"/>
          </a:p>
        </p:txBody>
      </p:sp>
      <p:grpSp>
        <p:nvGrpSpPr>
          <p:cNvPr id="2" name="Group 4"/>
          <p:cNvGrpSpPr>
            <a:grpSpLocks/>
          </p:cNvGrpSpPr>
          <p:nvPr/>
        </p:nvGrpSpPr>
        <p:grpSpPr bwMode="auto">
          <a:xfrm>
            <a:off x="5123248" y="3115498"/>
            <a:ext cx="568325" cy="396875"/>
            <a:chOff x="1623" y="1200"/>
            <a:chExt cx="358" cy="250"/>
          </a:xfrm>
        </p:grpSpPr>
        <p:sp>
          <p:nvSpPr>
            <p:cNvPr id="105526" name="Text Box 5"/>
            <p:cNvSpPr txBox="1">
              <a:spLocks noChangeArrowheads="1"/>
            </p:cNvSpPr>
            <p:nvPr/>
          </p:nvSpPr>
          <p:spPr bwMode="auto">
            <a:xfrm>
              <a:off x="1623" y="1200"/>
              <a:ext cx="358" cy="250"/>
            </a:xfrm>
            <a:prstGeom prst="rect">
              <a:avLst/>
            </a:prstGeom>
            <a:noFill/>
            <a:ln w="28575">
              <a:noFill/>
              <a:miter lim="800000"/>
              <a:headEnd/>
              <a:tailEnd/>
            </a:ln>
          </p:spPr>
          <p:txBody>
            <a:bodyPr wrap="none" anchor="ctr">
              <a:spAutoFit/>
            </a:bodyPr>
            <a:lstStyle/>
            <a:p>
              <a:pPr>
                <a:spcBef>
                  <a:spcPct val="20000"/>
                </a:spcBef>
              </a:pPr>
              <a:r>
                <a:rPr lang="es-ES_tradnl">
                  <a:latin typeface="Arial Narrow" pitchFamily="34" charset="0"/>
                </a:rPr>
                <a:t>CS </a:t>
              </a:r>
              <a:r>
                <a:rPr lang="es-ES_tradnl" b="1" baseline="-25000">
                  <a:latin typeface="Arial Narrow" pitchFamily="34" charset="0"/>
                </a:rPr>
                <a:t> </a:t>
              </a:r>
              <a:endParaRPr lang="es-ES_tradnl"/>
            </a:p>
          </p:txBody>
        </p:sp>
        <p:sp>
          <p:nvSpPr>
            <p:cNvPr id="105527" name="Line 6"/>
            <p:cNvSpPr>
              <a:spLocks noChangeShapeType="1"/>
            </p:cNvSpPr>
            <p:nvPr/>
          </p:nvSpPr>
          <p:spPr bwMode="auto">
            <a:xfrm>
              <a:off x="1654" y="1248"/>
              <a:ext cx="240" cy="0"/>
            </a:xfrm>
            <a:prstGeom prst="line">
              <a:avLst/>
            </a:prstGeom>
            <a:noFill/>
            <a:ln w="19050">
              <a:solidFill>
                <a:schemeClr val="tx1"/>
              </a:solidFill>
              <a:round/>
              <a:headEnd/>
              <a:tailEnd/>
            </a:ln>
          </p:spPr>
          <p:txBody>
            <a:bodyPr wrap="none" anchor="ctr"/>
            <a:lstStyle/>
            <a:p>
              <a:endParaRPr lang="es-ES"/>
            </a:p>
          </p:txBody>
        </p:sp>
      </p:grpSp>
      <p:sp>
        <p:nvSpPr>
          <p:cNvPr id="105478" name="Text Box 7"/>
          <p:cNvSpPr txBox="1">
            <a:spLocks noChangeArrowheads="1"/>
          </p:cNvSpPr>
          <p:nvPr/>
        </p:nvSpPr>
        <p:spPr bwMode="auto">
          <a:xfrm>
            <a:off x="5050223" y="3726686"/>
            <a:ext cx="1131887"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b="1" dirty="0">
                <a:latin typeface="Arial Narrow" pitchFamily="34" charset="0"/>
              </a:rPr>
              <a:t>Dirección</a:t>
            </a:r>
            <a:endParaRPr lang="es-ES_tradnl" sz="2400" dirty="0">
              <a:latin typeface="Arial Narrow" pitchFamily="34" charset="0"/>
            </a:endParaRPr>
          </a:p>
        </p:txBody>
      </p:sp>
      <p:sp>
        <p:nvSpPr>
          <p:cNvPr id="105479" name="Line 8"/>
          <p:cNvSpPr>
            <a:spLocks noChangeShapeType="1"/>
          </p:cNvSpPr>
          <p:nvPr/>
        </p:nvSpPr>
        <p:spPr bwMode="auto">
          <a:xfrm>
            <a:off x="6726623" y="4137848"/>
            <a:ext cx="0" cy="533400"/>
          </a:xfrm>
          <a:prstGeom prst="line">
            <a:avLst/>
          </a:prstGeom>
          <a:noFill/>
          <a:ln w="38100">
            <a:solidFill>
              <a:schemeClr val="accent3">
                <a:lumMod val="60000"/>
                <a:lumOff val="40000"/>
              </a:schemeClr>
            </a:solidFill>
            <a:round/>
            <a:headEnd type="triangle" w="med" len="med"/>
            <a:tailEnd type="triangle" w="med" len="med"/>
          </a:ln>
        </p:spPr>
        <p:txBody>
          <a:bodyPr wrap="none" anchor="ctr"/>
          <a:lstStyle/>
          <a:p>
            <a:endParaRPr lang="es-ES"/>
          </a:p>
        </p:txBody>
      </p:sp>
      <p:sp>
        <p:nvSpPr>
          <p:cNvPr id="105480" name="Line 9"/>
          <p:cNvSpPr>
            <a:spLocks noChangeShapeType="1"/>
          </p:cNvSpPr>
          <p:nvPr/>
        </p:nvSpPr>
        <p:spPr bwMode="auto">
          <a:xfrm>
            <a:off x="4593023" y="3890198"/>
            <a:ext cx="457200" cy="0"/>
          </a:xfrm>
          <a:prstGeom prst="line">
            <a:avLst/>
          </a:prstGeom>
          <a:noFill/>
          <a:ln w="38100">
            <a:solidFill>
              <a:srgbClr val="0070C0"/>
            </a:solidFill>
            <a:round/>
            <a:headEnd/>
            <a:tailEnd type="triangle" w="med" len="med"/>
          </a:ln>
        </p:spPr>
        <p:txBody>
          <a:bodyPr wrap="none" anchor="ctr"/>
          <a:lstStyle/>
          <a:p>
            <a:endParaRPr lang="es-ES"/>
          </a:p>
        </p:txBody>
      </p:sp>
      <p:sp>
        <p:nvSpPr>
          <p:cNvPr id="105481" name="Line 10"/>
          <p:cNvSpPr>
            <a:spLocks noChangeShapeType="1"/>
          </p:cNvSpPr>
          <p:nvPr/>
        </p:nvSpPr>
        <p:spPr bwMode="auto">
          <a:xfrm>
            <a:off x="6117023" y="2385248"/>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82" name="Text Box 11"/>
          <p:cNvSpPr txBox="1">
            <a:spLocks noChangeArrowheads="1"/>
          </p:cNvSpPr>
          <p:nvPr/>
        </p:nvSpPr>
        <p:spPr bwMode="auto">
          <a:xfrm>
            <a:off x="6112260" y="3163123"/>
            <a:ext cx="1443038" cy="519113"/>
          </a:xfrm>
          <a:prstGeom prst="rect">
            <a:avLst/>
          </a:prstGeom>
          <a:noFill/>
          <a:ln w="28575">
            <a:noFill/>
            <a:miter lim="800000"/>
            <a:headEnd/>
            <a:tailEnd/>
          </a:ln>
        </p:spPr>
        <p:txBody>
          <a:bodyPr wrap="none" anchor="ctr">
            <a:spAutoFit/>
          </a:bodyPr>
          <a:lstStyle/>
          <a:p>
            <a:pPr>
              <a:spcBef>
                <a:spcPct val="20000"/>
              </a:spcBef>
            </a:pPr>
            <a:r>
              <a:rPr lang="es-ES_tradnl" sz="2800" b="1"/>
              <a:t>16K×32</a:t>
            </a:r>
          </a:p>
        </p:txBody>
      </p:sp>
      <p:sp>
        <p:nvSpPr>
          <p:cNvPr id="105483" name="Line 12"/>
          <p:cNvSpPr>
            <a:spLocks noChangeShapeType="1"/>
          </p:cNvSpPr>
          <p:nvPr/>
        </p:nvSpPr>
        <p:spPr bwMode="auto">
          <a:xfrm flipH="1">
            <a:off x="3754823" y="4061648"/>
            <a:ext cx="144462" cy="301625"/>
          </a:xfrm>
          <a:prstGeom prst="line">
            <a:avLst/>
          </a:prstGeom>
          <a:noFill/>
          <a:ln w="28575">
            <a:solidFill>
              <a:srgbClr val="0070C0"/>
            </a:solidFill>
            <a:round/>
            <a:headEnd/>
            <a:tailEnd/>
          </a:ln>
        </p:spPr>
        <p:txBody>
          <a:bodyPr wrap="none" anchor="ctr"/>
          <a:lstStyle/>
          <a:p>
            <a:endParaRPr lang="es-ES"/>
          </a:p>
        </p:txBody>
      </p:sp>
      <p:sp>
        <p:nvSpPr>
          <p:cNvPr id="105484" name="Line 13"/>
          <p:cNvSpPr>
            <a:spLocks noChangeShapeType="1"/>
          </p:cNvSpPr>
          <p:nvPr/>
        </p:nvSpPr>
        <p:spPr bwMode="auto">
          <a:xfrm flipV="1">
            <a:off x="6574223" y="4366448"/>
            <a:ext cx="304800" cy="76200"/>
          </a:xfrm>
          <a:prstGeom prst="line">
            <a:avLst/>
          </a:prstGeom>
          <a:noFill/>
          <a:ln w="28575">
            <a:solidFill>
              <a:schemeClr val="accent3">
                <a:lumMod val="60000"/>
                <a:lumOff val="40000"/>
              </a:schemeClr>
            </a:solidFill>
            <a:round/>
            <a:headEnd/>
            <a:tailEnd/>
          </a:ln>
        </p:spPr>
        <p:txBody>
          <a:bodyPr wrap="none" anchor="ctr"/>
          <a:lstStyle/>
          <a:p>
            <a:endParaRPr lang="es-ES"/>
          </a:p>
        </p:txBody>
      </p:sp>
      <p:sp>
        <p:nvSpPr>
          <p:cNvPr id="105485" name="Text Box 14"/>
          <p:cNvSpPr txBox="1">
            <a:spLocks noChangeArrowheads="1"/>
          </p:cNvSpPr>
          <p:nvPr/>
        </p:nvSpPr>
        <p:spPr bwMode="auto">
          <a:xfrm>
            <a:off x="6321810" y="3802886"/>
            <a:ext cx="763588"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b="1">
                <a:latin typeface="Arial Narrow" pitchFamily="34" charset="0"/>
              </a:rPr>
              <a:t>Datos</a:t>
            </a:r>
            <a:endParaRPr lang="es-ES_tradnl" sz="2400">
              <a:latin typeface="Arial Narrow" pitchFamily="34" charset="0"/>
            </a:endParaRPr>
          </a:p>
        </p:txBody>
      </p:sp>
      <p:sp>
        <p:nvSpPr>
          <p:cNvPr id="105486" name="Text Box 15"/>
          <p:cNvSpPr txBox="1">
            <a:spLocks noChangeArrowheads="1"/>
          </p:cNvSpPr>
          <p:nvPr/>
        </p:nvSpPr>
        <p:spPr bwMode="auto">
          <a:xfrm>
            <a:off x="6879023" y="4214048"/>
            <a:ext cx="466725" cy="396875"/>
          </a:xfrm>
          <a:prstGeom prst="rect">
            <a:avLst/>
          </a:prstGeom>
          <a:noFill/>
          <a:ln w="28575">
            <a:noFill/>
            <a:miter lim="800000"/>
            <a:headEnd/>
            <a:tailEnd/>
          </a:ln>
        </p:spPr>
        <p:txBody>
          <a:bodyPr wrap="none" anchor="ctr">
            <a:spAutoFit/>
          </a:bodyPr>
          <a:lstStyle/>
          <a:p>
            <a:pPr>
              <a:spcBef>
                <a:spcPct val="20000"/>
              </a:spcBef>
            </a:pPr>
            <a:r>
              <a:rPr lang="es-ES_tradnl"/>
              <a:t>32</a:t>
            </a:r>
          </a:p>
        </p:txBody>
      </p:sp>
      <p:sp>
        <p:nvSpPr>
          <p:cNvPr id="105487" name="Line 16"/>
          <p:cNvSpPr>
            <a:spLocks noChangeShapeType="1"/>
          </p:cNvSpPr>
          <p:nvPr/>
        </p:nvSpPr>
        <p:spPr bwMode="auto">
          <a:xfrm>
            <a:off x="6726623" y="2385248"/>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88" name="Line 17"/>
          <p:cNvSpPr>
            <a:spLocks noChangeShapeType="1"/>
          </p:cNvSpPr>
          <p:nvPr/>
        </p:nvSpPr>
        <p:spPr bwMode="auto">
          <a:xfrm>
            <a:off x="7336223" y="2385248"/>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89" name="Line 18"/>
          <p:cNvSpPr>
            <a:spLocks noChangeShapeType="1"/>
          </p:cNvSpPr>
          <p:nvPr/>
        </p:nvSpPr>
        <p:spPr bwMode="auto">
          <a:xfrm>
            <a:off x="7945823" y="2385248"/>
            <a:ext cx="0" cy="38100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05490" name="Line 19"/>
          <p:cNvSpPr>
            <a:spLocks noChangeShapeType="1"/>
          </p:cNvSpPr>
          <p:nvPr/>
        </p:nvSpPr>
        <p:spPr bwMode="auto">
          <a:xfrm>
            <a:off x="4593023" y="3572698"/>
            <a:ext cx="457200" cy="0"/>
          </a:xfrm>
          <a:prstGeom prst="line">
            <a:avLst/>
          </a:prstGeom>
          <a:noFill/>
          <a:ln w="28575">
            <a:solidFill>
              <a:schemeClr val="accent6">
                <a:lumMod val="75000"/>
              </a:schemeClr>
            </a:solidFill>
            <a:round/>
            <a:headEnd/>
            <a:tailEnd type="triangle" w="med" len="med"/>
          </a:ln>
        </p:spPr>
        <p:txBody>
          <a:bodyPr wrap="none" anchor="ctr"/>
          <a:lstStyle/>
          <a:p>
            <a:endParaRPr lang="es-ES"/>
          </a:p>
        </p:txBody>
      </p:sp>
      <p:sp>
        <p:nvSpPr>
          <p:cNvPr id="105491" name="Text Box 20"/>
          <p:cNvSpPr txBox="1">
            <a:spLocks noChangeArrowheads="1"/>
          </p:cNvSpPr>
          <p:nvPr/>
        </p:nvSpPr>
        <p:spPr bwMode="auto">
          <a:xfrm>
            <a:off x="5067685" y="3420298"/>
            <a:ext cx="984250"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a:latin typeface="Arial Narrow" pitchFamily="34" charset="0"/>
              </a:rPr>
              <a:t>Órdenes</a:t>
            </a:r>
            <a:endParaRPr lang="es-ES_tradnl" sz="2400">
              <a:latin typeface="Arial Narrow" pitchFamily="34" charset="0"/>
            </a:endParaRPr>
          </a:p>
        </p:txBody>
      </p:sp>
      <p:sp>
        <p:nvSpPr>
          <p:cNvPr id="105492" name="Line 21"/>
          <p:cNvSpPr>
            <a:spLocks noChangeShapeType="1"/>
          </p:cNvSpPr>
          <p:nvPr/>
        </p:nvSpPr>
        <p:spPr bwMode="auto">
          <a:xfrm>
            <a:off x="4593023" y="2994848"/>
            <a:ext cx="457200" cy="0"/>
          </a:xfrm>
          <a:prstGeom prst="line">
            <a:avLst/>
          </a:prstGeom>
          <a:noFill/>
          <a:ln w="28575">
            <a:solidFill>
              <a:schemeClr val="accent6">
                <a:lumMod val="75000"/>
              </a:schemeClr>
            </a:solidFill>
            <a:round/>
            <a:headEnd/>
            <a:tailEnd type="triangle" w="med" len="med"/>
          </a:ln>
        </p:spPr>
        <p:txBody>
          <a:bodyPr wrap="none" anchor="ctr"/>
          <a:lstStyle/>
          <a:p>
            <a:endParaRPr lang="es-ES"/>
          </a:p>
        </p:txBody>
      </p:sp>
      <p:sp>
        <p:nvSpPr>
          <p:cNvPr id="105493" name="Text Box 22"/>
          <p:cNvSpPr txBox="1">
            <a:spLocks noChangeArrowheads="1"/>
          </p:cNvSpPr>
          <p:nvPr/>
        </p:nvSpPr>
        <p:spPr bwMode="auto">
          <a:xfrm>
            <a:off x="5067685" y="2842448"/>
            <a:ext cx="496888" cy="336550"/>
          </a:xfrm>
          <a:prstGeom prst="rect">
            <a:avLst/>
          </a:prstGeom>
          <a:noFill/>
          <a:ln w="28575">
            <a:noFill/>
            <a:miter lim="800000"/>
            <a:headEnd/>
            <a:tailEnd/>
          </a:ln>
        </p:spPr>
        <p:txBody>
          <a:bodyPr wrap="none" anchor="ctr">
            <a:spAutoFit/>
          </a:bodyPr>
          <a:lstStyle/>
          <a:p>
            <a:pPr algn="l">
              <a:lnSpc>
                <a:spcPct val="80000"/>
              </a:lnSpc>
              <a:spcBef>
                <a:spcPct val="20000"/>
              </a:spcBef>
            </a:pPr>
            <a:r>
              <a:rPr lang="es-ES_tradnl">
                <a:latin typeface="Arial Narrow" pitchFamily="34" charset="0"/>
              </a:rPr>
              <a:t>Rel</a:t>
            </a:r>
            <a:endParaRPr lang="es-ES_tradnl" sz="2400">
              <a:latin typeface="Arial Narrow" pitchFamily="34" charset="0"/>
            </a:endParaRPr>
          </a:p>
        </p:txBody>
      </p:sp>
      <p:grpSp>
        <p:nvGrpSpPr>
          <p:cNvPr id="3" name="Group 23"/>
          <p:cNvGrpSpPr>
            <a:grpSpLocks/>
          </p:cNvGrpSpPr>
          <p:nvPr/>
        </p:nvGrpSpPr>
        <p:grpSpPr bwMode="auto">
          <a:xfrm>
            <a:off x="5732849" y="2764663"/>
            <a:ext cx="754063" cy="400050"/>
            <a:chOff x="1276" y="1871"/>
            <a:chExt cx="475" cy="252"/>
          </a:xfrm>
        </p:grpSpPr>
        <p:sp>
          <p:nvSpPr>
            <p:cNvPr id="105524" name="Text Box 24"/>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3</a:t>
              </a:r>
              <a:endParaRPr lang="es-ES_tradnl" dirty="0"/>
            </a:p>
          </p:txBody>
        </p:sp>
        <p:sp>
          <p:nvSpPr>
            <p:cNvPr id="105525" name="Line 25"/>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4" name="Group 26"/>
          <p:cNvGrpSpPr>
            <a:grpSpLocks/>
          </p:cNvGrpSpPr>
          <p:nvPr/>
        </p:nvGrpSpPr>
        <p:grpSpPr bwMode="auto">
          <a:xfrm>
            <a:off x="6382136" y="2764661"/>
            <a:ext cx="754063" cy="400050"/>
            <a:chOff x="1276" y="1871"/>
            <a:chExt cx="475" cy="252"/>
          </a:xfrm>
        </p:grpSpPr>
        <p:sp>
          <p:nvSpPr>
            <p:cNvPr id="105522" name="Text Box 27"/>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2</a:t>
              </a:r>
              <a:endParaRPr lang="es-ES_tradnl" dirty="0"/>
            </a:p>
          </p:txBody>
        </p:sp>
        <p:sp>
          <p:nvSpPr>
            <p:cNvPr id="105523" name="Line 28"/>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grpSp>
        <p:nvGrpSpPr>
          <p:cNvPr id="5" name="Group 29"/>
          <p:cNvGrpSpPr>
            <a:grpSpLocks/>
          </p:cNvGrpSpPr>
          <p:nvPr/>
        </p:nvGrpSpPr>
        <p:grpSpPr bwMode="auto">
          <a:xfrm>
            <a:off x="6959986" y="2764661"/>
            <a:ext cx="754063" cy="400050"/>
            <a:chOff x="1276" y="1871"/>
            <a:chExt cx="475" cy="252"/>
          </a:xfrm>
        </p:grpSpPr>
        <p:sp>
          <p:nvSpPr>
            <p:cNvPr id="105520" name="Text Box 30"/>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1</a:t>
              </a:r>
              <a:endParaRPr lang="es-ES_tradnl" dirty="0"/>
            </a:p>
          </p:txBody>
        </p:sp>
        <p:sp>
          <p:nvSpPr>
            <p:cNvPr id="105521" name="Line 31"/>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sp>
        <p:nvSpPr>
          <p:cNvPr id="105519" name="Line 34"/>
          <p:cNvSpPr>
            <a:spLocks noChangeShapeType="1"/>
          </p:cNvSpPr>
          <p:nvPr/>
        </p:nvSpPr>
        <p:spPr bwMode="auto">
          <a:xfrm>
            <a:off x="7077460" y="2842448"/>
            <a:ext cx="457200" cy="0"/>
          </a:xfrm>
          <a:prstGeom prst="line">
            <a:avLst/>
          </a:prstGeom>
          <a:noFill/>
          <a:ln w="19050">
            <a:solidFill>
              <a:schemeClr val="tx1"/>
            </a:solidFill>
            <a:round/>
            <a:headEnd/>
            <a:tailEnd/>
          </a:ln>
        </p:spPr>
        <p:txBody>
          <a:bodyPr wrap="none" anchor="ctr"/>
          <a:lstStyle/>
          <a:p>
            <a:endParaRPr lang="es-ES"/>
          </a:p>
        </p:txBody>
      </p:sp>
      <p:grpSp>
        <p:nvGrpSpPr>
          <p:cNvPr id="6" name="Group 35"/>
          <p:cNvGrpSpPr>
            <a:grpSpLocks/>
          </p:cNvGrpSpPr>
          <p:nvPr/>
        </p:nvGrpSpPr>
        <p:grpSpPr bwMode="auto">
          <a:xfrm>
            <a:off x="7521961" y="2764661"/>
            <a:ext cx="754063" cy="400050"/>
            <a:chOff x="1276" y="1871"/>
            <a:chExt cx="475" cy="252"/>
          </a:xfrm>
        </p:grpSpPr>
        <p:sp>
          <p:nvSpPr>
            <p:cNvPr id="105516" name="Text Box 36"/>
            <p:cNvSpPr txBox="1">
              <a:spLocks noChangeArrowheads="1"/>
            </p:cNvSpPr>
            <p:nvPr/>
          </p:nvSpPr>
          <p:spPr bwMode="auto">
            <a:xfrm>
              <a:off x="1276" y="1871"/>
              <a:ext cx="475" cy="252"/>
            </a:xfrm>
            <a:prstGeom prst="rect">
              <a:avLst/>
            </a:prstGeom>
            <a:noFill/>
            <a:ln w="28575">
              <a:noFill/>
              <a:miter lim="800000"/>
              <a:headEnd/>
              <a:tailEnd/>
            </a:ln>
          </p:spPr>
          <p:txBody>
            <a:bodyPr wrap="none"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0</a:t>
              </a:r>
              <a:endParaRPr lang="es-ES_tradnl" dirty="0"/>
            </a:p>
          </p:txBody>
        </p:sp>
        <p:sp>
          <p:nvSpPr>
            <p:cNvPr id="105517" name="Line 37"/>
            <p:cNvSpPr>
              <a:spLocks noChangeShapeType="1"/>
            </p:cNvSpPr>
            <p:nvPr/>
          </p:nvSpPr>
          <p:spPr bwMode="auto">
            <a:xfrm>
              <a:off x="1344" y="1920"/>
              <a:ext cx="288" cy="0"/>
            </a:xfrm>
            <a:prstGeom prst="line">
              <a:avLst/>
            </a:prstGeom>
            <a:noFill/>
            <a:ln w="19050">
              <a:solidFill>
                <a:schemeClr val="tx1"/>
              </a:solidFill>
              <a:round/>
              <a:headEnd/>
              <a:tailEnd/>
            </a:ln>
          </p:spPr>
          <p:txBody>
            <a:bodyPr wrap="none" anchor="ctr"/>
            <a:lstStyle/>
            <a:p>
              <a:endParaRPr lang="es-ES"/>
            </a:p>
          </p:txBody>
        </p:sp>
      </p:grpSp>
      <p:sp>
        <p:nvSpPr>
          <p:cNvPr id="105500" name="Rectangle 39"/>
          <p:cNvSpPr>
            <a:spLocks noChangeArrowheads="1"/>
          </p:cNvSpPr>
          <p:nvPr/>
        </p:nvSpPr>
        <p:spPr bwMode="auto">
          <a:xfrm>
            <a:off x="1652902" y="2572742"/>
            <a:ext cx="685800" cy="400752"/>
          </a:xfrm>
          <a:prstGeom prst="rect">
            <a:avLst/>
          </a:prstGeom>
          <a:noFill/>
          <a:ln w="25400">
            <a:noFill/>
            <a:miter lim="800000"/>
            <a:headEnd/>
            <a:tailEnd/>
          </a:ln>
        </p:spPr>
        <p:txBody>
          <a:bodyPr lIns="92075" tIns="46038" rIns="92075" bIns="46038">
            <a:spAutoFit/>
          </a:bodyPr>
          <a:lstStyle/>
          <a:p>
            <a:pPr algn="l"/>
            <a:r>
              <a:rPr lang="es-ES_tradnl" dirty="0">
                <a:solidFill>
                  <a:schemeClr val="tx2"/>
                </a:solidFill>
              </a:rPr>
              <a:t>A</a:t>
            </a:r>
            <a:r>
              <a:rPr lang="es-ES_tradnl" baseline="-25000" dirty="0">
                <a:solidFill>
                  <a:schemeClr val="tx2"/>
                </a:solidFill>
              </a:rPr>
              <a:t>17</a:t>
            </a:r>
          </a:p>
        </p:txBody>
      </p:sp>
      <p:sp>
        <p:nvSpPr>
          <p:cNvPr id="105501" name="Rectangle 40"/>
          <p:cNvSpPr>
            <a:spLocks noChangeArrowheads="1"/>
          </p:cNvSpPr>
          <p:nvPr/>
        </p:nvSpPr>
        <p:spPr bwMode="auto">
          <a:xfrm>
            <a:off x="1652902" y="2877542"/>
            <a:ext cx="685800" cy="400752"/>
          </a:xfrm>
          <a:prstGeom prst="rect">
            <a:avLst/>
          </a:prstGeom>
          <a:noFill/>
          <a:ln w="25400">
            <a:noFill/>
            <a:miter lim="800000"/>
            <a:headEnd/>
            <a:tailEnd/>
          </a:ln>
        </p:spPr>
        <p:txBody>
          <a:bodyPr lIns="92075" tIns="46038" rIns="92075" bIns="46038">
            <a:spAutoFit/>
          </a:bodyPr>
          <a:lstStyle/>
          <a:p>
            <a:pPr algn="l"/>
            <a:r>
              <a:rPr lang="es-ES_tradnl" dirty="0">
                <a:solidFill>
                  <a:schemeClr val="tx2"/>
                </a:solidFill>
              </a:rPr>
              <a:t>A</a:t>
            </a:r>
            <a:r>
              <a:rPr lang="es-ES_tradnl" baseline="-25000" dirty="0">
                <a:solidFill>
                  <a:schemeClr val="tx2"/>
                </a:solidFill>
              </a:rPr>
              <a:t>16</a:t>
            </a:r>
          </a:p>
        </p:txBody>
      </p:sp>
      <p:sp>
        <p:nvSpPr>
          <p:cNvPr id="105504" name="Line 43"/>
          <p:cNvSpPr>
            <a:spLocks noChangeShapeType="1"/>
          </p:cNvSpPr>
          <p:nvPr/>
        </p:nvSpPr>
        <p:spPr bwMode="auto">
          <a:xfrm flipV="1">
            <a:off x="2530860" y="3117086"/>
            <a:ext cx="576263" cy="9525"/>
          </a:xfrm>
          <a:prstGeom prst="line">
            <a:avLst/>
          </a:prstGeom>
          <a:noFill/>
          <a:ln w="28575">
            <a:solidFill>
              <a:schemeClr val="accent6">
                <a:lumMod val="75000"/>
              </a:schemeClr>
            </a:solidFill>
            <a:round/>
            <a:headEnd/>
            <a:tailEnd/>
          </a:ln>
        </p:spPr>
        <p:txBody>
          <a:bodyPr wrap="none" anchor="ctr"/>
          <a:lstStyle/>
          <a:p>
            <a:endParaRPr lang="es-ES"/>
          </a:p>
        </p:txBody>
      </p:sp>
      <p:sp>
        <p:nvSpPr>
          <p:cNvPr id="105506" name="Line 45"/>
          <p:cNvSpPr>
            <a:spLocks noChangeShapeType="1"/>
          </p:cNvSpPr>
          <p:nvPr/>
        </p:nvSpPr>
        <p:spPr bwMode="auto">
          <a:xfrm>
            <a:off x="2530860" y="3413948"/>
            <a:ext cx="500063" cy="7938"/>
          </a:xfrm>
          <a:prstGeom prst="line">
            <a:avLst/>
          </a:prstGeom>
          <a:noFill/>
          <a:ln w="28575">
            <a:solidFill>
              <a:schemeClr val="accent6">
                <a:lumMod val="75000"/>
              </a:schemeClr>
            </a:solidFill>
            <a:round/>
            <a:headEnd/>
            <a:tailEnd/>
          </a:ln>
        </p:spPr>
        <p:txBody>
          <a:bodyPr wrap="none" anchor="ctr"/>
          <a:lstStyle/>
          <a:p>
            <a:endParaRPr lang="es-ES"/>
          </a:p>
        </p:txBody>
      </p:sp>
      <p:sp>
        <p:nvSpPr>
          <p:cNvPr id="105508" name="Line 47"/>
          <p:cNvSpPr>
            <a:spLocks noChangeShapeType="1"/>
          </p:cNvSpPr>
          <p:nvPr/>
        </p:nvSpPr>
        <p:spPr bwMode="auto">
          <a:xfrm flipV="1">
            <a:off x="3826260" y="3267898"/>
            <a:ext cx="1223963" cy="1588"/>
          </a:xfrm>
          <a:prstGeom prst="line">
            <a:avLst/>
          </a:prstGeom>
          <a:noFill/>
          <a:ln w="28575">
            <a:solidFill>
              <a:schemeClr val="accent6">
                <a:lumMod val="75000"/>
              </a:schemeClr>
            </a:solidFill>
            <a:round/>
            <a:headEnd/>
            <a:tailEnd type="triangle" w="med" len="med"/>
          </a:ln>
        </p:spPr>
        <p:txBody>
          <a:bodyPr wrap="none" anchor="ctr"/>
          <a:lstStyle/>
          <a:p>
            <a:endParaRPr lang="es-ES"/>
          </a:p>
        </p:txBody>
      </p:sp>
      <p:sp>
        <p:nvSpPr>
          <p:cNvPr id="105509" name="Line 48"/>
          <p:cNvSpPr>
            <a:spLocks noChangeShapeType="1"/>
          </p:cNvSpPr>
          <p:nvPr/>
        </p:nvSpPr>
        <p:spPr bwMode="auto">
          <a:xfrm>
            <a:off x="2097473" y="4206111"/>
            <a:ext cx="2520950" cy="0"/>
          </a:xfrm>
          <a:prstGeom prst="line">
            <a:avLst/>
          </a:prstGeom>
          <a:noFill/>
          <a:ln w="38100">
            <a:solidFill>
              <a:srgbClr val="0070C0"/>
            </a:solidFill>
            <a:round/>
            <a:headEnd/>
            <a:tailEnd/>
          </a:ln>
        </p:spPr>
        <p:txBody>
          <a:bodyPr wrap="none" anchor="ctr"/>
          <a:lstStyle/>
          <a:p>
            <a:endParaRPr lang="es-ES"/>
          </a:p>
        </p:txBody>
      </p:sp>
      <p:sp>
        <p:nvSpPr>
          <p:cNvPr id="105510" name="Line 49"/>
          <p:cNvSpPr>
            <a:spLocks noChangeShapeType="1"/>
          </p:cNvSpPr>
          <p:nvPr/>
        </p:nvSpPr>
        <p:spPr bwMode="auto">
          <a:xfrm flipV="1">
            <a:off x="4597785" y="3871148"/>
            <a:ext cx="0" cy="358775"/>
          </a:xfrm>
          <a:prstGeom prst="line">
            <a:avLst/>
          </a:prstGeom>
          <a:noFill/>
          <a:ln w="38100">
            <a:solidFill>
              <a:srgbClr val="0070C0"/>
            </a:solidFill>
            <a:round/>
            <a:headEnd/>
            <a:tailEnd/>
          </a:ln>
        </p:spPr>
        <p:txBody>
          <a:bodyPr wrap="none" anchor="ctr"/>
          <a:lstStyle/>
          <a:p>
            <a:endParaRPr lang="es-ES"/>
          </a:p>
        </p:txBody>
      </p:sp>
      <p:sp>
        <p:nvSpPr>
          <p:cNvPr id="105511" name="Rectangle 50"/>
          <p:cNvSpPr>
            <a:spLocks noChangeArrowheads="1"/>
          </p:cNvSpPr>
          <p:nvPr/>
        </p:nvSpPr>
        <p:spPr bwMode="auto">
          <a:xfrm>
            <a:off x="1522798" y="4493448"/>
            <a:ext cx="3168650" cy="369974"/>
          </a:xfrm>
          <a:prstGeom prst="rect">
            <a:avLst/>
          </a:prstGeom>
          <a:noFill/>
          <a:ln w="25400">
            <a:noFill/>
            <a:miter lim="800000"/>
            <a:headEnd/>
            <a:tailEnd/>
          </a:ln>
        </p:spPr>
        <p:txBody>
          <a:bodyPr lIns="92075" tIns="46038" rIns="92075" bIns="46038">
            <a:spAutoFit/>
          </a:bodyPr>
          <a:lstStyle/>
          <a:p>
            <a:pPr algn="l"/>
            <a:r>
              <a:rPr lang="es-ES_tradnl" sz="1800" dirty="0">
                <a:solidFill>
                  <a:schemeClr val="tx2"/>
                </a:solidFill>
              </a:rPr>
              <a:t>A</a:t>
            </a:r>
            <a:r>
              <a:rPr lang="es-ES_tradnl" sz="1800" baseline="-25000" dirty="0">
                <a:solidFill>
                  <a:schemeClr val="tx2"/>
                </a:solidFill>
              </a:rPr>
              <a:t>15</a:t>
            </a:r>
            <a:r>
              <a:rPr lang="es-ES_tradnl" sz="1800" dirty="0">
                <a:solidFill>
                  <a:schemeClr val="tx2"/>
                </a:solidFill>
              </a:rPr>
              <a:t>A</a:t>
            </a:r>
            <a:r>
              <a:rPr lang="es-ES_tradnl" sz="1800" baseline="-25000" dirty="0">
                <a:solidFill>
                  <a:schemeClr val="tx2"/>
                </a:solidFill>
              </a:rPr>
              <a:t>14</a:t>
            </a:r>
            <a:r>
              <a:rPr lang="es-ES_tradnl" sz="1800" dirty="0">
                <a:solidFill>
                  <a:schemeClr val="tx2"/>
                </a:solidFill>
              </a:rPr>
              <a:t>A</a:t>
            </a:r>
            <a:r>
              <a:rPr lang="es-ES_tradnl" sz="1800" baseline="-25000" dirty="0">
                <a:solidFill>
                  <a:schemeClr val="tx2"/>
                </a:solidFill>
              </a:rPr>
              <a:t>13</a:t>
            </a:r>
            <a:r>
              <a:rPr lang="es-ES_tradnl" sz="1800" dirty="0">
                <a:solidFill>
                  <a:schemeClr val="tx2"/>
                </a:solidFill>
              </a:rPr>
              <a:t>A</a:t>
            </a:r>
            <a:r>
              <a:rPr lang="es-ES_tradnl" sz="1800" baseline="-25000" dirty="0">
                <a:solidFill>
                  <a:schemeClr val="tx2"/>
                </a:solidFill>
              </a:rPr>
              <a:t>12</a:t>
            </a:r>
            <a:r>
              <a:rPr lang="es-ES_tradnl" sz="1800" dirty="0">
                <a:solidFill>
                  <a:schemeClr val="tx2"/>
                </a:solidFill>
              </a:rPr>
              <a:t>A</a:t>
            </a:r>
            <a:r>
              <a:rPr lang="es-ES_tradnl" sz="1600" baseline="-25000" dirty="0">
                <a:solidFill>
                  <a:schemeClr val="tx2"/>
                </a:solidFill>
              </a:rPr>
              <a:t>11</a:t>
            </a:r>
            <a:r>
              <a:rPr lang="es-ES_tradnl" sz="1800" dirty="0">
                <a:solidFill>
                  <a:schemeClr val="tx2"/>
                </a:solidFill>
              </a:rPr>
              <a:t>A</a:t>
            </a:r>
            <a:r>
              <a:rPr lang="es-ES_tradnl" sz="1800" baseline="-25000" dirty="0">
                <a:solidFill>
                  <a:schemeClr val="tx2"/>
                </a:solidFill>
              </a:rPr>
              <a:t>10</a:t>
            </a:r>
            <a:r>
              <a:rPr lang="es-ES_tradnl" sz="1800" dirty="0">
                <a:solidFill>
                  <a:schemeClr val="tx2"/>
                </a:solidFill>
              </a:rPr>
              <a:t>A</a:t>
            </a:r>
            <a:r>
              <a:rPr lang="es-ES_tradnl" sz="1800" baseline="-25000" dirty="0">
                <a:solidFill>
                  <a:schemeClr val="tx2"/>
                </a:solidFill>
              </a:rPr>
              <a:t>9</a:t>
            </a:r>
          </a:p>
        </p:txBody>
      </p:sp>
      <p:sp>
        <p:nvSpPr>
          <p:cNvPr id="105513" name="Rectangle 52"/>
          <p:cNvSpPr>
            <a:spLocks noChangeArrowheads="1"/>
          </p:cNvSpPr>
          <p:nvPr/>
        </p:nvSpPr>
        <p:spPr bwMode="auto">
          <a:xfrm>
            <a:off x="1532323" y="4996686"/>
            <a:ext cx="3168650" cy="369974"/>
          </a:xfrm>
          <a:prstGeom prst="rect">
            <a:avLst/>
          </a:prstGeom>
          <a:noFill/>
          <a:ln w="25400">
            <a:noFill/>
            <a:miter lim="800000"/>
            <a:headEnd/>
            <a:tailEnd/>
          </a:ln>
        </p:spPr>
        <p:txBody>
          <a:bodyPr lIns="92075" tIns="46038" rIns="92075" bIns="46038">
            <a:spAutoFit/>
          </a:bodyPr>
          <a:lstStyle/>
          <a:p>
            <a:pPr algn="l"/>
            <a:r>
              <a:rPr lang="es-ES_tradnl" sz="1800" dirty="0">
                <a:solidFill>
                  <a:schemeClr val="tx2"/>
                </a:solidFill>
              </a:rPr>
              <a:t>A</a:t>
            </a:r>
            <a:r>
              <a:rPr lang="es-ES_tradnl" sz="1800" baseline="-25000" dirty="0">
                <a:solidFill>
                  <a:schemeClr val="tx2"/>
                </a:solidFill>
              </a:rPr>
              <a:t>8  </a:t>
            </a:r>
            <a:r>
              <a:rPr lang="es-ES_tradnl" sz="1800" dirty="0">
                <a:solidFill>
                  <a:schemeClr val="tx2"/>
                </a:solidFill>
              </a:rPr>
              <a:t>A</a:t>
            </a:r>
            <a:r>
              <a:rPr lang="es-ES_tradnl" sz="1800" baseline="-25000" dirty="0">
                <a:solidFill>
                  <a:schemeClr val="tx2"/>
                </a:solidFill>
              </a:rPr>
              <a:t>7  </a:t>
            </a:r>
            <a:r>
              <a:rPr lang="es-ES_tradnl" sz="1800" dirty="0">
                <a:solidFill>
                  <a:schemeClr val="tx2"/>
                </a:solidFill>
              </a:rPr>
              <a:t>A</a:t>
            </a:r>
            <a:r>
              <a:rPr lang="es-ES_tradnl" sz="1800" baseline="-25000" dirty="0">
                <a:solidFill>
                  <a:schemeClr val="tx2"/>
                </a:solidFill>
              </a:rPr>
              <a:t>6  </a:t>
            </a:r>
            <a:r>
              <a:rPr lang="es-ES_tradnl" sz="1800" dirty="0">
                <a:solidFill>
                  <a:schemeClr val="tx2"/>
                </a:solidFill>
              </a:rPr>
              <a:t>A</a:t>
            </a:r>
            <a:r>
              <a:rPr lang="es-ES_tradnl" sz="1800" baseline="-25000" dirty="0">
                <a:solidFill>
                  <a:schemeClr val="tx2"/>
                </a:solidFill>
              </a:rPr>
              <a:t>5  </a:t>
            </a:r>
            <a:r>
              <a:rPr lang="es-ES_tradnl" sz="1800" dirty="0">
                <a:solidFill>
                  <a:schemeClr val="tx2"/>
                </a:solidFill>
              </a:rPr>
              <a:t>A</a:t>
            </a:r>
            <a:r>
              <a:rPr lang="es-ES_tradnl" sz="1600" baseline="-25000" dirty="0">
                <a:solidFill>
                  <a:schemeClr val="tx2"/>
                </a:solidFill>
              </a:rPr>
              <a:t>4  </a:t>
            </a:r>
            <a:r>
              <a:rPr lang="es-ES_tradnl" sz="1800" dirty="0">
                <a:solidFill>
                  <a:schemeClr val="tx2"/>
                </a:solidFill>
              </a:rPr>
              <a:t>A</a:t>
            </a:r>
            <a:r>
              <a:rPr lang="es-ES_tradnl" sz="1800" baseline="-25000" dirty="0">
                <a:solidFill>
                  <a:schemeClr val="tx2"/>
                </a:solidFill>
              </a:rPr>
              <a:t>3  </a:t>
            </a:r>
            <a:r>
              <a:rPr lang="es-ES_tradnl" sz="1800" dirty="0">
                <a:solidFill>
                  <a:schemeClr val="tx2"/>
                </a:solidFill>
              </a:rPr>
              <a:t>A</a:t>
            </a:r>
            <a:r>
              <a:rPr lang="es-ES_tradnl" sz="1800" baseline="-25000" dirty="0">
                <a:solidFill>
                  <a:schemeClr val="tx2"/>
                </a:solidFill>
              </a:rPr>
              <a:t>2</a:t>
            </a:r>
          </a:p>
        </p:txBody>
      </p:sp>
      <p:sp>
        <p:nvSpPr>
          <p:cNvPr id="105514" name="Text Box 53"/>
          <p:cNvSpPr txBox="1">
            <a:spLocks noChangeArrowheads="1"/>
          </p:cNvSpPr>
          <p:nvPr/>
        </p:nvSpPr>
        <p:spPr bwMode="auto">
          <a:xfrm>
            <a:off x="3972310" y="3877498"/>
            <a:ext cx="141288" cy="304800"/>
          </a:xfrm>
          <a:prstGeom prst="rect">
            <a:avLst/>
          </a:prstGeom>
          <a:noFill/>
          <a:ln w="19050">
            <a:noFill/>
            <a:miter lim="800000"/>
            <a:headEnd/>
            <a:tailEnd/>
          </a:ln>
        </p:spPr>
        <p:txBody>
          <a:bodyPr wrap="none" lIns="0" tIns="0" rIns="0" bIns="0">
            <a:spAutoFit/>
          </a:bodyPr>
          <a:lstStyle/>
          <a:p>
            <a:r>
              <a:rPr lang="es-ES"/>
              <a:t>7</a:t>
            </a:r>
          </a:p>
        </p:txBody>
      </p:sp>
      <p:sp>
        <p:nvSpPr>
          <p:cNvPr id="105515" name="Text Box 54"/>
          <p:cNvSpPr txBox="1">
            <a:spLocks noChangeArrowheads="1"/>
          </p:cNvSpPr>
          <p:nvPr/>
        </p:nvSpPr>
        <p:spPr bwMode="auto">
          <a:xfrm>
            <a:off x="1449003" y="5577396"/>
            <a:ext cx="2378857" cy="246221"/>
          </a:xfrm>
          <a:prstGeom prst="rect">
            <a:avLst/>
          </a:prstGeom>
          <a:noFill/>
          <a:ln w="19050">
            <a:noFill/>
            <a:miter lim="800000"/>
            <a:headEnd/>
            <a:tailEnd/>
          </a:ln>
        </p:spPr>
        <p:txBody>
          <a:bodyPr wrap="none" lIns="0" tIns="0" rIns="0" bIns="0">
            <a:spAutoFit/>
          </a:bodyPr>
          <a:lstStyle/>
          <a:p>
            <a:r>
              <a:rPr lang="es-ES" sz="1600" dirty="0"/>
              <a:t>Direcciones multiplexadas</a:t>
            </a:r>
          </a:p>
        </p:txBody>
      </p:sp>
      <p:sp>
        <p:nvSpPr>
          <p:cNvPr id="7" name="6 Rectángulo"/>
          <p:cNvSpPr/>
          <p:nvPr/>
        </p:nvSpPr>
        <p:spPr bwMode="auto">
          <a:xfrm>
            <a:off x="1522798" y="4493448"/>
            <a:ext cx="2590800" cy="988417"/>
          </a:xfrm>
          <a:prstGeom prst="rect">
            <a:avLst/>
          </a:prstGeom>
          <a:noFill/>
          <a:ln w="19050">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Text Box 8"/>
          <p:cNvSpPr txBox="1">
            <a:spLocks noChangeArrowheads="1"/>
          </p:cNvSpPr>
          <p:nvPr/>
        </p:nvSpPr>
        <p:spPr bwMode="auto">
          <a:xfrm>
            <a:off x="5616166" y="1980936"/>
            <a:ext cx="2592288" cy="400110"/>
          </a:xfrm>
          <a:prstGeom prst="rect">
            <a:avLst/>
          </a:prstGeom>
          <a:solidFill>
            <a:schemeClr val="accent2">
              <a:lumMod val="20000"/>
              <a:lumOff val="80000"/>
            </a:schemeClr>
          </a:solidFill>
          <a:ln w="28575">
            <a:noFill/>
            <a:miter lim="800000"/>
            <a:headEnd/>
            <a:tailEnd/>
          </a:ln>
        </p:spPr>
        <p:txBody>
          <a:bodyPr wrap="square" anchor="ctr">
            <a:spAutoFit/>
          </a:bodyPr>
          <a:lstStyle/>
          <a:p>
            <a:pPr algn="l">
              <a:spcBef>
                <a:spcPct val="20000"/>
              </a:spcBef>
            </a:pPr>
            <a:r>
              <a:rPr lang="es-ES_tradnl" dirty="0"/>
              <a:t>BE*</a:t>
            </a:r>
            <a:r>
              <a:rPr lang="es-ES_tradnl" b="1" baseline="-25000" dirty="0"/>
              <a:t>3  </a:t>
            </a:r>
            <a:r>
              <a:rPr lang="es-ES_tradnl" dirty="0"/>
              <a:t>BE*</a:t>
            </a:r>
            <a:r>
              <a:rPr lang="es-ES_tradnl" b="1" baseline="-25000" dirty="0"/>
              <a:t>2</a:t>
            </a:r>
            <a:r>
              <a:rPr lang="es-ES_tradnl" dirty="0"/>
              <a:t> BE*</a:t>
            </a:r>
            <a:r>
              <a:rPr lang="es-ES_tradnl" b="1" baseline="-25000" dirty="0"/>
              <a:t>1 </a:t>
            </a:r>
            <a:r>
              <a:rPr lang="es-ES_tradnl" dirty="0"/>
              <a:t>BE*</a:t>
            </a:r>
            <a:r>
              <a:rPr lang="es-ES_tradnl" b="1" baseline="-25000" dirty="0"/>
              <a:t>0</a:t>
            </a:r>
            <a:endParaRPr lang="es-ES_tradnl" dirty="0"/>
          </a:p>
        </p:txBody>
      </p:sp>
      <p:grpSp>
        <p:nvGrpSpPr>
          <p:cNvPr id="57" name="56 Grupo"/>
          <p:cNvGrpSpPr/>
          <p:nvPr/>
        </p:nvGrpSpPr>
        <p:grpSpPr>
          <a:xfrm>
            <a:off x="2160107" y="1980936"/>
            <a:ext cx="1704252" cy="2000264"/>
            <a:chOff x="1928794" y="2928934"/>
            <a:chExt cx="1704252" cy="2000264"/>
          </a:xfrm>
        </p:grpSpPr>
        <p:cxnSp>
          <p:nvCxnSpPr>
            <p:cNvPr id="58" name="57 Conector recto"/>
            <p:cNvCxnSpPr/>
            <p:nvPr/>
          </p:nvCxnSpPr>
          <p:spPr bwMode="auto">
            <a:xfrm>
              <a:off x="3275856" y="4221088"/>
              <a:ext cx="357190" cy="0"/>
            </a:xfrm>
            <a:prstGeom prst="line">
              <a:avLst/>
            </a:prstGeom>
            <a:ln w="28575">
              <a:solidFill>
                <a:schemeClr val="tx1">
                  <a:lumMod val="65000"/>
                  <a:lumOff val="3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59" name="58 Rectángulo"/>
            <p:cNvSpPr/>
            <p:nvPr/>
          </p:nvSpPr>
          <p:spPr bwMode="auto">
            <a:xfrm>
              <a:off x="2285984" y="2928934"/>
              <a:ext cx="928694" cy="2000264"/>
            </a:xfrm>
            <a:prstGeom prst="rect">
              <a:avLst/>
            </a:prstGeom>
            <a:solidFill>
              <a:schemeClr val="accent6">
                <a:lumMod val="50000"/>
              </a:schemeClr>
            </a:solidFill>
            <a:ln w="19050">
              <a:solidFill>
                <a:schemeClr val="tx1">
                  <a:lumMod val="65000"/>
                  <a:lumOff val="35000"/>
                </a:scheme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solidFill>
              </a:endParaRPr>
            </a:p>
          </p:txBody>
        </p:sp>
        <p:cxnSp>
          <p:nvCxnSpPr>
            <p:cNvPr id="60" name="59 Conector recto"/>
            <p:cNvCxnSpPr/>
            <p:nvPr/>
          </p:nvCxnSpPr>
          <p:spPr bwMode="auto">
            <a:xfrm>
              <a:off x="1928794" y="3714752"/>
              <a:ext cx="357190" cy="0"/>
            </a:xfrm>
            <a:prstGeom prst="line">
              <a:avLst/>
            </a:prstGeom>
            <a:ln w="28575">
              <a:solidFill>
                <a:schemeClr val="tx1">
                  <a:lumMod val="65000"/>
                  <a:lumOff val="3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1" name="60 Conector recto"/>
            <p:cNvCxnSpPr/>
            <p:nvPr/>
          </p:nvCxnSpPr>
          <p:spPr bwMode="auto">
            <a:xfrm>
              <a:off x="1928794" y="4000504"/>
              <a:ext cx="357190" cy="0"/>
            </a:xfrm>
            <a:prstGeom prst="line">
              <a:avLst/>
            </a:prstGeom>
            <a:ln w="28575">
              <a:solidFill>
                <a:schemeClr val="tx1">
                  <a:lumMod val="65000"/>
                  <a:lumOff val="3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2" name="61 Conector recto"/>
            <p:cNvCxnSpPr/>
            <p:nvPr/>
          </p:nvCxnSpPr>
          <p:spPr bwMode="auto">
            <a:xfrm>
              <a:off x="3214678" y="4714884"/>
              <a:ext cx="357190" cy="0"/>
            </a:xfrm>
            <a:prstGeom prst="line">
              <a:avLst/>
            </a:prstGeom>
            <a:ln w="28575">
              <a:solidFill>
                <a:schemeClr val="tx1">
                  <a:lumMod val="65000"/>
                  <a:lumOff val="3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3" name="62 Conector recto"/>
            <p:cNvCxnSpPr/>
            <p:nvPr/>
          </p:nvCxnSpPr>
          <p:spPr bwMode="auto">
            <a:xfrm>
              <a:off x="3214678" y="3214686"/>
              <a:ext cx="357190" cy="0"/>
            </a:xfrm>
            <a:prstGeom prst="line">
              <a:avLst/>
            </a:prstGeom>
            <a:ln w="28575">
              <a:solidFill>
                <a:schemeClr val="tx1">
                  <a:lumMod val="65000"/>
                  <a:lumOff val="3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4" name="63 Conector recto"/>
            <p:cNvCxnSpPr/>
            <p:nvPr/>
          </p:nvCxnSpPr>
          <p:spPr bwMode="auto">
            <a:xfrm>
              <a:off x="3214678" y="3714752"/>
              <a:ext cx="357190" cy="0"/>
            </a:xfrm>
            <a:prstGeom prst="line">
              <a:avLst/>
            </a:prstGeom>
            <a:ln w="28575">
              <a:solidFill>
                <a:schemeClr val="tx1">
                  <a:lumMod val="65000"/>
                  <a:lumOff val="3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65" name="64 CuadroTexto"/>
            <p:cNvSpPr txBox="1"/>
            <p:nvPr/>
          </p:nvSpPr>
          <p:spPr>
            <a:xfrm>
              <a:off x="2816813" y="3041878"/>
              <a:ext cx="412292" cy="1815882"/>
            </a:xfrm>
            <a:prstGeom prst="rect">
              <a:avLst/>
            </a:prstGeom>
            <a:noFill/>
            <a:ln>
              <a:noFill/>
            </a:ln>
          </p:spPr>
          <p:txBody>
            <a:bodyPr wrap="none" rtlCol="0">
              <a:spAutoFit/>
            </a:bodyPr>
            <a:lstStyle/>
            <a:p>
              <a:pPr>
                <a:spcBef>
                  <a:spcPts val="0"/>
                </a:spcBef>
              </a:pPr>
              <a:r>
                <a:rPr lang="es-ES" sz="1600" dirty="0">
                  <a:solidFill>
                    <a:schemeClr val="bg1"/>
                  </a:solidFill>
                </a:rPr>
                <a:t>00</a:t>
              </a:r>
            </a:p>
            <a:p>
              <a:pPr>
                <a:spcBef>
                  <a:spcPts val="0"/>
                </a:spcBef>
              </a:pPr>
              <a:endParaRPr lang="es-ES" sz="1600" dirty="0">
                <a:solidFill>
                  <a:schemeClr val="bg1"/>
                </a:solidFill>
              </a:endParaRPr>
            </a:p>
            <a:p>
              <a:pPr>
                <a:spcBef>
                  <a:spcPts val="0"/>
                </a:spcBef>
              </a:pPr>
              <a:r>
                <a:rPr lang="es-ES" sz="1600" dirty="0">
                  <a:solidFill>
                    <a:schemeClr val="bg1"/>
                  </a:solidFill>
                </a:rPr>
                <a:t>01</a:t>
              </a:r>
            </a:p>
            <a:p>
              <a:pPr>
                <a:spcBef>
                  <a:spcPts val="0"/>
                </a:spcBef>
              </a:pPr>
              <a:endParaRPr lang="es-ES" sz="1600" dirty="0">
                <a:solidFill>
                  <a:schemeClr val="bg1"/>
                </a:solidFill>
              </a:endParaRPr>
            </a:p>
            <a:p>
              <a:pPr>
                <a:spcBef>
                  <a:spcPts val="0"/>
                </a:spcBef>
              </a:pPr>
              <a:r>
                <a:rPr lang="es-ES" sz="1600" dirty="0">
                  <a:solidFill>
                    <a:schemeClr val="bg1"/>
                  </a:solidFill>
                </a:rPr>
                <a:t>10</a:t>
              </a:r>
            </a:p>
            <a:p>
              <a:pPr>
                <a:spcBef>
                  <a:spcPts val="0"/>
                </a:spcBef>
              </a:pPr>
              <a:endParaRPr lang="es-ES" sz="1600" dirty="0">
                <a:solidFill>
                  <a:schemeClr val="bg1"/>
                </a:solidFill>
              </a:endParaRPr>
            </a:p>
            <a:p>
              <a:pPr>
                <a:spcBef>
                  <a:spcPts val="0"/>
                </a:spcBef>
              </a:pPr>
              <a:r>
                <a:rPr lang="es-ES" sz="1600" dirty="0">
                  <a:solidFill>
                    <a:schemeClr val="bg1"/>
                  </a:solidFill>
                </a:rPr>
                <a:t>11</a:t>
              </a:r>
            </a:p>
          </p:txBody>
        </p:sp>
        <p:sp>
          <p:nvSpPr>
            <p:cNvPr id="66" name="65 CuadroTexto"/>
            <p:cNvSpPr txBox="1"/>
            <p:nvPr/>
          </p:nvSpPr>
          <p:spPr>
            <a:xfrm rot="16200000">
              <a:off x="1864443" y="3756606"/>
              <a:ext cx="1436612" cy="338554"/>
            </a:xfrm>
            <a:prstGeom prst="rect">
              <a:avLst/>
            </a:prstGeom>
            <a:noFill/>
          </p:spPr>
          <p:txBody>
            <a:bodyPr wrap="none" rtlCol="0">
              <a:spAutoFit/>
            </a:bodyPr>
            <a:lstStyle/>
            <a:p>
              <a:r>
                <a:rPr lang="es-ES" sz="1600" dirty="0">
                  <a:solidFill>
                    <a:schemeClr val="bg1"/>
                  </a:solidFill>
                </a:rPr>
                <a:t>Decodificador</a:t>
              </a:r>
            </a:p>
          </p:txBody>
        </p:sp>
        <p:sp>
          <p:nvSpPr>
            <p:cNvPr id="67" name="66 Elipse"/>
            <p:cNvSpPr>
              <a:spLocks noChangeAspect="1"/>
            </p:cNvSpPr>
            <p:nvPr/>
          </p:nvSpPr>
          <p:spPr bwMode="auto">
            <a:xfrm>
              <a:off x="3214678" y="3143248"/>
              <a:ext cx="130017" cy="130017"/>
            </a:xfrm>
            <a:prstGeom prst="ellipse">
              <a:avLst/>
            </a:prstGeom>
            <a:solidFill>
              <a:schemeClr val="bg1"/>
            </a:solidFill>
            <a:ln w="3175">
              <a:solidFill>
                <a:schemeClr val="tx1">
                  <a:lumMod val="65000"/>
                  <a:lumOff val="35000"/>
                </a:scheme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67 Elipse"/>
            <p:cNvSpPr>
              <a:spLocks noChangeAspect="1"/>
            </p:cNvSpPr>
            <p:nvPr/>
          </p:nvSpPr>
          <p:spPr bwMode="auto">
            <a:xfrm>
              <a:off x="3214678" y="3643314"/>
              <a:ext cx="130017" cy="130017"/>
            </a:xfrm>
            <a:prstGeom prst="ellipse">
              <a:avLst/>
            </a:prstGeom>
            <a:solidFill>
              <a:schemeClr val="bg1"/>
            </a:solidFill>
            <a:ln w="3175">
              <a:solidFill>
                <a:schemeClr val="tx1">
                  <a:lumMod val="65000"/>
                  <a:lumOff val="35000"/>
                </a:scheme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68 Elipse"/>
            <p:cNvSpPr>
              <a:spLocks noChangeAspect="1"/>
            </p:cNvSpPr>
            <p:nvPr/>
          </p:nvSpPr>
          <p:spPr bwMode="auto">
            <a:xfrm>
              <a:off x="3214678" y="4143380"/>
              <a:ext cx="130017" cy="130017"/>
            </a:xfrm>
            <a:prstGeom prst="ellipse">
              <a:avLst/>
            </a:prstGeom>
            <a:solidFill>
              <a:schemeClr val="bg1"/>
            </a:solidFill>
            <a:ln w="3175">
              <a:solidFill>
                <a:schemeClr val="tx1">
                  <a:lumMod val="65000"/>
                  <a:lumOff val="35000"/>
                </a:scheme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69 Elipse"/>
            <p:cNvSpPr>
              <a:spLocks noChangeAspect="1"/>
            </p:cNvSpPr>
            <p:nvPr/>
          </p:nvSpPr>
          <p:spPr bwMode="auto">
            <a:xfrm>
              <a:off x="3214678" y="4643446"/>
              <a:ext cx="130017" cy="130017"/>
            </a:xfrm>
            <a:prstGeom prst="ellipse">
              <a:avLst/>
            </a:prstGeom>
            <a:solidFill>
              <a:schemeClr val="bg1"/>
            </a:solidFill>
            <a:ln w="3175">
              <a:solidFill>
                <a:schemeClr val="tx1">
                  <a:lumMod val="65000"/>
                  <a:lumOff val="35000"/>
                </a:schemeClr>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71" name="Rectangle 2">
            <a:extLst>
              <a:ext uri="{FF2B5EF4-FFF2-40B4-BE49-F238E27FC236}">
                <a16:creationId xmlns:a16="http://schemas.microsoft.com/office/drawing/2014/main" id="{AB7FB0E7-0D97-4A9D-9E92-E046C427F6EC}"/>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t>Función de selección del módulo</a:t>
            </a:r>
            <a:endParaRPr lang="es-ES" dirty="0"/>
          </a:p>
        </p:txBody>
      </p:sp>
      <p:sp>
        <p:nvSpPr>
          <p:cNvPr id="8" name="2 Marcador de número de diapositiva">
            <a:extLst>
              <a:ext uri="{FF2B5EF4-FFF2-40B4-BE49-F238E27FC236}">
                <a16:creationId xmlns:a16="http://schemas.microsoft.com/office/drawing/2014/main" id="{526C46F9-09D1-A43D-9B3C-9084F7CC0597}"/>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134</a:t>
            </a:fld>
            <a:endParaRPr lang="en-US" dirty="0"/>
          </a:p>
        </p:txBody>
      </p:sp>
    </p:spTree>
    <p:extLst>
      <p:ext uri="{BB962C8B-B14F-4D97-AF65-F5344CB8AC3E}">
        <p14:creationId xmlns:p14="http://schemas.microsoft.com/office/powerpoint/2010/main" val="8642614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ChangeArrowheads="1"/>
          </p:cNvSpPr>
          <p:nvPr>
            <p:ph type="title"/>
          </p:nvPr>
        </p:nvSpPr>
        <p:spPr>
          <a:xfrm>
            <a:off x="569913" y="495300"/>
            <a:ext cx="8250237" cy="865187"/>
          </a:xfrm>
        </p:spPr>
        <p:txBody>
          <a:bodyPr/>
          <a:lstStyle/>
          <a:p>
            <a:r>
              <a:rPr lang="es-ES" sz="2000" dirty="0"/>
              <a:t>Ejemplo de mapa con dos módulos</a:t>
            </a:r>
          </a:p>
        </p:txBody>
      </p:sp>
      <p:sp>
        <p:nvSpPr>
          <p:cNvPr id="106500" name="Rectangle 3"/>
          <p:cNvSpPr>
            <a:spLocks noGrp="1" noChangeArrowheads="1"/>
          </p:cNvSpPr>
          <p:nvPr>
            <p:ph type="body" idx="1"/>
          </p:nvPr>
        </p:nvSpPr>
        <p:spPr>
          <a:xfrm>
            <a:off x="468313" y="1052513"/>
            <a:ext cx="8351837" cy="3048000"/>
          </a:xfrm>
        </p:spPr>
        <p:txBody>
          <a:bodyPr/>
          <a:lstStyle/>
          <a:p>
            <a:r>
              <a:rPr lang="es-ES" dirty="0"/>
              <a:t>Espacio direccionamiento: 4 GB (2</a:t>
            </a:r>
            <a:r>
              <a:rPr lang="es-ES" baseline="30000" dirty="0"/>
              <a:t>32</a:t>
            </a:r>
            <a:r>
              <a:rPr lang="es-ES" dirty="0"/>
              <a:t> bytes)</a:t>
            </a:r>
          </a:p>
          <a:p>
            <a:r>
              <a:rPr lang="es-ES" dirty="0"/>
              <a:t>Módulos, capacidad y dirección de comienzo</a:t>
            </a:r>
          </a:p>
          <a:p>
            <a:pPr lvl="1"/>
            <a:r>
              <a:rPr lang="es-ES" dirty="0"/>
              <a:t>RAM1, 1 GB, a partir de </a:t>
            </a:r>
            <a:r>
              <a:rPr lang="es-ES" b="1" dirty="0">
                <a:latin typeface="Courier New" pitchFamily="49" charset="0"/>
              </a:rPr>
              <a:t>0x00000000</a:t>
            </a:r>
          </a:p>
          <a:p>
            <a:pPr lvl="1"/>
            <a:r>
              <a:rPr lang="es-ES" dirty="0"/>
              <a:t>RAM2, 2 GB, a partir de </a:t>
            </a:r>
            <a:r>
              <a:rPr lang="es-ES" b="1" dirty="0">
                <a:latin typeface="Courier New" pitchFamily="49" charset="0"/>
              </a:rPr>
              <a:t>0x80000000</a:t>
            </a:r>
          </a:p>
        </p:txBody>
      </p:sp>
      <p:sp>
        <p:nvSpPr>
          <p:cNvPr id="106501" name="Rectangle 4"/>
          <p:cNvSpPr>
            <a:spLocks noChangeArrowheads="1"/>
          </p:cNvSpPr>
          <p:nvPr/>
        </p:nvSpPr>
        <p:spPr bwMode="auto">
          <a:xfrm>
            <a:off x="1690688" y="2924175"/>
            <a:ext cx="1944687" cy="933450"/>
          </a:xfrm>
          <a:prstGeom prst="rect">
            <a:avLst/>
          </a:prstGeom>
          <a:solidFill>
            <a:schemeClr val="accent5">
              <a:lumMod val="60000"/>
              <a:lumOff val="40000"/>
            </a:schemeClr>
          </a:solidFill>
          <a:ln w="28575">
            <a:solidFill>
              <a:srgbClr val="000000"/>
            </a:solidFill>
            <a:miter lim="800000"/>
            <a:headEnd/>
            <a:tailEnd/>
          </a:ln>
        </p:spPr>
        <p:txBody>
          <a:bodyPr wrap="none" anchor="ctr"/>
          <a:lstStyle/>
          <a:p>
            <a:pPr>
              <a:spcBef>
                <a:spcPct val="20000"/>
              </a:spcBef>
            </a:pPr>
            <a:r>
              <a:rPr lang="es-ES" sz="2400" b="1" dirty="0"/>
              <a:t>RAM1</a:t>
            </a:r>
          </a:p>
        </p:txBody>
      </p:sp>
      <p:sp>
        <p:nvSpPr>
          <p:cNvPr id="106502" name="Rectangle 5"/>
          <p:cNvSpPr>
            <a:spLocks noChangeArrowheads="1"/>
          </p:cNvSpPr>
          <p:nvPr/>
        </p:nvSpPr>
        <p:spPr bwMode="auto">
          <a:xfrm>
            <a:off x="1690688" y="4724400"/>
            <a:ext cx="1944687" cy="1800225"/>
          </a:xfrm>
          <a:prstGeom prst="rect">
            <a:avLst/>
          </a:prstGeom>
          <a:solidFill>
            <a:schemeClr val="accent2">
              <a:lumMod val="40000"/>
              <a:lumOff val="60000"/>
            </a:schemeClr>
          </a:solidFill>
          <a:ln w="28575">
            <a:solidFill>
              <a:srgbClr val="000000"/>
            </a:solidFill>
            <a:miter lim="800000"/>
            <a:headEnd/>
            <a:tailEnd/>
          </a:ln>
        </p:spPr>
        <p:txBody>
          <a:bodyPr wrap="none" anchor="ctr"/>
          <a:lstStyle/>
          <a:p>
            <a:pPr>
              <a:spcBef>
                <a:spcPct val="20000"/>
              </a:spcBef>
            </a:pPr>
            <a:r>
              <a:rPr lang="es-ES" sz="2400" b="1"/>
              <a:t>RAM2</a:t>
            </a:r>
          </a:p>
        </p:txBody>
      </p:sp>
      <p:sp>
        <p:nvSpPr>
          <p:cNvPr id="106503" name="AutoShape 6"/>
          <p:cNvSpPr>
            <a:spLocks/>
          </p:cNvSpPr>
          <p:nvPr/>
        </p:nvSpPr>
        <p:spPr bwMode="auto">
          <a:xfrm>
            <a:off x="5364163" y="2924175"/>
            <a:ext cx="215900" cy="865188"/>
          </a:xfrm>
          <a:prstGeom prst="rightBrace">
            <a:avLst>
              <a:gd name="adj1" fmla="val 33395"/>
              <a:gd name="adj2" fmla="val 50000"/>
            </a:avLst>
          </a:prstGeom>
          <a:noFill/>
          <a:ln w="28575">
            <a:solidFill>
              <a:srgbClr val="0070C0"/>
            </a:solidFill>
            <a:round/>
            <a:headEnd/>
            <a:tailEnd/>
          </a:ln>
        </p:spPr>
        <p:txBody>
          <a:bodyPr wrap="none" anchor="ctr"/>
          <a:lstStyle/>
          <a:p>
            <a:endParaRPr lang="es-ES"/>
          </a:p>
        </p:txBody>
      </p:sp>
      <p:sp>
        <p:nvSpPr>
          <p:cNvPr id="106504" name="AutoShape 7"/>
          <p:cNvSpPr>
            <a:spLocks/>
          </p:cNvSpPr>
          <p:nvPr/>
        </p:nvSpPr>
        <p:spPr bwMode="auto">
          <a:xfrm>
            <a:off x="5364163" y="4868863"/>
            <a:ext cx="215900" cy="1584325"/>
          </a:xfrm>
          <a:prstGeom prst="rightBrace">
            <a:avLst>
              <a:gd name="adj1" fmla="val 61152"/>
              <a:gd name="adj2" fmla="val 50000"/>
            </a:avLst>
          </a:prstGeom>
          <a:noFill/>
          <a:ln w="28575">
            <a:solidFill>
              <a:srgbClr val="0070C0"/>
            </a:solidFill>
            <a:round/>
            <a:headEnd/>
            <a:tailEnd/>
          </a:ln>
        </p:spPr>
        <p:txBody>
          <a:bodyPr wrap="none" anchor="ctr"/>
          <a:lstStyle/>
          <a:p>
            <a:endParaRPr lang="es-ES"/>
          </a:p>
        </p:txBody>
      </p:sp>
      <p:sp>
        <p:nvSpPr>
          <p:cNvPr id="106505" name="Text Box 8"/>
          <p:cNvSpPr txBox="1">
            <a:spLocks noChangeArrowheads="1"/>
          </p:cNvSpPr>
          <p:nvPr/>
        </p:nvSpPr>
        <p:spPr bwMode="auto">
          <a:xfrm>
            <a:off x="3635375" y="2924175"/>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a:latin typeface="Courier New" pitchFamily="49" charset="0"/>
              </a:rPr>
              <a:t> </a:t>
            </a:r>
            <a:r>
              <a:rPr lang="es-ES" b="1">
                <a:solidFill>
                  <a:srgbClr val="FFFFFF"/>
                </a:solidFill>
                <a:latin typeface="Courier New" pitchFamily="49" charset="0"/>
              </a:rPr>
              <a:t>0x00000000</a:t>
            </a:r>
          </a:p>
        </p:txBody>
      </p:sp>
      <p:sp>
        <p:nvSpPr>
          <p:cNvPr id="106506" name="Text Box 9"/>
          <p:cNvSpPr txBox="1">
            <a:spLocks noChangeArrowheads="1"/>
          </p:cNvSpPr>
          <p:nvPr/>
        </p:nvSpPr>
        <p:spPr bwMode="auto">
          <a:xfrm>
            <a:off x="496630" y="4508500"/>
            <a:ext cx="792162" cy="396875"/>
          </a:xfrm>
          <a:prstGeom prst="rect">
            <a:avLst/>
          </a:prstGeom>
          <a:noFill/>
          <a:ln w="28575">
            <a:noFill/>
            <a:miter lim="800000"/>
            <a:headEnd/>
            <a:tailEnd/>
          </a:ln>
        </p:spPr>
        <p:txBody>
          <a:bodyPr anchor="ctr">
            <a:spAutoFit/>
          </a:bodyPr>
          <a:lstStyle/>
          <a:p>
            <a:pPr>
              <a:spcBef>
                <a:spcPct val="20000"/>
              </a:spcBef>
            </a:pPr>
            <a:r>
              <a:rPr lang="es-ES" dirty="0"/>
              <a:t>4 GB</a:t>
            </a:r>
          </a:p>
        </p:txBody>
      </p:sp>
      <p:sp>
        <p:nvSpPr>
          <p:cNvPr id="106507" name="Rectangle 10"/>
          <p:cNvSpPr>
            <a:spLocks noChangeArrowheads="1"/>
          </p:cNvSpPr>
          <p:nvPr/>
        </p:nvSpPr>
        <p:spPr bwMode="auto">
          <a:xfrm>
            <a:off x="1690688" y="3857625"/>
            <a:ext cx="1944687" cy="920750"/>
          </a:xfrm>
          <a:prstGeom prst="rect">
            <a:avLst/>
          </a:prstGeom>
          <a:solidFill>
            <a:schemeClr val="accent5">
              <a:lumMod val="20000"/>
              <a:lumOff val="80000"/>
            </a:schemeClr>
          </a:solidFill>
          <a:ln w="28575">
            <a:solidFill>
              <a:srgbClr val="000000"/>
            </a:solidFill>
            <a:miter lim="800000"/>
            <a:headEnd/>
            <a:tailEnd/>
          </a:ln>
        </p:spPr>
        <p:txBody>
          <a:bodyPr wrap="none" anchor="ctr"/>
          <a:lstStyle/>
          <a:p>
            <a:pPr>
              <a:spcBef>
                <a:spcPct val="20000"/>
              </a:spcBef>
            </a:pPr>
            <a:r>
              <a:rPr lang="es-ES" sz="2400" dirty="0"/>
              <a:t>Libre</a:t>
            </a:r>
          </a:p>
        </p:txBody>
      </p:sp>
      <p:sp>
        <p:nvSpPr>
          <p:cNvPr id="106508" name="AutoShape 11"/>
          <p:cNvSpPr>
            <a:spLocks/>
          </p:cNvSpPr>
          <p:nvPr/>
        </p:nvSpPr>
        <p:spPr bwMode="auto">
          <a:xfrm flipH="1">
            <a:off x="1258888" y="2924175"/>
            <a:ext cx="360362" cy="3600450"/>
          </a:xfrm>
          <a:prstGeom prst="rightBrace">
            <a:avLst>
              <a:gd name="adj1" fmla="val 83260"/>
              <a:gd name="adj2" fmla="val 50000"/>
            </a:avLst>
          </a:prstGeom>
          <a:noFill/>
          <a:ln w="28575">
            <a:solidFill>
              <a:srgbClr val="0070C0"/>
            </a:solidFill>
            <a:round/>
            <a:headEnd/>
            <a:tailEnd/>
          </a:ln>
        </p:spPr>
        <p:txBody>
          <a:bodyPr wrap="none" anchor="ctr"/>
          <a:lstStyle/>
          <a:p>
            <a:endParaRPr lang="es-ES"/>
          </a:p>
        </p:txBody>
      </p:sp>
      <p:sp>
        <p:nvSpPr>
          <p:cNvPr id="106509" name="Text Box 12"/>
          <p:cNvSpPr txBox="1">
            <a:spLocks noChangeArrowheads="1"/>
          </p:cNvSpPr>
          <p:nvPr/>
        </p:nvSpPr>
        <p:spPr bwMode="auto">
          <a:xfrm>
            <a:off x="3635375" y="350043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a:latin typeface="Courier New" pitchFamily="49" charset="0"/>
              </a:rPr>
              <a:t> </a:t>
            </a:r>
            <a:r>
              <a:rPr lang="es-ES" b="1">
                <a:solidFill>
                  <a:srgbClr val="FFFFFF"/>
                </a:solidFill>
                <a:latin typeface="Courier New" pitchFamily="49" charset="0"/>
              </a:rPr>
              <a:t>0x3FFFFFFF</a:t>
            </a:r>
          </a:p>
        </p:txBody>
      </p:sp>
      <p:sp>
        <p:nvSpPr>
          <p:cNvPr id="106510" name="Text Box 13"/>
          <p:cNvSpPr txBox="1">
            <a:spLocks noChangeArrowheads="1"/>
          </p:cNvSpPr>
          <p:nvPr/>
        </p:nvSpPr>
        <p:spPr bwMode="auto">
          <a:xfrm>
            <a:off x="3635375" y="3916363"/>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a:latin typeface="Courier New" pitchFamily="49" charset="0"/>
              </a:rPr>
              <a:t> </a:t>
            </a:r>
            <a:r>
              <a:rPr lang="es-ES" b="1">
                <a:solidFill>
                  <a:srgbClr val="FFFFFF"/>
                </a:solidFill>
                <a:latin typeface="Courier New" pitchFamily="49" charset="0"/>
              </a:rPr>
              <a:t>0x40000000</a:t>
            </a:r>
          </a:p>
        </p:txBody>
      </p:sp>
      <p:sp>
        <p:nvSpPr>
          <p:cNvPr id="106511" name="Text Box 14"/>
          <p:cNvSpPr txBox="1">
            <a:spLocks noChangeArrowheads="1"/>
          </p:cNvSpPr>
          <p:nvPr/>
        </p:nvSpPr>
        <p:spPr bwMode="auto">
          <a:xfrm>
            <a:off x="3635375" y="4492625"/>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a:latin typeface="Courier New" pitchFamily="49" charset="0"/>
              </a:rPr>
              <a:t> </a:t>
            </a:r>
            <a:r>
              <a:rPr lang="es-ES" b="1">
                <a:solidFill>
                  <a:srgbClr val="FFFFFF"/>
                </a:solidFill>
                <a:latin typeface="Courier New" pitchFamily="49" charset="0"/>
              </a:rPr>
              <a:t>0x7FFFFFFF</a:t>
            </a:r>
          </a:p>
        </p:txBody>
      </p:sp>
      <p:sp>
        <p:nvSpPr>
          <p:cNvPr id="106512" name="Text Box 15"/>
          <p:cNvSpPr txBox="1">
            <a:spLocks noChangeArrowheads="1"/>
          </p:cNvSpPr>
          <p:nvPr/>
        </p:nvSpPr>
        <p:spPr bwMode="auto">
          <a:xfrm>
            <a:off x="3635375" y="485298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a:latin typeface="Courier New" pitchFamily="49" charset="0"/>
              </a:rPr>
              <a:t> </a:t>
            </a:r>
            <a:r>
              <a:rPr lang="es-ES" b="1">
                <a:solidFill>
                  <a:srgbClr val="FFFFFF"/>
                </a:solidFill>
                <a:latin typeface="Courier New" pitchFamily="49" charset="0"/>
              </a:rPr>
              <a:t>0x80000000</a:t>
            </a:r>
          </a:p>
        </p:txBody>
      </p:sp>
      <p:sp>
        <p:nvSpPr>
          <p:cNvPr id="106513" name="Text Box 16"/>
          <p:cNvSpPr txBox="1">
            <a:spLocks noChangeArrowheads="1"/>
          </p:cNvSpPr>
          <p:nvPr/>
        </p:nvSpPr>
        <p:spPr bwMode="auto">
          <a:xfrm>
            <a:off x="3635375" y="623728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a:latin typeface="Courier New" pitchFamily="49" charset="0"/>
              </a:rPr>
              <a:t> </a:t>
            </a:r>
            <a:r>
              <a:rPr lang="es-ES" b="1">
                <a:solidFill>
                  <a:srgbClr val="FFFFFF"/>
                </a:solidFill>
                <a:latin typeface="Courier New" pitchFamily="49" charset="0"/>
              </a:rPr>
              <a:t>0xFFFFFFFF</a:t>
            </a:r>
          </a:p>
        </p:txBody>
      </p:sp>
      <p:sp>
        <p:nvSpPr>
          <p:cNvPr id="106514" name="AutoShape 17"/>
          <p:cNvSpPr>
            <a:spLocks/>
          </p:cNvSpPr>
          <p:nvPr/>
        </p:nvSpPr>
        <p:spPr bwMode="auto">
          <a:xfrm>
            <a:off x="5364163" y="3860800"/>
            <a:ext cx="215900" cy="865188"/>
          </a:xfrm>
          <a:prstGeom prst="rightBrace">
            <a:avLst>
              <a:gd name="adj1" fmla="val 33395"/>
              <a:gd name="adj2" fmla="val 50000"/>
            </a:avLst>
          </a:prstGeom>
          <a:noFill/>
          <a:ln w="28575">
            <a:solidFill>
              <a:srgbClr val="0070C0"/>
            </a:solidFill>
            <a:round/>
            <a:headEnd/>
            <a:tailEnd/>
          </a:ln>
        </p:spPr>
        <p:txBody>
          <a:bodyPr wrap="none" anchor="ctr"/>
          <a:lstStyle/>
          <a:p>
            <a:endParaRPr lang="es-ES"/>
          </a:p>
        </p:txBody>
      </p:sp>
      <p:sp>
        <p:nvSpPr>
          <p:cNvPr id="106515" name="Text Box 18"/>
          <p:cNvSpPr txBox="1">
            <a:spLocks noChangeArrowheads="1"/>
          </p:cNvSpPr>
          <p:nvPr/>
        </p:nvSpPr>
        <p:spPr bwMode="auto">
          <a:xfrm>
            <a:off x="5651500" y="3176588"/>
            <a:ext cx="2663825" cy="396875"/>
          </a:xfrm>
          <a:prstGeom prst="rect">
            <a:avLst/>
          </a:prstGeom>
          <a:noFill/>
          <a:ln w="28575">
            <a:noFill/>
            <a:miter lim="800000"/>
            <a:headEnd/>
            <a:tailEnd/>
          </a:ln>
        </p:spPr>
        <p:txBody>
          <a:bodyPr anchor="ctr">
            <a:spAutoFit/>
          </a:bodyPr>
          <a:lstStyle/>
          <a:p>
            <a:pPr algn="l">
              <a:spcBef>
                <a:spcPct val="20000"/>
              </a:spcBef>
            </a:pPr>
            <a:r>
              <a:rPr lang="es-ES"/>
              <a:t>1 GB (2</a:t>
            </a:r>
            <a:r>
              <a:rPr lang="es-ES" baseline="30000"/>
              <a:t>30</a:t>
            </a:r>
            <a:r>
              <a:rPr lang="es-ES"/>
              <a:t> bytes)</a:t>
            </a:r>
          </a:p>
        </p:txBody>
      </p:sp>
      <p:sp>
        <p:nvSpPr>
          <p:cNvPr id="106516" name="Text Box 19"/>
          <p:cNvSpPr txBox="1">
            <a:spLocks noChangeArrowheads="1"/>
          </p:cNvSpPr>
          <p:nvPr/>
        </p:nvSpPr>
        <p:spPr bwMode="auto">
          <a:xfrm>
            <a:off x="5724525" y="5445125"/>
            <a:ext cx="2663825" cy="396875"/>
          </a:xfrm>
          <a:prstGeom prst="rect">
            <a:avLst/>
          </a:prstGeom>
          <a:noFill/>
          <a:ln w="28575">
            <a:noFill/>
            <a:miter lim="800000"/>
            <a:headEnd/>
            <a:tailEnd/>
          </a:ln>
        </p:spPr>
        <p:txBody>
          <a:bodyPr anchor="ctr">
            <a:spAutoFit/>
          </a:bodyPr>
          <a:lstStyle/>
          <a:p>
            <a:pPr algn="l">
              <a:spcBef>
                <a:spcPct val="20000"/>
              </a:spcBef>
            </a:pPr>
            <a:r>
              <a:rPr lang="es-ES"/>
              <a:t>2 GB (2</a:t>
            </a:r>
            <a:r>
              <a:rPr lang="es-ES" baseline="30000"/>
              <a:t>31</a:t>
            </a:r>
            <a:r>
              <a:rPr lang="es-ES"/>
              <a:t> bytes)</a:t>
            </a:r>
          </a:p>
        </p:txBody>
      </p:sp>
      <p:sp>
        <p:nvSpPr>
          <p:cNvPr id="106517" name="Text Box 20"/>
          <p:cNvSpPr txBox="1">
            <a:spLocks noChangeArrowheads="1"/>
          </p:cNvSpPr>
          <p:nvPr/>
        </p:nvSpPr>
        <p:spPr bwMode="auto">
          <a:xfrm>
            <a:off x="5653088" y="4111625"/>
            <a:ext cx="2663825" cy="396875"/>
          </a:xfrm>
          <a:prstGeom prst="rect">
            <a:avLst/>
          </a:prstGeom>
          <a:noFill/>
          <a:ln w="28575">
            <a:noFill/>
            <a:miter lim="800000"/>
            <a:headEnd/>
            <a:tailEnd/>
          </a:ln>
        </p:spPr>
        <p:txBody>
          <a:bodyPr anchor="ctr">
            <a:spAutoFit/>
          </a:bodyPr>
          <a:lstStyle/>
          <a:p>
            <a:pPr algn="l">
              <a:spcBef>
                <a:spcPct val="20000"/>
              </a:spcBef>
            </a:pPr>
            <a:r>
              <a:rPr lang="es-ES"/>
              <a:t>1 GB (2</a:t>
            </a:r>
            <a:r>
              <a:rPr lang="es-ES" baseline="30000"/>
              <a:t>30</a:t>
            </a:r>
            <a:r>
              <a:rPr lang="es-ES"/>
              <a:t> bytes)</a:t>
            </a:r>
          </a:p>
        </p:txBody>
      </p:sp>
      <p:grpSp>
        <p:nvGrpSpPr>
          <p:cNvPr id="2" name="Group 21"/>
          <p:cNvGrpSpPr>
            <a:grpSpLocks/>
          </p:cNvGrpSpPr>
          <p:nvPr/>
        </p:nvGrpSpPr>
        <p:grpSpPr bwMode="auto">
          <a:xfrm>
            <a:off x="4332288" y="3286125"/>
            <a:ext cx="384175" cy="71438"/>
            <a:chOff x="204" y="1933"/>
            <a:chExt cx="242" cy="45"/>
          </a:xfrm>
        </p:grpSpPr>
        <p:sp>
          <p:nvSpPr>
            <p:cNvPr id="106527" name="Oval 22"/>
            <p:cNvSpPr>
              <a:spLocks noChangeArrowheads="1"/>
            </p:cNvSpPr>
            <p:nvPr/>
          </p:nvSpPr>
          <p:spPr bwMode="auto">
            <a:xfrm>
              <a:off x="204"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6528" name="Oval 23"/>
            <p:cNvSpPr>
              <a:spLocks noChangeArrowheads="1"/>
            </p:cNvSpPr>
            <p:nvPr/>
          </p:nvSpPr>
          <p:spPr bwMode="auto">
            <a:xfrm>
              <a:off x="295"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6529" name="Oval 24"/>
            <p:cNvSpPr>
              <a:spLocks noChangeArrowheads="1"/>
            </p:cNvSpPr>
            <p:nvPr/>
          </p:nvSpPr>
          <p:spPr bwMode="auto">
            <a:xfrm>
              <a:off x="401" y="1933"/>
              <a:ext cx="45" cy="45"/>
            </a:xfrm>
            <a:prstGeom prst="ellipse">
              <a:avLst/>
            </a:prstGeom>
            <a:solidFill>
              <a:schemeClr val="tx1"/>
            </a:solidFill>
            <a:ln w="19050">
              <a:noFill/>
              <a:round/>
              <a:headEnd/>
              <a:tailEnd/>
            </a:ln>
          </p:spPr>
          <p:txBody>
            <a:bodyPr wrap="none" lIns="0" tIns="0" rIns="0" bIns="0" anchor="ctr"/>
            <a:lstStyle/>
            <a:p>
              <a:endParaRPr lang="es-ES"/>
            </a:p>
          </p:txBody>
        </p:sp>
      </p:grpSp>
      <p:grpSp>
        <p:nvGrpSpPr>
          <p:cNvPr id="3" name="Group 25"/>
          <p:cNvGrpSpPr>
            <a:grpSpLocks/>
          </p:cNvGrpSpPr>
          <p:nvPr/>
        </p:nvGrpSpPr>
        <p:grpSpPr bwMode="auto">
          <a:xfrm>
            <a:off x="4356100" y="4294188"/>
            <a:ext cx="384175" cy="71437"/>
            <a:chOff x="204" y="1933"/>
            <a:chExt cx="242" cy="45"/>
          </a:xfrm>
        </p:grpSpPr>
        <p:sp>
          <p:nvSpPr>
            <p:cNvPr id="106524" name="Oval 26"/>
            <p:cNvSpPr>
              <a:spLocks noChangeArrowheads="1"/>
            </p:cNvSpPr>
            <p:nvPr/>
          </p:nvSpPr>
          <p:spPr bwMode="auto">
            <a:xfrm>
              <a:off x="204"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6525" name="Oval 27"/>
            <p:cNvSpPr>
              <a:spLocks noChangeArrowheads="1"/>
            </p:cNvSpPr>
            <p:nvPr/>
          </p:nvSpPr>
          <p:spPr bwMode="auto">
            <a:xfrm>
              <a:off x="295"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6526" name="Oval 28"/>
            <p:cNvSpPr>
              <a:spLocks noChangeArrowheads="1"/>
            </p:cNvSpPr>
            <p:nvPr/>
          </p:nvSpPr>
          <p:spPr bwMode="auto">
            <a:xfrm>
              <a:off x="401" y="1933"/>
              <a:ext cx="45" cy="45"/>
            </a:xfrm>
            <a:prstGeom prst="ellipse">
              <a:avLst/>
            </a:prstGeom>
            <a:solidFill>
              <a:schemeClr val="tx1"/>
            </a:solidFill>
            <a:ln w="19050">
              <a:noFill/>
              <a:round/>
              <a:headEnd/>
              <a:tailEnd/>
            </a:ln>
          </p:spPr>
          <p:txBody>
            <a:bodyPr wrap="none" lIns="0" tIns="0" rIns="0" bIns="0" anchor="ctr"/>
            <a:lstStyle/>
            <a:p>
              <a:endParaRPr lang="es-ES"/>
            </a:p>
          </p:txBody>
        </p:sp>
      </p:grpSp>
      <p:grpSp>
        <p:nvGrpSpPr>
          <p:cNvPr id="4" name="Group 29"/>
          <p:cNvGrpSpPr>
            <a:grpSpLocks/>
          </p:cNvGrpSpPr>
          <p:nvPr/>
        </p:nvGrpSpPr>
        <p:grpSpPr bwMode="auto">
          <a:xfrm>
            <a:off x="4356100" y="5518150"/>
            <a:ext cx="384175" cy="71438"/>
            <a:chOff x="204" y="1933"/>
            <a:chExt cx="242" cy="45"/>
          </a:xfrm>
        </p:grpSpPr>
        <p:sp>
          <p:nvSpPr>
            <p:cNvPr id="106521" name="Oval 30"/>
            <p:cNvSpPr>
              <a:spLocks noChangeArrowheads="1"/>
            </p:cNvSpPr>
            <p:nvPr/>
          </p:nvSpPr>
          <p:spPr bwMode="auto">
            <a:xfrm>
              <a:off x="204"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6522" name="Oval 31"/>
            <p:cNvSpPr>
              <a:spLocks noChangeArrowheads="1"/>
            </p:cNvSpPr>
            <p:nvPr/>
          </p:nvSpPr>
          <p:spPr bwMode="auto">
            <a:xfrm>
              <a:off x="295"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6523" name="Oval 32"/>
            <p:cNvSpPr>
              <a:spLocks noChangeArrowheads="1"/>
            </p:cNvSpPr>
            <p:nvPr/>
          </p:nvSpPr>
          <p:spPr bwMode="auto">
            <a:xfrm>
              <a:off x="401" y="1933"/>
              <a:ext cx="45" cy="45"/>
            </a:xfrm>
            <a:prstGeom prst="ellipse">
              <a:avLst/>
            </a:prstGeom>
            <a:solidFill>
              <a:schemeClr val="tx1"/>
            </a:solidFill>
            <a:ln w="19050">
              <a:noFill/>
              <a:round/>
              <a:headEnd/>
              <a:tailEnd/>
            </a:ln>
          </p:spPr>
          <p:txBody>
            <a:bodyPr wrap="none" lIns="0" tIns="0" rIns="0" bIns="0" anchor="ctr"/>
            <a:lstStyle/>
            <a:p>
              <a:endParaRPr lang="es-ES"/>
            </a:p>
          </p:txBody>
        </p:sp>
      </p:grpSp>
      <p:sp>
        <p:nvSpPr>
          <p:cNvPr id="34" name="Rectangle 2">
            <a:extLst>
              <a:ext uri="{FF2B5EF4-FFF2-40B4-BE49-F238E27FC236}">
                <a16:creationId xmlns:a16="http://schemas.microsoft.com/office/drawing/2014/main" id="{3BD99B35-6AA1-4FBF-97EA-20A4AC403A1A}"/>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dirty="0"/>
              <a:t>Función de selección del módulo</a:t>
            </a:r>
          </a:p>
        </p:txBody>
      </p:sp>
      <p:sp>
        <p:nvSpPr>
          <p:cNvPr id="5" name="2 Marcador de número de diapositiva">
            <a:extLst>
              <a:ext uri="{FF2B5EF4-FFF2-40B4-BE49-F238E27FC236}">
                <a16:creationId xmlns:a16="http://schemas.microsoft.com/office/drawing/2014/main" id="{9D01C264-B315-7DFA-D713-B1CABB5FE4F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135</a:t>
            </a:fld>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a:xfrm>
            <a:off x="574676" y="586542"/>
            <a:ext cx="8250237" cy="865187"/>
          </a:xfrm>
        </p:spPr>
        <p:txBody>
          <a:bodyPr/>
          <a:lstStyle/>
          <a:p>
            <a:r>
              <a:rPr lang="es-ES" sz="2000" dirty="0"/>
              <a:t>Detalle del mapa de memoria para RAM1</a:t>
            </a:r>
          </a:p>
        </p:txBody>
      </p:sp>
      <p:sp>
        <p:nvSpPr>
          <p:cNvPr id="107524" name="Text Box 3"/>
          <p:cNvSpPr txBox="1">
            <a:spLocks noChangeArrowheads="1"/>
          </p:cNvSpPr>
          <p:nvPr/>
        </p:nvSpPr>
        <p:spPr bwMode="auto">
          <a:xfrm>
            <a:off x="2124075" y="1212850"/>
            <a:ext cx="7056438" cy="396875"/>
          </a:xfrm>
          <a:prstGeom prst="rect">
            <a:avLst/>
          </a:prstGeom>
          <a:noFill/>
          <a:ln w="28575">
            <a:noFill/>
            <a:miter lim="800000"/>
            <a:headEnd/>
            <a:tailEnd/>
          </a:ln>
        </p:spPr>
        <p:txBody>
          <a:bodyPr anchor="ctr">
            <a:spAutoFit/>
          </a:bodyPr>
          <a:lstStyle/>
          <a:p>
            <a:pPr algn="l">
              <a:spcBef>
                <a:spcPct val="20000"/>
              </a:spcBef>
            </a:pPr>
            <a:r>
              <a:rPr lang="es-ES"/>
              <a:t>A</a:t>
            </a:r>
            <a:r>
              <a:rPr lang="es-ES" baseline="-25000"/>
              <a:t>31</a:t>
            </a:r>
            <a:r>
              <a:rPr lang="es-ES"/>
              <a:t>  A</a:t>
            </a:r>
            <a:r>
              <a:rPr lang="es-ES" baseline="-25000"/>
              <a:t>30</a:t>
            </a:r>
            <a:r>
              <a:rPr lang="es-ES"/>
              <a:t>  A</a:t>
            </a:r>
            <a:r>
              <a:rPr lang="es-ES" baseline="-25000"/>
              <a:t>29</a:t>
            </a:r>
            <a:r>
              <a:rPr lang="es-ES"/>
              <a:t>  A</a:t>
            </a:r>
            <a:r>
              <a:rPr lang="es-ES" baseline="-25000"/>
              <a:t>28 </a:t>
            </a:r>
            <a:r>
              <a:rPr lang="es-ES"/>
              <a:t> A</a:t>
            </a:r>
            <a:r>
              <a:rPr lang="es-ES" baseline="-25000"/>
              <a:t>27</a:t>
            </a:r>
            <a:r>
              <a:rPr lang="es-ES"/>
              <a:t>	</a:t>
            </a:r>
            <a:r>
              <a:rPr lang="es-ES" b="1"/>
              <a:t>.  .  .</a:t>
            </a:r>
            <a:r>
              <a:rPr lang="es-ES"/>
              <a:t>		A</a:t>
            </a:r>
            <a:r>
              <a:rPr lang="es-ES" baseline="-25000"/>
              <a:t>4</a:t>
            </a:r>
            <a:r>
              <a:rPr lang="es-ES"/>
              <a:t>  A</a:t>
            </a:r>
            <a:r>
              <a:rPr lang="es-ES" baseline="-25000"/>
              <a:t>3</a:t>
            </a:r>
            <a:r>
              <a:rPr lang="es-ES"/>
              <a:t>  A</a:t>
            </a:r>
            <a:r>
              <a:rPr lang="es-ES" baseline="-25000"/>
              <a:t>2 </a:t>
            </a:r>
            <a:r>
              <a:rPr lang="es-ES"/>
              <a:t> A</a:t>
            </a:r>
            <a:r>
              <a:rPr lang="es-ES" baseline="-25000"/>
              <a:t>1</a:t>
            </a:r>
            <a:r>
              <a:rPr lang="es-ES"/>
              <a:t>  A</a:t>
            </a:r>
            <a:r>
              <a:rPr lang="es-ES" baseline="-25000"/>
              <a:t>0</a:t>
            </a:r>
          </a:p>
        </p:txBody>
      </p:sp>
      <p:sp>
        <p:nvSpPr>
          <p:cNvPr id="107525" name="Text Box 4"/>
          <p:cNvSpPr txBox="1">
            <a:spLocks noChangeArrowheads="1"/>
          </p:cNvSpPr>
          <p:nvPr/>
        </p:nvSpPr>
        <p:spPr bwMode="blackWhite">
          <a:xfrm>
            <a:off x="2052638" y="1705541"/>
            <a:ext cx="6911975" cy="2246769"/>
          </a:xfrm>
          <a:prstGeom prst="rect">
            <a:avLst/>
          </a:prstGeom>
          <a:solidFill>
            <a:srgbClr val="3399FF"/>
          </a:solidFill>
          <a:ln w="28575">
            <a:noFill/>
            <a:miter lim="800000"/>
            <a:headEnd/>
            <a:tailEnd/>
          </a:ln>
        </p:spPr>
        <p:txBody>
          <a:bodyPr anchor="ctr">
            <a:spAutoFit/>
          </a:bodyPr>
          <a:lstStyle/>
          <a:p>
            <a:pPr algn="l"/>
            <a:r>
              <a:rPr lang="es-ES" b="1">
                <a:latin typeface="Courier New" pitchFamily="49" charset="0"/>
              </a:rPr>
              <a:t> 0  0  0  0  0 	. . .		0  0  0  0  0</a:t>
            </a:r>
          </a:p>
          <a:p>
            <a:pPr algn="l"/>
            <a:r>
              <a:rPr lang="es-ES" b="1">
                <a:latin typeface="Courier New" pitchFamily="49" charset="0"/>
              </a:rPr>
              <a:t> 0  0  0  0  0 	. . .		0  0  0  0  1</a:t>
            </a:r>
          </a:p>
          <a:p>
            <a:pPr algn="l"/>
            <a:r>
              <a:rPr lang="es-ES" b="1">
                <a:latin typeface="Courier New" pitchFamily="49" charset="0"/>
              </a:rPr>
              <a:t> 0  0  0  0  0 	. . .		0  0  0  1  0</a:t>
            </a:r>
          </a:p>
          <a:p>
            <a:pPr algn="l"/>
            <a:endParaRPr lang="es-ES" b="1">
              <a:latin typeface="Courier New" pitchFamily="49" charset="0"/>
            </a:endParaRPr>
          </a:p>
          <a:p>
            <a:pPr algn="l"/>
            <a:r>
              <a:rPr lang="es-ES" b="1">
                <a:latin typeface="Courier New" pitchFamily="49" charset="0"/>
              </a:rPr>
              <a:t> 0  0  1  1  1 	. . .		1  1  1  1  0</a:t>
            </a:r>
          </a:p>
          <a:p>
            <a:pPr algn="l"/>
            <a:r>
              <a:rPr lang="es-ES" b="1">
                <a:latin typeface="Courier New" pitchFamily="49" charset="0"/>
              </a:rPr>
              <a:t> 0  0  1  1  1 	. . .		1  1  1  1  1</a:t>
            </a:r>
          </a:p>
        </p:txBody>
      </p:sp>
      <p:sp>
        <p:nvSpPr>
          <p:cNvPr id="107526" name="AutoShape 5"/>
          <p:cNvSpPr>
            <a:spLocks noChangeArrowheads="1"/>
          </p:cNvSpPr>
          <p:nvPr/>
        </p:nvSpPr>
        <p:spPr bwMode="auto">
          <a:xfrm>
            <a:off x="2019300" y="4623664"/>
            <a:ext cx="6873875" cy="531674"/>
          </a:xfrm>
          <a:prstGeom prst="cube">
            <a:avLst>
              <a:gd name="adj" fmla="val 25000"/>
            </a:avLst>
          </a:prstGeom>
          <a:solidFill>
            <a:srgbClr val="C0C0C0"/>
          </a:solidFill>
          <a:ln w="28575">
            <a:noFill/>
            <a:miter lim="800000"/>
            <a:headEnd/>
            <a:tailEnd/>
          </a:ln>
        </p:spPr>
        <p:txBody>
          <a:bodyPr anchor="ctr">
            <a:spAutoFit/>
          </a:bodyPr>
          <a:lstStyle/>
          <a:p>
            <a:pPr algn="l">
              <a:spcBef>
                <a:spcPct val="20000"/>
              </a:spcBef>
            </a:pPr>
            <a:r>
              <a:rPr lang="es-ES" b="1" dirty="0">
                <a:latin typeface="Courier New" pitchFamily="49" charset="0"/>
              </a:rPr>
              <a:t> 0  0  X  </a:t>
            </a:r>
            <a:r>
              <a:rPr lang="es-ES" b="1" dirty="0" err="1">
                <a:latin typeface="Courier New" pitchFamily="49" charset="0"/>
              </a:rPr>
              <a:t>X</a:t>
            </a:r>
            <a:r>
              <a:rPr lang="es-ES" b="1" dirty="0">
                <a:latin typeface="Courier New" pitchFamily="49" charset="0"/>
              </a:rPr>
              <a:t>  </a:t>
            </a:r>
            <a:r>
              <a:rPr lang="es-ES" b="1" dirty="0" err="1">
                <a:latin typeface="Courier New" pitchFamily="49" charset="0"/>
              </a:rPr>
              <a:t>X</a:t>
            </a:r>
            <a:r>
              <a:rPr lang="es-ES" b="1" dirty="0">
                <a:latin typeface="Courier New" pitchFamily="49" charset="0"/>
              </a:rPr>
              <a:t> 	. . .		X  </a:t>
            </a:r>
            <a:r>
              <a:rPr lang="es-ES" b="1" dirty="0" err="1">
                <a:latin typeface="Courier New" pitchFamily="49" charset="0"/>
              </a:rPr>
              <a:t>X</a:t>
            </a:r>
            <a:r>
              <a:rPr lang="es-ES" b="1" dirty="0">
                <a:latin typeface="Courier New" pitchFamily="49" charset="0"/>
              </a:rPr>
              <a:t>  </a:t>
            </a:r>
            <a:r>
              <a:rPr lang="es-ES" b="1" dirty="0" err="1">
                <a:latin typeface="Courier New" pitchFamily="49" charset="0"/>
              </a:rPr>
              <a:t>X</a:t>
            </a:r>
            <a:r>
              <a:rPr lang="es-ES" b="1" dirty="0">
                <a:latin typeface="Courier New" pitchFamily="49" charset="0"/>
              </a:rPr>
              <a:t>  </a:t>
            </a:r>
            <a:r>
              <a:rPr lang="es-ES" b="1" dirty="0" err="1">
                <a:latin typeface="Courier New" pitchFamily="49" charset="0"/>
              </a:rPr>
              <a:t>X</a:t>
            </a:r>
            <a:r>
              <a:rPr lang="es-ES" b="1" dirty="0">
                <a:latin typeface="Courier New" pitchFamily="49" charset="0"/>
              </a:rPr>
              <a:t>  </a:t>
            </a:r>
            <a:r>
              <a:rPr lang="es-ES" b="1" dirty="0" err="1">
                <a:latin typeface="Courier New" pitchFamily="49" charset="0"/>
              </a:rPr>
              <a:t>X</a:t>
            </a:r>
            <a:endParaRPr lang="es-ES" b="1" dirty="0">
              <a:latin typeface="Courier New" pitchFamily="49" charset="0"/>
            </a:endParaRPr>
          </a:p>
        </p:txBody>
      </p:sp>
      <p:sp>
        <p:nvSpPr>
          <p:cNvPr id="107527" name="Line 6"/>
          <p:cNvSpPr>
            <a:spLocks noChangeShapeType="1"/>
          </p:cNvSpPr>
          <p:nvPr/>
        </p:nvSpPr>
        <p:spPr bwMode="auto">
          <a:xfrm>
            <a:off x="2124075" y="1717675"/>
            <a:ext cx="6769100" cy="0"/>
          </a:xfrm>
          <a:prstGeom prst="line">
            <a:avLst/>
          </a:prstGeom>
          <a:noFill/>
          <a:ln w="38100">
            <a:solidFill>
              <a:srgbClr val="FFCC00"/>
            </a:solidFill>
            <a:round/>
            <a:headEnd/>
            <a:tailEnd/>
          </a:ln>
        </p:spPr>
        <p:txBody>
          <a:bodyPr lIns="0" tIns="0" rIns="0" bIns="0" anchor="ctr"/>
          <a:lstStyle/>
          <a:p>
            <a:endParaRPr lang="es-ES"/>
          </a:p>
        </p:txBody>
      </p:sp>
      <p:sp>
        <p:nvSpPr>
          <p:cNvPr id="107528" name="AutoShape 7"/>
          <p:cNvSpPr>
            <a:spLocks noChangeArrowheads="1"/>
          </p:cNvSpPr>
          <p:nvPr/>
        </p:nvSpPr>
        <p:spPr bwMode="auto">
          <a:xfrm>
            <a:off x="5187950" y="3921125"/>
            <a:ext cx="865188" cy="647700"/>
          </a:xfrm>
          <a:prstGeom prst="downArrow">
            <a:avLst>
              <a:gd name="adj1" fmla="val 50093"/>
              <a:gd name="adj2" fmla="val 38727"/>
            </a:avLst>
          </a:prstGeom>
          <a:solidFill>
            <a:schemeClr val="accent5">
              <a:lumMod val="60000"/>
              <a:lumOff val="40000"/>
            </a:schemeClr>
          </a:solidFill>
          <a:ln w="19050">
            <a:solidFill>
              <a:schemeClr val="accent5">
                <a:lumMod val="60000"/>
                <a:lumOff val="40000"/>
              </a:schemeClr>
            </a:solidFill>
            <a:miter lim="800000"/>
            <a:headEnd/>
            <a:tailEnd/>
          </a:ln>
        </p:spPr>
        <p:txBody>
          <a:bodyPr wrap="none" lIns="0" tIns="0" rIns="0" bIns="0" anchor="ctr"/>
          <a:lstStyle/>
          <a:p>
            <a:endParaRPr lang="es-ES"/>
          </a:p>
        </p:txBody>
      </p:sp>
      <p:sp>
        <p:nvSpPr>
          <p:cNvPr id="107529" name="Text Box 8"/>
          <p:cNvSpPr txBox="1">
            <a:spLocks noChangeArrowheads="1"/>
          </p:cNvSpPr>
          <p:nvPr/>
        </p:nvSpPr>
        <p:spPr bwMode="auto">
          <a:xfrm>
            <a:off x="1187450" y="5589559"/>
            <a:ext cx="2808288" cy="701731"/>
          </a:xfrm>
          <a:prstGeom prst="rect">
            <a:avLst/>
          </a:prstGeom>
          <a:solidFill>
            <a:schemeClr val="accent3">
              <a:lumMod val="20000"/>
              <a:lumOff val="80000"/>
            </a:schemeClr>
          </a:solidFill>
          <a:ln w="28575">
            <a:noFill/>
            <a:miter lim="800000"/>
            <a:headEnd/>
            <a:tailEnd/>
          </a:ln>
        </p:spPr>
        <p:txBody>
          <a:bodyPr anchor="ctr">
            <a:spAutoFit/>
          </a:bodyPr>
          <a:lstStyle/>
          <a:p>
            <a:r>
              <a:rPr lang="es-ES" sz="1800" dirty="0"/>
              <a:t>A</a:t>
            </a:r>
            <a:r>
              <a:rPr lang="es-ES" sz="1800" baseline="-25000" dirty="0"/>
              <a:t>31</a:t>
            </a:r>
            <a:r>
              <a:rPr lang="es-ES" sz="1800" dirty="0"/>
              <a:t>y A</a:t>
            </a:r>
            <a:r>
              <a:rPr lang="es-ES" sz="1800" baseline="-25000" dirty="0"/>
              <a:t>30</a:t>
            </a:r>
            <a:r>
              <a:rPr lang="es-ES" sz="1800" dirty="0"/>
              <a:t> seleccionan</a:t>
            </a:r>
          </a:p>
          <a:p>
            <a:r>
              <a:rPr lang="es-ES" sz="1800" dirty="0"/>
              <a:t>el módulo</a:t>
            </a:r>
          </a:p>
        </p:txBody>
      </p:sp>
      <p:sp>
        <p:nvSpPr>
          <p:cNvPr id="107530" name="Text Box 9"/>
          <p:cNvSpPr txBox="1">
            <a:spLocks noChangeArrowheads="1"/>
          </p:cNvSpPr>
          <p:nvPr/>
        </p:nvSpPr>
        <p:spPr bwMode="auto">
          <a:xfrm>
            <a:off x="4899025" y="5589240"/>
            <a:ext cx="2409825" cy="646331"/>
          </a:xfrm>
          <a:prstGeom prst="rect">
            <a:avLst/>
          </a:prstGeom>
          <a:solidFill>
            <a:schemeClr val="accent3">
              <a:lumMod val="60000"/>
              <a:lumOff val="40000"/>
            </a:schemeClr>
          </a:solidFill>
          <a:ln w="28575">
            <a:noFill/>
            <a:miter lim="800000"/>
            <a:headEnd/>
            <a:tailEnd/>
          </a:ln>
        </p:spPr>
        <p:txBody>
          <a:bodyPr anchor="ctr">
            <a:spAutoFit/>
          </a:bodyPr>
          <a:lstStyle/>
          <a:p>
            <a:pPr>
              <a:spcBef>
                <a:spcPct val="20000"/>
              </a:spcBef>
            </a:pPr>
            <a:r>
              <a:rPr lang="es-ES" sz="1800" dirty="0"/>
              <a:t>Direccionamiento dentro del módulo</a:t>
            </a:r>
          </a:p>
        </p:txBody>
      </p:sp>
      <p:sp>
        <p:nvSpPr>
          <p:cNvPr id="107531" name="AutoShape 10"/>
          <p:cNvSpPr>
            <a:spLocks/>
          </p:cNvSpPr>
          <p:nvPr/>
        </p:nvSpPr>
        <p:spPr bwMode="auto">
          <a:xfrm rot="5400000">
            <a:off x="5852319" y="2569369"/>
            <a:ext cx="287337" cy="5584825"/>
          </a:xfrm>
          <a:prstGeom prst="rightBrace">
            <a:avLst>
              <a:gd name="adj1" fmla="val 37523"/>
              <a:gd name="adj2" fmla="val 50000"/>
            </a:avLst>
          </a:prstGeom>
          <a:noFill/>
          <a:ln w="28575">
            <a:solidFill>
              <a:srgbClr val="0070C0"/>
            </a:solidFill>
            <a:round/>
            <a:headEnd/>
            <a:tailEnd/>
          </a:ln>
        </p:spPr>
        <p:txBody>
          <a:bodyPr wrap="none" anchor="ctr"/>
          <a:lstStyle/>
          <a:p>
            <a:endParaRPr lang="es-ES"/>
          </a:p>
        </p:txBody>
      </p:sp>
      <p:sp>
        <p:nvSpPr>
          <p:cNvPr id="107532" name="Text Box 11"/>
          <p:cNvSpPr txBox="1">
            <a:spLocks noChangeArrowheads="1"/>
          </p:cNvSpPr>
          <p:nvPr/>
        </p:nvSpPr>
        <p:spPr bwMode="auto">
          <a:xfrm>
            <a:off x="323850" y="1772816"/>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dirty="0">
                <a:latin typeface="Courier New" pitchFamily="49" charset="0"/>
              </a:rPr>
              <a:t> </a:t>
            </a:r>
            <a:r>
              <a:rPr lang="es-ES" b="1" dirty="0">
                <a:latin typeface="Courier New" pitchFamily="49" charset="0"/>
              </a:rPr>
              <a:t>0x00000000</a:t>
            </a:r>
          </a:p>
        </p:txBody>
      </p:sp>
      <p:sp>
        <p:nvSpPr>
          <p:cNvPr id="107533" name="Text Box 12"/>
          <p:cNvSpPr txBox="1">
            <a:spLocks noChangeArrowheads="1"/>
          </p:cNvSpPr>
          <p:nvPr/>
        </p:nvSpPr>
        <p:spPr bwMode="auto">
          <a:xfrm>
            <a:off x="323850" y="211608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dirty="0">
                <a:latin typeface="Courier New" pitchFamily="49" charset="0"/>
              </a:rPr>
              <a:t> </a:t>
            </a:r>
            <a:r>
              <a:rPr lang="es-ES" b="1" dirty="0">
                <a:latin typeface="Courier New" pitchFamily="49" charset="0"/>
              </a:rPr>
              <a:t>0x00000001</a:t>
            </a:r>
          </a:p>
        </p:txBody>
      </p:sp>
      <p:sp>
        <p:nvSpPr>
          <p:cNvPr id="107534" name="Text Box 13"/>
          <p:cNvSpPr txBox="1">
            <a:spLocks noChangeArrowheads="1"/>
          </p:cNvSpPr>
          <p:nvPr/>
        </p:nvSpPr>
        <p:spPr bwMode="auto">
          <a:xfrm>
            <a:off x="323850" y="242088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dirty="0">
                <a:latin typeface="Courier New" pitchFamily="49" charset="0"/>
              </a:rPr>
              <a:t> </a:t>
            </a:r>
            <a:r>
              <a:rPr lang="es-ES" b="1" dirty="0">
                <a:latin typeface="Courier New" pitchFamily="49" charset="0"/>
              </a:rPr>
              <a:t>0x00000002</a:t>
            </a:r>
          </a:p>
        </p:txBody>
      </p:sp>
      <p:sp>
        <p:nvSpPr>
          <p:cNvPr id="107535" name="Text Box 14"/>
          <p:cNvSpPr txBox="1">
            <a:spLocks noChangeArrowheads="1"/>
          </p:cNvSpPr>
          <p:nvPr/>
        </p:nvSpPr>
        <p:spPr bwMode="auto">
          <a:xfrm>
            <a:off x="323850" y="319620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dirty="0">
                <a:latin typeface="Courier New" pitchFamily="49" charset="0"/>
              </a:rPr>
              <a:t> </a:t>
            </a:r>
            <a:r>
              <a:rPr lang="es-ES" b="1" dirty="0">
                <a:latin typeface="Courier New" pitchFamily="49" charset="0"/>
              </a:rPr>
              <a:t>0x3FFFFFFE</a:t>
            </a:r>
          </a:p>
        </p:txBody>
      </p:sp>
      <p:sp>
        <p:nvSpPr>
          <p:cNvPr id="107536" name="Text Box 15"/>
          <p:cNvSpPr txBox="1">
            <a:spLocks noChangeArrowheads="1"/>
          </p:cNvSpPr>
          <p:nvPr/>
        </p:nvSpPr>
        <p:spPr bwMode="auto">
          <a:xfrm>
            <a:off x="323850" y="355624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es-ES" dirty="0">
                <a:latin typeface="Courier New" pitchFamily="49" charset="0"/>
              </a:rPr>
              <a:t> </a:t>
            </a:r>
            <a:r>
              <a:rPr lang="es-ES" b="1" dirty="0">
                <a:latin typeface="Courier New" pitchFamily="49" charset="0"/>
              </a:rPr>
              <a:t>0x3FFFFFFF</a:t>
            </a:r>
          </a:p>
        </p:txBody>
      </p:sp>
      <p:grpSp>
        <p:nvGrpSpPr>
          <p:cNvPr id="2" name="Group 16"/>
          <p:cNvGrpSpPr>
            <a:grpSpLocks/>
          </p:cNvGrpSpPr>
          <p:nvPr/>
        </p:nvGrpSpPr>
        <p:grpSpPr bwMode="auto">
          <a:xfrm>
            <a:off x="1019175" y="2924175"/>
            <a:ext cx="384175" cy="71438"/>
            <a:chOff x="204" y="1933"/>
            <a:chExt cx="242" cy="45"/>
          </a:xfrm>
        </p:grpSpPr>
        <p:sp>
          <p:nvSpPr>
            <p:cNvPr id="107540" name="Oval 17"/>
            <p:cNvSpPr>
              <a:spLocks noChangeArrowheads="1"/>
            </p:cNvSpPr>
            <p:nvPr/>
          </p:nvSpPr>
          <p:spPr bwMode="auto">
            <a:xfrm>
              <a:off x="204"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7541" name="Oval 18"/>
            <p:cNvSpPr>
              <a:spLocks noChangeArrowheads="1"/>
            </p:cNvSpPr>
            <p:nvPr/>
          </p:nvSpPr>
          <p:spPr bwMode="auto">
            <a:xfrm>
              <a:off x="295"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7542" name="Oval 19"/>
            <p:cNvSpPr>
              <a:spLocks noChangeArrowheads="1"/>
            </p:cNvSpPr>
            <p:nvPr/>
          </p:nvSpPr>
          <p:spPr bwMode="auto">
            <a:xfrm>
              <a:off x="401" y="1933"/>
              <a:ext cx="45" cy="45"/>
            </a:xfrm>
            <a:prstGeom prst="ellipse">
              <a:avLst/>
            </a:prstGeom>
            <a:solidFill>
              <a:schemeClr val="tx1"/>
            </a:solidFill>
            <a:ln w="19050">
              <a:noFill/>
              <a:round/>
              <a:headEnd/>
              <a:tailEnd/>
            </a:ln>
          </p:spPr>
          <p:txBody>
            <a:bodyPr wrap="none" lIns="0" tIns="0" rIns="0" bIns="0" anchor="ctr"/>
            <a:lstStyle/>
            <a:p>
              <a:endParaRPr lang="es-ES"/>
            </a:p>
          </p:txBody>
        </p:sp>
      </p:grpSp>
      <p:sp>
        <p:nvSpPr>
          <p:cNvPr id="107538" name="AutoShape 20"/>
          <p:cNvSpPr>
            <a:spLocks/>
          </p:cNvSpPr>
          <p:nvPr/>
        </p:nvSpPr>
        <p:spPr bwMode="auto">
          <a:xfrm rot="5400000">
            <a:off x="2401094" y="4891881"/>
            <a:ext cx="249238" cy="923925"/>
          </a:xfrm>
          <a:prstGeom prst="rightBrace">
            <a:avLst>
              <a:gd name="adj1" fmla="val 45857"/>
              <a:gd name="adj2" fmla="val 50000"/>
            </a:avLst>
          </a:prstGeom>
          <a:noFill/>
          <a:ln w="28575">
            <a:solidFill>
              <a:srgbClr val="0070C0"/>
            </a:solidFill>
            <a:round/>
            <a:headEnd/>
            <a:tailEnd/>
          </a:ln>
        </p:spPr>
        <p:txBody>
          <a:bodyPr wrap="none" anchor="ctr"/>
          <a:lstStyle/>
          <a:p>
            <a:endParaRPr lang="es-ES"/>
          </a:p>
        </p:txBody>
      </p:sp>
      <p:sp>
        <p:nvSpPr>
          <p:cNvPr id="107539" name="Rectangle 21"/>
          <p:cNvSpPr>
            <a:spLocks noChangeArrowheads="1"/>
          </p:cNvSpPr>
          <p:nvPr/>
        </p:nvSpPr>
        <p:spPr bwMode="auto">
          <a:xfrm>
            <a:off x="179388" y="4033808"/>
            <a:ext cx="2805112" cy="400110"/>
          </a:xfrm>
          <a:prstGeom prst="rect">
            <a:avLst/>
          </a:prstGeom>
          <a:solidFill>
            <a:schemeClr val="accent1">
              <a:lumMod val="20000"/>
              <a:lumOff val="80000"/>
            </a:schemeClr>
          </a:solidFill>
          <a:ln w="28575">
            <a:noFill/>
            <a:miter lim="800000"/>
            <a:headEnd/>
            <a:tailEnd/>
          </a:ln>
        </p:spPr>
        <p:txBody>
          <a:bodyPr anchor="ctr">
            <a:spAutoFit/>
          </a:bodyPr>
          <a:lstStyle/>
          <a:p>
            <a:pPr>
              <a:spcBef>
                <a:spcPct val="20000"/>
              </a:spcBef>
            </a:pPr>
            <a:r>
              <a:rPr lang="es-ES" sz="1800" dirty="0"/>
              <a:t>SEL*</a:t>
            </a:r>
            <a:r>
              <a:rPr lang="es-ES" sz="1800" baseline="-25000" dirty="0"/>
              <a:t>RAM1</a:t>
            </a:r>
            <a:r>
              <a:rPr lang="es-ES" dirty="0">
                <a:latin typeface="Times New Roman" pitchFamily="18" charset="0"/>
              </a:rPr>
              <a:t> </a:t>
            </a:r>
            <a:r>
              <a:rPr lang="es-ES" dirty="0"/>
              <a:t>= A</a:t>
            </a:r>
            <a:r>
              <a:rPr lang="es-ES" baseline="-25000" dirty="0"/>
              <a:t>31</a:t>
            </a:r>
            <a:r>
              <a:rPr lang="es-ES" dirty="0"/>
              <a:t> + A</a:t>
            </a:r>
            <a:r>
              <a:rPr lang="es-ES" baseline="-25000" dirty="0"/>
              <a:t>30</a:t>
            </a:r>
            <a:endParaRPr lang="es-ES" sz="1600" baseline="-25000" dirty="0"/>
          </a:p>
        </p:txBody>
      </p:sp>
      <p:sp>
        <p:nvSpPr>
          <p:cNvPr id="23" name="Rectangle 2">
            <a:extLst>
              <a:ext uri="{FF2B5EF4-FFF2-40B4-BE49-F238E27FC236}">
                <a16:creationId xmlns:a16="http://schemas.microsoft.com/office/drawing/2014/main" id="{21CD638A-971C-4C39-B2D3-87A000F53F55}"/>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t>Función de selección del módulo</a:t>
            </a:r>
            <a:endParaRPr lang="es-ES" dirty="0"/>
          </a:p>
        </p:txBody>
      </p:sp>
      <p:sp>
        <p:nvSpPr>
          <p:cNvPr id="3" name="2 Marcador de número de diapositiva">
            <a:extLst>
              <a:ext uri="{FF2B5EF4-FFF2-40B4-BE49-F238E27FC236}">
                <a16:creationId xmlns:a16="http://schemas.microsoft.com/office/drawing/2014/main" id="{7C57123D-AD14-A600-2B79-55F2FB8DA95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136</a:t>
            </a:fld>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Grp="1" noChangeArrowheads="1"/>
          </p:cNvSpPr>
          <p:nvPr>
            <p:ph type="title"/>
          </p:nvPr>
        </p:nvSpPr>
        <p:spPr>
          <a:xfrm>
            <a:off x="577056" y="649239"/>
            <a:ext cx="8250237" cy="865187"/>
          </a:xfrm>
        </p:spPr>
        <p:txBody>
          <a:bodyPr/>
          <a:lstStyle/>
          <a:p>
            <a:r>
              <a:rPr lang="es-ES" sz="2000" dirty="0"/>
              <a:t>Detalle del mapa de memoria para RAM2</a:t>
            </a:r>
          </a:p>
        </p:txBody>
      </p:sp>
      <p:sp>
        <p:nvSpPr>
          <p:cNvPr id="108548" name="Text Box 3"/>
          <p:cNvSpPr txBox="1">
            <a:spLocks noChangeArrowheads="1"/>
          </p:cNvSpPr>
          <p:nvPr/>
        </p:nvSpPr>
        <p:spPr bwMode="auto">
          <a:xfrm>
            <a:off x="2124075" y="1212850"/>
            <a:ext cx="7056438" cy="396875"/>
          </a:xfrm>
          <a:prstGeom prst="rect">
            <a:avLst/>
          </a:prstGeom>
          <a:noFill/>
          <a:ln w="28575">
            <a:noFill/>
            <a:miter lim="800000"/>
            <a:headEnd/>
            <a:tailEnd/>
          </a:ln>
        </p:spPr>
        <p:txBody>
          <a:bodyPr anchor="ctr">
            <a:spAutoFit/>
          </a:bodyPr>
          <a:lstStyle/>
          <a:p>
            <a:pPr algn="l">
              <a:spcBef>
                <a:spcPct val="20000"/>
              </a:spcBef>
            </a:pPr>
            <a:r>
              <a:rPr lang="es-ES_tradnl"/>
              <a:t>A</a:t>
            </a:r>
            <a:r>
              <a:rPr lang="es-ES_tradnl" baseline="-25000"/>
              <a:t>31</a:t>
            </a:r>
            <a:r>
              <a:rPr lang="es-ES_tradnl"/>
              <a:t>  A</a:t>
            </a:r>
            <a:r>
              <a:rPr lang="es-ES_tradnl" baseline="-25000"/>
              <a:t>30</a:t>
            </a:r>
            <a:r>
              <a:rPr lang="es-ES_tradnl"/>
              <a:t>  A</a:t>
            </a:r>
            <a:r>
              <a:rPr lang="es-ES_tradnl" baseline="-25000"/>
              <a:t>29</a:t>
            </a:r>
            <a:r>
              <a:rPr lang="es-ES_tradnl"/>
              <a:t>  A</a:t>
            </a:r>
            <a:r>
              <a:rPr lang="es-ES_tradnl" baseline="-25000"/>
              <a:t>28 </a:t>
            </a:r>
            <a:r>
              <a:rPr lang="es-ES_tradnl"/>
              <a:t> A</a:t>
            </a:r>
            <a:r>
              <a:rPr lang="es-ES_tradnl" baseline="-25000"/>
              <a:t>27</a:t>
            </a:r>
            <a:r>
              <a:rPr lang="es-ES_tradnl"/>
              <a:t>	</a:t>
            </a:r>
            <a:r>
              <a:rPr lang="es-ES_tradnl" b="1"/>
              <a:t>.  .  .</a:t>
            </a:r>
            <a:r>
              <a:rPr lang="es-ES_tradnl"/>
              <a:t>		A</a:t>
            </a:r>
            <a:r>
              <a:rPr lang="es-ES_tradnl" baseline="-25000"/>
              <a:t>4</a:t>
            </a:r>
            <a:r>
              <a:rPr lang="es-ES_tradnl"/>
              <a:t>  A</a:t>
            </a:r>
            <a:r>
              <a:rPr lang="es-ES_tradnl" baseline="-25000"/>
              <a:t>3</a:t>
            </a:r>
            <a:r>
              <a:rPr lang="es-ES_tradnl"/>
              <a:t>  A</a:t>
            </a:r>
            <a:r>
              <a:rPr lang="es-ES_tradnl" baseline="-25000"/>
              <a:t>2 </a:t>
            </a:r>
            <a:r>
              <a:rPr lang="es-ES_tradnl"/>
              <a:t> A</a:t>
            </a:r>
            <a:r>
              <a:rPr lang="es-ES_tradnl" baseline="-25000"/>
              <a:t>1</a:t>
            </a:r>
            <a:r>
              <a:rPr lang="es-ES_tradnl"/>
              <a:t>  A</a:t>
            </a:r>
            <a:r>
              <a:rPr lang="es-ES_tradnl" baseline="-25000"/>
              <a:t>0</a:t>
            </a:r>
          </a:p>
        </p:txBody>
      </p:sp>
      <p:sp>
        <p:nvSpPr>
          <p:cNvPr id="108549" name="Text Box 4"/>
          <p:cNvSpPr txBox="1">
            <a:spLocks noChangeArrowheads="1"/>
          </p:cNvSpPr>
          <p:nvPr/>
        </p:nvSpPr>
        <p:spPr bwMode="blackWhite">
          <a:xfrm>
            <a:off x="2052638" y="1705541"/>
            <a:ext cx="6911975" cy="2246769"/>
          </a:xfrm>
          <a:prstGeom prst="rect">
            <a:avLst/>
          </a:prstGeom>
          <a:solidFill>
            <a:srgbClr val="3399FF"/>
          </a:solidFill>
          <a:ln w="28575">
            <a:noFill/>
            <a:miter lim="800000"/>
            <a:headEnd/>
            <a:tailEnd/>
          </a:ln>
        </p:spPr>
        <p:txBody>
          <a:bodyPr anchor="ctr">
            <a:spAutoFit/>
          </a:bodyPr>
          <a:lstStyle/>
          <a:p>
            <a:pPr algn="l"/>
            <a:r>
              <a:rPr lang="es-ES_tradnl" b="1">
                <a:latin typeface="Courier New" pitchFamily="49" charset="0"/>
              </a:rPr>
              <a:t> 1  0  0  0  0 	. . .		0  0  0  0  0</a:t>
            </a:r>
          </a:p>
          <a:p>
            <a:pPr algn="l"/>
            <a:r>
              <a:rPr lang="es-ES_tradnl" b="1">
                <a:latin typeface="Courier New" pitchFamily="49" charset="0"/>
              </a:rPr>
              <a:t> 1  0  0  0  0 	. . .		0  0  0  0  1</a:t>
            </a:r>
          </a:p>
          <a:p>
            <a:pPr algn="l"/>
            <a:r>
              <a:rPr lang="es-ES_tradnl" b="1">
                <a:latin typeface="Courier New" pitchFamily="49" charset="0"/>
              </a:rPr>
              <a:t> 1  0  0  0  0 	. . .		0  0  0  1  0</a:t>
            </a:r>
          </a:p>
          <a:p>
            <a:pPr algn="l"/>
            <a:endParaRPr lang="es-ES_tradnl" b="1">
              <a:latin typeface="Courier New" pitchFamily="49" charset="0"/>
            </a:endParaRPr>
          </a:p>
          <a:p>
            <a:pPr algn="l"/>
            <a:r>
              <a:rPr lang="es-ES_tradnl" b="1">
                <a:latin typeface="Courier New" pitchFamily="49" charset="0"/>
              </a:rPr>
              <a:t> 1  1  1  1  1 	. . .		1  1  1  1  0</a:t>
            </a:r>
          </a:p>
          <a:p>
            <a:pPr algn="l"/>
            <a:r>
              <a:rPr lang="es-ES_tradnl" b="1">
                <a:latin typeface="Courier New" pitchFamily="49" charset="0"/>
              </a:rPr>
              <a:t> 1  1  1  1  1 	. . .		1  1  1  1  1</a:t>
            </a:r>
          </a:p>
        </p:txBody>
      </p:sp>
      <p:sp>
        <p:nvSpPr>
          <p:cNvPr id="108550" name="AutoShape 5"/>
          <p:cNvSpPr>
            <a:spLocks noChangeArrowheads="1"/>
          </p:cNvSpPr>
          <p:nvPr/>
        </p:nvSpPr>
        <p:spPr bwMode="auto">
          <a:xfrm>
            <a:off x="2019300" y="4623664"/>
            <a:ext cx="6873875" cy="531674"/>
          </a:xfrm>
          <a:prstGeom prst="cube">
            <a:avLst>
              <a:gd name="adj" fmla="val 25000"/>
            </a:avLst>
          </a:prstGeom>
          <a:solidFill>
            <a:srgbClr val="C0C0C0"/>
          </a:solidFill>
          <a:ln w="28575">
            <a:noFill/>
            <a:miter lim="800000"/>
            <a:headEnd/>
            <a:tailEnd/>
          </a:ln>
        </p:spPr>
        <p:txBody>
          <a:bodyPr anchor="ctr">
            <a:spAutoFit/>
          </a:bodyPr>
          <a:lstStyle/>
          <a:p>
            <a:pPr algn="l">
              <a:spcBef>
                <a:spcPct val="20000"/>
              </a:spcBef>
            </a:pPr>
            <a:r>
              <a:rPr lang="es-ES_tradnl" b="1">
                <a:latin typeface="Courier New" pitchFamily="49" charset="0"/>
              </a:rPr>
              <a:t> 1  X  X  X  X 	. . .		X  X  X  X  X</a:t>
            </a:r>
          </a:p>
        </p:txBody>
      </p:sp>
      <p:sp>
        <p:nvSpPr>
          <p:cNvPr id="108551" name="Line 6"/>
          <p:cNvSpPr>
            <a:spLocks noChangeShapeType="1"/>
          </p:cNvSpPr>
          <p:nvPr/>
        </p:nvSpPr>
        <p:spPr bwMode="auto">
          <a:xfrm>
            <a:off x="2124075" y="1717675"/>
            <a:ext cx="6769100" cy="0"/>
          </a:xfrm>
          <a:prstGeom prst="line">
            <a:avLst/>
          </a:prstGeom>
          <a:noFill/>
          <a:ln w="38100">
            <a:solidFill>
              <a:srgbClr val="FFCC00"/>
            </a:solidFill>
            <a:round/>
            <a:headEnd/>
            <a:tailEnd/>
          </a:ln>
        </p:spPr>
        <p:txBody>
          <a:bodyPr lIns="0" tIns="0" rIns="0" bIns="0" anchor="ctr"/>
          <a:lstStyle/>
          <a:p>
            <a:endParaRPr lang="es-ES"/>
          </a:p>
        </p:txBody>
      </p:sp>
      <p:sp>
        <p:nvSpPr>
          <p:cNvPr id="108552" name="AutoShape 7"/>
          <p:cNvSpPr>
            <a:spLocks noChangeArrowheads="1"/>
          </p:cNvSpPr>
          <p:nvPr/>
        </p:nvSpPr>
        <p:spPr bwMode="auto">
          <a:xfrm>
            <a:off x="5187950" y="3921125"/>
            <a:ext cx="865188" cy="647700"/>
          </a:xfrm>
          <a:prstGeom prst="downArrow">
            <a:avLst>
              <a:gd name="adj1" fmla="val 50093"/>
              <a:gd name="adj2" fmla="val 38727"/>
            </a:avLst>
          </a:prstGeom>
          <a:solidFill>
            <a:schemeClr val="accent5">
              <a:lumMod val="60000"/>
              <a:lumOff val="40000"/>
            </a:schemeClr>
          </a:solidFill>
          <a:ln w="19050">
            <a:noFill/>
            <a:miter lim="800000"/>
            <a:headEnd/>
            <a:tailEnd/>
          </a:ln>
        </p:spPr>
        <p:txBody>
          <a:bodyPr wrap="none" lIns="0" tIns="0" rIns="0" bIns="0" anchor="ctr"/>
          <a:lstStyle/>
          <a:p>
            <a:endParaRPr lang="es-ES"/>
          </a:p>
        </p:txBody>
      </p:sp>
      <p:sp>
        <p:nvSpPr>
          <p:cNvPr id="108553" name="Text Box 8"/>
          <p:cNvSpPr txBox="1">
            <a:spLocks noChangeArrowheads="1"/>
          </p:cNvSpPr>
          <p:nvPr/>
        </p:nvSpPr>
        <p:spPr bwMode="auto">
          <a:xfrm>
            <a:off x="827088" y="5603359"/>
            <a:ext cx="3168650" cy="369332"/>
          </a:xfrm>
          <a:prstGeom prst="rect">
            <a:avLst/>
          </a:prstGeom>
          <a:solidFill>
            <a:schemeClr val="accent4">
              <a:lumMod val="40000"/>
              <a:lumOff val="60000"/>
            </a:schemeClr>
          </a:solidFill>
          <a:ln w="28575">
            <a:noFill/>
            <a:miter lim="800000"/>
            <a:headEnd/>
            <a:tailEnd/>
          </a:ln>
        </p:spPr>
        <p:txBody>
          <a:bodyPr anchor="ctr">
            <a:spAutoFit/>
          </a:bodyPr>
          <a:lstStyle/>
          <a:p>
            <a:r>
              <a:rPr lang="es-ES" sz="1800" dirty="0"/>
              <a:t>A</a:t>
            </a:r>
            <a:r>
              <a:rPr lang="es-ES" sz="1800" baseline="-25000" dirty="0"/>
              <a:t>31</a:t>
            </a:r>
            <a:r>
              <a:rPr lang="es-ES" sz="1800" dirty="0"/>
              <a:t> selecciona el módulo</a:t>
            </a:r>
          </a:p>
        </p:txBody>
      </p:sp>
      <p:sp>
        <p:nvSpPr>
          <p:cNvPr id="108554" name="Text Box 9"/>
          <p:cNvSpPr txBox="1">
            <a:spLocks noChangeArrowheads="1"/>
          </p:cNvSpPr>
          <p:nvPr/>
        </p:nvSpPr>
        <p:spPr bwMode="auto">
          <a:xfrm>
            <a:off x="4427538" y="5617260"/>
            <a:ext cx="2808287" cy="646331"/>
          </a:xfrm>
          <a:prstGeom prst="rect">
            <a:avLst/>
          </a:prstGeom>
          <a:solidFill>
            <a:srgbClr val="92D050"/>
          </a:solidFill>
          <a:ln w="28575">
            <a:noFill/>
            <a:miter lim="800000"/>
            <a:headEnd/>
            <a:tailEnd/>
          </a:ln>
        </p:spPr>
        <p:txBody>
          <a:bodyPr anchor="ctr">
            <a:spAutoFit/>
          </a:bodyPr>
          <a:lstStyle/>
          <a:p>
            <a:pPr>
              <a:spcBef>
                <a:spcPct val="20000"/>
              </a:spcBef>
            </a:pPr>
            <a:r>
              <a:rPr lang="es-ES" sz="1800" dirty="0"/>
              <a:t>Direccionamiento de los bytes del módulo</a:t>
            </a:r>
          </a:p>
        </p:txBody>
      </p:sp>
      <p:sp>
        <p:nvSpPr>
          <p:cNvPr id="108555" name="Text Box 10"/>
          <p:cNvSpPr txBox="1">
            <a:spLocks noChangeArrowheads="1"/>
          </p:cNvSpPr>
          <p:nvPr/>
        </p:nvSpPr>
        <p:spPr bwMode="auto">
          <a:xfrm>
            <a:off x="323850" y="1916113"/>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ca-ES">
                <a:latin typeface="Courier New" pitchFamily="49" charset="0"/>
              </a:rPr>
              <a:t> </a:t>
            </a:r>
            <a:r>
              <a:rPr lang="ca-ES" b="1">
                <a:latin typeface="Courier New" pitchFamily="49" charset="0"/>
              </a:rPr>
              <a:t>0x80000000</a:t>
            </a:r>
            <a:endParaRPr lang="es-ES_tradnl" b="1">
              <a:latin typeface="Courier New" pitchFamily="49" charset="0"/>
            </a:endParaRPr>
          </a:p>
        </p:txBody>
      </p:sp>
      <p:sp>
        <p:nvSpPr>
          <p:cNvPr id="108556" name="Text Box 11"/>
          <p:cNvSpPr txBox="1">
            <a:spLocks noChangeArrowheads="1"/>
          </p:cNvSpPr>
          <p:nvPr/>
        </p:nvSpPr>
        <p:spPr bwMode="auto">
          <a:xfrm>
            <a:off x="323850" y="2187575"/>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ca-ES">
                <a:latin typeface="Courier New" pitchFamily="49" charset="0"/>
              </a:rPr>
              <a:t> </a:t>
            </a:r>
            <a:r>
              <a:rPr lang="ca-ES" b="1">
                <a:latin typeface="Courier New" pitchFamily="49" charset="0"/>
              </a:rPr>
              <a:t>0x80000001</a:t>
            </a:r>
            <a:endParaRPr lang="es-ES_tradnl" b="1">
              <a:latin typeface="Courier New" pitchFamily="49" charset="0"/>
            </a:endParaRPr>
          </a:p>
        </p:txBody>
      </p:sp>
      <p:sp>
        <p:nvSpPr>
          <p:cNvPr id="108557" name="Text Box 12"/>
          <p:cNvSpPr txBox="1">
            <a:spLocks noChangeArrowheads="1"/>
          </p:cNvSpPr>
          <p:nvPr/>
        </p:nvSpPr>
        <p:spPr bwMode="auto">
          <a:xfrm>
            <a:off x="323850" y="252253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ca-ES">
                <a:latin typeface="Courier New" pitchFamily="49" charset="0"/>
              </a:rPr>
              <a:t> </a:t>
            </a:r>
            <a:r>
              <a:rPr lang="ca-ES" b="1">
                <a:latin typeface="Courier New" pitchFamily="49" charset="0"/>
              </a:rPr>
              <a:t>0x80000002</a:t>
            </a:r>
            <a:endParaRPr lang="es-ES_tradnl" b="1">
              <a:latin typeface="Courier New" pitchFamily="49" charset="0"/>
            </a:endParaRPr>
          </a:p>
        </p:txBody>
      </p:sp>
      <p:sp>
        <p:nvSpPr>
          <p:cNvPr id="108558" name="Text Box 13"/>
          <p:cNvSpPr txBox="1">
            <a:spLocks noChangeArrowheads="1"/>
          </p:cNvSpPr>
          <p:nvPr/>
        </p:nvSpPr>
        <p:spPr bwMode="auto">
          <a:xfrm>
            <a:off x="323850" y="3124200"/>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ca-ES" dirty="0">
                <a:latin typeface="Courier New" pitchFamily="49" charset="0"/>
              </a:rPr>
              <a:t> </a:t>
            </a:r>
            <a:r>
              <a:rPr lang="ca-ES" b="1" dirty="0">
                <a:latin typeface="Courier New" pitchFamily="49" charset="0"/>
              </a:rPr>
              <a:t>0xFFFFFFFE</a:t>
            </a:r>
            <a:endParaRPr lang="es-ES_tradnl" b="1" dirty="0">
              <a:latin typeface="Courier New" pitchFamily="49" charset="0"/>
            </a:endParaRPr>
          </a:p>
        </p:txBody>
      </p:sp>
      <p:sp>
        <p:nvSpPr>
          <p:cNvPr id="108559" name="Text Box 14"/>
          <p:cNvSpPr txBox="1">
            <a:spLocks noChangeArrowheads="1"/>
          </p:cNvSpPr>
          <p:nvPr/>
        </p:nvSpPr>
        <p:spPr bwMode="auto">
          <a:xfrm>
            <a:off x="323850" y="3411538"/>
            <a:ext cx="1728788" cy="304800"/>
          </a:xfrm>
          <a:prstGeom prst="rect">
            <a:avLst/>
          </a:prstGeom>
          <a:noFill/>
          <a:ln w="28575">
            <a:noFill/>
            <a:miter lim="800000"/>
            <a:headEnd/>
            <a:tailEnd/>
          </a:ln>
        </p:spPr>
        <p:txBody>
          <a:bodyPr lIns="0" tIns="0" rIns="0" bIns="0" anchor="ctr">
            <a:spAutoFit/>
          </a:bodyPr>
          <a:lstStyle/>
          <a:p>
            <a:pPr algn="l">
              <a:spcBef>
                <a:spcPct val="20000"/>
              </a:spcBef>
            </a:pPr>
            <a:r>
              <a:rPr lang="ca-ES" dirty="0">
                <a:latin typeface="Courier New" pitchFamily="49" charset="0"/>
              </a:rPr>
              <a:t> </a:t>
            </a:r>
            <a:r>
              <a:rPr lang="ca-ES" b="1" dirty="0">
                <a:latin typeface="Courier New" pitchFamily="49" charset="0"/>
              </a:rPr>
              <a:t>0xFFFFFFFF</a:t>
            </a:r>
            <a:endParaRPr lang="es-ES_tradnl" b="1" dirty="0">
              <a:latin typeface="Courier New" pitchFamily="49" charset="0"/>
            </a:endParaRPr>
          </a:p>
        </p:txBody>
      </p:sp>
      <p:grpSp>
        <p:nvGrpSpPr>
          <p:cNvPr id="2" name="Group 15"/>
          <p:cNvGrpSpPr>
            <a:grpSpLocks/>
          </p:cNvGrpSpPr>
          <p:nvPr/>
        </p:nvGrpSpPr>
        <p:grpSpPr bwMode="auto">
          <a:xfrm>
            <a:off x="1019175" y="2924175"/>
            <a:ext cx="384175" cy="71438"/>
            <a:chOff x="204" y="1933"/>
            <a:chExt cx="242" cy="45"/>
          </a:xfrm>
        </p:grpSpPr>
        <p:sp>
          <p:nvSpPr>
            <p:cNvPr id="108564" name="Oval 16"/>
            <p:cNvSpPr>
              <a:spLocks noChangeArrowheads="1"/>
            </p:cNvSpPr>
            <p:nvPr/>
          </p:nvSpPr>
          <p:spPr bwMode="auto">
            <a:xfrm>
              <a:off x="204"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8565" name="Oval 17"/>
            <p:cNvSpPr>
              <a:spLocks noChangeArrowheads="1"/>
            </p:cNvSpPr>
            <p:nvPr/>
          </p:nvSpPr>
          <p:spPr bwMode="auto">
            <a:xfrm>
              <a:off x="295" y="1933"/>
              <a:ext cx="45" cy="45"/>
            </a:xfrm>
            <a:prstGeom prst="ellipse">
              <a:avLst/>
            </a:prstGeom>
            <a:solidFill>
              <a:schemeClr val="tx1"/>
            </a:solidFill>
            <a:ln w="19050">
              <a:noFill/>
              <a:round/>
              <a:headEnd/>
              <a:tailEnd/>
            </a:ln>
          </p:spPr>
          <p:txBody>
            <a:bodyPr wrap="none" lIns="0" tIns="0" rIns="0" bIns="0" anchor="ctr"/>
            <a:lstStyle/>
            <a:p>
              <a:endParaRPr lang="es-ES"/>
            </a:p>
          </p:txBody>
        </p:sp>
        <p:sp>
          <p:nvSpPr>
            <p:cNvPr id="108566" name="Oval 18"/>
            <p:cNvSpPr>
              <a:spLocks noChangeArrowheads="1"/>
            </p:cNvSpPr>
            <p:nvPr/>
          </p:nvSpPr>
          <p:spPr bwMode="auto">
            <a:xfrm>
              <a:off x="401" y="1933"/>
              <a:ext cx="45" cy="45"/>
            </a:xfrm>
            <a:prstGeom prst="ellipse">
              <a:avLst/>
            </a:prstGeom>
            <a:solidFill>
              <a:schemeClr val="tx1"/>
            </a:solidFill>
            <a:ln w="19050">
              <a:noFill/>
              <a:round/>
              <a:headEnd/>
              <a:tailEnd/>
            </a:ln>
          </p:spPr>
          <p:txBody>
            <a:bodyPr wrap="none" lIns="0" tIns="0" rIns="0" bIns="0" anchor="ctr"/>
            <a:lstStyle/>
            <a:p>
              <a:endParaRPr lang="es-ES"/>
            </a:p>
          </p:txBody>
        </p:sp>
      </p:grpSp>
      <p:sp>
        <p:nvSpPr>
          <p:cNvPr id="108561" name="Rectangle 19"/>
          <p:cNvSpPr>
            <a:spLocks noChangeArrowheads="1"/>
          </p:cNvSpPr>
          <p:nvPr/>
        </p:nvSpPr>
        <p:spPr bwMode="auto">
          <a:xfrm>
            <a:off x="323850" y="4033808"/>
            <a:ext cx="2376488" cy="400110"/>
          </a:xfrm>
          <a:prstGeom prst="rect">
            <a:avLst/>
          </a:prstGeom>
          <a:solidFill>
            <a:schemeClr val="accent4"/>
          </a:solidFill>
          <a:ln w="28575">
            <a:noFill/>
            <a:miter lim="800000"/>
            <a:headEnd/>
            <a:tailEnd/>
          </a:ln>
        </p:spPr>
        <p:txBody>
          <a:bodyPr anchor="ctr">
            <a:spAutoFit/>
          </a:bodyPr>
          <a:lstStyle/>
          <a:p>
            <a:pPr>
              <a:spcBef>
                <a:spcPct val="20000"/>
              </a:spcBef>
            </a:pPr>
            <a:r>
              <a:rPr lang="es-ES_tradnl" sz="1800" dirty="0"/>
              <a:t>SEL*</a:t>
            </a:r>
            <a:r>
              <a:rPr lang="es-ES_tradnl" sz="1800" baseline="-25000" dirty="0"/>
              <a:t>RAM1</a:t>
            </a:r>
            <a:r>
              <a:rPr lang="es-ES_tradnl" dirty="0">
                <a:latin typeface="Times New Roman" pitchFamily="18" charset="0"/>
              </a:rPr>
              <a:t> = /</a:t>
            </a:r>
            <a:r>
              <a:rPr lang="es-ES_tradnl" dirty="0"/>
              <a:t>A</a:t>
            </a:r>
            <a:r>
              <a:rPr lang="es-ES_tradnl" baseline="-25000" dirty="0"/>
              <a:t>31</a:t>
            </a:r>
            <a:endParaRPr lang="es-ES_tradnl" sz="1600" baseline="-25000" dirty="0"/>
          </a:p>
        </p:txBody>
      </p:sp>
      <p:sp>
        <p:nvSpPr>
          <p:cNvPr id="108562" name="AutoShape 20"/>
          <p:cNvSpPr>
            <a:spLocks/>
          </p:cNvSpPr>
          <p:nvPr/>
        </p:nvSpPr>
        <p:spPr bwMode="auto">
          <a:xfrm rot="5400000">
            <a:off x="5564188" y="2281238"/>
            <a:ext cx="287337" cy="6161087"/>
          </a:xfrm>
          <a:prstGeom prst="rightBrace">
            <a:avLst>
              <a:gd name="adj1" fmla="val 31468"/>
              <a:gd name="adj2" fmla="val 50000"/>
            </a:avLst>
          </a:prstGeom>
          <a:noFill/>
          <a:ln w="28575">
            <a:solidFill>
              <a:srgbClr val="0070C0"/>
            </a:solidFill>
            <a:round/>
            <a:headEnd/>
            <a:tailEnd/>
          </a:ln>
        </p:spPr>
        <p:txBody>
          <a:bodyPr wrap="none" anchor="ctr"/>
          <a:lstStyle/>
          <a:p>
            <a:endParaRPr lang="es-ES"/>
          </a:p>
        </p:txBody>
      </p:sp>
      <p:sp>
        <p:nvSpPr>
          <p:cNvPr id="108563" name="AutoShape 21"/>
          <p:cNvSpPr>
            <a:spLocks/>
          </p:cNvSpPr>
          <p:nvPr/>
        </p:nvSpPr>
        <p:spPr bwMode="auto">
          <a:xfrm rot="5400000">
            <a:off x="2171700" y="5108575"/>
            <a:ext cx="249238" cy="490538"/>
          </a:xfrm>
          <a:prstGeom prst="rightBrace">
            <a:avLst>
              <a:gd name="adj1" fmla="val 32484"/>
              <a:gd name="adj2" fmla="val 50000"/>
            </a:avLst>
          </a:prstGeom>
          <a:noFill/>
          <a:ln w="28575">
            <a:solidFill>
              <a:srgbClr val="0070C0"/>
            </a:solidFill>
            <a:round/>
            <a:headEnd/>
            <a:tailEnd/>
          </a:ln>
        </p:spPr>
        <p:txBody>
          <a:bodyPr wrap="none" anchor="ctr"/>
          <a:lstStyle/>
          <a:p>
            <a:endParaRPr lang="es-ES"/>
          </a:p>
        </p:txBody>
      </p:sp>
      <p:sp>
        <p:nvSpPr>
          <p:cNvPr id="23" name="Rectangle 2">
            <a:extLst>
              <a:ext uri="{FF2B5EF4-FFF2-40B4-BE49-F238E27FC236}">
                <a16:creationId xmlns:a16="http://schemas.microsoft.com/office/drawing/2014/main" id="{E8353250-D9D6-40AB-9F80-B431C748E6BC}"/>
              </a:ext>
            </a:extLst>
          </p:cNvPr>
          <p:cNvSpPr txBox="1">
            <a:spLocks noChangeArrowheads="1"/>
          </p:cNvSpPr>
          <p:nvPr/>
        </p:nvSpPr>
        <p:spPr>
          <a:xfrm>
            <a:off x="684213" y="115888"/>
            <a:ext cx="8250237" cy="865187"/>
          </a:xfrm>
          <a:prstGeom prst="rect">
            <a:avLst/>
          </a:prstGeom>
        </p:spPr>
        <p:txBody>
          <a:bodyPr anchor="ctr">
            <a:noAutofit/>
          </a:bodyPr>
          <a:lstStyle>
            <a:lvl1pPr algn="l" rtl="0" eaLnBrk="0" fontAlgn="base" hangingPunct="0">
              <a:spcBef>
                <a:spcPct val="0"/>
              </a:spcBef>
              <a:spcAft>
                <a:spcPct val="0"/>
              </a:spcAft>
              <a:defRPr lang="es-ES" sz="32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00">
                <a:solidFill>
                  <a:srgbClr val="572314"/>
                </a:solidFill>
                <a:latin typeface="Gill Sans MT" pitchFamily="34" charset="0"/>
              </a:defRPr>
            </a:lvl2pPr>
            <a:lvl3pPr algn="l" rtl="0" eaLnBrk="0" fontAlgn="base" hangingPunct="0">
              <a:spcBef>
                <a:spcPct val="0"/>
              </a:spcBef>
              <a:spcAft>
                <a:spcPct val="0"/>
              </a:spcAft>
              <a:defRPr sz="3200">
                <a:solidFill>
                  <a:srgbClr val="572314"/>
                </a:solidFill>
                <a:latin typeface="Gill Sans MT" pitchFamily="34" charset="0"/>
              </a:defRPr>
            </a:lvl3pPr>
            <a:lvl4pPr algn="l" rtl="0" eaLnBrk="0" fontAlgn="base" hangingPunct="0">
              <a:spcBef>
                <a:spcPct val="0"/>
              </a:spcBef>
              <a:spcAft>
                <a:spcPct val="0"/>
              </a:spcAft>
              <a:defRPr sz="3200">
                <a:solidFill>
                  <a:srgbClr val="572314"/>
                </a:solidFill>
                <a:latin typeface="Gill Sans MT" pitchFamily="34" charset="0"/>
              </a:defRPr>
            </a:lvl4pPr>
            <a:lvl5pPr algn="l" rtl="0" eaLnBrk="0" fontAlgn="base" hangingPunct="0">
              <a:spcBef>
                <a:spcPct val="0"/>
              </a:spcBef>
              <a:spcAft>
                <a:spcPct val="0"/>
              </a:spcAft>
              <a:defRPr sz="3200">
                <a:solidFill>
                  <a:srgbClr val="572314"/>
                </a:solidFill>
                <a:latin typeface="Gill Sans MT" pitchFamily="34" charset="0"/>
              </a:defRPr>
            </a:lvl5pPr>
            <a:lvl6pPr marL="457200" algn="l" rtl="0" fontAlgn="base">
              <a:spcBef>
                <a:spcPct val="0"/>
              </a:spcBef>
              <a:spcAft>
                <a:spcPct val="0"/>
              </a:spcAft>
              <a:defRPr sz="3200">
                <a:solidFill>
                  <a:srgbClr val="572314"/>
                </a:solidFill>
                <a:latin typeface="Gill Sans MT" pitchFamily="34" charset="0"/>
              </a:defRPr>
            </a:lvl6pPr>
            <a:lvl7pPr marL="914400" algn="l" rtl="0" fontAlgn="base">
              <a:spcBef>
                <a:spcPct val="0"/>
              </a:spcBef>
              <a:spcAft>
                <a:spcPct val="0"/>
              </a:spcAft>
              <a:defRPr sz="3200">
                <a:solidFill>
                  <a:srgbClr val="572314"/>
                </a:solidFill>
                <a:latin typeface="Gill Sans MT" pitchFamily="34" charset="0"/>
              </a:defRPr>
            </a:lvl7pPr>
            <a:lvl8pPr marL="1371600" algn="l" rtl="0" fontAlgn="base">
              <a:spcBef>
                <a:spcPct val="0"/>
              </a:spcBef>
              <a:spcAft>
                <a:spcPct val="0"/>
              </a:spcAft>
              <a:defRPr sz="3200">
                <a:solidFill>
                  <a:srgbClr val="572314"/>
                </a:solidFill>
                <a:latin typeface="Gill Sans MT" pitchFamily="34" charset="0"/>
              </a:defRPr>
            </a:lvl8pPr>
            <a:lvl9pPr marL="1828800" algn="l" rtl="0" fontAlgn="base">
              <a:spcBef>
                <a:spcPct val="0"/>
              </a:spcBef>
              <a:spcAft>
                <a:spcPct val="0"/>
              </a:spcAft>
              <a:defRPr sz="3200">
                <a:solidFill>
                  <a:srgbClr val="572314"/>
                </a:solidFill>
                <a:latin typeface="Gill Sans MT" pitchFamily="34" charset="0"/>
              </a:defRPr>
            </a:lvl9pPr>
          </a:lstStyle>
          <a:p>
            <a:pPr>
              <a:buFontTx/>
            </a:pPr>
            <a:r>
              <a:rPr lang="es-ES"/>
              <a:t>Función de selección del módulo</a:t>
            </a:r>
            <a:endParaRPr lang="es-ES" dirty="0"/>
          </a:p>
        </p:txBody>
      </p:sp>
      <p:sp>
        <p:nvSpPr>
          <p:cNvPr id="3" name="2 Marcador de número de diapositiva">
            <a:extLst>
              <a:ext uri="{FF2B5EF4-FFF2-40B4-BE49-F238E27FC236}">
                <a16:creationId xmlns:a16="http://schemas.microsoft.com/office/drawing/2014/main" id="{F37B89F1-91BB-DD13-CEC6-EDB12A75443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137</a:t>
            </a:fld>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53C00-D7E8-9C1B-03A4-FBFF2A767F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BFC0B1-060B-F626-B5A8-47F6413757C6}"/>
              </a:ext>
            </a:extLst>
          </p:cNvPr>
          <p:cNvSpPr>
            <a:spLocks noGrp="1"/>
          </p:cNvSpPr>
          <p:nvPr>
            <p:ph type="title"/>
          </p:nvPr>
        </p:nvSpPr>
        <p:spPr/>
        <p:txBody>
          <a:bodyPr/>
          <a:lstStyle/>
          <a:p>
            <a:r>
              <a:rPr lang="es-ES" dirty="0"/>
              <a:t>Contenido</a:t>
            </a:r>
            <a:endParaRPr lang="es-ES_tradnl" dirty="0"/>
          </a:p>
        </p:txBody>
      </p:sp>
      <p:sp>
        <p:nvSpPr>
          <p:cNvPr id="3" name="Marcador de contenido 2">
            <a:extLst>
              <a:ext uri="{FF2B5EF4-FFF2-40B4-BE49-F238E27FC236}">
                <a16:creationId xmlns:a16="http://schemas.microsoft.com/office/drawing/2014/main" id="{EAAB3A79-A823-DB5A-E385-6DAC94875D27}"/>
              </a:ext>
            </a:extLst>
          </p:cNvPr>
          <p:cNvSpPr>
            <a:spLocks noGrp="1"/>
          </p:cNvSpPr>
          <p:nvPr>
            <p:ph idx="1"/>
          </p:nvPr>
        </p:nvSpPr>
        <p:spPr/>
        <p:txBody>
          <a:bodyPr/>
          <a:lstStyle/>
          <a:p>
            <a:pPr marL="82550" indent="0">
              <a:buNone/>
            </a:pPr>
            <a:r>
              <a:rPr lang="es-ES_tradnl" sz="2000" dirty="0">
                <a:latin typeface="Arial" panose="020B0604020202020204" pitchFamily="34" charset="0"/>
                <a:cs typeface="Arial" panose="020B0604020202020204" pitchFamily="34" charset="0"/>
              </a:rPr>
              <a:t>1 - </a:t>
            </a:r>
            <a:r>
              <a:rPr lang="es-ES" dirty="0"/>
              <a:t>El sistema de memoria del computador</a:t>
            </a:r>
          </a:p>
          <a:p>
            <a:pPr marL="82550" indent="0">
              <a:buNone/>
            </a:pPr>
            <a:r>
              <a:rPr lang="es-ES" dirty="0"/>
              <a:t>2 - Memoria principal</a:t>
            </a:r>
          </a:p>
          <a:p>
            <a:pPr marL="82550" indent="0">
              <a:buNone/>
            </a:pPr>
            <a:r>
              <a:rPr lang="es-ES" dirty="0"/>
              <a:t>3 - Memorias RAM</a:t>
            </a:r>
          </a:p>
          <a:p>
            <a:pPr marL="82550" indent="0">
              <a:buNone/>
            </a:pPr>
            <a:r>
              <a:rPr lang="es-ES" dirty="0"/>
              <a:t>4 - Módulos de memoria</a:t>
            </a:r>
          </a:p>
          <a:p>
            <a:pPr marL="82550" indent="0">
              <a:buNone/>
            </a:pPr>
            <a:r>
              <a:rPr lang="es-ES" dirty="0"/>
              <a:t>5 - Mapas de memoria</a:t>
            </a:r>
          </a:p>
          <a:p>
            <a:pPr marL="82550" indent="0">
              <a:buNone/>
            </a:pPr>
            <a:r>
              <a:rPr lang="es-ES" dirty="0">
                <a:solidFill>
                  <a:srgbClr val="FF0000"/>
                </a:solidFill>
              </a:rPr>
              <a:t>6 - El controlador de memoria</a:t>
            </a:r>
          </a:p>
          <a:p>
            <a:endParaRPr lang="es-ES_tradnl" dirty="0"/>
          </a:p>
        </p:txBody>
      </p:sp>
      <p:sp>
        <p:nvSpPr>
          <p:cNvPr id="4" name="Marcador de número de diapositiva 3">
            <a:extLst>
              <a:ext uri="{FF2B5EF4-FFF2-40B4-BE49-F238E27FC236}">
                <a16:creationId xmlns:a16="http://schemas.microsoft.com/office/drawing/2014/main" id="{8F700B4A-D6BC-B0C0-CDBD-17E66900FD35}"/>
              </a:ext>
            </a:extLst>
          </p:cNvPr>
          <p:cNvSpPr>
            <a:spLocks noGrp="1"/>
          </p:cNvSpPr>
          <p:nvPr>
            <p:ph type="sldNum" sz="quarter" idx="12"/>
          </p:nvPr>
        </p:nvSpPr>
        <p:spPr/>
        <p:txBody>
          <a:bodyPr/>
          <a:lstStyle/>
          <a:p>
            <a:pPr>
              <a:defRPr/>
            </a:pPr>
            <a:fld id="{50B7A251-C820-4EFF-8270-C7613E20881F}" type="slidenum">
              <a:rPr lang="en-US" smtClean="0"/>
              <a:pPr>
                <a:defRPr/>
              </a:pPr>
              <a:t>138</a:t>
            </a:fld>
            <a:endParaRPr lang="en-US" dirty="0"/>
          </a:p>
        </p:txBody>
      </p:sp>
      <p:sp>
        <p:nvSpPr>
          <p:cNvPr id="6" name="Rectángulo 5">
            <a:extLst>
              <a:ext uri="{FF2B5EF4-FFF2-40B4-BE49-F238E27FC236}">
                <a16:creationId xmlns:a16="http://schemas.microsoft.com/office/drawing/2014/main" id="{985ACF0E-E552-BD63-6048-E078DDDB0D35}"/>
              </a:ext>
            </a:extLst>
          </p:cNvPr>
          <p:cNvSpPr/>
          <p:nvPr/>
        </p:nvSpPr>
        <p:spPr>
          <a:xfrm>
            <a:off x="3347864" y="332656"/>
            <a:ext cx="5472608" cy="634020"/>
          </a:xfrm>
          <a:prstGeom prst="rect">
            <a:avLst/>
          </a:prstGeom>
        </p:spPr>
        <p:txBody>
          <a:bodyPr wrap="square">
            <a:spAutoFit/>
          </a:bodyPr>
          <a:lstStyle/>
          <a:p>
            <a:pPr algn="l"/>
            <a:r>
              <a:rPr lang="es-ES" sz="1600" dirty="0">
                <a:solidFill>
                  <a:schemeClr val="accent1">
                    <a:lumMod val="75000"/>
                  </a:schemeClr>
                </a:solidFill>
              </a:rPr>
              <a:t>VIDEOS DE AYUDA EN POLIFORMAT:</a:t>
            </a:r>
          </a:p>
          <a:p>
            <a:pPr algn="l"/>
            <a:r>
              <a:rPr lang="es-ES" sz="1600" dirty="0">
                <a:solidFill>
                  <a:schemeClr val="accent1">
                    <a:lumMod val="75000"/>
                  </a:schemeClr>
                </a:solidFill>
              </a:rPr>
              <a:t>      Recursos\ Temas\T5 – Memoria Principal\VIDEOS:</a:t>
            </a:r>
          </a:p>
        </p:txBody>
      </p:sp>
    </p:spTree>
    <p:extLst>
      <p:ext uri="{BB962C8B-B14F-4D97-AF65-F5344CB8AC3E}">
        <p14:creationId xmlns:p14="http://schemas.microsoft.com/office/powerpoint/2010/main" val="40993023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noChangeArrowheads="1"/>
          </p:cNvSpPr>
          <p:nvPr>
            <p:ph type="title"/>
          </p:nvPr>
        </p:nvSpPr>
        <p:spPr/>
        <p:txBody>
          <a:bodyPr/>
          <a:lstStyle/>
          <a:p>
            <a:r>
              <a:rPr lang="ca-ES" dirty="0"/>
              <a:t>El controlador de </a:t>
            </a:r>
            <a:r>
              <a:rPr lang="ca-ES" dirty="0" err="1"/>
              <a:t>memoria</a:t>
            </a:r>
            <a:endParaRPr lang="ca-ES" dirty="0"/>
          </a:p>
        </p:txBody>
      </p:sp>
      <p:sp>
        <p:nvSpPr>
          <p:cNvPr id="110596" name="Rectangle 3"/>
          <p:cNvSpPr>
            <a:spLocks noGrp="1" noChangeArrowheads="1"/>
          </p:cNvSpPr>
          <p:nvPr>
            <p:ph type="body" idx="1"/>
          </p:nvPr>
        </p:nvSpPr>
        <p:spPr/>
        <p:txBody>
          <a:bodyPr/>
          <a:lstStyle/>
          <a:p>
            <a:r>
              <a:rPr lang="ca-ES" dirty="0"/>
              <a:t>Gestiona los </a:t>
            </a:r>
            <a:r>
              <a:rPr lang="ca-ES" dirty="0" err="1"/>
              <a:t>módulos</a:t>
            </a:r>
            <a:r>
              <a:rPr lang="ca-ES" dirty="0"/>
              <a:t> de </a:t>
            </a:r>
            <a:r>
              <a:rPr lang="ca-ES" dirty="0" err="1"/>
              <a:t>memoria</a:t>
            </a:r>
            <a:r>
              <a:rPr lang="ca-ES" dirty="0"/>
              <a:t> </a:t>
            </a:r>
            <a:r>
              <a:rPr lang="ca-ES" dirty="0" err="1"/>
              <a:t>dinámica</a:t>
            </a:r>
            <a:r>
              <a:rPr lang="ca-ES" dirty="0"/>
              <a:t> y </a:t>
            </a:r>
            <a:r>
              <a:rPr lang="ca-ES" dirty="0" err="1"/>
              <a:t>hace</a:t>
            </a:r>
            <a:r>
              <a:rPr lang="ca-ES" dirty="0"/>
              <a:t> de </a:t>
            </a:r>
            <a:r>
              <a:rPr lang="ca-ES" dirty="0" err="1"/>
              <a:t>intermediario</a:t>
            </a:r>
            <a:r>
              <a:rPr lang="ca-ES" dirty="0"/>
              <a:t> entre </a:t>
            </a:r>
            <a:r>
              <a:rPr lang="ca-ES" dirty="0" err="1"/>
              <a:t>ésta</a:t>
            </a:r>
            <a:r>
              <a:rPr lang="ca-ES" dirty="0"/>
              <a:t> y el </a:t>
            </a:r>
            <a:r>
              <a:rPr lang="ca-ES" dirty="0" err="1"/>
              <a:t>procesador</a:t>
            </a:r>
            <a:endParaRPr lang="ca-ES" dirty="0"/>
          </a:p>
          <a:p>
            <a:r>
              <a:rPr lang="ca-ES" dirty="0" err="1"/>
              <a:t>Su</a:t>
            </a:r>
            <a:r>
              <a:rPr lang="ca-ES" dirty="0"/>
              <a:t> principal </a:t>
            </a:r>
            <a:r>
              <a:rPr lang="ca-ES" dirty="0" err="1"/>
              <a:t>objetivo</a:t>
            </a:r>
            <a:r>
              <a:rPr lang="ca-ES" dirty="0"/>
              <a:t> es </a:t>
            </a:r>
            <a:r>
              <a:rPr lang="ca-ES" dirty="0" err="1"/>
              <a:t>maximizar</a:t>
            </a:r>
            <a:r>
              <a:rPr lang="ca-ES" dirty="0"/>
              <a:t> el </a:t>
            </a:r>
            <a:r>
              <a:rPr lang="ca-ES" dirty="0" err="1"/>
              <a:t>ancho</a:t>
            </a:r>
            <a:r>
              <a:rPr lang="ca-ES" dirty="0"/>
              <a:t> de banda </a:t>
            </a:r>
            <a:r>
              <a:rPr lang="ca-ES" dirty="0" err="1"/>
              <a:t>efectivo</a:t>
            </a:r>
            <a:r>
              <a:rPr lang="ca-ES" dirty="0"/>
              <a:t> de </a:t>
            </a:r>
            <a:r>
              <a:rPr lang="ca-ES" dirty="0" err="1"/>
              <a:t>memoria</a:t>
            </a:r>
            <a:r>
              <a:rPr lang="ca-ES" dirty="0"/>
              <a:t> y </a:t>
            </a:r>
            <a:r>
              <a:rPr lang="ca-ES" dirty="0" err="1"/>
              <a:t>reducir</a:t>
            </a:r>
            <a:r>
              <a:rPr lang="ca-ES" dirty="0"/>
              <a:t> la </a:t>
            </a:r>
            <a:r>
              <a:rPr lang="ca-ES" dirty="0" err="1"/>
              <a:t>latencia</a:t>
            </a:r>
            <a:r>
              <a:rPr lang="ca-ES" dirty="0"/>
              <a:t> de los </a:t>
            </a:r>
            <a:r>
              <a:rPr lang="ca-ES" dirty="0" err="1"/>
              <a:t>accesos</a:t>
            </a:r>
            <a:endParaRPr lang="ca-ES" dirty="0"/>
          </a:p>
        </p:txBody>
      </p:sp>
      <p:pic>
        <p:nvPicPr>
          <p:cNvPr id="110597" name="Picture 4" descr="page33-1"/>
          <p:cNvPicPr>
            <a:picLocks noChangeAspect="1" noChangeArrowheads="1"/>
          </p:cNvPicPr>
          <p:nvPr/>
        </p:nvPicPr>
        <p:blipFill>
          <a:blip r:embed="rId2" cstate="print"/>
          <a:srcRect/>
          <a:stretch>
            <a:fillRect/>
          </a:stretch>
        </p:blipFill>
        <p:spPr bwMode="auto">
          <a:xfrm>
            <a:off x="2051051" y="3068960"/>
            <a:ext cx="4168152" cy="2592288"/>
          </a:xfrm>
          <a:prstGeom prst="rect">
            <a:avLst/>
          </a:prstGeom>
          <a:noFill/>
          <a:ln w="9525">
            <a:noFill/>
            <a:miter lim="800000"/>
            <a:headEnd/>
            <a:tailEnd/>
          </a:ln>
        </p:spPr>
      </p:pic>
      <p:sp>
        <p:nvSpPr>
          <p:cNvPr id="2" name="2 Marcador de número de diapositiva">
            <a:extLst>
              <a:ext uri="{FF2B5EF4-FFF2-40B4-BE49-F238E27FC236}">
                <a16:creationId xmlns:a16="http://schemas.microsoft.com/office/drawing/2014/main" id="{44EE4CD9-490B-8256-E5E1-542CF052501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139</a:t>
            </a:fld>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2"/>
          <p:cNvSpPr>
            <a:spLocks noGrp="1" noChangeArrowheads="1"/>
          </p:cNvSpPr>
          <p:nvPr>
            <p:ph type="title"/>
          </p:nvPr>
        </p:nvSpPr>
        <p:spPr/>
        <p:txBody>
          <a:bodyPr/>
          <a:lstStyle/>
          <a:p>
            <a:r>
              <a:rPr lang="es-ES" dirty="0"/>
              <a:t>El controlador de memoria</a:t>
            </a:r>
          </a:p>
        </p:txBody>
      </p:sp>
      <p:sp>
        <p:nvSpPr>
          <p:cNvPr id="118788" name="Rectangle 3"/>
          <p:cNvSpPr>
            <a:spLocks noGrp="1" noChangeArrowheads="1"/>
          </p:cNvSpPr>
          <p:nvPr>
            <p:ph type="body" idx="1"/>
          </p:nvPr>
        </p:nvSpPr>
        <p:spPr>
          <a:xfrm>
            <a:off x="533400" y="1219200"/>
            <a:ext cx="4110608" cy="5334000"/>
          </a:xfrm>
        </p:spPr>
        <p:txBody>
          <a:bodyPr/>
          <a:lstStyle/>
          <a:p>
            <a:r>
              <a:rPr lang="es-ES" dirty="0"/>
              <a:t>Disponibilidad de uno o varios canales independientes</a:t>
            </a:r>
          </a:p>
          <a:p>
            <a:r>
              <a:rPr lang="es-ES" dirty="0"/>
              <a:t>El ancho de banda total del sistema de memoria es la suma de los anchos de banda de cada canal</a:t>
            </a:r>
          </a:p>
          <a:p>
            <a:r>
              <a:rPr lang="es-ES" dirty="0"/>
              <a:t>¡Conviene conocer las limitaciones y requerimientos del controlador antes de ampliar la memoria!</a:t>
            </a:r>
          </a:p>
          <a:p>
            <a:pPr lvl="1"/>
            <a:endParaRPr lang="es-ES" dirty="0"/>
          </a:p>
        </p:txBody>
      </p:sp>
      <p:pic>
        <p:nvPicPr>
          <p:cNvPr id="118789" name="Picture 4"/>
          <p:cNvPicPr>
            <a:picLocks noChangeAspect="1" noChangeArrowheads="1"/>
          </p:cNvPicPr>
          <p:nvPr/>
        </p:nvPicPr>
        <p:blipFill>
          <a:blip r:embed="rId2" cstate="print"/>
          <a:srcRect/>
          <a:stretch>
            <a:fillRect/>
          </a:stretch>
        </p:blipFill>
        <p:spPr bwMode="auto">
          <a:xfrm>
            <a:off x="4572000" y="1341438"/>
            <a:ext cx="4343400" cy="5053012"/>
          </a:xfrm>
          <a:prstGeom prst="rect">
            <a:avLst/>
          </a:prstGeom>
          <a:noFill/>
          <a:ln w="9525" algn="ctr">
            <a:noFill/>
            <a:miter lim="800000"/>
            <a:headEnd/>
            <a:tailEnd/>
          </a:ln>
        </p:spPr>
      </p:pic>
      <p:sp>
        <p:nvSpPr>
          <p:cNvPr id="2" name="2 Marcador de número de diapositiva">
            <a:extLst>
              <a:ext uri="{FF2B5EF4-FFF2-40B4-BE49-F238E27FC236}">
                <a16:creationId xmlns:a16="http://schemas.microsoft.com/office/drawing/2014/main" id="{A472DB3C-1B5F-F9B8-C6ED-2D6F390580A2}"/>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140</a:t>
            </a:fld>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p:txBody>
          <a:bodyPr/>
          <a:lstStyle/>
          <a:p>
            <a:r>
              <a:rPr lang="es-ES" dirty="0"/>
              <a:t>El controlador de memoria</a:t>
            </a:r>
          </a:p>
        </p:txBody>
      </p:sp>
      <p:sp>
        <p:nvSpPr>
          <p:cNvPr id="111620" name="Rectangle 3"/>
          <p:cNvSpPr>
            <a:spLocks noGrp="1" noChangeArrowheads="1"/>
          </p:cNvSpPr>
          <p:nvPr>
            <p:ph type="body" idx="1"/>
          </p:nvPr>
        </p:nvSpPr>
        <p:spPr>
          <a:xfrm>
            <a:off x="251520" y="908720"/>
            <a:ext cx="8712968" cy="2879725"/>
          </a:xfrm>
        </p:spPr>
        <p:txBody>
          <a:bodyPr/>
          <a:lstStyle/>
          <a:p>
            <a:pPr>
              <a:lnSpc>
                <a:spcPct val="100000"/>
              </a:lnSpc>
            </a:pPr>
            <a:r>
              <a:rPr lang="es-ES" dirty="0"/>
              <a:t>Funciones del controlador:</a:t>
            </a:r>
          </a:p>
          <a:p>
            <a:pPr marL="819150" lvl="1">
              <a:lnSpc>
                <a:spcPct val="100000"/>
              </a:lnSpc>
            </a:pPr>
            <a:r>
              <a:rPr lang="es-ES" sz="1800" dirty="0"/>
              <a:t>Selección del módulo de DRAM según la dirección de palabra del bus y activación de las líneas CS*</a:t>
            </a:r>
          </a:p>
          <a:p>
            <a:pPr marL="819150" lvl="1">
              <a:lnSpc>
                <a:spcPct val="100000"/>
              </a:lnSpc>
            </a:pPr>
            <a:r>
              <a:rPr lang="es-ES" sz="1800" dirty="0"/>
              <a:t>Traducción de la dirección física lineal en direcciones de banco, filas y columnas (y líneas BE* del bus en líneas DQM* ), tratando de minimizar los conflictos de banco en accesos adyacentes y maximizar el paralelismo proporcionado por el sistema de memoria (canal, módulo, banco, fila, columna)</a:t>
            </a:r>
          </a:p>
          <a:p>
            <a:pPr marL="819150" lvl="1">
              <a:lnSpc>
                <a:spcPct val="100000"/>
              </a:lnSpc>
            </a:pPr>
            <a:r>
              <a:rPr lang="es-ES" sz="1800" dirty="0"/>
              <a:t>Sincronización con DRAM (aplica los protocolos de acceso a </a:t>
            </a:r>
            <a:r>
              <a:rPr lang="es-ES" sz="1600" dirty="0"/>
              <a:t>DRAM</a:t>
            </a:r>
            <a:r>
              <a:rPr lang="es-ES" sz="1800" dirty="0"/>
              <a:t>)</a:t>
            </a:r>
          </a:p>
          <a:p>
            <a:pPr marL="819150" lvl="1">
              <a:lnSpc>
                <a:spcPct val="100000"/>
              </a:lnSpc>
            </a:pPr>
            <a:r>
              <a:rPr lang="es-ES" sz="1800" dirty="0"/>
              <a:t>Generación de la señal de reloj y gestión del refresco</a:t>
            </a:r>
          </a:p>
        </p:txBody>
      </p:sp>
      <p:grpSp>
        <p:nvGrpSpPr>
          <p:cNvPr id="28" name="27 Grupo"/>
          <p:cNvGrpSpPr/>
          <p:nvPr/>
        </p:nvGrpSpPr>
        <p:grpSpPr>
          <a:xfrm>
            <a:off x="1475656" y="4026752"/>
            <a:ext cx="6477000" cy="2692400"/>
            <a:chOff x="1363919" y="2078889"/>
            <a:chExt cx="6477000" cy="2692400"/>
          </a:xfrm>
        </p:grpSpPr>
        <p:grpSp>
          <p:nvGrpSpPr>
            <p:cNvPr id="29" name="Group 4"/>
            <p:cNvGrpSpPr>
              <a:grpSpLocks/>
            </p:cNvGrpSpPr>
            <p:nvPr/>
          </p:nvGrpSpPr>
          <p:grpSpPr bwMode="auto">
            <a:xfrm>
              <a:off x="1363919" y="2078889"/>
              <a:ext cx="6477000" cy="2692400"/>
              <a:chOff x="768" y="2352"/>
              <a:chExt cx="4080" cy="1696"/>
            </a:xfrm>
          </p:grpSpPr>
          <p:sp>
            <p:nvSpPr>
              <p:cNvPr id="32" name="Rectangle 5"/>
              <p:cNvSpPr>
                <a:spLocks noChangeArrowheads="1"/>
              </p:cNvSpPr>
              <p:nvPr/>
            </p:nvSpPr>
            <p:spPr bwMode="auto">
              <a:xfrm>
                <a:off x="768" y="2400"/>
                <a:ext cx="912" cy="1440"/>
              </a:xfrm>
              <a:prstGeom prst="rect">
                <a:avLst/>
              </a:prstGeom>
              <a:solidFill>
                <a:srgbClr val="C0C0C0"/>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_tradnl" sz="1600" b="0" i="0" u="none" strike="noStrike" kern="0" cap="none" spc="0" normalizeH="0" baseline="0" noProof="0">
                    <a:ln>
                      <a:noFill/>
                    </a:ln>
                    <a:solidFill>
                      <a:srgbClr val="000000"/>
                    </a:solidFill>
                    <a:effectLst/>
                    <a:uLnTx/>
                    <a:uFillTx/>
                  </a:rPr>
                  <a:t>CPU</a:t>
                </a:r>
                <a:endParaRPr kumimoji="0" lang="es-ES" sz="1600" b="0" i="0" u="none" strike="noStrike" kern="0" cap="none" spc="0" normalizeH="0" baseline="0" noProof="0">
                  <a:ln>
                    <a:noFill/>
                  </a:ln>
                  <a:solidFill>
                    <a:srgbClr val="000000"/>
                  </a:solidFill>
                  <a:effectLst/>
                  <a:uLnTx/>
                  <a:uFillTx/>
                </a:endParaRPr>
              </a:p>
            </p:txBody>
          </p:sp>
          <p:sp>
            <p:nvSpPr>
              <p:cNvPr id="33" name="Rectangle 6"/>
              <p:cNvSpPr>
                <a:spLocks noChangeArrowheads="1"/>
              </p:cNvSpPr>
              <p:nvPr/>
            </p:nvSpPr>
            <p:spPr bwMode="auto">
              <a:xfrm>
                <a:off x="2400" y="2400"/>
                <a:ext cx="816" cy="1284"/>
              </a:xfrm>
              <a:prstGeom prst="rect">
                <a:avLst/>
              </a:prstGeom>
              <a:solidFill>
                <a:srgbClr val="33CCCC"/>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err="1">
                    <a:ln>
                      <a:noFill/>
                    </a:ln>
                    <a:solidFill>
                      <a:srgbClr val="000000"/>
                    </a:solidFill>
                    <a:effectLst/>
                    <a:uLnTx/>
                    <a:uFillTx/>
                  </a:rPr>
                  <a:t>Controlador</a:t>
                </a:r>
                <a:endParaRPr kumimoji="0" lang="en-GB" sz="1600" b="0" i="0" u="none" strike="noStrike" kern="0" cap="none" spc="0" normalizeH="0" baseline="0" noProof="0" dirty="0">
                  <a:ln>
                    <a:noFill/>
                  </a:ln>
                  <a:solidFill>
                    <a:srgbClr val="000000"/>
                  </a:solidFill>
                  <a:effectLst/>
                  <a:uLnTx/>
                  <a:uFillTx/>
                </a:endParaRPr>
              </a:p>
            </p:txBody>
          </p:sp>
          <p:sp>
            <p:nvSpPr>
              <p:cNvPr id="34" name="Rectangle 7"/>
              <p:cNvSpPr>
                <a:spLocks noChangeArrowheads="1"/>
              </p:cNvSpPr>
              <p:nvPr/>
            </p:nvSpPr>
            <p:spPr bwMode="auto">
              <a:xfrm>
                <a:off x="3936" y="2400"/>
                <a:ext cx="912" cy="1440"/>
              </a:xfrm>
              <a:prstGeom prst="rect">
                <a:avLst/>
              </a:prstGeom>
              <a:solidFill>
                <a:srgbClr val="B2B2B2"/>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rgbClr val="000000"/>
                    </a:solidFill>
                    <a:effectLst/>
                    <a:uLnTx/>
                    <a:uFillTx/>
                  </a:rPr>
                  <a:t>Memoria</a:t>
                </a:r>
              </a:p>
            </p:txBody>
          </p:sp>
          <p:sp>
            <p:nvSpPr>
              <p:cNvPr id="35" name="AutoShape 8"/>
              <p:cNvSpPr>
                <a:spLocks noChangeArrowheads="1"/>
              </p:cNvSpPr>
              <p:nvPr/>
            </p:nvSpPr>
            <p:spPr bwMode="auto">
              <a:xfrm>
                <a:off x="1680" y="2352"/>
                <a:ext cx="720" cy="321"/>
              </a:xfrm>
              <a:prstGeom prst="rightArrow">
                <a:avLst>
                  <a:gd name="adj1" fmla="val 50000"/>
                  <a:gd name="adj2" fmla="val 56075"/>
                </a:avLst>
              </a:prstGeom>
              <a:solidFill>
                <a:srgbClr val="CCFFCC"/>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err="1">
                    <a:ln>
                      <a:noFill/>
                    </a:ln>
                    <a:solidFill>
                      <a:srgbClr val="000000"/>
                    </a:solidFill>
                    <a:effectLst/>
                    <a:uLnTx/>
                    <a:uFillTx/>
                  </a:rPr>
                  <a:t>dirección</a:t>
                </a:r>
                <a:endParaRPr kumimoji="0" lang="en-GB" sz="1600" b="0" i="0" u="none" strike="noStrike" kern="0" cap="none" spc="0" normalizeH="0" baseline="0" noProof="0" dirty="0">
                  <a:ln>
                    <a:noFill/>
                  </a:ln>
                  <a:solidFill>
                    <a:srgbClr val="000000"/>
                  </a:solidFill>
                  <a:effectLst/>
                  <a:uLnTx/>
                  <a:uFillTx/>
                </a:endParaRPr>
              </a:p>
            </p:txBody>
          </p:sp>
          <p:sp>
            <p:nvSpPr>
              <p:cNvPr id="36" name="Line 9"/>
              <p:cNvSpPr>
                <a:spLocks noChangeShapeType="1"/>
              </p:cNvSpPr>
              <p:nvPr/>
            </p:nvSpPr>
            <p:spPr bwMode="auto">
              <a:xfrm>
                <a:off x="1680" y="2880"/>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37" name="Text Box 10"/>
              <p:cNvSpPr txBox="1">
                <a:spLocks noChangeArrowheads="1"/>
              </p:cNvSpPr>
              <p:nvPr/>
            </p:nvSpPr>
            <p:spPr bwMode="auto">
              <a:xfrm>
                <a:off x="1777" y="2713"/>
                <a:ext cx="377"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R/W*</a:t>
                </a:r>
                <a:endParaRPr kumimoji="0" lang="es-ES" sz="1400" b="0" i="0" u="none" strike="noStrike" kern="0" cap="none" spc="0" normalizeH="0" baseline="0" noProof="0">
                  <a:ln>
                    <a:noFill/>
                  </a:ln>
                  <a:solidFill>
                    <a:sysClr val="windowText" lastClr="000000"/>
                  </a:solidFill>
                  <a:effectLst/>
                  <a:uLnTx/>
                  <a:uFillTx/>
                </a:endParaRPr>
              </a:p>
            </p:txBody>
          </p:sp>
          <p:sp>
            <p:nvSpPr>
              <p:cNvPr id="38" name="Line 11"/>
              <p:cNvSpPr>
                <a:spLocks noChangeShapeType="1"/>
              </p:cNvSpPr>
              <p:nvPr/>
            </p:nvSpPr>
            <p:spPr bwMode="auto">
              <a:xfrm>
                <a:off x="1680" y="3095"/>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39" name="Text Box 12"/>
              <p:cNvSpPr txBox="1">
                <a:spLocks noChangeArrowheads="1"/>
              </p:cNvSpPr>
              <p:nvPr/>
            </p:nvSpPr>
            <p:spPr bwMode="auto">
              <a:xfrm>
                <a:off x="1699" y="2928"/>
                <a:ext cx="533"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Request</a:t>
                </a:r>
                <a:endParaRPr kumimoji="0" lang="es-ES" sz="1400" b="0" i="0" u="none" strike="noStrike" kern="0" cap="none" spc="0" normalizeH="0" baseline="0" noProof="0">
                  <a:ln>
                    <a:noFill/>
                  </a:ln>
                  <a:solidFill>
                    <a:sysClr val="windowText" lastClr="000000"/>
                  </a:solidFill>
                  <a:effectLst/>
                  <a:uLnTx/>
                  <a:uFillTx/>
                </a:endParaRPr>
              </a:p>
            </p:txBody>
          </p:sp>
          <p:sp>
            <p:nvSpPr>
              <p:cNvPr id="40" name="Line 13"/>
              <p:cNvSpPr>
                <a:spLocks noChangeShapeType="1"/>
              </p:cNvSpPr>
              <p:nvPr/>
            </p:nvSpPr>
            <p:spPr bwMode="auto">
              <a:xfrm>
                <a:off x="1680" y="3297"/>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41" name="Text Box 14"/>
              <p:cNvSpPr txBox="1">
                <a:spLocks noChangeArrowheads="1"/>
              </p:cNvSpPr>
              <p:nvPr/>
            </p:nvSpPr>
            <p:spPr bwMode="auto">
              <a:xfrm>
                <a:off x="1767" y="3130"/>
                <a:ext cx="396"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Clock</a:t>
                </a:r>
                <a:endParaRPr kumimoji="0" lang="es-ES" sz="1400" b="0" i="0" u="none" strike="noStrike" kern="0" cap="none" spc="0" normalizeH="0" baseline="0" noProof="0">
                  <a:ln>
                    <a:noFill/>
                  </a:ln>
                  <a:solidFill>
                    <a:sysClr val="windowText" lastClr="000000"/>
                  </a:solidFill>
                  <a:effectLst/>
                  <a:uLnTx/>
                  <a:uFillTx/>
                </a:endParaRPr>
              </a:p>
            </p:txBody>
          </p:sp>
          <p:sp>
            <p:nvSpPr>
              <p:cNvPr id="42" name="AutoShape 15"/>
              <p:cNvSpPr>
                <a:spLocks noChangeArrowheads="1"/>
              </p:cNvSpPr>
              <p:nvPr/>
            </p:nvSpPr>
            <p:spPr bwMode="auto">
              <a:xfrm>
                <a:off x="3216" y="2352"/>
                <a:ext cx="720" cy="321"/>
              </a:xfrm>
              <a:prstGeom prst="rightArrow">
                <a:avLst>
                  <a:gd name="adj1" fmla="val 50000"/>
                  <a:gd name="adj2" fmla="val 56075"/>
                </a:avLst>
              </a:prstGeom>
              <a:solidFill>
                <a:srgbClr val="CCFFCC"/>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s-ES_tradnl" sz="1600" kern="0" dirty="0">
                    <a:solidFill>
                      <a:srgbClr val="000000"/>
                    </a:solidFill>
                  </a:rPr>
                  <a:t>fila</a:t>
                </a:r>
                <a:r>
                  <a:rPr kumimoji="0" lang="es-ES_tradnl" sz="1600" b="0" i="0" u="none" strike="noStrike" kern="0" cap="none" spc="0" normalizeH="0" baseline="0" noProof="0" dirty="0">
                    <a:ln>
                      <a:noFill/>
                    </a:ln>
                    <a:solidFill>
                      <a:srgbClr val="000000"/>
                    </a:solidFill>
                    <a:effectLst/>
                    <a:uLnTx/>
                    <a:uFillTx/>
                  </a:rPr>
                  <a:t>/col</a:t>
                </a:r>
                <a:endParaRPr kumimoji="0" lang="es-ES" sz="1600" b="0" i="0" u="none" strike="noStrike" kern="0" cap="none" spc="0" normalizeH="0" baseline="0" noProof="0" dirty="0">
                  <a:ln>
                    <a:noFill/>
                  </a:ln>
                  <a:solidFill>
                    <a:srgbClr val="000000"/>
                  </a:solidFill>
                  <a:effectLst/>
                  <a:uLnTx/>
                  <a:uFillTx/>
                </a:endParaRPr>
              </a:p>
            </p:txBody>
          </p:sp>
          <p:sp>
            <p:nvSpPr>
              <p:cNvPr id="43" name="Line 16"/>
              <p:cNvSpPr>
                <a:spLocks noChangeShapeType="1"/>
              </p:cNvSpPr>
              <p:nvPr/>
            </p:nvSpPr>
            <p:spPr bwMode="auto">
              <a:xfrm>
                <a:off x="3216" y="2928"/>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44" name="Text Box 17"/>
              <p:cNvSpPr txBox="1">
                <a:spLocks noChangeArrowheads="1"/>
              </p:cNvSpPr>
              <p:nvPr/>
            </p:nvSpPr>
            <p:spPr bwMode="auto">
              <a:xfrm>
                <a:off x="3307" y="2761"/>
                <a:ext cx="390"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CAS*</a:t>
                </a:r>
                <a:endParaRPr kumimoji="0" lang="es-ES" sz="1400" b="0" i="0" u="none" strike="noStrike" kern="0" cap="none" spc="0" normalizeH="0" baseline="0" noProof="0">
                  <a:ln>
                    <a:noFill/>
                  </a:ln>
                  <a:solidFill>
                    <a:sysClr val="windowText" lastClr="000000"/>
                  </a:solidFill>
                  <a:effectLst/>
                  <a:uLnTx/>
                  <a:uFillTx/>
                </a:endParaRPr>
              </a:p>
            </p:txBody>
          </p:sp>
          <p:sp>
            <p:nvSpPr>
              <p:cNvPr id="45" name="Line 18"/>
              <p:cNvSpPr>
                <a:spLocks noChangeShapeType="1"/>
              </p:cNvSpPr>
              <p:nvPr/>
            </p:nvSpPr>
            <p:spPr bwMode="auto">
              <a:xfrm>
                <a:off x="3216" y="3095"/>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46" name="Text Box 19"/>
              <p:cNvSpPr txBox="1">
                <a:spLocks noChangeArrowheads="1"/>
              </p:cNvSpPr>
              <p:nvPr/>
            </p:nvSpPr>
            <p:spPr bwMode="auto">
              <a:xfrm>
                <a:off x="3313" y="2928"/>
                <a:ext cx="377"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R/W*</a:t>
                </a:r>
                <a:endParaRPr kumimoji="0" lang="es-ES" sz="1400" b="0" i="0" u="none" strike="noStrike" kern="0" cap="none" spc="0" normalizeH="0" baseline="0" noProof="0">
                  <a:ln>
                    <a:noFill/>
                  </a:ln>
                  <a:solidFill>
                    <a:sysClr val="windowText" lastClr="000000"/>
                  </a:solidFill>
                  <a:effectLst/>
                  <a:uLnTx/>
                  <a:uFillTx/>
                </a:endParaRPr>
              </a:p>
            </p:txBody>
          </p:sp>
          <p:sp>
            <p:nvSpPr>
              <p:cNvPr id="47" name="Line 20"/>
              <p:cNvSpPr>
                <a:spLocks noChangeShapeType="1"/>
              </p:cNvSpPr>
              <p:nvPr/>
            </p:nvSpPr>
            <p:spPr bwMode="auto">
              <a:xfrm>
                <a:off x="3216" y="3239"/>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48" name="Text Box 21"/>
              <p:cNvSpPr txBox="1">
                <a:spLocks noChangeArrowheads="1"/>
              </p:cNvSpPr>
              <p:nvPr/>
            </p:nvSpPr>
            <p:spPr bwMode="auto">
              <a:xfrm>
                <a:off x="3344" y="3072"/>
                <a:ext cx="315"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CS*</a:t>
                </a:r>
                <a:endParaRPr kumimoji="0" lang="es-ES" sz="1400" b="0" i="0" u="none" strike="noStrike" kern="0" cap="none" spc="0" normalizeH="0" baseline="0" noProof="0">
                  <a:ln>
                    <a:noFill/>
                  </a:ln>
                  <a:solidFill>
                    <a:sysClr val="windowText" lastClr="000000"/>
                  </a:solidFill>
                  <a:effectLst/>
                  <a:uLnTx/>
                  <a:uFillTx/>
                </a:endParaRPr>
              </a:p>
            </p:txBody>
          </p:sp>
          <p:sp>
            <p:nvSpPr>
              <p:cNvPr id="49" name="Line 22"/>
              <p:cNvSpPr>
                <a:spLocks noChangeShapeType="1"/>
              </p:cNvSpPr>
              <p:nvPr/>
            </p:nvSpPr>
            <p:spPr bwMode="auto">
              <a:xfrm>
                <a:off x="3216" y="3383"/>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50" name="Text Box 23"/>
              <p:cNvSpPr txBox="1">
                <a:spLocks noChangeArrowheads="1"/>
              </p:cNvSpPr>
              <p:nvPr/>
            </p:nvSpPr>
            <p:spPr bwMode="auto">
              <a:xfrm>
                <a:off x="3303" y="3216"/>
                <a:ext cx="396"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Clock</a:t>
                </a:r>
                <a:endParaRPr kumimoji="0" lang="es-ES" sz="1400" b="0" i="0" u="none" strike="noStrike" kern="0" cap="none" spc="0" normalizeH="0" baseline="0" noProof="0">
                  <a:ln>
                    <a:noFill/>
                  </a:ln>
                  <a:solidFill>
                    <a:sysClr val="windowText" lastClr="000000"/>
                  </a:solidFill>
                  <a:effectLst/>
                  <a:uLnTx/>
                  <a:uFillTx/>
                </a:endParaRPr>
              </a:p>
            </p:txBody>
          </p:sp>
          <p:sp>
            <p:nvSpPr>
              <p:cNvPr id="51" name="Line 24"/>
              <p:cNvSpPr>
                <a:spLocks noChangeShapeType="1"/>
              </p:cNvSpPr>
              <p:nvPr/>
            </p:nvSpPr>
            <p:spPr bwMode="auto">
              <a:xfrm>
                <a:off x="3216" y="2759"/>
                <a:ext cx="720" cy="0"/>
              </a:xfrm>
              <a:prstGeom prst="line">
                <a:avLst/>
              </a:prstGeom>
              <a:noFill/>
              <a:ln w="12700">
                <a:solidFill>
                  <a:srgbClr val="000000"/>
                </a:solidFill>
                <a:round/>
                <a:headEnd/>
                <a:tailEnd type="triangle" w="med" len="me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52" name="Text Box 25"/>
              <p:cNvSpPr txBox="1">
                <a:spLocks noChangeArrowheads="1"/>
              </p:cNvSpPr>
              <p:nvPr/>
            </p:nvSpPr>
            <p:spPr bwMode="auto">
              <a:xfrm>
                <a:off x="3307" y="2592"/>
                <a:ext cx="390" cy="192"/>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a:ln>
                      <a:noFill/>
                    </a:ln>
                    <a:solidFill>
                      <a:sysClr val="windowText" lastClr="000000"/>
                    </a:solidFill>
                    <a:effectLst/>
                    <a:uLnTx/>
                    <a:uFillTx/>
                  </a:rPr>
                  <a:t>RAS*</a:t>
                </a:r>
                <a:endParaRPr kumimoji="0" lang="es-ES" sz="1400" b="0" i="0" u="none" strike="noStrike" kern="0" cap="none" spc="0" normalizeH="0" baseline="0" noProof="0">
                  <a:ln>
                    <a:noFill/>
                  </a:ln>
                  <a:solidFill>
                    <a:sysClr val="windowText" lastClr="000000"/>
                  </a:solidFill>
                  <a:effectLst/>
                  <a:uLnTx/>
                  <a:uFillTx/>
                </a:endParaRPr>
              </a:p>
            </p:txBody>
          </p:sp>
          <p:sp>
            <p:nvSpPr>
              <p:cNvPr id="53" name="AutoShape 26"/>
              <p:cNvSpPr>
                <a:spLocks noChangeArrowheads="1"/>
              </p:cNvSpPr>
              <p:nvPr/>
            </p:nvSpPr>
            <p:spPr bwMode="auto">
              <a:xfrm>
                <a:off x="1681" y="3775"/>
                <a:ext cx="2254" cy="273"/>
              </a:xfrm>
              <a:prstGeom prst="leftRightArrow">
                <a:avLst>
                  <a:gd name="adj1" fmla="val 52759"/>
                  <a:gd name="adj2" fmla="val 73553"/>
                </a:avLst>
              </a:prstGeom>
              <a:solidFill>
                <a:srgbClr val="CCFFCC"/>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_tradnl" sz="1600" b="0" i="0" u="none" strike="noStrike" kern="0" cap="none" spc="0" normalizeH="0" baseline="0" noProof="0" dirty="0">
                    <a:ln>
                      <a:noFill/>
                    </a:ln>
                    <a:solidFill>
                      <a:srgbClr val="000000"/>
                    </a:solidFill>
                    <a:effectLst/>
                    <a:uLnTx/>
                    <a:uFillTx/>
                  </a:rPr>
                  <a:t>datos</a:t>
                </a:r>
                <a:endParaRPr kumimoji="0" lang="es-ES" sz="1600" b="0" i="0" u="none" strike="noStrike" kern="0" cap="none" spc="0" normalizeH="0" baseline="0" noProof="0" dirty="0">
                  <a:ln>
                    <a:noFill/>
                  </a:ln>
                  <a:solidFill>
                    <a:srgbClr val="000000"/>
                  </a:solidFill>
                  <a:effectLst/>
                  <a:uLnTx/>
                  <a:uFillTx/>
                </a:endParaRPr>
              </a:p>
            </p:txBody>
          </p:sp>
        </p:grpSp>
        <p:sp>
          <p:nvSpPr>
            <p:cNvPr id="30" name="Text Box 23"/>
            <p:cNvSpPr txBox="1">
              <a:spLocks noChangeArrowheads="1"/>
            </p:cNvSpPr>
            <p:nvPr/>
          </p:nvSpPr>
          <p:spPr bwMode="auto">
            <a:xfrm>
              <a:off x="5394582" y="3765198"/>
              <a:ext cx="643413" cy="307777"/>
            </a:xfrm>
            <a:prstGeom prst="rect">
              <a:avLst/>
            </a:prstGeom>
            <a:noFill/>
            <a:ln w="12700">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400" b="0" i="0" u="none" strike="noStrike" kern="0" cap="none" spc="0" normalizeH="0" baseline="0" noProof="0" dirty="0" err="1">
                  <a:ln>
                    <a:noFill/>
                  </a:ln>
                  <a:solidFill>
                    <a:sysClr val="windowText" lastClr="000000"/>
                  </a:solidFill>
                  <a:effectLst/>
                  <a:uLnTx/>
                  <a:uFillTx/>
                </a:rPr>
                <a:t>DQMi</a:t>
              </a:r>
              <a:endParaRPr kumimoji="0" lang="es-ES" sz="1400" b="0" i="0" u="none" strike="noStrike" kern="0" cap="none" spc="0" normalizeH="0" baseline="0" noProof="0" dirty="0">
                <a:ln>
                  <a:noFill/>
                </a:ln>
                <a:solidFill>
                  <a:sysClr val="windowText" lastClr="000000"/>
                </a:solidFill>
                <a:effectLst/>
                <a:uLnTx/>
                <a:uFillTx/>
              </a:endParaRPr>
            </a:p>
          </p:txBody>
        </p:sp>
        <p:sp>
          <p:nvSpPr>
            <p:cNvPr id="31" name="AutoShape 15"/>
            <p:cNvSpPr>
              <a:spLocks noChangeArrowheads="1"/>
            </p:cNvSpPr>
            <p:nvPr/>
          </p:nvSpPr>
          <p:spPr bwMode="auto">
            <a:xfrm>
              <a:off x="5250119" y="3979429"/>
              <a:ext cx="1143000" cy="173471"/>
            </a:xfrm>
            <a:prstGeom prst="rightArrow">
              <a:avLst>
                <a:gd name="adj1" fmla="val 50000"/>
                <a:gd name="adj2" fmla="val 164061"/>
              </a:avLst>
            </a:prstGeom>
            <a:solidFill>
              <a:srgbClr val="CCFFCC"/>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600" b="0" i="0" u="none" strike="noStrike" kern="0" cap="none" spc="0" normalizeH="0" baseline="0" noProof="0" dirty="0">
                <a:ln>
                  <a:noFill/>
                </a:ln>
                <a:solidFill>
                  <a:srgbClr val="000000"/>
                </a:solidFill>
                <a:effectLst/>
                <a:uLnTx/>
                <a:uFillTx/>
              </a:endParaRPr>
            </a:p>
          </p:txBody>
        </p:sp>
      </p:grpSp>
      <p:pic>
        <p:nvPicPr>
          <p:cNvPr id="54" name="Imagen 6"/>
          <p:cNvPicPr>
            <a:picLocks noChangeAspect="1"/>
          </p:cNvPicPr>
          <p:nvPr/>
        </p:nvPicPr>
        <p:blipFill>
          <a:blip r:embed="rId3"/>
          <a:stretch>
            <a:fillRect/>
          </a:stretch>
        </p:blipFill>
        <p:spPr>
          <a:xfrm>
            <a:off x="6588224" y="116632"/>
            <a:ext cx="1797064" cy="1244120"/>
          </a:xfrm>
          <a:prstGeom prst="rect">
            <a:avLst/>
          </a:prstGeom>
        </p:spPr>
      </p:pic>
      <p:sp>
        <p:nvSpPr>
          <p:cNvPr id="2" name="2 Marcador de número de diapositiva">
            <a:extLst>
              <a:ext uri="{FF2B5EF4-FFF2-40B4-BE49-F238E27FC236}">
                <a16:creationId xmlns:a16="http://schemas.microsoft.com/office/drawing/2014/main" id="{497B8F42-15EF-8559-D475-2CB338BA9A2F}"/>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141</a:t>
            </a:fld>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p:txBody>
          <a:bodyPr/>
          <a:lstStyle/>
          <a:p>
            <a:r>
              <a:rPr lang="es-ES" dirty="0"/>
              <a:t>El controlador de memoria</a:t>
            </a:r>
            <a:endParaRPr lang="es-ES_tradnl" altLang="es-ES_tradnl" dirty="0"/>
          </a:p>
        </p:txBody>
      </p:sp>
      <p:sp>
        <p:nvSpPr>
          <p:cNvPr id="153" name="Rectangle 4"/>
          <p:cNvSpPr>
            <a:spLocks noChangeArrowheads="1"/>
          </p:cNvSpPr>
          <p:nvPr/>
        </p:nvSpPr>
        <p:spPr bwMode="auto">
          <a:xfrm>
            <a:off x="6444208" y="2075766"/>
            <a:ext cx="2160240" cy="457200"/>
          </a:xfrm>
          <a:prstGeom prst="rect">
            <a:avLst/>
          </a:prstGeom>
          <a:noFill/>
          <a:ln w="19050">
            <a:solidFill>
              <a:schemeClr val="tx1"/>
            </a:solidFill>
            <a:miter lim="800000"/>
            <a:headEnd/>
            <a:tailEnd/>
          </a:ln>
        </p:spPr>
        <p:txBody>
          <a:bodyPr wrap="none" lIns="0" tIns="0" rIns="0" bIns="0" anchor="ctr"/>
          <a:lstStyle/>
          <a:p>
            <a:r>
              <a:rPr lang="es-ES_tradnl" sz="1800" dirty="0"/>
              <a:t>BE*</a:t>
            </a:r>
            <a:r>
              <a:rPr lang="es-ES_tradnl" sz="1800" b="1" baseline="-25000" dirty="0"/>
              <a:t>3 </a:t>
            </a:r>
            <a:r>
              <a:rPr lang="es-ES_tradnl" sz="1800" dirty="0"/>
              <a:t>BE*</a:t>
            </a:r>
            <a:r>
              <a:rPr lang="es-ES_tradnl" sz="1800" b="1" baseline="-25000" dirty="0"/>
              <a:t>2 </a:t>
            </a:r>
            <a:r>
              <a:rPr lang="es-ES_tradnl" sz="1800" dirty="0"/>
              <a:t>BE*</a:t>
            </a:r>
            <a:r>
              <a:rPr lang="es-ES_tradnl" sz="1800" b="1" baseline="-25000" dirty="0"/>
              <a:t>1 </a:t>
            </a:r>
            <a:r>
              <a:rPr lang="es-ES_tradnl" sz="1800" dirty="0"/>
              <a:t>BE*</a:t>
            </a:r>
            <a:r>
              <a:rPr lang="es-ES_tradnl" sz="1800" b="1" baseline="-25000" dirty="0"/>
              <a:t>0</a:t>
            </a:r>
            <a:endParaRPr lang="es-ES_tradnl" sz="1800" baseline="-25000" dirty="0"/>
          </a:p>
        </p:txBody>
      </p:sp>
      <p:sp>
        <p:nvSpPr>
          <p:cNvPr id="164" name="Rectangle 15"/>
          <p:cNvSpPr>
            <a:spLocks noChangeArrowheads="1"/>
          </p:cNvSpPr>
          <p:nvPr/>
        </p:nvSpPr>
        <p:spPr bwMode="auto">
          <a:xfrm>
            <a:off x="827584" y="2075568"/>
            <a:ext cx="5616624" cy="457200"/>
          </a:xfrm>
          <a:prstGeom prst="rect">
            <a:avLst/>
          </a:prstGeom>
          <a:noFill/>
          <a:ln w="19050">
            <a:solidFill>
              <a:schemeClr val="tx1"/>
            </a:solidFill>
            <a:miter lim="800000"/>
            <a:headEnd/>
            <a:tailEnd/>
          </a:ln>
        </p:spPr>
        <p:txBody>
          <a:bodyPr wrap="none" lIns="0" tIns="0" rIns="0" bIns="0" anchor="ctr"/>
          <a:lstStyle/>
          <a:p>
            <a:pPr algn="l"/>
            <a:r>
              <a:rPr lang="es-ES_tradnl" dirty="0"/>
              <a:t>  A</a:t>
            </a:r>
            <a:r>
              <a:rPr lang="es-ES_tradnl" b="1" baseline="-25000" dirty="0"/>
              <a:t>n−1   </a:t>
            </a:r>
            <a:r>
              <a:rPr lang="es-ES_tradnl" b="1" dirty="0"/>
              <a:t>                        …..                                   </a:t>
            </a:r>
            <a:r>
              <a:rPr lang="es-ES_tradnl" dirty="0"/>
              <a:t>A</a:t>
            </a:r>
            <a:r>
              <a:rPr lang="es-ES_tradnl" b="1" baseline="-25000" dirty="0"/>
              <a:t>2</a:t>
            </a:r>
          </a:p>
        </p:txBody>
      </p:sp>
      <p:sp>
        <p:nvSpPr>
          <p:cNvPr id="168" name="167 CuadroTexto"/>
          <p:cNvSpPr txBox="1"/>
          <p:nvPr/>
        </p:nvSpPr>
        <p:spPr>
          <a:xfrm>
            <a:off x="683568" y="1628800"/>
            <a:ext cx="4629794" cy="400110"/>
          </a:xfrm>
          <a:prstGeom prst="rect">
            <a:avLst/>
          </a:prstGeom>
          <a:noFill/>
        </p:spPr>
        <p:txBody>
          <a:bodyPr wrap="none" rtlCol="0">
            <a:spAutoFit/>
          </a:bodyPr>
          <a:lstStyle/>
          <a:p>
            <a:pPr algn="l"/>
            <a:r>
              <a:rPr lang="es-ES" dirty="0"/>
              <a:t>Bus físico de direcciones (CPU 32 bits)</a:t>
            </a:r>
          </a:p>
        </p:txBody>
      </p:sp>
      <p:sp>
        <p:nvSpPr>
          <p:cNvPr id="169" name="Rectangle 3"/>
          <p:cNvSpPr txBox="1">
            <a:spLocks noChangeArrowheads="1"/>
          </p:cNvSpPr>
          <p:nvPr/>
        </p:nvSpPr>
        <p:spPr bwMode="auto">
          <a:xfrm>
            <a:off x="533400" y="1052736"/>
            <a:ext cx="8305800"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lgn="l">
              <a:spcBef>
                <a:spcPct val="20000"/>
              </a:spcBef>
              <a:buFont typeface="Wingdings" pitchFamily="2" charset="2"/>
              <a:buChar char="§"/>
              <a:defRPr/>
            </a:pPr>
            <a:r>
              <a:rPr lang="es-ES" sz="2400" dirty="0"/>
              <a:t>Estructura resultante de las direcciones</a:t>
            </a:r>
            <a:endParaRPr kumimoji="0" lang="es-ES" altLang="es-ES_tradnl" sz="2400" b="0" i="0" u="none" strike="noStrike" kern="0" cap="none" spc="0" normalizeH="0" baseline="0" noProof="0" dirty="0">
              <a:ln>
                <a:noFill/>
              </a:ln>
              <a:effectLst/>
              <a:uLnTx/>
              <a:uFillTx/>
              <a:latin typeface="+mn-lt"/>
              <a:ea typeface="+mn-ea"/>
              <a:cs typeface="+mn-cs"/>
            </a:endParaRPr>
          </a:p>
        </p:txBody>
      </p:sp>
      <p:sp>
        <p:nvSpPr>
          <p:cNvPr id="32" name="31 CuadroTexto"/>
          <p:cNvSpPr txBox="1"/>
          <p:nvPr/>
        </p:nvSpPr>
        <p:spPr>
          <a:xfrm>
            <a:off x="2411760" y="2699628"/>
            <a:ext cx="2300630" cy="369332"/>
          </a:xfrm>
          <a:prstGeom prst="rect">
            <a:avLst/>
          </a:prstGeom>
          <a:noFill/>
        </p:spPr>
        <p:txBody>
          <a:bodyPr wrap="none" rtlCol="0">
            <a:spAutoFit/>
          </a:bodyPr>
          <a:lstStyle/>
          <a:p>
            <a:pPr algn="l"/>
            <a:r>
              <a:rPr lang="es-ES" sz="1800" dirty="0">
                <a:solidFill>
                  <a:schemeClr val="bg1"/>
                </a:solidFill>
              </a:rPr>
              <a:t>Dirección de palabra</a:t>
            </a:r>
          </a:p>
        </p:txBody>
      </p:sp>
      <p:cxnSp>
        <p:nvCxnSpPr>
          <p:cNvPr id="34" name="33 Conector recto"/>
          <p:cNvCxnSpPr/>
          <p:nvPr/>
        </p:nvCxnSpPr>
        <p:spPr bwMode="auto">
          <a:xfrm rot="5400000">
            <a:off x="471370" y="2712986"/>
            <a:ext cx="720080" cy="360040"/>
          </a:xfrm>
          <a:prstGeom prst="line">
            <a:avLst/>
          </a:prstGeom>
          <a:noFill/>
          <a:ln w="19050" cap="flat" cmpd="sng" algn="ctr">
            <a:solidFill>
              <a:schemeClr val="accent2"/>
            </a:solidFill>
            <a:prstDash val="solid"/>
            <a:round/>
            <a:headEnd type="none" w="med" len="med"/>
            <a:tailEnd type="none" w="med" len="med"/>
          </a:ln>
          <a:effectLst/>
        </p:spPr>
      </p:cxnSp>
      <p:cxnSp>
        <p:nvCxnSpPr>
          <p:cNvPr id="36" name="35 Conector recto"/>
          <p:cNvCxnSpPr/>
          <p:nvPr/>
        </p:nvCxnSpPr>
        <p:spPr bwMode="auto">
          <a:xfrm>
            <a:off x="6444208" y="2564904"/>
            <a:ext cx="1529652" cy="688142"/>
          </a:xfrm>
          <a:prstGeom prst="line">
            <a:avLst/>
          </a:prstGeom>
          <a:noFill/>
          <a:ln w="19050" cap="flat" cmpd="sng" algn="ctr">
            <a:solidFill>
              <a:schemeClr val="accent2"/>
            </a:solidFill>
            <a:prstDash val="solid"/>
            <a:round/>
            <a:headEnd type="none" w="med" len="med"/>
            <a:tailEnd type="none" w="med" len="med"/>
          </a:ln>
          <a:effectLst/>
        </p:spPr>
      </p:cxnSp>
      <p:sp>
        <p:nvSpPr>
          <p:cNvPr id="26" name="25 CuadroTexto"/>
          <p:cNvSpPr txBox="1"/>
          <p:nvPr/>
        </p:nvSpPr>
        <p:spPr>
          <a:xfrm>
            <a:off x="651390" y="5193283"/>
            <a:ext cx="3119764" cy="338554"/>
          </a:xfrm>
          <a:prstGeom prst="rect">
            <a:avLst/>
          </a:prstGeom>
          <a:noFill/>
        </p:spPr>
        <p:txBody>
          <a:bodyPr wrap="none" rtlCol="0">
            <a:spAutoFit/>
          </a:bodyPr>
          <a:lstStyle/>
          <a:p>
            <a:r>
              <a:rPr lang="es-ES" sz="1600" i="1" dirty="0"/>
              <a:t>Selección lineal bancos SDRAM</a:t>
            </a:r>
          </a:p>
        </p:txBody>
      </p:sp>
      <p:sp>
        <p:nvSpPr>
          <p:cNvPr id="31" name="AutoShape 12"/>
          <p:cNvSpPr>
            <a:spLocks/>
          </p:cNvSpPr>
          <p:nvPr/>
        </p:nvSpPr>
        <p:spPr bwMode="auto">
          <a:xfrm rot="5400000">
            <a:off x="3564434" y="-171946"/>
            <a:ext cx="142875" cy="5616575"/>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40" name="39 CuadroTexto"/>
          <p:cNvSpPr txBox="1"/>
          <p:nvPr/>
        </p:nvSpPr>
        <p:spPr>
          <a:xfrm>
            <a:off x="8080403" y="3284984"/>
            <a:ext cx="1061509" cy="929485"/>
          </a:xfrm>
          <a:prstGeom prst="rect">
            <a:avLst/>
          </a:prstGeom>
          <a:noFill/>
        </p:spPr>
        <p:txBody>
          <a:bodyPr wrap="none" rtlCol="0">
            <a:spAutoFit/>
          </a:bodyPr>
          <a:lstStyle/>
          <a:p>
            <a:r>
              <a:rPr lang="es-ES" sz="1600" i="1" dirty="0" err="1"/>
              <a:t>Sel</a:t>
            </a:r>
            <a:r>
              <a:rPr lang="es-ES" sz="1600" i="1" dirty="0"/>
              <a:t>. </a:t>
            </a:r>
          </a:p>
          <a:p>
            <a:r>
              <a:rPr lang="es-ES" sz="1600" i="1" dirty="0"/>
              <a:t>Columna </a:t>
            </a:r>
          </a:p>
          <a:p>
            <a:r>
              <a:rPr lang="es-ES" sz="1600" i="1" dirty="0"/>
              <a:t>chips</a:t>
            </a:r>
          </a:p>
        </p:txBody>
      </p:sp>
      <p:sp>
        <p:nvSpPr>
          <p:cNvPr id="42" name="41 Forma libre"/>
          <p:cNvSpPr/>
          <p:nvPr/>
        </p:nvSpPr>
        <p:spPr bwMode="auto">
          <a:xfrm>
            <a:off x="7275534" y="2780778"/>
            <a:ext cx="1396653" cy="538619"/>
          </a:xfrm>
          <a:custGeom>
            <a:avLst/>
            <a:gdLst>
              <a:gd name="connsiteX0" fmla="*/ 290187 w 1396653"/>
              <a:gd name="connsiteY0" fmla="*/ 0 h 538619"/>
              <a:gd name="connsiteX1" fmla="*/ 164926 w 1396653"/>
              <a:gd name="connsiteY1" fmla="*/ 75156 h 538619"/>
              <a:gd name="connsiteX2" fmla="*/ 1279743 w 1396653"/>
              <a:gd name="connsiteY2" fmla="*/ 137786 h 538619"/>
              <a:gd name="connsiteX3" fmla="*/ 866384 w 1396653"/>
              <a:gd name="connsiteY3" fmla="*/ 325677 h 538619"/>
              <a:gd name="connsiteX4" fmla="*/ 1091852 w 1396653"/>
              <a:gd name="connsiteY4" fmla="*/ 538619 h 538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53" h="538619">
                <a:moveTo>
                  <a:pt x="290187" y="0"/>
                </a:moveTo>
                <a:cubicBezTo>
                  <a:pt x="145093" y="26096"/>
                  <a:pt x="0" y="52192"/>
                  <a:pt x="164926" y="75156"/>
                </a:cubicBezTo>
                <a:cubicBezTo>
                  <a:pt x="329852" y="98120"/>
                  <a:pt x="1162833" y="96033"/>
                  <a:pt x="1279743" y="137786"/>
                </a:cubicBezTo>
                <a:cubicBezTo>
                  <a:pt x="1396653" y="179540"/>
                  <a:pt x="897699" y="258872"/>
                  <a:pt x="866384" y="325677"/>
                </a:cubicBezTo>
                <a:cubicBezTo>
                  <a:pt x="835069" y="392482"/>
                  <a:pt x="963460" y="465550"/>
                  <a:pt x="1091852" y="538619"/>
                </a:cubicBezTo>
              </a:path>
            </a:pathLst>
          </a:custGeom>
          <a:noFill/>
          <a:ln w="19050" cap="flat" cmpd="sng" algn="ctr">
            <a:solidFill>
              <a:srgbClr val="CC3300"/>
            </a:solidFill>
            <a:prstDash val="solid"/>
            <a:round/>
            <a:headEnd type="none" w="med" len="med"/>
            <a:tailEnd type="triangl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bg1"/>
              </a:solidFill>
              <a:effectLst/>
              <a:latin typeface="Arial" charset="0"/>
            </a:endParaRPr>
          </a:p>
        </p:txBody>
      </p:sp>
      <p:grpSp>
        <p:nvGrpSpPr>
          <p:cNvPr id="2" name="1 Grupo"/>
          <p:cNvGrpSpPr/>
          <p:nvPr/>
        </p:nvGrpSpPr>
        <p:grpSpPr>
          <a:xfrm>
            <a:off x="683568" y="3253046"/>
            <a:ext cx="7416824" cy="3416314"/>
            <a:chOff x="467544" y="3253046"/>
            <a:chExt cx="7416824" cy="3416314"/>
          </a:xfrm>
        </p:grpSpPr>
        <p:sp>
          <p:nvSpPr>
            <p:cNvPr id="170" name="Rectangle 4"/>
            <p:cNvSpPr>
              <a:spLocks noChangeArrowheads="1"/>
            </p:cNvSpPr>
            <p:nvPr/>
          </p:nvSpPr>
          <p:spPr bwMode="auto">
            <a:xfrm>
              <a:off x="1763688" y="3875686"/>
              <a:ext cx="6120680" cy="432000"/>
            </a:xfrm>
            <a:prstGeom prst="rect">
              <a:avLst/>
            </a:prstGeom>
            <a:solidFill>
              <a:srgbClr val="7030A0"/>
            </a:solidFill>
            <a:ln w="19050">
              <a:solidFill>
                <a:schemeClr val="tx1"/>
              </a:solidFill>
              <a:miter lim="800000"/>
              <a:headEnd/>
              <a:tailEnd/>
            </a:ln>
          </p:spPr>
          <p:txBody>
            <a:bodyPr wrap="none" lIns="0" tIns="0" rIns="0" bIns="0" anchor="ctr"/>
            <a:lstStyle/>
            <a:p>
              <a:r>
                <a:rPr lang="es-ES_tradnl" sz="1800" b="1" dirty="0">
                  <a:solidFill>
                    <a:srgbClr val="FFFFFF"/>
                  </a:solidFill>
                </a:rPr>
                <a:t>Dir. Interno módulo</a:t>
              </a:r>
              <a:endParaRPr lang="es-ES_tradnl" sz="1800" b="1" baseline="-25000" dirty="0"/>
            </a:p>
          </p:txBody>
        </p:sp>
        <p:sp>
          <p:nvSpPr>
            <p:cNvPr id="171" name="Rectangle 15"/>
            <p:cNvSpPr>
              <a:spLocks noChangeArrowheads="1"/>
            </p:cNvSpPr>
            <p:nvPr/>
          </p:nvSpPr>
          <p:spPr bwMode="auto">
            <a:xfrm>
              <a:off x="467544" y="3875488"/>
              <a:ext cx="1296144" cy="432000"/>
            </a:xfrm>
            <a:prstGeom prst="rect">
              <a:avLst/>
            </a:prstGeom>
            <a:solidFill>
              <a:schemeClr val="accent6">
                <a:lumMod val="40000"/>
                <a:lumOff val="60000"/>
              </a:schemeClr>
            </a:solidFill>
            <a:ln w="19050">
              <a:solidFill>
                <a:schemeClr val="tx1"/>
              </a:solidFill>
              <a:miter lim="800000"/>
              <a:headEnd/>
              <a:tailEnd/>
            </a:ln>
          </p:spPr>
          <p:txBody>
            <a:bodyPr wrap="none" lIns="0" tIns="0" rIns="0" bIns="0" anchor="ctr"/>
            <a:lstStyle/>
            <a:p>
              <a:r>
                <a:rPr lang="es-ES_tradnl" sz="1600" b="1" dirty="0" err="1">
                  <a:solidFill>
                    <a:srgbClr val="FFFFFF"/>
                  </a:solidFill>
                </a:rPr>
                <a:t>Sel</a:t>
              </a:r>
              <a:r>
                <a:rPr lang="es-ES_tradnl" sz="1600" b="1" dirty="0">
                  <a:solidFill>
                    <a:srgbClr val="FFFFFF"/>
                  </a:solidFill>
                </a:rPr>
                <a:t>. Módulo</a:t>
              </a:r>
              <a:endParaRPr lang="es-ES_tradnl" sz="1600" b="1" baseline="-25000" dirty="0">
                <a:solidFill>
                  <a:srgbClr val="FFFFFF"/>
                </a:solidFill>
              </a:endParaRPr>
            </a:p>
          </p:txBody>
        </p:sp>
        <p:sp>
          <p:nvSpPr>
            <p:cNvPr id="28" name="Rectangle 4"/>
            <p:cNvSpPr>
              <a:spLocks noChangeArrowheads="1"/>
            </p:cNvSpPr>
            <p:nvPr/>
          </p:nvSpPr>
          <p:spPr bwMode="auto">
            <a:xfrm>
              <a:off x="6228184" y="3253244"/>
              <a:ext cx="1656184" cy="319970"/>
            </a:xfrm>
            <a:prstGeom prst="rect">
              <a:avLst/>
            </a:prstGeom>
            <a:solidFill>
              <a:schemeClr val="accent4">
                <a:lumMod val="60000"/>
                <a:lumOff val="40000"/>
              </a:schemeClr>
            </a:solidFill>
            <a:ln w="19050">
              <a:solidFill>
                <a:schemeClr val="tx1"/>
              </a:solidFill>
              <a:miter lim="800000"/>
              <a:headEnd/>
              <a:tailEnd/>
            </a:ln>
          </p:spPr>
          <p:txBody>
            <a:bodyPr wrap="none" lIns="0" tIns="0" rIns="0" bIns="0" anchor="ctr"/>
            <a:lstStyle/>
            <a:p>
              <a:r>
                <a:rPr lang="es-ES_tradnl" sz="1600" b="1" dirty="0">
                  <a:solidFill>
                    <a:schemeClr val="bg1"/>
                  </a:solidFill>
                </a:rPr>
                <a:t>Desplazamiento</a:t>
              </a:r>
              <a:endParaRPr lang="es-ES_tradnl" sz="1600" b="1" baseline="-25000" dirty="0">
                <a:solidFill>
                  <a:schemeClr val="bg1"/>
                </a:solidFill>
              </a:endParaRPr>
            </a:p>
          </p:txBody>
        </p:sp>
        <p:sp>
          <p:nvSpPr>
            <p:cNvPr id="29" name="Rectangle 15"/>
            <p:cNvSpPr>
              <a:spLocks noChangeArrowheads="1"/>
            </p:cNvSpPr>
            <p:nvPr/>
          </p:nvSpPr>
          <p:spPr bwMode="auto">
            <a:xfrm>
              <a:off x="467544" y="3253046"/>
              <a:ext cx="5760640" cy="319970"/>
            </a:xfrm>
            <a:prstGeom prst="rect">
              <a:avLst/>
            </a:prstGeom>
            <a:solidFill>
              <a:schemeClr val="accent4">
                <a:lumMod val="75000"/>
              </a:schemeClr>
            </a:solidFill>
            <a:ln w="19050">
              <a:solidFill>
                <a:schemeClr val="tx1"/>
              </a:solidFill>
              <a:miter lim="800000"/>
              <a:headEnd/>
              <a:tailEnd/>
            </a:ln>
          </p:spPr>
          <p:txBody>
            <a:bodyPr wrap="none" lIns="0" tIns="0" rIns="0" bIns="0" anchor="ctr"/>
            <a:lstStyle/>
            <a:p>
              <a:r>
                <a:rPr lang="es-ES_tradnl" b="1" dirty="0">
                  <a:solidFill>
                    <a:schemeClr val="bg1"/>
                  </a:solidFill>
                </a:rPr>
                <a:t>  Bloque</a:t>
              </a:r>
              <a:endParaRPr lang="es-ES_tradnl" b="1" baseline="-25000" dirty="0">
                <a:solidFill>
                  <a:schemeClr val="bg1"/>
                </a:solidFill>
              </a:endParaRPr>
            </a:p>
          </p:txBody>
        </p:sp>
        <p:sp>
          <p:nvSpPr>
            <p:cNvPr id="41" name="Rectangle 4"/>
            <p:cNvSpPr>
              <a:spLocks noChangeArrowheads="1"/>
            </p:cNvSpPr>
            <p:nvPr/>
          </p:nvSpPr>
          <p:spPr bwMode="auto">
            <a:xfrm>
              <a:off x="5724128" y="5629508"/>
              <a:ext cx="2160240" cy="457200"/>
            </a:xfrm>
            <a:prstGeom prst="rect">
              <a:avLst/>
            </a:prstGeom>
            <a:solidFill>
              <a:schemeClr val="bg2">
                <a:lumMod val="75000"/>
              </a:schemeClr>
            </a:solidFill>
            <a:ln w="19050">
              <a:solidFill>
                <a:schemeClr val="tx1"/>
              </a:solidFill>
              <a:miter lim="800000"/>
              <a:headEnd/>
              <a:tailEnd/>
            </a:ln>
          </p:spPr>
          <p:txBody>
            <a:bodyPr wrap="none" lIns="0" tIns="0" rIns="0" bIns="0" anchor="ctr"/>
            <a:lstStyle/>
            <a:p>
              <a:r>
                <a:rPr lang="es-ES_tradnl" sz="1600" b="1" dirty="0" err="1">
                  <a:solidFill>
                    <a:srgbClr val="FFFFFF"/>
                  </a:solidFill>
                </a:rPr>
                <a:t>Sel</a:t>
              </a:r>
              <a:r>
                <a:rPr lang="es-ES_tradnl" sz="1600" b="1" dirty="0">
                  <a:solidFill>
                    <a:srgbClr val="FFFFFF"/>
                  </a:solidFill>
                </a:rPr>
                <a:t>. Columna</a:t>
              </a:r>
              <a:endParaRPr lang="es-ES_tradnl" sz="1600" b="1" baseline="-25000" dirty="0"/>
            </a:p>
          </p:txBody>
        </p:sp>
        <p:sp>
          <p:nvSpPr>
            <p:cNvPr id="43" name="Rectangle 15"/>
            <p:cNvSpPr>
              <a:spLocks noChangeArrowheads="1"/>
            </p:cNvSpPr>
            <p:nvPr/>
          </p:nvSpPr>
          <p:spPr bwMode="auto">
            <a:xfrm>
              <a:off x="1763688" y="5629508"/>
              <a:ext cx="1296144" cy="457200"/>
            </a:xfrm>
            <a:prstGeom prst="rect">
              <a:avLst/>
            </a:prstGeom>
            <a:solidFill>
              <a:srgbClr val="00B050"/>
            </a:solidFill>
            <a:ln w="19050">
              <a:solidFill>
                <a:schemeClr val="tx1"/>
              </a:solidFill>
              <a:miter lim="800000"/>
              <a:headEnd/>
              <a:tailEnd/>
            </a:ln>
          </p:spPr>
          <p:txBody>
            <a:bodyPr wrap="none" lIns="0" tIns="0" rIns="0" bIns="0" anchor="ctr"/>
            <a:lstStyle/>
            <a:p>
              <a:r>
                <a:rPr lang="es-ES_tradnl" sz="1600" b="1" dirty="0">
                  <a:solidFill>
                    <a:srgbClr val="FFFFFF"/>
                  </a:solidFill>
                </a:rPr>
                <a:t>  </a:t>
              </a:r>
              <a:r>
                <a:rPr lang="es-ES_tradnl" sz="1600" b="1" dirty="0" err="1">
                  <a:solidFill>
                    <a:srgbClr val="FFFFFF"/>
                  </a:solidFill>
                </a:rPr>
                <a:t>Sel</a:t>
              </a:r>
              <a:r>
                <a:rPr lang="es-ES_tradnl" sz="1600" b="1" dirty="0">
                  <a:solidFill>
                    <a:srgbClr val="FFFFFF"/>
                  </a:solidFill>
                </a:rPr>
                <a:t>. Banco</a:t>
              </a:r>
              <a:endParaRPr lang="es-ES_tradnl" sz="1600" b="1" baseline="-25000" dirty="0">
                <a:solidFill>
                  <a:srgbClr val="FFFFFF"/>
                </a:solidFill>
              </a:endParaRPr>
            </a:p>
          </p:txBody>
        </p:sp>
        <p:sp>
          <p:nvSpPr>
            <p:cNvPr id="44" name="Rectangle 15"/>
            <p:cNvSpPr>
              <a:spLocks noChangeArrowheads="1"/>
            </p:cNvSpPr>
            <p:nvPr/>
          </p:nvSpPr>
          <p:spPr bwMode="auto">
            <a:xfrm>
              <a:off x="3059832" y="5629508"/>
              <a:ext cx="2664296" cy="457200"/>
            </a:xfrm>
            <a:prstGeom prst="rect">
              <a:avLst/>
            </a:prstGeom>
            <a:solidFill>
              <a:srgbClr val="0070C0"/>
            </a:solidFill>
            <a:ln w="19050">
              <a:solidFill>
                <a:schemeClr val="tx1"/>
              </a:solidFill>
              <a:miter lim="800000"/>
              <a:headEnd/>
              <a:tailEnd/>
            </a:ln>
          </p:spPr>
          <p:txBody>
            <a:bodyPr wrap="none" lIns="0" tIns="0" rIns="0" bIns="0" anchor="ctr"/>
            <a:lstStyle/>
            <a:p>
              <a:r>
                <a:rPr lang="es-ES_tradnl" sz="1800" b="1" dirty="0">
                  <a:solidFill>
                    <a:srgbClr val="FFFFFF"/>
                  </a:solidFill>
                </a:rPr>
                <a:t>  </a:t>
              </a:r>
              <a:r>
                <a:rPr lang="es-ES_tradnl" sz="1600" b="1" dirty="0" err="1">
                  <a:solidFill>
                    <a:srgbClr val="FFFFFF"/>
                  </a:solidFill>
                </a:rPr>
                <a:t>Sel</a:t>
              </a:r>
              <a:r>
                <a:rPr lang="es-ES_tradnl" sz="1600" b="1" dirty="0">
                  <a:solidFill>
                    <a:srgbClr val="FFFFFF"/>
                  </a:solidFill>
                </a:rPr>
                <a:t>. Fila</a:t>
              </a:r>
              <a:endParaRPr lang="es-ES_tradnl" sz="1800" b="1" baseline="-25000" dirty="0">
                <a:solidFill>
                  <a:srgbClr val="FFFFFF"/>
                </a:solidFill>
              </a:endParaRPr>
            </a:p>
          </p:txBody>
        </p:sp>
        <p:sp>
          <p:nvSpPr>
            <p:cNvPr id="25" name="24 Elipse"/>
            <p:cNvSpPr/>
            <p:nvPr/>
          </p:nvSpPr>
          <p:spPr bwMode="auto">
            <a:xfrm>
              <a:off x="1619672" y="5344254"/>
              <a:ext cx="1800200" cy="936105"/>
            </a:xfrm>
            <a:prstGeom prst="ellipse">
              <a:avLst/>
            </a:prstGeom>
            <a:noFill/>
            <a:ln w="19050" cap="flat" cmpd="sng" algn="ctr">
              <a:solidFill>
                <a:srgbClr val="92D050"/>
              </a:solidFill>
              <a:prstDash val="sysDash"/>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s-ES" sz="2000" b="0" i="0" u="none" strike="noStrike" cap="none" normalizeH="0" baseline="0">
                <a:ln>
                  <a:noFill/>
                </a:ln>
                <a:solidFill>
                  <a:schemeClr val="tx1"/>
                </a:solidFill>
                <a:effectLst/>
                <a:latin typeface="Arial" charset="0"/>
              </a:endParaRPr>
            </a:p>
          </p:txBody>
        </p:sp>
        <p:sp>
          <p:nvSpPr>
            <p:cNvPr id="33" name="Rectangle 15"/>
            <p:cNvSpPr>
              <a:spLocks noChangeArrowheads="1"/>
            </p:cNvSpPr>
            <p:nvPr/>
          </p:nvSpPr>
          <p:spPr bwMode="auto">
            <a:xfrm>
              <a:off x="467544" y="5629508"/>
              <a:ext cx="1296144" cy="457200"/>
            </a:xfrm>
            <a:prstGeom prst="rect">
              <a:avLst/>
            </a:prstGeom>
            <a:solidFill>
              <a:schemeClr val="accent6">
                <a:lumMod val="40000"/>
                <a:lumOff val="60000"/>
              </a:schemeClr>
            </a:solidFill>
            <a:ln w="19050">
              <a:solidFill>
                <a:schemeClr val="tx1"/>
              </a:solidFill>
              <a:miter lim="800000"/>
              <a:headEnd/>
              <a:tailEnd/>
            </a:ln>
          </p:spPr>
          <p:txBody>
            <a:bodyPr wrap="none" lIns="0" tIns="0" rIns="0" bIns="0" anchor="ctr"/>
            <a:lstStyle/>
            <a:p>
              <a:r>
                <a:rPr lang="es-ES_tradnl" sz="1600" b="1" dirty="0">
                  <a:solidFill>
                    <a:srgbClr val="FFFFFF"/>
                  </a:solidFill>
                </a:rPr>
                <a:t> </a:t>
              </a:r>
              <a:r>
                <a:rPr lang="es-ES_tradnl" sz="1600" b="1" dirty="0" err="1">
                  <a:solidFill>
                    <a:srgbClr val="FFFFFF"/>
                  </a:solidFill>
                </a:rPr>
                <a:t>Sel</a:t>
              </a:r>
              <a:r>
                <a:rPr lang="es-ES_tradnl" sz="1600" b="1" dirty="0">
                  <a:solidFill>
                    <a:srgbClr val="FFFFFF"/>
                  </a:solidFill>
                </a:rPr>
                <a:t>. Módulo</a:t>
              </a:r>
              <a:endParaRPr lang="es-ES_tradnl" sz="1600" b="1" baseline="-25000" dirty="0">
                <a:solidFill>
                  <a:srgbClr val="FFFFFF"/>
                </a:solidFill>
              </a:endParaRPr>
            </a:p>
          </p:txBody>
        </p:sp>
        <p:sp>
          <p:nvSpPr>
            <p:cNvPr id="37" name="Rectangle 4"/>
            <p:cNvSpPr>
              <a:spLocks noChangeArrowheads="1"/>
            </p:cNvSpPr>
            <p:nvPr/>
          </p:nvSpPr>
          <p:spPr bwMode="auto">
            <a:xfrm>
              <a:off x="1763688" y="4581128"/>
              <a:ext cx="6120680" cy="457200"/>
            </a:xfrm>
            <a:prstGeom prst="rect">
              <a:avLst/>
            </a:prstGeom>
            <a:solidFill>
              <a:srgbClr val="7030A0"/>
            </a:solidFill>
            <a:ln w="19050">
              <a:solidFill>
                <a:schemeClr val="tx1"/>
              </a:solidFill>
              <a:miter lim="800000"/>
              <a:headEnd/>
              <a:tailEnd/>
            </a:ln>
          </p:spPr>
          <p:txBody>
            <a:bodyPr wrap="none" lIns="0" tIns="0" rIns="0" bIns="0" anchor="ctr"/>
            <a:lstStyle/>
            <a:p>
              <a:r>
                <a:rPr lang="es-ES_tradnl" sz="1800" b="1" dirty="0">
                  <a:solidFill>
                    <a:srgbClr val="FFFFFF"/>
                  </a:solidFill>
                </a:rPr>
                <a:t>Dir. Interno chips SDRAM</a:t>
              </a:r>
              <a:endParaRPr lang="es-ES_tradnl" sz="1800" b="1" baseline="-25000" dirty="0"/>
            </a:p>
          </p:txBody>
        </p:sp>
        <p:sp>
          <p:nvSpPr>
            <p:cNvPr id="48" name="Rectangle 15"/>
            <p:cNvSpPr>
              <a:spLocks noChangeArrowheads="1"/>
            </p:cNvSpPr>
            <p:nvPr/>
          </p:nvSpPr>
          <p:spPr bwMode="auto">
            <a:xfrm>
              <a:off x="467544" y="4581128"/>
              <a:ext cx="1296144" cy="457200"/>
            </a:xfrm>
            <a:prstGeom prst="rect">
              <a:avLst/>
            </a:prstGeom>
            <a:solidFill>
              <a:schemeClr val="accent6">
                <a:lumMod val="40000"/>
                <a:lumOff val="60000"/>
              </a:schemeClr>
            </a:solidFill>
            <a:ln w="19050">
              <a:solidFill>
                <a:schemeClr val="tx1"/>
              </a:solidFill>
              <a:miter lim="800000"/>
              <a:headEnd/>
              <a:tailEnd/>
            </a:ln>
          </p:spPr>
          <p:txBody>
            <a:bodyPr wrap="none" lIns="0" tIns="0" rIns="0" bIns="0" anchor="ctr"/>
            <a:lstStyle/>
            <a:p>
              <a:r>
                <a:rPr lang="es-ES_tradnl" sz="1600" b="1" dirty="0" err="1">
                  <a:solidFill>
                    <a:srgbClr val="FFFFFF"/>
                  </a:solidFill>
                </a:rPr>
                <a:t>Sel</a:t>
              </a:r>
              <a:r>
                <a:rPr lang="es-ES_tradnl" sz="1600" b="1" dirty="0">
                  <a:solidFill>
                    <a:srgbClr val="FFFFFF"/>
                  </a:solidFill>
                </a:rPr>
                <a:t>. Módulo</a:t>
              </a:r>
              <a:endParaRPr lang="es-ES_tradnl" sz="1600" b="1" baseline="-25000" dirty="0">
                <a:solidFill>
                  <a:srgbClr val="FFFFFF"/>
                </a:solidFill>
              </a:endParaRPr>
            </a:p>
          </p:txBody>
        </p:sp>
        <p:sp>
          <p:nvSpPr>
            <p:cNvPr id="46" name="45 CuadroTexto"/>
            <p:cNvSpPr txBox="1"/>
            <p:nvPr/>
          </p:nvSpPr>
          <p:spPr>
            <a:xfrm>
              <a:off x="2052405" y="6269250"/>
              <a:ext cx="827471" cy="400110"/>
            </a:xfrm>
            <a:prstGeom prst="rect">
              <a:avLst/>
            </a:prstGeom>
            <a:noFill/>
          </p:spPr>
          <p:txBody>
            <a:bodyPr wrap="none" rtlCol="0">
              <a:spAutoFit/>
            </a:bodyPr>
            <a:lstStyle/>
            <a:p>
              <a:r>
                <a:rPr lang="es-ES" i="1" dirty="0"/>
                <a:t>b  </a:t>
              </a:r>
              <a:r>
                <a:rPr lang="es-ES" sz="1800" i="1" dirty="0"/>
                <a:t>bits</a:t>
              </a:r>
              <a:endParaRPr lang="es-ES" i="1" dirty="0"/>
            </a:p>
          </p:txBody>
        </p:sp>
        <p:sp>
          <p:nvSpPr>
            <p:cNvPr id="47" name="46 CuadroTexto"/>
            <p:cNvSpPr txBox="1"/>
            <p:nvPr/>
          </p:nvSpPr>
          <p:spPr>
            <a:xfrm>
              <a:off x="4139952" y="6269250"/>
              <a:ext cx="684803" cy="400110"/>
            </a:xfrm>
            <a:prstGeom prst="rect">
              <a:avLst/>
            </a:prstGeom>
            <a:noFill/>
          </p:spPr>
          <p:txBody>
            <a:bodyPr wrap="none" rtlCol="0">
              <a:spAutoFit/>
            </a:bodyPr>
            <a:lstStyle/>
            <a:p>
              <a:r>
                <a:rPr lang="es-ES" i="1" dirty="0"/>
                <a:t>f </a:t>
              </a:r>
              <a:r>
                <a:rPr lang="es-ES" sz="1800" i="1" dirty="0"/>
                <a:t>bits</a:t>
              </a:r>
              <a:endParaRPr lang="es-ES" i="1" dirty="0"/>
            </a:p>
          </p:txBody>
        </p:sp>
        <p:sp>
          <p:nvSpPr>
            <p:cNvPr id="50" name="49 CuadroTexto"/>
            <p:cNvSpPr txBox="1"/>
            <p:nvPr/>
          </p:nvSpPr>
          <p:spPr>
            <a:xfrm>
              <a:off x="6480961" y="6269250"/>
              <a:ext cx="755335" cy="400110"/>
            </a:xfrm>
            <a:prstGeom prst="rect">
              <a:avLst/>
            </a:prstGeom>
            <a:noFill/>
          </p:spPr>
          <p:txBody>
            <a:bodyPr wrap="none" rtlCol="0">
              <a:spAutoFit/>
            </a:bodyPr>
            <a:lstStyle/>
            <a:p>
              <a:r>
                <a:rPr lang="es-ES" i="1" dirty="0"/>
                <a:t>c </a:t>
              </a:r>
              <a:r>
                <a:rPr lang="es-ES" sz="1800" i="1" dirty="0"/>
                <a:t>bits</a:t>
              </a:r>
              <a:endParaRPr lang="es-ES" i="1" dirty="0"/>
            </a:p>
          </p:txBody>
        </p:sp>
        <p:sp>
          <p:nvSpPr>
            <p:cNvPr id="51" name="AutoShape 12"/>
            <p:cNvSpPr>
              <a:spLocks/>
            </p:cNvSpPr>
            <p:nvPr/>
          </p:nvSpPr>
          <p:spPr bwMode="auto">
            <a:xfrm rot="5400000">
              <a:off x="6732240" y="5085184"/>
              <a:ext cx="144016" cy="216024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52" name="AutoShape 12"/>
            <p:cNvSpPr>
              <a:spLocks/>
            </p:cNvSpPr>
            <p:nvPr/>
          </p:nvSpPr>
          <p:spPr bwMode="auto">
            <a:xfrm rot="5400000">
              <a:off x="4315780" y="4837348"/>
              <a:ext cx="144016" cy="2655912"/>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53" name="AutoShape 12"/>
            <p:cNvSpPr>
              <a:spLocks/>
            </p:cNvSpPr>
            <p:nvPr/>
          </p:nvSpPr>
          <p:spPr bwMode="auto">
            <a:xfrm rot="5400000">
              <a:off x="2339752" y="5517232"/>
              <a:ext cx="135632" cy="128776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sp>
          <p:nvSpPr>
            <p:cNvPr id="57" name="56 CuadroTexto"/>
            <p:cNvSpPr txBox="1"/>
            <p:nvPr/>
          </p:nvSpPr>
          <p:spPr>
            <a:xfrm>
              <a:off x="6753091" y="5117122"/>
              <a:ext cx="699229" cy="400110"/>
            </a:xfrm>
            <a:prstGeom prst="rect">
              <a:avLst/>
            </a:prstGeom>
            <a:noFill/>
          </p:spPr>
          <p:txBody>
            <a:bodyPr wrap="none" rtlCol="0">
              <a:spAutoFit/>
            </a:bodyPr>
            <a:lstStyle/>
            <a:p>
              <a:r>
                <a:rPr lang="es-ES" i="1" dirty="0"/>
                <a:t>r </a:t>
              </a:r>
              <a:r>
                <a:rPr lang="es-ES" sz="1800" i="1" dirty="0"/>
                <a:t>bits</a:t>
              </a:r>
              <a:endParaRPr lang="es-ES" i="1" dirty="0"/>
            </a:p>
          </p:txBody>
        </p:sp>
        <p:sp>
          <p:nvSpPr>
            <p:cNvPr id="58" name="AutoShape 12"/>
            <p:cNvSpPr>
              <a:spLocks/>
            </p:cNvSpPr>
            <p:nvPr/>
          </p:nvSpPr>
          <p:spPr bwMode="auto">
            <a:xfrm rot="16200000" flipV="1">
              <a:off x="7016080" y="4729336"/>
              <a:ext cx="72008" cy="1647800"/>
            </a:xfrm>
            <a:prstGeom prst="rightBrace">
              <a:avLst>
                <a:gd name="adj1" fmla="val 48957"/>
                <a:gd name="adj2" fmla="val 49898"/>
              </a:avLst>
            </a:prstGeom>
            <a:noFill/>
            <a:ln w="19050">
              <a:solidFill>
                <a:srgbClr val="FFFFFF"/>
              </a:solidFill>
              <a:round/>
              <a:headEnd/>
              <a:tailEnd/>
            </a:ln>
          </p:spPr>
          <p:txBody>
            <a:bodyPr wrap="none" lIns="0" tIns="0" rIns="0" bIns="0" anchor="ctr"/>
            <a:lstStyle/>
            <a:p>
              <a:endParaRPr lang="es-ES"/>
            </a:p>
          </p:txBody>
        </p:sp>
        <p:cxnSp>
          <p:nvCxnSpPr>
            <p:cNvPr id="59" name="58 Conector recto"/>
            <p:cNvCxnSpPr/>
            <p:nvPr/>
          </p:nvCxnSpPr>
          <p:spPr bwMode="auto">
            <a:xfrm rot="5400000">
              <a:off x="5112060" y="4617132"/>
              <a:ext cx="2232248" cy="0"/>
            </a:xfrm>
            <a:prstGeom prst="line">
              <a:avLst/>
            </a:prstGeom>
            <a:noFill/>
            <a:ln w="19050" cap="flat" cmpd="sng" algn="ctr">
              <a:solidFill>
                <a:schemeClr val="tx2">
                  <a:lumMod val="60000"/>
                  <a:lumOff val="40000"/>
                </a:schemeClr>
              </a:solidFill>
              <a:prstDash val="dash"/>
              <a:round/>
              <a:headEnd type="none" w="med" len="med"/>
              <a:tailEnd type="none" w="med" len="med"/>
            </a:ln>
            <a:effectLst/>
          </p:spPr>
        </p:cxnSp>
      </p:grpSp>
      <p:sp>
        <p:nvSpPr>
          <p:cNvPr id="3" name="2 Marcador de número de diapositiva">
            <a:extLst>
              <a:ext uri="{FF2B5EF4-FFF2-40B4-BE49-F238E27FC236}">
                <a16:creationId xmlns:a16="http://schemas.microsoft.com/office/drawing/2014/main" id="{910162D1-2F8B-E470-1762-8576BC7F06C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142</a:t>
            </a:fld>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p:txBody>
          <a:bodyPr/>
          <a:lstStyle/>
          <a:p>
            <a:r>
              <a:rPr lang="es-ES" dirty="0"/>
              <a:t>El controlador de memoria</a:t>
            </a:r>
            <a:endParaRPr lang="ca-ES" dirty="0"/>
          </a:p>
        </p:txBody>
      </p:sp>
      <p:sp>
        <p:nvSpPr>
          <p:cNvPr id="113668" name="Rectangle 3"/>
          <p:cNvSpPr>
            <a:spLocks noGrp="1" noChangeArrowheads="1"/>
          </p:cNvSpPr>
          <p:nvPr>
            <p:ph type="body" idx="1"/>
          </p:nvPr>
        </p:nvSpPr>
        <p:spPr>
          <a:xfrm>
            <a:off x="533400" y="1052513"/>
            <a:ext cx="8305800" cy="3671887"/>
          </a:xfrm>
        </p:spPr>
        <p:txBody>
          <a:bodyPr/>
          <a:lstStyle/>
          <a:p>
            <a:r>
              <a:rPr lang="es-ES" dirty="0"/>
              <a:t>Estructura resultante de las direcciones:</a:t>
            </a:r>
          </a:p>
          <a:p>
            <a:pPr lvl="1"/>
            <a:r>
              <a:rPr lang="es-ES" sz="1800" i="1" dirty="0"/>
              <a:t>n</a:t>
            </a:r>
            <a:r>
              <a:rPr lang="es-ES" sz="1800" dirty="0"/>
              <a:t>: número de bits de la dirección. Depende del procesador</a:t>
            </a:r>
          </a:p>
          <a:p>
            <a:pPr lvl="1"/>
            <a:r>
              <a:rPr lang="es-ES" sz="1800" i="1" dirty="0"/>
              <a:t>b</a:t>
            </a:r>
            <a:r>
              <a:rPr lang="es-ES" sz="1800" dirty="0"/>
              <a:t> bits de dirección de banco.   </a:t>
            </a:r>
            <a:r>
              <a:rPr lang="es-ES" sz="1800" i="1" dirty="0"/>
              <a:t>b = log</a:t>
            </a:r>
            <a:r>
              <a:rPr lang="es-ES" sz="1800" i="1" baseline="-25000" dirty="0"/>
              <a:t>2</a:t>
            </a:r>
            <a:r>
              <a:rPr lang="es-ES" sz="1800" i="1" dirty="0"/>
              <a:t> </a:t>
            </a:r>
            <a:r>
              <a:rPr lang="es-ES" sz="1800" i="1" dirty="0" err="1"/>
              <a:t>num_bancos</a:t>
            </a:r>
            <a:endParaRPr lang="es-ES" sz="1800" i="1" dirty="0"/>
          </a:p>
          <a:p>
            <a:pPr lvl="1"/>
            <a:r>
              <a:rPr lang="es-ES" sz="1800" i="1" dirty="0"/>
              <a:t>f</a:t>
            </a:r>
            <a:r>
              <a:rPr lang="es-ES" sz="1800" dirty="0"/>
              <a:t>  bits de dirección de filas.  </a:t>
            </a:r>
            <a:r>
              <a:rPr lang="es-ES" sz="1800" i="1" dirty="0"/>
              <a:t>f = log</a:t>
            </a:r>
            <a:r>
              <a:rPr lang="es-ES" sz="1800" i="1" baseline="-25000" dirty="0"/>
              <a:t>2</a:t>
            </a:r>
            <a:r>
              <a:rPr lang="es-ES" sz="1800" i="1" dirty="0"/>
              <a:t> </a:t>
            </a:r>
            <a:r>
              <a:rPr lang="es-ES" sz="1800" i="1" dirty="0" err="1"/>
              <a:t>num_filas</a:t>
            </a:r>
            <a:endParaRPr lang="es-ES" sz="1800" i="1" dirty="0"/>
          </a:p>
          <a:p>
            <a:pPr lvl="1"/>
            <a:r>
              <a:rPr lang="es-ES" sz="1800" i="1" dirty="0"/>
              <a:t>c</a:t>
            </a:r>
            <a:r>
              <a:rPr lang="es-ES" sz="1800" dirty="0"/>
              <a:t>  bits de direccionamiento de columna.  </a:t>
            </a:r>
            <a:r>
              <a:rPr lang="es-ES" sz="1800" i="1" dirty="0"/>
              <a:t>c = log</a:t>
            </a:r>
            <a:r>
              <a:rPr lang="es-ES" sz="1800" i="1" baseline="-25000" dirty="0"/>
              <a:t>2</a:t>
            </a:r>
            <a:r>
              <a:rPr lang="es-ES" sz="1800" i="1" dirty="0"/>
              <a:t> </a:t>
            </a:r>
            <a:r>
              <a:rPr lang="es-ES" sz="1800" i="1" dirty="0" err="1"/>
              <a:t>num_columnas</a:t>
            </a:r>
            <a:endParaRPr lang="es-ES" sz="1800" dirty="0"/>
          </a:p>
          <a:p>
            <a:pPr lvl="1"/>
            <a:r>
              <a:rPr lang="es-ES" sz="1800" i="1" dirty="0"/>
              <a:t>r</a:t>
            </a:r>
            <a:r>
              <a:rPr lang="es-ES" sz="1800" dirty="0"/>
              <a:t>  bits de desplazamiento dentro del bloque. Depende del tamaño de bloque impuesto por el sistema de memoria </a:t>
            </a:r>
          </a:p>
        </p:txBody>
      </p:sp>
      <p:sp>
        <p:nvSpPr>
          <p:cNvPr id="2" name="2 Marcador de número de diapositiva">
            <a:extLst>
              <a:ext uri="{FF2B5EF4-FFF2-40B4-BE49-F238E27FC236}">
                <a16:creationId xmlns:a16="http://schemas.microsoft.com/office/drawing/2014/main" id="{55D98EDF-D8C2-31C6-D4BF-819A5A7FFA45}"/>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143</a:t>
            </a:fld>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noChangeArrowheads="1"/>
          </p:cNvSpPr>
          <p:nvPr>
            <p:ph type="title"/>
          </p:nvPr>
        </p:nvSpPr>
        <p:spPr/>
        <p:txBody>
          <a:bodyPr/>
          <a:lstStyle/>
          <a:p>
            <a:r>
              <a:rPr lang="es-ES" altLang="es-ES_tradnl"/>
              <a:t>Controlador de memoria DRAM: estructura</a:t>
            </a:r>
          </a:p>
        </p:txBody>
      </p:sp>
      <p:sp>
        <p:nvSpPr>
          <p:cNvPr id="114692" name="Rectangle 4"/>
          <p:cNvSpPr>
            <a:spLocks noChangeArrowheads="1"/>
          </p:cNvSpPr>
          <p:nvPr/>
        </p:nvSpPr>
        <p:spPr bwMode="auto">
          <a:xfrm>
            <a:off x="2144713" y="1749425"/>
            <a:ext cx="1905000" cy="4191000"/>
          </a:xfrm>
          <a:prstGeom prst="rect">
            <a:avLst/>
          </a:prstGeom>
          <a:solidFill>
            <a:schemeClr val="accent1">
              <a:lumMod val="20000"/>
              <a:lumOff val="80000"/>
            </a:schemeClr>
          </a:solidFill>
          <a:ln w="76200">
            <a:solidFill>
              <a:schemeClr val="accent1">
                <a:lumMod val="75000"/>
              </a:schemeClr>
            </a:solidFill>
            <a:miter lim="800000"/>
            <a:headEnd/>
            <a:tailEnd/>
          </a:ln>
        </p:spPr>
        <p:txBody>
          <a:bodyPr wrap="none" anchor="ctr"/>
          <a:lstStyle/>
          <a:p>
            <a:endParaRPr lang="es-ES"/>
          </a:p>
        </p:txBody>
      </p:sp>
      <p:sp>
        <p:nvSpPr>
          <p:cNvPr id="114693" name="Rectangle 5"/>
          <p:cNvSpPr>
            <a:spLocks noChangeArrowheads="1"/>
          </p:cNvSpPr>
          <p:nvPr/>
        </p:nvSpPr>
        <p:spPr bwMode="auto">
          <a:xfrm>
            <a:off x="2906713" y="3730625"/>
            <a:ext cx="838200" cy="1066800"/>
          </a:xfrm>
          <a:prstGeom prst="rect">
            <a:avLst/>
          </a:prstGeom>
          <a:noFill/>
          <a:ln w="28575">
            <a:solidFill>
              <a:schemeClr val="accent1">
                <a:lumMod val="75000"/>
              </a:schemeClr>
            </a:solidFill>
            <a:miter lim="800000"/>
            <a:headEnd/>
            <a:tailEnd/>
          </a:ln>
        </p:spPr>
        <p:txBody>
          <a:bodyPr wrap="none" anchor="ctr"/>
          <a:lstStyle/>
          <a:p>
            <a:pPr>
              <a:spcBef>
                <a:spcPct val="20000"/>
              </a:spcBef>
            </a:pPr>
            <a:r>
              <a:rPr lang="es-ES_tradnl" altLang="es-ES_tradnl" sz="2400" b="1">
                <a:latin typeface="Arial Narrow" pitchFamily="34" charset="0"/>
              </a:rPr>
              <a:t>MUX</a:t>
            </a:r>
            <a:endParaRPr lang="es-ES_tradnl" altLang="es-ES_tradnl" sz="2400" b="1"/>
          </a:p>
        </p:txBody>
      </p:sp>
      <p:sp>
        <p:nvSpPr>
          <p:cNvPr id="114694" name="Line 6"/>
          <p:cNvSpPr>
            <a:spLocks noChangeShapeType="1"/>
          </p:cNvSpPr>
          <p:nvPr/>
        </p:nvSpPr>
        <p:spPr bwMode="auto">
          <a:xfrm>
            <a:off x="1446213" y="3883025"/>
            <a:ext cx="6858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grpSp>
        <p:nvGrpSpPr>
          <p:cNvPr id="2" name="Group 7"/>
          <p:cNvGrpSpPr>
            <a:grpSpLocks/>
          </p:cNvGrpSpPr>
          <p:nvPr/>
        </p:nvGrpSpPr>
        <p:grpSpPr bwMode="auto">
          <a:xfrm>
            <a:off x="1535113" y="2054225"/>
            <a:ext cx="533400" cy="304800"/>
            <a:chOff x="768" y="1440"/>
            <a:chExt cx="432" cy="192"/>
          </a:xfrm>
        </p:grpSpPr>
        <p:sp>
          <p:nvSpPr>
            <p:cNvPr id="114740" name="Line 8"/>
            <p:cNvSpPr>
              <a:spLocks noChangeShapeType="1"/>
            </p:cNvSpPr>
            <p:nvPr/>
          </p:nvSpPr>
          <p:spPr bwMode="auto">
            <a:xfrm>
              <a:off x="768" y="1440"/>
              <a:ext cx="432" cy="0"/>
            </a:xfrm>
            <a:prstGeom prst="line">
              <a:avLst/>
            </a:prstGeom>
            <a:noFill/>
            <a:ln w="28575">
              <a:solidFill>
                <a:schemeClr val="accent4">
                  <a:lumMod val="75000"/>
                </a:schemeClr>
              </a:solidFill>
              <a:round/>
              <a:headEnd/>
              <a:tailEnd type="triangle" w="med" len="med"/>
            </a:ln>
          </p:spPr>
          <p:txBody>
            <a:bodyPr wrap="none" anchor="ctr"/>
            <a:lstStyle/>
            <a:p>
              <a:endParaRPr lang="es-ES"/>
            </a:p>
          </p:txBody>
        </p:sp>
        <p:sp>
          <p:nvSpPr>
            <p:cNvPr id="114741" name="Line 9"/>
            <p:cNvSpPr>
              <a:spLocks noChangeShapeType="1"/>
            </p:cNvSpPr>
            <p:nvPr/>
          </p:nvSpPr>
          <p:spPr bwMode="auto">
            <a:xfrm>
              <a:off x="768" y="1632"/>
              <a:ext cx="432" cy="0"/>
            </a:xfrm>
            <a:prstGeom prst="line">
              <a:avLst/>
            </a:prstGeom>
            <a:noFill/>
            <a:ln w="28575">
              <a:solidFill>
                <a:schemeClr val="accent4">
                  <a:lumMod val="75000"/>
                </a:schemeClr>
              </a:solidFill>
              <a:round/>
              <a:headEnd/>
              <a:tailEnd type="triangle" w="med" len="med"/>
            </a:ln>
          </p:spPr>
          <p:txBody>
            <a:bodyPr wrap="none" anchor="ctr"/>
            <a:lstStyle/>
            <a:p>
              <a:endParaRPr lang="es-ES"/>
            </a:p>
          </p:txBody>
        </p:sp>
      </p:grpSp>
      <p:sp>
        <p:nvSpPr>
          <p:cNvPr id="114696" name="Line 10"/>
          <p:cNvSpPr>
            <a:spLocks noChangeShapeType="1"/>
          </p:cNvSpPr>
          <p:nvPr/>
        </p:nvSpPr>
        <p:spPr bwMode="auto">
          <a:xfrm>
            <a:off x="2220913" y="3883025"/>
            <a:ext cx="6858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4697" name="Line 11"/>
          <p:cNvSpPr>
            <a:spLocks noChangeShapeType="1"/>
          </p:cNvSpPr>
          <p:nvPr/>
        </p:nvSpPr>
        <p:spPr bwMode="auto">
          <a:xfrm>
            <a:off x="3821113" y="4492625"/>
            <a:ext cx="25908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4698" name="Freeform 12"/>
          <p:cNvSpPr>
            <a:spLocks/>
          </p:cNvSpPr>
          <p:nvPr/>
        </p:nvSpPr>
        <p:spPr bwMode="auto">
          <a:xfrm>
            <a:off x="2220913" y="3948113"/>
            <a:ext cx="685800" cy="685800"/>
          </a:xfrm>
          <a:custGeom>
            <a:avLst/>
            <a:gdLst>
              <a:gd name="T0" fmla="*/ 0 w 528"/>
              <a:gd name="T1" fmla="*/ 0 h 432"/>
              <a:gd name="T2" fmla="*/ 2147483647 w 528"/>
              <a:gd name="T3" fmla="*/ 0 h 432"/>
              <a:gd name="T4" fmla="*/ 2147483647 w 528"/>
              <a:gd name="T5" fmla="*/ 2147483647 h 432"/>
              <a:gd name="T6" fmla="*/ 2147483647 w 528"/>
              <a:gd name="T7" fmla="*/ 2147483647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sp>
        <p:nvSpPr>
          <p:cNvPr id="114699" name="Freeform 13"/>
          <p:cNvSpPr>
            <a:spLocks/>
          </p:cNvSpPr>
          <p:nvPr/>
        </p:nvSpPr>
        <p:spPr bwMode="auto">
          <a:xfrm flipV="1">
            <a:off x="2220913" y="3132138"/>
            <a:ext cx="685800" cy="685800"/>
          </a:xfrm>
          <a:custGeom>
            <a:avLst/>
            <a:gdLst>
              <a:gd name="T0" fmla="*/ 0 w 528"/>
              <a:gd name="T1" fmla="*/ 0 h 432"/>
              <a:gd name="T2" fmla="*/ 2147483647 w 528"/>
              <a:gd name="T3" fmla="*/ 0 h 432"/>
              <a:gd name="T4" fmla="*/ 2147483647 w 528"/>
              <a:gd name="T5" fmla="*/ 2147483647 h 432"/>
              <a:gd name="T6" fmla="*/ 2147483647 w 528"/>
              <a:gd name="T7" fmla="*/ 2147483647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sp>
        <p:nvSpPr>
          <p:cNvPr id="114700" name="Rectangle 14"/>
          <p:cNvSpPr>
            <a:spLocks noChangeArrowheads="1"/>
          </p:cNvSpPr>
          <p:nvPr/>
        </p:nvSpPr>
        <p:spPr bwMode="auto">
          <a:xfrm>
            <a:off x="2906713" y="2816225"/>
            <a:ext cx="838200" cy="609600"/>
          </a:xfrm>
          <a:prstGeom prst="rect">
            <a:avLst/>
          </a:prstGeom>
          <a:noFill/>
          <a:ln w="28575">
            <a:solidFill>
              <a:schemeClr val="accent1">
                <a:lumMod val="75000"/>
              </a:schemeClr>
            </a:solidFill>
            <a:miter lim="800000"/>
            <a:headEnd/>
            <a:tailEnd/>
          </a:ln>
        </p:spPr>
        <p:txBody>
          <a:bodyPr wrap="none" anchor="ctr"/>
          <a:lstStyle/>
          <a:p>
            <a:pPr>
              <a:spcBef>
                <a:spcPct val="20000"/>
              </a:spcBef>
            </a:pPr>
            <a:r>
              <a:rPr lang="es-ES_tradnl" altLang="es-ES_tradnl" sz="2400" b="1">
                <a:latin typeface="Arial Narrow" pitchFamily="34" charset="0"/>
              </a:rPr>
              <a:t>DESC</a:t>
            </a:r>
            <a:endParaRPr lang="es-ES_tradnl" altLang="es-ES_tradnl" sz="2400" b="1"/>
          </a:p>
        </p:txBody>
      </p:sp>
      <p:sp>
        <p:nvSpPr>
          <p:cNvPr id="114701" name="Line 15"/>
          <p:cNvSpPr>
            <a:spLocks noChangeShapeType="1"/>
          </p:cNvSpPr>
          <p:nvPr/>
        </p:nvSpPr>
        <p:spPr bwMode="auto">
          <a:xfrm>
            <a:off x="3744913" y="2968625"/>
            <a:ext cx="990600" cy="0"/>
          </a:xfrm>
          <a:prstGeom prst="line">
            <a:avLst/>
          </a:prstGeom>
          <a:noFill/>
          <a:ln w="28575">
            <a:solidFill>
              <a:schemeClr val="tx2"/>
            </a:solidFill>
            <a:round/>
            <a:headEnd/>
            <a:tailEnd type="triangle" w="med" len="med"/>
          </a:ln>
        </p:spPr>
        <p:txBody>
          <a:bodyPr wrap="none" anchor="ctr"/>
          <a:lstStyle/>
          <a:p>
            <a:endParaRPr lang="es-ES"/>
          </a:p>
        </p:txBody>
      </p:sp>
      <p:sp>
        <p:nvSpPr>
          <p:cNvPr id="114702" name="Line 16"/>
          <p:cNvSpPr>
            <a:spLocks noChangeShapeType="1"/>
          </p:cNvSpPr>
          <p:nvPr/>
        </p:nvSpPr>
        <p:spPr bwMode="auto">
          <a:xfrm>
            <a:off x="3744913" y="3273425"/>
            <a:ext cx="990600" cy="0"/>
          </a:xfrm>
          <a:prstGeom prst="line">
            <a:avLst/>
          </a:prstGeom>
          <a:noFill/>
          <a:ln w="28575">
            <a:solidFill>
              <a:schemeClr val="tx2"/>
            </a:solidFill>
            <a:round/>
            <a:headEnd/>
            <a:tailEnd type="triangle" w="med" len="med"/>
          </a:ln>
        </p:spPr>
        <p:txBody>
          <a:bodyPr wrap="none" anchor="ctr"/>
          <a:lstStyle/>
          <a:p>
            <a:endParaRPr lang="es-ES"/>
          </a:p>
        </p:txBody>
      </p:sp>
      <p:grpSp>
        <p:nvGrpSpPr>
          <p:cNvPr id="3" name="Group 17"/>
          <p:cNvGrpSpPr>
            <a:grpSpLocks/>
          </p:cNvGrpSpPr>
          <p:nvPr/>
        </p:nvGrpSpPr>
        <p:grpSpPr bwMode="auto">
          <a:xfrm>
            <a:off x="4049713" y="2054225"/>
            <a:ext cx="685800" cy="304800"/>
            <a:chOff x="2448" y="1440"/>
            <a:chExt cx="432" cy="192"/>
          </a:xfrm>
        </p:grpSpPr>
        <p:sp>
          <p:nvSpPr>
            <p:cNvPr id="114738" name="Line 18"/>
            <p:cNvSpPr>
              <a:spLocks noChangeShapeType="1"/>
            </p:cNvSpPr>
            <p:nvPr/>
          </p:nvSpPr>
          <p:spPr bwMode="auto">
            <a:xfrm>
              <a:off x="2448" y="1440"/>
              <a:ext cx="432" cy="0"/>
            </a:xfrm>
            <a:prstGeom prst="line">
              <a:avLst/>
            </a:prstGeom>
            <a:noFill/>
            <a:ln w="28575">
              <a:solidFill>
                <a:schemeClr val="tx1">
                  <a:lumMod val="65000"/>
                  <a:lumOff val="35000"/>
                </a:schemeClr>
              </a:solidFill>
              <a:round/>
              <a:headEnd/>
              <a:tailEnd type="triangle" w="med" len="med"/>
            </a:ln>
          </p:spPr>
          <p:txBody>
            <a:bodyPr wrap="none" anchor="ctr"/>
            <a:lstStyle/>
            <a:p>
              <a:endParaRPr lang="es-ES"/>
            </a:p>
          </p:txBody>
        </p:sp>
        <p:sp>
          <p:nvSpPr>
            <p:cNvPr id="114739" name="Line 19"/>
            <p:cNvSpPr>
              <a:spLocks noChangeShapeType="1"/>
            </p:cNvSpPr>
            <p:nvPr/>
          </p:nvSpPr>
          <p:spPr bwMode="auto">
            <a:xfrm>
              <a:off x="2448" y="1632"/>
              <a:ext cx="432" cy="0"/>
            </a:xfrm>
            <a:prstGeom prst="line">
              <a:avLst/>
            </a:prstGeom>
            <a:noFill/>
            <a:ln w="28575">
              <a:solidFill>
                <a:schemeClr val="tx1">
                  <a:lumMod val="65000"/>
                  <a:lumOff val="35000"/>
                </a:schemeClr>
              </a:solidFill>
              <a:round/>
              <a:headEnd/>
              <a:tailEnd type="triangle" w="med" len="med"/>
            </a:ln>
          </p:spPr>
          <p:txBody>
            <a:bodyPr wrap="none" anchor="ctr"/>
            <a:lstStyle/>
            <a:p>
              <a:endParaRPr lang="es-ES"/>
            </a:p>
          </p:txBody>
        </p:sp>
      </p:grpSp>
      <p:sp>
        <p:nvSpPr>
          <p:cNvPr id="114704" name="Text Box 20"/>
          <p:cNvSpPr txBox="1">
            <a:spLocks noChangeArrowheads="1"/>
          </p:cNvSpPr>
          <p:nvPr/>
        </p:nvSpPr>
        <p:spPr bwMode="auto">
          <a:xfrm>
            <a:off x="4049713" y="4671010"/>
            <a:ext cx="2514600" cy="338554"/>
          </a:xfrm>
          <a:prstGeom prst="rect">
            <a:avLst/>
          </a:prstGeom>
          <a:noFill/>
          <a:ln w="28575">
            <a:noFill/>
            <a:miter lim="800000"/>
            <a:headEnd/>
            <a:tailEnd/>
          </a:ln>
        </p:spPr>
        <p:txBody>
          <a:bodyPr anchor="ctr">
            <a:spAutoFit/>
          </a:bodyPr>
          <a:lstStyle/>
          <a:p>
            <a:pPr>
              <a:lnSpc>
                <a:spcPct val="80000"/>
              </a:lnSpc>
              <a:spcBef>
                <a:spcPct val="20000"/>
              </a:spcBef>
            </a:pPr>
            <a:r>
              <a:rPr lang="es-ES_tradnl" altLang="es-ES_tradnl" dirty="0">
                <a:latin typeface="Arial Narrow" pitchFamily="34" charset="0"/>
              </a:rPr>
              <a:t>dirección multiplexada</a:t>
            </a:r>
            <a:endParaRPr lang="es-ES_tradnl" altLang="es-ES_tradnl" sz="1800" b="1" dirty="0">
              <a:latin typeface="Arial Narrow" pitchFamily="34" charset="0"/>
            </a:endParaRPr>
          </a:p>
        </p:txBody>
      </p:sp>
      <p:sp>
        <p:nvSpPr>
          <p:cNvPr id="114705" name="Freeform 21"/>
          <p:cNvSpPr>
            <a:spLocks/>
          </p:cNvSpPr>
          <p:nvPr/>
        </p:nvSpPr>
        <p:spPr bwMode="auto">
          <a:xfrm>
            <a:off x="4964113" y="2359025"/>
            <a:ext cx="2057400" cy="457200"/>
          </a:xfrm>
          <a:custGeom>
            <a:avLst/>
            <a:gdLst>
              <a:gd name="T0" fmla="*/ 0 w 672"/>
              <a:gd name="T1" fmla="*/ 0 h 288"/>
              <a:gd name="T2" fmla="*/ 2147483647 w 672"/>
              <a:gd name="T3" fmla="*/ 0 h 288"/>
              <a:gd name="T4" fmla="*/ 2147483647 w 672"/>
              <a:gd name="T5" fmla="*/ 2147483647 h 288"/>
              <a:gd name="T6" fmla="*/ 0 60000 65536"/>
              <a:gd name="T7" fmla="*/ 0 60000 65536"/>
              <a:gd name="T8" fmla="*/ 0 60000 65536"/>
              <a:gd name="T9" fmla="*/ 0 w 672"/>
              <a:gd name="T10" fmla="*/ 0 h 288"/>
              <a:gd name="T11" fmla="*/ 672 w 672"/>
              <a:gd name="T12" fmla="*/ 288 h 288"/>
            </a:gdLst>
            <a:ahLst/>
            <a:cxnLst>
              <a:cxn ang="T6">
                <a:pos x="T0" y="T1"/>
              </a:cxn>
              <a:cxn ang="T7">
                <a:pos x="T2" y="T3"/>
              </a:cxn>
              <a:cxn ang="T8">
                <a:pos x="T4" y="T5"/>
              </a:cxn>
            </a:cxnLst>
            <a:rect l="T9" t="T10" r="T11" b="T12"/>
            <a:pathLst>
              <a:path w="672" h="288">
                <a:moveTo>
                  <a:pt x="0" y="0"/>
                </a:moveTo>
                <a:lnTo>
                  <a:pt x="672" y="0"/>
                </a:lnTo>
                <a:lnTo>
                  <a:pt x="672" y="288"/>
                </a:lnTo>
              </a:path>
            </a:pathLst>
          </a:cu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4706" name="Freeform 22"/>
          <p:cNvSpPr>
            <a:spLocks/>
          </p:cNvSpPr>
          <p:nvPr/>
        </p:nvSpPr>
        <p:spPr bwMode="auto">
          <a:xfrm>
            <a:off x="4964113" y="2054225"/>
            <a:ext cx="3429000" cy="762000"/>
          </a:xfrm>
          <a:custGeom>
            <a:avLst/>
            <a:gdLst>
              <a:gd name="T0" fmla="*/ 0 w 672"/>
              <a:gd name="T1" fmla="*/ 0 h 288"/>
              <a:gd name="T2" fmla="*/ 2147483647 w 672"/>
              <a:gd name="T3" fmla="*/ 0 h 288"/>
              <a:gd name="T4" fmla="*/ 2147483647 w 672"/>
              <a:gd name="T5" fmla="*/ 2147483647 h 288"/>
              <a:gd name="T6" fmla="*/ 0 60000 65536"/>
              <a:gd name="T7" fmla="*/ 0 60000 65536"/>
              <a:gd name="T8" fmla="*/ 0 60000 65536"/>
              <a:gd name="T9" fmla="*/ 0 w 672"/>
              <a:gd name="T10" fmla="*/ 0 h 288"/>
              <a:gd name="T11" fmla="*/ 672 w 672"/>
              <a:gd name="T12" fmla="*/ 288 h 288"/>
            </a:gdLst>
            <a:ahLst/>
            <a:cxnLst>
              <a:cxn ang="T6">
                <a:pos x="T0" y="T1"/>
              </a:cxn>
              <a:cxn ang="T7">
                <a:pos x="T2" y="T3"/>
              </a:cxn>
              <a:cxn ang="T8">
                <a:pos x="T4" y="T5"/>
              </a:cxn>
            </a:cxnLst>
            <a:rect l="T9" t="T10" r="T11" b="T12"/>
            <a:pathLst>
              <a:path w="672" h="288">
                <a:moveTo>
                  <a:pt x="0" y="0"/>
                </a:moveTo>
                <a:lnTo>
                  <a:pt x="672" y="0"/>
                </a:lnTo>
                <a:lnTo>
                  <a:pt x="672" y="288"/>
                </a:lnTo>
              </a:path>
            </a:pathLst>
          </a:cu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4707" name="Freeform 35"/>
          <p:cNvSpPr>
            <a:spLocks/>
          </p:cNvSpPr>
          <p:nvPr/>
        </p:nvSpPr>
        <p:spPr bwMode="auto">
          <a:xfrm>
            <a:off x="4964113" y="2968625"/>
            <a:ext cx="1447800" cy="152400"/>
          </a:xfrm>
          <a:custGeom>
            <a:avLst/>
            <a:gdLst>
              <a:gd name="T0" fmla="*/ 0 w 912"/>
              <a:gd name="T1" fmla="*/ 0 h 144"/>
              <a:gd name="T2" fmla="*/ 2147483647 w 912"/>
              <a:gd name="T3" fmla="*/ 0 h 144"/>
              <a:gd name="T4" fmla="*/ 2147483647 w 912"/>
              <a:gd name="T5" fmla="*/ 2147483647 h 144"/>
              <a:gd name="T6" fmla="*/ 2147483647 w 912"/>
              <a:gd name="T7" fmla="*/ 2147483647 h 144"/>
              <a:gd name="T8" fmla="*/ 0 60000 65536"/>
              <a:gd name="T9" fmla="*/ 0 60000 65536"/>
              <a:gd name="T10" fmla="*/ 0 60000 65536"/>
              <a:gd name="T11" fmla="*/ 0 60000 65536"/>
              <a:gd name="T12" fmla="*/ 0 w 912"/>
              <a:gd name="T13" fmla="*/ 0 h 144"/>
              <a:gd name="T14" fmla="*/ 912 w 912"/>
              <a:gd name="T15" fmla="*/ 144 h 144"/>
            </a:gdLst>
            <a:ahLst/>
            <a:cxnLst>
              <a:cxn ang="T8">
                <a:pos x="T0" y="T1"/>
              </a:cxn>
              <a:cxn ang="T9">
                <a:pos x="T2" y="T3"/>
              </a:cxn>
              <a:cxn ang="T10">
                <a:pos x="T4" y="T5"/>
              </a:cxn>
              <a:cxn ang="T11">
                <a:pos x="T6" y="T7"/>
              </a:cxn>
            </a:cxnLst>
            <a:rect l="T12" t="T13" r="T14" b="T15"/>
            <a:pathLst>
              <a:path w="912" h="144">
                <a:moveTo>
                  <a:pt x="0" y="0"/>
                </a:moveTo>
                <a:lnTo>
                  <a:pt x="432" y="0"/>
                </a:lnTo>
                <a:lnTo>
                  <a:pt x="432" y="144"/>
                </a:lnTo>
                <a:lnTo>
                  <a:pt x="912" y="144"/>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4708" name="Freeform 36"/>
          <p:cNvSpPr>
            <a:spLocks/>
          </p:cNvSpPr>
          <p:nvPr/>
        </p:nvSpPr>
        <p:spPr bwMode="auto">
          <a:xfrm>
            <a:off x="4964113" y="3273425"/>
            <a:ext cx="1447800" cy="838200"/>
          </a:xfrm>
          <a:custGeom>
            <a:avLst/>
            <a:gdLst>
              <a:gd name="T0" fmla="*/ 0 w 912"/>
              <a:gd name="T1" fmla="*/ 0 h 528"/>
              <a:gd name="T2" fmla="*/ 2147483647 w 912"/>
              <a:gd name="T3" fmla="*/ 0 h 528"/>
              <a:gd name="T4" fmla="*/ 2147483647 w 912"/>
              <a:gd name="T5" fmla="*/ 2147483647 h 528"/>
              <a:gd name="T6" fmla="*/ 2147483647 w 912"/>
              <a:gd name="T7" fmla="*/ 2147483647 h 528"/>
              <a:gd name="T8" fmla="*/ 0 60000 65536"/>
              <a:gd name="T9" fmla="*/ 0 60000 65536"/>
              <a:gd name="T10" fmla="*/ 0 60000 65536"/>
              <a:gd name="T11" fmla="*/ 0 60000 65536"/>
              <a:gd name="T12" fmla="*/ 0 w 912"/>
              <a:gd name="T13" fmla="*/ 0 h 528"/>
              <a:gd name="T14" fmla="*/ 912 w 912"/>
              <a:gd name="T15" fmla="*/ 528 h 528"/>
            </a:gdLst>
            <a:ahLst/>
            <a:cxnLst>
              <a:cxn ang="T8">
                <a:pos x="T0" y="T1"/>
              </a:cxn>
              <a:cxn ang="T9">
                <a:pos x="T2" y="T3"/>
              </a:cxn>
              <a:cxn ang="T10">
                <a:pos x="T4" y="T5"/>
              </a:cxn>
              <a:cxn ang="T11">
                <a:pos x="T6" y="T7"/>
              </a:cxn>
            </a:cxnLst>
            <a:rect l="T12" t="T13" r="T14" b="T15"/>
            <a:pathLst>
              <a:path w="912" h="528">
                <a:moveTo>
                  <a:pt x="0" y="0"/>
                </a:moveTo>
                <a:lnTo>
                  <a:pt x="336" y="0"/>
                </a:lnTo>
                <a:lnTo>
                  <a:pt x="336" y="528"/>
                </a:lnTo>
                <a:lnTo>
                  <a:pt x="912" y="528"/>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4709" name="Line 37"/>
          <p:cNvSpPr>
            <a:spLocks noChangeShapeType="1"/>
          </p:cNvSpPr>
          <p:nvPr/>
        </p:nvSpPr>
        <p:spPr bwMode="auto">
          <a:xfrm rot="5400000">
            <a:off x="5230813" y="4302125"/>
            <a:ext cx="0" cy="2362200"/>
          </a:xfrm>
          <a:prstGeom prst="line">
            <a:avLst/>
          </a:prstGeom>
          <a:noFill/>
          <a:ln w="57150">
            <a:solidFill>
              <a:schemeClr val="accent5">
                <a:lumMod val="75000"/>
              </a:schemeClr>
            </a:solidFill>
            <a:round/>
            <a:headEnd type="triangle" w="med" len="med"/>
            <a:tailEnd type="triangle" w="med" len="med"/>
          </a:ln>
        </p:spPr>
        <p:txBody>
          <a:bodyPr wrap="none" anchor="ctr"/>
          <a:lstStyle/>
          <a:p>
            <a:endParaRPr lang="es-ES"/>
          </a:p>
        </p:txBody>
      </p:sp>
      <p:sp>
        <p:nvSpPr>
          <p:cNvPr id="114710" name="Text Box 38"/>
          <p:cNvSpPr txBox="1">
            <a:spLocks noChangeArrowheads="1"/>
          </p:cNvSpPr>
          <p:nvPr/>
        </p:nvSpPr>
        <p:spPr bwMode="auto">
          <a:xfrm>
            <a:off x="4788329" y="5582235"/>
            <a:ext cx="699229" cy="338554"/>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dirty="0">
                <a:latin typeface="Arial Narrow" pitchFamily="34" charset="0"/>
              </a:rPr>
              <a:t>datos</a:t>
            </a:r>
            <a:endParaRPr lang="es-ES_tradnl" altLang="es-ES_tradnl" sz="1800" b="1" dirty="0">
              <a:latin typeface="Arial Narrow" pitchFamily="34" charset="0"/>
            </a:endParaRPr>
          </a:p>
        </p:txBody>
      </p:sp>
      <p:sp>
        <p:nvSpPr>
          <p:cNvPr id="114711" name="Line 39"/>
          <p:cNvSpPr>
            <a:spLocks noChangeShapeType="1"/>
          </p:cNvSpPr>
          <p:nvPr/>
        </p:nvSpPr>
        <p:spPr bwMode="auto">
          <a:xfrm rot="5400000">
            <a:off x="1789113" y="5140325"/>
            <a:ext cx="0" cy="685800"/>
          </a:xfrm>
          <a:prstGeom prst="line">
            <a:avLst/>
          </a:prstGeom>
          <a:noFill/>
          <a:ln w="57150">
            <a:solidFill>
              <a:schemeClr val="accent3">
                <a:lumMod val="50000"/>
              </a:schemeClr>
            </a:solidFill>
            <a:round/>
            <a:headEnd type="triangle" w="med" len="med"/>
            <a:tailEnd type="triangle" w="med" len="med"/>
          </a:ln>
        </p:spPr>
        <p:txBody>
          <a:bodyPr wrap="none" anchor="ctr"/>
          <a:lstStyle/>
          <a:p>
            <a:endParaRPr lang="es-ES"/>
          </a:p>
        </p:txBody>
      </p:sp>
      <p:sp>
        <p:nvSpPr>
          <p:cNvPr id="114712" name="Text Box 40"/>
          <p:cNvSpPr txBox="1">
            <a:spLocks noChangeArrowheads="1"/>
          </p:cNvSpPr>
          <p:nvPr/>
        </p:nvSpPr>
        <p:spPr bwMode="auto">
          <a:xfrm>
            <a:off x="710042" y="5350460"/>
            <a:ext cx="699229" cy="338554"/>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dirty="0">
                <a:latin typeface="Arial Narrow" pitchFamily="34" charset="0"/>
              </a:rPr>
              <a:t>datos</a:t>
            </a:r>
            <a:endParaRPr lang="es-ES_tradnl" altLang="es-ES_tradnl" sz="1800" b="1" dirty="0">
              <a:latin typeface="Arial Narrow" pitchFamily="34" charset="0"/>
            </a:endParaRPr>
          </a:p>
        </p:txBody>
      </p:sp>
      <p:sp>
        <p:nvSpPr>
          <p:cNvPr id="114713" name="Text Box 41"/>
          <p:cNvSpPr txBox="1">
            <a:spLocks noChangeArrowheads="1"/>
          </p:cNvSpPr>
          <p:nvPr/>
        </p:nvSpPr>
        <p:spPr bwMode="auto">
          <a:xfrm>
            <a:off x="87313" y="3627150"/>
            <a:ext cx="1371600" cy="584775"/>
          </a:xfrm>
          <a:prstGeom prst="rect">
            <a:avLst/>
          </a:prstGeom>
          <a:noFill/>
          <a:ln w="28575">
            <a:noFill/>
            <a:miter lim="800000"/>
            <a:headEnd/>
            <a:tailEnd/>
          </a:ln>
        </p:spPr>
        <p:txBody>
          <a:bodyPr anchor="ctr">
            <a:spAutoFit/>
          </a:bodyPr>
          <a:lstStyle/>
          <a:p>
            <a:pPr algn="r">
              <a:lnSpc>
                <a:spcPct val="80000"/>
              </a:lnSpc>
              <a:spcBef>
                <a:spcPct val="20000"/>
              </a:spcBef>
            </a:pPr>
            <a:r>
              <a:rPr lang="es-ES_tradnl" altLang="es-ES_tradnl" dirty="0">
                <a:latin typeface="Arial Narrow" pitchFamily="34" charset="0"/>
              </a:rPr>
              <a:t>dirección de </a:t>
            </a:r>
            <a:br>
              <a:rPr lang="es-ES_tradnl" altLang="es-ES_tradnl" dirty="0">
                <a:latin typeface="Arial Narrow" pitchFamily="34" charset="0"/>
              </a:rPr>
            </a:br>
            <a:r>
              <a:rPr lang="es-ES_tradnl" altLang="es-ES_tradnl" dirty="0">
                <a:latin typeface="Arial Narrow" pitchFamily="34" charset="0"/>
              </a:rPr>
              <a:t>palabra</a:t>
            </a:r>
            <a:endParaRPr lang="es-ES_tradnl" altLang="es-ES_tradnl" sz="1800" b="1" dirty="0">
              <a:latin typeface="Arial Narrow" pitchFamily="34" charset="0"/>
            </a:endParaRPr>
          </a:p>
        </p:txBody>
      </p:sp>
      <p:sp>
        <p:nvSpPr>
          <p:cNvPr id="114714" name="Rectangle 42"/>
          <p:cNvSpPr>
            <a:spLocks noChangeArrowheads="1"/>
          </p:cNvSpPr>
          <p:nvPr/>
        </p:nvSpPr>
        <p:spPr bwMode="auto">
          <a:xfrm>
            <a:off x="6444208" y="2968625"/>
            <a:ext cx="2286000" cy="2743200"/>
          </a:xfrm>
          <a:prstGeom prst="rect">
            <a:avLst/>
          </a:prstGeom>
          <a:solidFill>
            <a:schemeClr val="accent2">
              <a:lumMod val="40000"/>
              <a:lumOff val="60000"/>
            </a:schemeClr>
          </a:solidFill>
          <a:ln w="28575">
            <a:solidFill>
              <a:srgbClr val="FFFF00"/>
            </a:solidFill>
            <a:miter lim="800000"/>
            <a:headEnd/>
            <a:tailEnd/>
          </a:ln>
        </p:spPr>
        <p:txBody>
          <a:bodyPr wrap="none" anchor="ctr"/>
          <a:lstStyle/>
          <a:p>
            <a:pPr>
              <a:spcBef>
                <a:spcPct val="20000"/>
              </a:spcBef>
            </a:pPr>
            <a:r>
              <a:rPr lang="es-ES_tradnl" sz="2400" b="1"/>
              <a:t>módulos de </a:t>
            </a:r>
            <a:br>
              <a:rPr lang="es-ES_tradnl" sz="2400" b="1"/>
            </a:br>
            <a:r>
              <a:rPr lang="es-ES_tradnl" sz="2400" b="1"/>
              <a:t>memoria </a:t>
            </a:r>
            <a:br>
              <a:rPr lang="es-ES_tradnl" sz="2400" b="1"/>
            </a:br>
            <a:r>
              <a:rPr lang="es-ES_tradnl" sz="2400" b="1"/>
              <a:t>DRAM</a:t>
            </a:r>
          </a:p>
        </p:txBody>
      </p:sp>
      <p:sp>
        <p:nvSpPr>
          <p:cNvPr id="114715" name="Text Box 43"/>
          <p:cNvSpPr txBox="1">
            <a:spLocks noChangeArrowheads="1"/>
          </p:cNvSpPr>
          <p:nvPr/>
        </p:nvSpPr>
        <p:spPr bwMode="auto">
          <a:xfrm>
            <a:off x="298877" y="1953925"/>
            <a:ext cx="1236236" cy="584775"/>
          </a:xfrm>
          <a:prstGeom prst="rect">
            <a:avLst/>
          </a:prstGeom>
          <a:noFill/>
          <a:ln w="28575">
            <a:noFill/>
            <a:miter lim="800000"/>
            <a:headEnd/>
            <a:tailEnd/>
          </a:ln>
        </p:spPr>
        <p:txBody>
          <a:bodyPr wrap="none" anchor="ctr">
            <a:spAutoFit/>
          </a:bodyPr>
          <a:lstStyle/>
          <a:p>
            <a:pPr algn="r">
              <a:lnSpc>
                <a:spcPct val="80000"/>
              </a:lnSpc>
              <a:spcBef>
                <a:spcPct val="20000"/>
              </a:spcBef>
            </a:pPr>
            <a:r>
              <a:rPr lang="es-ES_tradnl" altLang="es-ES_tradnl" dirty="0">
                <a:latin typeface="Arial Narrow" pitchFamily="34" charset="0"/>
              </a:rPr>
              <a:t>habilitación</a:t>
            </a:r>
            <a:br>
              <a:rPr lang="es-ES_tradnl" altLang="es-ES_tradnl" dirty="0">
                <a:latin typeface="Arial Narrow" pitchFamily="34" charset="0"/>
              </a:rPr>
            </a:br>
            <a:r>
              <a:rPr lang="es-ES_tradnl" altLang="es-ES_tradnl" dirty="0">
                <a:latin typeface="Arial Narrow" pitchFamily="34" charset="0"/>
              </a:rPr>
              <a:t>de byte</a:t>
            </a:r>
            <a:endParaRPr lang="es-ES_tradnl" altLang="es-ES_tradnl" sz="1800" b="1" dirty="0">
              <a:latin typeface="Arial Narrow" pitchFamily="34" charset="0"/>
            </a:endParaRPr>
          </a:p>
        </p:txBody>
      </p:sp>
      <p:sp>
        <p:nvSpPr>
          <p:cNvPr id="114716" name="Line 44"/>
          <p:cNvSpPr>
            <a:spLocks noChangeShapeType="1"/>
          </p:cNvSpPr>
          <p:nvPr/>
        </p:nvSpPr>
        <p:spPr bwMode="auto">
          <a:xfrm>
            <a:off x="7554913" y="2587625"/>
            <a:ext cx="533400" cy="0"/>
          </a:xfrm>
          <a:prstGeom prst="line">
            <a:avLst/>
          </a:prstGeom>
          <a:noFill/>
          <a:ln w="28575">
            <a:solidFill>
              <a:srgbClr val="FFFF00"/>
            </a:solidFill>
            <a:prstDash val="dash"/>
            <a:round/>
            <a:headEnd/>
            <a:tailEnd/>
          </a:ln>
        </p:spPr>
        <p:txBody>
          <a:bodyPr wrap="none" anchor="ctr"/>
          <a:lstStyle/>
          <a:p>
            <a:endParaRPr lang="es-ES"/>
          </a:p>
        </p:txBody>
      </p:sp>
      <p:sp>
        <p:nvSpPr>
          <p:cNvPr id="114717" name="Line 45"/>
          <p:cNvSpPr>
            <a:spLocks noChangeShapeType="1"/>
          </p:cNvSpPr>
          <p:nvPr/>
        </p:nvSpPr>
        <p:spPr bwMode="auto">
          <a:xfrm>
            <a:off x="6107113" y="3349625"/>
            <a:ext cx="0" cy="381000"/>
          </a:xfrm>
          <a:prstGeom prst="line">
            <a:avLst/>
          </a:prstGeom>
          <a:noFill/>
          <a:ln w="28575">
            <a:solidFill>
              <a:schemeClr val="accent5">
                <a:lumMod val="60000"/>
                <a:lumOff val="40000"/>
              </a:schemeClr>
            </a:solidFill>
            <a:prstDash val="dash"/>
            <a:round/>
            <a:headEnd/>
            <a:tailEnd/>
          </a:ln>
        </p:spPr>
        <p:txBody>
          <a:bodyPr wrap="none" anchor="ctr"/>
          <a:lstStyle/>
          <a:p>
            <a:endParaRPr lang="es-ES"/>
          </a:p>
        </p:txBody>
      </p:sp>
      <p:grpSp>
        <p:nvGrpSpPr>
          <p:cNvPr id="4" name="Group 46"/>
          <p:cNvGrpSpPr>
            <a:grpSpLocks/>
          </p:cNvGrpSpPr>
          <p:nvPr/>
        </p:nvGrpSpPr>
        <p:grpSpPr bwMode="auto">
          <a:xfrm>
            <a:off x="1535113" y="2816225"/>
            <a:ext cx="533400" cy="304800"/>
            <a:chOff x="768" y="1440"/>
            <a:chExt cx="432" cy="192"/>
          </a:xfrm>
        </p:grpSpPr>
        <p:sp>
          <p:nvSpPr>
            <p:cNvPr id="114736" name="Line 47"/>
            <p:cNvSpPr>
              <a:spLocks noChangeShapeType="1"/>
            </p:cNvSpPr>
            <p:nvPr/>
          </p:nvSpPr>
          <p:spPr bwMode="auto">
            <a:xfrm>
              <a:off x="768" y="1440"/>
              <a:ext cx="432" cy="0"/>
            </a:xfrm>
            <a:prstGeom prst="line">
              <a:avLst/>
            </a:prstGeom>
            <a:noFill/>
            <a:ln w="28575">
              <a:solidFill>
                <a:schemeClr val="tx2"/>
              </a:solidFill>
              <a:round/>
              <a:headEnd/>
              <a:tailEnd type="triangle" w="med" len="med"/>
            </a:ln>
          </p:spPr>
          <p:txBody>
            <a:bodyPr wrap="none" anchor="ctr"/>
            <a:lstStyle/>
            <a:p>
              <a:endParaRPr lang="es-ES"/>
            </a:p>
          </p:txBody>
        </p:sp>
        <p:sp>
          <p:nvSpPr>
            <p:cNvPr id="114737" name="Line 48"/>
            <p:cNvSpPr>
              <a:spLocks noChangeShapeType="1"/>
            </p:cNvSpPr>
            <p:nvPr/>
          </p:nvSpPr>
          <p:spPr bwMode="auto">
            <a:xfrm>
              <a:off x="768" y="1632"/>
              <a:ext cx="432" cy="0"/>
            </a:xfrm>
            <a:prstGeom prst="line">
              <a:avLst/>
            </a:prstGeom>
            <a:noFill/>
            <a:ln w="28575">
              <a:solidFill>
                <a:schemeClr val="tx2"/>
              </a:solidFill>
              <a:round/>
              <a:headEnd/>
              <a:tailEnd type="triangle" w="med" len="med"/>
            </a:ln>
          </p:spPr>
          <p:txBody>
            <a:bodyPr wrap="none" anchor="ctr"/>
            <a:lstStyle/>
            <a:p>
              <a:endParaRPr lang="es-ES"/>
            </a:p>
          </p:txBody>
        </p:sp>
      </p:grpSp>
      <p:sp>
        <p:nvSpPr>
          <p:cNvPr id="114719" name="Text Box 49"/>
          <p:cNvSpPr txBox="1">
            <a:spLocks noChangeArrowheads="1"/>
          </p:cNvSpPr>
          <p:nvPr/>
        </p:nvSpPr>
        <p:spPr bwMode="auto">
          <a:xfrm>
            <a:off x="294342" y="2719100"/>
            <a:ext cx="1245533" cy="584775"/>
          </a:xfrm>
          <a:prstGeom prst="rect">
            <a:avLst/>
          </a:prstGeom>
          <a:noFill/>
          <a:ln w="28575">
            <a:noFill/>
            <a:miter lim="800000"/>
            <a:headEnd/>
            <a:tailEnd/>
          </a:ln>
        </p:spPr>
        <p:txBody>
          <a:bodyPr wrap="none" anchor="ctr">
            <a:spAutoFit/>
          </a:bodyPr>
          <a:lstStyle/>
          <a:p>
            <a:pPr algn="r">
              <a:lnSpc>
                <a:spcPct val="80000"/>
              </a:lnSpc>
              <a:spcBef>
                <a:spcPct val="20000"/>
              </a:spcBef>
            </a:pPr>
            <a:r>
              <a:rPr lang="es-ES_tradnl" altLang="es-ES_tradnl" dirty="0">
                <a:latin typeface="Arial Narrow" pitchFamily="34" charset="0"/>
              </a:rPr>
              <a:t>MEM, R/W,</a:t>
            </a:r>
            <a:br>
              <a:rPr lang="es-ES_tradnl" altLang="es-ES_tradnl" dirty="0">
                <a:latin typeface="Arial Narrow" pitchFamily="34" charset="0"/>
              </a:rPr>
            </a:br>
            <a:r>
              <a:rPr lang="es-ES_tradnl" altLang="es-ES_tradnl" dirty="0" err="1">
                <a:latin typeface="Arial Narrow" pitchFamily="34" charset="0"/>
              </a:rPr>
              <a:t>etc</a:t>
            </a:r>
            <a:endParaRPr lang="es-ES_tradnl" altLang="es-ES_tradnl" dirty="0">
              <a:latin typeface="Arial Narrow" pitchFamily="34" charset="0"/>
            </a:endParaRPr>
          </a:p>
        </p:txBody>
      </p:sp>
      <p:grpSp>
        <p:nvGrpSpPr>
          <p:cNvPr id="5" name="Group 50"/>
          <p:cNvGrpSpPr>
            <a:grpSpLocks/>
          </p:cNvGrpSpPr>
          <p:nvPr/>
        </p:nvGrpSpPr>
        <p:grpSpPr bwMode="auto">
          <a:xfrm>
            <a:off x="7072313" y="2273302"/>
            <a:ext cx="307975" cy="568326"/>
            <a:chOff x="4240" y="1619"/>
            <a:chExt cx="194" cy="358"/>
          </a:xfrm>
        </p:grpSpPr>
        <p:sp>
          <p:nvSpPr>
            <p:cNvPr id="114734" name="Text Box 51"/>
            <p:cNvSpPr txBox="1">
              <a:spLocks noChangeArrowheads="1"/>
            </p:cNvSpPr>
            <p:nvPr/>
          </p:nvSpPr>
          <p:spPr bwMode="auto">
            <a:xfrm rot="5400000">
              <a:off x="4158" y="1701"/>
              <a:ext cx="358" cy="194"/>
            </a:xfrm>
            <a:prstGeom prst="rect">
              <a:avLst/>
            </a:prstGeom>
            <a:noFill/>
            <a:ln w="28575">
              <a:noFill/>
              <a:miter lim="800000"/>
              <a:headEnd/>
              <a:tailEnd/>
            </a:ln>
          </p:spPr>
          <p:txBody>
            <a:bodyPr wrap="none" lIns="0" tIns="0" rIns="0" bIns="0"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0</a:t>
              </a:r>
              <a:endParaRPr lang="es-ES_tradnl" dirty="0"/>
            </a:p>
          </p:txBody>
        </p:sp>
        <p:sp>
          <p:nvSpPr>
            <p:cNvPr id="114735" name="Line 52"/>
            <p:cNvSpPr>
              <a:spLocks noChangeShapeType="1"/>
            </p:cNvSpPr>
            <p:nvPr/>
          </p:nvSpPr>
          <p:spPr bwMode="auto">
            <a:xfrm rot="5400000">
              <a:off x="4270" y="1776"/>
              <a:ext cx="299" cy="0"/>
            </a:xfrm>
            <a:prstGeom prst="line">
              <a:avLst/>
            </a:prstGeom>
            <a:noFill/>
            <a:ln w="19050">
              <a:solidFill>
                <a:schemeClr val="tx1"/>
              </a:solidFill>
              <a:round/>
              <a:headEnd/>
              <a:tailEnd/>
            </a:ln>
          </p:spPr>
          <p:txBody>
            <a:bodyPr wrap="none" anchor="ctr"/>
            <a:lstStyle/>
            <a:p>
              <a:endParaRPr lang="es-ES"/>
            </a:p>
          </p:txBody>
        </p:sp>
      </p:grpSp>
      <p:grpSp>
        <p:nvGrpSpPr>
          <p:cNvPr id="6" name="Group 53"/>
          <p:cNvGrpSpPr>
            <a:grpSpLocks/>
          </p:cNvGrpSpPr>
          <p:nvPr/>
        </p:nvGrpSpPr>
        <p:grpSpPr bwMode="auto">
          <a:xfrm>
            <a:off x="5862638" y="2781300"/>
            <a:ext cx="365125" cy="304800"/>
            <a:chOff x="3557" y="1901"/>
            <a:chExt cx="230" cy="192"/>
          </a:xfrm>
        </p:grpSpPr>
        <p:sp>
          <p:nvSpPr>
            <p:cNvPr id="114732" name="Text Box 54"/>
            <p:cNvSpPr txBox="1">
              <a:spLocks noChangeArrowheads="1"/>
            </p:cNvSpPr>
            <p:nvPr/>
          </p:nvSpPr>
          <p:spPr bwMode="auto">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0</a:t>
              </a:r>
              <a:endParaRPr lang="es-ES_tradnl"/>
            </a:p>
          </p:txBody>
        </p:sp>
        <p:sp>
          <p:nvSpPr>
            <p:cNvPr id="114733" name="Line 55"/>
            <p:cNvSpPr>
              <a:spLocks noChangeShapeType="1"/>
            </p:cNvSpPr>
            <p:nvPr/>
          </p:nvSpPr>
          <p:spPr bwMode="auto">
            <a:xfrm>
              <a:off x="3575" y="1916"/>
              <a:ext cx="148" cy="0"/>
            </a:xfrm>
            <a:prstGeom prst="line">
              <a:avLst/>
            </a:prstGeom>
            <a:noFill/>
            <a:ln w="19050">
              <a:solidFill>
                <a:schemeClr val="tx1"/>
              </a:solidFill>
              <a:round/>
              <a:headEnd/>
              <a:tailEnd/>
            </a:ln>
          </p:spPr>
          <p:txBody>
            <a:bodyPr wrap="none" anchor="ctr"/>
            <a:lstStyle/>
            <a:p>
              <a:endParaRPr lang="es-ES"/>
            </a:p>
          </p:txBody>
        </p:sp>
      </p:grpSp>
      <p:grpSp>
        <p:nvGrpSpPr>
          <p:cNvPr id="7" name="Group 56"/>
          <p:cNvGrpSpPr>
            <a:grpSpLocks/>
          </p:cNvGrpSpPr>
          <p:nvPr/>
        </p:nvGrpSpPr>
        <p:grpSpPr bwMode="auto">
          <a:xfrm>
            <a:off x="5880100" y="3771900"/>
            <a:ext cx="328613" cy="304800"/>
            <a:chOff x="3568" y="1901"/>
            <a:chExt cx="207" cy="192"/>
          </a:xfrm>
        </p:grpSpPr>
        <p:sp>
          <p:nvSpPr>
            <p:cNvPr id="114730" name="Text Box 57"/>
            <p:cNvSpPr txBox="1">
              <a:spLocks noChangeArrowheads="1"/>
            </p:cNvSpPr>
            <p:nvPr/>
          </p:nvSpPr>
          <p:spPr bwMode="auto">
            <a:xfrm>
              <a:off x="3568" y="1901"/>
              <a:ext cx="207"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j</a:t>
              </a:r>
              <a:endParaRPr lang="es-ES_tradnl"/>
            </a:p>
          </p:txBody>
        </p:sp>
        <p:sp>
          <p:nvSpPr>
            <p:cNvPr id="114731" name="Line 58"/>
            <p:cNvSpPr>
              <a:spLocks noChangeShapeType="1"/>
            </p:cNvSpPr>
            <p:nvPr/>
          </p:nvSpPr>
          <p:spPr bwMode="auto">
            <a:xfrm>
              <a:off x="3575" y="1916"/>
              <a:ext cx="148" cy="0"/>
            </a:xfrm>
            <a:prstGeom prst="line">
              <a:avLst/>
            </a:prstGeom>
            <a:noFill/>
            <a:ln w="19050">
              <a:solidFill>
                <a:schemeClr val="tx1"/>
              </a:solidFill>
              <a:round/>
              <a:headEnd/>
              <a:tailEnd/>
            </a:ln>
          </p:spPr>
          <p:txBody>
            <a:bodyPr wrap="none" anchor="ctr"/>
            <a:lstStyle/>
            <a:p>
              <a:endParaRPr lang="es-ES"/>
            </a:p>
          </p:txBody>
        </p:sp>
      </p:grpSp>
      <p:grpSp>
        <p:nvGrpSpPr>
          <p:cNvPr id="8" name="Group 59"/>
          <p:cNvGrpSpPr>
            <a:grpSpLocks/>
          </p:cNvGrpSpPr>
          <p:nvPr/>
        </p:nvGrpSpPr>
        <p:grpSpPr bwMode="auto">
          <a:xfrm>
            <a:off x="8458201" y="2284411"/>
            <a:ext cx="307975" cy="536574"/>
            <a:chOff x="4241" y="1626"/>
            <a:chExt cx="194" cy="338"/>
          </a:xfrm>
        </p:grpSpPr>
        <p:sp>
          <p:nvSpPr>
            <p:cNvPr id="114728" name="Text Box 60"/>
            <p:cNvSpPr txBox="1">
              <a:spLocks noChangeArrowheads="1"/>
            </p:cNvSpPr>
            <p:nvPr/>
          </p:nvSpPr>
          <p:spPr bwMode="auto">
            <a:xfrm rot="5400000">
              <a:off x="4171" y="1701"/>
              <a:ext cx="333" cy="194"/>
            </a:xfrm>
            <a:prstGeom prst="rect">
              <a:avLst/>
            </a:prstGeom>
            <a:noFill/>
            <a:ln w="28575">
              <a:noFill/>
              <a:miter lim="800000"/>
              <a:headEnd/>
              <a:tailEnd/>
            </a:ln>
          </p:spPr>
          <p:txBody>
            <a:bodyPr wrap="none" lIns="0" tIns="0" rIns="0" bIns="0" anchor="ctr">
              <a:spAutoFit/>
            </a:bodyPr>
            <a:lstStyle/>
            <a:p>
              <a:pPr>
                <a:spcBef>
                  <a:spcPct val="20000"/>
                </a:spcBef>
              </a:pPr>
              <a:r>
                <a:rPr lang="es-ES_tradnl" dirty="0" err="1">
                  <a:latin typeface="Arial Narrow" pitchFamily="34" charset="0"/>
                </a:rPr>
                <a:t>DQM</a:t>
              </a:r>
              <a:r>
                <a:rPr lang="es-ES_tradnl" b="1" baseline="-25000" dirty="0" err="1">
                  <a:latin typeface="Arial Narrow" pitchFamily="34" charset="0"/>
                </a:rPr>
                <a:t>i</a:t>
              </a:r>
              <a:endParaRPr lang="es-ES_tradnl" dirty="0"/>
            </a:p>
          </p:txBody>
        </p:sp>
        <p:sp>
          <p:nvSpPr>
            <p:cNvPr id="114729" name="Line 61"/>
            <p:cNvSpPr>
              <a:spLocks noChangeShapeType="1"/>
            </p:cNvSpPr>
            <p:nvPr/>
          </p:nvSpPr>
          <p:spPr bwMode="auto">
            <a:xfrm rot="5400000">
              <a:off x="4270" y="1776"/>
              <a:ext cx="299" cy="0"/>
            </a:xfrm>
            <a:prstGeom prst="line">
              <a:avLst/>
            </a:prstGeom>
            <a:noFill/>
            <a:ln w="19050">
              <a:solidFill>
                <a:schemeClr val="tx1"/>
              </a:solidFill>
              <a:round/>
              <a:headEnd/>
              <a:tailEnd/>
            </a:ln>
          </p:spPr>
          <p:txBody>
            <a:bodyPr wrap="none" anchor="ctr"/>
            <a:lstStyle/>
            <a:p>
              <a:endParaRPr lang="es-ES"/>
            </a:p>
          </p:txBody>
        </p:sp>
      </p:grpSp>
      <p:sp>
        <p:nvSpPr>
          <p:cNvPr id="114724" name="Text Box 62"/>
          <p:cNvSpPr txBox="1">
            <a:spLocks noChangeArrowheads="1"/>
          </p:cNvSpPr>
          <p:nvPr/>
        </p:nvSpPr>
        <p:spPr bwMode="auto">
          <a:xfrm>
            <a:off x="4784725" y="2484438"/>
            <a:ext cx="917575" cy="304800"/>
          </a:xfrm>
          <a:prstGeom prst="rect">
            <a:avLst/>
          </a:prstGeom>
          <a:noFill/>
          <a:ln w="19050">
            <a:noFill/>
            <a:miter lim="800000"/>
            <a:headEnd/>
            <a:tailEnd/>
          </a:ln>
        </p:spPr>
        <p:txBody>
          <a:bodyPr wrap="none" lIns="0" tIns="0" rIns="0" bIns="0">
            <a:spAutoFit/>
          </a:bodyPr>
          <a:lstStyle/>
          <a:p>
            <a:pPr algn="l"/>
            <a:r>
              <a:rPr lang="es-ES"/>
              <a:t>órdenes</a:t>
            </a:r>
          </a:p>
        </p:txBody>
      </p:sp>
      <p:grpSp>
        <p:nvGrpSpPr>
          <p:cNvPr id="9" name="Group 63"/>
          <p:cNvGrpSpPr>
            <a:grpSpLocks/>
          </p:cNvGrpSpPr>
          <p:nvPr/>
        </p:nvGrpSpPr>
        <p:grpSpPr bwMode="auto">
          <a:xfrm>
            <a:off x="4049713" y="2492375"/>
            <a:ext cx="666750" cy="304800"/>
            <a:chOff x="768" y="1440"/>
            <a:chExt cx="432" cy="192"/>
          </a:xfrm>
        </p:grpSpPr>
        <p:sp>
          <p:nvSpPr>
            <p:cNvPr id="114726" name="Line 64"/>
            <p:cNvSpPr>
              <a:spLocks noChangeShapeType="1"/>
            </p:cNvSpPr>
            <p:nvPr/>
          </p:nvSpPr>
          <p:spPr bwMode="auto">
            <a:xfrm>
              <a:off x="768" y="1440"/>
              <a:ext cx="432" cy="0"/>
            </a:xfrm>
            <a:prstGeom prst="line">
              <a:avLst/>
            </a:prstGeom>
            <a:noFill/>
            <a:ln w="28575">
              <a:solidFill>
                <a:schemeClr val="tx2"/>
              </a:solidFill>
              <a:round/>
              <a:headEnd/>
              <a:tailEnd type="triangle" w="med" len="med"/>
            </a:ln>
          </p:spPr>
          <p:txBody>
            <a:bodyPr wrap="none" anchor="ctr"/>
            <a:lstStyle/>
            <a:p>
              <a:endParaRPr lang="es-ES"/>
            </a:p>
          </p:txBody>
        </p:sp>
        <p:sp>
          <p:nvSpPr>
            <p:cNvPr id="114727" name="Line 65"/>
            <p:cNvSpPr>
              <a:spLocks noChangeShapeType="1"/>
            </p:cNvSpPr>
            <p:nvPr/>
          </p:nvSpPr>
          <p:spPr bwMode="auto">
            <a:xfrm>
              <a:off x="768" y="1632"/>
              <a:ext cx="432" cy="0"/>
            </a:xfrm>
            <a:prstGeom prst="line">
              <a:avLst/>
            </a:prstGeom>
            <a:noFill/>
            <a:ln w="28575">
              <a:solidFill>
                <a:schemeClr val="tx2"/>
              </a:solidFill>
              <a:round/>
              <a:headEnd/>
              <a:tailEnd type="triangle" w="med" len="med"/>
            </a:ln>
          </p:spPr>
          <p:txBody>
            <a:bodyPr wrap="none" anchor="ctr"/>
            <a:lstStyle/>
            <a:p>
              <a:endParaRPr lang="es-ES"/>
            </a:p>
          </p:txBody>
        </p:sp>
      </p:grpSp>
      <p:sp>
        <p:nvSpPr>
          <p:cNvPr id="10" name="2 Marcador de número de diapositiva">
            <a:extLst>
              <a:ext uri="{FF2B5EF4-FFF2-40B4-BE49-F238E27FC236}">
                <a16:creationId xmlns:a16="http://schemas.microsoft.com/office/drawing/2014/main" id="{DCAD0E0E-7AA3-ACEB-818F-317840451A58}"/>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144</a:t>
            </a:fld>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p:nvPr>
        </p:nvSpPr>
        <p:spPr/>
        <p:txBody>
          <a:bodyPr/>
          <a:lstStyle/>
          <a:p>
            <a:r>
              <a:rPr lang="es-ES" altLang="es-ES_tradnl"/>
              <a:t>Ejemplo de configuración DRAM estándar</a:t>
            </a:r>
          </a:p>
        </p:txBody>
      </p:sp>
      <p:sp>
        <p:nvSpPr>
          <p:cNvPr id="115716" name="Rectangle 3"/>
          <p:cNvSpPr>
            <a:spLocks noGrp="1" noChangeArrowheads="1"/>
          </p:cNvSpPr>
          <p:nvPr>
            <p:ph type="body" idx="1"/>
          </p:nvPr>
        </p:nvSpPr>
        <p:spPr/>
        <p:txBody>
          <a:bodyPr/>
          <a:lstStyle/>
          <a:p>
            <a:r>
              <a:rPr lang="es-ES" altLang="es-ES_tradnl" dirty="0"/>
              <a:t>W=64 bits, 4 módulos DIMM</a:t>
            </a:r>
          </a:p>
        </p:txBody>
      </p:sp>
      <p:sp>
        <p:nvSpPr>
          <p:cNvPr id="115717" name="Rectangle 5"/>
          <p:cNvSpPr>
            <a:spLocks noChangeArrowheads="1"/>
          </p:cNvSpPr>
          <p:nvPr/>
        </p:nvSpPr>
        <p:spPr bwMode="auto">
          <a:xfrm>
            <a:off x="2106613" y="1905000"/>
            <a:ext cx="1905000" cy="4267200"/>
          </a:xfrm>
          <a:prstGeom prst="rect">
            <a:avLst/>
          </a:prstGeom>
          <a:solidFill>
            <a:schemeClr val="accent1">
              <a:lumMod val="20000"/>
              <a:lumOff val="80000"/>
            </a:schemeClr>
          </a:solidFill>
          <a:ln w="76200">
            <a:solidFill>
              <a:schemeClr val="accent1">
                <a:lumMod val="75000"/>
              </a:schemeClr>
            </a:solidFill>
            <a:miter lim="800000"/>
            <a:headEnd/>
            <a:tailEnd/>
          </a:ln>
        </p:spPr>
        <p:txBody>
          <a:bodyPr wrap="none" anchor="ctr"/>
          <a:lstStyle/>
          <a:p>
            <a:endParaRPr lang="es-ES"/>
          </a:p>
        </p:txBody>
      </p:sp>
      <p:sp>
        <p:nvSpPr>
          <p:cNvPr id="115718" name="Rectangle 6"/>
          <p:cNvSpPr>
            <a:spLocks noChangeArrowheads="1"/>
          </p:cNvSpPr>
          <p:nvPr/>
        </p:nvSpPr>
        <p:spPr bwMode="auto">
          <a:xfrm>
            <a:off x="2868613" y="3962400"/>
            <a:ext cx="838200" cy="1066800"/>
          </a:xfrm>
          <a:prstGeom prst="rect">
            <a:avLst/>
          </a:prstGeom>
          <a:noFill/>
          <a:ln w="28575">
            <a:solidFill>
              <a:schemeClr val="accent1">
                <a:lumMod val="75000"/>
              </a:schemeClr>
            </a:solidFill>
            <a:miter lim="800000"/>
            <a:headEnd/>
            <a:tailEnd/>
          </a:ln>
        </p:spPr>
        <p:txBody>
          <a:bodyPr wrap="none" anchor="ctr"/>
          <a:lstStyle/>
          <a:p>
            <a:pPr>
              <a:spcBef>
                <a:spcPct val="20000"/>
              </a:spcBef>
            </a:pPr>
            <a:r>
              <a:rPr lang="es-ES_tradnl" altLang="es-ES_tradnl" sz="2400">
                <a:latin typeface="Arial Narrow" pitchFamily="34" charset="0"/>
              </a:rPr>
              <a:t>MUX</a:t>
            </a:r>
            <a:endParaRPr lang="es-ES_tradnl" altLang="es-ES_tradnl" sz="2400"/>
          </a:p>
        </p:txBody>
      </p:sp>
      <p:sp>
        <p:nvSpPr>
          <p:cNvPr id="115719" name="Line 7"/>
          <p:cNvSpPr>
            <a:spLocks noChangeShapeType="1"/>
          </p:cNvSpPr>
          <p:nvPr/>
        </p:nvSpPr>
        <p:spPr bwMode="auto">
          <a:xfrm>
            <a:off x="1408113" y="4114800"/>
            <a:ext cx="6858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5720" name="Line 8"/>
          <p:cNvSpPr>
            <a:spLocks noChangeShapeType="1"/>
          </p:cNvSpPr>
          <p:nvPr/>
        </p:nvSpPr>
        <p:spPr bwMode="auto">
          <a:xfrm>
            <a:off x="1344613" y="2133600"/>
            <a:ext cx="685800" cy="0"/>
          </a:xfrm>
          <a:prstGeom prst="line">
            <a:avLst/>
          </a:prstGeom>
          <a:noFill/>
          <a:ln w="28575">
            <a:solidFill>
              <a:schemeClr val="accent4">
                <a:lumMod val="75000"/>
              </a:schemeClr>
            </a:solidFill>
            <a:round/>
            <a:headEnd/>
            <a:tailEnd type="triangle" w="med" len="med"/>
          </a:ln>
        </p:spPr>
        <p:txBody>
          <a:bodyPr wrap="none" anchor="ctr"/>
          <a:lstStyle/>
          <a:p>
            <a:endParaRPr lang="es-ES"/>
          </a:p>
        </p:txBody>
      </p:sp>
      <p:sp>
        <p:nvSpPr>
          <p:cNvPr id="115721" name="Line 9"/>
          <p:cNvSpPr>
            <a:spLocks noChangeShapeType="1"/>
          </p:cNvSpPr>
          <p:nvPr/>
        </p:nvSpPr>
        <p:spPr bwMode="auto">
          <a:xfrm>
            <a:off x="1344613" y="2590800"/>
            <a:ext cx="685800" cy="0"/>
          </a:xfrm>
          <a:prstGeom prst="line">
            <a:avLst/>
          </a:prstGeom>
          <a:noFill/>
          <a:ln w="28575">
            <a:solidFill>
              <a:schemeClr val="accent4">
                <a:lumMod val="75000"/>
              </a:schemeClr>
            </a:solidFill>
            <a:round/>
            <a:headEnd/>
            <a:tailEnd type="triangle" w="med" len="med"/>
          </a:ln>
        </p:spPr>
        <p:txBody>
          <a:bodyPr wrap="none" anchor="ctr"/>
          <a:lstStyle/>
          <a:p>
            <a:endParaRPr lang="es-ES"/>
          </a:p>
        </p:txBody>
      </p:sp>
      <p:sp>
        <p:nvSpPr>
          <p:cNvPr id="115722" name="Line 10"/>
          <p:cNvSpPr>
            <a:spLocks noChangeShapeType="1"/>
          </p:cNvSpPr>
          <p:nvPr/>
        </p:nvSpPr>
        <p:spPr bwMode="auto">
          <a:xfrm>
            <a:off x="2182813" y="4114800"/>
            <a:ext cx="6858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5723" name="Line 11"/>
          <p:cNvSpPr>
            <a:spLocks noChangeShapeType="1"/>
          </p:cNvSpPr>
          <p:nvPr/>
        </p:nvSpPr>
        <p:spPr bwMode="auto">
          <a:xfrm>
            <a:off x="3706813" y="4495800"/>
            <a:ext cx="9906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5724" name="Freeform 12"/>
          <p:cNvSpPr>
            <a:spLocks/>
          </p:cNvSpPr>
          <p:nvPr/>
        </p:nvSpPr>
        <p:spPr bwMode="auto">
          <a:xfrm>
            <a:off x="2182813" y="4191000"/>
            <a:ext cx="685800" cy="685800"/>
          </a:xfrm>
          <a:custGeom>
            <a:avLst/>
            <a:gdLst>
              <a:gd name="T0" fmla="*/ 0 w 528"/>
              <a:gd name="T1" fmla="*/ 0 h 432"/>
              <a:gd name="T2" fmla="*/ 2147483647 w 528"/>
              <a:gd name="T3" fmla="*/ 0 h 432"/>
              <a:gd name="T4" fmla="*/ 2147483647 w 528"/>
              <a:gd name="T5" fmla="*/ 2147483647 h 432"/>
              <a:gd name="T6" fmla="*/ 2147483647 w 528"/>
              <a:gd name="T7" fmla="*/ 2147483647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sp>
        <p:nvSpPr>
          <p:cNvPr id="115725" name="Freeform 13"/>
          <p:cNvSpPr>
            <a:spLocks/>
          </p:cNvSpPr>
          <p:nvPr/>
        </p:nvSpPr>
        <p:spPr bwMode="auto">
          <a:xfrm flipV="1">
            <a:off x="2182813" y="3352800"/>
            <a:ext cx="685800" cy="685800"/>
          </a:xfrm>
          <a:custGeom>
            <a:avLst/>
            <a:gdLst>
              <a:gd name="T0" fmla="*/ 0 w 528"/>
              <a:gd name="T1" fmla="*/ 0 h 432"/>
              <a:gd name="T2" fmla="*/ 2147483647 w 528"/>
              <a:gd name="T3" fmla="*/ 0 h 432"/>
              <a:gd name="T4" fmla="*/ 2147483647 w 528"/>
              <a:gd name="T5" fmla="*/ 2147483647 h 432"/>
              <a:gd name="T6" fmla="*/ 2147483647 w 528"/>
              <a:gd name="T7" fmla="*/ 2147483647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sp>
        <p:nvSpPr>
          <p:cNvPr id="115726" name="Rectangle 14"/>
          <p:cNvSpPr>
            <a:spLocks noChangeArrowheads="1"/>
          </p:cNvSpPr>
          <p:nvPr/>
        </p:nvSpPr>
        <p:spPr bwMode="auto">
          <a:xfrm>
            <a:off x="2868613" y="3048000"/>
            <a:ext cx="838200" cy="609600"/>
          </a:xfrm>
          <a:prstGeom prst="rect">
            <a:avLst/>
          </a:prstGeom>
          <a:noFill/>
          <a:ln w="28575">
            <a:solidFill>
              <a:schemeClr val="accent1">
                <a:lumMod val="75000"/>
              </a:schemeClr>
            </a:solidFill>
            <a:miter lim="800000"/>
            <a:headEnd/>
            <a:tailEnd/>
          </a:ln>
        </p:spPr>
        <p:txBody>
          <a:bodyPr wrap="none" anchor="ctr"/>
          <a:lstStyle/>
          <a:p>
            <a:pPr>
              <a:spcBef>
                <a:spcPct val="20000"/>
              </a:spcBef>
            </a:pPr>
            <a:r>
              <a:rPr lang="es-ES_tradnl" altLang="es-ES_tradnl" sz="2400">
                <a:latin typeface="Arial Narrow" pitchFamily="34" charset="0"/>
              </a:rPr>
              <a:t>DESC</a:t>
            </a:r>
            <a:endParaRPr lang="es-ES_tradnl" altLang="es-ES_tradnl" sz="2400"/>
          </a:p>
        </p:txBody>
      </p:sp>
      <p:grpSp>
        <p:nvGrpSpPr>
          <p:cNvPr id="2" name="Group 15"/>
          <p:cNvGrpSpPr>
            <a:grpSpLocks/>
          </p:cNvGrpSpPr>
          <p:nvPr/>
        </p:nvGrpSpPr>
        <p:grpSpPr bwMode="auto">
          <a:xfrm>
            <a:off x="3706813" y="3124200"/>
            <a:ext cx="990600" cy="457200"/>
            <a:chOff x="960" y="1680"/>
            <a:chExt cx="1008" cy="288"/>
          </a:xfrm>
        </p:grpSpPr>
        <p:sp>
          <p:nvSpPr>
            <p:cNvPr id="115777" name="Line 16"/>
            <p:cNvSpPr>
              <a:spLocks noChangeShapeType="1"/>
            </p:cNvSpPr>
            <p:nvPr/>
          </p:nvSpPr>
          <p:spPr bwMode="auto">
            <a:xfrm>
              <a:off x="960" y="1680"/>
              <a:ext cx="1008" cy="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78" name="Line 17"/>
            <p:cNvSpPr>
              <a:spLocks noChangeShapeType="1"/>
            </p:cNvSpPr>
            <p:nvPr/>
          </p:nvSpPr>
          <p:spPr bwMode="auto">
            <a:xfrm>
              <a:off x="960" y="1776"/>
              <a:ext cx="1008" cy="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79" name="Line 18"/>
            <p:cNvSpPr>
              <a:spLocks noChangeShapeType="1"/>
            </p:cNvSpPr>
            <p:nvPr/>
          </p:nvSpPr>
          <p:spPr bwMode="auto">
            <a:xfrm>
              <a:off x="960" y="1872"/>
              <a:ext cx="1008" cy="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80" name="Line 19"/>
            <p:cNvSpPr>
              <a:spLocks noChangeShapeType="1"/>
            </p:cNvSpPr>
            <p:nvPr/>
          </p:nvSpPr>
          <p:spPr bwMode="auto">
            <a:xfrm>
              <a:off x="960" y="1968"/>
              <a:ext cx="1008" cy="0"/>
            </a:xfrm>
            <a:prstGeom prst="line">
              <a:avLst/>
            </a:prstGeom>
            <a:noFill/>
            <a:ln w="28575">
              <a:solidFill>
                <a:schemeClr val="accent5">
                  <a:lumMod val="60000"/>
                  <a:lumOff val="40000"/>
                </a:schemeClr>
              </a:solidFill>
              <a:round/>
              <a:headEnd/>
              <a:tailEnd type="triangle" w="med" len="med"/>
            </a:ln>
          </p:spPr>
          <p:txBody>
            <a:bodyPr wrap="none" anchor="ctr"/>
            <a:lstStyle/>
            <a:p>
              <a:endParaRPr lang="es-ES"/>
            </a:p>
          </p:txBody>
        </p:sp>
      </p:grpSp>
      <p:sp>
        <p:nvSpPr>
          <p:cNvPr id="115728" name="Text Box 20"/>
          <p:cNvSpPr txBox="1">
            <a:spLocks noChangeArrowheads="1"/>
          </p:cNvSpPr>
          <p:nvPr/>
        </p:nvSpPr>
        <p:spPr bwMode="auto">
          <a:xfrm>
            <a:off x="4067331" y="4593127"/>
            <a:ext cx="1083950" cy="634020"/>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dirty="0">
                <a:latin typeface="Arial Narrow" pitchFamily="34" charset="0"/>
              </a:rPr>
              <a:t>dirección</a:t>
            </a:r>
            <a:br>
              <a:rPr lang="es-ES_tradnl" altLang="es-ES_tradnl" dirty="0">
                <a:latin typeface="Arial Narrow" pitchFamily="34" charset="0"/>
              </a:rPr>
            </a:br>
            <a:r>
              <a:rPr lang="es-ES_tradnl" altLang="es-ES_tradnl" dirty="0">
                <a:latin typeface="Arial Narrow" pitchFamily="34" charset="0"/>
              </a:rPr>
              <a:t>multiplex</a:t>
            </a:r>
            <a:r>
              <a:rPr lang="es-ES_tradnl" altLang="es-ES_tradnl" sz="2400" dirty="0">
                <a:latin typeface="Arial Narrow" pitchFamily="34" charset="0"/>
              </a:rPr>
              <a:t>.</a:t>
            </a:r>
          </a:p>
        </p:txBody>
      </p:sp>
      <p:sp>
        <p:nvSpPr>
          <p:cNvPr id="115729" name="Rectangle 21"/>
          <p:cNvSpPr>
            <a:spLocks noChangeArrowheads="1"/>
          </p:cNvSpPr>
          <p:nvPr/>
        </p:nvSpPr>
        <p:spPr bwMode="auto">
          <a:xfrm>
            <a:off x="6373813" y="3200400"/>
            <a:ext cx="2438400" cy="304800"/>
          </a:xfrm>
          <a:prstGeom prst="rect">
            <a:avLst/>
          </a:prstGeom>
          <a:solidFill>
            <a:schemeClr val="accent2">
              <a:lumMod val="20000"/>
              <a:lumOff val="80000"/>
            </a:schemeClr>
          </a:solidFill>
          <a:ln w="28575">
            <a:solidFill>
              <a:schemeClr val="accent2">
                <a:lumMod val="60000"/>
                <a:lumOff val="40000"/>
              </a:schemeClr>
            </a:solidFill>
            <a:miter lim="800000"/>
            <a:headEnd/>
            <a:tailEnd/>
          </a:ln>
        </p:spPr>
        <p:txBody>
          <a:bodyPr wrap="none" anchor="ctr"/>
          <a:lstStyle/>
          <a:p>
            <a:pPr>
              <a:spcBef>
                <a:spcPct val="20000"/>
              </a:spcBef>
            </a:pPr>
            <a:r>
              <a:rPr lang="es-ES_tradnl" altLang="es-ES_tradnl" sz="1800" b="1"/>
              <a:t>DIMM 0</a:t>
            </a:r>
            <a:endParaRPr lang="es-ES_tradnl" altLang="es-ES_tradnl" sz="2400"/>
          </a:p>
        </p:txBody>
      </p:sp>
      <p:sp>
        <p:nvSpPr>
          <p:cNvPr id="115730" name="Freeform 22"/>
          <p:cNvSpPr>
            <a:spLocks/>
          </p:cNvSpPr>
          <p:nvPr/>
        </p:nvSpPr>
        <p:spPr bwMode="auto">
          <a:xfrm>
            <a:off x="4926013" y="2590800"/>
            <a:ext cx="1752600" cy="457200"/>
          </a:xfrm>
          <a:custGeom>
            <a:avLst/>
            <a:gdLst>
              <a:gd name="T0" fmla="*/ 0 w 672"/>
              <a:gd name="T1" fmla="*/ 0 h 288"/>
              <a:gd name="T2" fmla="*/ 2147483647 w 672"/>
              <a:gd name="T3" fmla="*/ 0 h 288"/>
              <a:gd name="T4" fmla="*/ 2147483647 w 672"/>
              <a:gd name="T5" fmla="*/ 2147483647 h 288"/>
              <a:gd name="T6" fmla="*/ 0 60000 65536"/>
              <a:gd name="T7" fmla="*/ 0 60000 65536"/>
              <a:gd name="T8" fmla="*/ 0 60000 65536"/>
              <a:gd name="T9" fmla="*/ 0 w 672"/>
              <a:gd name="T10" fmla="*/ 0 h 288"/>
              <a:gd name="T11" fmla="*/ 672 w 672"/>
              <a:gd name="T12" fmla="*/ 288 h 288"/>
            </a:gdLst>
            <a:ahLst/>
            <a:cxnLst>
              <a:cxn ang="T6">
                <a:pos x="T0" y="T1"/>
              </a:cxn>
              <a:cxn ang="T7">
                <a:pos x="T2" y="T3"/>
              </a:cxn>
              <a:cxn ang="T8">
                <a:pos x="T4" y="T5"/>
              </a:cxn>
            </a:cxnLst>
            <a:rect l="T9" t="T10" r="T11" b="T12"/>
            <a:pathLst>
              <a:path w="672" h="288">
                <a:moveTo>
                  <a:pt x="0" y="0"/>
                </a:moveTo>
                <a:lnTo>
                  <a:pt x="672" y="0"/>
                </a:lnTo>
                <a:lnTo>
                  <a:pt x="672" y="288"/>
                </a:lnTo>
              </a:path>
            </a:pathLst>
          </a:cu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31" name="Freeform 23"/>
          <p:cNvSpPr>
            <a:spLocks/>
          </p:cNvSpPr>
          <p:nvPr/>
        </p:nvSpPr>
        <p:spPr bwMode="auto">
          <a:xfrm>
            <a:off x="4926013" y="2133600"/>
            <a:ext cx="3581400" cy="914400"/>
          </a:xfrm>
          <a:custGeom>
            <a:avLst/>
            <a:gdLst>
              <a:gd name="T0" fmla="*/ 0 w 672"/>
              <a:gd name="T1" fmla="*/ 0 h 288"/>
              <a:gd name="T2" fmla="*/ 2147483647 w 672"/>
              <a:gd name="T3" fmla="*/ 0 h 288"/>
              <a:gd name="T4" fmla="*/ 2147483647 w 672"/>
              <a:gd name="T5" fmla="*/ 2147483647 h 288"/>
              <a:gd name="T6" fmla="*/ 0 60000 65536"/>
              <a:gd name="T7" fmla="*/ 0 60000 65536"/>
              <a:gd name="T8" fmla="*/ 0 60000 65536"/>
              <a:gd name="T9" fmla="*/ 0 w 672"/>
              <a:gd name="T10" fmla="*/ 0 h 288"/>
              <a:gd name="T11" fmla="*/ 672 w 672"/>
              <a:gd name="T12" fmla="*/ 288 h 288"/>
            </a:gdLst>
            <a:ahLst/>
            <a:cxnLst>
              <a:cxn ang="T6">
                <a:pos x="T0" y="T1"/>
              </a:cxn>
              <a:cxn ang="T7">
                <a:pos x="T2" y="T3"/>
              </a:cxn>
              <a:cxn ang="T8">
                <a:pos x="T4" y="T5"/>
              </a:cxn>
            </a:cxnLst>
            <a:rect l="T9" t="T10" r="T11" b="T12"/>
            <a:pathLst>
              <a:path w="672" h="288">
                <a:moveTo>
                  <a:pt x="0" y="0"/>
                </a:moveTo>
                <a:lnTo>
                  <a:pt x="672" y="0"/>
                </a:lnTo>
                <a:lnTo>
                  <a:pt x="672" y="288"/>
                </a:lnTo>
              </a:path>
            </a:pathLst>
          </a:cu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32" name="Rectangle 24"/>
          <p:cNvSpPr>
            <a:spLocks noChangeArrowheads="1"/>
          </p:cNvSpPr>
          <p:nvPr/>
        </p:nvSpPr>
        <p:spPr bwMode="auto">
          <a:xfrm>
            <a:off x="6373813" y="3962400"/>
            <a:ext cx="2438400" cy="304800"/>
          </a:xfrm>
          <a:prstGeom prst="rect">
            <a:avLst/>
          </a:prstGeom>
          <a:solidFill>
            <a:schemeClr val="accent2">
              <a:lumMod val="20000"/>
              <a:lumOff val="80000"/>
            </a:schemeClr>
          </a:solidFill>
          <a:ln w="28575">
            <a:solidFill>
              <a:schemeClr val="accent2">
                <a:lumMod val="60000"/>
                <a:lumOff val="40000"/>
              </a:schemeClr>
            </a:solidFill>
            <a:miter lim="800000"/>
            <a:headEnd/>
            <a:tailEnd/>
          </a:ln>
        </p:spPr>
        <p:txBody>
          <a:bodyPr wrap="none" anchor="ctr"/>
          <a:lstStyle/>
          <a:p>
            <a:pPr>
              <a:spcBef>
                <a:spcPct val="20000"/>
              </a:spcBef>
            </a:pPr>
            <a:r>
              <a:rPr lang="es-ES_tradnl" altLang="es-ES_tradnl" sz="1800" b="1"/>
              <a:t>DIMM 1</a:t>
            </a:r>
          </a:p>
        </p:txBody>
      </p:sp>
      <p:sp>
        <p:nvSpPr>
          <p:cNvPr id="115733" name="Rectangle 25"/>
          <p:cNvSpPr>
            <a:spLocks noChangeArrowheads="1"/>
          </p:cNvSpPr>
          <p:nvPr/>
        </p:nvSpPr>
        <p:spPr bwMode="auto">
          <a:xfrm>
            <a:off x="6373813" y="4724400"/>
            <a:ext cx="2438400" cy="304800"/>
          </a:xfrm>
          <a:prstGeom prst="rect">
            <a:avLst/>
          </a:prstGeom>
          <a:solidFill>
            <a:schemeClr val="accent2">
              <a:lumMod val="20000"/>
              <a:lumOff val="80000"/>
            </a:schemeClr>
          </a:solidFill>
          <a:ln w="28575">
            <a:solidFill>
              <a:schemeClr val="accent2">
                <a:lumMod val="60000"/>
                <a:lumOff val="40000"/>
              </a:schemeClr>
            </a:solidFill>
            <a:miter lim="800000"/>
            <a:headEnd/>
            <a:tailEnd/>
          </a:ln>
        </p:spPr>
        <p:txBody>
          <a:bodyPr wrap="none" anchor="ctr"/>
          <a:lstStyle/>
          <a:p>
            <a:pPr>
              <a:spcBef>
                <a:spcPct val="20000"/>
              </a:spcBef>
            </a:pPr>
            <a:r>
              <a:rPr lang="es-ES_tradnl" altLang="es-ES_tradnl" sz="1800" b="1"/>
              <a:t>DIMM 2</a:t>
            </a:r>
          </a:p>
        </p:txBody>
      </p:sp>
      <p:sp>
        <p:nvSpPr>
          <p:cNvPr id="115734" name="Rectangle 26"/>
          <p:cNvSpPr>
            <a:spLocks noChangeArrowheads="1"/>
          </p:cNvSpPr>
          <p:nvPr/>
        </p:nvSpPr>
        <p:spPr bwMode="auto">
          <a:xfrm>
            <a:off x="6373813" y="5486400"/>
            <a:ext cx="2438400" cy="304800"/>
          </a:xfrm>
          <a:prstGeom prst="rect">
            <a:avLst/>
          </a:prstGeom>
          <a:solidFill>
            <a:schemeClr val="accent2">
              <a:lumMod val="20000"/>
              <a:lumOff val="80000"/>
            </a:schemeClr>
          </a:solidFill>
          <a:ln w="28575">
            <a:solidFill>
              <a:schemeClr val="accent2">
                <a:lumMod val="60000"/>
                <a:lumOff val="40000"/>
              </a:schemeClr>
            </a:solidFill>
            <a:miter lim="800000"/>
            <a:headEnd/>
            <a:tailEnd/>
          </a:ln>
        </p:spPr>
        <p:txBody>
          <a:bodyPr wrap="none" anchor="ctr"/>
          <a:lstStyle/>
          <a:p>
            <a:pPr>
              <a:spcBef>
                <a:spcPct val="20000"/>
              </a:spcBef>
            </a:pPr>
            <a:r>
              <a:rPr lang="es-ES_tradnl" altLang="es-ES_tradnl" sz="1800" b="1"/>
              <a:t>DIMM 3</a:t>
            </a:r>
          </a:p>
        </p:txBody>
      </p:sp>
      <p:sp>
        <p:nvSpPr>
          <p:cNvPr id="115735" name="Line 33"/>
          <p:cNvSpPr>
            <a:spLocks noChangeShapeType="1"/>
          </p:cNvSpPr>
          <p:nvPr/>
        </p:nvSpPr>
        <p:spPr bwMode="auto">
          <a:xfrm>
            <a:off x="6678613" y="3581400"/>
            <a:ext cx="0" cy="3048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36" name="Line 34"/>
          <p:cNvSpPr>
            <a:spLocks noChangeShapeType="1"/>
          </p:cNvSpPr>
          <p:nvPr/>
        </p:nvSpPr>
        <p:spPr bwMode="auto">
          <a:xfrm>
            <a:off x="8507413" y="3581400"/>
            <a:ext cx="0" cy="3048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37" name="Freeform 47"/>
          <p:cNvSpPr>
            <a:spLocks/>
          </p:cNvSpPr>
          <p:nvPr/>
        </p:nvSpPr>
        <p:spPr bwMode="auto">
          <a:xfrm>
            <a:off x="4926013" y="3124200"/>
            <a:ext cx="1447800" cy="228600"/>
          </a:xfrm>
          <a:custGeom>
            <a:avLst/>
            <a:gdLst>
              <a:gd name="T0" fmla="*/ 0 w 912"/>
              <a:gd name="T1" fmla="*/ 0 h 144"/>
              <a:gd name="T2" fmla="*/ 2147483647 w 912"/>
              <a:gd name="T3" fmla="*/ 0 h 144"/>
              <a:gd name="T4" fmla="*/ 2147483647 w 912"/>
              <a:gd name="T5" fmla="*/ 2147483647 h 144"/>
              <a:gd name="T6" fmla="*/ 2147483647 w 912"/>
              <a:gd name="T7" fmla="*/ 2147483647 h 144"/>
              <a:gd name="T8" fmla="*/ 0 60000 65536"/>
              <a:gd name="T9" fmla="*/ 0 60000 65536"/>
              <a:gd name="T10" fmla="*/ 0 60000 65536"/>
              <a:gd name="T11" fmla="*/ 0 60000 65536"/>
              <a:gd name="T12" fmla="*/ 0 w 912"/>
              <a:gd name="T13" fmla="*/ 0 h 144"/>
              <a:gd name="T14" fmla="*/ 912 w 912"/>
              <a:gd name="T15" fmla="*/ 144 h 144"/>
            </a:gdLst>
            <a:ahLst/>
            <a:cxnLst>
              <a:cxn ang="T8">
                <a:pos x="T0" y="T1"/>
              </a:cxn>
              <a:cxn ang="T9">
                <a:pos x="T2" y="T3"/>
              </a:cxn>
              <a:cxn ang="T10">
                <a:pos x="T4" y="T5"/>
              </a:cxn>
              <a:cxn ang="T11">
                <a:pos x="T6" y="T7"/>
              </a:cxn>
            </a:cxnLst>
            <a:rect l="T12" t="T13" r="T14" b="T15"/>
            <a:pathLst>
              <a:path w="912" h="144">
                <a:moveTo>
                  <a:pt x="0" y="0"/>
                </a:moveTo>
                <a:lnTo>
                  <a:pt x="432" y="0"/>
                </a:lnTo>
                <a:lnTo>
                  <a:pt x="432" y="144"/>
                </a:lnTo>
                <a:lnTo>
                  <a:pt x="912" y="144"/>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38" name="Freeform 48"/>
          <p:cNvSpPr>
            <a:spLocks/>
          </p:cNvSpPr>
          <p:nvPr/>
        </p:nvSpPr>
        <p:spPr bwMode="auto">
          <a:xfrm>
            <a:off x="4926013" y="3276600"/>
            <a:ext cx="1447800" cy="838200"/>
          </a:xfrm>
          <a:custGeom>
            <a:avLst/>
            <a:gdLst>
              <a:gd name="T0" fmla="*/ 0 w 912"/>
              <a:gd name="T1" fmla="*/ 0 h 528"/>
              <a:gd name="T2" fmla="*/ 2147483647 w 912"/>
              <a:gd name="T3" fmla="*/ 0 h 528"/>
              <a:gd name="T4" fmla="*/ 2147483647 w 912"/>
              <a:gd name="T5" fmla="*/ 2147483647 h 528"/>
              <a:gd name="T6" fmla="*/ 2147483647 w 912"/>
              <a:gd name="T7" fmla="*/ 2147483647 h 528"/>
              <a:gd name="T8" fmla="*/ 0 60000 65536"/>
              <a:gd name="T9" fmla="*/ 0 60000 65536"/>
              <a:gd name="T10" fmla="*/ 0 60000 65536"/>
              <a:gd name="T11" fmla="*/ 0 60000 65536"/>
              <a:gd name="T12" fmla="*/ 0 w 912"/>
              <a:gd name="T13" fmla="*/ 0 h 528"/>
              <a:gd name="T14" fmla="*/ 912 w 912"/>
              <a:gd name="T15" fmla="*/ 528 h 528"/>
            </a:gdLst>
            <a:ahLst/>
            <a:cxnLst>
              <a:cxn ang="T8">
                <a:pos x="T0" y="T1"/>
              </a:cxn>
              <a:cxn ang="T9">
                <a:pos x="T2" y="T3"/>
              </a:cxn>
              <a:cxn ang="T10">
                <a:pos x="T4" y="T5"/>
              </a:cxn>
              <a:cxn ang="T11">
                <a:pos x="T6" y="T7"/>
              </a:cxn>
            </a:cxnLst>
            <a:rect l="T12" t="T13" r="T14" b="T15"/>
            <a:pathLst>
              <a:path w="912" h="528">
                <a:moveTo>
                  <a:pt x="0" y="0"/>
                </a:moveTo>
                <a:lnTo>
                  <a:pt x="336" y="0"/>
                </a:lnTo>
                <a:lnTo>
                  <a:pt x="336" y="528"/>
                </a:lnTo>
                <a:lnTo>
                  <a:pt x="912" y="528"/>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39" name="Freeform 49"/>
          <p:cNvSpPr>
            <a:spLocks/>
          </p:cNvSpPr>
          <p:nvPr/>
        </p:nvSpPr>
        <p:spPr bwMode="auto">
          <a:xfrm>
            <a:off x="4926013" y="3429000"/>
            <a:ext cx="1447800" cy="1447800"/>
          </a:xfrm>
          <a:custGeom>
            <a:avLst/>
            <a:gdLst>
              <a:gd name="T0" fmla="*/ 0 w 912"/>
              <a:gd name="T1" fmla="*/ 0 h 912"/>
              <a:gd name="T2" fmla="*/ 2147483647 w 912"/>
              <a:gd name="T3" fmla="*/ 0 h 912"/>
              <a:gd name="T4" fmla="*/ 2147483647 w 912"/>
              <a:gd name="T5" fmla="*/ 2147483647 h 912"/>
              <a:gd name="T6" fmla="*/ 2147483647 w 912"/>
              <a:gd name="T7" fmla="*/ 2147483647 h 912"/>
              <a:gd name="T8" fmla="*/ 0 60000 65536"/>
              <a:gd name="T9" fmla="*/ 0 60000 65536"/>
              <a:gd name="T10" fmla="*/ 0 60000 65536"/>
              <a:gd name="T11" fmla="*/ 0 60000 65536"/>
              <a:gd name="T12" fmla="*/ 0 w 912"/>
              <a:gd name="T13" fmla="*/ 0 h 912"/>
              <a:gd name="T14" fmla="*/ 912 w 912"/>
              <a:gd name="T15" fmla="*/ 912 h 912"/>
            </a:gdLst>
            <a:ahLst/>
            <a:cxnLst>
              <a:cxn ang="T8">
                <a:pos x="T0" y="T1"/>
              </a:cxn>
              <a:cxn ang="T9">
                <a:pos x="T2" y="T3"/>
              </a:cxn>
              <a:cxn ang="T10">
                <a:pos x="T4" y="T5"/>
              </a:cxn>
              <a:cxn ang="T11">
                <a:pos x="T6" y="T7"/>
              </a:cxn>
            </a:cxnLst>
            <a:rect l="T12" t="T13" r="T14" b="T15"/>
            <a:pathLst>
              <a:path w="912" h="912">
                <a:moveTo>
                  <a:pt x="0" y="0"/>
                </a:moveTo>
                <a:lnTo>
                  <a:pt x="240" y="0"/>
                </a:lnTo>
                <a:lnTo>
                  <a:pt x="240" y="912"/>
                </a:lnTo>
                <a:lnTo>
                  <a:pt x="912" y="912"/>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40" name="Freeform 50"/>
          <p:cNvSpPr>
            <a:spLocks/>
          </p:cNvSpPr>
          <p:nvPr/>
        </p:nvSpPr>
        <p:spPr bwMode="auto">
          <a:xfrm>
            <a:off x="4926013" y="3581400"/>
            <a:ext cx="1447800" cy="2057400"/>
          </a:xfrm>
          <a:custGeom>
            <a:avLst/>
            <a:gdLst>
              <a:gd name="T0" fmla="*/ 0 w 912"/>
              <a:gd name="T1" fmla="*/ 0 h 1296"/>
              <a:gd name="T2" fmla="*/ 2147483647 w 912"/>
              <a:gd name="T3" fmla="*/ 0 h 1296"/>
              <a:gd name="T4" fmla="*/ 2147483647 w 912"/>
              <a:gd name="T5" fmla="*/ 2147483647 h 1296"/>
              <a:gd name="T6" fmla="*/ 2147483647 w 912"/>
              <a:gd name="T7" fmla="*/ 2147483647 h 1296"/>
              <a:gd name="T8" fmla="*/ 0 60000 65536"/>
              <a:gd name="T9" fmla="*/ 0 60000 65536"/>
              <a:gd name="T10" fmla="*/ 0 60000 65536"/>
              <a:gd name="T11" fmla="*/ 0 60000 65536"/>
              <a:gd name="T12" fmla="*/ 0 w 912"/>
              <a:gd name="T13" fmla="*/ 0 h 1296"/>
              <a:gd name="T14" fmla="*/ 912 w 912"/>
              <a:gd name="T15" fmla="*/ 1296 h 1296"/>
            </a:gdLst>
            <a:ahLst/>
            <a:cxnLst>
              <a:cxn ang="T8">
                <a:pos x="T0" y="T1"/>
              </a:cxn>
              <a:cxn ang="T9">
                <a:pos x="T2" y="T3"/>
              </a:cxn>
              <a:cxn ang="T10">
                <a:pos x="T4" y="T5"/>
              </a:cxn>
              <a:cxn ang="T11">
                <a:pos x="T6" y="T7"/>
              </a:cxn>
            </a:cxnLst>
            <a:rect l="T12" t="T13" r="T14" b="T15"/>
            <a:pathLst>
              <a:path w="912" h="1296">
                <a:moveTo>
                  <a:pt x="0" y="0"/>
                </a:moveTo>
                <a:lnTo>
                  <a:pt x="144" y="0"/>
                </a:lnTo>
                <a:lnTo>
                  <a:pt x="144" y="1296"/>
                </a:lnTo>
                <a:lnTo>
                  <a:pt x="912" y="1296"/>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5741" name="Line 51"/>
          <p:cNvSpPr>
            <a:spLocks noChangeShapeType="1"/>
          </p:cNvSpPr>
          <p:nvPr/>
        </p:nvSpPr>
        <p:spPr bwMode="auto">
          <a:xfrm rot="5400000">
            <a:off x="4354513" y="5372100"/>
            <a:ext cx="0" cy="685800"/>
          </a:xfrm>
          <a:prstGeom prst="line">
            <a:avLst/>
          </a:prstGeom>
          <a:noFill/>
          <a:ln w="57150">
            <a:solidFill>
              <a:schemeClr val="accent2">
                <a:lumMod val="50000"/>
              </a:schemeClr>
            </a:solidFill>
            <a:round/>
            <a:headEnd type="triangle" w="med" len="med"/>
            <a:tailEnd type="triangle" w="med" len="med"/>
          </a:ln>
        </p:spPr>
        <p:txBody>
          <a:bodyPr wrap="none" anchor="ctr"/>
          <a:lstStyle/>
          <a:p>
            <a:endParaRPr lang="es-ES"/>
          </a:p>
        </p:txBody>
      </p:sp>
      <p:sp>
        <p:nvSpPr>
          <p:cNvPr id="115742" name="Text Box 52"/>
          <p:cNvSpPr txBox="1">
            <a:spLocks noChangeArrowheads="1"/>
          </p:cNvSpPr>
          <p:nvPr/>
        </p:nvSpPr>
        <p:spPr bwMode="auto">
          <a:xfrm>
            <a:off x="4142217" y="5814010"/>
            <a:ext cx="699229" cy="338554"/>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dirty="0">
                <a:latin typeface="Arial Narrow" pitchFamily="34" charset="0"/>
              </a:rPr>
              <a:t>datos</a:t>
            </a:r>
          </a:p>
        </p:txBody>
      </p:sp>
      <p:sp>
        <p:nvSpPr>
          <p:cNvPr id="115743" name="Line 53"/>
          <p:cNvSpPr>
            <a:spLocks noChangeShapeType="1"/>
          </p:cNvSpPr>
          <p:nvPr/>
        </p:nvSpPr>
        <p:spPr bwMode="auto">
          <a:xfrm rot="5400000">
            <a:off x="1751013" y="5372100"/>
            <a:ext cx="0" cy="685800"/>
          </a:xfrm>
          <a:prstGeom prst="line">
            <a:avLst/>
          </a:prstGeom>
          <a:noFill/>
          <a:ln w="57150">
            <a:solidFill>
              <a:schemeClr val="accent2">
                <a:lumMod val="50000"/>
              </a:schemeClr>
            </a:solidFill>
            <a:round/>
            <a:headEnd type="triangle" w="med" len="med"/>
            <a:tailEnd type="triangle" w="med" len="med"/>
          </a:ln>
        </p:spPr>
        <p:txBody>
          <a:bodyPr wrap="none" anchor="ctr"/>
          <a:lstStyle/>
          <a:p>
            <a:endParaRPr lang="es-ES"/>
          </a:p>
        </p:txBody>
      </p:sp>
      <p:sp>
        <p:nvSpPr>
          <p:cNvPr id="115744" name="Text Box 54"/>
          <p:cNvSpPr txBox="1">
            <a:spLocks noChangeArrowheads="1"/>
          </p:cNvSpPr>
          <p:nvPr/>
        </p:nvSpPr>
        <p:spPr bwMode="auto">
          <a:xfrm>
            <a:off x="692579" y="5585410"/>
            <a:ext cx="699229" cy="338554"/>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dirty="0">
                <a:latin typeface="Arial Narrow" pitchFamily="34" charset="0"/>
              </a:rPr>
              <a:t>datos</a:t>
            </a:r>
          </a:p>
        </p:txBody>
      </p:sp>
      <p:sp>
        <p:nvSpPr>
          <p:cNvPr id="115745" name="Text Box 55"/>
          <p:cNvSpPr txBox="1">
            <a:spLocks noChangeArrowheads="1"/>
          </p:cNvSpPr>
          <p:nvPr/>
        </p:nvSpPr>
        <p:spPr bwMode="auto">
          <a:xfrm>
            <a:off x="392540" y="3982035"/>
            <a:ext cx="1027845" cy="338554"/>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dirty="0">
                <a:latin typeface="Arial Narrow" pitchFamily="34" charset="0"/>
              </a:rPr>
              <a:t>dirección</a:t>
            </a:r>
          </a:p>
        </p:txBody>
      </p:sp>
      <p:sp>
        <p:nvSpPr>
          <p:cNvPr id="115746" name="Text Box 56"/>
          <p:cNvSpPr txBox="1">
            <a:spLocks noChangeArrowheads="1"/>
          </p:cNvSpPr>
          <p:nvPr/>
        </p:nvSpPr>
        <p:spPr bwMode="auto">
          <a:xfrm>
            <a:off x="596900" y="2206625"/>
            <a:ext cx="890588" cy="384175"/>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altLang="es-ES_tradnl" sz="2400" dirty="0">
                <a:latin typeface="Arial Narrow" pitchFamily="34" charset="0"/>
              </a:rPr>
              <a:t>BE</a:t>
            </a:r>
            <a:r>
              <a:rPr lang="es-ES_tradnl" altLang="es-ES_tradnl" sz="2400" b="1" baseline="-25000" dirty="0">
                <a:latin typeface="Arial Narrow" pitchFamily="34" charset="0"/>
              </a:rPr>
              <a:t>0..7</a:t>
            </a:r>
            <a:r>
              <a:rPr lang="es-ES_tradnl" altLang="es-ES_tradnl" sz="2400" dirty="0">
                <a:latin typeface="Arial Narrow" pitchFamily="34" charset="0"/>
              </a:rPr>
              <a:t>*</a:t>
            </a:r>
          </a:p>
        </p:txBody>
      </p:sp>
      <p:sp>
        <p:nvSpPr>
          <p:cNvPr id="115747" name="Line 57"/>
          <p:cNvSpPr>
            <a:spLocks noChangeShapeType="1"/>
          </p:cNvSpPr>
          <p:nvPr/>
        </p:nvSpPr>
        <p:spPr bwMode="auto">
          <a:xfrm>
            <a:off x="1649413" y="2209800"/>
            <a:ext cx="0" cy="304800"/>
          </a:xfrm>
          <a:prstGeom prst="line">
            <a:avLst/>
          </a:prstGeom>
          <a:noFill/>
          <a:ln w="57150">
            <a:solidFill>
              <a:schemeClr val="accent4">
                <a:lumMod val="75000"/>
              </a:schemeClr>
            </a:solidFill>
            <a:prstDash val="sysDot"/>
            <a:round/>
            <a:headEnd/>
            <a:tailEnd/>
          </a:ln>
        </p:spPr>
        <p:txBody>
          <a:bodyPr wrap="none" anchor="ctr"/>
          <a:lstStyle/>
          <a:p>
            <a:endParaRPr lang="es-ES"/>
          </a:p>
        </p:txBody>
      </p:sp>
      <p:sp>
        <p:nvSpPr>
          <p:cNvPr id="115748" name="Line 58"/>
          <p:cNvSpPr>
            <a:spLocks noChangeShapeType="1"/>
          </p:cNvSpPr>
          <p:nvPr/>
        </p:nvSpPr>
        <p:spPr bwMode="auto">
          <a:xfrm>
            <a:off x="4011613" y="2133600"/>
            <a:ext cx="685800" cy="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49" name="Line 59"/>
          <p:cNvSpPr>
            <a:spLocks noChangeShapeType="1"/>
          </p:cNvSpPr>
          <p:nvPr/>
        </p:nvSpPr>
        <p:spPr bwMode="auto">
          <a:xfrm>
            <a:off x="4011613" y="2590800"/>
            <a:ext cx="685800" cy="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50" name="Line 60"/>
          <p:cNvSpPr>
            <a:spLocks noChangeShapeType="1"/>
          </p:cNvSpPr>
          <p:nvPr/>
        </p:nvSpPr>
        <p:spPr bwMode="auto">
          <a:xfrm>
            <a:off x="4316413" y="2209800"/>
            <a:ext cx="0" cy="304800"/>
          </a:xfrm>
          <a:prstGeom prst="line">
            <a:avLst/>
          </a:prstGeom>
          <a:noFill/>
          <a:ln w="57150">
            <a:solidFill>
              <a:schemeClr val="accent6">
                <a:lumMod val="60000"/>
                <a:lumOff val="40000"/>
              </a:schemeClr>
            </a:solidFill>
            <a:prstDash val="sysDot"/>
            <a:round/>
            <a:headEnd/>
            <a:tailEnd/>
          </a:ln>
        </p:spPr>
        <p:txBody>
          <a:bodyPr wrap="none" anchor="ctr"/>
          <a:lstStyle/>
          <a:p>
            <a:endParaRPr lang="es-ES"/>
          </a:p>
        </p:txBody>
      </p:sp>
      <p:sp>
        <p:nvSpPr>
          <p:cNvPr id="115751" name="Line 61"/>
          <p:cNvSpPr>
            <a:spLocks noChangeShapeType="1"/>
          </p:cNvSpPr>
          <p:nvPr/>
        </p:nvSpPr>
        <p:spPr bwMode="auto">
          <a:xfrm>
            <a:off x="7364413" y="2819400"/>
            <a:ext cx="685800" cy="0"/>
          </a:xfrm>
          <a:prstGeom prst="line">
            <a:avLst/>
          </a:prstGeom>
          <a:noFill/>
          <a:ln w="38100">
            <a:solidFill>
              <a:schemeClr val="accent6">
                <a:lumMod val="60000"/>
                <a:lumOff val="40000"/>
              </a:schemeClr>
            </a:solidFill>
            <a:prstDash val="sysDot"/>
            <a:round/>
            <a:headEnd/>
            <a:tailEnd/>
          </a:ln>
        </p:spPr>
        <p:txBody>
          <a:bodyPr wrap="none" anchor="ctr"/>
          <a:lstStyle/>
          <a:p>
            <a:endParaRPr lang="es-ES"/>
          </a:p>
        </p:txBody>
      </p:sp>
      <p:sp>
        <p:nvSpPr>
          <p:cNvPr id="115752" name="Line 62"/>
          <p:cNvSpPr>
            <a:spLocks noChangeShapeType="1"/>
          </p:cNvSpPr>
          <p:nvPr/>
        </p:nvSpPr>
        <p:spPr bwMode="auto">
          <a:xfrm>
            <a:off x="7364413" y="3733800"/>
            <a:ext cx="685800" cy="0"/>
          </a:xfrm>
          <a:prstGeom prst="line">
            <a:avLst/>
          </a:prstGeom>
          <a:noFill/>
          <a:ln w="38100">
            <a:solidFill>
              <a:schemeClr val="accent6">
                <a:lumMod val="60000"/>
                <a:lumOff val="40000"/>
              </a:schemeClr>
            </a:solidFill>
            <a:prstDash val="sysDot"/>
            <a:round/>
            <a:headEnd/>
            <a:tailEnd/>
          </a:ln>
        </p:spPr>
        <p:txBody>
          <a:bodyPr wrap="none" anchor="ctr"/>
          <a:lstStyle/>
          <a:p>
            <a:endParaRPr lang="es-ES"/>
          </a:p>
        </p:txBody>
      </p:sp>
      <p:sp>
        <p:nvSpPr>
          <p:cNvPr id="115753" name="Line 63"/>
          <p:cNvSpPr>
            <a:spLocks noChangeShapeType="1"/>
          </p:cNvSpPr>
          <p:nvPr/>
        </p:nvSpPr>
        <p:spPr bwMode="auto">
          <a:xfrm>
            <a:off x="6678613" y="4343400"/>
            <a:ext cx="0" cy="3048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54" name="Line 64"/>
          <p:cNvSpPr>
            <a:spLocks noChangeShapeType="1"/>
          </p:cNvSpPr>
          <p:nvPr/>
        </p:nvSpPr>
        <p:spPr bwMode="auto">
          <a:xfrm>
            <a:off x="8507413" y="4343400"/>
            <a:ext cx="0" cy="3048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55" name="Line 65"/>
          <p:cNvSpPr>
            <a:spLocks noChangeShapeType="1"/>
          </p:cNvSpPr>
          <p:nvPr/>
        </p:nvSpPr>
        <p:spPr bwMode="auto">
          <a:xfrm>
            <a:off x="7364413" y="4495800"/>
            <a:ext cx="685800" cy="0"/>
          </a:xfrm>
          <a:prstGeom prst="line">
            <a:avLst/>
          </a:prstGeom>
          <a:noFill/>
          <a:ln w="38100">
            <a:solidFill>
              <a:schemeClr val="accent6">
                <a:lumMod val="60000"/>
                <a:lumOff val="40000"/>
              </a:schemeClr>
            </a:solidFill>
            <a:prstDash val="sysDot"/>
            <a:round/>
            <a:headEnd/>
            <a:tailEnd/>
          </a:ln>
        </p:spPr>
        <p:txBody>
          <a:bodyPr wrap="none" anchor="ctr"/>
          <a:lstStyle/>
          <a:p>
            <a:endParaRPr lang="es-ES"/>
          </a:p>
        </p:txBody>
      </p:sp>
      <p:sp>
        <p:nvSpPr>
          <p:cNvPr id="115756" name="Line 66"/>
          <p:cNvSpPr>
            <a:spLocks noChangeShapeType="1"/>
          </p:cNvSpPr>
          <p:nvPr/>
        </p:nvSpPr>
        <p:spPr bwMode="auto">
          <a:xfrm>
            <a:off x="6678613" y="5105400"/>
            <a:ext cx="0" cy="3048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57" name="Line 67"/>
          <p:cNvSpPr>
            <a:spLocks noChangeShapeType="1"/>
          </p:cNvSpPr>
          <p:nvPr/>
        </p:nvSpPr>
        <p:spPr bwMode="auto">
          <a:xfrm>
            <a:off x="8507413" y="5105400"/>
            <a:ext cx="0" cy="304800"/>
          </a:xfrm>
          <a:prstGeom prst="line">
            <a:avLst/>
          </a:prstGeom>
          <a:noFill/>
          <a:ln w="28575">
            <a:solidFill>
              <a:schemeClr val="accent6">
                <a:lumMod val="60000"/>
                <a:lumOff val="40000"/>
              </a:schemeClr>
            </a:solidFill>
            <a:round/>
            <a:headEnd/>
            <a:tailEnd type="triangle" w="med" len="med"/>
          </a:ln>
        </p:spPr>
        <p:txBody>
          <a:bodyPr wrap="none" anchor="ctr"/>
          <a:lstStyle/>
          <a:p>
            <a:endParaRPr lang="es-ES"/>
          </a:p>
        </p:txBody>
      </p:sp>
      <p:sp>
        <p:nvSpPr>
          <p:cNvPr id="115758" name="Line 68"/>
          <p:cNvSpPr>
            <a:spLocks noChangeShapeType="1"/>
          </p:cNvSpPr>
          <p:nvPr/>
        </p:nvSpPr>
        <p:spPr bwMode="auto">
          <a:xfrm>
            <a:off x="7364413" y="5257800"/>
            <a:ext cx="685800" cy="0"/>
          </a:xfrm>
          <a:prstGeom prst="line">
            <a:avLst/>
          </a:prstGeom>
          <a:noFill/>
          <a:ln w="38100">
            <a:solidFill>
              <a:schemeClr val="accent6">
                <a:lumMod val="60000"/>
                <a:lumOff val="40000"/>
              </a:schemeClr>
            </a:solidFill>
            <a:prstDash val="sysDot"/>
            <a:round/>
            <a:headEnd/>
            <a:tailEnd/>
          </a:ln>
        </p:spPr>
        <p:txBody>
          <a:bodyPr wrap="none" anchor="ctr"/>
          <a:lstStyle/>
          <a:p>
            <a:endParaRPr lang="es-ES"/>
          </a:p>
        </p:txBody>
      </p:sp>
      <p:grpSp>
        <p:nvGrpSpPr>
          <p:cNvPr id="3" name="Group 69"/>
          <p:cNvGrpSpPr>
            <a:grpSpLocks/>
          </p:cNvGrpSpPr>
          <p:nvPr/>
        </p:nvGrpSpPr>
        <p:grpSpPr bwMode="auto">
          <a:xfrm>
            <a:off x="6731000" y="2570161"/>
            <a:ext cx="307975" cy="568324"/>
            <a:chOff x="4240" y="1619"/>
            <a:chExt cx="194" cy="358"/>
          </a:xfrm>
        </p:grpSpPr>
        <p:sp>
          <p:nvSpPr>
            <p:cNvPr id="115775" name="Text Box 70"/>
            <p:cNvSpPr txBox="1">
              <a:spLocks noChangeArrowheads="1"/>
            </p:cNvSpPr>
            <p:nvPr/>
          </p:nvSpPr>
          <p:spPr bwMode="auto">
            <a:xfrm rot="5400000">
              <a:off x="4158" y="1701"/>
              <a:ext cx="358" cy="194"/>
            </a:xfrm>
            <a:prstGeom prst="rect">
              <a:avLst/>
            </a:prstGeom>
            <a:noFill/>
            <a:ln w="28575">
              <a:noFill/>
              <a:miter lim="800000"/>
              <a:headEnd/>
              <a:tailEnd/>
            </a:ln>
          </p:spPr>
          <p:txBody>
            <a:bodyPr wrap="none" lIns="0" tIns="0" rIns="0" bIns="0"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0</a:t>
              </a:r>
              <a:endParaRPr lang="es-ES_tradnl" dirty="0"/>
            </a:p>
          </p:txBody>
        </p:sp>
        <p:sp>
          <p:nvSpPr>
            <p:cNvPr id="115776" name="Line 71"/>
            <p:cNvSpPr>
              <a:spLocks noChangeShapeType="1"/>
            </p:cNvSpPr>
            <p:nvPr/>
          </p:nvSpPr>
          <p:spPr bwMode="auto">
            <a:xfrm rot="5400000">
              <a:off x="4270" y="1776"/>
              <a:ext cx="299" cy="0"/>
            </a:xfrm>
            <a:prstGeom prst="line">
              <a:avLst/>
            </a:prstGeom>
            <a:noFill/>
            <a:ln w="19050">
              <a:solidFill>
                <a:schemeClr val="tx1"/>
              </a:solidFill>
              <a:round/>
              <a:headEnd/>
              <a:tailEnd/>
            </a:ln>
          </p:spPr>
          <p:txBody>
            <a:bodyPr wrap="none" anchor="ctr"/>
            <a:lstStyle/>
            <a:p>
              <a:endParaRPr lang="es-ES"/>
            </a:p>
          </p:txBody>
        </p:sp>
      </p:grpSp>
      <p:grpSp>
        <p:nvGrpSpPr>
          <p:cNvPr id="4" name="Group 72"/>
          <p:cNvGrpSpPr>
            <a:grpSpLocks/>
          </p:cNvGrpSpPr>
          <p:nvPr/>
        </p:nvGrpSpPr>
        <p:grpSpPr bwMode="auto">
          <a:xfrm>
            <a:off x="5651500" y="3017838"/>
            <a:ext cx="365125" cy="304800"/>
            <a:chOff x="3557" y="1901"/>
            <a:chExt cx="230" cy="192"/>
          </a:xfrm>
        </p:grpSpPr>
        <p:sp>
          <p:nvSpPr>
            <p:cNvPr id="115773" name="Text Box 73"/>
            <p:cNvSpPr txBox="1">
              <a:spLocks noChangeArrowheads="1"/>
            </p:cNvSpPr>
            <p:nvPr/>
          </p:nvSpPr>
          <p:spPr bwMode="auto">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0</a:t>
              </a:r>
              <a:endParaRPr lang="es-ES_tradnl"/>
            </a:p>
          </p:txBody>
        </p:sp>
        <p:sp>
          <p:nvSpPr>
            <p:cNvPr id="115774" name="Line 74"/>
            <p:cNvSpPr>
              <a:spLocks noChangeShapeType="1"/>
            </p:cNvSpPr>
            <p:nvPr/>
          </p:nvSpPr>
          <p:spPr bwMode="auto">
            <a:xfrm>
              <a:off x="3575" y="1916"/>
              <a:ext cx="148" cy="0"/>
            </a:xfrm>
            <a:prstGeom prst="line">
              <a:avLst/>
            </a:prstGeom>
            <a:noFill/>
            <a:ln w="19050">
              <a:solidFill>
                <a:schemeClr val="tx1"/>
              </a:solidFill>
              <a:round/>
              <a:headEnd/>
              <a:tailEnd/>
            </a:ln>
          </p:spPr>
          <p:txBody>
            <a:bodyPr wrap="none" anchor="ctr"/>
            <a:lstStyle/>
            <a:p>
              <a:endParaRPr lang="es-ES"/>
            </a:p>
          </p:txBody>
        </p:sp>
      </p:grpSp>
      <p:grpSp>
        <p:nvGrpSpPr>
          <p:cNvPr id="5" name="Group 75"/>
          <p:cNvGrpSpPr>
            <a:grpSpLocks/>
          </p:cNvGrpSpPr>
          <p:nvPr/>
        </p:nvGrpSpPr>
        <p:grpSpPr bwMode="auto">
          <a:xfrm>
            <a:off x="5651500" y="3789363"/>
            <a:ext cx="365125" cy="304800"/>
            <a:chOff x="3557" y="1901"/>
            <a:chExt cx="230" cy="192"/>
          </a:xfrm>
        </p:grpSpPr>
        <p:sp>
          <p:nvSpPr>
            <p:cNvPr id="115771" name="Text Box 76"/>
            <p:cNvSpPr txBox="1">
              <a:spLocks noChangeArrowheads="1"/>
            </p:cNvSpPr>
            <p:nvPr/>
          </p:nvSpPr>
          <p:spPr bwMode="auto">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1</a:t>
              </a:r>
              <a:endParaRPr lang="es-ES_tradnl"/>
            </a:p>
          </p:txBody>
        </p:sp>
        <p:sp>
          <p:nvSpPr>
            <p:cNvPr id="115772" name="Line 77"/>
            <p:cNvSpPr>
              <a:spLocks noChangeShapeType="1"/>
            </p:cNvSpPr>
            <p:nvPr/>
          </p:nvSpPr>
          <p:spPr bwMode="auto">
            <a:xfrm>
              <a:off x="3575" y="1916"/>
              <a:ext cx="148" cy="0"/>
            </a:xfrm>
            <a:prstGeom prst="line">
              <a:avLst/>
            </a:prstGeom>
            <a:noFill/>
            <a:ln w="19050">
              <a:solidFill>
                <a:schemeClr val="tx1"/>
              </a:solidFill>
              <a:round/>
              <a:headEnd/>
              <a:tailEnd/>
            </a:ln>
          </p:spPr>
          <p:txBody>
            <a:bodyPr wrap="none" anchor="ctr"/>
            <a:lstStyle/>
            <a:p>
              <a:endParaRPr lang="es-ES"/>
            </a:p>
          </p:txBody>
        </p:sp>
      </p:grpSp>
      <p:grpSp>
        <p:nvGrpSpPr>
          <p:cNvPr id="6" name="Group 78"/>
          <p:cNvGrpSpPr>
            <a:grpSpLocks/>
          </p:cNvGrpSpPr>
          <p:nvPr/>
        </p:nvGrpSpPr>
        <p:grpSpPr bwMode="auto">
          <a:xfrm>
            <a:off x="5651500" y="4508500"/>
            <a:ext cx="365125" cy="304800"/>
            <a:chOff x="3557" y="1901"/>
            <a:chExt cx="230" cy="192"/>
          </a:xfrm>
        </p:grpSpPr>
        <p:sp>
          <p:nvSpPr>
            <p:cNvPr id="115769" name="Text Box 79"/>
            <p:cNvSpPr txBox="1">
              <a:spLocks noChangeArrowheads="1"/>
            </p:cNvSpPr>
            <p:nvPr/>
          </p:nvSpPr>
          <p:spPr bwMode="auto">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2</a:t>
              </a:r>
              <a:endParaRPr lang="es-ES_tradnl"/>
            </a:p>
          </p:txBody>
        </p:sp>
        <p:sp>
          <p:nvSpPr>
            <p:cNvPr id="115770" name="Line 80"/>
            <p:cNvSpPr>
              <a:spLocks noChangeShapeType="1"/>
            </p:cNvSpPr>
            <p:nvPr/>
          </p:nvSpPr>
          <p:spPr bwMode="auto">
            <a:xfrm>
              <a:off x="3575" y="1916"/>
              <a:ext cx="148" cy="0"/>
            </a:xfrm>
            <a:prstGeom prst="line">
              <a:avLst/>
            </a:prstGeom>
            <a:noFill/>
            <a:ln w="19050">
              <a:solidFill>
                <a:schemeClr val="tx1"/>
              </a:solidFill>
              <a:round/>
              <a:headEnd/>
              <a:tailEnd/>
            </a:ln>
          </p:spPr>
          <p:txBody>
            <a:bodyPr wrap="none" anchor="ctr"/>
            <a:lstStyle/>
            <a:p>
              <a:endParaRPr lang="es-ES"/>
            </a:p>
          </p:txBody>
        </p:sp>
      </p:grpSp>
      <p:grpSp>
        <p:nvGrpSpPr>
          <p:cNvPr id="7" name="Group 81"/>
          <p:cNvGrpSpPr>
            <a:grpSpLocks/>
          </p:cNvGrpSpPr>
          <p:nvPr/>
        </p:nvGrpSpPr>
        <p:grpSpPr bwMode="auto">
          <a:xfrm>
            <a:off x="5651500" y="5300663"/>
            <a:ext cx="365125" cy="304800"/>
            <a:chOff x="3557" y="1901"/>
            <a:chExt cx="230" cy="192"/>
          </a:xfrm>
        </p:grpSpPr>
        <p:sp>
          <p:nvSpPr>
            <p:cNvPr id="115767" name="Text Box 82"/>
            <p:cNvSpPr txBox="1">
              <a:spLocks noChangeArrowheads="1"/>
            </p:cNvSpPr>
            <p:nvPr/>
          </p:nvSpPr>
          <p:spPr bwMode="auto">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3</a:t>
              </a:r>
              <a:endParaRPr lang="es-ES_tradnl"/>
            </a:p>
          </p:txBody>
        </p:sp>
        <p:sp>
          <p:nvSpPr>
            <p:cNvPr id="115768" name="Line 83"/>
            <p:cNvSpPr>
              <a:spLocks noChangeShapeType="1"/>
            </p:cNvSpPr>
            <p:nvPr/>
          </p:nvSpPr>
          <p:spPr bwMode="auto">
            <a:xfrm>
              <a:off x="3575" y="1916"/>
              <a:ext cx="148" cy="0"/>
            </a:xfrm>
            <a:prstGeom prst="line">
              <a:avLst/>
            </a:prstGeom>
            <a:noFill/>
            <a:ln w="19050">
              <a:solidFill>
                <a:schemeClr val="tx1"/>
              </a:solidFill>
              <a:round/>
              <a:headEnd/>
              <a:tailEnd/>
            </a:ln>
          </p:spPr>
          <p:txBody>
            <a:bodyPr wrap="none" anchor="ctr"/>
            <a:lstStyle/>
            <a:p>
              <a:endParaRPr lang="es-ES"/>
            </a:p>
          </p:txBody>
        </p:sp>
      </p:grpSp>
      <p:grpSp>
        <p:nvGrpSpPr>
          <p:cNvPr id="8" name="Group 84"/>
          <p:cNvGrpSpPr>
            <a:grpSpLocks/>
          </p:cNvGrpSpPr>
          <p:nvPr/>
        </p:nvGrpSpPr>
        <p:grpSpPr bwMode="auto">
          <a:xfrm>
            <a:off x="8529638" y="2562227"/>
            <a:ext cx="307975" cy="568326"/>
            <a:chOff x="4240" y="1619"/>
            <a:chExt cx="194" cy="358"/>
          </a:xfrm>
        </p:grpSpPr>
        <p:sp>
          <p:nvSpPr>
            <p:cNvPr id="115765" name="Text Box 85"/>
            <p:cNvSpPr txBox="1">
              <a:spLocks noChangeArrowheads="1"/>
            </p:cNvSpPr>
            <p:nvPr/>
          </p:nvSpPr>
          <p:spPr bwMode="auto">
            <a:xfrm rot="5400000">
              <a:off x="4158" y="1701"/>
              <a:ext cx="358" cy="194"/>
            </a:xfrm>
            <a:prstGeom prst="rect">
              <a:avLst/>
            </a:prstGeom>
            <a:noFill/>
            <a:ln w="28575">
              <a:noFill/>
              <a:miter lim="800000"/>
              <a:headEnd/>
              <a:tailEnd/>
            </a:ln>
          </p:spPr>
          <p:txBody>
            <a:bodyPr wrap="none" lIns="0" tIns="0" rIns="0" bIns="0" anchor="ctr">
              <a:spAutoFit/>
            </a:bodyPr>
            <a:lstStyle/>
            <a:p>
              <a:pPr>
                <a:spcBef>
                  <a:spcPct val="20000"/>
                </a:spcBef>
              </a:pPr>
              <a:r>
                <a:rPr lang="es-ES_tradnl" dirty="0">
                  <a:latin typeface="Arial Narrow" pitchFamily="34" charset="0"/>
                </a:rPr>
                <a:t>DQM</a:t>
              </a:r>
              <a:r>
                <a:rPr lang="es-ES_tradnl" b="1" baseline="-25000" dirty="0">
                  <a:latin typeface="Arial Narrow" pitchFamily="34" charset="0"/>
                </a:rPr>
                <a:t>7</a:t>
              </a:r>
              <a:endParaRPr lang="es-ES_tradnl" dirty="0"/>
            </a:p>
          </p:txBody>
        </p:sp>
        <p:sp>
          <p:nvSpPr>
            <p:cNvPr id="115766" name="Line 86"/>
            <p:cNvSpPr>
              <a:spLocks noChangeShapeType="1"/>
            </p:cNvSpPr>
            <p:nvPr/>
          </p:nvSpPr>
          <p:spPr bwMode="auto">
            <a:xfrm rot="5400000">
              <a:off x="4270" y="1776"/>
              <a:ext cx="299" cy="0"/>
            </a:xfrm>
            <a:prstGeom prst="line">
              <a:avLst/>
            </a:prstGeom>
            <a:noFill/>
            <a:ln w="19050">
              <a:solidFill>
                <a:schemeClr val="tx1"/>
              </a:solidFill>
              <a:round/>
              <a:headEnd/>
              <a:tailEnd/>
            </a:ln>
          </p:spPr>
          <p:txBody>
            <a:bodyPr wrap="none" anchor="ctr"/>
            <a:lstStyle/>
            <a:p>
              <a:endParaRPr lang="es-ES"/>
            </a:p>
          </p:txBody>
        </p:sp>
      </p:grpSp>
      <p:sp>
        <p:nvSpPr>
          <p:cNvPr id="9" name="2 Marcador de número de diapositiva">
            <a:extLst>
              <a:ext uri="{FF2B5EF4-FFF2-40B4-BE49-F238E27FC236}">
                <a16:creationId xmlns:a16="http://schemas.microsoft.com/office/drawing/2014/main" id="{92EBA350-EDAE-0EC1-0DAE-48A766EF6FD3}"/>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145</a:t>
            </a:fld>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268538" y="3197225"/>
            <a:ext cx="685800" cy="1663700"/>
            <a:chOff x="1429" y="1933"/>
            <a:chExt cx="432" cy="1048"/>
          </a:xfrm>
        </p:grpSpPr>
        <p:sp>
          <p:nvSpPr>
            <p:cNvPr id="116787" name="Line 3"/>
            <p:cNvSpPr>
              <a:spLocks noChangeShapeType="1"/>
            </p:cNvSpPr>
            <p:nvPr/>
          </p:nvSpPr>
          <p:spPr bwMode="auto">
            <a:xfrm>
              <a:off x="1565" y="2523"/>
              <a:ext cx="296"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6788" name="Freeform 4"/>
            <p:cNvSpPr>
              <a:spLocks/>
            </p:cNvSpPr>
            <p:nvPr/>
          </p:nvSpPr>
          <p:spPr bwMode="auto">
            <a:xfrm>
              <a:off x="1429" y="2568"/>
              <a:ext cx="432" cy="413"/>
            </a:xfrm>
            <a:custGeom>
              <a:avLst/>
              <a:gdLst>
                <a:gd name="T0" fmla="*/ 0 w 528"/>
                <a:gd name="T1" fmla="*/ 0 h 432"/>
                <a:gd name="T2" fmla="*/ 47 w 528"/>
                <a:gd name="T3" fmla="*/ 0 h 432"/>
                <a:gd name="T4" fmla="*/ 47 w 528"/>
                <a:gd name="T5" fmla="*/ 315 h 432"/>
                <a:gd name="T6" fmla="*/ 129 w 528"/>
                <a:gd name="T7" fmla="*/ 315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sp>
          <p:nvSpPr>
            <p:cNvPr id="116789" name="Freeform 5"/>
            <p:cNvSpPr>
              <a:spLocks/>
            </p:cNvSpPr>
            <p:nvPr/>
          </p:nvSpPr>
          <p:spPr bwMode="auto">
            <a:xfrm flipV="1">
              <a:off x="1429" y="1933"/>
              <a:ext cx="432" cy="635"/>
            </a:xfrm>
            <a:custGeom>
              <a:avLst/>
              <a:gdLst>
                <a:gd name="T0" fmla="*/ 0 w 528"/>
                <a:gd name="T1" fmla="*/ 0 h 432"/>
                <a:gd name="T2" fmla="*/ 47 w 528"/>
                <a:gd name="T3" fmla="*/ 0 h 432"/>
                <a:gd name="T4" fmla="*/ 47 w 528"/>
                <a:gd name="T5" fmla="*/ 6400 h 432"/>
                <a:gd name="T6" fmla="*/ 129 w 528"/>
                <a:gd name="T7" fmla="*/ 6400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grpSp>
      <p:sp>
        <p:nvSpPr>
          <p:cNvPr id="116740" name="Rectangle 6"/>
          <p:cNvSpPr>
            <a:spLocks noChangeArrowheads="1"/>
          </p:cNvSpPr>
          <p:nvPr/>
        </p:nvSpPr>
        <p:spPr bwMode="blackWhite">
          <a:xfrm>
            <a:off x="2987675" y="3989388"/>
            <a:ext cx="720725" cy="1066800"/>
          </a:xfrm>
          <a:prstGeom prst="rect">
            <a:avLst/>
          </a:prstGeom>
          <a:solidFill>
            <a:schemeClr val="accent1">
              <a:lumMod val="40000"/>
              <a:lumOff val="60000"/>
            </a:schemeClr>
          </a:solidFill>
          <a:ln w="9525">
            <a:solidFill>
              <a:schemeClr val="accent1">
                <a:lumMod val="75000"/>
              </a:schemeClr>
            </a:solidFill>
            <a:miter lim="800000"/>
            <a:headEnd/>
            <a:tailEnd/>
          </a:ln>
          <a:scene3d>
            <a:camera prst="legacyObliqueTopRight"/>
            <a:lightRig rig="legacyFlat3" dir="b"/>
          </a:scene3d>
          <a:sp3d extrusionH="49200" prstMaterial="legacyPlastic">
            <a:bevelT w="13500" h="13500" prst="angle"/>
            <a:bevelB w="13500" h="13500" prst="angle"/>
            <a:extrusionClr>
              <a:srgbClr val="5F5F5F"/>
            </a:extrusionClr>
          </a:sp3d>
        </p:spPr>
        <p:txBody>
          <a:bodyPr wrap="none" anchor="ctr">
            <a:flatTx/>
          </a:bodyPr>
          <a:lstStyle/>
          <a:p>
            <a:pPr>
              <a:spcBef>
                <a:spcPct val="20000"/>
              </a:spcBef>
            </a:pPr>
            <a:r>
              <a:rPr lang="es-ES_tradnl" sz="2400">
                <a:latin typeface="Arial Narrow" pitchFamily="34" charset="0"/>
              </a:rPr>
              <a:t>MUX</a:t>
            </a:r>
            <a:endParaRPr lang="es-ES_tradnl" sz="2400"/>
          </a:p>
        </p:txBody>
      </p:sp>
      <p:sp>
        <p:nvSpPr>
          <p:cNvPr id="116741" name="Rectangle 7"/>
          <p:cNvSpPr>
            <a:spLocks noGrp="1" noChangeArrowheads="1"/>
          </p:cNvSpPr>
          <p:nvPr>
            <p:ph type="title"/>
          </p:nvPr>
        </p:nvSpPr>
        <p:spPr/>
        <p:txBody>
          <a:bodyPr/>
          <a:lstStyle/>
          <a:p>
            <a:r>
              <a:rPr lang="es-ES"/>
              <a:t>Ejemplo de configuración DRAM estándar</a:t>
            </a:r>
          </a:p>
        </p:txBody>
      </p:sp>
      <p:sp>
        <p:nvSpPr>
          <p:cNvPr id="116742" name="Rectangle 8"/>
          <p:cNvSpPr>
            <a:spLocks noGrp="1" noChangeArrowheads="1"/>
          </p:cNvSpPr>
          <p:nvPr>
            <p:ph type="body" idx="1"/>
          </p:nvPr>
        </p:nvSpPr>
        <p:spPr>
          <a:xfrm>
            <a:off x="323850" y="981075"/>
            <a:ext cx="8569325" cy="1584325"/>
          </a:xfrm>
        </p:spPr>
        <p:txBody>
          <a:bodyPr/>
          <a:lstStyle/>
          <a:p>
            <a:r>
              <a:rPr lang="es-ES"/>
              <a:t>W=64 bits, 4 módulos DIMM en dos canales</a:t>
            </a:r>
          </a:p>
          <a:p>
            <a:pPr lvl="1"/>
            <a:r>
              <a:rPr lang="es-ES"/>
              <a:t>Los más frecuentes ahora (2006 en adelante)</a:t>
            </a:r>
          </a:p>
          <a:p>
            <a:pPr lvl="1"/>
            <a:r>
              <a:rPr lang="es-ES"/>
              <a:t>Permite duplicar el ancho de banda de los módulos</a:t>
            </a:r>
          </a:p>
          <a:p>
            <a:pPr lvl="1"/>
            <a:r>
              <a:rPr lang="es-ES"/>
              <a:t>¡Se obliga a una cierta distribución de módulos entre los canales!</a:t>
            </a:r>
          </a:p>
        </p:txBody>
      </p:sp>
      <p:sp>
        <p:nvSpPr>
          <p:cNvPr id="116743" name="Rectangle 9"/>
          <p:cNvSpPr>
            <a:spLocks noChangeArrowheads="1"/>
          </p:cNvSpPr>
          <p:nvPr/>
        </p:nvSpPr>
        <p:spPr bwMode="auto">
          <a:xfrm>
            <a:off x="2057400" y="2781300"/>
            <a:ext cx="1905000" cy="3168650"/>
          </a:xfrm>
          <a:prstGeom prst="rect">
            <a:avLst/>
          </a:prstGeom>
          <a:solidFill>
            <a:srgbClr val="D6F7FE"/>
          </a:solidFill>
          <a:ln w="76200">
            <a:solidFill>
              <a:schemeClr val="accent1">
                <a:lumMod val="75000"/>
              </a:schemeClr>
            </a:solidFill>
            <a:miter lim="800000"/>
            <a:headEnd/>
            <a:tailEnd/>
          </a:ln>
        </p:spPr>
        <p:txBody>
          <a:bodyPr wrap="none" anchor="ctr"/>
          <a:lstStyle/>
          <a:p>
            <a:endParaRPr lang="es-ES"/>
          </a:p>
        </p:txBody>
      </p:sp>
      <p:sp>
        <p:nvSpPr>
          <p:cNvPr id="116744" name="Line 10"/>
          <p:cNvSpPr>
            <a:spLocks noChangeShapeType="1"/>
          </p:cNvSpPr>
          <p:nvPr/>
        </p:nvSpPr>
        <p:spPr bwMode="auto">
          <a:xfrm>
            <a:off x="1358900" y="4221163"/>
            <a:ext cx="685800"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grpSp>
        <p:nvGrpSpPr>
          <p:cNvPr id="3" name="Group 11"/>
          <p:cNvGrpSpPr>
            <a:grpSpLocks/>
          </p:cNvGrpSpPr>
          <p:nvPr/>
        </p:nvGrpSpPr>
        <p:grpSpPr bwMode="auto">
          <a:xfrm>
            <a:off x="2133600" y="3341688"/>
            <a:ext cx="685800" cy="1663700"/>
            <a:chOff x="1344" y="2024"/>
            <a:chExt cx="432" cy="1048"/>
          </a:xfrm>
        </p:grpSpPr>
        <p:sp>
          <p:nvSpPr>
            <p:cNvPr id="116784" name="Line 12"/>
            <p:cNvSpPr>
              <a:spLocks noChangeShapeType="1"/>
            </p:cNvSpPr>
            <p:nvPr/>
          </p:nvSpPr>
          <p:spPr bwMode="auto">
            <a:xfrm>
              <a:off x="1344" y="2592"/>
              <a:ext cx="432"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6785" name="Freeform 13"/>
            <p:cNvSpPr>
              <a:spLocks/>
            </p:cNvSpPr>
            <p:nvPr/>
          </p:nvSpPr>
          <p:spPr bwMode="auto">
            <a:xfrm>
              <a:off x="1344" y="2640"/>
              <a:ext cx="432" cy="432"/>
            </a:xfrm>
            <a:custGeom>
              <a:avLst/>
              <a:gdLst>
                <a:gd name="T0" fmla="*/ 0 w 528"/>
                <a:gd name="T1" fmla="*/ 0 h 432"/>
                <a:gd name="T2" fmla="*/ 47 w 528"/>
                <a:gd name="T3" fmla="*/ 0 h 432"/>
                <a:gd name="T4" fmla="*/ 47 w 528"/>
                <a:gd name="T5" fmla="*/ 432 h 432"/>
                <a:gd name="T6" fmla="*/ 129 w 528"/>
                <a:gd name="T7" fmla="*/ 432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sp>
          <p:nvSpPr>
            <p:cNvPr id="116786" name="Freeform 14"/>
            <p:cNvSpPr>
              <a:spLocks/>
            </p:cNvSpPr>
            <p:nvPr/>
          </p:nvSpPr>
          <p:spPr bwMode="auto">
            <a:xfrm flipV="1">
              <a:off x="1344" y="2024"/>
              <a:ext cx="432" cy="520"/>
            </a:xfrm>
            <a:custGeom>
              <a:avLst/>
              <a:gdLst>
                <a:gd name="T0" fmla="*/ 0 w 528"/>
                <a:gd name="T1" fmla="*/ 0 h 432"/>
                <a:gd name="T2" fmla="*/ 47 w 528"/>
                <a:gd name="T3" fmla="*/ 0 h 432"/>
                <a:gd name="T4" fmla="*/ 47 w 528"/>
                <a:gd name="T5" fmla="*/ 1584 h 432"/>
                <a:gd name="T6" fmla="*/ 129 w 528"/>
                <a:gd name="T7" fmla="*/ 1584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0"/>
                  </a:moveTo>
                  <a:lnTo>
                    <a:pt x="192" y="0"/>
                  </a:lnTo>
                  <a:lnTo>
                    <a:pt x="192" y="432"/>
                  </a:lnTo>
                  <a:lnTo>
                    <a:pt x="528" y="432"/>
                  </a:lnTo>
                </a:path>
              </a:pathLst>
            </a:custGeom>
            <a:noFill/>
            <a:ln w="76200">
              <a:solidFill>
                <a:schemeClr val="accent3">
                  <a:lumMod val="75000"/>
                </a:schemeClr>
              </a:solidFill>
              <a:round/>
              <a:headEnd/>
              <a:tailEnd type="triangle" w="med" len="med"/>
            </a:ln>
          </p:spPr>
          <p:txBody>
            <a:bodyPr wrap="none" anchor="ctr"/>
            <a:lstStyle/>
            <a:p>
              <a:endParaRPr lang="es-ES"/>
            </a:p>
          </p:txBody>
        </p:sp>
      </p:grpSp>
      <p:sp>
        <p:nvSpPr>
          <p:cNvPr id="116746" name="Line 15"/>
          <p:cNvSpPr>
            <a:spLocks noChangeShapeType="1"/>
          </p:cNvSpPr>
          <p:nvPr/>
        </p:nvSpPr>
        <p:spPr bwMode="auto">
          <a:xfrm>
            <a:off x="3995738" y="3068638"/>
            <a:ext cx="990600" cy="0"/>
          </a:xfrm>
          <a:prstGeom prst="line">
            <a:avLst/>
          </a:prstGeom>
          <a:noFill/>
          <a:ln w="28575">
            <a:solidFill>
              <a:schemeClr val="tx2"/>
            </a:solidFill>
            <a:round/>
            <a:headEnd/>
            <a:tailEnd type="triangle" w="med" len="med"/>
          </a:ln>
        </p:spPr>
        <p:txBody>
          <a:bodyPr wrap="none" anchor="ctr"/>
          <a:lstStyle/>
          <a:p>
            <a:endParaRPr lang="es-ES"/>
          </a:p>
        </p:txBody>
      </p:sp>
      <p:sp>
        <p:nvSpPr>
          <p:cNvPr id="116747" name="Line 16"/>
          <p:cNvSpPr>
            <a:spLocks noChangeShapeType="1"/>
          </p:cNvSpPr>
          <p:nvPr/>
        </p:nvSpPr>
        <p:spPr bwMode="auto">
          <a:xfrm>
            <a:off x="3995738" y="3213100"/>
            <a:ext cx="990600" cy="0"/>
          </a:xfrm>
          <a:prstGeom prst="line">
            <a:avLst/>
          </a:prstGeom>
          <a:noFill/>
          <a:ln w="28575">
            <a:solidFill>
              <a:schemeClr val="tx2"/>
            </a:solidFill>
            <a:round/>
            <a:headEnd/>
            <a:tailEnd type="triangle" w="med" len="med"/>
          </a:ln>
        </p:spPr>
        <p:txBody>
          <a:bodyPr wrap="none" anchor="ctr"/>
          <a:lstStyle/>
          <a:p>
            <a:endParaRPr lang="es-ES"/>
          </a:p>
        </p:txBody>
      </p:sp>
      <p:sp>
        <p:nvSpPr>
          <p:cNvPr id="116748" name="Line 17"/>
          <p:cNvSpPr>
            <a:spLocks noChangeShapeType="1"/>
          </p:cNvSpPr>
          <p:nvPr/>
        </p:nvSpPr>
        <p:spPr bwMode="auto">
          <a:xfrm>
            <a:off x="3995738" y="4797425"/>
            <a:ext cx="990600" cy="0"/>
          </a:xfrm>
          <a:prstGeom prst="line">
            <a:avLst/>
          </a:prstGeom>
          <a:noFill/>
          <a:ln w="28575">
            <a:solidFill>
              <a:schemeClr val="tx2"/>
            </a:solidFill>
            <a:round/>
            <a:headEnd/>
            <a:tailEnd type="triangle" w="med" len="med"/>
          </a:ln>
        </p:spPr>
        <p:txBody>
          <a:bodyPr wrap="none" anchor="ctr"/>
          <a:lstStyle/>
          <a:p>
            <a:endParaRPr lang="es-ES"/>
          </a:p>
        </p:txBody>
      </p:sp>
      <p:sp>
        <p:nvSpPr>
          <p:cNvPr id="116749" name="Line 18"/>
          <p:cNvSpPr>
            <a:spLocks noChangeShapeType="1"/>
          </p:cNvSpPr>
          <p:nvPr/>
        </p:nvSpPr>
        <p:spPr bwMode="auto">
          <a:xfrm>
            <a:off x="3995738" y="4949825"/>
            <a:ext cx="990600" cy="0"/>
          </a:xfrm>
          <a:prstGeom prst="line">
            <a:avLst/>
          </a:prstGeom>
          <a:noFill/>
          <a:ln w="28575">
            <a:solidFill>
              <a:schemeClr val="tx2"/>
            </a:solidFill>
            <a:round/>
            <a:headEnd/>
            <a:tailEnd type="triangle" w="med" len="med"/>
          </a:ln>
        </p:spPr>
        <p:txBody>
          <a:bodyPr wrap="none" anchor="ctr"/>
          <a:lstStyle/>
          <a:p>
            <a:endParaRPr lang="es-ES"/>
          </a:p>
        </p:txBody>
      </p:sp>
      <p:sp>
        <p:nvSpPr>
          <p:cNvPr id="116750" name="Line 19"/>
          <p:cNvSpPr>
            <a:spLocks noChangeShapeType="1"/>
          </p:cNvSpPr>
          <p:nvPr/>
        </p:nvSpPr>
        <p:spPr bwMode="auto">
          <a:xfrm rot="5400000">
            <a:off x="1674813" y="5246688"/>
            <a:ext cx="0" cy="685800"/>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116751" name="Text Box 20"/>
          <p:cNvSpPr txBox="1">
            <a:spLocks noChangeArrowheads="1"/>
          </p:cNvSpPr>
          <p:nvPr/>
        </p:nvSpPr>
        <p:spPr bwMode="auto">
          <a:xfrm>
            <a:off x="427038" y="5372100"/>
            <a:ext cx="839787" cy="384175"/>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sz="2400">
                <a:latin typeface="Arial Narrow" pitchFamily="34" charset="0"/>
              </a:rPr>
              <a:t>Datos</a:t>
            </a:r>
          </a:p>
        </p:txBody>
      </p:sp>
      <p:sp>
        <p:nvSpPr>
          <p:cNvPr id="116752" name="Text Box 21"/>
          <p:cNvSpPr txBox="1">
            <a:spLocks noChangeArrowheads="1"/>
          </p:cNvSpPr>
          <p:nvPr/>
        </p:nvSpPr>
        <p:spPr bwMode="auto">
          <a:xfrm>
            <a:off x="271463" y="4052888"/>
            <a:ext cx="1089025" cy="384175"/>
          </a:xfrm>
          <a:prstGeom prst="rect">
            <a:avLst/>
          </a:prstGeom>
          <a:noFill/>
          <a:ln w="28575">
            <a:noFill/>
            <a:miter lim="800000"/>
            <a:headEnd/>
            <a:tailEnd/>
          </a:ln>
        </p:spPr>
        <p:txBody>
          <a:bodyPr wrap="none" anchor="ctr">
            <a:spAutoFit/>
          </a:bodyPr>
          <a:lstStyle/>
          <a:p>
            <a:pPr>
              <a:lnSpc>
                <a:spcPct val="80000"/>
              </a:lnSpc>
              <a:spcBef>
                <a:spcPct val="20000"/>
              </a:spcBef>
            </a:pPr>
            <a:r>
              <a:rPr lang="es-ES_tradnl" sz="2400">
                <a:latin typeface="Arial Narrow" pitchFamily="34" charset="0"/>
              </a:rPr>
              <a:t>Direcció</a:t>
            </a:r>
          </a:p>
        </p:txBody>
      </p:sp>
      <p:sp>
        <p:nvSpPr>
          <p:cNvPr id="116753" name="Rectangle 22"/>
          <p:cNvSpPr>
            <a:spLocks noChangeArrowheads="1"/>
          </p:cNvSpPr>
          <p:nvPr/>
        </p:nvSpPr>
        <p:spPr bwMode="blackWhite">
          <a:xfrm>
            <a:off x="5076825" y="4581525"/>
            <a:ext cx="3889375" cy="1295400"/>
          </a:xfrm>
          <a:prstGeom prst="rect">
            <a:avLst/>
          </a:prstGeom>
          <a:solidFill>
            <a:schemeClr val="accent2">
              <a:lumMod val="20000"/>
              <a:lumOff val="80000"/>
            </a:schemeClr>
          </a:solidFill>
          <a:ln w="9525">
            <a:solidFill>
              <a:schemeClr val="accent5">
                <a:lumMod val="60000"/>
                <a:lumOff val="40000"/>
              </a:schemeClr>
            </a:solidFill>
            <a:miter lim="800000"/>
            <a:headEnd/>
            <a:tailEnd/>
          </a:ln>
          <a:scene3d>
            <a:camera prst="legacyObliqueTopRight"/>
            <a:lightRig rig="legacyFlat3" dir="b"/>
          </a:scene3d>
          <a:sp3d extrusionH="49200" prstMaterial="legacyMatte">
            <a:bevelT w="13500" h="13500" prst="angle"/>
            <a:bevelB w="13500" h="13500" prst="angle"/>
            <a:extrusionClr>
              <a:srgbClr val="5F5F5F"/>
            </a:extrusionClr>
          </a:sp3d>
        </p:spPr>
        <p:txBody>
          <a:bodyPr wrap="none" anchor="ctr">
            <a:flatTx/>
          </a:bodyPr>
          <a:lstStyle/>
          <a:p>
            <a:endParaRPr lang="es-ES"/>
          </a:p>
        </p:txBody>
      </p:sp>
      <p:sp>
        <p:nvSpPr>
          <p:cNvPr id="116754" name="Rectangle 23"/>
          <p:cNvSpPr>
            <a:spLocks noChangeArrowheads="1"/>
          </p:cNvSpPr>
          <p:nvPr/>
        </p:nvSpPr>
        <p:spPr bwMode="blackWhite">
          <a:xfrm>
            <a:off x="6397625" y="4857750"/>
            <a:ext cx="2438400" cy="304800"/>
          </a:xfrm>
          <a:prstGeom prst="rect">
            <a:avLst/>
          </a:prstGeom>
          <a:noFill/>
          <a:ln w="28575">
            <a:solidFill>
              <a:schemeClr val="accent2">
                <a:lumMod val="50000"/>
              </a:schemeClr>
            </a:solidFill>
            <a:miter lim="800000"/>
            <a:headEnd/>
            <a:tailEnd/>
          </a:ln>
        </p:spPr>
        <p:txBody>
          <a:bodyPr wrap="none" anchor="ctr"/>
          <a:lstStyle/>
          <a:p>
            <a:pPr>
              <a:spcBef>
                <a:spcPct val="20000"/>
              </a:spcBef>
            </a:pPr>
            <a:r>
              <a:rPr lang="es-ES_tradnl" sz="1800" b="1"/>
              <a:t>DIMM 0</a:t>
            </a:r>
            <a:endParaRPr lang="es-ES_tradnl" sz="2400"/>
          </a:p>
        </p:txBody>
      </p:sp>
      <p:sp>
        <p:nvSpPr>
          <p:cNvPr id="116755" name="Rectangle 24"/>
          <p:cNvSpPr>
            <a:spLocks noChangeArrowheads="1"/>
          </p:cNvSpPr>
          <p:nvPr/>
        </p:nvSpPr>
        <p:spPr bwMode="blackWhite">
          <a:xfrm>
            <a:off x="6397625" y="5373688"/>
            <a:ext cx="2438400" cy="304800"/>
          </a:xfrm>
          <a:prstGeom prst="rect">
            <a:avLst/>
          </a:prstGeom>
          <a:noFill/>
          <a:ln w="28575">
            <a:solidFill>
              <a:schemeClr val="accent2">
                <a:lumMod val="50000"/>
              </a:schemeClr>
            </a:solidFill>
            <a:miter lim="800000"/>
            <a:headEnd/>
            <a:tailEnd/>
          </a:ln>
        </p:spPr>
        <p:txBody>
          <a:bodyPr wrap="none" anchor="ctr"/>
          <a:lstStyle/>
          <a:p>
            <a:pPr>
              <a:spcBef>
                <a:spcPct val="20000"/>
              </a:spcBef>
            </a:pPr>
            <a:r>
              <a:rPr lang="es-ES_tradnl" sz="1800" b="1"/>
              <a:t>DIMM 1</a:t>
            </a:r>
          </a:p>
        </p:txBody>
      </p:sp>
      <p:grpSp>
        <p:nvGrpSpPr>
          <p:cNvPr id="4" name="Group 25"/>
          <p:cNvGrpSpPr>
            <a:grpSpLocks/>
          </p:cNvGrpSpPr>
          <p:nvPr/>
        </p:nvGrpSpPr>
        <p:grpSpPr bwMode="auto">
          <a:xfrm>
            <a:off x="5724525" y="4675188"/>
            <a:ext cx="365125" cy="304800"/>
            <a:chOff x="3557" y="1901"/>
            <a:chExt cx="230" cy="192"/>
          </a:xfrm>
        </p:grpSpPr>
        <p:sp>
          <p:nvSpPr>
            <p:cNvPr id="116782" name="Text Box 26"/>
            <p:cNvSpPr txBox="1">
              <a:spLocks noChangeArrowheads="1"/>
            </p:cNvSpPr>
            <p:nvPr/>
          </p:nvSpPr>
          <p:spPr bwMode="blackWhite">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0</a:t>
              </a:r>
              <a:endParaRPr lang="es-ES_tradnl"/>
            </a:p>
          </p:txBody>
        </p:sp>
        <p:sp>
          <p:nvSpPr>
            <p:cNvPr id="116783" name="Line 27"/>
            <p:cNvSpPr>
              <a:spLocks noChangeShapeType="1"/>
            </p:cNvSpPr>
            <p:nvPr/>
          </p:nvSpPr>
          <p:spPr bwMode="blackWhite">
            <a:xfrm>
              <a:off x="3575" y="1916"/>
              <a:ext cx="148" cy="0"/>
            </a:xfrm>
            <a:prstGeom prst="line">
              <a:avLst/>
            </a:prstGeom>
            <a:noFill/>
            <a:ln w="19050">
              <a:solidFill>
                <a:schemeClr val="tx1"/>
              </a:solidFill>
              <a:round/>
              <a:headEnd/>
              <a:tailEnd/>
            </a:ln>
          </p:spPr>
          <p:txBody>
            <a:bodyPr wrap="none" anchor="ctr"/>
            <a:lstStyle/>
            <a:p>
              <a:endParaRPr lang="es-ES"/>
            </a:p>
          </p:txBody>
        </p:sp>
      </p:grpSp>
      <p:sp>
        <p:nvSpPr>
          <p:cNvPr id="116757" name="Freeform 28"/>
          <p:cNvSpPr>
            <a:spLocks/>
          </p:cNvSpPr>
          <p:nvPr/>
        </p:nvSpPr>
        <p:spPr bwMode="blackWhite">
          <a:xfrm>
            <a:off x="5186363" y="4781550"/>
            <a:ext cx="1211262" cy="228600"/>
          </a:xfrm>
          <a:custGeom>
            <a:avLst/>
            <a:gdLst>
              <a:gd name="T0" fmla="*/ 0 w 763"/>
              <a:gd name="T1" fmla="*/ 0 h 144"/>
              <a:gd name="T2" fmla="*/ 2147483647 w 763"/>
              <a:gd name="T3" fmla="*/ 0 h 144"/>
              <a:gd name="T4" fmla="*/ 2147483647 w 763"/>
              <a:gd name="T5" fmla="*/ 2147483647 h 144"/>
              <a:gd name="T6" fmla="*/ 2147483647 w 763"/>
              <a:gd name="T7" fmla="*/ 2147483647 h 144"/>
              <a:gd name="T8" fmla="*/ 0 60000 65536"/>
              <a:gd name="T9" fmla="*/ 0 60000 65536"/>
              <a:gd name="T10" fmla="*/ 0 60000 65536"/>
              <a:gd name="T11" fmla="*/ 0 60000 65536"/>
              <a:gd name="T12" fmla="*/ 0 w 763"/>
              <a:gd name="T13" fmla="*/ 0 h 144"/>
              <a:gd name="T14" fmla="*/ 763 w 763"/>
              <a:gd name="T15" fmla="*/ 144 h 144"/>
            </a:gdLst>
            <a:ahLst/>
            <a:cxnLst>
              <a:cxn ang="T8">
                <a:pos x="T0" y="T1"/>
              </a:cxn>
              <a:cxn ang="T9">
                <a:pos x="T2" y="T3"/>
              </a:cxn>
              <a:cxn ang="T10">
                <a:pos x="T4" y="T5"/>
              </a:cxn>
              <a:cxn ang="T11">
                <a:pos x="T6" y="T7"/>
              </a:cxn>
            </a:cxnLst>
            <a:rect l="T12" t="T13" r="T14" b="T15"/>
            <a:pathLst>
              <a:path w="763" h="144">
                <a:moveTo>
                  <a:pt x="0" y="0"/>
                </a:moveTo>
                <a:lnTo>
                  <a:pt x="283" y="0"/>
                </a:lnTo>
                <a:lnTo>
                  <a:pt x="283" y="144"/>
                </a:lnTo>
                <a:lnTo>
                  <a:pt x="763" y="144"/>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6758" name="Freeform 29"/>
          <p:cNvSpPr>
            <a:spLocks/>
          </p:cNvSpPr>
          <p:nvPr/>
        </p:nvSpPr>
        <p:spPr bwMode="blackWhite">
          <a:xfrm>
            <a:off x="5183188" y="4933950"/>
            <a:ext cx="1214437" cy="582613"/>
          </a:xfrm>
          <a:custGeom>
            <a:avLst/>
            <a:gdLst>
              <a:gd name="T0" fmla="*/ 0 w 765"/>
              <a:gd name="T1" fmla="*/ 0 h 528"/>
              <a:gd name="T2" fmla="*/ 2147483647 w 765"/>
              <a:gd name="T3" fmla="*/ 0 h 528"/>
              <a:gd name="T4" fmla="*/ 2147483647 w 765"/>
              <a:gd name="T5" fmla="*/ 2147483647 h 528"/>
              <a:gd name="T6" fmla="*/ 2147483647 w 765"/>
              <a:gd name="T7" fmla="*/ 2147483647 h 528"/>
              <a:gd name="T8" fmla="*/ 0 60000 65536"/>
              <a:gd name="T9" fmla="*/ 0 60000 65536"/>
              <a:gd name="T10" fmla="*/ 0 60000 65536"/>
              <a:gd name="T11" fmla="*/ 0 60000 65536"/>
              <a:gd name="T12" fmla="*/ 0 w 765"/>
              <a:gd name="T13" fmla="*/ 0 h 528"/>
              <a:gd name="T14" fmla="*/ 765 w 765"/>
              <a:gd name="T15" fmla="*/ 528 h 528"/>
            </a:gdLst>
            <a:ahLst/>
            <a:cxnLst>
              <a:cxn ang="T8">
                <a:pos x="T0" y="T1"/>
              </a:cxn>
              <a:cxn ang="T9">
                <a:pos x="T2" y="T3"/>
              </a:cxn>
              <a:cxn ang="T10">
                <a:pos x="T4" y="T5"/>
              </a:cxn>
              <a:cxn ang="T11">
                <a:pos x="T6" y="T7"/>
              </a:cxn>
            </a:cxnLst>
            <a:rect l="T12" t="T13" r="T14" b="T15"/>
            <a:pathLst>
              <a:path w="765" h="528">
                <a:moveTo>
                  <a:pt x="0" y="0"/>
                </a:moveTo>
                <a:lnTo>
                  <a:pt x="189" y="0"/>
                </a:lnTo>
                <a:lnTo>
                  <a:pt x="189" y="528"/>
                </a:lnTo>
                <a:lnTo>
                  <a:pt x="765" y="528"/>
                </a:lnTo>
              </a:path>
            </a:pathLst>
          </a:custGeom>
          <a:noFill/>
          <a:ln w="28575">
            <a:solidFill>
              <a:srgbClr val="FFFF00"/>
            </a:solidFill>
            <a:round/>
            <a:headEnd/>
            <a:tailEnd type="triangle" w="med" len="med"/>
          </a:ln>
        </p:spPr>
        <p:txBody>
          <a:bodyPr wrap="none" anchor="ctr"/>
          <a:lstStyle/>
          <a:p>
            <a:endParaRPr lang="es-ES"/>
          </a:p>
        </p:txBody>
      </p:sp>
      <p:grpSp>
        <p:nvGrpSpPr>
          <p:cNvPr id="5" name="Group 30"/>
          <p:cNvGrpSpPr>
            <a:grpSpLocks/>
          </p:cNvGrpSpPr>
          <p:nvPr/>
        </p:nvGrpSpPr>
        <p:grpSpPr bwMode="auto">
          <a:xfrm>
            <a:off x="5724525" y="5157788"/>
            <a:ext cx="365125" cy="304800"/>
            <a:chOff x="3557" y="1901"/>
            <a:chExt cx="230" cy="192"/>
          </a:xfrm>
        </p:grpSpPr>
        <p:sp>
          <p:nvSpPr>
            <p:cNvPr id="116780" name="Text Box 31"/>
            <p:cNvSpPr txBox="1">
              <a:spLocks noChangeArrowheads="1"/>
            </p:cNvSpPr>
            <p:nvPr/>
          </p:nvSpPr>
          <p:spPr bwMode="blackWhite">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1</a:t>
              </a:r>
              <a:endParaRPr lang="es-ES_tradnl"/>
            </a:p>
          </p:txBody>
        </p:sp>
        <p:sp>
          <p:nvSpPr>
            <p:cNvPr id="116781" name="Line 32"/>
            <p:cNvSpPr>
              <a:spLocks noChangeShapeType="1"/>
            </p:cNvSpPr>
            <p:nvPr/>
          </p:nvSpPr>
          <p:spPr bwMode="blackWhite">
            <a:xfrm>
              <a:off x="3575" y="1916"/>
              <a:ext cx="148" cy="0"/>
            </a:xfrm>
            <a:prstGeom prst="line">
              <a:avLst/>
            </a:prstGeom>
            <a:noFill/>
            <a:ln w="19050">
              <a:solidFill>
                <a:schemeClr val="tx1"/>
              </a:solidFill>
              <a:round/>
              <a:headEnd/>
              <a:tailEnd/>
            </a:ln>
          </p:spPr>
          <p:txBody>
            <a:bodyPr wrap="none" anchor="ctr"/>
            <a:lstStyle/>
            <a:p>
              <a:endParaRPr lang="es-ES"/>
            </a:p>
          </p:txBody>
        </p:sp>
      </p:grpSp>
      <p:sp>
        <p:nvSpPr>
          <p:cNvPr id="116760" name="Rectangle 33"/>
          <p:cNvSpPr>
            <a:spLocks noChangeArrowheads="1"/>
          </p:cNvSpPr>
          <p:nvPr/>
        </p:nvSpPr>
        <p:spPr bwMode="blackWhite">
          <a:xfrm>
            <a:off x="5076825" y="2852738"/>
            <a:ext cx="3889375" cy="1296987"/>
          </a:xfrm>
          <a:prstGeom prst="rect">
            <a:avLst/>
          </a:prstGeom>
          <a:solidFill>
            <a:schemeClr val="accent2">
              <a:lumMod val="20000"/>
              <a:lumOff val="80000"/>
            </a:schemeClr>
          </a:solidFill>
          <a:ln w="9525">
            <a:miter lim="800000"/>
            <a:headEnd/>
            <a:tailEnd/>
          </a:ln>
          <a:scene3d>
            <a:camera prst="legacyObliqueTopRight"/>
            <a:lightRig rig="legacyFlat3" dir="b"/>
          </a:scene3d>
          <a:sp3d extrusionH="49200" prstMaterial="legacyMatte">
            <a:bevelT w="13500" h="13500" prst="angle"/>
            <a:bevelB w="13500" h="13500" prst="angle"/>
            <a:extrusionClr>
              <a:srgbClr val="5F5F5F"/>
            </a:extrusionClr>
          </a:sp3d>
        </p:spPr>
        <p:txBody>
          <a:bodyPr wrap="none" anchor="ctr">
            <a:flatTx/>
          </a:bodyPr>
          <a:lstStyle/>
          <a:p>
            <a:endParaRPr lang="es-ES"/>
          </a:p>
        </p:txBody>
      </p:sp>
      <p:sp>
        <p:nvSpPr>
          <p:cNvPr id="116761" name="Rectangle 34"/>
          <p:cNvSpPr>
            <a:spLocks noChangeArrowheads="1"/>
          </p:cNvSpPr>
          <p:nvPr/>
        </p:nvSpPr>
        <p:spPr bwMode="blackWhite">
          <a:xfrm>
            <a:off x="6397625" y="3128963"/>
            <a:ext cx="2438400" cy="304800"/>
          </a:xfrm>
          <a:prstGeom prst="rect">
            <a:avLst/>
          </a:prstGeom>
          <a:noFill/>
          <a:ln w="28575">
            <a:solidFill>
              <a:schemeClr val="accent2">
                <a:lumMod val="50000"/>
              </a:schemeClr>
            </a:solidFill>
            <a:miter lim="800000"/>
            <a:headEnd/>
            <a:tailEnd/>
          </a:ln>
        </p:spPr>
        <p:txBody>
          <a:bodyPr wrap="none" anchor="ctr"/>
          <a:lstStyle/>
          <a:p>
            <a:pPr>
              <a:spcBef>
                <a:spcPct val="20000"/>
              </a:spcBef>
            </a:pPr>
            <a:r>
              <a:rPr lang="es-ES_tradnl" sz="1800" b="1"/>
              <a:t>DIMM 0</a:t>
            </a:r>
            <a:endParaRPr lang="es-ES_tradnl" sz="2400"/>
          </a:p>
        </p:txBody>
      </p:sp>
      <p:sp>
        <p:nvSpPr>
          <p:cNvPr id="116762" name="Rectangle 35"/>
          <p:cNvSpPr>
            <a:spLocks noChangeArrowheads="1"/>
          </p:cNvSpPr>
          <p:nvPr/>
        </p:nvSpPr>
        <p:spPr bwMode="blackWhite">
          <a:xfrm>
            <a:off x="6397625" y="3644900"/>
            <a:ext cx="2438400" cy="304800"/>
          </a:xfrm>
          <a:prstGeom prst="rect">
            <a:avLst/>
          </a:prstGeom>
          <a:noFill/>
          <a:ln w="28575">
            <a:solidFill>
              <a:schemeClr val="accent2">
                <a:lumMod val="50000"/>
              </a:schemeClr>
            </a:solidFill>
            <a:miter lim="800000"/>
            <a:headEnd/>
            <a:tailEnd/>
          </a:ln>
        </p:spPr>
        <p:txBody>
          <a:bodyPr wrap="none" anchor="ctr"/>
          <a:lstStyle/>
          <a:p>
            <a:pPr>
              <a:spcBef>
                <a:spcPct val="20000"/>
              </a:spcBef>
            </a:pPr>
            <a:r>
              <a:rPr lang="es-ES_tradnl" sz="1800" b="1"/>
              <a:t>DIMM 1</a:t>
            </a:r>
          </a:p>
        </p:txBody>
      </p:sp>
      <p:grpSp>
        <p:nvGrpSpPr>
          <p:cNvPr id="6" name="Group 36"/>
          <p:cNvGrpSpPr>
            <a:grpSpLocks/>
          </p:cNvGrpSpPr>
          <p:nvPr/>
        </p:nvGrpSpPr>
        <p:grpSpPr bwMode="auto">
          <a:xfrm>
            <a:off x="5724525" y="2946400"/>
            <a:ext cx="365125" cy="304800"/>
            <a:chOff x="3557" y="1901"/>
            <a:chExt cx="230" cy="192"/>
          </a:xfrm>
        </p:grpSpPr>
        <p:sp>
          <p:nvSpPr>
            <p:cNvPr id="116778" name="Text Box 37"/>
            <p:cNvSpPr txBox="1">
              <a:spLocks noChangeArrowheads="1"/>
            </p:cNvSpPr>
            <p:nvPr/>
          </p:nvSpPr>
          <p:spPr bwMode="blackWhite">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0</a:t>
              </a:r>
              <a:endParaRPr lang="es-ES_tradnl"/>
            </a:p>
          </p:txBody>
        </p:sp>
        <p:sp>
          <p:nvSpPr>
            <p:cNvPr id="116779" name="Line 38"/>
            <p:cNvSpPr>
              <a:spLocks noChangeShapeType="1"/>
            </p:cNvSpPr>
            <p:nvPr/>
          </p:nvSpPr>
          <p:spPr bwMode="blackWhite">
            <a:xfrm>
              <a:off x="3575" y="1916"/>
              <a:ext cx="148" cy="0"/>
            </a:xfrm>
            <a:prstGeom prst="line">
              <a:avLst/>
            </a:prstGeom>
            <a:noFill/>
            <a:ln w="19050">
              <a:solidFill>
                <a:schemeClr val="tx1"/>
              </a:solidFill>
              <a:round/>
              <a:headEnd/>
              <a:tailEnd/>
            </a:ln>
          </p:spPr>
          <p:txBody>
            <a:bodyPr wrap="none" anchor="ctr"/>
            <a:lstStyle/>
            <a:p>
              <a:endParaRPr lang="es-ES"/>
            </a:p>
          </p:txBody>
        </p:sp>
      </p:grpSp>
      <p:sp>
        <p:nvSpPr>
          <p:cNvPr id="116764" name="Freeform 39"/>
          <p:cNvSpPr>
            <a:spLocks/>
          </p:cNvSpPr>
          <p:nvPr/>
        </p:nvSpPr>
        <p:spPr bwMode="blackWhite">
          <a:xfrm>
            <a:off x="5186363" y="3052763"/>
            <a:ext cx="1211262" cy="228600"/>
          </a:xfrm>
          <a:custGeom>
            <a:avLst/>
            <a:gdLst>
              <a:gd name="T0" fmla="*/ 0 w 763"/>
              <a:gd name="T1" fmla="*/ 0 h 144"/>
              <a:gd name="T2" fmla="*/ 2147483647 w 763"/>
              <a:gd name="T3" fmla="*/ 0 h 144"/>
              <a:gd name="T4" fmla="*/ 2147483647 w 763"/>
              <a:gd name="T5" fmla="*/ 2147483647 h 144"/>
              <a:gd name="T6" fmla="*/ 2147483647 w 763"/>
              <a:gd name="T7" fmla="*/ 2147483647 h 144"/>
              <a:gd name="T8" fmla="*/ 0 60000 65536"/>
              <a:gd name="T9" fmla="*/ 0 60000 65536"/>
              <a:gd name="T10" fmla="*/ 0 60000 65536"/>
              <a:gd name="T11" fmla="*/ 0 60000 65536"/>
              <a:gd name="T12" fmla="*/ 0 w 763"/>
              <a:gd name="T13" fmla="*/ 0 h 144"/>
              <a:gd name="T14" fmla="*/ 763 w 763"/>
              <a:gd name="T15" fmla="*/ 144 h 144"/>
            </a:gdLst>
            <a:ahLst/>
            <a:cxnLst>
              <a:cxn ang="T8">
                <a:pos x="T0" y="T1"/>
              </a:cxn>
              <a:cxn ang="T9">
                <a:pos x="T2" y="T3"/>
              </a:cxn>
              <a:cxn ang="T10">
                <a:pos x="T4" y="T5"/>
              </a:cxn>
              <a:cxn ang="T11">
                <a:pos x="T6" y="T7"/>
              </a:cxn>
            </a:cxnLst>
            <a:rect l="T12" t="T13" r="T14" b="T15"/>
            <a:pathLst>
              <a:path w="763" h="144">
                <a:moveTo>
                  <a:pt x="0" y="0"/>
                </a:moveTo>
                <a:lnTo>
                  <a:pt x="283" y="0"/>
                </a:lnTo>
                <a:lnTo>
                  <a:pt x="283" y="144"/>
                </a:lnTo>
                <a:lnTo>
                  <a:pt x="763" y="144"/>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sp>
        <p:nvSpPr>
          <p:cNvPr id="116765" name="Freeform 40"/>
          <p:cNvSpPr>
            <a:spLocks/>
          </p:cNvSpPr>
          <p:nvPr/>
        </p:nvSpPr>
        <p:spPr bwMode="blackWhite">
          <a:xfrm>
            <a:off x="5183188" y="3205163"/>
            <a:ext cx="1214437" cy="584200"/>
          </a:xfrm>
          <a:custGeom>
            <a:avLst/>
            <a:gdLst>
              <a:gd name="T0" fmla="*/ 0 w 765"/>
              <a:gd name="T1" fmla="*/ 0 h 528"/>
              <a:gd name="T2" fmla="*/ 2147483647 w 765"/>
              <a:gd name="T3" fmla="*/ 0 h 528"/>
              <a:gd name="T4" fmla="*/ 2147483647 w 765"/>
              <a:gd name="T5" fmla="*/ 2147483647 h 528"/>
              <a:gd name="T6" fmla="*/ 2147483647 w 765"/>
              <a:gd name="T7" fmla="*/ 2147483647 h 528"/>
              <a:gd name="T8" fmla="*/ 0 60000 65536"/>
              <a:gd name="T9" fmla="*/ 0 60000 65536"/>
              <a:gd name="T10" fmla="*/ 0 60000 65536"/>
              <a:gd name="T11" fmla="*/ 0 60000 65536"/>
              <a:gd name="T12" fmla="*/ 0 w 765"/>
              <a:gd name="T13" fmla="*/ 0 h 528"/>
              <a:gd name="T14" fmla="*/ 765 w 765"/>
              <a:gd name="T15" fmla="*/ 528 h 528"/>
            </a:gdLst>
            <a:ahLst/>
            <a:cxnLst>
              <a:cxn ang="T8">
                <a:pos x="T0" y="T1"/>
              </a:cxn>
              <a:cxn ang="T9">
                <a:pos x="T2" y="T3"/>
              </a:cxn>
              <a:cxn ang="T10">
                <a:pos x="T4" y="T5"/>
              </a:cxn>
              <a:cxn ang="T11">
                <a:pos x="T6" y="T7"/>
              </a:cxn>
            </a:cxnLst>
            <a:rect l="T12" t="T13" r="T14" b="T15"/>
            <a:pathLst>
              <a:path w="765" h="528">
                <a:moveTo>
                  <a:pt x="0" y="0"/>
                </a:moveTo>
                <a:lnTo>
                  <a:pt x="189" y="0"/>
                </a:lnTo>
                <a:lnTo>
                  <a:pt x="189" y="528"/>
                </a:lnTo>
                <a:lnTo>
                  <a:pt x="765" y="528"/>
                </a:lnTo>
              </a:path>
            </a:pathLst>
          </a:custGeom>
          <a:noFill/>
          <a:ln w="28575">
            <a:solidFill>
              <a:schemeClr val="accent5">
                <a:lumMod val="60000"/>
                <a:lumOff val="40000"/>
              </a:schemeClr>
            </a:solidFill>
            <a:round/>
            <a:headEnd/>
            <a:tailEnd type="triangle" w="med" len="med"/>
          </a:ln>
        </p:spPr>
        <p:txBody>
          <a:bodyPr wrap="none" anchor="ctr"/>
          <a:lstStyle/>
          <a:p>
            <a:endParaRPr lang="es-ES"/>
          </a:p>
        </p:txBody>
      </p:sp>
      <p:grpSp>
        <p:nvGrpSpPr>
          <p:cNvPr id="7" name="Group 41"/>
          <p:cNvGrpSpPr>
            <a:grpSpLocks/>
          </p:cNvGrpSpPr>
          <p:nvPr/>
        </p:nvGrpSpPr>
        <p:grpSpPr bwMode="auto">
          <a:xfrm>
            <a:off x="5724525" y="3429000"/>
            <a:ext cx="365125" cy="304800"/>
            <a:chOff x="3557" y="1901"/>
            <a:chExt cx="230" cy="192"/>
          </a:xfrm>
        </p:grpSpPr>
        <p:sp>
          <p:nvSpPr>
            <p:cNvPr id="116776" name="Text Box 42"/>
            <p:cNvSpPr txBox="1">
              <a:spLocks noChangeArrowheads="1"/>
            </p:cNvSpPr>
            <p:nvPr/>
          </p:nvSpPr>
          <p:spPr bwMode="blackWhite">
            <a:xfrm>
              <a:off x="3557" y="1901"/>
              <a:ext cx="230" cy="192"/>
            </a:xfrm>
            <a:prstGeom prst="rect">
              <a:avLst/>
            </a:prstGeom>
            <a:noFill/>
            <a:ln w="28575">
              <a:noFill/>
              <a:miter lim="800000"/>
              <a:headEnd/>
              <a:tailEnd/>
            </a:ln>
          </p:spPr>
          <p:txBody>
            <a:bodyPr wrap="none" lIns="0" tIns="0" rIns="0" bIns="0" anchor="ctr">
              <a:spAutoFit/>
            </a:bodyPr>
            <a:lstStyle/>
            <a:p>
              <a:pPr>
                <a:spcBef>
                  <a:spcPct val="20000"/>
                </a:spcBef>
              </a:pPr>
              <a:r>
                <a:rPr lang="es-ES_tradnl">
                  <a:latin typeface="Arial Narrow" pitchFamily="34" charset="0"/>
                </a:rPr>
                <a:t>CS</a:t>
              </a:r>
              <a:r>
                <a:rPr lang="es-ES_tradnl" b="1" baseline="-25000">
                  <a:latin typeface="Arial Narrow" pitchFamily="34" charset="0"/>
                </a:rPr>
                <a:t>1</a:t>
              </a:r>
              <a:endParaRPr lang="es-ES_tradnl"/>
            </a:p>
          </p:txBody>
        </p:sp>
        <p:sp>
          <p:nvSpPr>
            <p:cNvPr id="116777" name="Line 43"/>
            <p:cNvSpPr>
              <a:spLocks noChangeShapeType="1"/>
            </p:cNvSpPr>
            <p:nvPr/>
          </p:nvSpPr>
          <p:spPr bwMode="blackWhite">
            <a:xfrm>
              <a:off x="3575" y="1916"/>
              <a:ext cx="148" cy="0"/>
            </a:xfrm>
            <a:prstGeom prst="line">
              <a:avLst/>
            </a:prstGeom>
            <a:noFill/>
            <a:ln w="19050">
              <a:solidFill>
                <a:schemeClr val="tx1"/>
              </a:solidFill>
              <a:round/>
              <a:headEnd/>
              <a:tailEnd/>
            </a:ln>
          </p:spPr>
          <p:txBody>
            <a:bodyPr wrap="none" anchor="ctr"/>
            <a:lstStyle/>
            <a:p>
              <a:endParaRPr lang="es-ES"/>
            </a:p>
          </p:txBody>
        </p:sp>
      </p:grpSp>
      <p:sp>
        <p:nvSpPr>
          <p:cNvPr id="116767" name="Line 44"/>
          <p:cNvSpPr>
            <a:spLocks noChangeShapeType="1"/>
          </p:cNvSpPr>
          <p:nvPr/>
        </p:nvSpPr>
        <p:spPr bwMode="auto">
          <a:xfrm>
            <a:off x="3995738" y="5300663"/>
            <a:ext cx="1008062"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6768" name="Line 45"/>
          <p:cNvSpPr>
            <a:spLocks noChangeShapeType="1"/>
          </p:cNvSpPr>
          <p:nvPr/>
        </p:nvSpPr>
        <p:spPr bwMode="auto">
          <a:xfrm rot="5400000">
            <a:off x="4499769" y="5156994"/>
            <a:ext cx="0" cy="1008062"/>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116769" name="Line 46"/>
          <p:cNvSpPr>
            <a:spLocks noChangeShapeType="1"/>
          </p:cNvSpPr>
          <p:nvPr/>
        </p:nvSpPr>
        <p:spPr bwMode="auto">
          <a:xfrm>
            <a:off x="3995738" y="3573463"/>
            <a:ext cx="1008062" cy="0"/>
          </a:xfrm>
          <a:prstGeom prst="line">
            <a:avLst/>
          </a:prstGeom>
          <a:noFill/>
          <a:ln w="76200">
            <a:solidFill>
              <a:schemeClr val="accent3">
                <a:lumMod val="75000"/>
              </a:schemeClr>
            </a:solidFill>
            <a:round/>
            <a:headEnd/>
            <a:tailEnd type="triangle" w="med" len="med"/>
          </a:ln>
        </p:spPr>
        <p:txBody>
          <a:bodyPr wrap="none" anchor="ctr"/>
          <a:lstStyle/>
          <a:p>
            <a:endParaRPr lang="es-ES"/>
          </a:p>
        </p:txBody>
      </p:sp>
      <p:sp>
        <p:nvSpPr>
          <p:cNvPr id="116770" name="Line 47"/>
          <p:cNvSpPr>
            <a:spLocks noChangeShapeType="1"/>
          </p:cNvSpPr>
          <p:nvPr/>
        </p:nvSpPr>
        <p:spPr bwMode="auto">
          <a:xfrm rot="5400000">
            <a:off x="4499769" y="3429794"/>
            <a:ext cx="0" cy="1008062"/>
          </a:xfrm>
          <a:prstGeom prst="line">
            <a:avLst/>
          </a:prstGeom>
          <a:noFill/>
          <a:ln w="57150">
            <a:solidFill>
              <a:srgbClr val="FF9900"/>
            </a:solidFill>
            <a:round/>
            <a:headEnd type="triangle" w="med" len="med"/>
            <a:tailEnd type="triangle" w="med" len="med"/>
          </a:ln>
        </p:spPr>
        <p:txBody>
          <a:bodyPr wrap="none" anchor="ctr"/>
          <a:lstStyle/>
          <a:p>
            <a:endParaRPr lang="es-ES"/>
          </a:p>
        </p:txBody>
      </p:sp>
      <p:sp>
        <p:nvSpPr>
          <p:cNvPr id="116771" name="Rectangle 48"/>
          <p:cNvSpPr>
            <a:spLocks noChangeArrowheads="1"/>
          </p:cNvSpPr>
          <p:nvPr/>
        </p:nvSpPr>
        <p:spPr bwMode="blackWhite">
          <a:xfrm>
            <a:off x="2819400" y="4090988"/>
            <a:ext cx="744538" cy="1066800"/>
          </a:xfrm>
          <a:prstGeom prst="rect">
            <a:avLst/>
          </a:prstGeom>
          <a:solidFill>
            <a:schemeClr val="accent1">
              <a:lumMod val="40000"/>
              <a:lumOff val="60000"/>
            </a:schemeClr>
          </a:solidFill>
          <a:ln w="9525">
            <a:solidFill>
              <a:schemeClr val="accent1">
                <a:lumMod val="75000"/>
              </a:schemeClr>
            </a:solidFill>
            <a:miter lim="800000"/>
            <a:headEnd/>
            <a:tailEnd/>
          </a:ln>
          <a:scene3d>
            <a:camera prst="legacyObliqueTopRight"/>
            <a:lightRig rig="legacyFlat3" dir="b"/>
          </a:scene3d>
          <a:sp3d extrusionH="49200" prstMaterial="legacyPlastic">
            <a:bevelT w="13500" h="13500" prst="angle"/>
            <a:bevelB w="13500" h="13500" prst="angle"/>
            <a:extrusionClr>
              <a:srgbClr val="5F5F5F"/>
            </a:extrusionClr>
          </a:sp3d>
        </p:spPr>
        <p:txBody>
          <a:bodyPr wrap="none" anchor="ctr">
            <a:flatTx/>
          </a:bodyPr>
          <a:lstStyle/>
          <a:p>
            <a:pPr>
              <a:spcBef>
                <a:spcPct val="20000"/>
              </a:spcBef>
            </a:pPr>
            <a:r>
              <a:rPr lang="es-ES_tradnl" sz="2400">
                <a:latin typeface="Arial Narrow" pitchFamily="34" charset="0"/>
              </a:rPr>
              <a:t>MUX</a:t>
            </a:r>
            <a:endParaRPr lang="es-ES_tradnl" sz="2400"/>
          </a:p>
        </p:txBody>
      </p:sp>
      <p:sp>
        <p:nvSpPr>
          <p:cNvPr id="116772" name="Rectangle 49"/>
          <p:cNvSpPr>
            <a:spLocks noChangeArrowheads="1"/>
          </p:cNvSpPr>
          <p:nvPr/>
        </p:nvSpPr>
        <p:spPr bwMode="blackWhite">
          <a:xfrm>
            <a:off x="2987675" y="3125788"/>
            <a:ext cx="720725" cy="381000"/>
          </a:xfrm>
          <a:prstGeom prst="rect">
            <a:avLst/>
          </a:prstGeom>
          <a:solidFill>
            <a:schemeClr val="accent1">
              <a:lumMod val="40000"/>
              <a:lumOff val="60000"/>
            </a:schemeClr>
          </a:solidFill>
          <a:ln w="9525">
            <a:miter lim="800000"/>
            <a:headEnd/>
            <a:tailEnd/>
          </a:ln>
          <a:scene3d>
            <a:camera prst="legacyObliqueTopRight"/>
            <a:lightRig rig="legacyFlat3" dir="b"/>
          </a:scene3d>
          <a:sp3d extrusionH="49200" prstMaterial="legacyPlastic">
            <a:bevelT w="13500" h="13500" prst="angle"/>
            <a:bevelB w="13500" h="13500" prst="angle"/>
            <a:extrusionClr>
              <a:srgbClr val="5F5F5F"/>
            </a:extrusionClr>
          </a:sp3d>
        </p:spPr>
        <p:txBody>
          <a:bodyPr wrap="none" anchor="ctr">
            <a:flatTx/>
          </a:bodyPr>
          <a:lstStyle/>
          <a:p>
            <a:pPr>
              <a:spcBef>
                <a:spcPct val="20000"/>
              </a:spcBef>
            </a:pPr>
            <a:r>
              <a:rPr lang="es-ES_tradnl" sz="2400">
                <a:latin typeface="Arial Narrow" pitchFamily="34" charset="0"/>
              </a:rPr>
              <a:t>DESC</a:t>
            </a:r>
            <a:endParaRPr lang="es-ES_tradnl" sz="2400"/>
          </a:p>
        </p:txBody>
      </p:sp>
      <p:sp>
        <p:nvSpPr>
          <p:cNvPr id="116773" name="Rectangle 50"/>
          <p:cNvSpPr>
            <a:spLocks noChangeArrowheads="1"/>
          </p:cNvSpPr>
          <p:nvPr/>
        </p:nvSpPr>
        <p:spPr bwMode="blackWhite">
          <a:xfrm>
            <a:off x="2843213" y="3197225"/>
            <a:ext cx="720725" cy="381000"/>
          </a:xfrm>
          <a:prstGeom prst="rect">
            <a:avLst/>
          </a:prstGeom>
          <a:solidFill>
            <a:schemeClr val="accent1">
              <a:lumMod val="40000"/>
              <a:lumOff val="60000"/>
            </a:schemeClr>
          </a:solidFill>
          <a:ln w="9525">
            <a:miter lim="800000"/>
            <a:headEnd/>
            <a:tailEnd/>
          </a:ln>
          <a:scene3d>
            <a:camera prst="legacyObliqueTopRight"/>
            <a:lightRig rig="legacyFlat3" dir="b"/>
          </a:scene3d>
          <a:sp3d extrusionH="49200" prstMaterial="legacyPlastic">
            <a:bevelT w="13500" h="13500" prst="angle"/>
            <a:bevelB w="13500" h="13500" prst="angle"/>
            <a:extrusionClr>
              <a:srgbClr val="5F5F5F"/>
            </a:extrusionClr>
          </a:sp3d>
        </p:spPr>
        <p:txBody>
          <a:bodyPr wrap="none" anchor="ctr">
            <a:flatTx/>
          </a:bodyPr>
          <a:lstStyle/>
          <a:p>
            <a:pPr>
              <a:spcBef>
                <a:spcPct val="20000"/>
              </a:spcBef>
            </a:pPr>
            <a:r>
              <a:rPr lang="es-ES_tradnl" sz="2400" dirty="0">
                <a:latin typeface="Arial Narrow" pitchFamily="34" charset="0"/>
              </a:rPr>
              <a:t>DESC</a:t>
            </a:r>
            <a:endParaRPr lang="es-ES_tradnl" sz="2400" dirty="0"/>
          </a:p>
        </p:txBody>
      </p:sp>
      <p:sp>
        <p:nvSpPr>
          <p:cNvPr id="116774" name="Text Box 51"/>
          <p:cNvSpPr txBox="1">
            <a:spLocks noChangeArrowheads="1"/>
          </p:cNvSpPr>
          <p:nvPr/>
        </p:nvSpPr>
        <p:spPr bwMode="auto">
          <a:xfrm>
            <a:off x="6564313" y="4076700"/>
            <a:ext cx="1031875" cy="396875"/>
          </a:xfrm>
          <a:prstGeom prst="rect">
            <a:avLst/>
          </a:prstGeom>
          <a:noFill/>
          <a:ln w="9525" algn="ctr">
            <a:noFill/>
            <a:miter lim="800000"/>
            <a:headEnd/>
            <a:tailEnd/>
          </a:ln>
        </p:spPr>
        <p:txBody>
          <a:bodyPr wrap="none">
            <a:spAutoFit/>
          </a:bodyPr>
          <a:lstStyle/>
          <a:p>
            <a:pPr marL="228600" indent="-228600" algn="l">
              <a:spcBef>
                <a:spcPct val="20000"/>
              </a:spcBef>
            </a:pPr>
            <a:r>
              <a:rPr lang="es-ES"/>
              <a:t>canal A</a:t>
            </a:r>
          </a:p>
        </p:txBody>
      </p:sp>
      <p:sp>
        <p:nvSpPr>
          <p:cNvPr id="116775" name="Text Box 52"/>
          <p:cNvSpPr txBox="1">
            <a:spLocks noChangeArrowheads="1"/>
          </p:cNvSpPr>
          <p:nvPr/>
        </p:nvSpPr>
        <p:spPr bwMode="auto">
          <a:xfrm>
            <a:off x="6516688" y="5805488"/>
            <a:ext cx="1031875" cy="396875"/>
          </a:xfrm>
          <a:prstGeom prst="rect">
            <a:avLst/>
          </a:prstGeom>
          <a:noFill/>
          <a:ln w="9525" algn="ctr">
            <a:noFill/>
            <a:miter lim="800000"/>
            <a:headEnd/>
            <a:tailEnd/>
          </a:ln>
        </p:spPr>
        <p:txBody>
          <a:bodyPr wrap="none">
            <a:spAutoFit/>
          </a:bodyPr>
          <a:lstStyle/>
          <a:p>
            <a:pPr marL="228600" indent="-228600" algn="l">
              <a:spcBef>
                <a:spcPct val="20000"/>
              </a:spcBef>
            </a:pPr>
            <a:r>
              <a:rPr lang="es-ES"/>
              <a:t>canal B</a:t>
            </a:r>
          </a:p>
        </p:txBody>
      </p:sp>
      <p:sp>
        <p:nvSpPr>
          <p:cNvPr id="8" name="2 Marcador de número de diapositiva">
            <a:extLst>
              <a:ext uri="{FF2B5EF4-FFF2-40B4-BE49-F238E27FC236}">
                <a16:creationId xmlns:a16="http://schemas.microsoft.com/office/drawing/2014/main" id="{0960C1E0-0AA1-C3A5-8570-1780AC50C1E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146</a:t>
            </a:fld>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p:txBody>
          <a:bodyPr/>
          <a:lstStyle/>
          <a:p>
            <a:r>
              <a:rPr lang="ca-ES" dirty="0"/>
              <a:t>El controlador de </a:t>
            </a:r>
            <a:r>
              <a:rPr lang="ca-ES" dirty="0" err="1"/>
              <a:t>memoria</a:t>
            </a:r>
            <a:endParaRPr lang="es-ES" dirty="0"/>
          </a:p>
        </p:txBody>
      </p:sp>
      <p:sp>
        <p:nvSpPr>
          <p:cNvPr id="117764" name="Rectangle 3"/>
          <p:cNvSpPr>
            <a:spLocks noGrp="1" noChangeArrowheads="1"/>
          </p:cNvSpPr>
          <p:nvPr>
            <p:ph type="body" idx="1"/>
          </p:nvPr>
        </p:nvSpPr>
        <p:spPr/>
        <p:txBody>
          <a:bodyPr/>
          <a:lstStyle/>
          <a:p>
            <a:pPr>
              <a:lnSpc>
                <a:spcPct val="90000"/>
              </a:lnSpc>
            </a:pPr>
            <a:r>
              <a:rPr lang="es-ES" dirty="0"/>
              <a:t>Inicialización del sistema de memoria</a:t>
            </a:r>
          </a:p>
          <a:p>
            <a:pPr lvl="1">
              <a:lnSpc>
                <a:spcPct val="90000"/>
              </a:lnSpc>
            </a:pPr>
            <a:r>
              <a:rPr lang="es-ES" dirty="0"/>
              <a:t>El controlador de memoria forma parte del controlador de sistema o chipset. El chipset es un circuito de complejidad comparable al procesador y que concentra muchas funciones críticas</a:t>
            </a:r>
          </a:p>
          <a:p>
            <a:pPr lvl="1">
              <a:lnSpc>
                <a:spcPct val="90000"/>
              </a:lnSpc>
            </a:pPr>
            <a:r>
              <a:rPr lang="es-ES" dirty="0"/>
              <a:t>Al encender un computador, el controlador comprueba, uno a uno, todos los módulos conectados, obtiene las características clave a partir del SPD (capacidad, geometría de matriz, restricciones temporales, etc.) e inicializa los chips</a:t>
            </a:r>
          </a:p>
          <a:p>
            <a:pPr lvl="1">
              <a:lnSpc>
                <a:spcPct val="90000"/>
              </a:lnSpc>
            </a:pPr>
            <a:r>
              <a:rPr lang="es-ES" dirty="0"/>
              <a:t>El controlador configura </a:t>
            </a:r>
          </a:p>
          <a:p>
            <a:pPr lvl="2">
              <a:lnSpc>
                <a:spcPct val="90000"/>
              </a:lnSpc>
            </a:pPr>
            <a:r>
              <a:rPr lang="es-ES" dirty="0"/>
              <a:t>el mapa de memoria con los módulos presentes y fija las funciones de selección</a:t>
            </a:r>
          </a:p>
          <a:p>
            <a:pPr lvl="2">
              <a:lnSpc>
                <a:spcPct val="90000"/>
              </a:lnSpc>
            </a:pPr>
            <a:r>
              <a:rPr lang="es-ES" dirty="0"/>
              <a:t>la frecuencia de reloj</a:t>
            </a:r>
          </a:p>
          <a:p>
            <a:pPr lvl="2">
              <a:lnSpc>
                <a:spcPct val="90000"/>
              </a:lnSpc>
            </a:pPr>
            <a:r>
              <a:rPr lang="es-ES" dirty="0"/>
              <a:t>la temporización adecuada para acceder correctamente a los módulos</a:t>
            </a:r>
          </a:p>
          <a:p>
            <a:pPr lvl="2">
              <a:lnSpc>
                <a:spcPct val="90000"/>
              </a:lnSpc>
            </a:pPr>
            <a:r>
              <a:rPr lang="es-ES" dirty="0"/>
              <a:t>la frecuencia de emisión de órdenes AUTOREFRESH</a:t>
            </a:r>
          </a:p>
        </p:txBody>
      </p:sp>
      <p:sp>
        <p:nvSpPr>
          <p:cNvPr id="2" name="2 Marcador de número de diapositiva">
            <a:extLst>
              <a:ext uri="{FF2B5EF4-FFF2-40B4-BE49-F238E27FC236}">
                <a16:creationId xmlns:a16="http://schemas.microsoft.com/office/drawing/2014/main" id="{4AB3D69E-B5D6-CCFA-2411-2AD22D194C90}"/>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147</a:t>
            </a:fld>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noChangeArrowheads="1"/>
          </p:cNvSpPr>
          <p:nvPr>
            <p:ph type="title"/>
          </p:nvPr>
        </p:nvSpPr>
        <p:spPr/>
        <p:txBody>
          <a:bodyPr/>
          <a:lstStyle/>
          <a:p>
            <a:r>
              <a:rPr lang="es-ES" dirty="0" err="1"/>
              <a:t>SiSoftware</a:t>
            </a:r>
            <a:r>
              <a:rPr lang="es-ES" dirty="0"/>
              <a:t> Sandra: controlador de memoria</a:t>
            </a:r>
          </a:p>
        </p:txBody>
      </p:sp>
      <p:pic>
        <p:nvPicPr>
          <p:cNvPr id="119812" name="Picture 3"/>
          <p:cNvPicPr>
            <a:picLocks noChangeAspect="1" noChangeArrowheads="1"/>
          </p:cNvPicPr>
          <p:nvPr/>
        </p:nvPicPr>
        <p:blipFill>
          <a:blip r:embed="rId3" cstate="print"/>
          <a:srcRect/>
          <a:stretch>
            <a:fillRect/>
          </a:stretch>
        </p:blipFill>
        <p:spPr bwMode="auto">
          <a:xfrm>
            <a:off x="539750" y="1238250"/>
            <a:ext cx="5407025" cy="5143500"/>
          </a:xfrm>
          <a:prstGeom prst="rect">
            <a:avLst/>
          </a:prstGeom>
          <a:noFill/>
          <a:ln w="12700">
            <a:noFill/>
            <a:miter lim="800000"/>
            <a:headEnd/>
            <a:tailEnd/>
          </a:ln>
        </p:spPr>
      </p:pic>
      <p:sp>
        <p:nvSpPr>
          <p:cNvPr id="119813" name="Text Box 4"/>
          <p:cNvSpPr txBox="1">
            <a:spLocks noChangeArrowheads="1"/>
          </p:cNvSpPr>
          <p:nvPr/>
        </p:nvSpPr>
        <p:spPr bwMode="auto">
          <a:xfrm>
            <a:off x="6016625" y="3141663"/>
            <a:ext cx="2822575" cy="1311275"/>
          </a:xfrm>
          <a:prstGeom prst="rect">
            <a:avLst/>
          </a:prstGeom>
          <a:noFill/>
          <a:ln w="12700">
            <a:noFill/>
            <a:miter lim="800000"/>
            <a:headEnd/>
            <a:tailEnd/>
          </a:ln>
        </p:spPr>
        <p:txBody>
          <a:bodyPr wrap="none">
            <a:spAutoFit/>
          </a:bodyPr>
          <a:lstStyle/>
          <a:p>
            <a:pPr algn="l"/>
            <a:r>
              <a:rPr lang="es-ES"/>
              <a:t>Tres zócalos de</a:t>
            </a:r>
          </a:p>
          <a:p>
            <a:pPr algn="l"/>
            <a:r>
              <a:rPr lang="es-ES"/>
              <a:t>memoria, dos de ellos </a:t>
            </a:r>
          </a:p>
          <a:p>
            <a:pPr algn="l"/>
            <a:r>
              <a:rPr lang="es-ES"/>
              <a:t>ocupados por módulos </a:t>
            </a:r>
          </a:p>
          <a:p>
            <a:pPr algn="l"/>
            <a:r>
              <a:rPr lang="es-ES"/>
              <a:t>de igual capacidad</a:t>
            </a:r>
          </a:p>
        </p:txBody>
      </p:sp>
      <p:sp>
        <p:nvSpPr>
          <p:cNvPr id="119814" name="Oval 5"/>
          <p:cNvSpPr>
            <a:spLocks noChangeArrowheads="1"/>
          </p:cNvSpPr>
          <p:nvPr/>
        </p:nvSpPr>
        <p:spPr bwMode="auto">
          <a:xfrm>
            <a:off x="250825" y="2276475"/>
            <a:ext cx="5545138" cy="2808288"/>
          </a:xfrm>
          <a:prstGeom prst="ellipse">
            <a:avLst/>
          </a:prstGeom>
          <a:noFill/>
          <a:ln w="38100">
            <a:solidFill>
              <a:schemeClr val="hlink"/>
            </a:solidFill>
            <a:prstDash val="sysDot"/>
            <a:round/>
            <a:headEnd/>
            <a:tailEnd/>
          </a:ln>
        </p:spPr>
        <p:txBody>
          <a:bodyPr anchor="ctr">
            <a:spAutoFit/>
          </a:bodyPr>
          <a:lstStyle/>
          <a:p>
            <a:endParaRPr lang="es-ES"/>
          </a:p>
        </p:txBody>
      </p:sp>
      <p:sp>
        <p:nvSpPr>
          <p:cNvPr id="2" name="2 Marcador de número de diapositiva">
            <a:extLst>
              <a:ext uri="{FF2B5EF4-FFF2-40B4-BE49-F238E27FC236}">
                <a16:creationId xmlns:a16="http://schemas.microsoft.com/office/drawing/2014/main" id="{67CE4F78-5301-5642-98D6-B34E3DA85E46}"/>
              </a:ext>
            </a:extLst>
          </p:cNvPr>
          <p:cNvSpPr>
            <a:spLocks noGrp="1"/>
          </p:cNvSpPr>
          <p:nvPr>
            <p:ph type="sldNum" sz="quarter" idx="12"/>
          </p:nvPr>
        </p:nvSpPr>
        <p:spPr>
          <a:xfrm>
            <a:off x="8686800" y="6529388"/>
            <a:ext cx="457200" cy="328612"/>
          </a:xfrm>
        </p:spPr>
        <p:txBody>
          <a:bodyPr/>
          <a:lstStyle/>
          <a:p>
            <a:pPr>
              <a:defRPr/>
            </a:pPr>
            <a:fld id="{51035083-A155-4028-8A67-2E61E721E30B}" type="slidenum">
              <a:rPr lang="en-US" smtClean="0"/>
              <a:pPr>
                <a:defRPr/>
              </a:pPr>
              <a:t>148</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xC1">
  <a:themeElements>
    <a:clrScheme name="Solsticio">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i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io">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100000" t="100000" r="100000" b="10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100000" t="100000" r="100000" b="10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51000" t="-20000" r="2000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spDef>
      <a:spPr bwMode="auto">
        <a:noFill/>
        <a:ln w="19050">
          <a:prstDash val="sysDash"/>
          <a:tailEnd type="triangle"/>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ln w="12700"/>
      </a:spPr>
      <a:bodyPr/>
      <a:lstStyle/>
      <a:style>
        <a:lnRef idx="2">
          <a:schemeClr val="accent1">
            <a:shade val="50000"/>
          </a:schemeClr>
        </a:lnRef>
        <a:fillRef idx="1">
          <a:schemeClr val="accent1"/>
        </a:fillRef>
        <a:effectRef idx="0">
          <a:schemeClr val="accent1"/>
        </a:effectRef>
        <a:fontRef idx="minor">
          <a:schemeClr val="lt1"/>
        </a:fontRef>
      </a:style>
    </a:lnDef>
    <a:txDef>
      <a:spPr>
        <a:noFill/>
      </a:spPr>
      <a:bodyPr wrap="none" rtlCol="0">
        <a:spAutoFit/>
      </a:bodyPr>
      <a:lstStyle>
        <a:defPPr>
          <a:defRPr sz="1400" dirty="0">
            <a:solidFill>
              <a:schemeClr val="accent1">
                <a:lumMod val="75000"/>
              </a:schemeClr>
            </a:solidFill>
          </a:defRPr>
        </a:defPPr>
      </a:lstStyle>
    </a:txDef>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VxC1</Template>
  <TotalTime>46447</TotalTime>
  <Words>14117</Words>
  <Application>Microsoft Macintosh PowerPoint</Application>
  <PresentationFormat>Presentación en pantalla (4:3)</PresentationFormat>
  <Paragraphs>3141</Paragraphs>
  <Slides>148</Slides>
  <Notes>91</Notes>
  <HiddenSlides>1</HiddenSlides>
  <MMClips>0</MMClips>
  <ScaleCrop>false</ScaleCrop>
  <HeadingPairs>
    <vt:vector size="10" baseType="variant">
      <vt:variant>
        <vt:lpstr>Fuentes usadas</vt:lpstr>
      </vt:variant>
      <vt:variant>
        <vt:i4>11</vt:i4>
      </vt:variant>
      <vt:variant>
        <vt:lpstr>Tema</vt:lpstr>
      </vt:variant>
      <vt:variant>
        <vt:i4>1</vt:i4>
      </vt:variant>
      <vt:variant>
        <vt:lpstr>Servidores OLE incrustados</vt:lpstr>
      </vt:variant>
      <vt:variant>
        <vt:i4>1</vt:i4>
      </vt:variant>
      <vt:variant>
        <vt:lpstr>Títulos de diapositiva</vt:lpstr>
      </vt:variant>
      <vt:variant>
        <vt:i4>148</vt:i4>
      </vt:variant>
      <vt:variant>
        <vt:lpstr>Presentaciones personalizadas</vt:lpstr>
      </vt:variant>
      <vt:variant>
        <vt:i4>2</vt:i4>
      </vt:variant>
    </vt:vector>
  </HeadingPairs>
  <TitlesOfParts>
    <vt:vector size="163" baseType="lpstr">
      <vt:lpstr>ＭＳ Ｐゴシック</vt:lpstr>
      <vt:lpstr>Arial</vt:lpstr>
      <vt:lpstr>Arial Narrow</vt:lpstr>
      <vt:lpstr>Cambria Math</vt:lpstr>
      <vt:lpstr>Courier New</vt:lpstr>
      <vt:lpstr>Geneva</vt:lpstr>
      <vt:lpstr>Gill Sans MT</vt:lpstr>
      <vt:lpstr>Symbol</vt:lpstr>
      <vt:lpstr>Times New Roman</vt:lpstr>
      <vt:lpstr>Wingdings</vt:lpstr>
      <vt:lpstr>Wingdings 2</vt:lpstr>
      <vt:lpstr>VxC1</vt:lpstr>
      <vt:lpstr>Ecuación</vt:lpstr>
      <vt:lpstr>Tema 5: La memoria principal</vt:lpstr>
      <vt:lpstr>Objetivos</vt:lpstr>
      <vt:lpstr>Contenido</vt:lpstr>
      <vt:lpstr>Bibliografía</vt:lpstr>
      <vt:lpstr>Contenido</vt:lpstr>
      <vt:lpstr>¿Qué es y dónde se sitúa la memoria?</vt:lpstr>
      <vt:lpstr>Presentación de PowerPoint</vt:lpstr>
      <vt:lpstr>¿Qué es y dónde se sitúa la memoria?</vt:lpstr>
      <vt:lpstr>Jerarquía de memoria: ¿qué es?</vt:lpstr>
      <vt:lpstr>Jerarquía de memoria: ¿qué es?</vt:lpstr>
      <vt:lpstr>Tecnologías para memorias</vt:lpstr>
      <vt:lpstr>Ejemplos</vt:lpstr>
      <vt:lpstr>Contenido</vt:lpstr>
      <vt:lpstr>Interfaz externa de memoria</vt:lpstr>
      <vt:lpstr>Contenido</vt:lpstr>
      <vt:lpstr>Direccionamiento de la memoria principal</vt:lpstr>
      <vt:lpstr>Direccionamiento de memoria en CPU de 8 bits</vt:lpstr>
      <vt:lpstr>Direccionamiento de memoria en CPU de 16 bits</vt:lpstr>
      <vt:lpstr>Direccionamiento de memoria en CPU de 16 bits</vt:lpstr>
      <vt:lpstr>Direccionamiento de memoria en CPUs de 32 bits</vt:lpstr>
      <vt:lpstr>Direccionamiento de memoria en CPUs de 32 bits</vt:lpstr>
      <vt:lpstr>Estructura del bus de direcciones</vt:lpstr>
      <vt:lpstr>Contenido</vt:lpstr>
      <vt:lpstr>Estructura del bus de memoria</vt:lpstr>
      <vt:lpstr>Generación de las señales /BEi</vt:lpstr>
      <vt:lpstr>Ejemplo de activaciones de las señales /BEi</vt:lpstr>
      <vt:lpstr>Acceso a una palabra de 32 bits</vt:lpstr>
      <vt:lpstr>Acceso a media palabra (16 bits)</vt:lpstr>
      <vt:lpstr>Acceso a un byte (8 bits)</vt:lpstr>
      <vt:lpstr>Contenido</vt:lpstr>
      <vt:lpstr>Resumen Acceso a memoria</vt:lpstr>
      <vt:lpstr>Resumen Acceso a memoria</vt:lpstr>
      <vt:lpstr>Resumen Acceso a memoria</vt:lpstr>
      <vt:lpstr>Resumen Acceso a memoria</vt:lpstr>
      <vt:lpstr>Resumen Acceso a memoria</vt:lpstr>
      <vt:lpstr>Resumen Acceso a memoria</vt:lpstr>
      <vt:lpstr>Contenido</vt:lpstr>
      <vt:lpstr>Memoria RAM estática (SRAM)</vt:lpstr>
      <vt:lpstr>Memoria RAM estática (SRAM)</vt:lpstr>
      <vt:lpstr>Memoria RAM estática (SRAM)</vt:lpstr>
      <vt:lpstr>Valoración de la SRAM</vt:lpstr>
      <vt:lpstr>Contenido</vt:lpstr>
      <vt:lpstr>Memorias RAM dinámicas</vt:lpstr>
      <vt:lpstr>Memorias RAM dinámicas SDRAM</vt:lpstr>
      <vt:lpstr>Contenido</vt:lpstr>
      <vt:lpstr>Memorias RAM dinámicas</vt:lpstr>
      <vt:lpstr>Contenido</vt:lpstr>
      <vt:lpstr>Direccionamiento Memorias SDRAM</vt:lpstr>
      <vt:lpstr>Direccionamiento Memorias SDRAM</vt:lpstr>
      <vt:lpstr>Direccionamiento Memorias SDRAM</vt:lpstr>
      <vt:lpstr>Direccionamiento Memorias SDRAM</vt:lpstr>
      <vt:lpstr>Direccionamiento Memorias SDRAM</vt:lpstr>
      <vt:lpstr>Direccionamiento Memorias SDRAM</vt:lpstr>
      <vt:lpstr>Direccionamiento Memorias SDRAM</vt:lpstr>
      <vt:lpstr>Direccionamiento Memorias SDRAM</vt:lpstr>
      <vt:lpstr>Contenido</vt:lpstr>
      <vt:lpstr>Resumen Organización chips DRAM</vt:lpstr>
      <vt:lpstr>Resumen Organización chips DRAM</vt:lpstr>
      <vt:lpstr>Resumen Organización chips DRAM</vt:lpstr>
      <vt:lpstr>Contenido</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Cronogramas de lectura y escritura</vt:lpstr>
      <vt:lpstr>SiSoftware Sandra</vt:lpstr>
      <vt:lpstr>Contenido</vt:lpstr>
      <vt:lpstr>Prestaciones</vt:lpstr>
      <vt:lpstr>Prestaciones</vt:lpstr>
      <vt:lpstr>Prestaciones</vt:lpstr>
      <vt:lpstr>Prestaciones</vt:lpstr>
      <vt:lpstr>Cálculo del ancho de banda</vt:lpstr>
      <vt:lpstr>Contenido</vt:lpstr>
      <vt:lpstr>Tendencias tecnológicas</vt:lpstr>
      <vt:lpstr>Memorias SDRAM de doble velocidad (DDR)</vt:lpstr>
      <vt:lpstr>Memorias SDRAM de doble velocidad (DDR)</vt:lpstr>
      <vt:lpstr>Memorias SDRAM de doble velocidad (DDR)</vt:lpstr>
      <vt:lpstr>Temporización memorias DDR-SDRAM</vt:lpstr>
      <vt:lpstr>Nomenclatura estándar SDRAM</vt:lpstr>
      <vt:lpstr>Memorias SDRAM de doble velocidad (DDR)</vt:lpstr>
      <vt:lpstr>Aumento de prestaciones en las SDRAM</vt:lpstr>
      <vt:lpstr>Nomenclatura estándar SDRAM</vt:lpstr>
      <vt:lpstr>Nomenclatura estándar SDRAM</vt:lpstr>
      <vt:lpstr>Contenido</vt:lpstr>
      <vt:lpstr>Conceptos básicos</vt:lpstr>
      <vt:lpstr>Conceptos básicos</vt:lpstr>
      <vt:lpstr>Conceptos básicos</vt:lpstr>
      <vt:lpstr>Conceptos básicos</vt:lpstr>
      <vt:lpstr>Conceptos básicos</vt:lpstr>
      <vt:lpstr>Organización de módulos de memoria</vt:lpstr>
      <vt:lpstr>Organización de módulos de memoria</vt:lpstr>
      <vt:lpstr>Organización de módulos de memoria</vt:lpstr>
      <vt:lpstr>Pregunta:  Para módulo de una sola fila</vt:lpstr>
      <vt:lpstr>Módulos estándar de memoria dinámica</vt:lpstr>
      <vt:lpstr>Módulos DIMM (Dual Inline Memory Module)</vt:lpstr>
      <vt:lpstr>SPD (Serial Presence Detect)</vt:lpstr>
      <vt:lpstr>Información contenida en el SPD</vt:lpstr>
      <vt:lpstr>Comparativa de módulos y denominaciones</vt:lpstr>
      <vt:lpstr>Módulos DDR estándar</vt:lpstr>
      <vt:lpstr>Módulos DDR2 Estándar</vt:lpstr>
      <vt:lpstr>Módulos DDR3 estándar</vt:lpstr>
      <vt:lpstr>Contenido</vt:lpstr>
      <vt:lpstr>Concepto de mapa de memoria</vt:lpstr>
      <vt:lpstr>Circuito de descodificación o selección</vt:lpstr>
      <vt:lpstr>Circuito de descodificación o selección</vt:lpstr>
      <vt:lpstr>Parámetros a considerar</vt:lpstr>
      <vt:lpstr>Un caso particular de mapa</vt:lpstr>
      <vt:lpstr>Función de selección del módulo</vt:lpstr>
      <vt:lpstr>Detalle de la implementación física</vt:lpstr>
      <vt:lpstr>Detalle de la implementación física</vt:lpstr>
      <vt:lpstr>Ejemplo de mapa con dos módulos</vt:lpstr>
      <vt:lpstr>Detalle del mapa de memoria para RAM1</vt:lpstr>
      <vt:lpstr>Detalle del mapa de memoria para RAM2</vt:lpstr>
      <vt:lpstr>Contenido</vt:lpstr>
      <vt:lpstr>El controlador de memoria</vt:lpstr>
      <vt:lpstr>El controlador de memoria</vt:lpstr>
      <vt:lpstr>El controlador de memoria</vt:lpstr>
      <vt:lpstr>El controlador de memoria</vt:lpstr>
      <vt:lpstr>El controlador de memoria</vt:lpstr>
      <vt:lpstr>Controlador de memoria DRAM: estructura</vt:lpstr>
      <vt:lpstr>Ejemplo de configuración DRAM estándar</vt:lpstr>
      <vt:lpstr>Ejemplo de configuración DRAM estándar</vt:lpstr>
      <vt:lpstr>El controlador de memoria</vt:lpstr>
      <vt:lpstr>SiSoftware Sandra: controlador de memoria</vt:lpstr>
      <vt:lpstr>Ejemplo 1 - Termometro</vt:lpstr>
      <vt:lpstr>Ejemplo 2: Termo y visualizador</vt:lpstr>
    </vt:vector>
  </TitlesOfParts>
  <Company>DISCA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9: Sincronización de la E/S</dc:title>
  <dc:subject>Estructura de Computadores</dc:subject>
  <dc:creator>José Miguel Valiente</dc:creator>
  <cp:lastModifiedBy>ENRIQUE SALVADOR QUINTANA ORTI</cp:lastModifiedBy>
  <cp:revision>1697</cp:revision>
  <cp:lastPrinted>2021-01-12T12:37:26Z</cp:lastPrinted>
  <dcterms:created xsi:type="dcterms:W3CDTF">2012-09-18T12:09:44Z</dcterms:created>
  <dcterms:modified xsi:type="dcterms:W3CDTF">2026-08-09T16:13:09Z</dcterms:modified>
</cp:coreProperties>
</file>